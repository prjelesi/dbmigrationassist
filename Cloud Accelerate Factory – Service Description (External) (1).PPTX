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3.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2.xml" ContentType="application/vnd.openxmlformats-officedocument.themeOverride+xml"/>
  <Override PartName="/ppt/notesSlides/notesSlide9.xml" ContentType="application/vnd.openxmlformats-officedocument.presentationml.notesSlide+xml"/>
  <Override PartName="/ppt/theme/themeOverride3.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xml" ContentType="application/vnd.openxmlformats-officedocument.presentationml.tags+xml"/>
  <Override PartName="/ppt/notesSlides/notesSlide31.xml" ContentType="application/vnd.openxmlformats-officedocument.presentationml.notesSlide+xml"/>
  <Override PartName="/ppt/tags/tag3.xml" ContentType="application/vnd.openxmlformats-officedocument.presentationml.tags+xml"/>
  <Override PartName="/ppt/notesSlides/notesSlide32.xml" ContentType="application/vnd.openxmlformats-officedocument.presentationml.notesSlide+xml"/>
  <Override PartName="/ppt/tags/tag4.xml" ContentType="application/vnd.openxmlformats-officedocument.presentationml.tags+xml"/>
  <Override PartName="/ppt/notesSlides/notesSlide33.xml" ContentType="application/vnd.openxmlformats-officedocument.presentationml.notesSlide+xml"/>
  <Override PartName="/ppt/tags/tag5.xml" ContentType="application/vnd.openxmlformats-officedocument.presentationml.tags+xml"/>
  <Override PartName="/ppt/notesSlides/notesSlide34.xml" ContentType="application/vnd.openxmlformats-officedocument.presentationml.notesSlide+xml"/>
  <Override PartName="/ppt/tags/tag6.xml" ContentType="application/vnd.openxmlformats-officedocument.presentationml.tags+xml"/>
  <Override PartName="/ppt/notesSlides/notesSlide35.xml" ContentType="application/vnd.openxmlformats-officedocument.presentationml.notesSlide+xml"/>
  <Override PartName="/ppt/tags/tag7.xml" ContentType="application/vnd.openxmlformats-officedocument.presentationml.tags+xml"/>
  <Override PartName="/ppt/notesSlides/notesSlide36.xml" ContentType="application/vnd.openxmlformats-officedocument.presentationml.notesSlide+xml"/>
  <Override PartName="/ppt/tags/tag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9.xml" ContentType="application/vnd.openxmlformats-officedocument.presentationml.tags+xml"/>
  <Override PartName="/ppt/notesSlides/notesSlide41.xml" ContentType="application/vnd.openxmlformats-officedocument.presentationml.notesSlide+xml"/>
  <Override PartName="/ppt/tags/tag10.xml" ContentType="application/vnd.openxmlformats-officedocument.presentationml.tags+xml"/>
  <Override PartName="/ppt/notesSlides/notesSlide42.xml" ContentType="application/vnd.openxmlformats-officedocument.presentationml.notesSlide+xml"/>
  <Override PartName="/ppt/tags/tag11.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heme/themeOverride4.xml" ContentType="application/vnd.openxmlformats-officedocument.themeOverride+xml"/>
  <Override PartName="/ppt/tags/tag12.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heme/themeOverride5.xml" ContentType="application/vnd.openxmlformats-officedocument.themeOverride+xml"/>
  <Override PartName="/ppt/notesSlides/notesSlide50.xml" ContentType="application/vnd.openxmlformats-officedocument.presentationml.notesSlide+xml"/>
  <Override PartName="/ppt/theme/themeOverride6.xml" ContentType="application/vnd.openxmlformats-officedocument.themeOverr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13.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tags/tag14.xml" ContentType="application/vnd.openxmlformats-officedocument.presentationml.tags+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195" r:id="rId1"/>
    <p:sldMasterId id="2147484492" r:id="rId2"/>
    <p:sldMasterId id="2147484512" r:id="rId3"/>
    <p:sldMasterId id="2147484600" r:id="rId4"/>
    <p:sldMasterId id="2147484610" r:id="rId5"/>
  </p:sldMasterIdLst>
  <p:notesMasterIdLst>
    <p:notesMasterId r:id="rId184"/>
  </p:notesMasterIdLst>
  <p:handoutMasterIdLst>
    <p:handoutMasterId r:id="rId185"/>
  </p:handoutMasterIdLst>
  <p:sldIdLst>
    <p:sldId id="318" r:id="rId6"/>
    <p:sldId id="319" r:id="rId7"/>
    <p:sldId id="256" r:id="rId8"/>
    <p:sldId id="322" r:id="rId9"/>
    <p:sldId id="352" r:id="rId10"/>
    <p:sldId id="263" r:id="rId11"/>
    <p:sldId id="258" r:id="rId12"/>
    <p:sldId id="261" r:id="rId13"/>
    <p:sldId id="277" r:id="rId14"/>
    <p:sldId id="267" r:id="rId15"/>
    <p:sldId id="275" r:id="rId16"/>
    <p:sldId id="286" r:id="rId17"/>
    <p:sldId id="264" r:id="rId18"/>
    <p:sldId id="313" r:id="rId19"/>
    <p:sldId id="360" r:id="rId20"/>
    <p:sldId id="280" r:id="rId21"/>
    <p:sldId id="259" r:id="rId22"/>
    <p:sldId id="2147482603" r:id="rId23"/>
    <p:sldId id="424" r:id="rId24"/>
    <p:sldId id="2147482607" r:id="rId25"/>
    <p:sldId id="272" r:id="rId26"/>
    <p:sldId id="444" r:id="rId27"/>
    <p:sldId id="446" r:id="rId28"/>
    <p:sldId id="445" r:id="rId29"/>
    <p:sldId id="447" r:id="rId30"/>
    <p:sldId id="364" r:id="rId31"/>
    <p:sldId id="260" r:id="rId32"/>
    <p:sldId id="293" r:id="rId33"/>
    <p:sldId id="294" r:id="rId34"/>
    <p:sldId id="2147482610" r:id="rId35"/>
    <p:sldId id="2147482611" r:id="rId36"/>
    <p:sldId id="2147482613" r:id="rId37"/>
    <p:sldId id="430" r:id="rId38"/>
    <p:sldId id="367" r:id="rId39"/>
    <p:sldId id="269" r:id="rId40"/>
    <p:sldId id="2147483641" r:id="rId41"/>
    <p:sldId id="373" r:id="rId42"/>
    <p:sldId id="437" r:id="rId43"/>
    <p:sldId id="438" r:id="rId44"/>
    <p:sldId id="297" r:id="rId45"/>
    <p:sldId id="345" r:id="rId46"/>
    <p:sldId id="368" r:id="rId47"/>
    <p:sldId id="370" r:id="rId48"/>
    <p:sldId id="440" r:id="rId49"/>
    <p:sldId id="2147482325" r:id="rId50"/>
    <p:sldId id="2147482334" r:id="rId51"/>
    <p:sldId id="2147482328" r:id="rId52"/>
    <p:sldId id="2147482329" r:id="rId53"/>
    <p:sldId id="2147482330" r:id="rId54"/>
    <p:sldId id="2147482331" r:id="rId55"/>
    <p:sldId id="323" r:id="rId56"/>
    <p:sldId id="407" r:id="rId57"/>
    <p:sldId id="409" r:id="rId58"/>
    <p:sldId id="410" r:id="rId59"/>
    <p:sldId id="411" r:id="rId60"/>
    <p:sldId id="412" r:id="rId61"/>
    <p:sldId id="413" r:id="rId62"/>
    <p:sldId id="414" r:id="rId63"/>
    <p:sldId id="369" r:id="rId64"/>
    <p:sldId id="283" r:id="rId65"/>
    <p:sldId id="281" r:id="rId66"/>
    <p:sldId id="301" r:id="rId67"/>
    <p:sldId id="271" r:id="rId68"/>
    <p:sldId id="372" r:id="rId69"/>
    <p:sldId id="2147483647" r:id="rId70"/>
    <p:sldId id="324" r:id="rId71"/>
    <p:sldId id="328" r:id="rId72"/>
    <p:sldId id="332" r:id="rId73"/>
    <p:sldId id="336" r:id="rId74"/>
    <p:sldId id="303" r:id="rId75"/>
    <p:sldId id="304" r:id="rId76"/>
    <p:sldId id="310" r:id="rId77"/>
    <p:sldId id="312" r:id="rId78"/>
    <p:sldId id="342" r:id="rId79"/>
    <p:sldId id="347" r:id="rId80"/>
    <p:sldId id="276" r:id="rId81"/>
    <p:sldId id="348" r:id="rId82"/>
    <p:sldId id="378" r:id="rId83"/>
    <p:sldId id="331" r:id="rId84"/>
    <p:sldId id="326" r:id="rId85"/>
    <p:sldId id="285" r:id="rId86"/>
    <p:sldId id="361" r:id="rId87"/>
    <p:sldId id="363" r:id="rId88"/>
    <p:sldId id="379" r:id="rId89"/>
    <p:sldId id="371" r:id="rId90"/>
    <p:sldId id="317" r:id="rId91"/>
    <p:sldId id="266" r:id="rId92"/>
    <p:sldId id="268" r:id="rId93"/>
    <p:sldId id="270" r:id="rId94"/>
    <p:sldId id="265" r:id="rId95"/>
    <p:sldId id="311" r:id="rId96"/>
    <p:sldId id="381" r:id="rId97"/>
    <p:sldId id="2147483635" r:id="rId98"/>
    <p:sldId id="291" r:id="rId99"/>
    <p:sldId id="309" r:id="rId100"/>
    <p:sldId id="327" r:id="rId101"/>
    <p:sldId id="284" r:id="rId102"/>
    <p:sldId id="2147483640" r:id="rId103"/>
    <p:sldId id="338" r:id="rId104"/>
    <p:sldId id="2147483645" r:id="rId105"/>
    <p:sldId id="2147483637" r:id="rId106"/>
    <p:sldId id="2147483646" r:id="rId107"/>
    <p:sldId id="2147483642" r:id="rId108"/>
    <p:sldId id="343" r:id="rId109"/>
    <p:sldId id="2147483643" r:id="rId110"/>
    <p:sldId id="344" r:id="rId111"/>
    <p:sldId id="339" r:id="rId112"/>
    <p:sldId id="354" r:id="rId113"/>
    <p:sldId id="2147483636" r:id="rId114"/>
    <p:sldId id="349" r:id="rId115"/>
    <p:sldId id="351" r:id="rId116"/>
    <p:sldId id="353" r:id="rId117"/>
    <p:sldId id="2147483622" r:id="rId118"/>
    <p:sldId id="376" r:id="rId119"/>
    <p:sldId id="2147483634" r:id="rId120"/>
    <p:sldId id="382" r:id="rId121"/>
    <p:sldId id="295" r:id="rId122"/>
    <p:sldId id="298" r:id="rId123"/>
    <p:sldId id="299" r:id="rId124"/>
    <p:sldId id="341" r:id="rId125"/>
    <p:sldId id="300" r:id="rId126"/>
    <p:sldId id="320" r:id="rId127"/>
    <p:sldId id="308" r:id="rId128"/>
    <p:sldId id="287" r:id="rId129"/>
    <p:sldId id="315" r:id="rId130"/>
    <p:sldId id="289" r:id="rId131"/>
    <p:sldId id="314" r:id="rId132"/>
    <p:sldId id="302" r:id="rId133"/>
    <p:sldId id="337" r:id="rId134"/>
    <p:sldId id="356" r:id="rId135"/>
    <p:sldId id="346" r:id="rId136"/>
    <p:sldId id="385" r:id="rId137"/>
    <p:sldId id="383" r:id="rId138"/>
    <p:sldId id="389" r:id="rId139"/>
    <p:sldId id="390" r:id="rId140"/>
    <p:sldId id="274" r:id="rId141"/>
    <p:sldId id="391" r:id="rId142"/>
    <p:sldId id="392" r:id="rId143"/>
    <p:sldId id="393" r:id="rId144"/>
    <p:sldId id="384" r:id="rId145"/>
    <p:sldId id="395" r:id="rId146"/>
    <p:sldId id="306" r:id="rId147"/>
    <p:sldId id="321" r:id="rId148"/>
    <p:sldId id="330" r:id="rId149"/>
    <p:sldId id="325" r:id="rId150"/>
    <p:sldId id="387" r:id="rId151"/>
    <p:sldId id="305" r:id="rId152"/>
    <p:sldId id="377" r:id="rId153"/>
    <p:sldId id="333" r:id="rId154"/>
    <p:sldId id="355" r:id="rId155"/>
    <p:sldId id="396" r:id="rId156"/>
    <p:sldId id="388" r:id="rId157"/>
    <p:sldId id="279" r:id="rId158"/>
    <p:sldId id="290" r:id="rId159"/>
    <p:sldId id="292" r:id="rId160"/>
    <p:sldId id="307" r:id="rId161"/>
    <p:sldId id="316" r:id="rId162"/>
    <p:sldId id="359" r:id="rId163"/>
    <p:sldId id="397" r:id="rId164"/>
    <p:sldId id="425" r:id="rId165"/>
    <p:sldId id="426" r:id="rId166"/>
    <p:sldId id="427" r:id="rId167"/>
    <p:sldId id="340" r:id="rId168"/>
    <p:sldId id="257" r:id="rId169"/>
    <p:sldId id="262" r:id="rId170"/>
    <p:sldId id="278" r:id="rId171"/>
    <p:sldId id="282" r:id="rId172"/>
    <p:sldId id="273" r:id="rId173"/>
    <p:sldId id="296" r:id="rId174"/>
    <p:sldId id="431" r:id="rId175"/>
    <p:sldId id="432" r:id="rId176"/>
    <p:sldId id="433" r:id="rId177"/>
    <p:sldId id="434" r:id="rId178"/>
    <p:sldId id="435" r:id="rId179"/>
    <p:sldId id="441" r:id="rId180"/>
    <p:sldId id="443" r:id="rId181"/>
    <p:sldId id="436" r:id="rId182"/>
    <p:sldId id="334" r:id="rId1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ic Slides" id="{4B63831B-60E8-2746-B530-B6D4C3E9A775}">
          <p14:sldIdLst>
            <p14:sldId id="318"/>
            <p14:sldId id="319"/>
            <p14:sldId id="256"/>
            <p14:sldId id="322"/>
          </p14:sldIdLst>
        </p14:section>
        <p14:section name="Table of Contents" id="{3583F9BC-764F-4667-BD3B-104AAF89A638}">
          <p14:sldIdLst>
            <p14:sldId id="352"/>
          </p14:sldIdLst>
        </p14:section>
        <p14:section name="Scope 1 - Service Catalog" id="{BDFBF750-C7DB-4165-B5BF-D46294E029CD}">
          <p14:sldIdLst>
            <p14:sldId id="263"/>
            <p14:sldId id="258"/>
            <p14:sldId id="261"/>
            <p14:sldId id="277"/>
            <p14:sldId id="267"/>
          </p14:sldIdLst>
        </p14:section>
        <p14:section name="Platform Foundation &amp; Landing Zone" id="{AC1E675B-581A-4C4D-A7F0-E4796DF6F53A}">
          <p14:sldIdLst>
            <p14:sldId id="275"/>
            <p14:sldId id="286"/>
            <p14:sldId id="264"/>
            <p14:sldId id="313"/>
            <p14:sldId id="360"/>
          </p14:sldIdLst>
        </p14:section>
        <p14:section name="Migrate &amp; Modernize of Infra, Apps, &amp; Data" id="{0E1A0EF4-E79E-42E8-83C7-BC9F959F97C5}">
          <p14:sldIdLst>
            <p14:sldId id="280"/>
          </p14:sldIdLst>
        </p14:section>
        <p14:section name="Migrate and Modernization of Infra" id="{0246BE5D-A751-4872-AB39-43EA22D023B1}">
          <p14:sldIdLst>
            <p14:sldId id="259"/>
            <p14:sldId id="2147482603"/>
            <p14:sldId id="424"/>
            <p14:sldId id="2147482607"/>
          </p14:sldIdLst>
        </p14:section>
        <p14:section name="AVS Migration" id="{6726E4E8-2F8A-4A55-BACB-65072129C882}">
          <p14:sldIdLst>
            <p14:sldId id="272"/>
            <p14:sldId id="444"/>
            <p14:sldId id="446"/>
            <p14:sldId id="445"/>
            <p14:sldId id="447"/>
            <p14:sldId id="364"/>
          </p14:sldIdLst>
        </p14:section>
        <p14:section name="App Modernization with AI Agents" id="{40FB7B17-3A46-4788-AAB4-3998B53E94B8}">
          <p14:sldIdLst>
            <p14:sldId id="260"/>
            <p14:sldId id="293"/>
            <p14:sldId id="294"/>
            <p14:sldId id="2147482610"/>
            <p14:sldId id="2147482611"/>
            <p14:sldId id="2147482613"/>
            <p14:sldId id="430"/>
            <p14:sldId id="367"/>
          </p14:sldIdLst>
        </p14:section>
        <p14:section name="Databse Migration &amp; Modernization" id="{A340ABED-9A49-48F0-B01E-B6A4C01A066C}">
          <p14:sldIdLst>
            <p14:sldId id="269"/>
            <p14:sldId id="2147483641"/>
            <p14:sldId id="373"/>
            <p14:sldId id="437"/>
            <p14:sldId id="438"/>
            <p14:sldId id="297"/>
            <p14:sldId id="345"/>
            <p14:sldId id="368"/>
            <p14:sldId id="370"/>
            <p14:sldId id="440"/>
          </p14:sldIdLst>
        </p14:section>
        <p14:section name="Hetrogenuos Database Modernization" id="{2AC5CD44-B125-4098-B385-EF4AF09460CB}">
          <p14:sldIdLst>
            <p14:sldId id="2147482325"/>
            <p14:sldId id="2147482334"/>
            <p14:sldId id="2147482328"/>
            <p14:sldId id="2147482329"/>
            <p14:sldId id="2147482330"/>
            <p14:sldId id="2147482331"/>
          </p14:sldIdLst>
        </p14:section>
        <p14:section name="Enable Security, Resiliency &amp; Arc" id="{12E65118-AF60-49A5-97DE-2B96355CBAA4}">
          <p14:sldIdLst>
            <p14:sldId id="323"/>
            <p14:sldId id="407"/>
            <p14:sldId id="409"/>
            <p14:sldId id="410"/>
            <p14:sldId id="411"/>
            <p14:sldId id="412"/>
            <p14:sldId id="413"/>
            <p14:sldId id="414"/>
            <p14:sldId id="369"/>
          </p14:sldIdLst>
        </p14:section>
        <p14:section name="Enhance Security" id="{A605F6FB-6D88-44F4-B1E3-85DFCDF6661D}">
          <p14:sldIdLst>
            <p14:sldId id="283"/>
            <p14:sldId id="281"/>
            <p14:sldId id="301"/>
            <p14:sldId id="271"/>
            <p14:sldId id="372"/>
          </p14:sldIdLst>
        </p14:section>
        <p14:section name="SAP RISE/Grow" id="{945E8CFE-957B-4E59-9041-B0CBA7F85F27}">
          <p14:sldIdLst>
            <p14:sldId id="2147483647"/>
            <p14:sldId id="324"/>
            <p14:sldId id="328"/>
            <p14:sldId id="332"/>
            <p14:sldId id="336"/>
            <p14:sldId id="303"/>
            <p14:sldId id="304"/>
            <p14:sldId id="310"/>
            <p14:sldId id="312"/>
          </p14:sldIdLst>
        </p14:section>
        <p14:section name="Azure Virtual Desktop" id="{C2703594-4F09-461F-AEE1-3C22725E5A36}">
          <p14:sldIdLst>
            <p14:sldId id="342"/>
            <p14:sldId id="347"/>
            <p14:sldId id="276"/>
            <p14:sldId id="348"/>
            <p14:sldId id="378"/>
          </p14:sldIdLst>
        </p14:section>
        <p14:section name="Oracle Exadata Database@Azure (ODAA) Migration" id="{3E1A92F7-D795-49DC-9A34-F4546126FFAA}">
          <p14:sldIdLst>
            <p14:sldId id="331"/>
            <p14:sldId id="326"/>
            <p14:sldId id="285"/>
            <p14:sldId id="361"/>
            <p14:sldId id="363"/>
            <p14:sldId id="379"/>
          </p14:sldIdLst>
        </p14:section>
        <p14:section name="GitHub Migrations (Repos Only)" id="{86ECA26D-EF2B-4FF4-9F1F-9B2AD18C7BF9}">
          <p14:sldIdLst>
            <p14:sldId id="371"/>
            <p14:sldId id="317"/>
            <p14:sldId id="266"/>
            <p14:sldId id="268"/>
            <p14:sldId id="270"/>
            <p14:sldId id="265"/>
            <p14:sldId id="311"/>
            <p14:sldId id="381"/>
          </p14:sldIdLst>
        </p14:section>
        <p14:section name="Agent Development" id="{240FB8B2-0D1A-4CC2-B878-2ECFEB1BB7BE}">
          <p14:sldIdLst>
            <p14:sldId id="2147483635"/>
            <p14:sldId id="291"/>
            <p14:sldId id="309"/>
            <p14:sldId id="327"/>
            <p14:sldId id="284"/>
            <p14:sldId id="2147483640"/>
            <p14:sldId id="338"/>
            <p14:sldId id="2147483645"/>
            <p14:sldId id="2147483637"/>
            <p14:sldId id="2147483646"/>
            <p14:sldId id="2147483642"/>
            <p14:sldId id="343"/>
            <p14:sldId id="2147483643"/>
            <p14:sldId id="344"/>
            <p14:sldId id="339"/>
            <p14:sldId id="354"/>
          </p14:sldIdLst>
        </p14:section>
        <p14:section name="Microsoft Foundry - Gen AI Apps" id="{255DA66B-848B-448D-AEF3-EF23B9E8BF29}">
          <p14:sldIdLst>
            <p14:sldId id="2147483636"/>
            <p14:sldId id="349"/>
            <p14:sldId id="351"/>
            <p14:sldId id="353"/>
            <p14:sldId id="2147483622"/>
            <p14:sldId id="376"/>
            <p14:sldId id="2147483634"/>
            <p14:sldId id="382"/>
          </p14:sldIdLst>
        </p14:section>
        <p14:section name="P SKU to F SKU Migration" id="{F3470819-ABDD-47C9-A01F-AFE911565F8D}">
          <p14:sldIdLst>
            <p14:sldId id="295"/>
            <p14:sldId id="298"/>
            <p14:sldId id="299"/>
            <p14:sldId id="341"/>
            <p14:sldId id="300"/>
          </p14:sldIdLst>
        </p14:section>
        <p14:section name="Lakehouse" id="{32EA4FEC-6BD9-42DE-8082-AA2DD127E268}">
          <p14:sldIdLst>
            <p14:sldId id="320"/>
            <p14:sldId id="308"/>
            <p14:sldId id="287"/>
            <p14:sldId id="315"/>
            <p14:sldId id="289"/>
            <p14:sldId id="314"/>
            <p14:sldId id="302"/>
            <p14:sldId id="337"/>
            <p14:sldId id="356"/>
            <p14:sldId id="346"/>
            <p14:sldId id="385"/>
            <p14:sldId id="383"/>
            <p14:sldId id="389"/>
            <p14:sldId id="390"/>
            <p14:sldId id="274"/>
            <p14:sldId id="391"/>
            <p14:sldId id="392"/>
            <p14:sldId id="393"/>
            <p14:sldId id="384"/>
          </p14:sldIdLst>
        </p14:section>
        <p14:section name="Real-Time Intelligence" id="{A88272E5-1A47-4A0B-9D4E-F2F4A81F38C1}">
          <p14:sldIdLst>
            <p14:sldId id="395"/>
            <p14:sldId id="306"/>
            <p14:sldId id="321"/>
            <p14:sldId id="330"/>
            <p14:sldId id="325"/>
            <p14:sldId id="387"/>
          </p14:sldIdLst>
        </p14:section>
        <p14:section name="Power BI Migration" id="{5519FF95-08DD-43B5-A42D-9D6FAAD83341}">
          <p14:sldIdLst>
            <p14:sldId id="305"/>
            <p14:sldId id="377"/>
            <p14:sldId id="333"/>
            <p14:sldId id="355"/>
            <p14:sldId id="396"/>
            <p14:sldId id="388"/>
          </p14:sldIdLst>
        </p14:section>
        <p14:section name="Small SMB Segment" id="{713BE067-9792-4879-9F29-53AF758AA483}">
          <p14:sldIdLst>
            <p14:sldId id="279"/>
            <p14:sldId id="290"/>
            <p14:sldId id="292"/>
            <p14:sldId id="307"/>
            <p14:sldId id="316"/>
            <p14:sldId id="359"/>
            <p14:sldId id="397"/>
            <p14:sldId id="425"/>
            <p14:sldId id="426"/>
            <p14:sldId id="427"/>
          </p14:sldIdLst>
        </p14:section>
        <p14:section name="Appendix" id="{0A0B6BD0-BCCB-49A3-890C-996A8369CD23}">
          <p14:sldIdLst>
            <p14:sldId id="340"/>
          </p14:sldIdLst>
        </p14:section>
        <p14:section name="Engagement Model &amp; Phases" id="{5CB7A50F-5E37-4353-A573-3146B218FB89}">
          <p14:sldIdLst>
            <p14:sldId id="257"/>
            <p14:sldId id="262"/>
            <p14:sldId id="278"/>
            <p14:sldId id="282"/>
            <p14:sldId id="273"/>
            <p14:sldId id="296"/>
            <p14:sldId id="431"/>
            <p14:sldId id="432"/>
            <p14:sldId id="433"/>
            <p14:sldId id="434"/>
            <p14:sldId id="435"/>
            <p14:sldId id="441"/>
            <p14:sldId id="443"/>
            <p14:sldId id="436"/>
            <p14:sldId id="33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9A89"/>
    <a:srgbClr val="41B8A4"/>
    <a:srgbClr val="1A7385"/>
    <a:srgbClr val="8DC8E8"/>
    <a:srgbClr val="004A83"/>
    <a:srgbClr val="0E6083"/>
    <a:srgbClr val="6ABEFF"/>
    <a:srgbClr val="0064AD"/>
    <a:srgbClr val="0C5C82"/>
    <a:srgbClr val="4EA8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52"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5.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162" Type="http://schemas.openxmlformats.org/officeDocument/2006/relationships/slide" Target="slides/slide157.xml"/><Relationship Id="rId183" Type="http://schemas.openxmlformats.org/officeDocument/2006/relationships/slide" Target="slides/slide178.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73" Type="http://schemas.openxmlformats.org/officeDocument/2006/relationships/slide" Target="slides/slide168.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notesMaster" Target="notesMasters/notesMaster1.xml"/><Relationship Id="rId189" Type="http://schemas.openxmlformats.org/officeDocument/2006/relationships/tableStyles" Target="tableStyles.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0" Type="http://schemas.microsoft.com/office/2018/10/relationships/authors" Target="authors.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80" Type="http://schemas.openxmlformats.org/officeDocument/2006/relationships/slide" Target="slides/slide175.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presProps" Target="presProps.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viewProps" Target="viewProps.xml"/><Relationship Id="rId1" Type="http://schemas.openxmlformats.org/officeDocument/2006/relationships/slideMaster" Target="slideMasters/slideMaster1.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6D6AD0-EE71-4BC4-A331-5AED54342519}" type="doc">
      <dgm:prSet loTypeId="urn:microsoft.com/office/officeart/2005/8/layout/process1" loCatId="process" qsTypeId="urn:microsoft.com/office/officeart/2005/8/quickstyle/simple4" qsCatId="simple" csTypeId="urn:microsoft.com/office/officeart/2005/8/colors/colorful2" csCatId="colorful" phldr="1"/>
      <dgm:spPr/>
      <dgm:t>
        <a:bodyPr/>
        <a:lstStyle/>
        <a:p>
          <a:endParaRPr lang="en-US"/>
        </a:p>
      </dgm:t>
    </dgm:pt>
    <dgm:pt modelId="{5CF8CE50-7D25-4E8E-B40C-E59685B26D16}">
      <dgm:prSet phldrT="[Text]" custT="1"/>
      <dgm:spPr>
        <a:xfrm>
          <a:off x="0" y="0"/>
          <a:ext cx="1176391" cy="457200"/>
        </a:xfrm>
        <a:prstGeom prst="roundRect">
          <a:avLst>
            <a:gd name="adj" fmla="val 10000"/>
          </a:avLst>
        </a:prstGeom>
      </dgm:spPr>
      <dgm:t>
        <a:bodyPr/>
        <a:lstStyle/>
        <a:p>
          <a:pPr>
            <a:buNone/>
          </a:pPr>
          <a:r>
            <a:rPr lang="en-US" sz="1200" noProof="0" dirty="0">
              <a:latin typeface="Aptos" panose="02110004020202020204"/>
              <a:ea typeface="+mn-ea"/>
              <a:cs typeface="+mn-cs"/>
            </a:rPr>
            <a:t>Concierge</a:t>
          </a:r>
        </a:p>
      </dgm:t>
    </dgm:pt>
    <dgm:pt modelId="{D5542E24-FF97-407C-A41C-9E0F3136B69D}" type="parTrans" cxnId="{4A4B0295-266E-41EF-9783-232EDE50EF4A}">
      <dgm:prSet/>
      <dgm:spPr/>
      <dgm:t>
        <a:bodyPr/>
        <a:lstStyle/>
        <a:p>
          <a:endParaRPr lang="en-US" sz="1200"/>
        </a:p>
      </dgm:t>
    </dgm:pt>
    <dgm:pt modelId="{A157E450-C079-453C-B603-E85CF646C588}" type="sibTrans" cxnId="{4A4B0295-266E-41EF-9783-232EDE50EF4A}">
      <dgm:prSet custT="1"/>
      <dgm:spPr>
        <a:xfrm>
          <a:off x="1294030" y="82727"/>
          <a:ext cx="249394" cy="291744"/>
        </a:xfrm>
        <a:prstGeom prst="rightArrow">
          <a:avLst>
            <a:gd name="adj1" fmla="val 60000"/>
            <a:gd name="adj2" fmla="val 50000"/>
          </a:avLst>
        </a:prstGeom>
      </dgm:spPr>
      <dgm:t>
        <a:bodyPr/>
        <a:lstStyle/>
        <a:p>
          <a:pPr>
            <a:buNone/>
          </a:pPr>
          <a:endParaRPr lang="en-US" sz="1200" noProof="0" dirty="0">
            <a:solidFill>
              <a:sysClr val="window" lastClr="FFFFFF"/>
            </a:solidFill>
            <a:latin typeface="Aptos" panose="02110004020202020204"/>
            <a:ea typeface="+mn-ea"/>
            <a:cs typeface="+mn-cs"/>
          </a:endParaRPr>
        </a:p>
      </dgm:t>
    </dgm:pt>
    <dgm:pt modelId="{93DE802F-E5D1-48F1-BCB9-FDCCD45B8D88}">
      <dgm:prSet phldrT="[Text]" custT="1"/>
      <dgm:spPr>
        <a:xfrm>
          <a:off x="1646947" y="0"/>
          <a:ext cx="1176391" cy="457200"/>
        </a:xfrm>
        <a:prstGeom prst="roundRect">
          <a:avLst>
            <a:gd name="adj" fmla="val 10000"/>
          </a:avLst>
        </a:prstGeom>
      </dgm:spPr>
      <dgm:t>
        <a:bodyPr/>
        <a:lstStyle/>
        <a:p>
          <a:pPr>
            <a:buNone/>
          </a:pPr>
          <a:r>
            <a:rPr lang="en-US" sz="1200" noProof="0" dirty="0">
              <a:latin typeface="Aptos" panose="02110004020202020204"/>
              <a:ea typeface="+mn-ea"/>
              <a:cs typeface="+mn-cs"/>
            </a:rPr>
            <a:t>Validate Commitment &amp; Initial Scope</a:t>
          </a:r>
        </a:p>
      </dgm:t>
    </dgm:pt>
    <dgm:pt modelId="{DC8783CF-CAE9-4652-BB96-09700285E7FC}" type="parTrans" cxnId="{B0668D54-29A3-4F24-8ADB-3DDE859D1B11}">
      <dgm:prSet/>
      <dgm:spPr/>
      <dgm:t>
        <a:bodyPr/>
        <a:lstStyle/>
        <a:p>
          <a:endParaRPr lang="en-US" sz="1200"/>
        </a:p>
      </dgm:t>
    </dgm:pt>
    <dgm:pt modelId="{C5CE74A2-2352-420E-9BBA-303DE154B825}" type="sibTrans" cxnId="{B0668D54-29A3-4F24-8ADB-3DDE859D1B11}">
      <dgm:prSet custT="1"/>
      <dgm:spPr>
        <a:xfrm>
          <a:off x="2940977" y="82727"/>
          <a:ext cx="249394" cy="291744"/>
        </a:xfrm>
        <a:prstGeom prst="rightArrow">
          <a:avLst>
            <a:gd name="adj1" fmla="val 60000"/>
            <a:gd name="adj2" fmla="val 50000"/>
          </a:avLst>
        </a:prstGeom>
      </dgm:spPr>
      <dgm:t>
        <a:bodyPr/>
        <a:lstStyle/>
        <a:p>
          <a:pPr>
            <a:buNone/>
          </a:pPr>
          <a:endParaRPr lang="en-US" sz="1200" noProof="0" dirty="0">
            <a:solidFill>
              <a:sysClr val="window" lastClr="FFFFFF"/>
            </a:solidFill>
            <a:latin typeface="Aptos" panose="02110004020202020204"/>
            <a:ea typeface="+mn-ea"/>
            <a:cs typeface="+mn-cs"/>
          </a:endParaRPr>
        </a:p>
      </dgm:t>
    </dgm:pt>
    <dgm:pt modelId="{B47A51E2-29B0-4D2B-AEF7-56E788428609}">
      <dgm:prSet phldrT="[Text]" custT="1"/>
      <dgm:spPr>
        <a:xfrm>
          <a:off x="3293894" y="0"/>
          <a:ext cx="1176391" cy="457200"/>
        </a:xfrm>
        <a:prstGeom prst="roundRect">
          <a:avLst>
            <a:gd name="adj" fmla="val 10000"/>
          </a:avLst>
        </a:prstGeom>
      </dgm:spPr>
      <dgm:t>
        <a:bodyPr/>
        <a:lstStyle/>
        <a:p>
          <a:pPr>
            <a:buNone/>
          </a:pPr>
          <a:r>
            <a:rPr lang="en-US" sz="1200" noProof="0" dirty="0">
              <a:latin typeface="Aptos" panose="02110004020202020204"/>
              <a:ea typeface="+mn-ea"/>
              <a:cs typeface="+mn-cs"/>
            </a:rPr>
            <a:t>Executing Pre-requisites</a:t>
          </a:r>
        </a:p>
      </dgm:t>
    </dgm:pt>
    <dgm:pt modelId="{35323468-439C-4FC9-A427-06B148315C9A}" type="parTrans" cxnId="{CF38372E-B1E9-4742-8A81-E5828DE2AD67}">
      <dgm:prSet/>
      <dgm:spPr/>
      <dgm:t>
        <a:bodyPr/>
        <a:lstStyle/>
        <a:p>
          <a:endParaRPr lang="en-US" sz="1200"/>
        </a:p>
      </dgm:t>
    </dgm:pt>
    <dgm:pt modelId="{B5624276-943A-48F3-8D08-018C69F3B4C6}" type="sibTrans" cxnId="{CF38372E-B1E9-4742-8A81-E5828DE2AD67}">
      <dgm:prSet custT="1"/>
      <dgm:spPr>
        <a:xfrm>
          <a:off x="4587924" y="82727"/>
          <a:ext cx="249394" cy="291744"/>
        </a:xfrm>
        <a:prstGeom prst="rightArrow">
          <a:avLst>
            <a:gd name="adj1" fmla="val 60000"/>
            <a:gd name="adj2" fmla="val 50000"/>
          </a:avLst>
        </a:prstGeom>
      </dgm:spPr>
      <dgm:t>
        <a:bodyPr/>
        <a:lstStyle/>
        <a:p>
          <a:pPr>
            <a:buNone/>
          </a:pPr>
          <a:endParaRPr lang="en-US" sz="1200" noProof="0" dirty="0">
            <a:solidFill>
              <a:sysClr val="window" lastClr="FFFFFF"/>
            </a:solidFill>
            <a:latin typeface="Aptos" panose="02110004020202020204"/>
            <a:ea typeface="+mn-ea"/>
            <a:cs typeface="+mn-cs"/>
          </a:endParaRPr>
        </a:p>
      </dgm:t>
    </dgm:pt>
    <dgm:pt modelId="{5B9C6746-4BF3-4134-BE45-D9770D4C3149}">
      <dgm:prSet phldrT="[Text]" custT="1"/>
      <dgm:spPr>
        <a:xfrm>
          <a:off x="6587789" y="0"/>
          <a:ext cx="1176391" cy="457200"/>
        </a:xfrm>
        <a:prstGeom prst="roundRect">
          <a:avLst>
            <a:gd name="adj" fmla="val 10000"/>
          </a:avLst>
        </a:prstGeom>
      </dgm:spPr>
      <dgm:t>
        <a:bodyPr/>
        <a:lstStyle/>
        <a:p>
          <a:pPr>
            <a:buNone/>
          </a:pPr>
          <a:r>
            <a:rPr lang="en-US" sz="1200" noProof="0" dirty="0">
              <a:latin typeface="Aptos" panose="02110004020202020204"/>
              <a:ea typeface="+mn-ea"/>
              <a:cs typeface="+mn-cs"/>
            </a:rPr>
            <a:t>Executing Migration</a:t>
          </a:r>
        </a:p>
      </dgm:t>
    </dgm:pt>
    <dgm:pt modelId="{DD90E5E3-F480-4813-BECA-A855CE92EFA7}" type="parTrans" cxnId="{0DC7A8D1-A7EA-4B5B-A96E-E3AD984DE2AC}">
      <dgm:prSet/>
      <dgm:spPr/>
      <dgm:t>
        <a:bodyPr/>
        <a:lstStyle/>
        <a:p>
          <a:endParaRPr lang="en-US" sz="1200"/>
        </a:p>
      </dgm:t>
    </dgm:pt>
    <dgm:pt modelId="{1F1311FF-1038-458C-AB3D-20B348604C9D}" type="sibTrans" cxnId="{0DC7A8D1-A7EA-4B5B-A96E-E3AD984DE2AC}">
      <dgm:prSet custT="1"/>
      <dgm:spPr>
        <a:xfrm>
          <a:off x="7881819" y="82727"/>
          <a:ext cx="249394" cy="291744"/>
        </a:xfrm>
        <a:prstGeom prst="rightArrow">
          <a:avLst>
            <a:gd name="adj1" fmla="val 60000"/>
            <a:gd name="adj2" fmla="val 50000"/>
          </a:avLst>
        </a:prstGeom>
      </dgm:spPr>
      <dgm:t>
        <a:bodyPr/>
        <a:lstStyle/>
        <a:p>
          <a:pPr>
            <a:buNone/>
          </a:pPr>
          <a:endParaRPr lang="en-US" sz="1200" noProof="0" dirty="0">
            <a:solidFill>
              <a:sysClr val="window" lastClr="FFFFFF"/>
            </a:solidFill>
            <a:latin typeface="Aptos" panose="02110004020202020204"/>
            <a:ea typeface="+mn-ea"/>
            <a:cs typeface="+mn-cs"/>
          </a:endParaRPr>
        </a:p>
      </dgm:t>
    </dgm:pt>
    <dgm:pt modelId="{3A1DBC4F-67F4-4497-8B20-28565692A781}">
      <dgm:prSet phldrT="[Text]" custT="1"/>
      <dgm:spPr>
        <a:xfrm>
          <a:off x="4940842" y="0"/>
          <a:ext cx="1176391" cy="457200"/>
        </a:xfrm>
        <a:prstGeom prst="roundRect">
          <a:avLst>
            <a:gd name="adj" fmla="val 10000"/>
          </a:avLst>
        </a:prstGeom>
      </dgm:spPr>
      <dgm:t>
        <a:bodyPr/>
        <a:lstStyle/>
        <a:p>
          <a:pPr>
            <a:buNone/>
          </a:pPr>
          <a:r>
            <a:rPr lang="en-US" sz="1200" noProof="0" dirty="0">
              <a:latin typeface="Aptos" panose="02110004020202020204"/>
              <a:ea typeface="+mn-ea"/>
              <a:cs typeface="+mn-cs"/>
            </a:rPr>
            <a:t>Finalizing Scope</a:t>
          </a:r>
        </a:p>
      </dgm:t>
    </dgm:pt>
    <dgm:pt modelId="{A3BC82D0-BA99-479A-8A85-E7208CF5FEB6}" type="parTrans" cxnId="{21F2D8AB-9072-4BAB-ACF7-7AAB5907FFFD}">
      <dgm:prSet/>
      <dgm:spPr/>
      <dgm:t>
        <a:bodyPr/>
        <a:lstStyle/>
        <a:p>
          <a:endParaRPr lang="en-US" sz="1200"/>
        </a:p>
      </dgm:t>
    </dgm:pt>
    <dgm:pt modelId="{8EA9418D-8FBD-4514-A2F3-2BF36CA8FEBF}" type="sibTrans" cxnId="{21F2D8AB-9072-4BAB-ACF7-7AAB5907FFFD}">
      <dgm:prSet custT="1"/>
      <dgm:spPr>
        <a:xfrm>
          <a:off x="6234872" y="82727"/>
          <a:ext cx="249394" cy="291744"/>
        </a:xfrm>
        <a:prstGeom prst="rightArrow">
          <a:avLst>
            <a:gd name="adj1" fmla="val 60000"/>
            <a:gd name="adj2" fmla="val 50000"/>
          </a:avLst>
        </a:prstGeom>
      </dgm:spPr>
      <dgm:t>
        <a:bodyPr/>
        <a:lstStyle/>
        <a:p>
          <a:pPr>
            <a:buNone/>
          </a:pPr>
          <a:endParaRPr lang="en-US" sz="1200" noProof="0" dirty="0">
            <a:solidFill>
              <a:sysClr val="window" lastClr="FFFFFF"/>
            </a:solidFill>
            <a:latin typeface="Aptos" panose="02110004020202020204"/>
            <a:ea typeface="+mn-ea"/>
            <a:cs typeface="+mn-cs"/>
          </a:endParaRPr>
        </a:p>
      </dgm:t>
    </dgm:pt>
    <dgm:pt modelId="{55A479C4-0B62-402D-AF05-F2C2F2074CF1}">
      <dgm:prSet phldrT="[Text]" custT="1"/>
      <dgm:spPr>
        <a:xfrm>
          <a:off x="8234737" y="0"/>
          <a:ext cx="1176391" cy="457200"/>
        </a:xfrm>
        <a:prstGeom prst="roundRect">
          <a:avLst>
            <a:gd name="adj" fmla="val 10000"/>
          </a:avLst>
        </a:prstGeom>
      </dgm:spPr>
      <dgm:t>
        <a:bodyPr/>
        <a:lstStyle/>
        <a:p>
          <a:pPr>
            <a:buNone/>
          </a:pPr>
          <a:r>
            <a:rPr lang="en-US" sz="1200" noProof="0" dirty="0">
              <a:latin typeface="Aptos" panose="02110004020202020204"/>
              <a:ea typeface="+mn-ea"/>
              <a:cs typeface="+mn-cs"/>
            </a:rPr>
            <a:t>Completed</a:t>
          </a:r>
        </a:p>
      </dgm:t>
    </dgm:pt>
    <dgm:pt modelId="{381A0B8F-DCF3-4BC8-BABF-DCED8BE1050B}" type="parTrans" cxnId="{014C4B65-0B89-47AD-8FA6-B844FD193BBC}">
      <dgm:prSet/>
      <dgm:spPr/>
      <dgm:t>
        <a:bodyPr/>
        <a:lstStyle/>
        <a:p>
          <a:endParaRPr lang="en-US" sz="1200"/>
        </a:p>
      </dgm:t>
    </dgm:pt>
    <dgm:pt modelId="{B7B49660-E5C2-41E6-B2DB-F79FA84C4A51}" type="sibTrans" cxnId="{014C4B65-0B89-47AD-8FA6-B844FD193BBC}">
      <dgm:prSet/>
      <dgm:spPr/>
      <dgm:t>
        <a:bodyPr/>
        <a:lstStyle/>
        <a:p>
          <a:endParaRPr lang="en-US" sz="1200"/>
        </a:p>
      </dgm:t>
    </dgm:pt>
    <dgm:pt modelId="{FBDFEB50-0315-471A-92D2-AFB9D7F832D1}" type="pres">
      <dgm:prSet presAssocID="{A56D6AD0-EE71-4BC4-A331-5AED54342519}" presName="Name0" presStyleCnt="0">
        <dgm:presLayoutVars>
          <dgm:dir/>
          <dgm:resizeHandles val="exact"/>
        </dgm:presLayoutVars>
      </dgm:prSet>
      <dgm:spPr/>
    </dgm:pt>
    <dgm:pt modelId="{AC3E64F3-6196-428F-B281-63755B67F150}" type="pres">
      <dgm:prSet presAssocID="{5CF8CE50-7D25-4E8E-B40C-E59685B26D16}" presName="node" presStyleLbl="node1" presStyleIdx="0" presStyleCnt="6">
        <dgm:presLayoutVars>
          <dgm:bulletEnabled val="1"/>
        </dgm:presLayoutVars>
      </dgm:prSet>
      <dgm:spPr/>
    </dgm:pt>
    <dgm:pt modelId="{1E95FA6F-F382-4741-A478-D51EF6FCC773}" type="pres">
      <dgm:prSet presAssocID="{A157E450-C079-453C-B603-E85CF646C588}" presName="sibTrans" presStyleLbl="sibTrans2D1" presStyleIdx="0" presStyleCnt="5"/>
      <dgm:spPr/>
    </dgm:pt>
    <dgm:pt modelId="{44BC8DDF-D6C8-4A53-8668-D5C169C5F834}" type="pres">
      <dgm:prSet presAssocID="{A157E450-C079-453C-B603-E85CF646C588}" presName="connectorText" presStyleLbl="sibTrans2D1" presStyleIdx="0" presStyleCnt="5"/>
      <dgm:spPr/>
    </dgm:pt>
    <dgm:pt modelId="{16759F93-EF57-4129-8AE7-4735633A19FE}" type="pres">
      <dgm:prSet presAssocID="{93DE802F-E5D1-48F1-BCB9-FDCCD45B8D88}" presName="node" presStyleLbl="node1" presStyleIdx="1" presStyleCnt="6">
        <dgm:presLayoutVars>
          <dgm:bulletEnabled val="1"/>
        </dgm:presLayoutVars>
      </dgm:prSet>
      <dgm:spPr/>
    </dgm:pt>
    <dgm:pt modelId="{8576D273-BD41-42BB-81BD-6EC6A6A695A8}" type="pres">
      <dgm:prSet presAssocID="{C5CE74A2-2352-420E-9BBA-303DE154B825}" presName="sibTrans" presStyleLbl="sibTrans2D1" presStyleIdx="1" presStyleCnt="5"/>
      <dgm:spPr/>
    </dgm:pt>
    <dgm:pt modelId="{ACD5AAEC-13C8-4DC5-B95F-DE190C9B4A3A}" type="pres">
      <dgm:prSet presAssocID="{C5CE74A2-2352-420E-9BBA-303DE154B825}" presName="connectorText" presStyleLbl="sibTrans2D1" presStyleIdx="1" presStyleCnt="5"/>
      <dgm:spPr/>
    </dgm:pt>
    <dgm:pt modelId="{FF97921B-12F2-4952-B5C0-BA83865CA95E}" type="pres">
      <dgm:prSet presAssocID="{B47A51E2-29B0-4D2B-AEF7-56E788428609}" presName="node" presStyleLbl="node1" presStyleIdx="2" presStyleCnt="6">
        <dgm:presLayoutVars>
          <dgm:bulletEnabled val="1"/>
        </dgm:presLayoutVars>
      </dgm:prSet>
      <dgm:spPr/>
    </dgm:pt>
    <dgm:pt modelId="{DDF4B975-76E3-4FE2-B9F4-6214F4F28C91}" type="pres">
      <dgm:prSet presAssocID="{B5624276-943A-48F3-8D08-018C69F3B4C6}" presName="sibTrans" presStyleLbl="sibTrans2D1" presStyleIdx="2" presStyleCnt="5"/>
      <dgm:spPr/>
    </dgm:pt>
    <dgm:pt modelId="{393F8CE5-2FA6-4618-BD0B-59A318CAC5FA}" type="pres">
      <dgm:prSet presAssocID="{B5624276-943A-48F3-8D08-018C69F3B4C6}" presName="connectorText" presStyleLbl="sibTrans2D1" presStyleIdx="2" presStyleCnt="5"/>
      <dgm:spPr/>
    </dgm:pt>
    <dgm:pt modelId="{CD751193-A12A-4311-AEFC-A816ADEC2C14}" type="pres">
      <dgm:prSet presAssocID="{3A1DBC4F-67F4-4497-8B20-28565692A781}" presName="node" presStyleLbl="node1" presStyleIdx="3" presStyleCnt="6">
        <dgm:presLayoutVars>
          <dgm:bulletEnabled val="1"/>
        </dgm:presLayoutVars>
      </dgm:prSet>
      <dgm:spPr/>
    </dgm:pt>
    <dgm:pt modelId="{8502DB9C-4808-4787-8492-DDFBD797F8DD}" type="pres">
      <dgm:prSet presAssocID="{8EA9418D-8FBD-4514-A2F3-2BF36CA8FEBF}" presName="sibTrans" presStyleLbl="sibTrans2D1" presStyleIdx="3" presStyleCnt="5"/>
      <dgm:spPr/>
    </dgm:pt>
    <dgm:pt modelId="{BC9F1BE1-5FDC-4762-B2F3-B1CEE02313C4}" type="pres">
      <dgm:prSet presAssocID="{8EA9418D-8FBD-4514-A2F3-2BF36CA8FEBF}" presName="connectorText" presStyleLbl="sibTrans2D1" presStyleIdx="3" presStyleCnt="5"/>
      <dgm:spPr/>
    </dgm:pt>
    <dgm:pt modelId="{9F528000-31C4-446D-B521-BC1C38893533}" type="pres">
      <dgm:prSet presAssocID="{5B9C6746-4BF3-4134-BE45-D9770D4C3149}" presName="node" presStyleLbl="node1" presStyleIdx="4" presStyleCnt="6">
        <dgm:presLayoutVars>
          <dgm:bulletEnabled val="1"/>
        </dgm:presLayoutVars>
      </dgm:prSet>
      <dgm:spPr/>
    </dgm:pt>
    <dgm:pt modelId="{26D5FB41-8929-4172-82D2-BA5B2F04E282}" type="pres">
      <dgm:prSet presAssocID="{1F1311FF-1038-458C-AB3D-20B348604C9D}" presName="sibTrans" presStyleLbl="sibTrans2D1" presStyleIdx="4" presStyleCnt="5"/>
      <dgm:spPr/>
    </dgm:pt>
    <dgm:pt modelId="{BB753CE7-1204-46FE-B33C-81BDD5F00819}" type="pres">
      <dgm:prSet presAssocID="{1F1311FF-1038-458C-AB3D-20B348604C9D}" presName="connectorText" presStyleLbl="sibTrans2D1" presStyleIdx="4" presStyleCnt="5"/>
      <dgm:spPr/>
    </dgm:pt>
    <dgm:pt modelId="{8B6ADC87-0615-43FB-9595-9A60EB7DF131}" type="pres">
      <dgm:prSet presAssocID="{55A479C4-0B62-402D-AF05-F2C2F2074CF1}" presName="node" presStyleLbl="node1" presStyleIdx="5" presStyleCnt="6">
        <dgm:presLayoutVars>
          <dgm:bulletEnabled val="1"/>
        </dgm:presLayoutVars>
      </dgm:prSet>
      <dgm:spPr/>
    </dgm:pt>
  </dgm:ptLst>
  <dgm:cxnLst>
    <dgm:cxn modelId="{3FB4010E-3299-4360-A04A-D49AEC26E295}" type="presOf" srcId="{55A479C4-0B62-402D-AF05-F2C2F2074CF1}" destId="{8B6ADC87-0615-43FB-9595-9A60EB7DF131}" srcOrd="0" destOrd="0" presId="urn:microsoft.com/office/officeart/2005/8/layout/process1"/>
    <dgm:cxn modelId="{E4810E2B-A70C-4956-A01D-3182933EC3AF}" type="presOf" srcId="{8EA9418D-8FBD-4514-A2F3-2BF36CA8FEBF}" destId="{8502DB9C-4808-4787-8492-DDFBD797F8DD}" srcOrd="0" destOrd="0" presId="urn:microsoft.com/office/officeart/2005/8/layout/process1"/>
    <dgm:cxn modelId="{CF38372E-B1E9-4742-8A81-E5828DE2AD67}" srcId="{A56D6AD0-EE71-4BC4-A331-5AED54342519}" destId="{B47A51E2-29B0-4D2B-AEF7-56E788428609}" srcOrd="2" destOrd="0" parTransId="{35323468-439C-4FC9-A427-06B148315C9A}" sibTransId="{B5624276-943A-48F3-8D08-018C69F3B4C6}"/>
    <dgm:cxn modelId="{89098D34-2878-48CB-8A4B-0DD057B31A32}" type="presOf" srcId="{A157E450-C079-453C-B603-E85CF646C588}" destId="{1E95FA6F-F382-4741-A478-D51EF6FCC773}" srcOrd="0" destOrd="0" presId="urn:microsoft.com/office/officeart/2005/8/layout/process1"/>
    <dgm:cxn modelId="{48D0EC5E-3CD5-4682-B183-E49C67BEDF9C}" type="presOf" srcId="{B5624276-943A-48F3-8D08-018C69F3B4C6}" destId="{393F8CE5-2FA6-4618-BD0B-59A318CAC5FA}" srcOrd="1" destOrd="0" presId="urn:microsoft.com/office/officeart/2005/8/layout/process1"/>
    <dgm:cxn modelId="{014C4B65-0B89-47AD-8FA6-B844FD193BBC}" srcId="{A56D6AD0-EE71-4BC4-A331-5AED54342519}" destId="{55A479C4-0B62-402D-AF05-F2C2F2074CF1}" srcOrd="5" destOrd="0" parTransId="{381A0B8F-DCF3-4BC8-BABF-DCED8BE1050B}" sibTransId="{B7B49660-E5C2-41E6-B2DB-F79FA84C4A51}"/>
    <dgm:cxn modelId="{09D07551-163B-4035-8F9E-5092BC5A5028}" type="presOf" srcId="{C5CE74A2-2352-420E-9BBA-303DE154B825}" destId="{8576D273-BD41-42BB-81BD-6EC6A6A695A8}" srcOrd="0" destOrd="0" presId="urn:microsoft.com/office/officeart/2005/8/layout/process1"/>
    <dgm:cxn modelId="{B0668D54-29A3-4F24-8ADB-3DDE859D1B11}" srcId="{A56D6AD0-EE71-4BC4-A331-5AED54342519}" destId="{93DE802F-E5D1-48F1-BCB9-FDCCD45B8D88}" srcOrd="1" destOrd="0" parTransId="{DC8783CF-CAE9-4652-BB96-09700285E7FC}" sibTransId="{C5CE74A2-2352-420E-9BBA-303DE154B825}"/>
    <dgm:cxn modelId="{E2D69778-AD29-4755-B268-52863ADB751E}" type="presOf" srcId="{C5CE74A2-2352-420E-9BBA-303DE154B825}" destId="{ACD5AAEC-13C8-4DC5-B95F-DE190C9B4A3A}" srcOrd="1" destOrd="0" presId="urn:microsoft.com/office/officeart/2005/8/layout/process1"/>
    <dgm:cxn modelId="{91A29879-371F-41A6-922A-82A8AB3CBDCC}" type="presOf" srcId="{A157E450-C079-453C-B603-E85CF646C588}" destId="{44BC8DDF-D6C8-4A53-8668-D5C169C5F834}" srcOrd="1" destOrd="0" presId="urn:microsoft.com/office/officeart/2005/8/layout/process1"/>
    <dgm:cxn modelId="{A465B659-1DAC-4ACF-A8C7-B4459BB7B80C}" type="presOf" srcId="{B47A51E2-29B0-4D2B-AEF7-56E788428609}" destId="{FF97921B-12F2-4952-B5C0-BA83865CA95E}" srcOrd="0" destOrd="0" presId="urn:microsoft.com/office/officeart/2005/8/layout/process1"/>
    <dgm:cxn modelId="{CD0ED488-8E97-4978-BAA9-D38A1DD8D868}" type="presOf" srcId="{3A1DBC4F-67F4-4497-8B20-28565692A781}" destId="{CD751193-A12A-4311-AEFC-A816ADEC2C14}" srcOrd="0" destOrd="0" presId="urn:microsoft.com/office/officeart/2005/8/layout/process1"/>
    <dgm:cxn modelId="{4A4B0295-266E-41EF-9783-232EDE50EF4A}" srcId="{A56D6AD0-EE71-4BC4-A331-5AED54342519}" destId="{5CF8CE50-7D25-4E8E-B40C-E59685B26D16}" srcOrd="0" destOrd="0" parTransId="{D5542E24-FF97-407C-A41C-9E0F3136B69D}" sibTransId="{A157E450-C079-453C-B603-E85CF646C588}"/>
    <dgm:cxn modelId="{1B576695-E6A2-4FD6-B96F-138016E3CD11}" type="presOf" srcId="{A56D6AD0-EE71-4BC4-A331-5AED54342519}" destId="{FBDFEB50-0315-471A-92D2-AFB9D7F832D1}" srcOrd="0" destOrd="0" presId="urn:microsoft.com/office/officeart/2005/8/layout/process1"/>
    <dgm:cxn modelId="{FC9ACF98-53D4-4C1B-8E8F-9EA3ADAAB564}" type="presOf" srcId="{93DE802F-E5D1-48F1-BCB9-FDCCD45B8D88}" destId="{16759F93-EF57-4129-8AE7-4735633A19FE}" srcOrd="0" destOrd="0" presId="urn:microsoft.com/office/officeart/2005/8/layout/process1"/>
    <dgm:cxn modelId="{21F2D8AB-9072-4BAB-ACF7-7AAB5907FFFD}" srcId="{A56D6AD0-EE71-4BC4-A331-5AED54342519}" destId="{3A1DBC4F-67F4-4497-8B20-28565692A781}" srcOrd="3" destOrd="0" parTransId="{A3BC82D0-BA99-479A-8A85-E7208CF5FEB6}" sibTransId="{8EA9418D-8FBD-4514-A2F3-2BF36CA8FEBF}"/>
    <dgm:cxn modelId="{08BC13B9-27BD-4AD1-979A-E14C1A0F542B}" type="presOf" srcId="{B5624276-943A-48F3-8D08-018C69F3B4C6}" destId="{DDF4B975-76E3-4FE2-B9F4-6214F4F28C91}" srcOrd="0" destOrd="0" presId="urn:microsoft.com/office/officeart/2005/8/layout/process1"/>
    <dgm:cxn modelId="{399418BD-CDB7-4EF7-BB81-685548F97A67}" type="presOf" srcId="{8EA9418D-8FBD-4514-A2F3-2BF36CA8FEBF}" destId="{BC9F1BE1-5FDC-4762-B2F3-B1CEE02313C4}" srcOrd="1" destOrd="0" presId="urn:microsoft.com/office/officeart/2005/8/layout/process1"/>
    <dgm:cxn modelId="{722E98C9-815A-4A7B-9399-6492250AB76E}" type="presOf" srcId="{1F1311FF-1038-458C-AB3D-20B348604C9D}" destId="{26D5FB41-8929-4172-82D2-BA5B2F04E282}" srcOrd="0" destOrd="0" presId="urn:microsoft.com/office/officeart/2005/8/layout/process1"/>
    <dgm:cxn modelId="{0DC7A8D1-A7EA-4B5B-A96E-E3AD984DE2AC}" srcId="{A56D6AD0-EE71-4BC4-A331-5AED54342519}" destId="{5B9C6746-4BF3-4134-BE45-D9770D4C3149}" srcOrd="4" destOrd="0" parTransId="{DD90E5E3-F480-4813-BECA-A855CE92EFA7}" sibTransId="{1F1311FF-1038-458C-AB3D-20B348604C9D}"/>
    <dgm:cxn modelId="{A750FCE1-3CAA-4C7D-AC8F-D14E8C0334D3}" type="presOf" srcId="{5CF8CE50-7D25-4E8E-B40C-E59685B26D16}" destId="{AC3E64F3-6196-428F-B281-63755B67F150}" srcOrd="0" destOrd="0" presId="urn:microsoft.com/office/officeart/2005/8/layout/process1"/>
    <dgm:cxn modelId="{9CA2B5FB-3DC0-4280-BEE8-260314189250}" type="presOf" srcId="{5B9C6746-4BF3-4134-BE45-D9770D4C3149}" destId="{9F528000-31C4-446D-B521-BC1C38893533}" srcOrd="0" destOrd="0" presId="urn:microsoft.com/office/officeart/2005/8/layout/process1"/>
    <dgm:cxn modelId="{88DB5AFE-4293-4AB0-BFBE-2A489DEE1056}" type="presOf" srcId="{1F1311FF-1038-458C-AB3D-20B348604C9D}" destId="{BB753CE7-1204-46FE-B33C-81BDD5F00819}" srcOrd="1" destOrd="0" presId="urn:microsoft.com/office/officeart/2005/8/layout/process1"/>
    <dgm:cxn modelId="{E58FE92A-9483-43C7-80F2-CBAD89A238BC}" type="presParOf" srcId="{FBDFEB50-0315-471A-92D2-AFB9D7F832D1}" destId="{AC3E64F3-6196-428F-B281-63755B67F150}" srcOrd="0" destOrd="0" presId="urn:microsoft.com/office/officeart/2005/8/layout/process1"/>
    <dgm:cxn modelId="{CFF6CD01-82C5-4B8C-8352-69B16EC83D8C}" type="presParOf" srcId="{FBDFEB50-0315-471A-92D2-AFB9D7F832D1}" destId="{1E95FA6F-F382-4741-A478-D51EF6FCC773}" srcOrd="1" destOrd="0" presId="urn:microsoft.com/office/officeart/2005/8/layout/process1"/>
    <dgm:cxn modelId="{433C6F0B-046D-42D6-AD7B-90104005F95D}" type="presParOf" srcId="{1E95FA6F-F382-4741-A478-D51EF6FCC773}" destId="{44BC8DDF-D6C8-4A53-8668-D5C169C5F834}" srcOrd="0" destOrd="0" presId="urn:microsoft.com/office/officeart/2005/8/layout/process1"/>
    <dgm:cxn modelId="{A14E4FB9-F06D-438D-B372-2D4C1FCFFEDD}" type="presParOf" srcId="{FBDFEB50-0315-471A-92D2-AFB9D7F832D1}" destId="{16759F93-EF57-4129-8AE7-4735633A19FE}" srcOrd="2" destOrd="0" presId="urn:microsoft.com/office/officeart/2005/8/layout/process1"/>
    <dgm:cxn modelId="{2833C8F1-B167-454E-8146-CDDBFCBBB584}" type="presParOf" srcId="{FBDFEB50-0315-471A-92D2-AFB9D7F832D1}" destId="{8576D273-BD41-42BB-81BD-6EC6A6A695A8}" srcOrd="3" destOrd="0" presId="urn:microsoft.com/office/officeart/2005/8/layout/process1"/>
    <dgm:cxn modelId="{CF486D4E-7F51-4A28-9B9A-C5304645FABD}" type="presParOf" srcId="{8576D273-BD41-42BB-81BD-6EC6A6A695A8}" destId="{ACD5AAEC-13C8-4DC5-B95F-DE190C9B4A3A}" srcOrd="0" destOrd="0" presId="urn:microsoft.com/office/officeart/2005/8/layout/process1"/>
    <dgm:cxn modelId="{FAF8D7E2-CD50-401B-B421-E383143424A7}" type="presParOf" srcId="{FBDFEB50-0315-471A-92D2-AFB9D7F832D1}" destId="{FF97921B-12F2-4952-B5C0-BA83865CA95E}" srcOrd="4" destOrd="0" presId="urn:microsoft.com/office/officeart/2005/8/layout/process1"/>
    <dgm:cxn modelId="{6075623F-64C0-4DBD-85C0-4D8630577986}" type="presParOf" srcId="{FBDFEB50-0315-471A-92D2-AFB9D7F832D1}" destId="{DDF4B975-76E3-4FE2-B9F4-6214F4F28C91}" srcOrd="5" destOrd="0" presId="urn:microsoft.com/office/officeart/2005/8/layout/process1"/>
    <dgm:cxn modelId="{76F907A1-1E66-49E7-96A1-22C2D8F97143}" type="presParOf" srcId="{DDF4B975-76E3-4FE2-B9F4-6214F4F28C91}" destId="{393F8CE5-2FA6-4618-BD0B-59A318CAC5FA}" srcOrd="0" destOrd="0" presId="urn:microsoft.com/office/officeart/2005/8/layout/process1"/>
    <dgm:cxn modelId="{15C3BE4E-DB98-474C-A83F-624688296F7F}" type="presParOf" srcId="{FBDFEB50-0315-471A-92D2-AFB9D7F832D1}" destId="{CD751193-A12A-4311-AEFC-A816ADEC2C14}" srcOrd="6" destOrd="0" presId="urn:microsoft.com/office/officeart/2005/8/layout/process1"/>
    <dgm:cxn modelId="{D2C4FD44-30A3-469E-8976-F54AFE29C03D}" type="presParOf" srcId="{FBDFEB50-0315-471A-92D2-AFB9D7F832D1}" destId="{8502DB9C-4808-4787-8492-DDFBD797F8DD}" srcOrd="7" destOrd="0" presId="urn:microsoft.com/office/officeart/2005/8/layout/process1"/>
    <dgm:cxn modelId="{98397145-33D3-4C51-829A-4C9C8DD46ECB}" type="presParOf" srcId="{8502DB9C-4808-4787-8492-DDFBD797F8DD}" destId="{BC9F1BE1-5FDC-4762-B2F3-B1CEE02313C4}" srcOrd="0" destOrd="0" presId="urn:microsoft.com/office/officeart/2005/8/layout/process1"/>
    <dgm:cxn modelId="{0134E664-B2DD-4E04-BB79-43E45DB5C505}" type="presParOf" srcId="{FBDFEB50-0315-471A-92D2-AFB9D7F832D1}" destId="{9F528000-31C4-446D-B521-BC1C38893533}" srcOrd="8" destOrd="0" presId="urn:microsoft.com/office/officeart/2005/8/layout/process1"/>
    <dgm:cxn modelId="{5C17D566-0924-4479-B700-7B6C982352A3}" type="presParOf" srcId="{FBDFEB50-0315-471A-92D2-AFB9D7F832D1}" destId="{26D5FB41-8929-4172-82D2-BA5B2F04E282}" srcOrd="9" destOrd="0" presId="urn:microsoft.com/office/officeart/2005/8/layout/process1"/>
    <dgm:cxn modelId="{14A49E55-C3C3-4951-8480-E50D6C06D036}" type="presParOf" srcId="{26D5FB41-8929-4172-82D2-BA5B2F04E282}" destId="{BB753CE7-1204-46FE-B33C-81BDD5F00819}" srcOrd="0" destOrd="0" presId="urn:microsoft.com/office/officeart/2005/8/layout/process1"/>
    <dgm:cxn modelId="{1D061DE3-0DFD-40BF-B038-01F7FCF4D8DC}" type="presParOf" srcId="{FBDFEB50-0315-471A-92D2-AFB9D7F832D1}" destId="{8B6ADC87-0615-43FB-9595-9A60EB7DF131}"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3E64F3-6196-428F-B281-63755B67F150}">
      <dsp:nvSpPr>
        <dsp:cNvPr id="0" name=""/>
        <dsp:cNvSpPr/>
      </dsp:nvSpPr>
      <dsp:spPr>
        <a:xfrm>
          <a:off x="4595" y="0"/>
          <a:ext cx="1175242" cy="58030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latin typeface="Aptos" panose="02110004020202020204"/>
              <a:ea typeface="+mn-ea"/>
              <a:cs typeface="+mn-cs"/>
            </a:rPr>
            <a:t>Concierge</a:t>
          </a:r>
        </a:p>
      </dsp:txBody>
      <dsp:txXfrm>
        <a:off x="21592" y="16997"/>
        <a:ext cx="1141248" cy="546315"/>
      </dsp:txXfrm>
    </dsp:sp>
    <dsp:sp modelId="{1E95FA6F-F382-4741-A478-D51EF6FCC773}">
      <dsp:nvSpPr>
        <dsp:cNvPr id="0" name=""/>
        <dsp:cNvSpPr/>
      </dsp:nvSpPr>
      <dsp:spPr>
        <a:xfrm>
          <a:off x="1297361" y="144424"/>
          <a:ext cx="249151" cy="2914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solidFill>
              <a:sysClr val="window" lastClr="FFFFFF"/>
            </a:solidFill>
            <a:latin typeface="Aptos" panose="02110004020202020204"/>
            <a:ea typeface="+mn-ea"/>
            <a:cs typeface="+mn-cs"/>
          </a:endParaRPr>
        </a:p>
      </dsp:txBody>
      <dsp:txXfrm>
        <a:off x="1297361" y="202716"/>
        <a:ext cx="174406" cy="174876"/>
      </dsp:txXfrm>
    </dsp:sp>
    <dsp:sp modelId="{16759F93-EF57-4129-8AE7-4735633A19FE}">
      <dsp:nvSpPr>
        <dsp:cNvPr id="0" name=""/>
        <dsp:cNvSpPr/>
      </dsp:nvSpPr>
      <dsp:spPr>
        <a:xfrm>
          <a:off x="1649934" y="0"/>
          <a:ext cx="1175242" cy="580309"/>
        </a:xfrm>
        <a:prstGeom prst="roundRect">
          <a:avLst>
            <a:gd name="adj" fmla="val 10000"/>
          </a:avLst>
        </a:prstGeom>
        <a:solidFill>
          <a:schemeClr val="accent2">
            <a:hueOff val="-564772"/>
            <a:satOff val="1313"/>
            <a:lumOff val="4589"/>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latin typeface="Aptos" panose="02110004020202020204"/>
              <a:ea typeface="+mn-ea"/>
              <a:cs typeface="+mn-cs"/>
            </a:rPr>
            <a:t>Validate Commitment &amp; Initial Scope</a:t>
          </a:r>
        </a:p>
      </dsp:txBody>
      <dsp:txXfrm>
        <a:off x="1666931" y="16997"/>
        <a:ext cx="1141248" cy="546315"/>
      </dsp:txXfrm>
    </dsp:sp>
    <dsp:sp modelId="{8576D273-BD41-42BB-81BD-6EC6A6A695A8}">
      <dsp:nvSpPr>
        <dsp:cNvPr id="0" name=""/>
        <dsp:cNvSpPr/>
      </dsp:nvSpPr>
      <dsp:spPr>
        <a:xfrm>
          <a:off x="2942700" y="144424"/>
          <a:ext cx="249151" cy="291460"/>
        </a:xfrm>
        <a:prstGeom prst="rightArrow">
          <a:avLst>
            <a:gd name="adj1" fmla="val 60000"/>
            <a:gd name="adj2" fmla="val 50000"/>
          </a:avLst>
        </a:prstGeom>
        <a:solidFill>
          <a:schemeClr val="accent2">
            <a:hueOff val="-705965"/>
            <a:satOff val="1641"/>
            <a:lumOff val="5736"/>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solidFill>
              <a:sysClr val="window" lastClr="FFFFFF"/>
            </a:solidFill>
            <a:latin typeface="Aptos" panose="02110004020202020204"/>
            <a:ea typeface="+mn-ea"/>
            <a:cs typeface="+mn-cs"/>
          </a:endParaRPr>
        </a:p>
      </dsp:txBody>
      <dsp:txXfrm>
        <a:off x="2942700" y="202716"/>
        <a:ext cx="174406" cy="174876"/>
      </dsp:txXfrm>
    </dsp:sp>
    <dsp:sp modelId="{FF97921B-12F2-4952-B5C0-BA83865CA95E}">
      <dsp:nvSpPr>
        <dsp:cNvPr id="0" name=""/>
        <dsp:cNvSpPr/>
      </dsp:nvSpPr>
      <dsp:spPr>
        <a:xfrm>
          <a:off x="3295273" y="0"/>
          <a:ext cx="1175242" cy="580309"/>
        </a:xfrm>
        <a:prstGeom prst="roundRect">
          <a:avLst>
            <a:gd name="adj" fmla="val 10000"/>
          </a:avLst>
        </a:prstGeom>
        <a:solidFill>
          <a:schemeClr val="accent2">
            <a:hueOff val="-1129544"/>
            <a:satOff val="2626"/>
            <a:lumOff val="9177"/>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latin typeface="Aptos" panose="02110004020202020204"/>
              <a:ea typeface="+mn-ea"/>
              <a:cs typeface="+mn-cs"/>
            </a:rPr>
            <a:t>Executing Pre-requisites</a:t>
          </a:r>
        </a:p>
      </dsp:txBody>
      <dsp:txXfrm>
        <a:off x="3312270" y="16997"/>
        <a:ext cx="1141248" cy="546315"/>
      </dsp:txXfrm>
    </dsp:sp>
    <dsp:sp modelId="{DDF4B975-76E3-4FE2-B9F4-6214F4F28C91}">
      <dsp:nvSpPr>
        <dsp:cNvPr id="0" name=""/>
        <dsp:cNvSpPr/>
      </dsp:nvSpPr>
      <dsp:spPr>
        <a:xfrm>
          <a:off x="4588039" y="144424"/>
          <a:ext cx="249151" cy="291460"/>
        </a:xfrm>
        <a:prstGeom prst="rightArrow">
          <a:avLst>
            <a:gd name="adj1" fmla="val 60000"/>
            <a:gd name="adj2" fmla="val 50000"/>
          </a:avLst>
        </a:prstGeom>
        <a:solidFill>
          <a:schemeClr val="accent2">
            <a:hueOff val="-1411930"/>
            <a:satOff val="3282"/>
            <a:lumOff val="11472"/>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solidFill>
              <a:sysClr val="window" lastClr="FFFFFF"/>
            </a:solidFill>
            <a:latin typeface="Aptos" panose="02110004020202020204"/>
            <a:ea typeface="+mn-ea"/>
            <a:cs typeface="+mn-cs"/>
          </a:endParaRPr>
        </a:p>
      </dsp:txBody>
      <dsp:txXfrm>
        <a:off x="4588039" y="202716"/>
        <a:ext cx="174406" cy="174876"/>
      </dsp:txXfrm>
    </dsp:sp>
    <dsp:sp modelId="{CD751193-A12A-4311-AEFC-A816ADEC2C14}">
      <dsp:nvSpPr>
        <dsp:cNvPr id="0" name=""/>
        <dsp:cNvSpPr/>
      </dsp:nvSpPr>
      <dsp:spPr>
        <a:xfrm>
          <a:off x="4940612" y="0"/>
          <a:ext cx="1175242" cy="580309"/>
        </a:xfrm>
        <a:prstGeom prst="roundRect">
          <a:avLst>
            <a:gd name="adj" fmla="val 10000"/>
          </a:avLst>
        </a:prstGeom>
        <a:solidFill>
          <a:schemeClr val="accent2">
            <a:hueOff val="-1694317"/>
            <a:satOff val="3939"/>
            <a:lumOff val="13766"/>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latin typeface="Aptos" panose="02110004020202020204"/>
              <a:ea typeface="+mn-ea"/>
              <a:cs typeface="+mn-cs"/>
            </a:rPr>
            <a:t>Finalizing Scope</a:t>
          </a:r>
        </a:p>
      </dsp:txBody>
      <dsp:txXfrm>
        <a:off x="4957609" y="16997"/>
        <a:ext cx="1141248" cy="546315"/>
      </dsp:txXfrm>
    </dsp:sp>
    <dsp:sp modelId="{8502DB9C-4808-4787-8492-DDFBD797F8DD}">
      <dsp:nvSpPr>
        <dsp:cNvPr id="0" name=""/>
        <dsp:cNvSpPr/>
      </dsp:nvSpPr>
      <dsp:spPr>
        <a:xfrm>
          <a:off x="6233378" y="144424"/>
          <a:ext cx="249151" cy="291460"/>
        </a:xfrm>
        <a:prstGeom prst="rightArrow">
          <a:avLst>
            <a:gd name="adj1" fmla="val 60000"/>
            <a:gd name="adj2" fmla="val 50000"/>
          </a:avLst>
        </a:prstGeom>
        <a:solidFill>
          <a:schemeClr val="accent2">
            <a:hueOff val="-2117896"/>
            <a:satOff val="4924"/>
            <a:lumOff val="17207"/>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solidFill>
              <a:sysClr val="window" lastClr="FFFFFF"/>
            </a:solidFill>
            <a:latin typeface="Aptos" panose="02110004020202020204"/>
            <a:ea typeface="+mn-ea"/>
            <a:cs typeface="+mn-cs"/>
          </a:endParaRPr>
        </a:p>
      </dsp:txBody>
      <dsp:txXfrm>
        <a:off x="6233378" y="202716"/>
        <a:ext cx="174406" cy="174876"/>
      </dsp:txXfrm>
    </dsp:sp>
    <dsp:sp modelId="{9F528000-31C4-446D-B521-BC1C38893533}">
      <dsp:nvSpPr>
        <dsp:cNvPr id="0" name=""/>
        <dsp:cNvSpPr/>
      </dsp:nvSpPr>
      <dsp:spPr>
        <a:xfrm>
          <a:off x="6585951" y="0"/>
          <a:ext cx="1175242" cy="580309"/>
        </a:xfrm>
        <a:prstGeom prst="roundRect">
          <a:avLst>
            <a:gd name="adj" fmla="val 10000"/>
          </a:avLst>
        </a:prstGeom>
        <a:solidFill>
          <a:schemeClr val="accent2">
            <a:hueOff val="-2259089"/>
            <a:satOff val="5252"/>
            <a:lumOff val="18354"/>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latin typeface="Aptos" panose="02110004020202020204"/>
              <a:ea typeface="+mn-ea"/>
              <a:cs typeface="+mn-cs"/>
            </a:rPr>
            <a:t>Executing Migration</a:t>
          </a:r>
        </a:p>
      </dsp:txBody>
      <dsp:txXfrm>
        <a:off x="6602948" y="16997"/>
        <a:ext cx="1141248" cy="546315"/>
      </dsp:txXfrm>
    </dsp:sp>
    <dsp:sp modelId="{26D5FB41-8929-4172-82D2-BA5B2F04E282}">
      <dsp:nvSpPr>
        <dsp:cNvPr id="0" name=""/>
        <dsp:cNvSpPr/>
      </dsp:nvSpPr>
      <dsp:spPr>
        <a:xfrm>
          <a:off x="7878717" y="144424"/>
          <a:ext cx="249151" cy="291460"/>
        </a:xfrm>
        <a:prstGeom prst="rightArrow">
          <a:avLst>
            <a:gd name="adj1" fmla="val 60000"/>
            <a:gd name="adj2" fmla="val 50000"/>
          </a:avLst>
        </a:prstGeom>
        <a:solidFill>
          <a:schemeClr val="accent2">
            <a:hueOff val="-2823861"/>
            <a:satOff val="6565"/>
            <a:lumOff val="22943"/>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noProof="0" dirty="0">
            <a:solidFill>
              <a:sysClr val="window" lastClr="FFFFFF"/>
            </a:solidFill>
            <a:latin typeface="Aptos" panose="02110004020202020204"/>
            <a:ea typeface="+mn-ea"/>
            <a:cs typeface="+mn-cs"/>
          </a:endParaRPr>
        </a:p>
      </dsp:txBody>
      <dsp:txXfrm>
        <a:off x="7878717" y="202716"/>
        <a:ext cx="174406" cy="174876"/>
      </dsp:txXfrm>
    </dsp:sp>
    <dsp:sp modelId="{8B6ADC87-0615-43FB-9595-9A60EB7DF131}">
      <dsp:nvSpPr>
        <dsp:cNvPr id="0" name=""/>
        <dsp:cNvSpPr/>
      </dsp:nvSpPr>
      <dsp:spPr>
        <a:xfrm>
          <a:off x="8231290" y="0"/>
          <a:ext cx="1175242" cy="580309"/>
        </a:xfrm>
        <a:prstGeom prst="roundRect">
          <a:avLst>
            <a:gd name="adj" fmla="val 10000"/>
          </a:avLst>
        </a:prstGeom>
        <a:solidFill>
          <a:schemeClr val="accent2">
            <a:hueOff val="-2823861"/>
            <a:satOff val="6565"/>
            <a:lumOff val="22943"/>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latin typeface="Aptos" panose="02110004020202020204"/>
              <a:ea typeface="+mn-ea"/>
              <a:cs typeface="+mn-cs"/>
            </a:rPr>
            <a:t>Completed</a:t>
          </a:r>
        </a:p>
      </dsp:txBody>
      <dsp:txXfrm>
        <a:off x="8248287" y="16997"/>
        <a:ext cx="1141248" cy="54631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412D67-2B4E-9F55-6EDC-F2256BD021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Segoe Sans Text" pitchFamily="2" charset="0"/>
            </a:endParaRPr>
          </a:p>
        </p:txBody>
      </p:sp>
      <p:sp>
        <p:nvSpPr>
          <p:cNvPr id="3" name="Date Placeholder 2">
            <a:extLst>
              <a:ext uri="{FF2B5EF4-FFF2-40B4-BE49-F238E27FC236}">
                <a16:creationId xmlns:a16="http://schemas.microsoft.com/office/drawing/2014/main" id="{E5668C3D-E520-C942-CFB7-27E263C06F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296E7-6EEA-4CEF-8F27-97AAB1939405}" type="datetimeFigureOut">
              <a:rPr lang="en-US" smtClean="0">
                <a:latin typeface="Segoe Sans Text" pitchFamily="2" charset="0"/>
              </a:rPr>
              <a:t>7/14/2026</a:t>
            </a:fld>
            <a:endParaRPr lang="en-US" dirty="0">
              <a:latin typeface="Segoe Sans Text" pitchFamily="2" charset="0"/>
            </a:endParaRPr>
          </a:p>
        </p:txBody>
      </p:sp>
      <p:sp>
        <p:nvSpPr>
          <p:cNvPr id="4" name="Footer Placeholder 3">
            <a:extLst>
              <a:ext uri="{FF2B5EF4-FFF2-40B4-BE49-F238E27FC236}">
                <a16:creationId xmlns:a16="http://schemas.microsoft.com/office/drawing/2014/main" id="{15EDE418-482A-7A43-F10A-2705951C1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Segoe Sans Text" pitchFamily="2" charset="0"/>
            </a:endParaRPr>
          </a:p>
        </p:txBody>
      </p:sp>
      <p:sp>
        <p:nvSpPr>
          <p:cNvPr id="5" name="Slide Number Placeholder 4">
            <a:extLst>
              <a:ext uri="{FF2B5EF4-FFF2-40B4-BE49-F238E27FC236}">
                <a16:creationId xmlns:a16="http://schemas.microsoft.com/office/drawing/2014/main" id="{F43D5FD8-B708-FF93-D8FD-7A2F3AD618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8EA95-EEDE-466E-B94C-8B572EEF9CB7}" type="slidenum">
              <a:rPr lang="en-US" smtClean="0">
                <a:latin typeface="Segoe Sans Text" pitchFamily="2" charset="0"/>
              </a:rPr>
              <a:t>‹#›</a:t>
            </a:fld>
            <a:endParaRPr lang="en-US" dirty="0">
              <a:latin typeface="Segoe Sans Text" pitchFamily="2" charset="0"/>
            </a:endParaRPr>
          </a:p>
        </p:txBody>
      </p:sp>
    </p:spTree>
    <p:extLst>
      <p:ext uri="{BB962C8B-B14F-4D97-AF65-F5344CB8AC3E}">
        <p14:creationId xmlns:p14="http://schemas.microsoft.com/office/powerpoint/2010/main" val="6989948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egoe Sans Text" pitchFamily="2" charset="0"/>
              </a:defRPr>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egoe Sans Text" pitchFamily="2" charset="0"/>
              </a:defRPr>
            </a:lvl1pPr>
          </a:lstStyle>
          <a:p>
            <a:fld id="{30B36652-5418-49D0-B2AF-7B23846B1C09}" type="datetimeFigureOut">
              <a:rPr lang="en-IN" smtClean="0"/>
              <a:pPr/>
              <a:t>14-07-2026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egoe Sans Text" pitchFamily="2" charset="0"/>
              </a:defRPr>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egoe Sans Text" pitchFamily="2" charset="0"/>
              </a:defRPr>
            </a:lvl1pPr>
          </a:lstStyle>
          <a:p>
            <a:fld id="{D76800DA-E989-494E-83A7-D0E15226734A}" type="slidenum">
              <a:rPr lang="en-IN" smtClean="0"/>
              <a:pPr/>
              <a:t>‹#›</a:t>
            </a:fld>
            <a:endParaRPr lang="en-IN" dirty="0"/>
          </a:p>
        </p:txBody>
      </p:sp>
    </p:spTree>
    <p:extLst>
      <p:ext uri="{BB962C8B-B14F-4D97-AF65-F5344CB8AC3E}">
        <p14:creationId xmlns:p14="http://schemas.microsoft.com/office/powerpoint/2010/main" val="246225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egoe Sans Text" pitchFamily="2" charset="0"/>
        <a:ea typeface="+mn-ea"/>
        <a:cs typeface="+mn-cs"/>
      </a:defRPr>
    </a:lvl1pPr>
    <a:lvl2pPr marL="457200" algn="l" defTabSz="914400" rtl="0" eaLnBrk="1" latinLnBrk="0" hangingPunct="1">
      <a:defRPr sz="1200" kern="1200">
        <a:solidFill>
          <a:schemeClr val="tx1"/>
        </a:solidFill>
        <a:latin typeface="Segoe Sans Text" pitchFamily="2" charset="0"/>
        <a:ea typeface="+mn-ea"/>
        <a:cs typeface="+mn-cs"/>
      </a:defRPr>
    </a:lvl2pPr>
    <a:lvl3pPr marL="914400" algn="l" defTabSz="914400" rtl="0" eaLnBrk="1" latinLnBrk="0" hangingPunct="1">
      <a:defRPr sz="1200" kern="1200">
        <a:solidFill>
          <a:schemeClr val="tx1"/>
        </a:solidFill>
        <a:latin typeface="Segoe Sans Text" pitchFamily="2" charset="0"/>
        <a:ea typeface="+mn-ea"/>
        <a:cs typeface="+mn-cs"/>
      </a:defRPr>
    </a:lvl3pPr>
    <a:lvl4pPr marL="1371600" algn="l" defTabSz="914400" rtl="0" eaLnBrk="1" latinLnBrk="0" hangingPunct="1">
      <a:defRPr sz="1200" kern="1200">
        <a:solidFill>
          <a:schemeClr val="tx1"/>
        </a:solidFill>
        <a:latin typeface="Segoe Sans Text" pitchFamily="2" charset="0"/>
        <a:ea typeface="+mn-ea"/>
        <a:cs typeface="+mn-cs"/>
      </a:defRPr>
    </a:lvl4pPr>
    <a:lvl5pPr marL="1828800" algn="l" defTabSz="914400" rtl="0" eaLnBrk="1" latinLnBrk="0" hangingPunct="1">
      <a:defRPr sz="1200" kern="1200">
        <a:solidFill>
          <a:schemeClr val="tx1"/>
        </a:solidFill>
        <a:latin typeface="Segoe Sans Text"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a:t>
            </a:fld>
            <a:endParaRPr lang="en-IN" dirty="0"/>
          </a:p>
        </p:txBody>
      </p:sp>
    </p:spTree>
    <p:extLst>
      <p:ext uri="{BB962C8B-B14F-4D97-AF65-F5344CB8AC3E}">
        <p14:creationId xmlns:p14="http://schemas.microsoft.com/office/powerpoint/2010/main" val="3146393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27E75-5E9D-A5D1-563F-E54B71AAB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AB2CE-C242-FF1C-FCEA-C56A76C9626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5A60B7C-5096-173C-1EFB-4A8537327F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BCE96B3C-DA81-3192-5E0F-0A57DABD00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360092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63C72-2A96-D2CD-A03C-93D41EB64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528B7-7925-D7B1-0B2E-3ADB48B9CBA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54306F5-DC1E-856A-ABAB-B101398BAAC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05F62F8-4218-ED24-F97B-4A9216958B65}"/>
              </a:ext>
            </a:extLst>
          </p:cNvPr>
          <p:cNvSpPr>
            <a:spLocks noGrp="1"/>
          </p:cNvSpPr>
          <p:nvPr>
            <p:ph type="sldNum" sz="quarter" idx="5"/>
          </p:nvPr>
        </p:nvSpPr>
        <p:spPr/>
        <p:txBody>
          <a:bodyPr/>
          <a:lstStyle/>
          <a:p>
            <a:fld id="{D76800DA-E989-494E-83A7-D0E15226734A}" type="slidenum">
              <a:rPr lang="en-IN" smtClean="0"/>
              <a:pPr/>
              <a:t>6</a:t>
            </a:fld>
            <a:endParaRPr lang="en-IN" dirty="0"/>
          </a:p>
        </p:txBody>
      </p:sp>
    </p:spTree>
    <p:extLst>
      <p:ext uri="{BB962C8B-B14F-4D97-AF65-F5344CB8AC3E}">
        <p14:creationId xmlns:p14="http://schemas.microsoft.com/office/powerpoint/2010/main" val="2092447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7CB78-7569-5E0D-028E-66942B303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6AC38-2489-63D5-4C87-E33965CE5ED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3939CF9-2819-6E56-562C-17FF54B60037}"/>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38B39005-1EC3-810D-E0A3-495CB3C117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1710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2F1A4-4675-1FFB-FF51-3F1E85684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45196-78C1-BD57-7BED-C30660B12B8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C0EBECA-983E-EE23-DAD6-AD7A29B1A6C7}"/>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35B51CE5-6245-169A-60E3-067FE5ABB5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3676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49E70-DD21-A10D-0C89-B3D5BBDEE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690A9-0BA5-32F4-02E8-8CA8EC51316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A960CF9-A3FD-A8A2-2570-9293D64C2E16}"/>
              </a:ext>
            </a:extLst>
          </p:cNvPr>
          <p:cNvSpPr>
            <a:spLocks noGrp="1"/>
          </p:cNvSpPr>
          <p:nvPr>
            <p:ph type="body" idx="1"/>
          </p:nvPr>
        </p:nvSpPr>
        <p:spPr/>
        <p:txBody>
          <a:bodyPr/>
          <a:lstStyle/>
          <a:p>
            <a:pPr>
              <a:buNone/>
            </a:pPr>
            <a:endParaRPr lang="en-US" dirty="0"/>
          </a:p>
        </p:txBody>
      </p:sp>
      <p:sp>
        <p:nvSpPr>
          <p:cNvPr id="4" name="Slide Number Placeholder 3">
            <a:extLst>
              <a:ext uri="{FF2B5EF4-FFF2-40B4-BE49-F238E27FC236}">
                <a16:creationId xmlns:a16="http://schemas.microsoft.com/office/drawing/2014/main" id="{0ED8CE88-F1EE-A585-0546-A2828F719A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7653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11</a:t>
            </a:fld>
            <a:endParaRPr lang="en-IN" dirty="0"/>
          </a:p>
        </p:txBody>
      </p:sp>
    </p:spTree>
    <p:extLst>
      <p:ext uri="{BB962C8B-B14F-4D97-AF65-F5344CB8AC3E}">
        <p14:creationId xmlns:p14="http://schemas.microsoft.com/office/powerpoint/2010/main" val="2373454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F0A6-2729-4279-15AB-5983C76D7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ABDF2-DE72-EA41-6FA8-73BC566FFAD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C45385F-E9E4-E09E-BD02-BF6D27FAA6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6BFD66-E46B-7CC9-1EB9-3F969CEE7F31}"/>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799378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13</a:t>
            </a:fld>
            <a:endParaRPr lang="en-IN" dirty="0"/>
          </a:p>
        </p:txBody>
      </p:sp>
    </p:spTree>
    <p:extLst>
      <p:ext uri="{BB962C8B-B14F-4D97-AF65-F5344CB8AC3E}">
        <p14:creationId xmlns:p14="http://schemas.microsoft.com/office/powerpoint/2010/main" val="1129888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14</a:t>
            </a:fld>
            <a:endParaRPr lang="en-IN" dirty="0"/>
          </a:p>
        </p:txBody>
      </p:sp>
    </p:spTree>
    <p:extLst>
      <p:ext uri="{BB962C8B-B14F-4D97-AF65-F5344CB8AC3E}">
        <p14:creationId xmlns:p14="http://schemas.microsoft.com/office/powerpoint/2010/main" val="2952969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55BF-AD8B-DFCF-30C9-3B33A2004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FA3A6-84E7-813F-6A06-CDB9A9A18D6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14B3E84-22A9-7F65-4C0D-CF8408960B44}"/>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349BD3A7-EBDA-3692-73FD-9AA2E80569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7725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73B3E-654E-F71E-C2D9-C8DBE159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FC1D8-49A4-420A-D6A1-16A50E99B7E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546033B-CBAD-2F65-581D-5EE1ED7B4AE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67DBA50-A96E-B08E-CEBF-F9B3D01E9C37}"/>
              </a:ext>
            </a:extLst>
          </p:cNvPr>
          <p:cNvSpPr>
            <a:spLocks noGrp="1"/>
          </p:cNvSpPr>
          <p:nvPr>
            <p:ph type="sldNum" sz="quarter" idx="5"/>
          </p:nvPr>
        </p:nvSpPr>
        <p:spPr/>
        <p:txBody>
          <a:bodyPr/>
          <a:lstStyle/>
          <a:p>
            <a:fld id="{D76800DA-E989-494E-83A7-D0E15226734A}" type="slidenum">
              <a:rPr lang="en-IN" smtClean="0"/>
              <a:pPr/>
              <a:t>16</a:t>
            </a:fld>
            <a:endParaRPr lang="en-IN" dirty="0"/>
          </a:p>
        </p:txBody>
      </p:sp>
    </p:spTree>
    <p:extLst>
      <p:ext uri="{BB962C8B-B14F-4D97-AF65-F5344CB8AC3E}">
        <p14:creationId xmlns:p14="http://schemas.microsoft.com/office/powerpoint/2010/main" val="2049638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F4500-C3A8-51CE-1B67-84841ECC0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2128E-6196-8936-DFE9-F6B73655534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3E96DBE-BD1F-9F42-492C-9B7E0A01DC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2255E6F-66F9-D3BF-1DCA-FED66FE2ADAE}"/>
              </a:ext>
            </a:extLst>
          </p:cNvPr>
          <p:cNvSpPr>
            <a:spLocks noGrp="1"/>
          </p:cNvSpPr>
          <p:nvPr>
            <p:ph type="sldNum" sz="quarter" idx="5"/>
          </p:nvPr>
        </p:nvSpPr>
        <p:spPr/>
        <p:txBody>
          <a:bodyPr/>
          <a:lstStyle/>
          <a:p>
            <a:fld id="{D76800DA-E989-494E-83A7-D0E15226734A}" type="slidenum">
              <a:rPr lang="en-IN" smtClean="0"/>
              <a:pPr/>
              <a:t>17</a:t>
            </a:fld>
            <a:endParaRPr lang="en-IN" dirty="0"/>
          </a:p>
        </p:txBody>
      </p:sp>
    </p:spTree>
    <p:extLst>
      <p:ext uri="{BB962C8B-B14F-4D97-AF65-F5344CB8AC3E}">
        <p14:creationId xmlns:p14="http://schemas.microsoft.com/office/powerpoint/2010/main" val="99057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19</a:t>
            </a:fld>
            <a:endParaRPr lang="en-IN" dirty="0"/>
          </a:p>
        </p:txBody>
      </p:sp>
    </p:spTree>
    <p:extLst>
      <p:ext uri="{BB962C8B-B14F-4D97-AF65-F5344CB8AC3E}">
        <p14:creationId xmlns:p14="http://schemas.microsoft.com/office/powerpoint/2010/main" val="3551717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40161-3434-8E80-60C0-65A7FE71E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9F151-670C-7C00-056A-E35BBD8F6AD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BD036BF-6AA8-5C78-6F9A-AB6E9067ED3A}"/>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915803D4-20AB-CB45-F262-3D9DD153B2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520143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9887-1287-1575-34C2-66EC99F79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8CDCF-E8EE-BE9A-A6DC-80997B58CDE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EAB20D1-2AD6-8B94-59FA-52A73B848DD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847CE94-D2B9-A20B-F4BE-5C6389FB5C54}"/>
              </a:ext>
            </a:extLst>
          </p:cNvPr>
          <p:cNvSpPr>
            <a:spLocks noGrp="1"/>
          </p:cNvSpPr>
          <p:nvPr>
            <p:ph type="sldNum" sz="quarter" idx="5"/>
          </p:nvPr>
        </p:nvSpPr>
        <p:spPr/>
        <p:txBody>
          <a:bodyPr/>
          <a:lstStyle/>
          <a:p>
            <a:fld id="{D76800DA-E989-494E-83A7-D0E15226734A}" type="slidenum">
              <a:rPr lang="en-IN" smtClean="0"/>
              <a:pPr/>
              <a:t>21</a:t>
            </a:fld>
            <a:endParaRPr lang="en-IN" dirty="0"/>
          </a:p>
        </p:txBody>
      </p:sp>
    </p:spTree>
    <p:extLst>
      <p:ext uri="{BB962C8B-B14F-4D97-AF65-F5344CB8AC3E}">
        <p14:creationId xmlns:p14="http://schemas.microsoft.com/office/powerpoint/2010/main" val="250488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E9F8-AE6A-8652-61FB-DA144391B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5DD76-CE8F-F8AD-9E80-D6C650FF42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54DB8C3-7CFB-F580-086D-7F2ACAB8F9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734B27-8D93-0CAC-3A99-9662CA6D32B3}"/>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184507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1E011-CD15-05DC-BA56-857A8520A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4C6D9-D08B-9FC3-08EF-87F22952B90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6B007E-7140-E326-2F3C-0D75016F53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209B58-7B82-FAFC-0B48-C2AF44E4768F}"/>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445320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24</a:t>
            </a:fld>
            <a:endParaRPr lang="en-IN" dirty="0"/>
          </a:p>
        </p:txBody>
      </p:sp>
    </p:spTree>
    <p:extLst>
      <p:ext uri="{BB962C8B-B14F-4D97-AF65-F5344CB8AC3E}">
        <p14:creationId xmlns:p14="http://schemas.microsoft.com/office/powerpoint/2010/main" val="613690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25</a:t>
            </a:fld>
            <a:endParaRPr lang="en-IN" dirty="0"/>
          </a:p>
        </p:txBody>
      </p:sp>
    </p:spTree>
    <p:extLst>
      <p:ext uri="{BB962C8B-B14F-4D97-AF65-F5344CB8AC3E}">
        <p14:creationId xmlns:p14="http://schemas.microsoft.com/office/powerpoint/2010/main" val="128560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40B7B-840D-35F7-178A-0B8E7618E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BD68A-6CFE-60C7-9E95-16BFA558077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6EFECD0-083F-CABC-51DC-301F18118C02}"/>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9D51652D-215E-6977-6F63-33B0245782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5807140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00843-7AE4-16BE-CD8F-6B3648FA6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BEDE4-9B60-5117-3DC3-77D7BEEC3E1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CD5A8B4-A4C8-167B-1FC9-2889D3792E2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4960596-DD05-3F1D-5156-0933B9FBA34E}"/>
              </a:ext>
            </a:extLst>
          </p:cNvPr>
          <p:cNvSpPr>
            <a:spLocks noGrp="1"/>
          </p:cNvSpPr>
          <p:nvPr>
            <p:ph type="sldNum" sz="quarter" idx="5"/>
          </p:nvPr>
        </p:nvSpPr>
        <p:spPr/>
        <p:txBody>
          <a:bodyPr/>
          <a:lstStyle/>
          <a:p>
            <a:fld id="{D76800DA-E989-494E-83A7-D0E15226734A}" type="slidenum">
              <a:rPr lang="en-IN" smtClean="0"/>
              <a:pPr/>
              <a:t>27</a:t>
            </a:fld>
            <a:endParaRPr lang="en-IN" dirty="0"/>
          </a:p>
        </p:txBody>
      </p:sp>
    </p:spTree>
    <p:extLst>
      <p:ext uri="{BB962C8B-B14F-4D97-AF65-F5344CB8AC3E}">
        <p14:creationId xmlns:p14="http://schemas.microsoft.com/office/powerpoint/2010/main" val="4154467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A2A84-1809-89C3-E5EE-741A8C1AF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50A20-AF0C-ED6E-566F-432046D55CF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8B41694-3BB7-B664-011C-0595665DAB34}"/>
              </a:ext>
            </a:extLst>
          </p:cNvPr>
          <p:cNvSpPr>
            <a:spLocks noGrp="1"/>
          </p:cNvSpPr>
          <p:nvPr>
            <p:ph type="body" idx="1"/>
          </p:nvPr>
        </p:nvSpPr>
        <p:spPr/>
        <p:txBody>
          <a:bodyPr/>
          <a:lstStyle/>
          <a:p>
            <a:r>
              <a:rPr lang="en-US" dirty="0"/>
              <a:t>[EXECUTIVE SUMMARY — 30 sec]</a:t>
            </a:r>
          </a:p>
          <a:p>
            <a:r>
              <a:rPr lang="en-US" dirty="0"/>
              <a:t>Agentic modernization delivers over ninety percent automation across the lifecycle through GitHub Copilot and Azure Copilot. Three key scenarios: upgrading legacy .NET and Java apps with up to 97 percent productivity improvement, automating enterprise deployments with infrastructure-as-code achieving 70 to 90 percent efficiency gains, and refreshing out-of-date drivers and components. A global bank completed in four hours what was estimated to take six months.</a:t>
            </a:r>
          </a:p>
        </p:txBody>
      </p:sp>
      <p:sp>
        <p:nvSpPr>
          <p:cNvPr id="4" name="Header Placeholder 3">
            <a:extLst>
              <a:ext uri="{FF2B5EF4-FFF2-40B4-BE49-F238E27FC236}">
                <a16:creationId xmlns:a16="http://schemas.microsoft.com/office/drawing/2014/main" id="{32492563-BEB0-ACD4-0D3D-F7D23291BEAB}"/>
              </a:ext>
            </a:extLst>
          </p:cNvPr>
          <p:cNvSpPr>
            <a:spLocks noGrp="1"/>
          </p:cNvSpPr>
          <p:nvPr>
            <p:ph type="hdr" sz="quarter" idx="10"/>
          </p:nvPr>
        </p:nvSpPr>
        <p:spPr/>
        <p:txBody>
          <a:bodyPr/>
          <a:lstStyle/>
          <a:p>
            <a:pPr marL="0" marR="0" lvl="0" indent="0" algn="l" defTabSz="96657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595A281E-D479-4711-CC69-23D17A69B102}"/>
              </a:ext>
            </a:extLst>
          </p:cNvPr>
          <p:cNvSpPr>
            <a:spLocks noGrp="1"/>
          </p:cNvSpPr>
          <p:nvPr>
            <p:ph type="ftr" sz="quarter" idx="11"/>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3446988-3545-3D53-2521-306EBDF7CA51}"/>
              </a:ext>
            </a:extLst>
          </p:cNvPr>
          <p:cNvSpPr>
            <a:spLocks noGrp="1"/>
          </p:cNvSpPr>
          <p:nvPr>
            <p:ph type="dt" idx="12"/>
          </p:nvPr>
        </p:nvSpPr>
        <p:spPr/>
        <p:txBody>
          <a:bodyPr/>
          <a:lstStyle/>
          <a:p>
            <a:pPr marL="0" marR="0" lvl="0" indent="0" algn="r" defTabSz="96657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300" b="0" i="0" u="none" strike="noStrike" kern="1200" cap="none" spc="0" normalizeH="0" baseline="0" noProof="0">
                <a:ln>
                  <a:noFill/>
                </a:ln>
                <a:solidFill>
                  <a:prstClr val="black"/>
                </a:solidFill>
                <a:effectLst/>
                <a:uLnTx/>
                <a:uFillTx/>
                <a:latin typeface="Segoe Sans Text" pitchFamily="2" charset="0"/>
                <a:ea typeface="+mn-ea"/>
                <a:cs typeface="+mn-cs"/>
              </a:rPr>
              <a:pPr marL="0" marR="0" lvl="0" indent="0" algn="r" defTabSz="966577" rtl="0" eaLnBrk="1" fontAlgn="auto" latinLnBrk="0" hangingPunct="1">
                <a:lnSpc>
                  <a:spcPct val="100000"/>
                </a:lnSpc>
                <a:spcBef>
                  <a:spcPts val="0"/>
                </a:spcBef>
                <a:spcAft>
                  <a:spcPts val="0"/>
                </a:spcAft>
                <a:buClrTx/>
                <a:buSzTx/>
                <a:buFontTx/>
                <a:buNone/>
                <a:tabLst/>
                <a:defRPr/>
              </a:pPr>
              <a:t>7/14/2026 12:45 PM</a:t>
            </a:fld>
            <a:endParaRPr kumimoji="0" lang="en-US" sz="13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379C191D-4B16-95BE-C8D9-979E738940A2}"/>
              </a:ext>
            </a:extLst>
          </p:cNvPr>
          <p:cNvSpPr>
            <a:spLocks noGrp="1"/>
          </p:cNvSpPr>
          <p:nvPr>
            <p:ph type="sldNum" sz="quarter" idx="13"/>
          </p:nvPr>
        </p:nvSpPr>
        <p:spPr/>
        <p:txBody>
          <a:bodyPr/>
          <a:lstStyle/>
          <a:p>
            <a:pPr marL="0" marR="0" lvl="0" indent="0" algn="r" defTabSz="96657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a:ln>
                  <a:noFill/>
                </a:ln>
                <a:solidFill>
                  <a:prstClr val="black"/>
                </a:solidFill>
                <a:effectLst/>
                <a:uLnTx/>
                <a:uFillTx/>
                <a:latin typeface="Segoe Sans Text" pitchFamily="2" charset="0"/>
                <a:ea typeface="+mn-ea"/>
                <a:cs typeface="+mn-cs"/>
              </a:rPr>
              <a:pPr marL="0" marR="0" lvl="0" indent="0" algn="r" defTabSz="966577" rtl="0" eaLnBrk="1" fontAlgn="auto" latinLnBrk="0" hangingPunct="1">
                <a:lnSpc>
                  <a:spcPct val="100000"/>
                </a:lnSpc>
                <a:spcBef>
                  <a:spcPts val="0"/>
                </a:spcBef>
                <a:spcAft>
                  <a:spcPts val="0"/>
                </a:spcAft>
                <a:buClrTx/>
                <a:buSzTx/>
                <a:buFontTx/>
                <a:buNone/>
                <a:tabLst/>
                <a:defRPr/>
              </a:pPr>
              <a:t>28</a:t>
            </a:fld>
            <a:endParaRPr kumimoji="0" lang="en-US" sz="13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640140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670C3-C052-C67B-DC47-26CCD0E4E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C121B-287B-3B52-8378-A3B9BFAB46D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3598DA1-300D-93FB-D167-438C5D18D58F}"/>
              </a:ext>
            </a:extLst>
          </p:cNvPr>
          <p:cNvSpPr>
            <a:spLocks noGrp="1"/>
          </p:cNvSpPr>
          <p:nvPr>
            <p:ph type="body" idx="1"/>
          </p:nvPr>
        </p:nvSpPr>
        <p:spPr/>
        <p:txBody>
          <a:bodyPr/>
          <a:lstStyle/>
          <a:p>
            <a:r>
              <a:rPr lang="en-US" dirty="0"/>
              <a:t>So, lets walk through how organizations can accelerate application modernization using GitHub Copilot app modernization. The process is simple, but powerful and it integrates seamlessly into the developer workflow</a:t>
            </a:r>
          </a:p>
          <a:p>
            <a:endParaRPr lang="en-US" dirty="0"/>
          </a:p>
          <a:p>
            <a:r>
              <a:rPr lang="en-US" dirty="0"/>
              <a:t>There are two entry points: </a:t>
            </a:r>
          </a:p>
          <a:p>
            <a:r>
              <a:rPr lang="en-US" dirty="0"/>
              <a:t>First, if you already know which app you want to modernize, you can start directly in GitHub Copilot App Modernization.</a:t>
            </a:r>
            <a:br>
              <a:rPr lang="en-US" dirty="0"/>
            </a:br>
            <a:r>
              <a:rPr lang="en-US" dirty="0"/>
              <a:t>If not, begin with a portfolio assessment using tools like Dr. Migrate, CAST, or Azure Migrate. These tools scan your on-premises infrastructure and applications to identify which ones are best suited for modernization</a:t>
            </a:r>
          </a:p>
          <a:p>
            <a:endParaRPr lang="en-US" dirty="0"/>
          </a:p>
          <a:p>
            <a:r>
              <a:rPr lang="en-US" dirty="0"/>
              <a:t>Once the assessment is complete, the findings don’t just sit in a report. They’re automatically converted into GitHub issues. This means every modernization opportunity is tracked and actionable within your existing developer workflow</a:t>
            </a:r>
          </a:p>
          <a:p>
            <a:r>
              <a:rPr lang="en-US" dirty="0"/>
              <a:t>Developers then pick up these GitHub issues and start working on them using familiar tools like Visual Studio and VS Code. No context switching — everything happens in the tools they already know</a:t>
            </a:r>
          </a:p>
          <a:p>
            <a:r>
              <a:rPr lang="en-US" dirty="0"/>
              <a:t>This is where GitHub Copilot app modernization shines. It analyzes codebases, flags outdated dependencies, fixes bugs, upgrades frameworks, and even generates deployment files. It can containerize apps, create Docker files, and automate multi-step tasks that would normally take hours or days</a:t>
            </a:r>
          </a:p>
          <a:p>
            <a:r>
              <a:rPr lang="en-US" dirty="0"/>
              <a:t>Finally, once the app is ready, it’s deployed to an Azure Dev/Test environment for staging and then prepared for production rollout</a:t>
            </a:r>
          </a:p>
          <a:p>
            <a:endParaRPr lang="en-US" dirty="0"/>
          </a:p>
          <a:p>
            <a:r>
              <a:rPr lang="en-US" dirty="0"/>
              <a:t>By connecting portfolio assessment tools with GitHub issues and empowering developers with Copilot’s AI-driven capabilities, organizations can accelerate modernization, reduce manual effort, and ensure their infrastructure is future-ready</a:t>
            </a:r>
          </a:p>
          <a:p>
            <a:pPr defTabSz="966612">
              <a:defRPr/>
            </a:pPr>
            <a:endParaRPr lang="en-US" sz="1300" baseline="30000" dirty="0">
              <a:cs typeface="Segoe UI"/>
            </a:endParaRPr>
          </a:p>
        </p:txBody>
      </p:sp>
      <p:sp>
        <p:nvSpPr>
          <p:cNvPr id="4" name="Header Placeholder 3">
            <a:extLst>
              <a:ext uri="{FF2B5EF4-FFF2-40B4-BE49-F238E27FC236}">
                <a16:creationId xmlns:a16="http://schemas.microsoft.com/office/drawing/2014/main" id="{24930B57-BC21-0FF3-4EA8-1D56B20CB75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rPr>
              <a:t>[EXECUTIVE SUMMARY — 30 sec]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rPr>
              <a:t>GitHub Copilot App Modernization integrates seamlessly into developer workflows. Start with portfolio assessment using tools like Azure Migrate, which automatically converts findings into GitHub issues. Developers then use Copilot in Visual Studio or VS Code to analyze codebases, fix bugs, upgrade frameworks, containerize apps, and generate deployment files. The result is an end-to-end pipeline from assessment through production deployment.</a:t>
            </a:r>
          </a:p>
        </p:txBody>
      </p:sp>
      <p:sp>
        <p:nvSpPr>
          <p:cNvPr id="5" name="Footer Placeholder 4">
            <a:extLst>
              <a:ext uri="{FF2B5EF4-FFF2-40B4-BE49-F238E27FC236}">
                <a16:creationId xmlns:a16="http://schemas.microsoft.com/office/drawing/2014/main" id="{9F97C53C-8F34-BD37-03BE-FBA3ED0DF9AE}"/>
              </a:ext>
            </a:extLst>
          </p:cNvPr>
          <p:cNvSpPr>
            <a:spLocks noGrp="1"/>
          </p:cNvSpPr>
          <p:nvPr>
            <p:ph type="ftr" sz="quarter" idx="4"/>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Variable Display" pitchFamily="2"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19A6796-3BEC-9B21-D80A-CB887D1002D8}"/>
              </a:ext>
            </a:extLst>
          </p:cNvPr>
          <p:cNvSpPr>
            <a:spLocks noGrp="1"/>
          </p:cNvSpPr>
          <p:nvPr>
            <p:ph type="dt" idx="1"/>
          </p:nvPr>
        </p:nvSpPr>
        <p:spPr/>
        <p:txBody>
          <a:bodyPr/>
          <a:lstStyle/>
          <a:p>
            <a:pPr marL="0" marR="0" lvl="0" indent="0" algn="r" defTabSz="96657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300" b="0" i="0" u="none" strike="noStrike" kern="1200" cap="none" spc="0" normalizeH="0" baseline="0" noProof="0">
                <a:ln>
                  <a:noFill/>
                </a:ln>
                <a:solidFill>
                  <a:prstClr val="black"/>
                </a:solidFill>
                <a:effectLst/>
                <a:uLnTx/>
                <a:uFillTx/>
                <a:latin typeface="Segoe UI Variable Display" pitchFamily="2" charset="0"/>
                <a:ea typeface="+mn-ea"/>
                <a:cs typeface="+mn-cs"/>
              </a:rPr>
              <a:pPr marL="0" marR="0" lvl="0" indent="0" algn="r" defTabSz="966577" rtl="0" eaLnBrk="1" fontAlgn="auto" latinLnBrk="0" hangingPunct="1">
                <a:lnSpc>
                  <a:spcPct val="100000"/>
                </a:lnSpc>
                <a:spcBef>
                  <a:spcPts val="0"/>
                </a:spcBef>
                <a:spcAft>
                  <a:spcPts val="0"/>
                </a:spcAft>
                <a:buClrTx/>
                <a:buSzTx/>
                <a:buFontTx/>
                <a:buNone/>
                <a:tabLst/>
                <a:defRPr/>
              </a:pPr>
              <a:t>7/14/2026 12:45 PM</a:t>
            </a:fld>
            <a:endParaRPr kumimoji="0" lang="en-US" sz="1300" b="0" i="0" u="none" strike="noStrike" kern="1200" cap="none" spc="0" normalizeH="0" baseline="0" noProof="0" dirty="0">
              <a:ln>
                <a:noFill/>
              </a:ln>
              <a:solidFill>
                <a:prstClr val="black"/>
              </a:solidFill>
              <a:effectLst/>
              <a:uLnTx/>
              <a:uFillTx/>
              <a:latin typeface="Segoe UI Variable Display" pitchFamily="2" charset="0"/>
              <a:ea typeface="+mn-ea"/>
              <a:cs typeface="+mn-cs"/>
            </a:endParaRPr>
          </a:p>
        </p:txBody>
      </p:sp>
      <p:sp>
        <p:nvSpPr>
          <p:cNvPr id="7" name="Slide Number Placeholder 6">
            <a:extLst>
              <a:ext uri="{FF2B5EF4-FFF2-40B4-BE49-F238E27FC236}">
                <a16:creationId xmlns:a16="http://schemas.microsoft.com/office/drawing/2014/main" id="{38E5F6EF-BB34-1D4C-602A-3EB3617764E9}"/>
              </a:ext>
            </a:extLst>
          </p:cNvPr>
          <p:cNvSpPr>
            <a:spLocks noGrp="1"/>
          </p:cNvSpPr>
          <p:nvPr>
            <p:ph type="sldNum" sz="quarter" idx="5"/>
          </p:nvPr>
        </p:nvSpPr>
        <p:spPr/>
        <p:txBody>
          <a:bodyPr/>
          <a:lstStyle/>
          <a:p>
            <a:pPr marL="0" marR="0" lvl="0" indent="0" algn="r" defTabSz="96657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a:ln>
                  <a:noFill/>
                </a:ln>
                <a:solidFill>
                  <a:prstClr val="black"/>
                </a:solidFill>
                <a:effectLst/>
                <a:uLnTx/>
                <a:uFillTx/>
                <a:latin typeface="Segoe UI Variable Display" pitchFamily="2" charset="0"/>
                <a:ea typeface="+mn-ea"/>
                <a:cs typeface="+mn-cs"/>
              </a:rPr>
              <a:pPr marL="0" marR="0" lvl="0" indent="0" algn="r" defTabSz="966577" rtl="0" eaLnBrk="1" fontAlgn="auto" latinLnBrk="0" hangingPunct="1">
                <a:lnSpc>
                  <a:spcPct val="100000"/>
                </a:lnSpc>
                <a:spcBef>
                  <a:spcPts val="0"/>
                </a:spcBef>
                <a:spcAft>
                  <a:spcPts val="0"/>
                </a:spcAft>
                <a:buClrTx/>
                <a:buSzTx/>
                <a:buFontTx/>
                <a:buNone/>
                <a:tabLst/>
                <a:defRPr/>
              </a:pPr>
              <a:t>29</a:t>
            </a:fld>
            <a:endParaRPr kumimoji="0" lang="en-US" sz="1300" b="0" i="0" u="none" strike="noStrike" kern="1200" cap="none" spc="0" normalizeH="0" baseline="0" noProof="0" dirty="0">
              <a:ln>
                <a:noFill/>
              </a:ln>
              <a:solidFill>
                <a:prstClr val="black"/>
              </a:solidFill>
              <a:effectLst/>
              <a:uLnTx/>
              <a:uFillTx/>
              <a:latin typeface="Segoe UI Variable Display" pitchFamily="2" charset="0"/>
              <a:ea typeface="+mn-ea"/>
              <a:cs typeface="+mn-cs"/>
            </a:endParaRPr>
          </a:p>
        </p:txBody>
      </p:sp>
    </p:spTree>
    <p:extLst>
      <p:ext uri="{BB962C8B-B14F-4D97-AF65-F5344CB8AC3E}">
        <p14:creationId xmlns:p14="http://schemas.microsoft.com/office/powerpoint/2010/main" val="28414510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665D4-3621-5112-A086-0B88BE363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6EE81-61D0-DA06-80F9-4206462361A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CDA53B9-32E2-DFCF-6107-5DE02E8DB2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1DE669-A0EA-4210-55E4-1FCB9E4A9F3A}"/>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8465849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31</a:t>
            </a:fld>
            <a:endParaRPr lang="en-IN" dirty="0"/>
          </a:p>
        </p:txBody>
      </p:sp>
    </p:spTree>
    <p:extLst>
      <p:ext uri="{BB962C8B-B14F-4D97-AF65-F5344CB8AC3E}">
        <p14:creationId xmlns:p14="http://schemas.microsoft.com/office/powerpoint/2010/main" val="15393413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5E4ED-375C-AADE-FFFB-EED6800B8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1FE96-046F-349A-9EA8-BC7CC4C121C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318CF92-421C-FC56-297A-FE781A3D438F}"/>
              </a:ext>
            </a:extLst>
          </p:cNvPr>
          <p:cNvSpPr>
            <a:spLocks noGrp="1"/>
          </p:cNvSpPr>
          <p:nvPr>
            <p:ph type="body" idx="1"/>
          </p:nvPr>
        </p:nvSpPr>
        <p:spPr/>
        <p:txBody>
          <a:bodyPr/>
          <a:lstStyle/>
          <a:p>
            <a:pPr>
              <a:spcAft>
                <a:spcPts val="200"/>
              </a:spcAft>
              <a:defRPr/>
            </a:pPr>
            <a:r>
              <a:rPr kumimoji="0" lang="en-US" sz="1050" b="1" i="0" u="none" strike="noStrike" kern="0" cap="none" spc="0" normalizeH="0" baseline="0" noProof="0" dirty="0">
                <a:ln>
                  <a:noFill/>
                </a:ln>
                <a:solidFill>
                  <a:srgbClr val="0078D4"/>
                </a:solidFill>
                <a:effectLst/>
                <a:uLnTx/>
                <a:uFillTx/>
                <a:latin typeface="Segoe UI Semibold"/>
                <a:ea typeface="+mn-ea"/>
                <a:cs typeface="+mn-cs"/>
              </a:rPr>
              <a:t>Supported scenarios/frameworks/versions for </a:t>
            </a:r>
            <a:r>
              <a:rPr lang="en-US" sz="1050" b="1" kern="0" dirty="0">
                <a:solidFill>
                  <a:srgbClr val="0078D4"/>
                </a:solidFill>
                <a:latin typeface="Segoe UI Semibold"/>
              </a:rPr>
              <a:t>Java: </a:t>
            </a:r>
            <a:r>
              <a:rPr lang="en-US" sz="700" b="1" kern="0" dirty="0">
                <a:solidFill>
                  <a:srgbClr val="0078D4"/>
                </a:solidFill>
                <a:latin typeface="Segoe UI Semibold"/>
              </a:rPr>
              <a:t>(</a:t>
            </a:r>
            <a:r>
              <a:rPr lang="en-US" sz="700" kern="0" dirty="0">
                <a:solidFill>
                  <a:srgbClr val="0070C0"/>
                </a:solidFill>
                <a:latin typeface="Segoe UI Semibold"/>
              </a:rPr>
              <a:t>Supported Java Frameworks available in Azure)</a:t>
            </a:r>
            <a:endParaRPr kumimoji="0" lang="en-US" sz="700" b="1" i="0" u="none" strike="noStrike" kern="0" cap="none" spc="0" normalizeH="0" baseline="0" noProof="0" dirty="0">
              <a:ln>
                <a:noFill/>
              </a:ln>
              <a:solidFill>
                <a:srgbClr val="0078D4"/>
              </a:solidFill>
              <a:effectLst/>
              <a:uLnTx/>
              <a:uFillTx/>
              <a:latin typeface="Segoe UI Semibold"/>
              <a:ea typeface="+mn-ea"/>
              <a:cs typeface="+mn-cs"/>
            </a:endParaRPr>
          </a:p>
          <a:p>
            <a:pPr marL="241300" lvl="1" indent="-133350">
              <a:spcAft>
                <a:spcPts val="200"/>
              </a:spcAft>
              <a:buFont typeface="Arial" panose="020B0604020202020204" pitchFamily="34" charset="0"/>
              <a:buChar char="•"/>
              <a:defRPr/>
            </a:pPr>
            <a:r>
              <a:rPr lang="en-US" sz="1000" kern="0" dirty="0">
                <a:solidFill>
                  <a:srgbClr val="000000"/>
                </a:solidFill>
                <a:latin typeface="Segoe UI"/>
              </a:rPr>
              <a:t>Java vand above</a:t>
            </a:r>
          </a:p>
          <a:p>
            <a:pPr marL="241300" lvl="1" indent="-133350">
              <a:spcAft>
                <a:spcPts val="200"/>
              </a:spcAft>
              <a:buFont typeface="Arial" panose="020B0604020202020204" pitchFamily="34" charset="0"/>
              <a:buChar char="•"/>
              <a:defRPr/>
            </a:pPr>
            <a:r>
              <a:rPr lang="en-US" sz="1000" kern="0" dirty="0">
                <a:solidFill>
                  <a:srgbClr val="000000"/>
                </a:solidFill>
                <a:latin typeface="Segoe UI"/>
              </a:rPr>
              <a:t>Tomcat 8.5 and above</a:t>
            </a:r>
          </a:p>
          <a:p>
            <a:pPr marL="241300" lvl="1" indent="-133350">
              <a:spcAft>
                <a:spcPts val="200"/>
              </a:spcAft>
              <a:buFont typeface="Arial" panose="020B0604020202020204" pitchFamily="34" charset="0"/>
              <a:buChar char="•"/>
              <a:defRPr/>
            </a:pPr>
            <a:r>
              <a:rPr lang="en-US" sz="1000" kern="0" dirty="0">
                <a:solidFill>
                  <a:srgbClr val="000000"/>
                </a:solidFill>
                <a:latin typeface="Segoe UI"/>
              </a:rPr>
              <a:t>JBoss EAP 7.4 and above</a:t>
            </a:r>
          </a:p>
          <a:p>
            <a:pPr marL="241300" lvl="1" indent="-133350">
              <a:spcAft>
                <a:spcPts val="200"/>
              </a:spcAft>
              <a:buFont typeface="Arial" panose="020B0604020202020204" pitchFamily="34" charset="0"/>
              <a:buChar char="•"/>
              <a:defRPr/>
            </a:pPr>
            <a:r>
              <a:rPr lang="en-US" sz="1000" kern="0" dirty="0">
                <a:solidFill>
                  <a:srgbClr val="000000"/>
                </a:solidFill>
                <a:latin typeface="Segoe UI"/>
              </a:rPr>
              <a:t>Java Tomcat and JBoss (excludes scheduled/cron jobs)</a:t>
            </a:r>
          </a:p>
          <a:p>
            <a:pPr marL="241300" lvl="1" indent="-133350">
              <a:spcAft>
                <a:spcPts val="200"/>
              </a:spcAft>
              <a:buFont typeface="Arial" panose="020B0604020202020204" pitchFamily="34" charset="0"/>
              <a:buChar char="•"/>
              <a:defRPr/>
            </a:pPr>
            <a:endParaRPr lang="en-US" sz="1000" kern="0" dirty="0">
              <a:solidFill>
                <a:srgbClr val="000000"/>
              </a:solidFill>
              <a:latin typeface="Segoe UI"/>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78D4"/>
                </a:solidFill>
                <a:effectLst/>
                <a:uLnTx/>
                <a:uFillTx/>
                <a:latin typeface="Segoe UI Semibold"/>
                <a:ea typeface="+mn-ea"/>
                <a:cs typeface="+mn-cs"/>
              </a:rPr>
              <a:t>Supported versions for .NET</a:t>
            </a:r>
            <a:r>
              <a:rPr kumimoji="0" lang="en-US" sz="700" b="1" i="0" u="none" strike="noStrike" kern="0" cap="none" spc="0" normalizeH="0" baseline="0" noProof="0" dirty="0">
                <a:ln>
                  <a:noFill/>
                </a:ln>
                <a:solidFill>
                  <a:srgbClr val="0078D4"/>
                </a:solidFill>
                <a:effectLst/>
                <a:uLnTx/>
                <a:uFillTx/>
                <a:latin typeface="Segoe UI Semibold"/>
                <a:ea typeface="+mn-ea"/>
                <a:cs typeface="+mn-cs"/>
              </a:rPr>
              <a:t>:  (</a:t>
            </a:r>
            <a:r>
              <a:rPr kumimoji="0" lang="en-US" sz="700" i="0" u="none" strike="noStrike" kern="0" cap="none" spc="0" normalizeH="0" baseline="0" noProof="0" dirty="0">
                <a:ln>
                  <a:noFill/>
                </a:ln>
                <a:solidFill>
                  <a:srgbClr val="0070C0"/>
                </a:solidFill>
                <a:effectLst/>
                <a:uLnTx/>
                <a:uFillTx/>
                <a:latin typeface="Segoe UI Semibold"/>
                <a:ea typeface="+mn-ea"/>
                <a:cs typeface="+mn-cs"/>
              </a:rPr>
              <a:t>Supported .NET Frameworks available in Azure)</a:t>
            </a:r>
          </a:p>
          <a:p>
            <a:pPr marL="241300" lvl="1" indent="-133350">
              <a:spcAft>
                <a:spcPts val="200"/>
              </a:spcAft>
              <a:buFont typeface="Arial" panose="020B0604020202020204" pitchFamily="34" charset="0"/>
              <a:buChar char="•"/>
              <a:defRPr/>
            </a:pPr>
            <a:r>
              <a:rPr lang="en-US" sz="1000" kern="0" dirty="0">
                <a:solidFill>
                  <a:srgbClr val="000000"/>
                </a:solidFill>
                <a:latin typeface="Segoe UI"/>
              </a:rPr>
              <a:t>.NET Framework</a:t>
            </a:r>
          </a:p>
          <a:p>
            <a:pPr marL="241300" lvl="1" indent="-133350">
              <a:spcAft>
                <a:spcPts val="200"/>
              </a:spcAft>
              <a:buFont typeface="Arial" panose="020B0604020202020204" pitchFamily="34" charset="0"/>
              <a:buChar char="•"/>
              <a:defRPr/>
            </a:pPr>
            <a:r>
              <a:rPr kumimoji="0" lang="en-US" sz="1000" b="0" i="0" u="none" strike="noStrike" kern="0" cap="none" spc="0" normalizeH="0" baseline="0" noProof="0" dirty="0">
                <a:ln>
                  <a:noFill/>
                </a:ln>
                <a:solidFill>
                  <a:srgbClr val="000000"/>
                </a:solidFill>
                <a:effectLst/>
                <a:uLnTx/>
                <a:uFillTx/>
                <a:latin typeface="Segoe UI"/>
                <a:ea typeface="+mn-ea"/>
                <a:cs typeface="+mn-cs"/>
              </a:rPr>
              <a:t>.NET Core </a:t>
            </a:r>
          </a:p>
          <a:p>
            <a:pPr marL="241300" lvl="1" indent="-133350">
              <a:spcAft>
                <a:spcPts val="200"/>
              </a:spcAft>
              <a:buFont typeface="Arial" panose="020B0604020202020204" pitchFamily="34" charset="0"/>
              <a:buChar char="•"/>
              <a:defRPr/>
            </a:pPr>
            <a:br>
              <a:rPr lang="en-US" sz="1000" kern="0" dirty="0">
                <a:solidFill>
                  <a:srgbClr val="000000"/>
                </a:solidFill>
                <a:latin typeface="Segoe UI"/>
              </a:rPr>
            </a:br>
            <a:endParaRPr lang="en-US" sz="1000" kern="0" dirty="0">
              <a:solidFill>
                <a:srgbClr val="000000"/>
              </a:solidFill>
              <a:latin typeface="Segoe UI"/>
              <a:cs typeface="Segoe UI"/>
            </a:endParaRPr>
          </a:p>
          <a:p>
            <a:endParaRPr lang="en-US" dirty="0">
              <a:latin typeface="Calibri"/>
              <a:cs typeface="Calibri"/>
            </a:endParaRPr>
          </a:p>
        </p:txBody>
      </p:sp>
      <p:sp>
        <p:nvSpPr>
          <p:cNvPr id="4" name="Slide Number Placeholder 3">
            <a:extLst>
              <a:ext uri="{FF2B5EF4-FFF2-40B4-BE49-F238E27FC236}">
                <a16:creationId xmlns:a16="http://schemas.microsoft.com/office/drawing/2014/main" id="{59A1A7A7-4A38-4607-7B46-1A2FA64319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E611C5-1242-41C0-A558-5E6EDA79A43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90937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 Scope includes containerization, zonal redundancy set ups and AI assisted code upgrades and remediation recommendation* for .NET and Java Apps as per GitHub Copilot tooling roadmap.​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dk1"/>
                </a:solidFill>
              </a:rPr>
              <a:t>Requirements for JS based Apps</a:t>
            </a:r>
            <a:endParaRPr lang="en-US" sz="1200" i="1" dirty="0"/>
          </a:p>
          <a:p>
            <a:pPr lvl="0" fontAlgn="base">
              <a:defRPr/>
            </a:pPr>
            <a:endParaRPr lang="en-US" sz="1200" b="1" dirty="0"/>
          </a:p>
          <a:p>
            <a:pPr marL="171450" lvl="0" indent="-171450" fontAlgn="base">
              <a:buFontTx/>
              <a:buChar char="-"/>
              <a:defRPr/>
            </a:pPr>
            <a:r>
              <a:rPr lang="en-US" sz="1200" dirty="0"/>
              <a:t>Offering AngularJS, ReactJS because they are the most popular JS Frameworks. </a:t>
            </a:r>
          </a:p>
          <a:p>
            <a:pPr marL="171450" lvl="0" indent="-171450" fontAlgn="base">
              <a:buFontTx/>
              <a:buChar char="-"/>
              <a:defRPr/>
            </a:pPr>
            <a:endParaRPr lang="en-US" sz="1200" dirty="0"/>
          </a:p>
          <a:p>
            <a:pPr marL="171450" lvl="0" indent="-171450" fontAlgn="base">
              <a:buFontTx/>
              <a:buChar char="-"/>
              <a:defRPr/>
            </a:pPr>
            <a:r>
              <a:rPr lang="en-US" sz="1200" dirty="0"/>
              <a:t>Vanilla JS is probably used for the most of older 3 tier applications.</a:t>
            </a:r>
          </a:p>
          <a:p>
            <a:pPr marL="171450" lvl="0" indent="-171450" fontAlgn="base">
              <a:buFontTx/>
              <a:buChar char="-"/>
              <a:defRPr/>
            </a:pPr>
            <a:endParaRPr lang="en-US" sz="1200" dirty="0"/>
          </a:p>
          <a:p>
            <a:pPr marL="171450" lvl="0" indent="-171450" fontAlgn="base">
              <a:buFontTx/>
              <a:buChar char="-"/>
              <a:defRPr/>
            </a:pPr>
            <a:r>
              <a:rPr lang="en-US" sz="1200" dirty="0"/>
              <a:t>The UI app offering should require the Backend (.NET/Java based) Azure migration. Also, it is not a very common use case to have a static web site only.</a:t>
            </a:r>
          </a:p>
          <a:p>
            <a:pPr marL="171450" lvl="0" indent="-171450" fontAlgn="base">
              <a:buFontTx/>
              <a:buChar char="-"/>
              <a:defRPr/>
            </a:pPr>
            <a:endParaRPr lang="en-US" sz="1200" dirty="0"/>
          </a:p>
          <a:p>
            <a:pPr marL="171450" lvl="0" indent="-171450" fontAlgn="base">
              <a:buFontTx/>
              <a:buChar char="-"/>
              <a:defRPr/>
            </a:pPr>
            <a:r>
              <a:rPr lang="en-US" sz="1200" dirty="0"/>
              <a:t>Offering Web base UI migration only at beginning. Because the JS and JS frameworks support Server-side app. The JS on service side is much more complex that the client side</a:t>
            </a:r>
          </a:p>
          <a:p>
            <a:pPr marL="171450" lvl="0" indent="-171450" fontAlgn="base">
              <a:buFontTx/>
              <a:buChar char="-"/>
              <a:defRPr/>
            </a:pPr>
            <a:endParaRPr lang="en-US" sz="1200" dirty="0"/>
          </a:p>
          <a:p>
            <a:pPr marL="171450" lvl="0" indent="-171450" fontAlgn="base">
              <a:buFontTx/>
              <a:buChar char="-"/>
              <a:defRPr/>
            </a:pPr>
            <a:r>
              <a:rPr lang="en-US" sz="1200" dirty="0"/>
              <a:t>GitHub, ADO, GitLab all support CI/CD for UI app. </a:t>
            </a:r>
          </a:p>
          <a:p>
            <a:pPr marL="171450" lvl="0" indent="-171450" fontAlgn="base">
              <a:buFontTx/>
              <a:buChar char="-"/>
              <a:defRPr/>
            </a:pPr>
            <a:endParaRPr lang="en-US" sz="1200" dirty="0"/>
          </a:p>
          <a:p>
            <a:pPr marL="171450" lvl="0" indent="-171450" fontAlgn="base">
              <a:buFontTx/>
              <a:buChar char="-"/>
              <a:defRPr/>
            </a:pPr>
            <a:r>
              <a:rPr lang="en-US" sz="1200" dirty="0"/>
              <a:t>PG does not have any tool to support assessment and code remediation at this point. We will need use GHCP Custom Instructions Approach for development to support those.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33</a:t>
            </a:fld>
            <a:endParaRPr lang="en-IN" dirty="0"/>
          </a:p>
        </p:txBody>
      </p:sp>
    </p:spTree>
    <p:extLst>
      <p:ext uri="{BB962C8B-B14F-4D97-AF65-F5344CB8AC3E}">
        <p14:creationId xmlns:p14="http://schemas.microsoft.com/office/powerpoint/2010/main" val="35938967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164A0-CB7D-D4D7-AA4B-32D238E33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96EE1-2D74-B61E-573C-1206077EA82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C68FB73-05A9-AAAE-C018-F8A8CF0D80BD}"/>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FA7AC9F2-468E-C814-C57B-58AA11D2F6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613428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C048D-F609-BE9D-3415-87C29637E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D49F0-7E16-F82B-46EE-6656BC4E00C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96E5F80-AF58-53AA-A240-236C28C7573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5EBFBA-D83E-792B-EFF6-5F20D266C0DC}"/>
              </a:ext>
            </a:extLst>
          </p:cNvPr>
          <p:cNvSpPr>
            <a:spLocks noGrp="1"/>
          </p:cNvSpPr>
          <p:nvPr>
            <p:ph type="sldNum" sz="quarter" idx="5"/>
          </p:nvPr>
        </p:nvSpPr>
        <p:spPr/>
        <p:txBody>
          <a:bodyPr/>
          <a:lstStyle/>
          <a:p>
            <a:fld id="{D76800DA-E989-494E-83A7-D0E15226734A}" type="slidenum">
              <a:rPr lang="en-IN" smtClean="0"/>
              <a:pPr/>
              <a:t>35</a:t>
            </a:fld>
            <a:endParaRPr lang="en-IN" dirty="0"/>
          </a:p>
        </p:txBody>
      </p:sp>
    </p:spTree>
    <p:extLst>
      <p:ext uri="{BB962C8B-B14F-4D97-AF65-F5344CB8AC3E}">
        <p14:creationId xmlns:p14="http://schemas.microsoft.com/office/powerpoint/2010/main" val="3406779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03E2A-2995-EF29-35FE-7DB328B33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14A67-7438-A74D-882E-48FC8A3F363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8CAF1DF-124F-43FE-7531-05AA81B1CD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144AD3-096F-0F0E-4EC0-A216807469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388401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10BAA-6C87-A4E0-D1B9-AB9243D55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3F11C-F187-2E9E-6846-2B698A5B37E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2A17963-E70C-0893-0B78-C186402B7F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95F240-A4FD-34E3-5DEB-5CC3098039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9043709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EC875-B503-53F2-3F07-1DF785B6F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927AA-975C-D5E2-584A-F83B0B35A79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AE1413B-5698-E59D-F979-F7356E9C11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FEE735-99FB-F9E3-983F-271049876E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7197237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152E2-F385-59A5-2F79-4F7FFF515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5665E-23BC-CE3D-E127-DCAB9BAD37D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50652E0-BF86-73E0-1971-14B35C4CCE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6B7D4C-EE1C-6BE2-3CC0-D9CAEAAAB1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7736100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CD6C6-15A4-1D6D-65DF-011058D36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F3DAA-25E0-5D86-E4A2-F966B965714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018CF13-EFAD-13B6-E1B7-982DFD4A89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C75208-D5F4-E5CC-36E0-C356D26E99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8232240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E9418-90E4-0BA0-4EE0-63A2A5D53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8ABD2-36A4-D111-9CC6-EE05C5FC2BF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4221853-DC1A-BD26-4D6A-0350C1E56E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1A79D1-3872-9708-6C67-FFA78CAE78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6894341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52793-2ED4-AB0E-481D-F56A778EB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F3AED-2776-F2A1-DE13-90A74EB556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C932BA8-0B2F-494E-9918-86A0F4E7A3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87B6D9-3020-F0B9-24FD-3AE9AEB641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0965183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44</a:t>
            </a:fld>
            <a:endParaRPr lang="en-IN" dirty="0"/>
          </a:p>
        </p:txBody>
      </p:sp>
    </p:spTree>
    <p:extLst>
      <p:ext uri="{BB962C8B-B14F-4D97-AF65-F5344CB8AC3E}">
        <p14:creationId xmlns:p14="http://schemas.microsoft.com/office/powerpoint/2010/main" val="31975429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45</a:t>
            </a:fld>
            <a:endParaRPr lang="en-IN" dirty="0"/>
          </a:p>
        </p:txBody>
      </p:sp>
    </p:spTree>
    <p:extLst>
      <p:ext uri="{BB962C8B-B14F-4D97-AF65-F5344CB8AC3E}">
        <p14:creationId xmlns:p14="http://schemas.microsoft.com/office/powerpoint/2010/main" val="32275078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6592A-2381-2D70-4DCB-4C87F8D03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5C543-4E81-73E1-3405-EE2BCD5E3B7F}"/>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F06ACACE-ACE4-C502-BADF-1007391BE3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6AF015-0E3C-9E30-35C7-06AC8BA53227}"/>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8090664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B456D-955A-350D-78EF-706128803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47E0F-4BD0-F06D-05F7-6DEFD0C66734}"/>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1914BB4D-7BEE-2656-F001-4F08A5A431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59328A-701A-2BF9-9B30-2E0B663284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053586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A69C2-F211-71D9-3824-1570E2377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B94AE-6A19-9A30-B4F5-AD3B60ED2E4D}"/>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E62DC32D-7C90-7702-042C-0B9CE3AAF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92256E-2C6A-9EE9-1ADF-B9982DB02D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96583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08B20-2D88-EC79-DCAB-23C2CC119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9C682-BE82-EFA9-B806-72E98078F954}"/>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EF528F36-CE5F-2945-46C4-C232BC7E03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8BE961-E3C4-AF65-CE9F-59BBD88645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97167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50</a:t>
            </a:fld>
            <a:endParaRPr lang="en-IN" dirty="0"/>
          </a:p>
        </p:txBody>
      </p:sp>
    </p:spTree>
    <p:extLst>
      <p:ext uri="{BB962C8B-B14F-4D97-AF65-F5344CB8AC3E}">
        <p14:creationId xmlns:p14="http://schemas.microsoft.com/office/powerpoint/2010/main" val="24285599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01A1-ADBE-D315-F300-0AE46FAB4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F178B-1F23-7815-4407-47366424A25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B247455-1146-8444-379D-24D45FB7E38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5D38FD0-1BEB-3669-BC4A-F70ABEA692C1}"/>
              </a:ext>
            </a:extLst>
          </p:cNvPr>
          <p:cNvSpPr>
            <a:spLocks noGrp="1"/>
          </p:cNvSpPr>
          <p:nvPr>
            <p:ph type="sldNum" sz="quarter" idx="5"/>
          </p:nvPr>
        </p:nvSpPr>
        <p:spPr/>
        <p:txBody>
          <a:bodyPr/>
          <a:lstStyle/>
          <a:p>
            <a:fld id="{D76800DA-E989-494E-83A7-D0E15226734A}" type="slidenum">
              <a:rPr lang="en-IN" smtClean="0"/>
              <a:pPr/>
              <a:t>51</a:t>
            </a:fld>
            <a:endParaRPr lang="en-IN" dirty="0"/>
          </a:p>
        </p:txBody>
      </p:sp>
    </p:spTree>
    <p:extLst>
      <p:ext uri="{BB962C8B-B14F-4D97-AF65-F5344CB8AC3E}">
        <p14:creationId xmlns:p14="http://schemas.microsoft.com/office/powerpoint/2010/main" val="312448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A0AF3-840E-14CA-0858-D031306C0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2E5B7-C01F-AE4C-BD9D-CA9CEA524CC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87E48A9-31C2-FF4D-A5C2-B48187D3E7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D0CF1A-07C8-4586-C24D-02DA007F5A9C}"/>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2715393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9425F-8017-10EF-DA91-0F4EA0798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C750C-D091-936F-D3D7-A7064AAEDBD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53E2D4C-DCE2-FC1C-A7CB-9E65FFD685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84804D-6EFF-4E25-BFF3-7B07B7E6AC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8688356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27882223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55</a:t>
            </a:fld>
            <a:endParaRPr lang="en-IN" dirty="0"/>
          </a:p>
        </p:txBody>
      </p:sp>
    </p:spTree>
    <p:extLst>
      <p:ext uri="{BB962C8B-B14F-4D97-AF65-F5344CB8AC3E}">
        <p14:creationId xmlns:p14="http://schemas.microsoft.com/office/powerpoint/2010/main" val="28549301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19204285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14A3-63CA-4CE1-0303-22C6273BC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22D5C-1E6B-F67E-2476-F2EA7728BF4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6737E75-A242-BB0C-2870-1D71D9AB84D3}"/>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2D6A3B5A-35C7-C8A5-9B2C-37111D01C4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1662345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928770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0A7BF-B07D-67C8-CCCB-57B49157C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6D21A-139E-A23D-38B2-A0F3F2F831D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E4AEF50-CA67-3E14-DDC5-5F186AF8B5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6565AC-C638-FFC8-915D-A9B3CB9FBE13}"/>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4676591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E71F9-0AA5-BA69-58A0-BE9D8FE56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3C297-137D-E68F-7695-1C372B55A23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918076F-EA36-F6C7-569C-198F0BDD89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A1C991-84DF-1F70-F4C4-039553C155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573379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63</a:t>
            </a:fld>
            <a:endParaRPr lang="en-IN" dirty="0"/>
          </a:p>
        </p:txBody>
      </p:sp>
    </p:spTree>
    <p:extLst>
      <p:ext uri="{BB962C8B-B14F-4D97-AF65-F5344CB8AC3E}">
        <p14:creationId xmlns:p14="http://schemas.microsoft.com/office/powerpoint/2010/main" val="19443796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305B3-906E-2E03-1E5E-9C846136D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8951E-3FFF-7373-9133-7FE511C43B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40D0F69-84CF-294C-E065-74FE62A6741F}"/>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2BC7EB7D-6DC7-BF27-C152-8742537689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7132543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4847888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1C409-E126-3989-DDCC-3233425F6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7F856-9692-D287-5845-3D7F512971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1E39D89-85DF-8034-5EFB-D4085EE2DE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922A9-0AC6-6E3B-2A62-88A6438B0636}"/>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0579986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25624847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920968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52F04-05D8-D49C-22DF-1C1C1134D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FA4F8-63BA-E93F-64E3-D9EDE7ED6FC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23E553A-2270-1B27-8D77-EDC69DCEFAF4}"/>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18AAC353-0556-711B-30C1-570D79F4A2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385258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8459C-15E4-6087-705D-5039676FE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03FFC-7A19-CF00-18BD-E0465E036D1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066E81-89E3-7833-ABA3-9CFDCEBFE3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94FCD1-DB50-1F4E-60DC-4B874B3E3F7A}"/>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70</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2274785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0F0C-555D-2A93-3DCD-C92976F27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E2140-62E7-810F-9D48-E3AC3AD9397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1EAEBF9-0D37-E77A-A7E0-CA4239BDBA0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2D2CE96-2353-F442-227A-5B7FC469A54F}"/>
              </a:ext>
            </a:extLst>
          </p:cNvPr>
          <p:cNvSpPr>
            <a:spLocks noGrp="1"/>
          </p:cNvSpPr>
          <p:nvPr>
            <p:ph type="sldNum" sz="quarter" idx="5"/>
          </p:nvPr>
        </p:nvSpPr>
        <p:spPr/>
        <p:txBody>
          <a:bodyPr/>
          <a:lstStyle/>
          <a:p>
            <a:fld id="{D76800DA-E989-494E-83A7-D0E15226734A}" type="slidenum">
              <a:rPr lang="en-IN" smtClean="0"/>
              <a:pPr/>
              <a:t>71</a:t>
            </a:fld>
            <a:endParaRPr lang="en-IN" dirty="0"/>
          </a:p>
        </p:txBody>
      </p:sp>
    </p:spTree>
    <p:extLst>
      <p:ext uri="{BB962C8B-B14F-4D97-AF65-F5344CB8AC3E}">
        <p14:creationId xmlns:p14="http://schemas.microsoft.com/office/powerpoint/2010/main" val="35458278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35E26-BD09-2597-C34D-13D51E256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52019-DBAA-7831-BEFD-406D72C3FF1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22E4ADD-8E0A-ABD5-5C15-2C45D03D56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B251179-7B56-EBCD-8CE1-A8BE34CF067A}"/>
              </a:ext>
            </a:extLst>
          </p:cNvPr>
          <p:cNvSpPr>
            <a:spLocks noGrp="1"/>
          </p:cNvSpPr>
          <p:nvPr>
            <p:ph type="sldNum" sz="quarter" idx="5"/>
          </p:nvPr>
        </p:nvSpPr>
        <p:spPr/>
        <p:txBody>
          <a:bodyPr/>
          <a:lstStyle/>
          <a:p>
            <a:fld id="{D76800DA-E989-494E-83A7-D0E15226734A}" type="slidenum">
              <a:rPr lang="en-IN" smtClean="0"/>
              <a:pPr/>
              <a:t>72</a:t>
            </a:fld>
            <a:endParaRPr lang="en-IN" dirty="0"/>
          </a:p>
        </p:txBody>
      </p:sp>
    </p:spTree>
    <p:extLst>
      <p:ext uri="{BB962C8B-B14F-4D97-AF65-F5344CB8AC3E}">
        <p14:creationId xmlns:p14="http://schemas.microsoft.com/office/powerpoint/2010/main" val="31458505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D990B-11C8-3D3D-5264-E22EEB9FB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47C4C-317E-3E63-9764-4A7EFAD04AF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10D7AEF-EA66-826E-0F49-30A69B9120B6}"/>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2A77DC76-F824-0847-3C86-52417615A9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4099007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74</a:t>
            </a:fld>
            <a:endParaRPr lang="en-IN" dirty="0"/>
          </a:p>
        </p:txBody>
      </p:sp>
    </p:spTree>
    <p:extLst>
      <p:ext uri="{BB962C8B-B14F-4D97-AF65-F5344CB8AC3E}">
        <p14:creationId xmlns:p14="http://schemas.microsoft.com/office/powerpoint/2010/main" val="42267825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EEA6D-F3F5-F2BB-3224-776D316B2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8834E-4442-493A-91A0-6142F71057D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BD35E2D-CBAA-C27E-D344-4BAC6CD67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B884FD-38F2-263E-3488-4E8DE219A3FF}"/>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8970613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56495-97CF-4205-9534-3B24291025F8}"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5554905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77</a:t>
            </a:fld>
            <a:endParaRPr lang="en-IN" dirty="0"/>
          </a:p>
        </p:txBody>
      </p:sp>
    </p:spTree>
    <p:extLst>
      <p:ext uri="{BB962C8B-B14F-4D97-AF65-F5344CB8AC3E}">
        <p14:creationId xmlns:p14="http://schemas.microsoft.com/office/powerpoint/2010/main" val="11362367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55239-C4F6-D0D2-F6D6-4BBCE9850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19477-8B5A-3C33-AAB8-2A3E8FE26E5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0869982-63C6-4271-6C8A-65BFCA013F57}"/>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55BC72FC-34C4-BD5B-5B2A-949DF2B277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3582677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7278826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E9F8-AE6A-8652-61FB-DA144391B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5DD76-CE8F-F8AD-9E80-D6C650FF42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54DB8C3-7CFB-F580-086D-7F2ACAB8F9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734B27-8D93-0CAC-3A99-9662CA6D32B3}"/>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80</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8450747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0D52D-DAF0-A4E1-CBA2-AE5DBB329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7BC91-1153-D2DF-BE98-AB4CE14900E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35D55F0-32EE-0073-D39B-04505A1304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531A77-A613-87AF-A5DC-8CD255E4CBAE}"/>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81</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81949593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82</a:t>
            </a:fld>
            <a:endParaRPr lang="en-IN" dirty="0"/>
          </a:p>
        </p:txBody>
      </p:sp>
    </p:spTree>
    <p:extLst>
      <p:ext uri="{BB962C8B-B14F-4D97-AF65-F5344CB8AC3E}">
        <p14:creationId xmlns:p14="http://schemas.microsoft.com/office/powerpoint/2010/main" val="417567258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83</a:t>
            </a:fld>
            <a:endParaRPr lang="en-IN" dirty="0"/>
          </a:p>
        </p:txBody>
      </p:sp>
    </p:spTree>
    <p:extLst>
      <p:ext uri="{BB962C8B-B14F-4D97-AF65-F5344CB8AC3E}">
        <p14:creationId xmlns:p14="http://schemas.microsoft.com/office/powerpoint/2010/main" val="256097375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9862F-C4CA-676E-0F6E-022347CFB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E6065-F07C-6D7D-1274-62DFADB45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1EA392-14C7-58F7-5870-7C6D671A1B9B}"/>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4CF3D265-83F4-8989-0398-0CDB34AC4F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13489639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85</a:t>
            </a:fld>
            <a:endParaRPr lang="en-IN" dirty="0"/>
          </a:p>
        </p:txBody>
      </p:sp>
    </p:spTree>
    <p:extLst>
      <p:ext uri="{BB962C8B-B14F-4D97-AF65-F5344CB8AC3E}">
        <p14:creationId xmlns:p14="http://schemas.microsoft.com/office/powerpoint/2010/main" val="24006345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8DC0E-6404-51D1-065B-24F3D89E4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1FF5B-8308-1C3D-6D49-4DA4DD59083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59DD4CA-AE90-5E9E-290C-C143DE876D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FC8D58-123B-34EA-D260-8596F99B937F}"/>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86</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2417154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1503B-F2E1-2C62-9B9F-F2FE33625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02891-D761-5883-31A7-F7FFA1729F5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40E4532-BA26-E410-9D83-9A10A1AC40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30D124-12DC-6BC8-AE80-ADDF0711A5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90723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4E97E-FB90-859E-82C3-70AEB7F3C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56D45-B757-D4D8-F635-AA42B0BB11E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3DCB13C-FBB2-A839-7F2D-59D5903DF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8A20AC-9759-3E06-6695-024349B97B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7475545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4E97E-FB90-859E-82C3-70AEB7F3C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56D45-B757-D4D8-F635-AA42B0BB11E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3DCB13C-FBB2-A839-7F2D-59D5903DF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8A20AC-9759-3E06-6695-024349B97B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7475545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EC86-D3F9-7622-DFC1-F88894689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C74B8-BC71-CE61-7651-D4F47AC687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5513905-BA9A-305D-323A-9159FA09AC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DC1FF1-6A46-9C98-BF78-4AE7A00D31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9141520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91</a:t>
            </a:fld>
            <a:endParaRPr lang="en-IN" dirty="0"/>
          </a:p>
        </p:txBody>
      </p:sp>
    </p:spTree>
    <p:extLst>
      <p:ext uri="{BB962C8B-B14F-4D97-AF65-F5344CB8AC3E}">
        <p14:creationId xmlns:p14="http://schemas.microsoft.com/office/powerpoint/2010/main" val="6885663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F715-E217-CDB9-54EE-48E5B69A7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23042-2B65-12B5-336F-52A0B53A996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382196B-67F0-7B31-C4D3-5D45E3D2E94C}"/>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B38FD532-6E10-AFEF-8AF0-511616B863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28622657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93</a:t>
            </a:fld>
            <a:endParaRPr lang="en-IN" dirty="0"/>
          </a:p>
        </p:txBody>
      </p:sp>
    </p:spTree>
    <p:extLst>
      <p:ext uri="{BB962C8B-B14F-4D97-AF65-F5344CB8AC3E}">
        <p14:creationId xmlns:p14="http://schemas.microsoft.com/office/powerpoint/2010/main" val="420751119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BE105-4A67-B32C-307B-DB95C2A62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17329-CF54-49D3-CC7E-8B983BB3B0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3961C0-58F4-6708-B8BA-67C8C55A539A}"/>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A99B66D7-45B3-274F-7539-6287665B6E29}"/>
              </a:ext>
            </a:extLst>
          </p:cNvPr>
          <p:cNvSpPr>
            <a:spLocks noGrp="1"/>
          </p:cNvSpPr>
          <p:nvPr>
            <p:ph type="hdr" sz="quarter" idx="10"/>
          </p:nvPr>
        </p:nvSpPr>
        <p:spPr/>
        <p:txBody>
          <a:bodyPr/>
          <a:lstStyle/>
          <a:p>
            <a:pPr marL="0" marR="0" lvl="0" indent="0" algn="l" defTabSz="996058"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9162D245-63D2-56D8-CADC-E21A0D509E61}"/>
              </a:ext>
            </a:extLst>
          </p:cNvPr>
          <p:cNvSpPr>
            <a:spLocks noGrp="1"/>
          </p:cNvSpPr>
          <p:nvPr>
            <p:ph type="ftr" sz="quarter" idx="11"/>
          </p:nvPr>
        </p:nvSpPr>
        <p:spPr/>
        <p:txBody>
          <a:bodyPr/>
          <a:lstStyle/>
          <a:p>
            <a:pPr marL="571500" marR="0" lvl="0" indent="0" algn="l" defTabSz="995766"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1ED1306-7330-2476-5416-D77E091E6E86}"/>
              </a:ext>
            </a:extLst>
          </p:cNvPr>
          <p:cNvSpPr>
            <a:spLocks noGrp="1"/>
          </p:cNvSpPr>
          <p:nvPr>
            <p:ph type="dt" idx="12"/>
          </p:nvPr>
        </p:nvSpPr>
        <p:spPr/>
        <p:txBody>
          <a:bodyPr/>
          <a:lstStyle/>
          <a:p>
            <a:pPr marL="0" marR="0" lvl="0" indent="0" algn="r" defTabSz="996058" rtl="0" eaLnBrk="1" fontAlgn="auto" latinLnBrk="0" hangingPunct="1">
              <a:lnSpc>
                <a:spcPct val="100000"/>
              </a:lnSpc>
              <a:spcBef>
                <a:spcPts val="0"/>
              </a:spcBef>
              <a:spcAft>
                <a:spcPts val="0"/>
              </a:spcAft>
              <a:buClrTx/>
              <a:buSzTx/>
              <a:buFontTx/>
              <a:buNone/>
              <a:tabLst/>
              <a:defRPr/>
            </a:pPr>
            <a:fld id="{E2F19A73-88F5-4B80-A929-CF8E66EE5449}" type="datetime8">
              <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rPr>
              <a:pPr marL="0" marR="0" lvl="0" indent="0" algn="r" defTabSz="996058" rtl="0" eaLnBrk="1" fontAlgn="auto" latinLnBrk="0" hangingPunct="1">
                <a:lnSpc>
                  <a:spcPct val="100000"/>
                </a:lnSpc>
                <a:spcBef>
                  <a:spcPts val="0"/>
                </a:spcBef>
                <a:spcAft>
                  <a:spcPts val="0"/>
                </a:spcAft>
                <a:buClrTx/>
                <a:buSzTx/>
                <a:buFontTx/>
                <a:buNone/>
                <a:tabLst/>
                <a:defRPr/>
              </a:pPr>
              <a:t>7/14/2026 12:45 PM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BB31AAA9-9975-06A5-BBAE-F217830037D2}"/>
              </a:ext>
            </a:extLst>
          </p:cNvPr>
          <p:cNvSpPr>
            <a:spLocks noGrp="1"/>
          </p:cNvSpPr>
          <p:nvPr>
            <p:ph type="sldNum" sz="quarter" idx="13"/>
          </p:nvPr>
        </p:nvSpPr>
        <p:spPr/>
        <p:txBody>
          <a:bodyPr/>
          <a:lstStyle/>
          <a:p>
            <a:pPr marL="0" marR="0" lvl="0" indent="0" algn="r" defTabSz="996058"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rPr>
              <a:pPr marL="0" marR="0" lvl="0" indent="0" algn="r" defTabSz="996058"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98503513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AE182-43EF-CEEE-3EFE-F6E1F1EF2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95E4C-BDBC-31F5-7F30-8D5B2B5073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B687F8-318C-FD0C-2A84-E4D004B1D14B}"/>
              </a:ext>
            </a:extLst>
          </p:cNvPr>
          <p:cNvSpPr>
            <a:spLocks noGrp="1"/>
          </p:cNvSpPr>
          <p:nvPr>
            <p:ph type="body" idx="1"/>
          </p:nvPr>
        </p:nvSpPr>
        <p:spPr/>
        <p:txBody>
          <a:bodyPr/>
          <a:lstStyle/>
          <a:p>
            <a:pPr algn="l" rtl="0" fontAlgn="base">
              <a:buFont typeface="Arial" panose="020B0604020202020204" pitchFamily="34" charset="0"/>
              <a:buNone/>
            </a:pPr>
            <a:endParaRPr lang="en-US" sz="1200" b="0" i="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4618969E-D7C9-8E89-863E-9A3356FEC1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EF8FD4-11CB-48AD-AA2C-AA09497ABEE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153017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08E21-B11B-B07E-CFC9-09E640D26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BD838-9932-0B5A-5324-658DD08BCD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48A96D-2BB2-52DD-86AE-0F842AEA41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76B938-446E-D1E3-2FD5-A64B769E2B28}"/>
              </a:ext>
            </a:extLst>
          </p:cNvPr>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62FF04C2-A2BA-45A5-8651-567512F46E20}" type="slidenum">
              <a:rPr kumimoji="0" lang="en-CA"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96</a:t>
            </a:fld>
            <a:endParaRPr kumimoji="0" lang="en-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368648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606BD-9AD8-83F1-8914-B52916C43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971B2-8478-E02A-010D-B472B27F6AE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05CEB0E-CEDA-3933-FAAE-C21987E07E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1E17C3-5866-65FD-6DD9-5CDC727969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535588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F3A67-739C-5F76-0308-2B7E3E2E4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4A2BF-1544-80E5-1CDD-2637348CBEA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54BB0A2-28D8-7800-C364-5300726489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76ACDB-AD62-3BF5-A46F-A8457837EB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47031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2C843-2DBF-DCFC-A90D-57E170E4D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ABC86-5A98-F74A-F36F-90DABA23B322}"/>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677C0F24-B7C9-5669-A234-050EA2A99D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23D719-BC1C-01D6-807D-6E7BAD644C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224684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3212E-F955-BE14-3276-4BF2B6C14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C50AF-7EF9-06B9-A586-CA0394FAFF0E}"/>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F69FE57D-7824-4F56-53A5-906A29BD66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ECE125-B4E6-2834-9AC2-39ADA5652D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556852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979ED-4A6B-FAD7-B06D-54D11CA41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E7424-3140-3354-041F-9181156942FF}"/>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3EC47418-4C19-4F91-B709-2377781269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2D907-A073-B347-F3DF-5B74E2E7DE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1494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US" dirty="0"/>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Add customer benefits </a:t>
            </a:r>
          </a:p>
          <a:p>
            <a:endParaRPr lang="en-GB" dirty="0"/>
          </a:p>
          <a:p>
            <a:r>
              <a:rPr lang="en-GB" dirty="0"/>
              <a:t>Customer story anonymized</a:t>
            </a:r>
          </a:p>
        </p:txBody>
      </p:sp>
    </p:spTree>
    <p:extLst>
      <p:ext uri="{BB962C8B-B14F-4D97-AF65-F5344CB8AC3E}">
        <p14:creationId xmlns:p14="http://schemas.microsoft.com/office/powerpoint/2010/main" val="191595523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9095-C0B9-3FA8-5BA3-7A8309D9C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D84DD-7CA9-FA74-6C3F-14391BD12FA7}"/>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410F2B47-C22F-2864-2502-45B6EA80E9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A636D6-FC48-1AC0-F048-020467F621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844751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2165A-B1EA-2BFB-DFC2-A1CDB1B58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A24DC-6CF1-4ACF-6C06-41385BD30864}"/>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6969BA8E-30A0-EE7E-C02C-320ADA52F1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FEBFC9-DF7D-7AE1-5053-5FF8C494FF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405966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20284-0075-9C80-5B46-63738D2FB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D8E1E-1DF4-FC34-EF13-1A1EA1386934}"/>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51A41E11-D074-ADC5-4927-94AE36AA4D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7CA91-D538-0D7E-ABDB-CBAA5D815F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637683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D3549-CAF2-2E72-30A6-9F1319139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C763-3B63-3FE6-BE1F-1B1B222F1ED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72AA77C-35FA-4390-21A5-1C6277CD24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CF4998-4471-A135-EDC9-B7B729A4CA4C}"/>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110</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46366482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F6DDD9-3C40-4FBD-A8C6-BFADC52A32D9}"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19083002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DC4DC-3A89-7C86-A148-833E3F2A0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C004B-D4B4-943C-E91A-E99CB0A7AFA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CFD232-B294-B12C-976A-35F2CD54160A}"/>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58844E9F-A6BB-933A-97AE-40C75E028D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47395249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117</a:t>
            </a:fld>
            <a:endParaRPr lang="en-IN" dirty="0"/>
          </a:p>
        </p:txBody>
      </p:sp>
    </p:spTree>
    <p:extLst>
      <p:ext uri="{BB962C8B-B14F-4D97-AF65-F5344CB8AC3E}">
        <p14:creationId xmlns:p14="http://schemas.microsoft.com/office/powerpoint/2010/main" val="326212643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0D674-1AE7-7065-B5BD-B0C1463F7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8979D-5101-BB76-8EC2-E0021F6A10C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FE627FE-0D55-D73A-7AA0-9B8C5334AE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39092-BC15-6F71-D0E7-4979523952C5}"/>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118</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417501221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BC24B-9767-0856-255F-8C492A8C2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CD00A-8571-1965-3509-9AA58F5A549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2197928-B186-BC3D-27BA-5C3EA09F1E2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A952001-B866-0CE9-43C5-DCF8931616C1}"/>
              </a:ext>
            </a:extLst>
          </p:cNvPr>
          <p:cNvSpPr>
            <a:spLocks noGrp="1"/>
          </p:cNvSpPr>
          <p:nvPr>
            <p:ph type="sldNum" sz="quarter" idx="5"/>
          </p:nvPr>
        </p:nvSpPr>
        <p:spPr/>
        <p:txBody>
          <a:bodyPr/>
          <a:lstStyle/>
          <a:p>
            <a:fld id="{D76800DA-E989-494E-83A7-D0E15226734A}" type="slidenum">
              <a:rPr lang="en-IN" smtClean="0"/>
              <a:pPr/>
              <a:t>120</a:t>
            </a:fld>
            <a:endParaRPr lang="en-IN" dirty="0"/>
          </a:p>
        </p:txBody>
      </p:sp>
    </p:spTree>
    <p:extLst>
      <p:ext uri="{BB962C8B-B14F-4D97-AF65-F5344CB8AC3E}">
        <p14:creationId xmlns:p14="http://schemas.microsoft.com/office/powerpoint/2010/main" val="1197643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121</a:t>
            </a:fld>
            <a:endParaRPr lang="en-IN" dirty="0"/>
          </a:p>
        </p:txBody>
      </p:sp>
    </p:spTree>
    <p:extLst>
      <p:ext uri="{BB962C8B-B14F-4D97-AF65-F5344CB8AC3E}">
        <p14:creationId xmlns:p14="http://schemas.microsoft.com/office/powerpoint/2010/main" val="380971932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2FE07-E419-F593-2BC2-F5CC395A2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A83D0-81E9-27DD-DC83-EBE36E9682C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6CE07EF-044D-A824-B6AC-418DFE0E8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DC008D-E431-8E20-09BC-82F7C350FADF}"/>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123</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82918884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30722778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5C3BF-79F9-218B-9A35-3517AAEA3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5E68B-7622-2A83-46FF-189C47A7F9F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ED5D1EC-2AD0-9C71-825D-1C098364BB42}"/>
              </a:ext>
            </a:extLst>
          </p:cNvPr>
          <p:cNvSpPr>
            <a:spLocks noGrp="1"/>
          </p:cNvSpPr>
          <p:nvPr>
            <p:ph type="body" idx="1"/>
          </p:nvPr>
        </p:nvSpPr>
        <p:spPr/>
        <p:txBody>
          <a:bodyPr/>
          <a:lstStyle/>
          <a:p>
            <a:pPr marL="0" marR="0" lvl="0" indent="0" algn="l" defTabSz="914367"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027E1F3-B553-ADA6-5AD1-3DC162801E7B}"/>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125</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2708088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46659802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2FE07-E419-F593-2BC2-F5CC395A2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A83D0-81E9-27DD-DC83-EBE36E9682C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6CE07EF-044D-A824-B6AC-418DFE0E8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DC008D-E431-8E20-09BC-82F7C350FADF}"/>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127</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82918884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47D4-DC6A-A684-A63E-2B78F9972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E1E6F-2038-4363-AC79-D1E5C52FEF0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083D78B-72A4-24FD-DB2F-3F86A3AACC8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B9B3D4-1687-694F-FE15-7107229ECE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21814605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5C3BF-79F9-218B-9A35-3517AAEA3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5E68B-7622-2A83-46FF-189C47A7F9F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ED5D1EC-2AD0-9C71-825D-1C098364BB42}"/>
              </a:ext>
            </a:extLst>
          </p:cNvPr>
          <p:cNvSpPr>
            <a:spLocks noGrp="1"/>
          </p:cNvSpPr>
          <p:nvPr>
            <p:ph type="body" idx="1"/>
          </p:nvPr>
        </p:nvSpPr>
        <p:spPr/>
        <p:txBody>
          <a:bodyPr/>
          <a:lstStyle/>
          <a:p>
            <a:pPr marL="0" marR="0" lvl="0" indent="0" algn="l" defTabSz="914367"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027E1F3-B553-ADA6-5AD1-3DC162801E7B}"/>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129</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708088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30722778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131</a:t>
            </a:fld>
            <a:endParaRPr lang="en-IN" dirty="0"/>
          </a:p>
        </p:txBody>
      </p:sp>
    </p:spTree>
    <p:extLst>
      <p:ext uri="{BB962C8B-B14F-4D97-AF65-F5344CB8AC3E}">
        <p14:creationId xmlns:p14="http://schemas.microsoft.com/office/powerpoint/2010/main" val="339039224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132</a:t>
            </a:fld>
            <a:endParaRPr lang="en-IN" dirty="0"/>
          </a:p>
        </p:txBody>
      </p:sp>
    </p:spTree>
    <p:extLst>
      <p:ext uri="{BB962C8B-B14F-4D97-AF65-F5344CB8AC3E}">
        <p14:creationId xmlns:p14="http://schemas.microsoft.com/office/powerpoint/2010/main" val="407897027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CC67D-A9A3-6F25-B6B0-4E362A747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BCA8D-1B5A-977B-36D4-D86A3ABF434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EEEFA8C-06D1-CABC-CAA6-4407B45330C3}"/>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657CA74A-B01B-7AEF-B6A5-393C865E12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8793315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134</a:t>
            </a:fld>
            <a:endParaRPr lang="en-IN" dirty="0"/>
          </a:p>
        </p:txBody>
      </p:sp>
    </p:spTree>
    <p:extLst>
      <p:ext uri="{BB962C8B-B14F-4D97-AF65-F5344CB8AC3E}">
        <p14:creationId xmlns:p14="http://schemas.microsoft.com/office/powerpoint/2010/main" val="27200859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2FE07-E419-F593-2BC2-F5CC395A2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A83D0-81E9-27DD-DC83-EBE36E9682C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6CE07EF-044D-A824-B6AC-418DFE0E8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DC008D-E431-8E20-09BC-82F7C350FADF}"/>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135</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82918884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2D7FD-28CF-CD1B-E02A-4FCA60FBB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A2E98-EFE3-19E3-2A94-281686DB61F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1BF497B-DB56-1714-096A-EF3739A71AC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6626CDA-159E-3ACA-44C0-6BFC2992B3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81879946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137</a:t>
            </a:fld>
            <a:endParaRPr lang="en-IN" dirty="0"/>
          </a:p>
        </p:txBody>
      </p:sp>
    </p:spTree>
    <p:extLst>
      <p:ext uri="{BB962C8B-B14F-4D97-AF65-F5344CB8AC3E}">
        <p14:creationId xmlns:p14="http://schemas.microsoft.com/office/powerpoint/2010/main" val="315417746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138</a:t>
            </a:fld>
            <a:endParaRPr lang="en-IN" dirty="0"/>
          </a:p>
        </p:txBody>
      </p:sp>
    </p:spTree>
    <p:extLst>
      <p:ext uri="{BB962C8B-B14F-4D97-AF65-F5344CB8AC3E}">
        <p14:creationId xmlns:p14="http://schemas.microsoft.com/office/powerpoint/2010/main" val="97644274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139</a:t>
            </a:fld>
            <a:endParaRPr lang="en-IN" dirty="0"/>
          </a:p>
        </p:txBody>
      </p:sp>
    </p:spTree>
    <p:extLst>
      <p:ext uri="{BB962C8B-B14F-4D97-AF65-F5344CB8AC3E}">
        <p14:creationId xmlns:p14="http://schemas.microsoft.com/office/powerpoint/2010/main" val="407897027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BEF1D-4599-F3AB-7B80-0DF580A8F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25199-7CBB-7AED-7157-20E212F4F55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F00332A-8D78-56A0-819C-6642902303CB}"/>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9682A74D-BB7E-BB43-9F40-200EF3B534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1700293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141</a:t>
            </a:fld>
            <a:endParaRPr lang="en-IN" dirty="0"/>
          </a:p>
        </p:txBody>
      </p:sp>
    </p:spTree>
    <p:extLst>
      <p:ext uri="{BB962C8B-B14F-4D97-AF65-F5344CB8AC3E}">
        <p14:creationId xmlns:p14="http://schemas.microsoft.com/office/powerpoint/2010/main" val="24111000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BAB76-B3FB-19BD-639F-2A64E2FCA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D1A85-5C16-9F9D-BDC0-06DED26052A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1AF98E2-9118-709B-97BF-D576C33246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B38C69-B1D6-E4A2-D026-8B52E68E97AF}"/>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142</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63475865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143</a:t>
            </a:fld>
            <a:endParaRPr lang="en-IN" dirty="0"/>
          </a:p>
        </p:txBody>
      </p:sp>
    </p:spTree>
    <p:extLst>
      <p:ext uri="{BB962C8B-B14F-4D97-AF65-F5344CB8AC3E}">
        <p14:creationId xmlns:p14="http://schemas.microsoft.com/office/powerpoint/2010/main" val="217111178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E69D3-71B3-172C-8D1F-E92F98672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BC257-DA85-1183-B491-7B62947E9C4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6C75801-7071-FE0A-31AC-D44037CC07A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956EDEE-78AA-D57D-C9C4-C5538CAA91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9671414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145</a:t>
            </a:fld>
            <a:endParaRPr lang="en-IN" dirty="0"/>
          </a:p>
        </p:txBody>
      </p:sp>
    </p:spTree>
    <p:extLst>
      <p:ext uri="{BB962C8B-B14F-4D97-AF65-F5344CB8AC3E}">
        <p14:creationId xmlns:p14="http://schemas.microsoft.com/office/powerpoint/2010/main" val="241399276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0027C-A3CE-8448-F596-0B06BF149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EFADF-43F6-7170-E88A-EF2B3163750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A698378-776E-C0F1-3DAA-30535EBBA5DC}"/>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33FFD8D6-9184-6CAC-BBD2-EA114255CA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57618549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147</a:t>
            </a:fld>
            <a:endParaRPr lang="en-IN" dirty="0"/>
          </a:p>
        </p:txBody>
      </p:sp>
    </p:spTree>
    <p:extLst>
      <p:ext uri="{BB962C8B-B14F-4D97-AF65-F5344CB8AC3E}">
        <p14:creationId xmlns:p14="http://schemas.microsoft.com/office/powerpoint/2010/main" val="326212643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0D674-1AE7-7065-B5BD-B0C1463F7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8979D-5101-BB76-8EC2-E0021F6A10C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FE627FE-0D55-D73A-7AA0-9B8C5334AE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39092-BC15-6F71-D0E7-4979523952C5}"/>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148</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417501221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4512-B39A-BBA1-F23E-3D7C3CF73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A908F-3F5A-CD9D-EDFA-65CEAC2569D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66D0EAC-5963-8475-43C3-574BFE55BF6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DF06CDA-D64F-70B4-8DA3-480A93A1E7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800DA-E989-494E-83A7-D0E15226734A}" type="slidenum">
              <a:rPr kumimoji="0" lang="en-IN"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en-IN"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99639433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53F35A-1660-43E8-947C-59E4EA53F81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554119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76800DA-E989-494E-83A7-D0E15226734A}" type="slidenum">
              <a:rPr lang="en-IN" smtClean="0"/>
              <a:pPr/>
              <a:t>151</a:t>
            </a:fld>
            <a:endParaRPr lang="en-IN" dirty="0"/>
          </a:p>
        </p:txBody>
      </p:sp>
    </p:spTree>
    <p:extLst>
      <p:ext uri="{BB962C8B-B14F-4D97-AF65-F5344CB8AC3E}">
        <p14:creationId xmlns:p14="http://schemas.microsoft.com/office/powerpoint/2010/main" val="180381287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54A5-C65B-2F5F-5F1A-50966E596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30E5B-4DDF-9FFC-7A7D-F8E7D5BAD08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6A0DE4D-E6BC-4853-01FB-EE4BCBF32603}"/>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DE87283C-BB06-D565-257A-C0FDAD3DF3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53197742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5DCE-6650-A9C8-3DE0-1F7A0E85CC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6532B-9289-F413-18A5-8C04B31E01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0A3C4C0-A787-FB22-904C-9B5288BB6A7B}"/>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F86FFE0-7E4D-8219-6735-0E4F643D9740}"/>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B59A2A8-5523-184C-DD1F-4DF0A8ACEAF2}"/>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1D69BED-CA26-EBED-C82E-93AB186C528F}"/>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7/14/2026 12:45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86ECD818-2051-8BD5-256F-420A569DC5A6}"/>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5440711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17BA8-6D9A-B9A0-4872-BCF0E87AC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8D471-142F-F4C1-378F-FFF2D670472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B5592FE-875A-21A4-89AB-AB2D1D4805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DCA834-D232-5DC7-4B10-7B03A65D0496}"/>
              </a:ext>
            </a:extLst>
          </p:cNvPr>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EA5E4890-FE7F-4F08-A81D-6B77A571E01E}" type="slidenum">
              <a:rPr kumimoji="0" lang="en-US" sz="1800" b="0" i="0" u="none" strike="noStrike" kern="0" cap="none" spc="0" normalizeH="0" baseline="0" noProof="0">
                <a:ln>
                  <a:noFill/>
                </a:ln>
                <a:solidFill>
                  <a:sysClr val="windowText" lastClr="000000"/>
                </a:solidFill>
                <a:effectLst/>
                <a:uLnTx/>
                <a:uFillTx/>
                <a:latin typeface="Segoe Sans Text" pitchFamily="2" charset="0"/>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156</a:t>
            </a:fld>
            <a:endParaRPr kumimoji="0" lang="en-US" sz="1800" b="0" i="0" u="none" strike="noStrike" kern="0" cap="none" spc="0" normalizeH="0" baseline="0" noProof="0" dirty="0">
              <a:ln>
                <a:noFill/>
              </a:ln>
              <a:solidFill>
                <a:sysClr val="windowText" lastClr="000000"/>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68860088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2EBD-CAA1-DCC5-9F35-8C4BDE93C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6E9AF-C1B4-6EC0-B290-978FC0BE5DB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7C2EA0-A04A-6337-543D-3C15E3ED6A8A}"/>
              </a:ext>
            </a:extLst>
          </p:cNvPr>
          <p:cNvSpPr>
            <a:spLocks noGrp="1"/>
          </p:cNvSpPr>
          <p:nvPr>
            <p:ph type="body"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D9E38CE6-E667-FFB0-659E-C775A6D457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EEA050-7969-4736-8E93-7A3A17735F38}" type="slidenum">
              <a:rPr kumimoji="0" lang="en-GB"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en-GB"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72532225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56495-97CF-4205-9534-3B24291025F8}"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en-US" sz="1200" b="0" i="0" u="none" strike="noStrike" kern="1200" cap="none" spc="0" normalizeH="0" baseline="0" noProof="0" dirty="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15354108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86AC-95FF-F698-5663-8E2B50B2B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92539-18E2-7AF2-AA0A-E8F5A535B19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5634FD2-12CB-04D4-9D81-CA95B7B76BE6}"/>
              </a:ext>
            </a:extLst>
          </p:cNvPr>
          <p:cNvSpPr>
            <a:spLocks noGrp="1"/>
          </p:cNvSpPr>
          <p:nvPr>
            <p:ph type="body" idx="1"/>
          </p:nvPr>
        </p:nvSpPr>
        <p:spPr/>
        <p:txBody>
          <a:bodyPr/>
          <a:lstStyle/>
          <a:p>
            <a:r>
              <a:rPr lang="en-US" dirty="0"/>
              <a:t>Overview presentation of Cloud Accelerate Factory; deck is intended to be customer-facing</a:t>
            </a:r>
          </a:p>
        </p:txBody>
      </p:sp>
      <p:sp>
        <p:nvSpPr>
          <p:cNvPr id="4" name="Slide Number Placeholder 3">
            <a:extLst>
              <a:ext uri="{FF2B5EF4-FFF2-40B4-BE49-F238E27FC236}">
                <a16:creationId xmlns:a16="http://schemas.microsoft.com/office/drawing/2014/main" id="{8F086BAF-5394-5F12-D5CF-96BE9C90CB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88930-1339-49E8-BABC-9A65D0A4BC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155929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In Scope 1, Factory runs the full delivery cycle — assessment through validation — with three-to-six-week sprint cadences. We deliver speed and quality, every single time.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8AEF14-7606-420A-882D-6D350DFC454A}" type="slidenum">
              <a:rPr kumimoji="0" lang="en-US"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0" lang="en-US" sz="13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1325112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BB03F5-6425-41EA-8D1C-06A481B8EB01}" type="slidenum">
              <a:rPr lang="en-US" smtClean="0"/>
              <a:t>169</a:t>
            </a:fld>
            <a:endParaRPr lang="en-US" dirty="0"/>
          </a:p>
        </p:txBody>
      </p:sp>
    </p:spTree>
    <p:extLst>
      <p:ext uri="{BB962C8B-B14F-4D97-AF65-F5344CB8AC3E}">
        <p14:creationId xmlns:p14="http://schemas.microsoft.com/office/powerpoint/2010/main" val="10184625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77CEC-6671-CD06-7B4A-DC07E6F83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1BC8C-1ECE-E533-FCEB-257DF2CC9C5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EA9EC6C-D1C6-127D-FFBA-F8C7E25E5A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5AC391-1289-CFFE-A7DF-5269ADA0F189}"/>
              </a:ext>
            </a:extLst>
          </p:cNvPr>
          <p:cNvSpPr>
            <a:spLocks noGrp="1"/>
          </p:cNvSpPr>
          <p:nvPr>
            <p:ph type="sldNum" sz="quarter" idx="5"/>
          </p:nvPr>
        </p:nvSpPr>
        <p:spPr/>
        <p:txBody>
          <a:bodyPr/>
          <a:lstStyle/>
          <a:p>
            <a:fld id="{E8BB03F5-6425-41EA-8D1C-06A481B8EB01}" type="slidenum">
              <a:rPr lang="en-US" smtClean="0"/>
              <a:t>170</a:t>
            </a:fld>
            <a:endParaRPr lang="en-US" dirty="0"/>
          </a:p>
        </p:txBody>
      </p:sp>
    </p:spTree>
    <p:extLst>
      <p:ext uri="{BB962C8B-B14F-4D97-AF65-F5344CB8AC3E}">
        <p14:creationId xmlns:p14="http://schemas.microsoft.com/office/powerpoint/2010/main" val="17182492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594C5-ADD8-8A37-C3F0-D1890EC5A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D7460-E558-986C-8E51-F3EFBB17ED8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6D5A768-908F-5E08-CB4B-3D63375B09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132CC1-8A49-E5CB-0DFF-58AC8BC65656}"/>
              </a:ext>
            </a:extLst>
          </p:cNvPr>
          <p:cNvSpPr>
            <a:spLocks noGrp="1"/>
          </p:cNvSpPr>
          <p:nvPr>
            <p:ph type="sldNum" sz="quarter" idx="5"/>
          </p:nvPr>
        </p:nvSpPr>
        <p:spPr/>
        <p:txBody>
          <a:bodyPr/>
          <a:lstStyle/>
          <a:p>
            <a:fld id="{E8BB03F5-6425-41EA-8D1C-06A481B8EB01}" type="slidenum">
              <a:rPr lang="en-US" smtClean="0"/>
              <a:t>171</a:t>
            </a:fld>
            <a:endParaRPr lang="en-US" dirty="0"/>
          </a:p>
        </p:txBody>
      </p:sp>
    </p:spTree>
    <p:extLst>
      <p:ext uri="{BB962C8B-B14F-4D97-AF65-F5344CB8AC3E}">
        <p14:creationId xmlns:p14="http://schemas.microsoft.com/office/powerpoint/2010/main" val="130613196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59928-8EAF-EE10-4A3E-4F3FB61F2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1727D-A8C0-F348-4E8A-645C6CCB861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56F66BD-F9CA-902C-98FB-7C5A4AD2B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E325C-A834-9BE3-889A-C34C909E5BF4}"/>
              </a:ext>
            </a:extLst>
          </p:cNvPr>
          <p:cNvSpPr>
            <a:spLocks noGrp="1"/>
          </p:cNvSpPr>
          <p:nvPr>
            <p:ph type="sldNum" sz="quarter" idx="5"/>
          </p:nvPr>
        </p:nvSpPr>
        <p:spPr/>
        <p:txBody>
          <a:bodyPr/>
          <a:lstStyle/>
          <a:p>
            <a:fld id="{E8BB03F5-6425-41EA-8D1C-06A481B8EB01}" type="slidenum">
              <a:rPr lang="en-US" smtClean="0"/>
              <a:t>172</a:t>
            </a:fld>
            <a:endParaRPr lang="en-US" dirty="0"/>
          </a:p>
        </p:txBody>
      </p:sp>
    </p:spTree>
    <p:extLst>
      <p:ext uri="{BB962C8B-B14F-4D97-AF65-F5344CB8AC3E}">
        <p14:creationId xmlns:p14="http://schemas.microsoft.com/office/powerpoint/2010/main" val="136914753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60BB-440E-3738-CADD-27A1B044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8E41B-E298-E58B-CDFE-36BEA37B9C9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11715C-0ECE-F07C-B7A3-302797B5CF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1822C-19D1-82AC-EFB9-229EBB4B82E8}"/>
              </a:ext>
            </a:extLst>
          </p:cNvPr>
          <p:cNvSpPr>
            <a:spLocks noGrp="1"/>
          </p:cNvSpPr>
          <p:nvPr>
            <p:ph type="sldNum" sz="quarter" idx="5"/>
          </p:nvPr>
        </p:nvSpPr>
        <p:spPr/>
        <p:txBody>
          <a:bodyPr/>
          <a:lstStyle/>
          <a:p>
            <a:fld id="{E8BB03F5-6425-41EA-8D1C-06A481B8EB01}" type="slidenum">
              <a:rPr lang="en-US" smtClean="0"/>
              <a:t>173</a:t>
            </a:fld>
            <a:endParaRPr lang="en-US" dirty="0"/>
          </a:p>
        </p:txBody>
      </p:sp>
    </p:spTree>
    <p:extLst>
      <p:ext uri="{BB962C8B-B14F-4D97-AF65-F5344CB8AC3E}">
        <p14:creationId xmlns:p14="http://schemas.microsoft.com/office/powerpoint/2010/main" val="4113588728"/>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5E17C-6C8E-606A-4514-5E94E64E2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196B2-0188-6858-6E58-F9F0558AA2A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2001B39-FB2F-D883-5C6C-0BBEB45A80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BBAC4B-90BB-50DC-8C59-8A5CCCC8C41E}"/>
              </a:ext>
            </a:extLst>
          </p:cNvPr>
          <p:cNvSpPr>
            <a:spLocks noGrp="1"/>
          </p:cNvSpPr>
          <p:nvPr>
            <p:ph type="sldNum" sz="quarter" idx="5"/>
          </p:nvPr>
        </p:nvSpPr>
        <p:spPr/>
        <p:txBody>
          <a:bodyPr/>
          <a:lstStyle/>
          <a:p>
            <a:fld id="{E8BB03F5-6425-41EA-8D1C-06A481B8EB01}" type="slidenum">
              <a:rPr lang="en-US" smtClean="0"/>
              <a:t>174</a:t>
            </a:fld>
            <a:endParaRPr lang="en-US" dirty="0"/>
          </a:p>
        </p:txBody>
      </p:sp>
    </p:spTree>
    <p:extLst>
      <p:ext uri="{BB962C8B-B14F-4D97-AF65-F5344CB8AC3E}">
        <p14:creationId xmlns:p14="http://schemas.microsoft.com/office/powerpoint/2010/main" val="255391614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D8A25-9C32-875D-56BD-40A500C46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741CB-6730-8591-A070-790D67B4BBE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49E41FC-EC01-1408-9B00-2392EDCAC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5FD91D-8CB5-2E82-77C1-CDCDFB2C52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BB03F5-6425-41EA-8D1C-06A481B8EB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287721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04510-38B6-5FB8-EAB6-D76ED9260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82E5D-B36F-4CE2-4AC6-0C2A6D7E9F3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2E08036-C51D-E749-A8E4-F7821BEE2F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3FC3DC-4FEC-2359-A0C4-04BC0FAD7C19}"/>
              </a:ext>
            </a:extLst>
          </p:cNvPr>
          <p:cNvSpPr>
            <a:spLocks noGrp="1"/>
          </p:cNvSpPr>
          <p:nvPr>
            <p:ph type="sldNum" sz="quarter" idx="5"/>
          </p:nvPr>
        </p:nvSpPr>
        <p:spPr/>
        <p:txBody>
          <a:bodyPr/>
          <a:lstStyle/>
          <a:p>
            <a:fld id="{E8BB03F5-6425-41EA-8D1C-06A481B8EB01}" type="slidenum">
              <a:rPr lang="en-US" smtClean="0"/>
              <a:t>176</a:t>
            </a:fld>
            <a:endParaRPr lang="en-US" dirty="0"/>
          </a:p>
        </p:txBody>
      </p:sp>
    </p:spTree>
    <p:extLst>
      <p:ext uri="{BB962C8B-B14F-4D97-AF65-F5344CB8AC3E}">
        <p14:creationId xmlns:p14="http://schemas.microsoft.com/office/powerpoint/2010/main" val="278641297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637D5-CF08-5D01-9229-B19E6DD024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2F8B4-6D55-16AE-455F-85F577CB797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B4768F4-D6F2-2BDF-A1C7-5648B37C31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A9433A-5EC2-CD28-A5CA-CE33A859C39A}"/>
              </a:ext>
            </a:extLst>
          </p:cNvPr>
          <p:cNvSpPr>
            <a:spLocks noGrp="1"/>
          </p:cNvSpPr>
          <p:nvPr>
            <p:ph type="sldNum" sz="quarter" idx="5"/>
          </p:nvPr>
        </p:nvSpPr>
        <p:spPr/>
        <p:txBody>
          <a:bodyPr/>
          <a:lstStyle/>
          <a:p>
            <a:fld id="{E8BB03F5-6425-41EA-8D1C-06A481B8EB01}" type="slidenum">
              <a:rPr lang="en-US" smtClean="0"/>
              <a:t>177</a:t>
            </a:fld>
            <a:endParaRPr lang="en-US" dirty="0"/>
          </a:p>
        </p:txBody>
      </p:sp>
    </p:spTree>
    <p:extLst>
      <p:ext uri="{BB962C8B-B14F-4D97-AF65-F5344CB8AC3E}">
        <p14:creationId xmlns:p14="http://schemas.microsoft.com/office/powerpoint/2010/main" val="3006082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5.emf"/></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5.emf"/></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3.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colorful cubes on a white background&#10;&#10;AI-generated content may be incorrect.">
            <a:extLst>
              <a:ext uri="{FF2B5EF4-FFF2-40B4-BE49-F238E27FC236}">
                <a16:creationId xmlns:a16="http://schemas.microsoft.com/office/drawing/2014/main" id="{2BCD1CEE-EED0-B3CE-8E1A-6079D1ED3403}"/>
              </a:ext>
            </a:extLst>
          </p:cNvPr>
          <p:cNvPicPr>
            <a:picLocks noChangeAspect="1"/>
          </p:cNvPicPr>
          <p:nvPr userDrawn="1"/>
        </p:nvPicPr>
        <p:blipFill>
          <a:blip r:embed="rId3"/>
          <a:stretch>
            <a:fillRect/>
          </a:stretch>
        </p:blipFill>
        <p:spPr>
          <a:xfrm>
            <a:off x="0" y="0"/>
            <a:ext cx="12191999" cy="6858000"/>
          </a:xfrm>
          <a:prstGeom prst="rect">
            <a:avLst/>
          </a:prstGeom>
        </p:spPr>
      </p:pic>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Graphic 1">
            <a:extLst>
              <a:ext uri="{FF2B5EF4-FFF2-40B4-BE49-F238E27FC236}">
                <a16:creationId xmlns:a16="http://schemas.microsoft.com/office/drawing/2014/main" id="{E025A044-240B-F4A5-31A8-1CD96364699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84200" y="585788"/>
            <a:ext cx="2052320" cy="292608"/>
          </a:xfrm>
          <a:prstGeom prst="rect">
            <a:avLst/>
          </a:prstGeom>
        </p:spPr>
      </p:pic>
    </p:spTree>
    <p:extLst>
      <p:ext uri="{BB962C8B-B14F-4D97-AF65-F5344CB8AC3E}">
        <p14:creationId xmlns:p14="http://schemas.microsoft.com/office/powerpoint/2010/main" val="22876923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0067535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241278224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4871342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48337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3909298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070468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89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978461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669068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1">
                <a:gradFill>
                  <a:gsLst>
                    <a:gs pos="0">
                      <a:srgbClr val="31ACBD"/>
                    </a:gs>
                    <a:gs pos="68000">
                      <a:schemeClr val="tx2"/>
                    </a:gs>
                  </a:gsLst>
                  <a:lin ang="10800000" scaled="1"/>
                </a:gra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1">
                <a:gradFill>
                  <a:gsLst>
                    <a:gs pos="100000">
                      <a:srgbClr val="3EA89B"/>
                    </a:gs>
                    <a:gs pos="0">
                      <a:srgbClr val="225B62"/>
                    </a:gs>
                  </a:gsLst>
                  <a:lin ang="10800000" scaled="1"/>
                </a:gradFill>
                <a:latin typeface="+mj-lt"/>
              </a:defRPr>
            </a:lvl1pPr>
          </a:lstStyle>
          <a:p>
            <a:pPr marL="0" lvl="0" indent="0">
              <a:spcBef>
                <a:spcPts val="0"/>
              </a:spcBef>
              <a:buNone/>
            </a:pPr>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1" dirty="0">
                <a:gradFill>
                  <a:gsLst>
                    <a:gs pos="0">
                      <a:srgbClr val="F4364C"/>
                    </a:gs>
                    <a:gs pos="68000">
                      <a:srgbClr val="C03BC4"/>
                    </a:gs>
                  </a:gsLst>
                  <a:lin ang="10800000" scaled="1"/>
                </a:gradFill>
                <a:latin typeface="+mj-lt"/>
              </a:defRPr>
            </a:lvl1pPr>
          </a:lstStyle>
          <a:p>
            <a:pPr marL="0" lvl="0" indent="0">
              <a:spcBef>
                <a:spcPts val="0"/>
              </a:spcBef>
              <a:buNone/>
            </a:pPr>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553998"/>
          </a:xfrm>
        </p:spPr>
        <p:txBody>
          <a:bodyPr vert="horz" wrap="square" lIns="0" tIns="0" rIns="0" bIns="0" rtlCol="0" anchor="t">
            <a:spAutoFit/>
          </a:bodyPr>
          <a:lstStyle>
            <a:lvl1pPr>
              <a:defRPr lang="en-US" sz="1800" b="1">
                <a:gradFill>
                  <a:gsLst>
                    <a:gs pos="0">
                      <a:srgbClr val="FF9318"/>
                    </a:gs>
                    <a:gs pos="44000">
                      <a:srgbClr val="FF5C39"/>
                    </a:gs>
                  </a:gsLst>
                  <a:lin ang="10800000" scaled="1"/>
                </a:gradFill>
                <a:latin typeface="+mj-lt"/>
              </a:defRPr>
            </a:lvl1pPr>
          </a:lstStyle>
          <a:p>
            <a:pPr marL="0" lvl="0" indent="0">
              <a:spcBef>
                <a:spcPts val="0"/>
              </a:spcBef>
              <a:buNone/>
            </a:pPr>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661561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b="1">
                <a:solidFill>
                  <a:schemeClr val="tx2"/>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459104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236044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pic>
        <p:nvPicPr>
          <p:cNvPr id="7" name="Picture 6" descr="A colorful background with a white background">
            <a:extLst>
              <a:ext uri="{FF2B5EF4-FFF2-40B4-BE49-F238E27FC236}">
                <a16:creationId xmlns:a16="http://schemas.microsoft.com/office/drawing/2014/main" id="{FA377AD2-64AB-A28E-60FC-33BF489A4B1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1" y="0"/>
            <a:ext cx="12191999" cy="6858000"/>
          </a:xfrm>
          <a:prstGeom prst="rect">
            <a:avLst/>
          </a:prstGeom>
        </p:spPr>
      </p:pic>
      <p:sp>
        <p:nvSpPr>
          <p:cNvPr id="8" name="Rectangle 7">
            <a:extLst>
              <a:ext uri="{FF2B5EF4-FFF2-40B4-BE49-F238E27FC236}">
                <a16:creationId xmlns:a16="http://schemas.microsoft.com/office/drawing/2014/main" id="{A83E4E75-F3C3-71B9-0474-71AF97C91331}"/>
              </a:ext>
              <a:ext uri="{C183D7F6-B498-43B3-948B-1728B52AA6E4}">
                <adec:decorative xmlns:adec="http://schemas.microsoft.com/office/drawing/2017/decorative" val="1"/>
              </a:ext>
            </a:extLst>
          </p:cNvPr>
          <p:cNvSpPr/>
          <p:nvPr userDrawn="1"/>
        </p:nvSpPr>
        <p:spPr bwMode="auto">
          <a:xfrm>
            <a:off x="0" y="0"/>
            <a:ext cx="12191999" cy="6529137"/>
          </a:xfrm>
          <a:prstGeom prst="rect">
            <a:avLst/>
          </a:prstGeom>
          <a:gradFill>
            <a:gsLst>
              <a:gs pos="49000">
                <a:schemeClr val="bg1"/>
              </a:gs>
              <a:gs pos="100000">
                <a:schemeClr val="bg1">
                  <a:alpha val="0"/>
                </a:schemeClr>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146362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pic>
        <p:nvPicPr>
          <p:cNvPr id="12" name="Picture 11" descr="A colorful background with a white background">
            <a:extLst>
              <a:ext uri="{FF2B5EF4-FFF2-40B4-BE49-F238E27FC236}">
                <a16:creationId xmlns:a16="http://schemas.microsoft.com/office/drawing/2014/main" id="{C6BD6A9B-A5AB-7EB1-DB04-BA02F8417D9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a:off x="1" y="0"/>
            <a:ext cx="12191999" cy="6858000"/>
          </a:xfrm>
          <a:prstGeom prst="rect">
            <a:avLst/>
          </a:prstGeom>
        </p:spPr>
      </p:pic>
      <p:sp>
        <p:nvSpPr>
          <p:cNvPr id="8" name="Rectangle 7">
            <a:extLst>
              <a:ext uri="{FF2B5EF4-FFF2-40B4-BE49-F238E27FC236}">
                <a16:creationId xmlns:a16="http://schemas.microsoft.com/office/drawing/2014/main" id="{A83E4E75-F3C3-71B9-0474-71AF97C91331}"/>
              </a:ext>
              <a:ext uri="{C183D7F6-B498-43B3-948B-1728B52AA6E4}">
                <adec:decorative xmlns:adec="http://schemas.microsoft.com/office/drawing/2017/decorative" val="1"/>
              </a:ext>
            </a:extLst>
          </p:cNvPr>
          <p:cNvSpPr/>
          <p:nvPr userDrawn="1"/>
        </p:nvSpPr>
        <p:spPr bwMode="auto">
          <a:xfrm>
            <a:off x="0" y="0"/>
            <a:ext cx="12191999" cy="6529137"/>
          </a:xfrm>
          <a:prstGeom prst="rect">
            <a:avLst/>
          </a:prstGeom>
          <a:gradFill>
            <a:gsLst>
              <a:gs pos="49000">
                <a:schemeClr val="bg1"/>
              </a:gs>
              <a:gs pos="100000">
                <a:schemeClr val="bg1">
                  <a:alpha val="0"/>
                </a:schemeClr>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86426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5914664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1239842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gradFill flip="none" rotWithShape="1">
            <a:gsLst>
              <a:gs pos="47706">
                <a:schemeClr val="accent1"/>
              </a:gs>
              <a:gs pos="100000">
                <a:schemeClr val="accent3"/>
              </a:gs>
              <a:gs pos="60000">
                <a:schemeClr val="accent1"/>
              </a:gs>
            </a:gsLst>
            <a:lin ang="18900000" scaled="1"/>
            <a:tileRect/>
          </a:grad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03817709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674843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86549128"/>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gradFill>
            <a:gsLst>
              <a:gs pos="100000">
                <a:schemeClr val="accent3"/>
              </a:gs>
              <a:gs pos="8000">
                <a:schemeClr val="accent1"/>
              </a:gs>
            </a:gsLst>
            <a:lin ang="18900000" scaled="1"/>
          </a:gra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22917682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23465928"/>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3959217"/>
          </a:xfrm>
        </p:spPr>
        <p:txBody>
          <a:bodyPr anchor="t"/>
          <a:lstStyle>
            <a:lvl1pPr>
              <a:defRPr>
                <a:solidFill>
                  <a:schemeClr val="tx2"/>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6566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5197605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524526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2053687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2"/>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6260537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2"/>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7244752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2"/>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828246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descr="A blue and pink background">
            <a:extLst>
              <a:ext uri="{FF2B5EF4-FFF2-40B4-BE49-F238E27FC236}">
                <a16:creationId xmlns:a16="http://schemas.microsoft.com/office/drawing/2014/main" id="{CA268E96-FB5B-B4D3-9960-31926F553FD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2" name="Title 1"/>
          <p:cNvSpPr>
            <a:spLocks noGrp="1"/>
          </p:cNvSpPr>
          <p:nvPr>
            <p:ph type="title" hasCustomPrompt="1"/>
          </p:nvPr>
        </p:nvSpPr>
        <p:spPr>
          <a:xfrm>
            <a:off x="585216" y="3429000"/>
            <a:ext cx="9144000" cy="738664"/>
          </a:xfrm>
          <a:noFill/>
          <a:ln>
            <a:noFill/>
            <a:prstDash/>
          </a:ln>
          <a:effectLst/>
        </p:spPr>
        <p:txBody>
          <a:bodyPr rot="0" spcFirstLastPara="0" vert="horz" wrap="square" lIns="0" tIns="0" rIns="0" bIns="0" numCol="1" spcCol="0" rtlCol="0" fromWordArt="0" anchor="b" anchorCtr="0" forceAA="0" compatLnSpc="1">
            <a:prstTxWarp prst="textNoShape">
              <a:avLst/>
            </a:prstTxWarp>
            <a:spAutoFit/>
          </a:bodyPr>
          <a:lstStyle>
            <a:lvl1pPr>
              <a:defRPr lang="en-US" sz="4800">
                <a:solidFill>
                  <a:schemeClr val="tx1"/>
                </a:solidFill>
                <a:cs typeface="Segoe Sans Display" pitchFamily="2" charset="0"/>
              </a:defRPr>
            </a:lvl1pPr>
          </a:lstStyle>
          <a:p>
            <a:pPr marL="0" lvl="0" defTabSz="914400">
              <a:spcBef>
                <a:spcPts val="0"/>
              </a:spcBef>
            </a:pPr>
            <a:r>
              <a:rPr lang="en-US"/>
              <a:t>Section title</a:t>
            </a:r>
          </a:p>
        </p:txBody>
      </p:sp>
    </p:spTree>
    <p:extLst>
      <p:ext uri="{BB962C8B-B14F-4D97-AF65-F5344CB8AC3E}">
        <p14:creationId xmlns:p14="http://schemas.microsoft.com/office/powerpoint/2010/main" val="10426200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662053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517495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943444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83362548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Blank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AAA697-5185-8D8E-1131-2DE887302287}"/>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5633485" y="3168835"/>
            <a:ext cx="6558514" cy="3689165"/>
          </a:xfrm>
          <a:prstGeom prst="rect">
            <a:avLst/>
          </a:prstGeom>
        </p:spPr>
      </p:pic>
    </p:spTree>
    <p:extLst>
      <p:ext uri="{BB962C8B-B14F-4D97-AF65-F5344CB8AC3E}">
        <p14:creationId xmlns:p14="http://schemas.microsoft.com/office/powerpoint/2010/main" val="30418878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6715644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_Custom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365760" y="365760"/>
            <a:ext cx="11430000" cy="591170"/>
          </a:xfrm>
        </p:spPr>
        <p:txBody>
          <a:bodyPr/>
          <a:lstStyle/>
          <a:p>
            <a:r>
              <a:rPr lang="en-US"/>
              <a:t>Click to edit Master title style</a:t>
            </a:r>
          </a:p>
        </p:txBody>
      </p:sp>
    </p:spTree>
    <p:extLst>
      <p:ext uri="{BB962C8B-B14F-4D97-AF65-F5344CB8AC3E}">
        <p14:creationId xmlns:p14="http://schemas.microsoft.com/office/powerpoint/2010/main" val="5899985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Title Only_Custom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274320" y="274320"/>
            <a:ext cx="11430000" cy="594360"/>
          </a:xfrm>
        </p:spPr>
        <p:txBody>
          <a:bodyPr/>
          <a:lstStyle/>
          <a:p>
            <a:r>
              <a:rPr lang="en-US"/>
              <a:t>Click to edit Master title style</a:t>
            </a:r>
          </a:p>
        </p:txBody>
      </p:sp>
    </p:spTree>
    <p:extLst>
      <p:ext uri="{BB962C8B-B14F-4D97-AF65-F5344CB8AC3E}">
        <p14:creationId xmlns:p14="http://schemas.microsoft.com/office/powerpoint/2010/main" val="14076847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nfrastructure Tit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4D96AF-2EF9-E5C5-A4DD-D79F160EEE11}"/>
              </a:ext>
            </a:extLst>
          </p:cNvPr>
          <p:cNvPicPr>
            <a:picLocks noChangeAspect="1"/>
          </p:cNvPicPr>
          <p:nvPr userDrawn="1"/>
        </p:nvPicPr>
        <p:blipFill>
          <a:blip r:embed="rId2"/>
          <a:stretch>
            <a:fillRect/>
          </a:stretch>
        </p:blipFill>
        <p:spPr>
          <a:xfrm>
            <a:off x="0" y="430"/>
            <a:ext cx="12192000" cy="6857143"/>
          </a:xfrm>
          <a:prstGeom prst="rect">
            <a:avLst/>
          </a:prstGeom>
        </p:spPr>
      </p:pic>
      <p:sp>
        <p:nvSpPr>
          <p:cNvPr id="8" name="Rectangle 7">
            <a:extLst>
              <a:ext uri="{FF2B5EF4-FFF2-40B4-BE49-F238E27FC236}">
                <a16:creationId xmlns:a16="http://schemas.microsoft.com/office/drawing/2014/main" id="{E1D3FFAE-3432-E667-03EC-A0D688E024C7}"/>
              </a:ext>
            </a:extLst>
          </p:cNvPr>
          <p:cNvSpPr/>
          <p:nvPr userDrawn="1"/>
        </p:nvSpPr>
        <p:spPr bwMode="auto">
          <a:xfrm>
            <a:off x="1" y="0"/>
            <a:ext cx="12188953" cy="6858000"/>
          </a:xfrm>
          <a:prstGeom prst="rect">
            <a:avLst/>
          </a:prstGeom>
          <a:gradFill flip="none" rotWithShape="1">
            <a:gsLst>
              <a:gs pos="100000">
                <a:srgbClr val="091F2C">
                  <a:alpha val="0"/>
                </a:srgbClr>
              </a:gs>
              <a:gs pos="0">
                <a:srgbClr val="091F2C"/>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49"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4AC74E13-DE2D-FA31-B1CC-E01C882FD955}"/>
              </a:ext>
            </a:extLst>
          </p:cNvPr>
          <p:cNvSpPr txBox="1"/>
          <p:nvPr userDrawn="1"/>
        </p:nvSpPr>
        <p:spPr>
          <a:xfrm>
            <a:off x="585216" y="6530694"/>
            <a:ext cx="2834640" cy="138499"/>
          </a:xfrm>
          <a:prstGeom prst="rect">
            <a:avLst/>
          </a:prstGeom>
          <a:noFill/>
        </p:spPr>
        <p:txBody>
          <a:bodyPr wrap="square" lIns="0" tIns="0" rIns="0" bIns="0">
            <a:spAutoFit/>
          </a:bodyPr>
          <a:lstStyle/>
          <a:p>
            <a:r>
              <a:rPr lang="en-US" sz="900" dirty="0">
                <a:solidFill>
                  <a:schemeClr val="tx1">
                    <a:lumMod val="65000"/>
                    <a:lumOff val="35000"/>
                  </a:schemeClr>
                </a:solidFill>
                <a:cs typeface="Calibri" panose="020F0502020204030204" pitchFamily="34" charset="0"/>
              </a:rPr>
              <a:t>©2025 Microsoft Corporation. All rights reserved.</a:t>
            </a:r>
          </a:p>
        </p:txBody>
      </p:sp>
      <p:pic>
        <p:nvPicPr>
          <p:cNvPr id="2" name="MS logo white - EMF" descr="Microsoft logo white text version">
            <a:extLst>
              <a:ext uri="{FF2B5EF4-FFF2-40B4-BE49-F238E27FC236}">
                <a16:creationId xmlns:a16="http://schemas.microsoft.com/office/drawing/2014/main" id="{5065E700-A41C-3351-1B5D-3C2FB17E823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15" name="Title 1">
            <a:extLst>
              <a:ext uri="{FF2B5EF4-FFF2-40B4-BE49-F238E27FC236}">
                <a16:creationId xmlns:a16="http://schemas.microsoft.com/office/drawing/2014/main" id="{86BA6F43-13AD-F3C1-A151-99F2367EE66D}"/>
              </a:ext>
            </a:extLst>
          </p:cNvPr>
          <p:cNvSpPr>
            <a:spLocks noGrp="1"/>
          </p:cNvSpPr>
          <p:nvPr>
            <p:ph type="title" hasCustomPrompt="1"/>
          </p:nvPr>
        </p:nvSpPr>
        <p:spPr>
          <a:xfrm>
            <a:off x="584201" y="2624097"/>
            <a:ext cx="9297307" cy="615553"/>
          </a:xfrm>
          <a:noFill/>
        </p:spPr>
        <p:txBody>
          <a:bodyPr wrap="square" lIns="0" tIns="0" rIns="0" bIns="0" anchor="b" anchorCtr="0">
            <a:spAutoFit/>
          </a:bodyPr>
          <a:lstStyle>
            <a:lvl1pPr>
              <a:defRPr sz="4000" spc="-51" baseline="0">
                <a:solidFill>
                  <a:schemeClr val="tx1"/>
                </a:solidFill>
                <a:latin typeface="+mj-lt"/>
                <a:cs typeface="Segoe Sans Display" pitchFamily="2" charset="0"/>
              </a:defRPr>
            </a:lvl1pPr>
          </a:lstStyle>
          <a:p>
            <a:r>
              <a:rPr lang="en-US"/>
              <a:t>Event name or presentation title </a:t>
            </a:r>
          </a:p>
        </p:txBody>
      </p:sp>
      <p:sp>
        <p:nvSpPr>
          <p:cNvPr id="16" name="Text Placeholder 4">
            <a:extLst>
              <a:ext uri="{FF2B5EF4-FFF2-40B4-BE49-F238E27FC236}">
                <a16:creationId xmlns:a16="http://schemas.microsoft.com/office/drawing/2014/main" id="{C2ACFA22-74F3-9C88-5CC5-BC477AB22720}"/>
              </a:ext>
            </a:extLst>
          </p:cNvPr>
          <p:cNvSpPr>
            <a:spLocks noGrp="1"/>
          </p:cNvSpPr>
          <p:nvPr>
            <p:ph type="body" sz="quarter" idx="12" hasCustomPrompt="1"/>
          </p:nvPr>
        </p:nvSpPr>
        <p:spPr>
          <a:xfrm>
            <a:off x="584201" y="3581570"/>
            <a:ext cx="9297307" cy="307777"/>
          </a:xfrm>
          <a:noFill/>
        </p:spPr>
        <p:txBody>
          <a:bodyPr wrap="square" lIns="0" tIns="0" rIns="0" bIns="0">
            <a:spAutoFit/>
          </a:bodyPr>
          <a:lstStyle>
            <a:lvl1pPr marL="0" marR="0" indent="0" algn="l" defTabSz="932719"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000" kern="1200" spc="0" baseline="0" dirty="0">
                <a:solidFill>
                  <a:schemeClr val="tx1"/>
                </a:solidFill>
                <a:latin typeface="+mn-lt"/>
                <a:ea typeface="+mn-ea"/>
                <a:cs typeface="Segoe Sans Display" pitchFamily="2" charset="0"/>
              </a:defRPr>
            </a:lvl1pPr>
          </a:lstStyle>
          <a:p>
            <a:pPr lvl="0"/>
            <a:r>
              <a:rPr lang="en-US"/>
              <a:t>Speaker name or subtitle text</a:t>
            </a:r>
          </a:p>
        </p:txBody>
      </p:sp>
      <p:sp>
        <p:nvSpPr>
          <p:cNvPr id="17" name="Rounded Rectangle 1">
            <a:extLst>
              <a:ext uri="{FF2B5EF4-FFF2-40B4-BE49-F238E27FC236}">
                <a16:creationId xmlns:a16="http://schemas.microsoft.com/office/drawing/2014/main" id="{274652DF-7BCD-8B80-F2FD-55B73857ECA7}"/>
              </a:ext>
            </a:extLst>
          </p:cNvPr>
          <p:cNvSpPr/>
          <p:nvPr userDrawn="1"/>
        </p:nvSpPr>
        <p:spPr bwMode="auto">
          <a:xfrm>
            <a:off x="577660" y="3379757"/>
            <a:ext cx="731520" cy="54864"/>
          </a:xfrm>
          <a:prstGeom prst="roundRect">
            <a:avLst>
              <a:gd name="adj" fmla="val 50000"/>
            </a:avLst>
          </a:prstGeom>
          <a:gradFill>
            <a:gsLst>
              <a:gs pos="0">
                <a:schemeClr val="accent1"/>
              </a:gs>
              <a:gs pos="100000">
                <a:schemeClr val="accent5"/>
              </a:gs>
            </a:gsLst>
            <a:lin ang="0" scaled="1"/>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4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6" name="Rounded Rectangle 1">
            <a:extLst>
              <a:ext uri="{FF2B5EF4-FFF2-40B4-BE49-F238E27FC236}">
                <a16:creationId xmlns:a16="http://schemas.microsoft.com/office/drawing/2014/main" id="{4B4B579E-E632-20F2-9CAC-4209E3821CFB}"/>
              </a:ext>
              <a:ext uri="{C183D7F6-B498-43B3-948B-1728B52AA6E4}">
                <adec:decorative xmlns:adec="http://schemas.microsoft.com/office/drawing/2017/decorative" val="0"/>
              </a:ext>
            </a:extLst>
          </p:cNvPr>
          <p:cNvSpPr/>
          <p:nvPr userDrawn="1"/>
        </p:nvSpPr>
        <p:spPr bwMode="auto">
          <a:xfrm>
            <a:off x="8568105" y="546315"/>
            <a:ext cx="3032911" cy="371555"/>
          </a:xfrm>
          <a:prstGeom prst="roundRect">
            <a:avLst>
              <a:gd name="adj" fmla="val 50000"/>
            </a:avLst>
          </a:prstGeom>
          <a:solidFill>
            <a:srgbClr val="091F2C"/>
          </a:solidFill>
          <a:ln w="25400">
            <a:solidFill>
              <a:schemeClr val="accent1"/>
            </a:solidFill>
          </a:ln>
        </p:spPr>
        <p:txBody>
          <a:bodyPr vert="horz" wrap="square" lIns="146304" tIns="0" rIns="146304" bIns="0" rtlCol="0" anchor="ctr" anchorCtr="0">
            <a:noAutofit/>
          </a:bodyPr>
          <a:lstStyle/>
          <a:p>
            <a:pPr algn="ctr" defTabSz="932719">
              <a:lnSpc>
                <a:spcPct val="93000"/>
              </a:lnSpc>
              <a:spcBef>
                <a:spcPct val="20000"/>
              </a:spcBef>
            </a:pPr>
            <a:r>
              <a:rPr kumimoji="0" lang="en-US" sz="1400" b="1" i="0" u="none" strike="noStrike" kern="1200" cap="none" spc="0" normalizeH="0" baseline="0" noProof="0" dirty="0">
                <a:ln>
                  <a:noFill/>
                </a:ln>
                <a:solidFill>
                  <a:srgbClr val="FFFFFF"/>
                </a:solidFill>
                <a:effectLst/>
                <a:uLnTx/>
                <a:uFillTx/>
                <a:latin typeface="Segoe Sans Text Semibold"/>
                <a:ea typeface="+mn-ea"/>
                <a:cs typeface="Segoe Sans Text Semibold"/>
              </a:rPr>
              <a:t>ISD CSA - </a:t>
            </a:r>
            <a:r>
              <a:rPr lang="en-US" sz="1400" b="1" dirty="0">
                <a:solidFill>
                  <a:srgbClr val="FFFFFF"/>
                </a:solidFill>
                <a:latin typeface="Segoe Sans Text Semibold"/>
                <a:cs typeface="Segoe Sans Text Semibold"/>
              </a:rPr>
              <a:t>Migrate &amp; Modernize</a:t>
            </a:r>
          </a:p>
        </p:txBody>
      </p:sp>
    </p:spTree>
    <p:extLst>
      <p:ext uri="{BB962C8B-B14F-4D97-AF65-F5344CB8AC3E}">
        <p14:creationId xmlns:p14="http://schemas.microsoft.com/office/powerpoint/2010/main" val="41002741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32">
          <p15:clr>
            <a:srgbClr val="5ACBF0"/>
          </p15:clr>
        </p15:guide>
        <p15:guide id="4" orient="horz"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nfrastructure 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3016CD-C0A9-5E1F-66BC-61A51BBB3091}"/>
              </a:ext>
            </a:extLst>
          </p:cNvPr>
          <p:cNvPicPr>
            <a:picLocks noChangeAspect="1"/>
          </p:cNvPicPr>
          <p:nvPr userDrawn="1"/>
        </p:nvPicPr>
        <p:blipFill>
          <a:blip r:embed="rId2"/>
          <a:stretch>
            <a:fillRect/>
          </a:stretch>
        </p:blipFill>
        <p:spPr>
          <a:xfrm>
            <a:off x="0" y="0"/>
            <a:ext cx="4053840" cy="6858000"/>
          </a:xfrm>
          <a:prstGeom prst="rect">
            <a:avLst/>
          </a:prstGeom>
        </p:spPr>
      </p:pic>
      <p:sp>
        <p:nvSpPr>
          <p:cNvPr id="7" name="Rectangle 6">
            <a:extLst>
              <a:ext uri="{FF2B5EF4-FFF2-40B4-BE49-F238E27FC236}">
                <a16:creationId xmlns:a16="http://schemas.microsoft.com/office/drawing/2014/main" id="{A99646AE-8471-CAF7-849B-19CB6F9886F0}"/>
              </a:ext>
            </a:extLst>
          </p:cNvPr>
          <p:cNvSpPr/>
          <p:nvPr userDrawn="1"/>
        </p:nvSpPr>
        <p:spPr bwMode="auto">
          <a:xfrm>
            <a:off x="1" y="0"/>
            <a:ext cx="4047068" cy="6858000"/>
          </a:xfrm>
          <a:prstGeom prst="rect">
            <a:avLst/>
          </a:prstGeom>
          <a:gradFill flip="none" rotWithShape="1">
            <a:gsLst>
              <a:gs pos="100000">
                <a:srgbClr val="091F2C">
                  <a:alpha val="0"/>
                </a:srgbClr>
              </a:gs>
              <a:gs pos="0">
                <a:srgbClr val="091F2C"/>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49"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9" name="Title 1">
            <a:extLst>
              <a:ext uri="{FF2B5EF4-FFF2-40B4-BE49-F238E27FC236}">
                <a16:creationId xmlns:a16="http://schemas.microsoft.com/office/drawing/2014/main" id="{EDE516D6-3EFC-C805-2440-B847DF0FDA0F}"/>
              </a:ext>
            </a:extLst>
          </p:cNvPr>
          <p:cNvSpPr>
            <a:spLocks noGrp="1"/>
          </p:cNvSpPr>
          <p:nvPr>
            <p:ph type="title" hasCustomPrompt="1"/>
          </p:nvPr>
        </p:nvSpPr>
        <p:spPr>
          <a:xfrm>
            <a:off x="585217" y="3046990"/>
            <a:ext cx="3461852" cy="498599"/>
          </a:xfrm>
          <a:noFill/>
        </p:spPr>
        <p:txBody>
          <a:bodyPr wrap="square" lIns="0" tIns="0" rIns="0" bIns="0" anchor="b" anchorCtr="0">
            <a:spAutoFit/>
          </a:bodyPr>
          <a:lstStyle>
            <a:lvl1pPr algn="l" defTabSz="932719" rtl="0" eaLnBrk="1" latinLnBrk="0" hangingPunct="1">
              <a:lnSpc>
                <a:spcPct val="90000"/>
              </a:lnSpc>
              <a:spcBef>
                <a:spcPct val="0"/>
              </a:spcBef>
              <a:buNone/>
              <a:defRPr lang="en-US" sz="3600" b="0" kern="1200" cap="none" spc="-51" baseline="0" dirty="0">
                <a:ln w="3175">
                  <a:noFill/>
                </a:ln>
                <a:solidFill>
                  <a:schemeClr val="bg1"/>
                </a:solidFill>
                <a:effectLst/>
                <a:latin typeface="+mj-lt"/>
                <a:ea typeface="+mn-ea"/>
                <a:cs typeface="Segoe Sans Display" pitchFamily="2" charset="0"/>
              </a:defRPr>
            </a:lvl1pPr>
          </a:lstStyle>
          <a:p>
            <a:r>
              <a:rPr lang="en-US"/>
              <a:t>Agenda</a:t>
            </a:r>
          </a:p>
        </p:txBody>
      </p:sp>
      <p:sp>
        <p:nvSpPr>
          <p:cNvPr id="2" name="Rounded Rectangle 1">
            <a:extLst>
              <a:ext uri="{FF2B5EF4-FFF2-40B4-BE49-F238E27FC236}">
                <a16:creationId xmlns:a16="http://schemas.microsoft.com/office/drawing/2014/main" id="{58F4A178-8533-2F54-BDFF-5314031C226E}"/>
              </a:ext>
            </a:extLst>
          </p:cNvPr>
          <p:cNvSpPr/>
          <p:nvPr userDrawn="1"/>
        </p:nvSpPr>
        <p:spPr bwMode="auto">
          <a:xfrm>
            <a:off x="577660" y="3703884"/>
            <a:ext cx="731520" cy="54864"/>
          </a:xfrm>
          <a:prstGeom prst="roundRect">
            <a:avLst>
              <a:gd name="adj" fmla="val 50000"/>
            </a:avLst>
          </a:prstGeom>
          <a:gradFill>
            <a:gsLst>
              <a:gs pos="0">
                <a:schemeClr val="accent1"/>
              </a:gs>
              <a:gs pos="100000">
                <a:schemeClr val="accent5"/>
              </a:gs>
            </a:gsLst>
            <a:lin ang="0" scaled="1"/>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4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4" name="Content Placeholder 12">
            <a:extLst>
              <a:ext uri="{FF2B5EF4-FFF2-40B4-BE49-F238E27FC236}">
                <a16:creationId xmlns:a16="http://schemas.microsoft.com/office/drawing/2014/main" id="{2CD029DD-21C8-556B-33E1-1E6B22334B46}"/>
              </a:ext>
            </a:extLst>
          </p:cNvPr>
          <p:cNvSpPr>
            <a:spLocks noGrp="1"/>
          </p:cNvSpPr>
          <p:nvPr>
            <p:ph sz="quarter" idx="10"/>
          </p:nvPr>
        </p:nvSpPr>
        <p:spPr>
          <a:xfrm>
            <a:off x="4564381" y="2727270"/>
            <a:ext cx="7353300" cy="14034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669657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7741664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frastructure Section Divider">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414686-BB7F-07D0-82A6-7DD4B44C184A}"/>
              </a:ext>
            </a:extLst>
          </p:cNvPr>
          <p:cNvPicPr>
            <a:picLocks noChangeAspect="1"/>
          </p:cNvPicPr>
          <p:nvPr userDrawn="1"/>
        </p:nvPicPr>
        <p:blipFill>
          <a:blip r:embed="rId2"/>
          <a:stretch>
            <a:fillRect/>
          </a:stretch>
        </p:blipFill>
        <p:spPr>
          <a:xfrm>
            <a:off x="0" y="430"/>
            <a:ext cx="12192000" cy="6857143"/>
          </a:xfrm>
          <a:prstGeom prst="rect">
            <a:avLst/>
          </a:prstGeom>
        </p:spPr>
      </p:pic>
      <p:sp>
        <p:nvSpPr>
          <p:cNvPr id="6" name="Rectangle 5">
            <a:extLst>
              <a:ext uri="{FF2B5EF4-FFF2-40B4-BE49-F238E27FC236}">
                <a16:creationId xmlns:a16="http://schemas.microsoft.com/office/drawing/2014/main" id="{345B0AC3-8386-7EFA-0D14-F68D88F5A85F}"/>
              </a:ext>
            </a:extLst>
          </p:cNvPr>
          <p:cNvSpPr/>
          <p:nvPr userDrawn="1"/>
        </p:nvSpPr>
        <p:spPr bwMode="auto">
          <a:xfrm>
            <a:off x="397565" y="1828801"/>
            <a:ext cx="11393043" cy="1995777"/>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49"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7" y="2046127"/>
            <a:ext cx="10989319" cy="609399"/>
          </a:xfrm>
          <a:noFill/>
        </p:spPr>
        <p:txBody>
          <a:bodyPr wrap="square" lIns="0" tIns="0" rIns="0" bIns="0" anchor="b" anchorCtr="0">
            <a:spAutoFit/>
          </a:bodyPr>
          <a:lstStyle>
            <a:lvl1pPr algn="l" defTabSz="932719" rtl="0" eaLnBrk="1" latinLnBrk="0" hangingPunct="1">
              <a:lnSpc>
                <a:spcPct val="90000"/>
              </a:lnSpc>
              <a:spcBef>
                <a:spcPct val="0"/>
              </a:spcBef>
              <a:buNone/>
              <a:defRPr lang="en-US" sz="4400" b="0" kern="1200" cap="none" spc="-51"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TextBox 3">
            <a:extLst>
              <a:ext uri="{FF2B5EF4-FFF2-40B4-BE49-F238E27FC236}">
                <a16:creationId xmlns:a16="http://schemas.microsoft.com/office/drawing/2014/main" id="{587F9831-1F3A-6675-39E5-72251D2D3B75}"/>
              </a:ext>
            </a:extLst>
          </p:cNvPr>
          <p:cNvSpPr txBox="1"/>
          <p:nvPr userDrawn="1"/>
        </p:nvSpPr>
        <p:spPr>
          <a:xfrm>
            <a:off x="585216" y="6530694"/>
            <a:ext cx="2834640" cy="138499"/>
          </a:xfrm>
          <a:prstGeom prst="rect">
            <a:avLst/>
          </a:prstGeom>
          <a:noFill/>
        </p:spPr>
        <p:txBody>
          <a:bodyPr wrap="square" lIns="0" tIns="0" rIns="0" bIns="0">
            <a:spAutoFit/>
          </a:bodyPr>
          <a:lstStyle>
            <a:defPPr>
              <a:defRPr lang="en-CH"/>
            </a:defPPr>
            <a:lvl1pPr>
              <a:defRPr sz="900">
                <a:solidFill>
                  <a:srgbClr val="000000">
                    <a:lumMod val="65000"/>
                    <a:lumOff val="35000"/>
                  </a:srgbClr>
                </a:solidFill>
                <a:cs typeface="Calibri" panose="020F0502020204030204" pitchFamily="34" charset="0"/>
              </a:defRPr>
            </a:lvl1pPr>
          </a:lstStyle>
          <a:p>
            <a:pPr lvl="0"/>
            <a:r>
              <a:rPr lang="en-US" sz="900" dirty="0">
                <a:solidFill>
                  <a:schemeClr val="tx1"/>
                </a:solidFill>
              </a:rPr>
              <a:t>©2025 Microsoft Corporation. All rights reserved.</a:t>
            </a:r>
          </a:p>
        </p:txBody>
      </p:sp>
      <p:sp>
        <p:nvSpPr>
          <p:cNvPr id="5" name="Rounded Rectangle 1">
            <a:extLst>
              <a:ext uri="{FF2B5EF4-FFF2-40B4-BE49-F238E27FC236}">
                <a16:creationId xmlns:a16="http://schemas.microsoft.com/office/drawing/2014/main" id="{12EBD977-6FDE-B183-0259-A81FA8660504}"/>
              </a:ext>
            </a:extLst>
          </p:cNvPr>
          <p:cNvSpPr/>
          <p:nvPr userDrawn="1"/>
        </p:nvSpPr>
        <p:spPr bwMode="auto">
          <a:xfrm>
            <a:off x="577660" y="3703884"/>
            <a:ext cx="731520" cy="54864"/>
          </a:xfrm>
          <a:prstGeom prst="roundRect">
            <a:avLst>
              <a:gd name="adj" fmla="val 50000"/>
            </a:avLst>
          </a:prstGeom>
          <a:gradFill>
            <a:gsLst>
              <a:gs pos="0">
                <a:schemeClr val="accent1"/>
              </a:gs>
              <a:gs pos="100000">
                <a:schemeClr val="accent5"/>
              </a:gs>
            </a:gsLst>
            <a:lin ang="0" scaled="1"/>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4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2" name="Rounded Rectangle 1">
            <a:extLst>
              <a:ext uri="{FF2B5EF4-FFF2-40B4-BE49-F238E27FC236}">
                <a16:creationId xmlns:a16="http://schemas.microsoft.com/office/drawing/2014/main" id="{E3BF8E1D-20C2-6E2C-4910-91576BAA1886}"/>
              </a:ext>
              <a:ext uri="{C183D7F6-B498-43B3-948B-1728B52AA6E4}">
                <adec:decorative xmlns:adec="http://schemas.microsoft.com/office/drawing/2017/decorative" val="0"/>
              </a:ext>
            </a:extLst>
          </p:cNvPr>
          <p:cNvSpPr/>
          <p:nvPr userDrawn="1"/>
        </p:nvSpPr>
        <p:spPr bwMode="auto">
          <a:xfrm>
            <a:off x="8568105" y="546315"/>
            <a:ext cx="3032911" cy="371555"/>
          </a:xfrm>
          <a:prstGeom prst="roundRect">
            <a:avLst>
              <a:gd name="adj" fmla="val 50000"/>
            </a:avLst>
          </a:prstGeom>
          <a:solidFill>
            <a:srgbClr val="091F2C"/>
          </a:solidFill>
          <a:ln w="25400">
            <a:solidFill>
              <a:schemeClr val="accent1"/>
            </a:solidFill>
          </a:ln>
        </p:spPr>
        <p:txBody>
          <a:bodyPr vert="horz" wrap="square" lIns="146304" tIns="0" rIns="146304" bIns="0" rtlCol="0" anchor="ctr" anchorCtr="0">
            <a:noAutofit/>
          </a:bodyPr>
          <a:lstStyle/>
          <a:p>
            <a:pPr algn="ctr" defTabSz="932719">
              <a:lnSpc>
                <a:spcPct val="93000"/>
              </a:lnSpc>
              <a:spcBef>
                <a:spcPct val="20000"/>
              </a:spcBef>
            </a:pPr>
            <a:r>
              <a:rPr kumimoji="0" lang="en-US" sz="1400" b="1" i="0" u="none" strike="noStrike" kern="1200" cap="none" spc="0" normalizeH="0" baseline="0" noProof="0" dirty="0">
                <a:ln>
                  <a:noFill/>
                </a:ln>
                <a:solidFill>
                  <a:srgbClr val="FFFFFF"/>
                </a:solidFill>
                <a:effectLst/>
                <a:uLnTx/>
                <a:uFillTx/>
                <a:latin typeface="Segoe Sans Text Semibold"/>
                <a:ea typeface="+mn-ea"/>
                <a:cs typeface="Segoe Sans Text Semibold"/>
              </a:rPr>
              <a:t>ISD CSA - </a:t>
            </a:r>
            <a:r>
              <a:rPr lang="en-US" sz="1400" b="1" dirty="0">
                <a:solidFill>
                  <a:srgbClr val="FFFFFF"/>
                </a:solidFill>
                <a:latin typeface="Segoe Sans Text Semibold"/>
                <a:cs typeface="Segoe Sans Text Semibold"/>
              </a:rPr>
              <a:t>Migrate &amp; Modernize</a:t>
            </a:r>
          </a:p>
        </p:txBody>
      </p:sp>
      <p:sp>
        <p:nvSpPr>
          <p:cNvPr id="7" name="TextBox 6">
            <a:extLst>
              <a:ext uri="{FF2B5EF4-FFF2-40B4-BE49-F238E27FC236}">
                <a16:creationId xmlns:a16="http://schemas.microsoft.com/office/drawing/2014/main" id="{85D675D1-4955-5BFB-AF50-E007227488BA}"/>
              </a:ext>
            </a:extLst>
          </p:cNvPr>
          <p:cNvSpPr txBox="1"/>
          <p:nvPr userDrawn="1"/>
        </p:nvSpPr>
        <p:spPr>
          <a:xfrm>
            <a:off x="585216" y="3193962"/>
            <a:ext cx="10546611" cy="430887"/>
          </a:xfrm>
          <a:prstGeom prst="rect">
            <a:avLst/>
          </a:prstGeom>
          <a:noFill/>
        </p:spPr>
        <p:txBody>
          <a:bodyPr wrap="square" lIns="0" tIns="0" rIns="0" bIns="0" rtlCol="0">
            <a:spAutoFit/>
          </a:bodyPr>
          <a:lstStyle/>
          <a:p>
            <a:pPr algn="l"/>
            <a:endParaRPr lang="en-US" sz="2800" dirty="0"/>
          </a:p>
        </p:txBody>
      </p:sp>
      <p:sp>
        <p:nvSpPr>
          <p:cNvPr id="10" name="Text Placeholder 9">
            <a:extLst>
              <a:ext uri="{FF2B5EF4-FFF2-40B4-BE49-F238E27FC236}">
                <a16:creationId xmlns:a16="http://schemas.microsoft.com/office/drawing/2014/main" id="{0AFF68E1-2F31-C29A-2A59-D4B5692EE411}"/>
              </a:ext>
            </a:extLst>
          </p:cNvPr>
          <p:cNvSpPr>
            <a:spLocks noGrp="1"/>
          </p:cNvSpPr>
          <p:nvPr>
            <p:ph type="body" sz="quarter" idx="10"/>
          </p:nvPr>
        </p:nvSpPr>
        <p:spPr>
          <a:xfrm>
            <a:off x="585789" y="3185054"/>
            <a:ext cx="11015663" cy="369332"/>
          </a:xfrm>
        </p:spPr>
        <p:txBody>
          <a:bodyPr anchor="b"/>
          <a:lstStyle>
            <a:lvl1pPr>
              <a:buNone/>
              <a:defRPr>
                <a:solidFill>
                  <a:schemeClr val="tx1"/>
                </a:solidFill>
              </a:defRPr>
            </a:lvl1pPr>
            <a:lvl2pPr>
              <a:buNone/>
              <a:defRPr/>
            </a:lvl2pPr>
          </a:lstStyle>
          <a:p>
            <a:pPr lvl="0"/>
            <a:r>
              <a:rPr lang="en-US"/>
              <a:t>Click to edit Master text styles</a:t>
            </a:r>
          </a:p>
        </p:txBody>
      </p:sp>
    </p:spTree>
    <p:extLst>
      <p:ext uri="{BB962C8B-B14F-4D97-AF65-F5344CB8AC3E}">
        <p14:creationId xmlns:p14="http://schemas.microsoft.com/office/powerpoint/2010/main" val="249948620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bg1"/>
                </a:solidFill>
                <a:latin typeface="+mj-lt"/>
              </a:rPr>
              <a:t>Microsoft Azure</a:t>
            </a:r>
          </a:p>
        </p:txBody>
      </p:sp>
    </p:spTree>
    <p:extLst>
      <p:ext uri="{BB962C8B-B14F-4D97-AF65-F5344CB8AC3E}">
        <p14:creationId xmlns:p14="http://schemas.microsoft.com/office/powerpoint/2010/main" val="260310414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tx1"/>
                </a:solidFill>
                <a:latin typeface="+mj-lt"/>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1904616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113548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5991175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349282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colorful cubes on a white background&#10;&#10;AI-generated content may be incorrect.">
            <a:extLst>
              <a:ext uri="{FF2B5EF4-FFF2-40B4-BE49-F238E27FC236}">
                <a16:creationId xmlns:a16="http://schemas.microsoft.com/office/drawing/2014/main" id="{2BCD1CEE-EED0-B3CE-8E1A-6079D1ED3403}"/>
              </a:ext>
            </a:extLst>
          </p:cNvPr>
          <p:cNvPicPr>
            <a:picLocks noChangeAspect="1"/>
          </p:cNvPicPr>
          <p:nvPr userDrawn="1"/>
        </p:nvPicPr>
        <p:blipFill>
          <a:blip r:embed="rId3"/>
          <a:stretch>
            <a:fillRect/>
          </a:stretch>
        </p:blipFill>
        <p:spPr>
          <a:xfrm>
            <a:off x="0" y="0"/>
            <a:ext cx="12191999" cy="6858000"/>
          </a:xfrm>
          <a:prstGeom prst="rect">
            <a:avLst/>
          </a:prstGeom>
        </p:spPr>
      </p:pic>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gray - EMF" descr="Microsoft logo, gray text version">
            <a:extLst>
              <a:ext uri="{FF2B5EF4-FFF2-40B4-BE49-F238E27FC236}">
                <a16:creationId xmlns:a16="http://schemas.microsoft.com/office/drawing/2014/main" id="{9F5A1027-EC57-6A9D-6F1E-A749BC5F2D89}"/>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5713219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034531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820774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2019306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256308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Title Slide 3">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298276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7069121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2529376512"/>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1073750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3661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885599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o backgound - 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84200" y="426363"/>
            <a:ext cx="11023600" cy="492443"/>
          </a:xfrm>
        </p:spPr>
        <p:txBody>
          <a:bodyPr>
            <a:noAutofit/>
          </a:bodyPr>
          <a:lstStyle>
            <a:lvl1pPr marL="0" algn="l" defTabSz="932742" rtl="0" eaLnBrk="1" latinLnBrk="0" hangingPunct="1">
              <a:lnSpc>
                <a:spcPct val="100000"/>
              </a:lnSpc>
              <a:spcBef>
                <a:spcPts val="1800"/>
              </a:spcBef>
              <a:buSzPct val="90000"/>
              <a:buFont typeface="Wingdings" panose="05000000000000000000" pitchFamily="2" charset="2"/>
              <a:buNone/>
              <a:defRPr lang="en-US" sz="3200" b="0" kern="1200" cap="none" spc="-50" baseline="0" dirty="0">
                <a:ln w="3175">
                  <a:noFill/>
                </a:ln>
                <a:gradFill flip="none" rotWithShape="1">
                  <a:gsLst>
                    <a:gs pos="0">
                      <a:srgbClr val="3948C6"/>
                    </a:gs>
                    <a:gs pos="100000">
                      <a:srgbClr val="E35BAD"/>
                    </a:gs>
                    <a:gs pos="74000">
                      <a:srgbClr val="DF4DD7"/>
                    </a:gs>
                  </a:gsLst>
                  <a:lin ang="0" scaled="1"/>
                  <a:tileRect/>
                </a:gradFill>
                <a:effectLst/>
                <a:latin typeface="+mj-lt"/>
                <a:ea typeface="+mj-ea"/>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4176655523"/>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6331798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Sans Display Semibold" pitchFamily="2" charset="0"/>
                <a:ea typeface="+mn-ea"/>
                <a:cs typeface="+mn-cs"/>
              </a:rPr>
              <a:t>Microsoft Azure</a:t>
            </a:r>
          </a:p>
        </p:txBody>
      </p:sp>
    </p:spTree>
    <p:extLst>
      <p:ext uri="{BB962C8B-B14F-4D97-AF65-F5344CB8AC3E}">
        <p14:creationId xmlns:p14="http://schemas.microsoft.com/office/powerpoint/2010/main" val="1567675691"/>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841172"/>
            <a:ext cx="3790950" cy="1495794"/>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000000"/>
                </a:solidFill>
                <a:effectLst/>
                <a:uLnTx/>
                <a:uFillTx/>
                <a:latin typeface="Segoe Sans Display Semibold" pitchFamily="2" charset="0"/>
                <a:ea typeface="+mn-ea"/>
                <a:cs typeface="+mn-cs"/>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89313895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944770"/>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249787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730626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colorful cubes on a white background&#10;&#10;AI-generated content may be incorrect.">
            <a:extLst>
              <a:ext uri="{FF2B5EF4-FFF2-40B4-BE49-F238E27FC236}">
                <a16:creationId xmlns:a16="http://schemas.microsoft.com/office/drawing/2014/main" id="{2BCD1CEE-EED0-B3CE-8E1A-6079D1ED3403}"/>
              </a:ext>
            </a:extLst>
          </p:cNvPr>
          <p:cNvPicPr>
            <a:picLocks noChangeAspect="1"/>
          </p:cNvPicPr>
          <p:nvPr userDrawn="1"/>
        </p:nvPicPr>
        <p:blipFill>
          <a:blip r:embed="rId3"/>
          <a:stretch>
            <a:fillRect/>
          </a:stretch>
        </p:blipFill>
        <p:spPr>
          <a:xfrm>
            <a:off x="0" y="0"/>
            <a:ext cx="12191999" cy="6858000"/>
          </a:xfrm>
          <a:prstGeom prst="rect">
            <a:avLst/>
          </a:prstGeom>
        </p:spPr>
      </p:pic>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7" name="MS logo gray - EMF" descr="Microsoft logo, gray text version">
            <a:extLst>
              <a:ext uri="{FF2B5EF4-FFF2-40B4-BE49-F238E27FC236}">
                <a16:creationId xmlns:a16="http://schemas.microsoft.com/office/drawing/2014/main" id="{9F5A1027-EC57-6A9D-6F1E-A749BC5F2D89}"/>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3198105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Sans Text" pitchFamily="2" charset="0"/>
              </a:defRPr>
            </a:lvl1pPr>
          </a:lstStyle>
          <a:p>
            <a:pPr lvl="0"/>
            <a:r>
              <a:rPr lang="en-US"/>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972788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401225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4269597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8544659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Title Slide 3">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3940320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78410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Segoe Sans Display Semibold" pitchFamily="2" charset="0"/>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Segoe Sans Display Semibold" pitchFamily="2" charset="0"/>
              </a:defRPr>
            </a:lvl1pPr>
          </a:lstStyle>
          <a:p>
            <a:pPr lvl="0"/>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Segoe Sans Display Semibold" pitchFamily="2" charset="0"/>
              </a:defRPr>
            </a:lvl1pPr>
          </a:lstStyle>
          <a:p>
            <a:pPr lvl="0"/>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Segoe Sans Display Semibold" pitchFamily="2" charset="0"/>
              </a:defRPr>
            </a:lvl1pPr>
          </a:lstStyle>
          <a:p>
            <a:pPr lvl="0"/>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1482090697"/>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3A3A3"/>
                </a:solidFill>
                <a:effectLst/>
                <a:uLnTx/>
                <a:uFillTx/>
                <a:latin typeface="Segoe Sans Text"/>
                <a:ea typeface="+mn-ea"/>
                <a:cs typeface="+mn-cs"/>
              </a:rPr>
              <a:t>ELT layout</a:t>
            </a:r>
          </a:p>
        </p:txBody>
      </p:sp>
    </p:spTree>
    <p:extLst>
      <p:ext uri="{BB962C8B-B14F-4D97-AF65-F5344CB8AC3E}">
        <p14:creationId xmlns:p14="http://schemas.microsoft.com/office/powerpoint/2010/main" val="225510982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78379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544604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2"/>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7" name="MS logo gray - EMF" descr="Microsoft logo, gray text version">
            <a:extLst>
              <a:ext uri="{FF2B5EF4-FFF2-40B4-BE49-F238E27FC236}">
                <a16:creationId xmlns:a16="http://schemas.microsoft.com/office/drawing/2014/main" id="{9F5A1027-EC57-6A9D-6F1E-A749BC5F2D8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922015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2471013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3821039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30184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6498017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Segoe Sans Display Semibold" pitchFamily="2" charset="0"/>
                <a:cs typeface="Segoe Sans Text" pitchFamily="2" charset="0"/>
              </a:defRPr>
            </a:lvl1pPr>
          </a:lstStyle>
          <a:p>
            <a:r>
              <a:rPr lang="en-US"/>
              <a:t>Click to edit Master title style</a:t>
            </a:r>
          </a:p>
        </p:txBody>
      </p:sp>
    </p:spTree>
    <p:extLst>
      <p:ext uri="{BB962C8B-B14F-4D97-AF65-F5344CB8AC3E}">
        <p14:creationId xmlns:p14="http://schemas.microsoft.com/office/powerpoint/2010/main" val="20424112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020912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6721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30887"/>
          </a:xfrm>
        </p:spPr>
        <p:txBody>
          <a:bodyPr/>
          <a:lstStyle>
            <a:lvl1pPr>
              <a:defRPr sz="2800">
                <a:solidFill>
                  <a:schemeClr val="accent2"/>
                </a:solidFill>
              </a:defRPr>
            </a:lvl1pPr>
          </a:lstStyle>
          <a:p>
            <a:r>
              <a:rPr lang="en-US"/>
              <a:t>Click to edit Master title style</a:t>
            </a:r>
          </a:p>
        </p:txBody>
      </p:sp>
    </p:spTree>
    <p:extLst>
      <p:ext uri="{BB962C8B-B14F-4D97-AF65-F5344CB8AC3E}">
        <p14:creationId xmlns:p14="http://schemas.microsoft.com/office/powerpoint/2010/main" val="409560124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Infrastructure Tit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4D96AF-2EF9-E5C5-A4DD-D79F160EEE11}"/>
              </a:ext>
            </a:extLst>
          </p:cNvPr>
          <p:cNvPicPr>
            <a:picLocks noChangeAspect="1"/>
          </p:cNvPicPr>
          <p:nvPr userDrawn="1"/>
        </p:nvPicPr>
        <p:blipFill>
          <a:blip r:embed="rId2"/>
          <a:stretch>
            <a:fillRect/>
          </a:stretch>
        </p:blipFill>
        <p:spPr>
          <a:xfrm>
            <a:off x="0" y="430"/>
            <a:ext cx="12192000" cy="6857143"/>
          </a:xfrm>
          <a:prstGeom prst="rect">
            <a:avLst/>
          </a:prstGeom>
        </p:spPr>
      </p:pic>
      <p:sp>
        <p:nvSpPr>
          <p:cNvPr id="8" name="Rectangle 7">
            <a:extLst>
              <a:ext uri="{FF2B5EF4-FFF2-40B4-BE49-F238E27FC236}">
                <a16:creationId xmlns:a16="http://schemas.microsoft.com/office/drawing/2014/main" id="{E1D3FFAE-3432-E667-03EC-A0D688E024C7}"/>
              </a:ext>
            </a:extLst>
          </p:cNvPr>
          <p:cNvSpPr/>
          <p:nvPr userDrawn="1"/>
        </p:nvSpPr>
        <p:spPr bwMode="auto">
          <a:xfrm>
            <a:off x="1" y="0"/>
            <a:ext cx="12188953" cy="6858000"/>
          </a:xfrm>
          <a:prstGeom prst="rect">
            <a:avLst/>
          </a:prstGeom>
          <a:gradFill flip="none" rotWithShape="1">
            <a:gsLst>
              <a:gs pos="100000">
                <a:srgbClr val="091F2C">
                  <a:alpha val="0"/>
                </a:srgbClr>
              </a:gs>
              <a:gs pos="0">
                <a:srgbClr val="091F2C"/>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49"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4AC74E13-DE2D-FA31-B1CC-E01C882FD955}"/>
              </a:ext>
            </a:extLst>
          </p:cNvPr>
          <p:cNvSpPr txBox="1"/>
          <p:nvPr userDrawn="1"/>
        </p:nvSpPr>
        <p:spPr>
          <a:xfrm>
            <a:off x="585216" y="6530694"/>
            <a:ext cx="2834640" cy="138499"/>
          </a:xfrm>
          <a:prstGeom prst="rect">
            <a:avLst/>
          </a:prstGeom>
          <a:noFill/>
        </p:spPr>
        <p:txBody>
          <a:bodyPr wrap="square" lIns="0" tIns="0" rIns="0" bIns="0">
            <a:spAutoFit/>
          </a:bodyPr>
          <a:lstStyle/>
          <a:p>
            <a:r>
              <a:rPr lang="en-US" sz="900">
                <a:solidFill>
                  <a:schemeClr val="tx1">
                    <a:lumMod val="65000"/>
                    <a:lumOff val="35000"/>
                  </a:schemeClr>
                </a:solidFill>
                <a:cs typeface="Calibri" panose="020F0502020204030204" pitchFamily="34" charset="0"/>
              </a:rPr>
              <a:t>©2025 Microsoft Corporation. All rights reserved.</a:t>
            </a:r>
          </a:p>
        </p:txBody>
      </p:sp>
      <p:pic>
        <p:nvPicPr>
          <p:cNvPr id="2" name="MS logo white - EMF" descr="Microsoft logo white text version">
            <a:extLst>
              <a:ext uri="{FF2B5EF4-FFF2-40B4-BE49-F238E27FC236}">
                <a16:creationId xmlns:a16="http://schemas.microsoft.com/office/drawing/2014/main" id="{5065E700-A41C-3351-1B5D-3C2FB17E823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15" name="Title 1">
            <a:extLst>
              <a:ext uri="{FF2B5EF4-FFF2-40B4-BE49-F238E27FC236}">
                <a16:creationId xmlns:a16="http://schemas.microsoft.com/office/drawing/2014/main" id="{86BA6F43-13AD-F3C1-A151-99F2367EE66D}"/>
              </a:ext>
            </a:extLst>
          </p:cNvPr>
          <p:cNvSpPr>
            <a:spLocks noGrp="1"/>
          </p:cNvSpPr>
          <p:nvPr>
            <p:ph type="title" hasCustomPrompt="1"/>
          </p:nvPr>
        </p:nvSpPr>
        <p:spPr>
          <a:xfrm>
            <a:off x="584201" y="2624097"/>
            <a:ext cx="9297307" cy="615553"/>
          </a:xfrm>
          <a:noFill/>
        </p:spPr>
        <p:txBody>
          <a:bodyPr wrap="square" lIns="0" tIns="0" rIns="0" bIns="0" anchor="b" anchorCtr="0">
            <a:spAutoFit/>
          </a:bodyPr>
          <a:lstStyle>
            <a:lvl1pPr>
              <a:defRPr sz="4000" spc="-51" baseline="0">
                <a:solidFill>
                  <a:schemeClr val="tx1"/>
                </a:solidFill>
                <a:latin typeface="+mj-lt"/>
                <a:cs typeface="Segoe Sans Display" pitchFamily="2" charset="0"/>
              </a:defRPr>
            </a:lvl1pPr>
          </a:lstStyle>
          <a:p>
            <a:r>
              <a:rPr lang="en-US"/>
              <a:t>Event name or presentation title </a:t>
            </a:r>
          </a:p>
        </p:txBody>
      </p:sp>
      <p:sp>
        <p:nvSpPr>
          <p:cNvPr id="16" name="Text Placeholder 4">
            <a:extLst>
              <a:ext uri="{FF2B5EF4-FFF2-40B4-BE49-F238E27FC236}">
                <a16:creationId xmlns:a16="http://schemas.microsoft.com/office/drawing/2014/main" id="{C2ACFA22-74F3-9C88-5CC5-BC477AB22720}"/>
              </a:ext>
            </a:extLst>
          </p:cNvPr>
          <p:cNvSpPr>
            <a:spLocks noGrp="1"/>
          </p:cNvSpPr>
          <p:nvPr>
            <p:ph type="body" sz="quarter" idx="12" hasCustomPrompt="1"/>
          </p:nvPr>
        </p:nvSpPr>
        <p:spPr>
          <a:xfrm>
            <a:off x="584201" y="3581570"/>
            <a:ext cx="9297307" cy="307777"/>
          </a:xfrm>
          <a:noFill/>
        </p:spPr>
        <p:txBody>
          <a:bodyPr wrap="square" lIns="0" tIns="0" rIns="0" bIns="0">
            <a:spAutoFit/>
          </a:bodyPr>
          <a:lstStyle>
            <a:lvl1pPr marL="0" marR="0" indent="0" algn="l" defTabSz="932719"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000" kern="1200" spc="0" baseline="0" dirty="0">
                <a:solidFill>
                  <a:schemeClr val="tx1"/>
                </a:solidFill>
                <a:latin typeface="+mn-lt"/>
                <a:ea typeface="+mn-ea"/>
                <a:cs typeface="Segoe Sans Display" pitchFamily="2" charset="0"/>
              </a:defRPr>
            </a:lvl1pPr>
          </a:lstStyle>
          <a:p>
            <a:pPr lvl="0"/>
            <a:r>
              <a:rPr lang="en-US"/>
              <a:t>Speaker name or subtitle text</a:t>
            </a:r>
          </a:p>
        </p:txBody>
      </p:sp>
      <p:sp>
        <p:nvSpPr>
          <p:cNvPr id="17" name="Rounded Rectangle 1">
            <a:extLst>
              <a:ext uri="{FF2B5EF4-FFF2-40B4-BE49-F238E27FC236}">
                <a16:creationId xmlns:a16="http://schemas.microsoft.com/office/drawing/2014/main" id="{274652DF-7BCD-8B80-F2FD-55B73857ECA7}"/>
              </a:ext>
            </a:extLst>
          </p:cNvPr>
          <p:cNvSpPr/>
          <p:nvPr userDrawn="1"/>
        </p:nvSpPr>
        <p:spPr bwMode="auto">
          <a:xfrm>
            <a:off x="577660" y="3379757"/>
            <a:ext cx="731520" cy="54864"/>
          </a:xfrm>
          <a:prstGeom prst="roundRect">
            <a:avLst>
              <a:gd name="adj" fmla="val 50000"/>
            </a:avLst>
          </a:prstGeom>
          <a:gradFill>
            <a:gsLst>
              <a:gs pos="0">
                <a:schemeClr val="accent1"/>
              </a:gs>
              <a:gs pos="100000">
                <a:schemeClr val="accent5"/>
              </a:gs>
            </a:gsLst>
            <a:lin ang="0" scaled="1"/>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4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6" name="Rounded Rectangle 1">
            <a:extLst>
              <a:ext uri="{FF2B5EF4-FFF2-40B4-BE49-F238E27FC236}">
                <a16:creationId xmlns:a16="http://schemas.microsoft.com/office/drawing/2014/main" id="{4B4B579E-E632-20F2-9CAC-4209E3821CFB}"/>
              </a:ext>
              <a:ext uri="{C183D7F6-B498-43B3-948B-1728B52AA6E4}">
                <adec:decorative xmlns:adec="http://schemas.microsoft.com/office/drawing/2017/decorative" val="0"/>
              </a:ext>
            </a:extLst>
          </p:cNvPr>
          <p:cNvSpPr/>
          <p:nvPr userDrawn="1"/>
        </p:nvSpPr>
        <p:spPr bwMode="auto">
          <a:xfrm>
            <a:off x="8568105" y="546315"/>
            <a:ext cx="3032911" cy="371555"/>
          </a:xfrm>
          <a:prstGeom prst="roundRect">
            <a:avLst>
              <a:gd name="adj" fmla="val 50000"/>
            </a:avLst>
          </a:prstGeom>
          <a:solidFill>
            <a:srgbClr val="091F2C"/>
          </a:solidFill>
          <a:ln w="25400">
            <a:solidFill>
              <a:schemeClr val="accent1"/>
            </a:solidFill>
          </a:ln>
        </p:spPr>
        <p:txBody>
          <a:bodyPr vert="horz" wrap="square" lIns="146304" tIns="0" rIns="146304" bIns="0" rtlCol="0" anchor="ctr" anchorCtr="0">
            <a:noAutofit/>
          </a:bodyPr>
          <a:lstStyle/>
          <a:p>
            <a:pPr algn="ctr" defTabSz="932719">
              <a:lnSpc>
                <a:spcPct val="93000"/>
              </a:lnSpc>
              <a:spcBef>
                <a:spcPct val="20000"/>
              </a:spcBef>
            </a:pPr>
            <a:r>
              <a:rPr kumimoji="0" lang="en-US" sz="1400" b="1" i="0" u="none" strike="noStrike" kern="1200" cap="none" spc="0" normalizeH="0" baseline="0" noProof="0">
                <a:ln>
                  <a:noFill/>
                </a:ln>
                <a:solidFill>
                  <a:srgbClr val="FFFFFF"/>
                </a:solidFill>
                <a:effectLst/>
                <a:uLnTx/>
                <a:uFillTx/>
                <a:latin typeface="Segoe Sans Text Semibold"/>
                <a:ea typeface="+mn-ea"/>
                <a:cs typeface="Segoe Sans Text Semibold"/>
              </a:rPr>
              <a:t>ISD CSA - </a:t>
            </a:r>
            <a:r>
              <a:rPr lang="en-US" sz="1400" b="1">
                <a:solidFill>
                  <a:srgbClr val="FFFFFF"/>
                </a:solidFill>
                <a:latin typeface="Segoe Sans Text Semibold"/>
                <a:cs typeface="Segoe Sans Text Semibold"/>
              </a:rPr>
              <a:t>Migrate &amp; Modernize</a:t>
            </a:r>
          </a:p>
        </p:txBody>
      </p:sp>
    </p:spTree>
    <p:extLst>
      <p:ext uri="{BB962C8B-B14F-4D97-AF65-F5344CB8AC3E}">
        <p14:creationId xmlns:p14="http://schemas.microsoft.com/office/powerpoint/2010/main" val="20385125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32">
          <p15:clr>
            <a:srgbClr val="5ACBF0"/>
          </p15:clr>
        </p15:guide>
        <p15:guide id="4"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Infrastructure 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3016CD-C0A9-5E1F-66BC-61A51BBB3091}"/>
              </a:ext>
            </a:extLst>
          </p:cNvPr>
          <p:cNvPicPr>
            <a:picLocks noChangeAspect="1"/>
          </p:cNvPicPr>
          <p:nvPr userDrawn="1"/>
        </p:nvPicPr>
        <p:blipFill>
          <a:blip r:embed="rId2"/>
          <a:stretch>
            <a:fillRect/>
          </a:stretch>
        </p:blipFill>
        <p:spPr>
          <a:xfrm>
            <a:off x="0" y="0"/>
            <a:ext cx="4053840" cy="6858000"/>
          </a:xfrm>
          <a:prstGeom prst="rect">
            <a:avLst/>
          </a:prstGeom>
        </p:spPr>
      </p:pic>
      <p:sp>
        <p:nvSpPr>
          <p:cNvPr id="7" name="Rectangle 6">
            <a:extLst>
              <a:ext uri="{FF2B5EF4-FFF2-40B4-BE49-F238E27FC236}">
                <a16:creationId xmlns:a16="http://schemas.microsoft.com/office/drawing/2014/main" id="{A99646AE-8471-CAF7-849B-19CB6F9886F0}"/>
              </a:ext>
            </a:extLst>
          </p:cNvPr>
          <p:cNvSpPr/>
          <p:nvPr userDrawn="1"/>
        </p:nvSpPr>
        <p:spPr bwMode="auto">
          <a:xfrm>
            <a:off x="1" y="0"/>
            <a:ext cx="4047068" cy="6858000"/>
          </a:xfrm>
          <a:prstGeom prst="rect">
            <a:avLst/>
          </a:prstGeom>
          <a:gradFill flip="none" rotWithShape="1">
            <a:gsLst>
              <a:gs pos="100000">
                <a:srgbClr val="091F2C">
                  <a:alpha val="0"/>
                </a:srgbClr>
              </a:gs>
              <a:gs pos="0">
                <a:srgbClr val="091F2C"/>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49"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9" name="Title 1">
            <a:extLst>
              <a:ext uri="{FF2B5EF4-FFF2-40B4-BE49-F238E27FC236}">
                <a16:creationId xmlns:a16="http://schemas.microsoft.com/office/drawing/2014/main" id="{EDE516D6-3EFC-C805-2440-B847DF0FDA0F}"/>
              </a:ext>
            </a:extLst>
          </p:cNvPr>
          <p:cNvSpPr>
            <a:spLocks noGrp="1"/>
          </p:cNvSpPr>
          <p:nvPr>
            <p:ph type="title" hasCustomPrompt="1"/>
          </p:nvPr>
        </p:nvSpPr>
        <p:spPr>
          <a:xfrm>
            <a:off x="585217" y="3046990"/>
            <a:ext cx="3461852" cy="498599"/>
          </a:xfrm>
          <a:noFill/>
        </p:spPr>
        <p:txBody>
          <a:bodyPr wrap="square" lIns="0" tIns="0" rIns="0" bIns="0" anchor="b" anchorCtr="0">
            <a:spAutoFit/>
          </a:bodyPr>
          <a:lstStyle>
            <a:lvl1pPr algn="l" defTabSz="932719" rtl="0" eaLnBrk="1" latinLnBrk="0" hangingPunct="1">
              <a:lnSpc>
                <a:spcPct val="90000"/>
              </a:lnSpc>
              <a:spcBef>
                <a:spcPct val="0"/>
              </a:spcBef>
              <a:buNone/>
              <a:defRPr lang="en-US" sz="3600" b="0" kern="1200" cap="none" spc="-51" baseline="0" dirty="0">
                <a:ln w="3175">
                  <a:noFill/>
                </a:ln>
                <a:solidFill>
                  <a:schemeClr val="bg1"/>
                </a:solidFill>
                <a:effectLst/>
                <a:latin typeface="+mj-lt"/>
                <a:ea typeface="+mn-ea"/>
                <a:cs typeface="Segoe Sans Display" pitchFamily="2" charset="0"/>
              </a:defRPr>
            </a:lvl1pPr>
          </a:lstStyle>
          <a:p>
            <a:r>
              <a:rPr lang="en-US"/>
              <a:t>Agenda</a:t>
            </a:r>
          </a:p>
        </p:txBody>
      </p:sp>
      <p:sp>
        <p:nvSpPr>
          <p:cNvPr id="2" name="Rounded Rectangle 1">
            <a:extLst>
              <a:ext uri="{FF2B5EF4-FFF2-40B4-BE49-F238E27FC236}">
                <a16:creationId xmlns:a16="http://schemas.microsoft.com/office/drawing/2014/main" id="{58F4A178-8533-2F54-BDFF-5314031C226E}"/>
              </a:ext>
            </a:extLst>
          </p:cNvPr>
          <p:cNvSpPr/>
          <p:nvPr userDrawn="1"/>
        </p:nvSpPr>
        <p:spPr bwMode="auto">
          <a:xfrm>
            <a:off x="577660" y="3703884"/>
            <a:ext cx="731520" cy="54864"/>
          </a:xfrm>
          <a:prstGeom prst="roundRect">
            <a:avLst>
              <a:gd name="adj" fmla="val 50000"/>
            </a:avLst>
          </a:prstGeom>
          <a:gradFill>
            <a:gsLst>
              <a:gs pos="0">
                <a:schemeClr val="accent1"/>
              </a:gs>
              <a:gs pos="100000">
                <a:schemeClr val="accent5"/>
              </a:gs>
            </a:gsLst>
            <a:lin ang="0" scaled="1"/>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4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4" name="Content Placeholder 12">
            <a:extLst>
              <a:ext uri="{FF2B5EF4-FFF2-40B4-BE49-F238E27FC236}">
                <a16:creationId xmlns:a16="http://schemas.microsoft.com/office/drawing/2014/main" id="{2CD029DD-21C8-556B-33E1-1E6B22334B46}"/>
              </a:ext>
            </a:extLst>
          </p:cNvPr>
          <p:cNvSpPr>
            <a:spLocks noGrp="1"/>
          </p:cNvSpPr>
          <p:nvPr>
            <p:ph sz="quarter" idx="10"/>
          </p:nvPr>
        </p:nvSpPr>
        <p:spPr>
          <a:xfrm>
            <a:off x="4564381" y="2727270"/>
            <a:ext cx="7353300" cy="14034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516396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022340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Infrastructure Section Divider">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414686-BB7F-07D0-82A6-7DD4B44C184A}"/>
              </a:ext>
            </a:extLst>
          </p:cNvPr>
          <p:cNvPicPr>
            <a:picLocks noChangeAspect="1"/>
          </p:cNvPicPr>
          <p:nvPr userDrawn="1"/>
        </p:nvPicPr>
        <p:blipFill>
          <a:blip r:embed="rId2"/>
          <a:stretch>
            <a:fillRect/>
          </a:stretch>
        </p:blipFill>
        <p:spPr>
          <a:xfrm>
            <a:off x="0" y="430"/>
            <a:ext cx="12192000" cy="6857143"/>
          </a:xfrm>
          <a:prstGeom prst="rect">
            <a:avLst/>
          </a:prstGeom>
        </p:spPr>
      </p:pic>
      <p:sp>
        <p:nvSpPr>
          <p:cNvPr id="6" name="Rectangle 5">
            <a:extLst>
              <a:ext uri="{FF2B5EF4-FFF2-40B4-BE49-F238E27FC236}">
                <a16:creationId xmlns:a16="http://schemas.microsoft.com/office/drawing/2014/main" id="{345B0AC3-8386-7EFA-0D14-F68D88F5A85F}"/>
              </a:ext>
            </a:extLst>
          </p:cNvPr>
          <p:cNvSpPr/>
          <p:nvPr userDrawn="1"/>
        </p:nvSpPr>
        <p:spPr bwMode="auto">
          <a:xfrm>
            <a:off x="397565" y="1828801"/>
            <a:ext cx="11393043" cy="1995777"/>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49"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7" y="2046127"/>
            <a:ext cx="10989319" cy="609399"/>
          </a:xfrm>
          <a:noFill/>
        </p:spPr>
        <p:txBody>
          <a:bodyPr wrap="square" lIns="0" tIns="0" rIns="0" bIns="0" anchor="b" anchorCtr="0">
            <a:spAutoFit/>
          </a:bodyPr>
          <a:lstStyle>
            <a:lvl1pPr algn="l" defTabSz="932719" rtl="0" eaLnBrk="1" latinLnBrk="0" hangingPunct="1">
              <a:lnSpc>
                <a:spcPct val="90000"/>
              </a:lnSpc>
              <a:spcBef>
                <a:spcPct val="0"/>
              </a:spcBef>
              <a:buNone/>
              <a:defRPr lang="en-US" sz="4400" b="0" kern="1200" cap="none" spc="-51"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TextBox 3">
            <a:extLst>
              <a:ext uri="{FF2B5EF4-FFF2-40B4-BE49-F238E27FC236}">
                <a16:creationId xmlns:a16="http://schemas.microsoft.com/office/drawing/2014/main" id="{587F9831-1F3A-6675-39E5-72251D2D3B75}"/>
              </a:ext>
            </a:extLst>
          </p:cNvPr>
          <p:cNvSpPr txBox="1"/>
          <p:nvPr userDrawn="1"/>
        </p:nvSpPr>
        <p:spPr>
          <a:xfrm>
            <a:off x="585216" y="6530694"/>
            <a:ext cx="2834640" cy="138499"/>
          </a:xfrm>
          <a:prstGeom prst="rect">
            <a:avLst/>
          </a:prstGeom>
          <a:noFill/>
        </p:spPr>
        <p:txBody>
          <a:bodyPr wrap="square" lIns="0" tIns="0" rIns="0" bIns="0">
            <a:spAutoFit/>
          </a:bodyPr>
          <a:lstStyle>
            <a:defPPr>
              <a:defRPr lang="en-CH"/>
            </a:defPPr>
            <a:lvl1pPr>
              <a:defRPr sz="900">
                <a:solidFill>
                  <a:srgbClr val="000000">
                    <a:lumMod val="65000"/>
                    <a:lumOff val="35000"/>
                  </a:srgbClr>
                </a:solidFill>
                <a:cs typeface="Calibri" panose="020F0502020204030204" pitchFamily="34" charset="0"/>
              </a:defRPr>
            </a:lvl1pPr>
          </a:lstStyle>
          <a:p>
            <a:pPr lvl="0"/>
            <a:r>
              <a:rPr lang="en-US" sz="900">
                <a:solidFill>
                  <a:schemeClr val="tx1"/>
                </a:solidFill>
              </a:rPr>
              <a:t>©2025 Microsoft Corporation. All rights reserved.</a:t>
            </a:r>
          </a:p>
        </p:txBody>
      </p:sp>
      <p:sp>
        <p:nvSpPr>
          <p:cNvPr id="5" name="Rounded Rectangle 1">
            <a:extLst>
              <a:ext uri="{FF2B5EF4-FFF2-40B4-BE49-F238E27FC236}">
                <a16:creationId xmlns:a16="http://schemas.microsoft.com/office/drawing/2014/main" id="{12EBD977-6FDE-B183-0259-A81FA8660504}"/>
              </a:ext>
            </a:extLst>
          </p:cNvPr>
          <p:cNvSpPr/>
          <p:nvPr userDrawn="1"/>
        </p:nvSpPr>
        <p:spPr bwMode="auto">
          <a:xfrm>
            <a:off x="577660" y="3703884"/>
            <a:ext cx="731520" cy="54864"/>
          </a:xfrm>
          <a:prstGeom prst="roundRect">
            <a:avLst>
              <a:gd name="adj" fmla="val 50000"/>
            </a:avLst>
          </a:prstGeom>
          <a:gradFill>
            <a:gsLst>
              <a:gs pos="0">
                <a:schemeClr val="accent1"/>
              </a:gs>
              <a:gs pos="100000">
                <a:schemeClr val="accent5"/>
              </a:gs>
            </a:gsLst>
            <a:lin ang="0" scaled="1"/>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4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Text"/>
              <a:ea typeface="Segoe UI" pitchFamily="34" charset="0"/>
              <a:cs typeface="Segoe UI" pitchFamily="34" charset="0"/>
            </a:endParaRPr>
          </a:p>
        </p:txBody>
      </p:sp>
      <p:sp>
        <p:nvSpPr>
          <p:cNvPr id="2" name="Rounded Rectangle 1">
            <a:extLst>
              <a:ext uri="{FF2B5EF4-FFF2-40B4-BE49-F238E27FC236}">
                <a16:creationId xmlns:a16="http://schemas.microsoft.com/office/drawing/2014/main" id="{E3BF8E1D-20C2-6E2C-4910-91576BAA1886}"/>
              </a:ext>
              <a:ext uri="{C183D7F6-B498-43B3-948B-1728B52AA6E4}">
                <adec:decorative xmlns:adec="http://schemas.microsoft.com/office/drawing/2017/decorative" val="0"/>
              </a:ext>
            </a:extLst>
          </p:cNvPr>
          <p:cNvSpPr/>
          <p:nvPr userDrawn="1"/>
        </p:nvSpPr>
        <p:spPr bwMode="auto">
          <a:xfrm>
            <a:off x="8568105" y="546315"/>
            <a:ext cx="3032911" cy="371555"/>
          </a:xfrm>
          <a:prstGeom prst="roundRect">
            <a:avLst>
              <a:gd name="adj" fmla="val 50000"/>
            </a:avLst>
          </a:prstGeom>
          <a:solidFill>
            <a:srgbClr val="091F2C"/>
          </a:solidFill>
          <a:ln w="25400">
            <a:solidFill>
              <a:schemeClr val="accent1"/>
            </a:solidFill>
          </a:ln>
        </p:spPr>
        <p:txBody>
          <a:bodyPr vert="horz" wrap="square" lIns="146304" tIns="0" rIns="146304" bIns="0" rtlCol="0" anchor="ctr" anchorCtr="0">
            <a:noAutofit/>
          </a:bodyPr>
          <a:lstStyle/>
          <a:p>
            <a:pPr algn="ctr" defTabSz="932719">
              <a:lnSpc>
                <a:spcPct val="93000"/>
              </a:lnSpc>
              <a:spcBef>
                <a:spcPct val="20000"/>
              </a:spcBef>
            </a:pPr>
            <a:r>
              <a:rPr kumimoji="0" lang="en-US" sz="1400" b="1" i="0" u="none" strike="noStrike" kern="1200" cap="none" spc="0" normalizeH="0" baseline="0" noProof="0">
                <a:ln>
                  <a:noFill/>
                </a:ln>
                <a:solidFill>
                  <a:srgbClr val="FFFFFF"/>
                </a:solidFill>
                <a:effectLst/>
                <a:uLnTx/>
                <a:uFillTx/>
                <a:latin typeface="Segoe Sans Text Semibold"/>
                <a:ea typeface="+mn-ea"/>
                <a:cs typeface="Segoe Sans Text Semibold"/>
              </a:rPr>
              <a:t>ISD CSA - </a:t>
            </a:r>
            <a:r>
              <a:rPr lang="en-US" sz="1400" b="1">
                <a:solidFill>
                  <a:srgbClr val="FFFFFF"/>
                </a:solidFill>
                <a:latin typeface="Segoe Sans Text Semibold"/>
                <a:cs typeface="Segoe Sans Text Semibold"/>
              </a:rPr>
              <a:t>Migrate &amp; Modernize</a:t>
            </a:r>
          </a:p>
        </p:txBody>
      </p:sp>
      <p:sp>
        <p:nvSpPr>
          <p:cNvPr id="7" name="TextBox 6">
            <a:extLst>
              <a:ext uri="{FF2B5EF4-FFF2-40B4-BE49-F238E27FC236}">
                <a16:creationId xmlns:a16="http://schemas.microsoft.com/office/drawing/2014/main" id="{85D675D1-4955-5BFB-AF50-E007227488BA}"/>
              </a:ext>
            </a:extLst>
          </p:cNvPr>
          <p:cNvSpPr txBox="1"/>
          <p:nvPr userDrawn="1"/>
        </p:nvSpPr>
        <p:spPr>
          <a:xfrm>
            <a:off x="585216" y="3193962"/>
            <a:ext cx="10546611" cy="430887"/>
          </a:xfrm>
          <a:prstGeom prst="rect">
            <a:avLst/>
          </a:prstGeom>
          <a:noFill/>
        </p:spPr>
        <p:txBody>
          <a:bodyPr wrap="square" lIns="0" tIns="0" rIns="0" bIns="0" rtlCol="0">
            <a:spAutoFit/>
          </a:bodyPr>
          <a:lstStyle/>
          <a:p>
            <a:pPr algn="l"/>
            <a:endParaRPr lang="en-US" sz="2800" err="1"/>
          </a:p>
        </p:txBody>
      </p:sp>
      <p:sp>
        <p:nvSpPr>
          <p:cNvPr id="10" name="Text Placeholder 9">
            <a:extLst>
              <a:ext uri="{FF2B5EF4-FFF2-40B4-BE49-F238E27FC236}">
                <a16:creationId xmlns:a16="http://schemas.microsoft.com/office/drawing/2014/main" id="{0AFF68E1-2F31-C29A-2A59-D4B5692EE411}"/>
              </a:ext>
            </a:extLst>
          </p:cNvPr>
          <p:cNvSpPr>
            <a:spLocks noGrp="1"/>
          </p:cNvSpPr>
          <p:nvPr>
            <p:ph type="body" sz="quarter" idx="10"/>
          </p:nvPr>
        </p:nvSpPr>
        <p:spPr>
          <a:xfrm>
            <a:off x="585789" y="3185054"/>
            <a:ext cx="11015663" cy="369332"/>
          </a:xfrm>
        </p:spPr>
        <p:txBody>
          <a:bodyPr anchor="b"/>
          <a:lstStyle>
            <a:lvl1pPr>
              <a:buNone/>
              <a:defRPr>
                <a:solidFill>
                  <a:schemeClr val="tx1"/>
                </a:solidFill>
              </a:defRPr>
            </a:lvl1pPr>
            <a:lvl2pPr>
              <a:buNone/>
              <a:defRPr/>
            </a:lvl2pPr>
          </a:lstStyle>
          <a:p>
            <a:pPr lvl="0"/>
            <a:r>
              <a:rPr lang="en-US"/>
              <a:t>Click to edit Master text styles</a:t>
            </a:r>
          </a:p>
        </p:txBody>
      </p:sp>
    </p:spTree>
    <p:extLst>
      <p:ext uri="{BB962C8B-B14F-4D97-AF65-F5344CB8AC3E}">
        <p14:creationId xmlns:p14="http://schemas.microsoft.com/office/powerpoint/2010/main" val="37325150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0328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5"/>
            <a:ext cx="9144000" cy="615553"/>
          </a:xfrm>
          <a:noFill/>
        </p:spPr>
        <p:txBody>
          <a:bodyPr lIns="0" tIns="0" rIns="0" bIns="0" anchor="b" anchorCtr="0">
            <a:spAutoFit/>
          </a:bodyPr>
          <a:lstStyle>
            <a:lvl1pPr>
              <a:defRPr sz="4000" spc="-51" baseline="0">
                <a:solidFill>
                  <a:schemeClr val="tx2"/>
                </a:solidFill>
                <a:latin typeface="Segoe Sans Display Semibold" pitchFamily="2" charset="0"/>
                <a:cs typeface="Segoe Sans Text"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Text"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0401443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Title Only_Custom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365760" y="457200"/>
            <a:ext cx="11430000" cy="553997"/>
          </a:xfrm>
        </p:spPr>
        <p:txBody>
          <a:bodyPr/>
          <a:lstStyle/>
          <a:p>
            <a:r>
              <a:rPr lang="en-US"/>
              <a:t>Click to edit Master title style</a:t>
            </a:r>
          </a:p>
        </p:txBody>
      </p:sp>
    </p:spTree>
    <p:extLst>
      <p:ext uri="{BB962C8B-B14F-4D97-AF65-F5344CB8AC3E}">
        <p14:creationId xmlns:p14="http://schemas.microsoft.com/office/powerpoint/2010/main" val="7777280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422037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Segoe Sans Display Semibold" pitchFamily="2" charset="0"/>
                <a:cs typeface="Segoe Sans Text" pitchFamily="2" charset="0"/>
              </a:defRPr>
            </a:lvl1pPr>
          </a:lstStyle>
          <a:p>
            <a:r>
              <a:rPr lang="en-US"/>
              <a:t>Click to edit Master title style</a:t>
            </a:r>
          </a:p>
        </p:txBody>
      </p:sp>
    </p:spTree>
    <p:extLst>
      <p:ext uri="{BB962C8B-B14F-4D97-AF65-F5344CB8AC3E}">
        <p14:creationId xmlns:p14="http://schemas.microsoft.com/office/powerpoint/2010/main" val="28642262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image" Target="../media/image1.svg"/><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19" Type="http://schemas.openxmlformats.org/officeDocument/2006/relationships/theme" Target="../theme/theme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image" Target="../media/image1.sv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theme" Target="../theme/theme3.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4.xml"/><Relationship Id="rId3" Type="http://schemas.openxmlformats.org/officeDocument/2006/relationships/slideLayout" Target="../slideLayouts/slideLayout79.xml"/><Relationship Id="rId7" Type="http://schemas.openxmlformats.org/officeDocument/2006/relationships/slideLayout" Target="../slideLayouts/slideLayout83.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image" Target="../media/image1.svg"/><Relationship Id="rId5" Type="http://schemas.openxmlformats.org/officeDocument/2006/relationships/slideLayout" Target="../slideLayouts/slideLayout81.xml"/><Relationship Id="rId10" Type="http://schemas.openxmlformats.org/officeDocument/2006/relationships/theme" Target="../theme/theme4.xml"/><Relationship Id="rId4" Type="http://schemas.openxmlformats.org/officeDocument/2006/relationships/slideLayout" Target="../slideLayouts/slideLayout80.xml"/><Relationship Id="rId9" Type="http://schemas.openxmlformats.org/officeDocument/2006/relationships/slideLayout" Target="../slideLayouts/slideLayout8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3.xml"/><Relationship Id="rId3" Type="http://schemas.openxmlformats.org/officeDocument/2006/relationships/slideLayout" Target="../slideLayouts/slideLayout88.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image" Target="../media/image1.svg"/><Relationship Id="rId5" Type="http://schemas.openxmlformats.org/officeDocument/2006/relationships/slideLayout" Target="../slideLayouts/slideLayout90.xml"/><Relationship Id="rId10" Type="http://schemas.openxmlformats.org/officeDocument/2006/relationships/theme" Target="../theme/theme5.xml"/><Relationship Id="rId4" Type="http://schemas.openxmlformats.org/officeDocument/2006/relationships/slideLayout" Target="../slideLayouts/slideLayout89.xml"/><Relationship Id="rId9"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544525031"/>
      </p:ext>
    </p:extLst>
  </p:cSld>
  <p:clrMap bg1="lt1" tx1="dk1" bg2="lt2" tx2="dk2" accent1="accent1" accent2="accent2" accent3="accent3" accent4="accent4" accent5="accent5" accent6="accent6" hlink="hlink" folHlink="folHlink"/>
  <p:sldLayoutIdLst>
    <p:sldLayoutId id="2147484201" r:id="rId1"/>
    <p:sldLayoutId id="2147484207" r:id="rId2"/>
    <p:sldLayoutId id="2147484208" r:id="rId3"/>
    <p:sldLayoutId id="2147484209" r:id="rId4"/>
    <p:sldLayoutId id="2147484210" r:id="rId5"/>
    <p:sldLayoutId id="2147484211" r:id="rId6"/>
    <p:sldLayoutId id="2147484212" r:id="rId7"/>
    <p:sldLayoutId id="2147484213" r:id="rId8"/>
    <p:sldLayoutId id="2147484214" r:id="rId9"/>
    <p:sldLayoutId id="2147484215" r:id="rId10"/>
    <p:sldLayoutId id="2147484216" r:id="rId11"/>
    <p:sldLayoutId id="2147484217" r:id="rId12"/>
    <p:sldLayoutId id="2147484218" r:id="rId13"/>
    <p:sldLayoutId id="2147484270" r:id="rId14"/>
    <p:sldLayoutId id="2147484490" r:id="rId15"/>
    <p:sldLayoutId id="2147484219" r:id="rId16"/>
    <p:sldLayoutId id="2147484220" r:id="rId17"/>
    <p:sldLayoutId id="2147484223" r:id="rId18"/>
    <p:sldLayoutId id="2147484225" r:id="rId19"/>
    <p:sldLayoutId id="2147484226" r:id="rId20"/>
    <p:sldLayoutId id="2147484227" r:id="rId21"/>
    <p:sldLayoutId id="2147484228" r:id="rId22"/>
    <p:sldLayoutId id="2147484239" r:id="rId23"/>
    <p:sldLayoutId id="2147484240" r:id="rId24"/>
    <p:sldLayoutId id="2147484241" r:id="rId25"/>
    <p:sldLayoutId id="2147484242" r:id="rId26"/>
    <p:sldLayoutId id="2147484243" r:id="rId27"/>
    <p:sldLayoutId id="2147484244" r:id="rId28"/>
    <p:sldLayoutId id="2147484245" r:id="rId29"/>
    <p:sldLayoutId id="2147484247" r:id="rId30"/>
    <p:sldLayoutId id="2147484264" r:id="rId31"/>
    <p:sldLayoutId id="2147484265" r:id="rId32"/>
    <p:sldLayoutId id="2147484266" r:id="rId33"/>
    <p:sldLayoutId id="2147484267" r:id="rId34"/>
    <p:sldLayoutId id="2147484491" r:id="rId35"/>
    <p:sldLayoutId id="2147484511" r:id="rId36"/>
    <p:sldLayoutId id="2147484589" r:id="rId37"/>
    <p:sldLayoutId id="2147484590" r:id="rId38"/>
    <p:sldLayoutId id="2147484593" r:id="rId39"/>
    <p:sldLayoutId id="2147484594" r:id="rId40"/>
    <p:sldLayoutId id="2147484595" r:id="rId41"/>
    <p:sldLayoutId id="2147484596" r:id="rId4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248928459"/>
      </p:ext>
    </p:extLst>
  </p:cSld>
  <p:clrMap bg1="lt1" tx1="dk1" bg2="lt2" tx2="dk2" accent1="accent1" accent2="accent2" accent3="accent3" accent4="accent4" accent5="accent5" accent6="accent6" hlink="hlink" folHlink="folHlink"/>
  <p:sldLayoutIdLst>
    <p:sldLayoutId id="2147484493" r:id="rId1"/>
    <p:sldLayoutId id="2147484494" r:id="rId2"/>
    <p:sldLayoutId id="2147484495" r:id="rId3"/>
    <p:sldLayoutId id="2147484496" r:id="rId4"/>
    <p:sldLayoutId id="2147484497" r:id="rId5"/>
    <p:sldLayoutId id="2147484498" r:id="rId6"/>
    <p:sldLayoutId id="2147484499" r:id="rId7"/>
    <p:sldLayoutId id="2147484500" r:id="rId8"/>
    <p:sldLayoutId id="2147484501" r:id="rId9"/>
    <p:sldLayoutId id="2147484502" r:id="rId10"/>
    <p:sldLayoutId id="2147484503" r:id="rId11"/>
    <p:sldLayoutId id="2147484504" r:id="rId12"/>
    <p:sldLayoutId id="2147484505" r:id="rId13"/>
    <p:sldLayoutId id="2147484506" r:id="rId14"/>
    <p:sldLayoutId id="2147484507" r:id="rId15"/>
    <p:sldLayoutId id="2147484508" r:id="rId16"/>
    <p:sldLayoutId id="2147484509" r:id="rId17"/>
    <p:sldLayoutId id="2147484510" r:id="rId1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Sans Text"/>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Sans Text"/>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159572653"/>
      </p:ext>
    </p:extLst>
  </p:cSld>
  <p:clrMap bg1="lt1" tx1="dk1" bg2="lt2" tx2="dk2" accent1="accent1" accent2="accent2" accent3="accent3" accent4="accent4" accent5="accent5" accent6="accent6" hlink="hlink" folHlink="folHlink"/>
  <p:sldLayoutIdLst>
    <p:sldLayoutId id="2147484513" r:id="rId1"/>
    <p:sldLayoutId id="2147484514" r:id="rId2"/>
    <p:sldLayoutId id="2147484515" r:id="rId3"/>
    <p:sldLayoutId id="2147484516" r:id="rId4"/>
    <p:sldLayoutId id="2147484517" r:id="rId5"/>
    <p:sldLayoutId id="2147484518" r:id="rId6"/>
    <p:sldLayoutId id="2147484519" r:id="rId7"/>
    <p:sldLayoutId id="2147484520" r:id="rId8"/>
    <p:sldLayoutId id="2147484521" r:id="rId9"/>
    <p:sldLayoutId id="2147484522" r:id="rId10"/>
    <p:sldLayoutId id="2147484523" r:id="rId11"/>
    <p:sldLayoutId id="2147484524" r:id="rId12"/>
    <p:sldLayoutId id="2147484525" r:id="rId13"/>
    <p:sldLayoutId id="2147484526" r:id="rId14"/>
    <p:sldLayoutId id="2147484527" r:id="rId15"/>
    <p:sldLayoutId id="2147484535" r:id="rId16"/>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44039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451648229"/>
      </p:ext>
    </p:extLst>
  </p:cSld>
  <p:clrMap bg1="lt1" tx1="dk1" bg2="lt2" tx2="dk2" accent1="accent1" accent2="accent2" accent3="accent3" accent4="accent4" accent5="accent5" accent6="accent6" hlink="hlink" folHlink="folHlink"/>
  <p:sldLayoutIdLst>
    <p:sldLayoutId id="2147484601" r:id="rId1"/>
    <p:sldLayoutId id="2147484602" r:id="rId2"/>
    <p:sldLayoutId id="2147484603" r:id="rId3"/>
    <p:sldLayoutId id="2147484604" r:id="rId4"/>
    <p:sldLayoutId id="2147484605" r:id="rId5"/>
    <p:sldLayoutId id="2147484606" r:id="rId6"/>
    <p:sldLayoutId id="2147484607" r:id="rId7"/>
    <p:sldLayoutId id="2147484608" r:id="rId8"/>
    <p:sldLayoutId id="2147484609" r:id="rId9"/>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50" baseline="0" dirty="0" smtClean="0">
          <a:ln w="3175">
            <a:noFill/>
          </a:ln>
          <a:solidFill>
            <a:schemeClr val="tx2"/>
          </a:solidFill>
          <a:effectLst/>
          <a:latin typeface="Segoe Sans Display Semibold" pitchFamily="2" charset="0"/>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4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1"/>
            <a:ext cx="11018520" cy="553999"/>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4403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49"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49"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5" name="Graphic 4">
            <a:extLst>
              <a:ext uri="{FF2B5EF4-FFF2-40B4-BE49-F238E27FC236}">
                <a16:creationId xmlns:a16="http://schemas.microsoft.com/office/drawing/2014/main" id="{AFF9DEA8-FD90-6243-04BC-39D0A0A9BA44}"/>
              </a:ext>
            </a:extLst>
          </p:cNvPr>
          <p:cNvPicPr>
            <a:picLocks noChangeAspect="1"/>
          </p:cNvPicPr>
          <p:nvPr userDrawn="1"/>
        </p:nvPicPr>
        <p:blipFill>
          <a:blip>
            <a:extLst>
              <a:ext uri="{96DAC541-7B7A-43D3-8B79-37D633B846F1}">
                <asvg:svgBlip xmlns:asvg="http://schemas.microsoft.com/office/drawing/2016/SVG/main" r:embed="rId11"/>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097793211"/>
      </p:ext>
    </p:extLst>
  </p:cSld>
  <p:clrMap bg1="lt1" tx1="dk1" bg2="lt2" tx2="dk2" accent1="accent1" accent2="accent2" accent3="accent3" accent4="accent4" accent5="accent5" accent6="accent6" hlink="hlink" folHlink="folHlink"/>
  <p:sldLayoutIdLst>
    <p:sldLayoutId id="2147484611" r:id="rId1"/>
    <p:sldLayoutId id="2147484612" r:id="rId2"/>
    <p:sldLayoutId id="2147484613" r:id="rId3"/>
    <p:sldLayoutId id="2147484614" r:id="rId4"/>
    <p:sldLayoutId id="2147484615" r:id="rId5"/>
    <p:sldLayoutId id="2147484616" r:id="rId6"/>
    <p:sldLayoutId id="2147484617" r:id="rId7"/>
    <p:sldLayoutId id="2147484618" r:id="rId8"/>
    <p:sldLayoutId id="2147484619" r:id="rId9"/>
  </p:sldLayoutIdLst>
  <p:transition>
    <p:fade/>
  </p:transition>
  <p:hf sldNum="0" hdr="0" ftr="0" dt="0"/>
  <p:txStyles>
    <p:titleStyle>
      <a:lvl1pPr algn="l" defTabSz="932719" rtl="0" eaLnBrk="1" latinLnBrk="0" hangingPunct="1">
        <a:lnSpc>
          <a:spcPct val="100000"/>
        </a:lnSpc>
        <a:spcBef>
          <a:spcPct val="0"/>
        </a:spcBef>
        <a:buNone/>
        <a:defRPr lang="en-US" sz="3600" b="0" kern="1200" cap="none" spc="-51" baseline="0" dirty="0" smtClean="0">
          <a:ln w="3175">
            <a:noFill/>
          </a:ln>
          <a:solidFill>
            <a:schemeClr val="tx1"/>
          </a:solidFill>
          <a:effectLst/>
          <a:latin typeface="+mj-lt"/>
          <a:ea typeface="+mn-ea"/>
          <a:cs typeface="Segoe Sans Display" pitchFamily="2" charset="0"/>
        </a:defRPr>
      </a:lvl1pPr>
    </p:titleStyle>
    <p:bodyStyle>
      <a:lvl1pPr marL="227008" marR="0" indent="-227008" algn="l" defTabSz="932719" rtl="0" eaLnBrk="1" fontAlgn="auto" latinLnBrk="0" hangingPunct="1">
        <a:lnSpc>
          <a:spcPct val="100000"/>
        </a:lnSpc>
        <a:spcBef>
          <a:spcPct val="20000"/>
        </a:spcBef>
        <a:spcAft>
          <a:spcPts val="0"/>
        </a:spcAft>
        <a:buClrTx/>
        <a:buSzPct val="90000"/>
        <a:buFont typeface="Arial" panose="020B0604020202020204" pitchFamily="34" charset="0"/>
        <a:buChar char="•"/>
        <a:tabLst/>
        <a:defRPr sz="2400" kern="1200" spc="0" baseline="0">
          <a:solidFill>
            <a:schemeClr val="tx1"/>
          </a:solidFill>
          <a:latin typeface="+mn-lt"/>
          <a:ea typeface="+mn-ea"/>
          <a:cs typeface="Segoe Sans Display" pitchFamily="2" charset="0"/>
        </a:defRPr>
      </a:lvl1pPr>
      <a:lvl2pPr marL="447663" marR="0" indent="-212720" algn="l" defTabSz="932719" rtl="0" eaLnBrk="1" fontAlgn="auto" latinLnBrk="0" hangingPunct="1">
        <a:lnSpc>
          <a:spcPct val="100000"/>
        </a:lnSpc>
        <a:spcBef>
          <a:spcPct val="20000"/>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mn-cs"/>
        </a:defRPr>
      </a:lvl2pPr>
      <a:lvl3pPr marL="625459" marR="0" indent="-161921" algn="l" defTabSz="932719"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804843" marR="0" indent="-169858" algn="l" defTabSz="932719"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4pPr>
      <a:lvl5pPr marL="976289" marR="0" indent="-171446" algn="l" defTabSz="932719"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5pPr>
      <a:lvl6pPr marL="2564976" indent="-233181" algn="l" defTabSz="932719"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336" indent="-233181" algn="l" defTabSz="932719"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695" indent="-233181" algn="l" defTabSz="93271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056" indent="-233181" algn="l" defTabSz="932719"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19" rtl="0" eaLnBrk="1" latinLnBrk="0" hangingPunct="1">
        <a:defRPr sz="1800" kern="1200">
          <a:solidFill>
            <a:schemeClr val="tx1"/>
          </a:solidFill>
          <a:latin typeface="+mn-lt"/>
          <a:ea typeface="+mn-ea"/>
          <a:cs typeface="+mn-cs"/>
        </a:defRPr>
      </a:lvl1pPr>
      <a:lvl2pPr marL="466359" algn="l" defTabSz="932719" rtl="0" eaLnBrk="1" latinLnBrk="0" hangingPunct="1">
        <a:defRPr sz="1800" kern="1200">
          <a:solidFill>
            <a:schemeClr val="tx1"/>
          </a:solidFill>
          <a:latin typeface="+mn-lt"/>
          <a:ea typeface="+mn-ea"/>
          <a:cs typeface="+mn-cs"/>
        </a:defRPr>
      </a:lvl2pPr>
      <a:lvl3pPr marL="932719" algn="l" defTabSz="932719" rtl="0" eaLnBrk="1" latinLnBrk="0" hangingPunct="1">
        <a:defRPr sz="1800" kern="1200">
          <a:solidFill>
            <a:schemeClr val="tx1"/>
          </a:solidFill>
          <a:latin typeface="+mn-lt"/>
          <a:ea typeface="+mn-ea"/>
          <a:cs typeface="+mn-cs"/>
        </a:defRPr>
      </a:lvl3pPr>
      <a:lvl4pPr marL="1399078" algn="l" defTabSz="932719" rtl="0" eaLnBrk="1" latinLnBrk="0" hangingPunct="1">
        <a:defRPr sz="1800" kern="1200">
          <a:solidFill>
            <a:schemeClr val="tx1"/>
          </a:solidFill>
          <a:latin typeface="+mn-lt"/>
          <a:ea typeface="+mn-ea"/>
          <a:cs typeface="+mn-cs"/>
        </a:defRPr>
      </a:lvl4pPr>
      <a:lvl5pPr marL="1865437" algn="l" defTabSz="932719" rtl="0" eaLnBrk="1" latinLnBrk="0" hangingPunct="1">
        <a:defRPr sz="1800" kern="1200">
          <a:solidFill>
            <a:schemeClr val="tx1"/>
          </a:solidFill>
          <a:latin typeface="+mn-lt"/>
          <a:ea typeface="+mn-ea"/>
          <a:cs typeface="+mn-cs"/>
        </a:defRPr>
      </a:lvl5pPr>
      <a:lvl6pPr marL="2331798" algn="l" defTabSz="932719" rtl="0" eaLnBrk="1" latinLnBrk="0" hangingPunct="1">
        <a:defRPr sz="1800" kern="1200">
          <a:solidFill>
            <a:schemeClr val="tx1"/>
          </a:solidFill>
          <a:latin typeface="+mn-lt"/>
          <a:ea typeface="+mn-ea"/>
          <a:cs typeface="+mn-cs"/>
        </a:defRPr>
      </a:lvl6pPr>
      <a:lvl7pPr marL="2798157" algn="l" defTabSz="932719" rtl="0" eaLnBrk="1" latinLnBrk="0" hangingPunct="1">
        <a:defRPr sz="1800" kern="1200">
          <a:solidFill>
            <a:schemeClr val="tx1"/>
          </a:solidFill>
          <a:latin typeface="+mn-lt"/>
          <a:ea typeface="+mn-ea"/>
          <a:cs typeface="+mn-cs"/>
        </a:defRPr>
      </a:lvl7pPr>
      <a:lvl8pPr marL="3264516" algn="l" defTabSz="932719" rtl="0" eaLnBrk="1" latinLnBrk="0" hangingPunct="1">
        <a:defRPr sz="1800" kern="1200">
          <a:solidFill>
            <a:schemeClr val="tx1"/>
          </a:solidFill>
          <a:latin typeface="+mn-lt"/>
          <a:ea typeface="+mn-ea"/>
          <a:cs typeface="+mn-cs"/>
        </a:defRPr>
      </a:lvl8pPr>
      <a:lvl9pPr marL="3730876" algn="l" defTabSz="93271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hyperlink" Target="mailto:MFPartnerDesk?subject=Question%20from%20scoping%20assessments" TargetMode="External"/><Relationship Id="rId5" Type="http://schemas.openxmlformats.org/officeDocument/2006/relationships/image" Target="../media/image26.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122.xml"/><Relationship Id="rId18" Type="http://schemas.openxmlformats.org/officeDocument/2006/relationships/slide" Target="slide17.xml"/><Relationship Id="rId3" Type="http://schemas.openxmlformats.org/officeDocument/2006/relationships/slide" Target="slide65.xml"/><Relationship Id="rId21" Type="http://schemas.openxmlformats.org/officeDocument/2006/relationships/slide" Target="slide35.xml"/><Relationship Id="rId7" Type="http://schemas.openxmlformats.org/officeDocument/2006/relationships/slide" Target="slide85.xml"/><Relationship Id="rId12" Type="http://schemas.openxmlformats.org/officeDocument/2006/relationships/slide" Target="slide117.xml"/><Relationship Id="rId17" Type="http://schemas.openxmlformats.org/officeDocument/2006/relationships/slide" Target="slide16.xml"/><Relationship Id="rId2" Type="http://schemas.openxmlformats.org/officeDocument/2006/relationships/slide" Target="slide6.xml"/><Relationship Id="rId16" Type="http://schemas.openxmlformats.org/officeDocument/2006/relationships/slide" Target="slide163.xml"/><Relationship Id="rId20" Type="http://schemas.openxmlformats.org/officeDocument/2006/relationships/slide" Target="slide27.xml"/><Relationship Id="rId1" Type="http://schemas.openxmlformats.org/officeDocument/2006/relationships/slideLayout" Target="../slideLayouts/slideLayout31.xml"/><Relationship Id="rId6" Type="http://schemas.openxmlformats.org/officeDocument/2006/relationships/slide" Target="slide74.xml"/><Relationship Id="rId11" Type="http://schemas.openxmlformats.org/officeDocument/2006/relationships/slide" Target="slide93.xml"/><Relationship Id="rId5" Type="http://schemas.openxmlformats.org/officeDocument/2006/relationships/slide" Target="slide109.xml"/><Relationship Id="rId15" Type="http://schemas.openxmlformats.org/officeDocument/2006/relationships/slide" Target="slide147.xml"/><Relationship Id="rId10" Type="http://schemas.openxmlformats.org/officeDocument/2006/relationships/slide" Target="slide51.xml"/><Relationship Id="rId19" Type="http://schemas.openxmlformats.org/officeDocument/2006/relationships/slide" Target="slide21.xml"/><Relationship Id="rId4" Type="http://schemas.openxmlformats.org/officeDocument/2006/relationships/slide" Target="slide79.xml"/><Relationship Id="rId9" Type="http://schemas.openxmlformats.org/officeDocument/2006/relationships/slide" Target="slide60.xml"/><Relationship Id="rId14" Type="http://schemas.openxmlformats.org/officeDocument/2006/relationships/slide" Target="slide141.xml"/><Relationship Id="rId22" Type="http://schemas.openxmlformats.org/officeDocument/2006/relationships/slide" Target="slide4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6.xml"/><Relationship Id="rId1" Type="http://schemas.openxmlformats.org/officeDocument/2006/relationships/themeOverride" Target="../theme/themeOverride1.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hemeOverride" Target="../theme/themeOverride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8" Type="http://schemas.openxmlformats.org/officeDocument/2006/relationships/hyperlink" Target="https://learn.microsoft.com/en-us/azure/migrate/prepare-for-migration#linux-machines" TargetMode="External"/><Relationship Id="rId3" Type="http://schemas.openxmlformats.org/officeDocument/2006/relationships/hyperlink" Target="https://learn.microsoft.com/en-us/azure/migrate/migrate-support-matrix-hyper-v-migration?view=migrate#hyper-v-vms" TargetMode="External"/><Relationship Id="rId7" Type="http://schemas.openxmlformats.org/officeDocument/2006/relationships/hyperlink" Target="https://learn.microsoft.com/en-us/azure/migrate/prepare-for-migration?view=migrate" TargetMode="External"/><Relationship Id="rId2" Type="http://schemas.openxmlformats.org/officeDocument/2006/relationships/hyperlink" Target="https://learn.microsoft.com/en-us/azure/site-recovery/vmware-physical-azure-support-matrix#for-windows" TargetMode="External"/><Relationship Id="rId1" Type="http://schemas.openxmlformats.org/officeDocument/2006/relationships/slideLayout" Target="../slideLayouts/slideLayout31.xml"/><Relationship Id="rId6" Type="http://schemas.openxmlformats.org/officeDocument/2006/relationships/hyperlink" Target="https://learn.microsoft.com/en-us/azure/migrate/common-questions-server-migration" TargetMode="External"/><Relationship Id="rId5" Type="http://schemas.openxmlformats.org/officeDocument/2006/relationships/hyperlink" Target="https://learn.microsoft.com/en-us/azure/migrate/how-to-upgrade-windows?view=migrate#overview" TargetMode="External"/><Relationship Id="rId4" Type="http://schemas.openxmlformats.org/officeDocument/2006/relationships/hyperlink" Target="https://learn.microsoft.com/en-us/azure/migrate/migrate-support-matrix-vmware-migration?view=migrate&amp;context=%2Fazure%2Fmigrate%2Fcontext%2Fmigrate-context#vm-requirements-agentless" TargetMode="External"/><Relationship Id="rId9" Type="http://schemas.openxmlformats.org/officeDocument/2006/relationships/hyperlink" Target="https://learn.microsoft.com/en-us/azure/storage-mover/service-overview#supported-sources-and-targets"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s://aka.ms/azureoffernavigator"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hyperlink" Target="https://forms.office.com/Pages/ResponsePage.aspx?id=v4j5cvGGr0GRqy180BHbRyPnFI3V24hDrxD8CJvk7h1UOVFTOU8wTE1EMFA2SVVXQjVTS0FXWVVUUCQlQCN0PWcu"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learn.microsoft.com/en-us/azure/azure-vmware/introduction#vmware-software-versions"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slide" Target="slide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2.xml"/><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3" Type="http://schemas.openxmlformats.org/officeDocument/2006/relationships/hyperlink" Target="https://docs.github.com/en/copilot/tutorials/upgrade-projects" TargetMode="External"/><Relationship Id="rId2" Type="http://schemas.openxmlformats.org/officeDocument/2006/relationships/notesSlide" Target="../notesSlides/notesSlide23.xml"/><Relationship Id="rId1" Type="http://schemas.openxmlformats.org/officeDocument/2006/relationships/slideLayout" Target="../slideLayouts/slideLayout80.xml"/><Relationship Id="rId6" Type="http://schemas.openxmlformats.org/officeDocument/2006/relationships/hyperlink" Target="https://docs.github.com/en/copilot/concepts/prompting/response-customization" TargetMode="External"/><Relationship Id="rId5" Type="http://schemas.openxmlformats.org/officeDocument/2006/relationships/hyperlink" Target="https://docs.github.com/en/copilot/tutorials/use-custom-instructions" TargetMode="External"/><Relationship Id="rId4" Type="http://schemas.openxmlformats.org/officeDocument/2006/relationships/hyperlink" Target="https://learn.microsoft.com/en-us/azure/migrate/server-redeploy?view=migrate"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24.xml"/><Relationship Id="rId1" Type="http://schemas.openxmlformats.org/officeDocument/2006/relationships/slideLayout" Target="../slideLayouts/slideLayout80.xml"/><Relationship Id="rId5" Type="http://schemas.microsoft.com/office/2007/relationships/hdphoto" Target="../media/hdphoto1.wdp"/><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31.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hyperlink" Target="https://learn.microsoft.com/en-us/azure/developer/github-copilot-app-modernization/languages" TargetMode="External"/><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0.xml"/><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hyperlink" Target="https://learn.microsoft.com/en-us/sql/sql-server/azure-arc/overview?view=sql-server-ver17" TargetMode="Externa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hyperlink" Target="https://learn.microsoft.com/en-us/azure/cosmos-db/mongodb/vcore/how-to-migrate-native-tools" TargetMode="External"/><Relationship Id="rId4" Type="http://schemas.openxmlformats.org/officeDocument/2006/relationships/hyperlink" Target="https://learn.microsoft.com/en-us/azure/documentdb/how-to-migrate-vs-code-extension"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www.mongodb.com/docs/atlas/import/live-import/" TargetMode="External"/><Relationship Id="rId3" Type="http://schemas.openxmlformats.org/officeDocument/2006/relationships/notesSlide" Target="../notesSlides/notesSlide35.xml"/><Relationship Id="rId7" Type="http://schemas.openxmlformats.org/officeDocument/2006/relationships/hyperlink" Target="https://www.mongodb.com/docs/database-tools/mongodump/mongodump-compatibility-and-installation/" TargetMode="External"/><Relationship Id="rId2" Type="http://schemas.openxmlformats.org/officeDocument/2006/relationships/slideLayout" Target="../slideLayouts/slideLayout13.xml"/><Relationship Id="rId1" Type="http://schemas.openxmlformats.org/officeDocument/2006/relationships/tags" Target="../tags/tag6.xml"/><Relationship Id="rId6" Type="http://schemas.openxmlformats.org/officeDocument/2006/relationships/hyperlink" Target="https://www.mongodb.com/docs/atlas/import/c2c-push-live-migration/" TargetMode="External"/><Relationship Id="rId5" Type="http://schemas.openxmlformats.org/officeDocument/2006/relationships/hyperlink" Target="https://www.mongodb.com/docs/atlas/import/c2c-pull-live-migration/" TargetMode="External"/><Relationship Id="rId4" Type="http://schemas.openxmlformats.org/officeDocument/2006/relationships/hyperlink" Target="https://www.mongodb.com/docs/cluster-to-cluster-sync/current/reference/mongosync/"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hyperlink" Target="https://learn.microsoft.com/en-us/azure/managed-instance-apache-cassandra/faq" TargetMode="External"/><Relationship Id="rId2" Type="http://schemas.openxmlformats.org/officeDocument/2006/relationships/slideLayout" Target="../slideLayouts/slideLayout13.xml"/><Relationship Id="rId1" Type="http://schemas.openxmlformats.org/officeDocument/2006/relationships/tags" Target="../tags/tag7.xml"/><Relationship Id="rId6" Type="http://schemas.openxmlformats.org/officeDocument/2006/relationships/hyperlink" Target="https://learn.microsoft.com/en-us/azure/managed-instance-apache-cassandra/spark-migration" TargetMode="External"/><Relationship Id="rId5" Type="http://schemas.openxmlformats.org/officeDocument/2006/relationships/hyperlink" Target="https://learn.microsoft.com/en-us/azure/managed-instance-apache-cassandra/dual-write-proxy-migration" TargetMode="External"/><Relationship Id="rId4" Type="http://schemas.openxmlformats.org/officeDocument/2006/relationships/hyperlink" Target="https://learn.microsoft.com/en-us/azure/managed-instance-apache-cassandra/configure-hybrid-cluster#prerequisites" TargetMode="Externa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9.xml"/><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5.xml"/><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2.xml"/><Relationship Id="rId1" Type="http://schemas.openxmlformats.org/officeDocument/2006/relationships/themeOverride" Target="../theme/themeOverride4.xml"/><Relationship Id="rId4"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6.xml"/><Relationship Id="rId1" Type="http://schemas.openxmlformats.org/officeDocument/2006/relationships/themeOverride" Target="../theme/themeOverride5.xml"/><Relationship Id="rId6" Type="http://schemas.openxmlformats.org/officeDocument/2006/relationships/image" Target="../media/image32.svg"/><Relationship Id="rId5" Type="http://schemas.openxmlformats.org/officeDocument/2006/relationships/hyperlink" Target="https://learn.microsoft.com/en-us/azure/azure-arc/servers/prerequisites#supported-operating-systems" TargetMode="External"/><Relationship Id="rId4" Type="http://schemas.openxmlformats.org/officeDocument/2006/relationships/hyperlink" Target="https://aka.ms/arc-server-outbound-url-requirements"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learn.microsoft.com/en-us/azure/azure-arc/servers/prerequisites#supported-operating-systems" TargetMode="External"/><Relationship Id="rId2" Type="http://schemas.openxmlformats.org/officeDocument/2006/relationships/slideLayout" Target="../slideLayouts/slideLayout76.xml"/><Relationship Id="rId1" Type="http://schemas.openxmlformats.org/officeDocument/2006/relationships/themeOverride" Target="../theme/themeOverride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2.xml"/><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7.xml"/><Relationship Id="rId1" Type="http://schemas.openxmlformats.org/officeDocument/2006/relationships/slideLayout" Target="../slideLayouts/slideLayout3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1.xml"/></Relationships>
</file>

<file path=ppt/slides/_rels/slide7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6.xml"/><Relationship Id="rId1" Type="http://schemas.openxmlformats.org/officeDocument/2006/relationships/slideLayout" Target="../slideLayouts/slideLayout3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hyperlink" Target="https://learn.microsoft.com/en-us/azure/virtual-desktop/prerequisites?tabs=portal#users" TargetMode="External"/><Relationship Id="rId7" Type="http://schemas.openxmlformats.org/officeDocument/2006/relationships/hyperlink" Target="https://microsoft.sharepoint.com/teams/ASDIPRelease/IP%20Release/Forms/AllItems.aspx?csf=1&amp;web=1&amp;e=fU4Cvf&amp;cid=0f80aa77%2Dcea3%2D4eca%2Da586%2D4b16e8a88612&amp;RootFolder=%2Fteams%2FASDIPRelease%2FIP%20Release%2FSecure%20Infrastructure%2FVBD%2FModernize%20and%20Extend%20VDI%20to%20AVD%2FGo%2Dlive&amp;FolderCTID=0x012000F569B1CB3A2B2D499B8B6646AC5C92E3"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learn.microsoft.com/en-us/azure/virtual-desktop/prerequisites?tabs=portal#remote-desktop-clients" TargetMode="External"/><Relationship Id="rId5" Type="http://schemas.openxmlformats.org/officeDocument/2006/relationships/hyperlink" Target="https://learn.microsoft.com/en-us/azure/virtual-desktop/store-fslogix-profile#azure-platform-details" TargetMode="External"/><Relationship Id="rId4" Type="http://schemas.openxmlformats.org/officeDocument/2006/relationships/hyperlink" Target="https://learn.microsoft.com/en-us/azure/virtual-desktop/prerequisites?tabs=portal#operating-systems-and-licenses"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1.xml"/><Relationship Id="rId1" Type="http://schemas.openxmlformats.org/officeDocument/2006/relationships/slideLayout" Target="../slideLayouts/slideLayout3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hyperlink" Target="https://learn.microsoft.com/en-us/azure/oracle/oracle-db/database-overview#available-regions" TargetMode="External"/><Relationship Id="rId2" Type="http://schemas.openxmlformats.org/officeDocument/2006/relationships/notesSlide" Target="../notesSlides/notesSlide74.xml"/><Relationship Id="rId1" Type="http://schemas.openxmlformats.org/officeDocument/2006/relationships/slideLayout" Target="../slideLayouts/slideLayout13.xml"/><Relationship Id="rId4" Type="http://schemas.openxmlformats.org/officeDocument/2006/relationships/hyperlink" Target="https://learn.microsoft.com/en-us/azure/oracle/oracle-db/oracle-database-network-plan#supported-topologies" TargetMode="Externa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7.xml"/><Relationship Id="rId1" Type="http://schemas.openxmlformats.org/officeDocument/2006/relationships/slideLayout" Target="../slideLayouts/slideLayout3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hyperlink" Target="https://microsoft.sharepoint.com/teams/ASDIPRelease/IP%20Release/Forms/AllItems.aspx?csf=1&amp;web=1&amp;e=fU4Cvf&amp;cid=0f80aa77%2Dcea3%2D4eca%2Da586%2D4b16e8a88612&amp;RootFolder=%2Fteams%2FASDIPRelease%2FIP%20Release%2FSecure%20Infrastructure%2FVBD%2FModernize%20and%20Extend%20VDI%20to%20AVD%2FGo%2Dlive&amp;FolderCTID=0x012000F569B1CB3A2B2D499B8B6646AC5C92E3" TargetMode="External"/><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hyperlink" Target="https://microsoft.sharepoint.com/teams/ASDIPRelease/IP%20Release/Forms/AllItems.aspx?csf=1&amp;web=1&amp;e=fU4Cvf&amp;cid=0f80aa77%2Dcea3%2D4eca%2Da586%2D4b16e8a88612&amp;RootFolder=%2Fteams%2FASDIPRelease%2FIP%20Release%2FSecure%20Infrastructure%2FVBD%2FModernize%20and%20Extend%20VDI%20to%20AVD%2FGo%2Dlive&amp;FolderCTID=0x012000F569B1CB3A2B2D499B8B6646AC5C92E3" TargetMode="External"/><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hyperlink" Target="https://microsoft.sharepoint.com/teams/ASDIPRelease/IP%20Release/Forms/AllItems.aspx?csf=1&amp;web=1&amp;e=fU4Cvf&amp;cid=0f80aa77%2Dcea3%2D4eca%2Da586%2D4b16e8a88612&amp;RootFolder=%2Fteams%2FASDIPRelease%2FIP%20Release%2FSecure%20Infrastructure%2FVBD%2FModernize%20and%20Extend%20VDI%20to%20AVD%2FGo%2Dlive&amp;FolderCTID=0x012000F569B1CB3A2B2D499B8B6646AC5C92E3" TargetMode="External"/><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85.xml"/><Relationship Id="rId1" Type="http://schemas.openxmlformats.org/officeDocument/2006/relationships/slideLayout" Target="../slideLayouts/slideLayout36.xml"/></Relationships>
</file>

<file path=ppt/slides/_rels/slide94.xml.rels><?xml version="1.0" encoding="UTF-8" standalone="yes"?>
<Relationships xmlns="http://schemas.openxmlformats.org/package/2006/relationships"><Relationship Id="rId3" Type="http://schemas.openxmlformats.org/officeDocument/2006/relationships/hyperlink" Target="https://aka.ms/CATProgram" TargetMode="External"/><Relationship Id="rId7" Type="http://schemas.openxmlformats.org/officeDocument/2006/relationships/hyperlink" Target="https://microsoft.seismic.com/Link/Content/DC8jXHcMfq7qqGhRX3c3VV8hJX9j" TargetMode="External"/><Relationship Id="rId2" Type="http://schemas.openxmlformats.org/officeDocument/2006/relationships/notesSlide" Target="../notesSlides/notesSlide86.xml"/><Relationship Id="rId1" Type="http://schemas.openxmlformats.org/officeDocument/2006/relationships/slideLayout" Target="../slideLayouts/slideLayout13.xml"/><Relationship Id="rId6" Type="http://schemas.openxmlformats.org/officeDocument/2006/relationships/hyperlink" Target="https://aka.ms/factorynom" TargetMode="External"/><Relationship Id="rId5" Type="http://schemas.openxmlformats.org/officeDocument/2006/relationships/hyperlink" Target="https://aka.ms/agentcaf" TargetMode="External"/><Relationship Id="rId4" Type="http://schemas.openxmlformats.org/officeDocument/2006/relationships/hyperlink" Target="https://aka.ms/CATProgramNominate" TargetMode="External"/></Relationships>
</file>

<file path=ppt/slides/_rels/slide9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87.xml"/><Relationship Id="rId1" Type="http://schemas.openxmlformats.org/officeDocument/2006/relationships/slideLayout" Target="../slideLayouts/slideLayout16.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9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4.xml"/><Relationship Id="rId1" Type="http://schemas.openxmlformats.org/officeDocument/2006/relationships/slideLayout" Target="../slideLayouts/slideLayout3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1.xml"/></Relationships>
</file>

<file path=ppt/slides/_rels/slide10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6.xml"/><Relationship Id="rId1" Type="http://schemas.openxmlformats.org/officeDocument/2006/relationships/slideLayout" Target="../slideLayouts/slideLayout13.xml"/><Relationship Id="rId5" Type="http://schemas.openxmlformats.org/officeDocument/2006/relationships/hyperlink" Target="https://learn.microsoft.com/en-us/microsoftsearch/connectors-gallery" TargetMode="External"/><Relationship Id="rId4" Type="http://schemas.openxmlformats.org/officeDocument/2006/relationships/image" Target="../media/image42.sv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01.xml"/><Relationship Id="rId1" Type="http://schemas.openxmlformats.org/officeDocument/2006/relationships/slideLayout" Target="../slideLayouts/slideLayout36.xml"/></Relationships>
</file>

<file path=ppt/slides/_rels/slide1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02.xml"/><Relationship Id="rId1" Type="http://schemas.openxmlformats.org/officeDocument/2006/relationships/slideLayout" Target="../slideLayouts/slideLayout3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0.xml.rels><?xml version="1.0" encoding="UTF-8" standalone="yes"?>
<Relationships xmlns="http://schemas.openxmlformats.org/package/2006/relationships"><Relationship Id="rId3" Type="http://schemas.openxmlformats.org/officeDocument/2006/relationships/hyperlink" Target="https://aka.ms/" TargetMode="External"/><Relationship Id="rId2" Type="http://schemas.openxmlformats.org/officeDocument/2006/relationships/notesSlide" Target="../notesSlides/notesSlide103.xml"/><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6.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8.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8.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58.xml"/></Relationships>
</file>

<file path=ppt/slides/_rels/slide129.xml.rels><?xml version="1.0" encoding="UTF-8" standalone="yes"?>
<Relationships xmlns="http://schemas.openxmlformats.org/package/2006/relationships"><Relationship Id="rId3" Type="http://schemas.openxmlformats.org/officeDocument/2006/relationships/hyperlink" Target="https://learn.microsoft.com/en-us/fabric/data-engineering/synapse-migration-strategy-planning" TargetMode="External"/><Relationship Id="rId7" Type="http://schemas.openxmlformats.org/officeDocument/2006/relationships/hyperlink" Target="https://www.spectralcore.com/fabric/docs" TargetMode="External"/><Relationship Id="rId2" Type="http://schemas.openxmlformats.org/officeDocument/2006/relationships/notesSlide" Target="../notesSlides/notesSlide111.xml"/><Relationship Id="rId1" Type="http://schemas.openxmlformats.org/officeDocument/2006/relationships/slideLayout" Target="../slideLayouts/slideLayout58.xml"/><Relationship Id="rId6" Type="http://schemas.openxmlformats.org/officeDocument/2006/relationships/hyperlink" Target="https://learn.microsoft.com/en-us/fabric/data-warehouse/migration-assistant" TargetMode="External"/><Relationship Id="rId5" Type="http://schemas.openxmlformats.org/officeDocument/2006/relationships/hyperlink" Target="https://learn.microsoft.com/en-us/fabric/data-engineering/migrate-synapse-overview" TargetMode="External"/><Relationship Id="rId4" Type="http://schemas.openxmlformats.org/officeDocument/2006/relationships/hyperlink" Target="https://learn.microsoft.com/en-us/azure/data-factory/how-to-upgrade-your-azure-data-factory-pipelines-to-fabric-data-factory" TargetMode="External"/></Relationships>
</file>

<file path=ppt/slides/_rels/slide130.xml.rels><?xml version="1.0" encoding="UTF-8" standalone="yes"?>
<Relationships xmlns="http://schemas.openxmlformats.org/package/2006/relationships"><Relationship Id="rId3" Type="http://schemas.openxmlformats.org/officeDocument/2006/relationships/hyperlink" Target="https://learn.microsoft.com/en-us/fabric/data-warehouse/migration-assistant" TargetMode="External"/><Relationship Id="rId2" Type="http://schemas.openxmlformats.org/officeDocument/2006/relationships/notesSlide" Target="../notesSlides/notesSlide112.xml"/><Relationship Id="rId1" Type="http://schemas.openxmlformats.org/officeDocument/2006/relationships/slideLayout" Target="../slideLayouts/slideLayout58.xml"/><Relationship Id="rId6" Type="http://schemas.openxmlformats.org/officeDocument/2006/relationships/hyperlink" Target="https://learn.microsoft.com/en-us/azure/data-factory/how-to-upgrade-your-azure-data-factory-pipelines-to-fabric-data-factory" TargetMode="External"/><Relationship Id="rId5" Type="http://schemas.openxmlformats.org/officeDocument/2006/relationships/hyperlink" Target="https://learn.microsoft.com/en-us/fabric/data-engineering/migrate-synapse-overview" TargetMode="External"/><Relationship Id="rId4" Type="http://schemas.openxmlformats.org/officeDocument/2006/relationships/hyperlink" Target="https://www.spectralcore.com/fabric/docs" TargetMode="Externa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58.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58.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58.xml"/></Relationships>
</file>

<file path=ppt/slides/_rels/slide13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16.xml"/><Relationship Id="rId1" Type="http://schemas.openxmlformats.org/officeDocument/2006/relationships/slideLayout" Target="../slideLayouts/slideLayout36.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58.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3.xml"/><Relationship Id="rId1" Type="http://schemas.openxmlformats.org/officeDocument/2006/relationships/slideLayout" Target="../slideLayouts/slideLayout36.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3" Type="http://schemas.openxmlformats.org/officeDocument/2006/relationships/image" Target="../media/image56.svg"/><Relationship Id="rId18" Type="http://schemas.openxmlformats.org/officeDocument/2006/relationships/image" Target="../media/image61.png"/><Relationship Id="rId26" Type="http://schemas.openxmlformats.org/officeDocument/2006/relationships/image" Target="../media/image69.png"/><Relationship Id="rId39" Type="http://schemas.openxmlformats.org/officeDocument/2006/relationships/image" Target="../media/image82.png"/><Relationship Id="rId21" Type="http://schemas.openxmlformats.org/officeDocument/2006/relationships/image" Target="../media/image64.png"/><Relationship Id="rId34" Type="http://schemas.openxmlformats.org/officeDocument/2006/relationships/image" Target="../media/image77.png"/><Relationship Id="rId42" Type="http://schemas.openxmlformats.org/officeDocument/2006/relationships/image" Target="../media/image85.png"/><Relationship Id="rId47" Type="http://schemas.openxmlformats.org/officeDocument/2006/relationships/image" Target="../media/image90.png"/><Relationship Id="rId50" Type="http://schemas.openxmlformats.org/officeDocument/2006/relationships/image" Target="../media/image93.png"/><Relationship Id="rId7" Type="http://schemas.openxmlformats.org/officeDocument/2006/relationships/image" Target="../media/image50.png"/><Relationship Id="rId2" Type="http://schemas.openxmlformats.org/officeDocument/2006/relationships/notesSlide" Target="../notesSlides/notesSlide125.xml"/><Relationship Id="rId16" Type="http://schemas.openxmlformats.org/officeDocument/2006/relationships/image" Target="../media/image59.svg"/><Relationship Id="rId29" Type="http://schemas.openxmlformats.org/officeDocument/2006/relationships/image" Target="../media/image72.png"/><Relationship Id="rId11" Type="http://schemas.openxmlformats.org/officeDocument/2006/relationships/image" Target="../media/image54.svg"/><Relationship Id="rId24" Type="http://schemas.openxmlformats.org/officeDocument/2006/relationships/image" Target="../media/image67.png"/><Relationship Id="rId32" Type="http://schemas.openxmlformats.org/officeDocument/2006/relationships/image" Target="../media/image75.jpeg"/><Relationship Id="rId37" Type="http://schemas.openxmlformats.org/officeDocument/2006/relationships/image" Target="../media/image80.png"/><Relationship Id="rId40" Type="http://schemas.openxmlformats.org/officeDocument/2006/relationships/image" Target="../media/image83.png"/><Relationship Id="rId45" Type="http://schemas.openxmlformats.org/officeDocument/2006/relationships/image" Target="../media/image88.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svg"/><Relationship Id="rId36" Type="http://schemas.openxmlformats.org/officeDocument/2006/relationships/image" Target="../media/image79.png"/><Relationship Id="rId49" Type="http://schemas.openxmlformats.org/officeDocument/2006/relationships/image" Target="../media/image92.png"/><Relationship Id="rId10" Type="http://schemas.openxmlformats.org/officeDocument/2006/relationships/image" Target="../media/image53.png"/><Relationship Id="rId19" Type="http://schemas.openxmlformats.org/officeDocument/2006/relationships/image" Target="../media/image62.png"/><Relationship Id="rId31" Type="http://schemas.openxmlformats.org/officeDocument/2006/relationships/image" Target="../media/image74.png"/><Relationship Id="rId44" Type="http://schemas.openxmlformats.org/officeDocument/2006/relationships/image" Target="../media/image87.jpeg"/><Relationship Id="rId52" Type="http://schemas.openxmlformats.org/officeDocument/2006/relationships/image" Target="../media/image95.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emf"/><Relationship Id="rId22" Type="http://schemas.openxmlformats.org/officeDocument/2006/relationships/image" Target="../media/image65.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78.png"/><Relationship Id="rId43" Type="http://schemas.openxmlformats.org/officeDocument/2006/relationships/image" Target="../media/image86.svg"/><Relationship Id="rId48" Type="http://schemas.openxmlformats.org/officeDocument/2006/relationships/image" Target="../media/image91.png"/><Relationship Id="rId8" Type="http://schemas.openxmlformats.org/officeDocument/2006/relationships/image" Target="../media/image51.png"/><Relationship Id="rId51" Type="http://schemas.openxmlformats.org/officeDocument/2006/relationships/image" Target="../media/image94.png"/><Relationship Id="rId3" Type="http://schemas.openxmlformats.org/officeDocument/2006/relationships/image" Target="../media/image46.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8.svg"/><Relationship Id="rId33" Type="http://schemas.openxmlformats.org/officeDocument/2006/relationships/image" Target="../media/image76.png"/><Relationship Id="rId38" Type="http://schemas.openxmlformats.org/officeDocument/2006/relationships/image" Target="../media/image81.jpeg"/><Relationship Id="rId46" Type="http://schemas.openxmlformats.org/officeDocument/2006/relationships/image" Target="../media/image89.png"/><Relationship Id="rId20" Type="http://schemas.openxmlformats.org/officeDocument/2006/relationships/image" Target="../media/image63.png"/><Relationship Id="rId41" Type="http://schemas.openxmlformats.org/officeDocument/2006/relationships/image" Target="../media/image84.png"/><Relationship Id="rId1" Type="http://schemas.openxmlformats.org/officeDocument/2006/relationships/slideLayout" Target="../slideLayouts/slideLayout13.xml"/><Relationship Id="rId6" Type="http://schemas.openxmlformats.org/officeDocument/2006/relationships/image" Target="../media/image49.sv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9.xml"/><Relationship Id="rId1" Type="http://schemas.openxmlformats.org/officeDocument/2006/relationships/slideLayout" Target="../slideLayouts/slideLayout36.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32.xml"/><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44.svg"/></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6.xml"/></Relationships>
</file>

<file path=ppt/slides/_rels/slide154.xml.rels><?xml version="1.0" encoding="UTF-8" standalone="yes"?>
<Relationships xmlns="http://schemas.openxmlformats.org/package/2006/relationships"><Relationship Id="rId3" Type="http://schemas.openxmlformats.org/officeDocument/2006/relationships/hyperlink" Target="https://aka.ms/factorynom" TargetMode="External"/><Relationship Id="rId2" Type="http://schemas.openxmlformats.org/officeDocument/2006/relationships/notesSlide" Target="../notesSlides/notesSlide135.xml"/><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60.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6.xml"/></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6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6.xml"/></Relationships>
</file>

<file path=ppt/slides/_rels/slide16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3" Type="http://schemas.openxmlformats.org/officeDocument/2006/relationships/slide" Target="slide167.xml"/><Relationship Id="rId2" Type="http://schemas.openxmlformats.org/officeDocument/2006/relationships/notesSlide" Target="../notesSlides/notesSlide140.xml"/><Relationship Id="rId1" Type="http://schemas.openxmlformats.org/officeDocument/2006/relationships/slideLayout" Target="../slideLayouts/slideLayout13.xml"/><Relationship Id="rId4" Type="http://schemas.openxmlformats.org/officeDocument/2006/relationships/hyperlink" Target="https://aka.ms/AzureOfferNavigator" TargetMode="External"/></Relationships>
</file>

<file path=ppt/slides/_rels/slide168.xml.rels><?xml version="1.0" encoding="UTF-8" standalone="yes"?>
<Relationships xmlns="http://schemas.openxmlformats.org/package/2006/relationships"><Relationship Id="rId3" Type="http://schemas.openxmlformats.org/officeDocument/2006/relationships/hyperlink" Target="https://aka.ms/AzureOfferNavigator" TargetMode="External"/><Relationship Id="rId2" Type="http://schemas.openxmlformats.org/officeDocument/2006/relationships/slide" Target="slide167.xml"/><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8DEE-2D0B-3912-8276-F7CE6D968D14}"/>
              </a:ext>
            </a:extLst>
          </p:cNvPr>
          <p:cNvSpPr>
            <a:spLocks noGrp="1"/>
          </p:cNvSpPr>
          <p:nvPr>
            <p:ph type="title"/>
          </p:nvPr>
        </p:nvSpPr>
        <p:spPr>
          <a:xfrm>
            <a:off x="584199" y="1956062"/>
            <a:ext cx="9492130" cy="1785104"/>
          </a:xfrm>
        </p:spPr>
        <p:txBody>
          <a:bodyPr/>
          <a:lstStyle/>
          <a:p>
            <a:r>
              <a:rPr lang="en-US" noProof="0" dirty="0"/>
              <a:t>Frontier Accelerate for Azure</a:t>
            </a:r>
            <a:r>
              <a:rPr lang="en-US" dirty="0"/>
              <a:t>, </a:t>
            </a:r>
            <a:r>
              <a:rPr lang="en-US" noProof="0" dirty="0"/>
              <a:t>AI Business Solutions, &amp; Security: </a:t>
            </a:r>
            <a:br>
              <a:rPr lang="en-US" noProof="0" dirty="0"/>
            </a:br>
            <a:r>
              <a:rPr lang="en-US" sz="3600" noProof="0" dirty="0">
                <a:solidFill>
                  <a:schemeClr val="tx1"/>
                </a:solidFill>
              </a:rPr>
              <a:t>Cloud Accelerate Factory Service Descriptions</a:t>
            </a:r>
            <a:endParaRPr lang="en-US" noProof="0" dirty="0">
              <a:solidFill>
                <a:schemeClr val="tx1"/>
              </a:solidFill>
            </a:endParaRPr>
          </a:p>
        </p:txBody>
      </p:sp>
      <p:sp>
        <p:nvSpPr>
          <p:cNvPr id="3" name="Text Placeholder 2">
            <a:extLst>
              <a:ext uri="{FF2B5EF4-FFF2-40B4-BE49-F238E27FC236}">
                <a16:creationId xmlns:a16="http://schemas.microsoft.com/office/drawing/2014/main" id="{D284B0AB-09DA-0DFB-7305-C5AEA247F935}"/>
              </a:ext>
            </a:extLst>
          </p:cNvPr>
          <p:cNvSpPr>
            <a:spLocks noGrp="1"/>
          </p:cNvSpPr>
          <p:nvPr>
            <p:ph type="body" sz="quarter" idx="12"/>
          </p:nvPr>
        </p:nvSpPr>
        <p:spPr>
          <a:xfrm>
            <a:off x="584200" y="4884448"/>
            <a:ext cx="1183640" cy="246063"/>
          </a:xfrm>
        </p:spPr>
        <p:txBody>
          <a:bodyPr vert="horz" wrap="square" lIns="0" tIns="0" rIns="0" bIns="0" rtlCol="0" anchor="t">
            <a:spAutoFit/>
          </a:bodyPr>
          <a:lstStyle/>
          <a:p>
            <a:r>
              <a:rPr lang="en-US" noProof="0" dirty="0">
                <a:latin typeface="+mj-lt"/>
              </a:rPr>
              <a:t>July 2026</a:t>
            </a:r>
          </a:p>
        </p:txBody>
      </p:sp>
      <p:sp>
        <p:nvSpPr>
          <p:cNvPr id="12" name="Rectangle: Rounded Corners 11">
            <a:extLst>
              <a:ext uri="{FF2B5EF4-FFF2-40B4-BE49-F238E27FC236}">
                <a16:creationId xmlns:a16="http://schemas.microsoft.com/office/drawing/2014/main" id="{15AF0F50-7A0A-072F-86E8-F809F7CC8E6C}"/>
              </a:ext>
            </a:extLst>
          </p:cNvPr>
          <p:cNvSpPr/>
          <p:nvPr/>
        </p:nvSpPr>
        <p:spPr bwMode="auto">
          <a:xfrm>
            <a:off x="584200" y="4268039"/>
            <a:ext cx="1737360" cy="8953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kern="0" noProof="0" dirty="0">
              <a:solidFill>
                <a:schemeClr val="bg1"/>
              </a:solidFill>
              <a:latin typeface="+mj-lt"/>
              <a:ea typeface="+mj-ea"/>
              <a:cs typeface="+mj-cs"/>
            </a:endParaRPr>
          </a:p>
        </p:txBody>
      </p:sp>
      <p:sp>
        <p:nvSpPr>
          <p:cNvPr id="5" name="Rectangle: Rounded Corners 4">
            <a:extLst>
              <a:ext uri="{FF2B5EF4-FFF2-40B4-BE49-F238E27FC236}">
                <a16:creationId xmlns:a16="http://schemas.microsoft.com/office/drawing/2014/main" id="{0D1E1062-4EA1-F599-6BD1-F7FC877FA763}"/>
              </a:ext>
            </a:extLst>
          </p:cNvPr>
          <p:cNvSpPr/>
          <p:nvPr/>
        </p:nvSpPr>
        <p:spPr bwMode="auto">
          <a:xfrm>
            <a:off x="1383914" y="-373140"/>
            <a:ext cx="5260634" cy="158213"/>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992187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B9E03-F1AC-6852-F3BC-DA81C0258145}"/>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DA45587-F806-8AD3-06EA-625D15D0161B}"/>
              </a:ext>
            </a:extLst>
          </p:cNvPr>
          <p:cNvSpPr>
            <a:spLocks/>
          </p:cNvSpPr>
          <p:nvPr/>
        </p:nvSpPr>
        <p:spPr bwMode="auto">
          <a:xfrm>
            <a:off x="588963" y="1432561"/>
            <a:ext cx="11017250" cy="4825999"/>
          </a:xfrm>
          <a:prstGeom prst="roundRect">
            <a:avLst>
              <a:gd name="adj" fmla="val 285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 name="Title 4">
            <a:extLst>
              <a:ext uri="{FF2B5EF4-FFF2-40B4-BE49-F238E27FC236}">
                <a16:creationId xmlns:a16="http://schemas.microsoft.com/office/drawing/2014/main" id="{0D2EC019-4010-7EC3-3AF3-D61DB9BD726D}"/>
              </a:ext>
            </a:extLst>
          </p:cNvPr>
          <p:cNvSpPr>
            <a:spLocks noGrp="1"/>
          </p:cNvSpPr>
          <p:nvPr>
            <p:ph type="title"/>
          </p:nvPr>
        </p:nvSpPr>
        <p:spPr>
          <a:xfrm>
            <a:off x="588263" y="457200"/>
            <a:ext cx="11018520" cy="553998"/>
          </a:xfrm>
        </p:spPr>
        <p:txBody>
          <a:bodyPr/>
          <a:lstStyle/>
          <a:p>
            <a:r>
              <a:rPr lang="en-US" noProof="0" dirty="0"/>
              <a:t>General Requirements for Cloud Accelerate Factory</a:t>
            </a:r>
          </a:p>
        </p:txBody>
      </p:sp>
      <p:graphicFrame>
        <p:nvGraphicFramePr>
          <p:cNvPr id="18" name="think-cell data - do not delete" hidden="1">
            <a:extLst>
              <a:ext uri="{FF2B5EF4-FFF2-40B4-BE49-F238E27FC236}">
                <a16:creationId xmlns:a16="http://schemas.microsoft.com/office/drawing/2014/main" id="{99C450F6-F884-148F-59EF-54478E14D538}"/>
              </a:ext>
              <a:ext uri="{C183D7F6-B498-43B3-948B-1728B52AA6E4}">
                <adec:decorative xmlns:adec="http://schemas.microsoft.com/office/drawing/2017/decorative" val="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99C450F6-F884-148F-59EF-54478E14D538}"/>
                          </a:ext>
                          <a:ext uri="{C183D7F6-B498-43B3-948B-1728B52AA6E4}">
                            <adec:decorative xmlns:adec="http://schemas.microsoft.com/office/drawing/2017/decorative" val="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 name="TextBox 23">
            <a:extLst>
              <a:ext uri="{FF2B5EF4-FFF2-40B4-BE49-F238E27FC236}">
                <a16:creationId xmlns:a16="http://schemas.microsoft.com/office/drawing/2014/main" id="{D1C2A951-4B93-296C-E1F5-8518DF0549FC}"/>
              </a:ext>
            </a:extLst>
          </p:cNvPr>
          <p:cNvSpPr txBox="1"/>
          <p:nvPr/>
        </p:nvSpPr>
        <p:spPr>
          <a:xfrm>
            <a:off x="588963" y="1432561"/>
            <a:ext cx="11014074" cy="4555093"/>
          </a:xfrm>
          <a:prstGeom prst="rect">
            <a:avLst/>
          </a:prstGeom>
          <a:noFill/>
        </p:spPr>
        <p:txBody>
          <a:bodyPr wrap="square" lIns="91440" tIns="91440" rIns="91440" bIns="91440" rtlCol="0" anchor="t">
            <a:spAutoFit/>
          </a:bodyPr>
          <a:lstStyle/>
          <a:p>
            <a:pPr marL="266700" indent="-266700">
              <a:spcAft>
                <a:spcPts val="1200"/>
              </a:spcAft>
              <a:buFont typeface="Arial" panose="020B0604020202020204" pitchFamily="34" charset="0"/>
              <a:buChar char="•"/>
            </a:pPr>
            <a:r>
              <a:rPr lang="en-US" sz="1600" noProof="0" dirty="0"/>
              <a:t>Factory execution is delivered leveraging a remote delivery model including on-shore and/or off-shore resources</a:t>
            </a:r>
          </a:p>
          <a:p>
            <a:pPr marL="266700" indent="-266700">
              <a:spcAft>
                <a:spcPts val="1200"/>
              </a:spcAft>
              <a:buFont typeface="Arial" panose="020B0604020202020204" pitchFamily="34" charset="0"/>
              <a:buChar char="•"/>
            </a:pPr>
            <a:r>
              <a:rPr lang="en-US" sz="1600" noProof="0" dirty="0"/>
              <a:t>Hands-on keyboard delivery by Factory resources requires the end customer to have an active Unified agreement in place OR an active Factory agreement signed. No other contracts or custom terms with either partner or customer are necessary or supported for Factory execution</a:t>
            </a:r>
            <a:endParaRPr lang="en-US" sz="1600" noProof="0" dirty="0">
              <a:effectLst/>
            </a:endParaRPr>
          </a:p>
          <a:p>
            <a:pPr marL="266700" indent="-266700">
              <a:spcAft>
                <a:spcPts val="1200"/>
              </a:spcAft>
              <a:buFont typeface="Arial" panose="020B0604020202020204" pitchFamily="34" charset="0"/>
              <a:buChar char="•"/>
            </a:pPr>
            <a:r>
              <a:rPr lang="en-US" sz="1600" noProof="0" dirty="0">
                <a:effectLst/>
              </a:rPr>
              <a:t>Required </a:t>
            </a:r>
            <a:r>
              <a:rPr lang="en-US" sz="1600" noProof="0" dirty="0"/>
              <a:t>Factory</a:t>
            </a:r>
            <a:r>
              <a:rPr lang="en-US" sz="1600" noProof="0" dirty="0">
                <a:effectLst/>
              </a:rPr>
              <a:t> resources will be available within two weeks of notification</a:t>
            </a:r>
            <a:endParaRPr lang="en-US" sz="1600" noProof="0" dirty="0">
              <a:effectLst/>
              <a:cs typeface="Segoe Sans Text"/>
            </a:endParaRPr>
          </a:p>
          <a:p>
            <a:pPr marL="266700" indent="-266700">
              <a:spcAft>
                <a:spcPts val="1200"/>
              </a:spcAft>
              <a:buFont typeface="Arial" panose="020B0604020202020204" pitchFamily="34" charset="0"/>
              <a:buChar char="•"/>
            </a:pPr>
            <a:r>
              <a:rPr lang="en-US" sz="1600" noProof="0" dirty="0">
                <a:effectLst/>
              </a:rPr>
              <a:t>The </a:t>
            </a:r>
            <a:r>
              <a:rPr lang="en-US" sz="1600" noProof="0" dirty="0"/>
              <a:t>Factory</a:t>
            </a:r>
            <a:r>
              <a:rPr lang="en-US" sz="1600" noProof="0" dirty="0">
                <a:effectLst/>
              </a:rPr>
              <a:t> team can operate within regional time zones across Asia, EMEA, and the Americas as per customer business requirements</a:t>
            </a:r>
            <a:endParaRPr lang="en-US" sz="1600" noProof="0" dirty="0"/>
          </a:p>
          <a:p>
            <a:pPr marL="266700" indent="-266700">
              <a:spcAft>
                <a:spcPts val="1200"/>
              </a:spcAft>
              <a:buFont typeface="Arial" panose="020B0604020202020204" pitchFamily="34" charset="0"/>
              <a:buChar char="•"/>
            </a:pPr>
            <a:r>
              <a:rPr lang="en-US" sz="1600" noProof="0" dirty="0"/>
              <a:t>In general, Factory scope will exclude any rewrite or re-architecture of solutions across all supported workloads (for example, modification of business logic within applications)</a:t>
            </a:r>
            <a:endParaRPr lang="en-US" sz="1600" noProof="0" dirty="0">
              <a:effectLst/>
            </a:endParaRPr>
          </a:p>
          <a:p>
            <a:pPr marL="266700" indent="-266700">
              <a:spcAft>
                <a:spcPts val="1200"/>
              </a:spcAft>
              <a:buFont typeface="Arial" panose="020B0604020202020204" pitchFamily="34" charset="0"/>
              <a:buChar char="•"/>
            </a:pPr>
            <a:r>
              <a:rPr lang="en-US" sz="1600" noProof="0" dirty="0">
                <a:effectLst/>
              </a:rPr>
              <a:t>Partner/customer must own the overall project governance. </a:t>
            </a:r>
            <a:r>
              <a:rPr lang="en-US" sz="1600" noProof="0" dirty="0"/>
              <a:t>Factory</a:t>
            </a:r>
            <a:r>
              <a:rPr lang="en-US" sz="1600" noProof="0" dirty="0">
                <a:effectLst/>
              </a:rPr>
              <a:t> Project coordinator will own and drive the execution of </a:t>
            </a:r>
            <a:r>
              <a:rPr lang="en-US" sz="1600" noProof="0" dirty="0"/>
              <a:t>Factory</a:t>
            </a:r>
            <a:r>
              <a:rPr lang="en-US" sz="1600" noProof="0" dirty="0">
                <a:effectLst/>
              </a:rPr>
              <a:t> scope and operate under the direction of the partner/customer project manager</a:t>
            </a:r>
            <a:endParaRPr lang="en-US" sz="1600" noProof="0" dirty="0"/>
          </a:p>
          <a:p>
            <a:pPr marL="266700" indent="-266700">
              <a:spcAft>
                <a:spcPts val="1200"/>
              </a:spcAft>
              <a:buFont typeface="Arial" panose="020B0604020202020204" pitchFamily="34" charset="0"/>
              <a:buChar char="•"/>
            </a:pPr>
            <a:r>
              <a:rPr lang="en-US" sz="1600" noProof="0" dirty="0">
                <a:effectLst/>
              </a:rPr>
              <a:t>This document outlines the standard scope details and execution </a:t>
            </a:r>
            <a:r>
              <a:rPr lang="en-US" sz="1600" noProof="0" dirty="0"/>
              <a:t>process flows for the joint delivery by Factory, customer, and partner teams. Any non-standard or other custom requirements should be shared and validated for Factory coverage. The Factory team can be </a:t>
            </a:r>
            <a:r>
              <a:rPr lang="en-US" sz="1600" noProof="0" dirty="0">
                <a:solidFill>
                  <a:schemeClr val="tx2"/>
                </a:solidFill>
                <a:ea typeface="Segoe UI" panose="020B0502040204020203" pitchFamily="34" charset="0"/>
                <a:cs typeface="Segoe Sans Text"/>
                <a:hlinkClick r:id="rId6">
                  <a:extLst>
                    <a:ext uri="{A12FA001-AC4F-418D-AE19-62706E023703}">
                      <ahyp:hlinkClr xmlns:ahyp="http://schemas.microsoft.com/office/drawing/2018/hyperlinkcolor" val="tx"/>
                    </a:ext>
                  </a:extLst>
                </a:hlinkClick>
              </a:rPr>
              <a:t>contacted by email</a:t>
            </a:r>
            <a:r>
              <a:rPr lang="en-US" sz="1600" noProof="0" dirty="0">
                <a:solidFill>
                  <a:schemeClr val="tx2"/>
                </a:solidFill>
              </a:rPr>
              <a:t> </a:t>
            </a:r>
            <a:r>
              <a:rPr lang="en-US" sz="1600" noProof="0" dirty="0"/>
              <a:t>for any questions</a:t>
            </a:r>
            <a:endParaRPr lang="en-US" sz="1600" noProof="0" dirty="0">
              <a:effectLst/>
              <a:cs typeface="Segoe Sans Text"/>
            </a:endParaRPr>
          </a:p>
        </p:txBody>
      </p:sp>
    </p:spTree>
    <p:extLst>
      <p:ext uri="{BB962C8B-B14F-4D97-AF65-F5344CB8AC3E}">
        <p14:creationId xmlns:p14="http://schemas.microsoft.com/office/powerpoint/2010/main" val="3554176464"/>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12B1A89C-36A3-CC60-1CD3-B0558883A99D}"/>
              </a:ext>
            </a:extLst>
          </p:cNvPr>
          <p:cNvSpPr txBox="1">
            <a:spLocks/>
          </p:cNvSpPr>
          <p:nvPr/>
        </p:nvSpPr>
        <p:spPr>
          <a:xfrm>
            <a:off x="588963" y="457200"/>
            <a:ext cx="11017250" cy="1107996"/>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r>
              <a:rPr lang="en-US" noProof="0" dirty="0"/>
              <a:t>Contracting Guidance for Cloud Accelerate Factory Engagements</a:t>
            </a:r>
          </a:p>
        </p:txBody>
      </p:sp>
      <p:sp>
        <p:nvSpPr>
          <p:cNvPr id="4" name="Content Placeholder 2">
            <a:extLst>
              <a:ext uri="{FF2B5EF4-FFF2-40B4-BE49-F238E27FC236}">
                <a16:creationId xmlns:a16="http://schemas.microsoft.com/office/drawing/2014/main" id="{691FDCC0-BA1D-ACAF-0520-51C3D8F060F9}"/>
              </a:ext>
            </a:extLst>
          </p:cNvPr>
          <p:cNvSpPr txBox="1">
            <a:spLocks/>
          </p:cNvSpPr>
          <p:nvPr/>
        </p:nvSpPr>
        <p:spPr>
          <a:xfrm>
            <a:off x="585217" y="1682433"/>
            <a:ext cx="11018520" cy="3924151"/>
          </a:xfrm>
          <a:prstGeom prst="rect">
            <a:avLst/>
          </a:prstGeom>
        </p:spPr>
        <p:txBody>
          <a:bodyPr tIns="91440" bIns="91440">
            <a:spAutoFit/>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1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9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04788" indent="-204788">
              <a:spcBef>
                <a:spcPts val="0"/>
              </a:spcBef>
              <a:spcAft>
                <a:spcPts val="1000"/>
              </a:spcAft>
              <a:buSzPct val="100000"/>
              <a:buFont typeface="Arial" panose="020B0604020202020204" pitchFamily="34" charset="0"/>
              <a:buChar char="•"/>
              <a:defRPr/>
            </a:pPr>
            <a:r>
              <a:rPr kumimoji="0" lang="en-US" sz="1400" i="0" u="none" strike="noStrike" kern="1200" cap="none" spc="0" normalizeH="0" baseline="0" noProof="0" dirty="0">
                <a:ln>
                  <a:noFill/>
                </a:ln>
                <a:effectLst/>
                <a:uLnTx/>
                <a:uFillTx/>
                <a:latin typeface="+mj-lt"/>
                <a:ea typeface="+mj-ea"/>
                <a:cs typeface="+mj-cs"/>
              </a:rPr>
              <a:t>Partner can reference the dependency on </a:t>
            </a:r>
            <a:r>
              <a:rPr lang="en-US" sz="1400" noProof="0" dirty="0">
                <a:latin typeface="+mj-lt"/>
                <a:ea typeface="+mj-ea"/>
                <a:cs typeface="+mj-cs"/>
              </a:rPr>
              <a:t>Factory</a:t>
            </a:r>
            <a:r>
              <a:rPr kumimoji="0" lang="en-US" sz="1400" i="0" u="none" strike="noStrike" kern="1200" cap="none" spc="0" normalizeH="0" baseline="0" noProof="0" dirty="0">
                <a:ln>
                  <a:noFill/>
                </a:ln>
                <a:effectLst/>
                <a:uLnTx/>
                <a:uFillTx/>
                <a:latin typeface="+mj-lt"/>
                <a:ea typeface="+mj-ea"/>
                <a:cs typeface="+mj-cs"/>
              </a:rPr>
              <a:t> </a:t>
            </a:r>
            <a:r>
              <a:rPr kumimoji="0" lang="en-US" sz="1400" b="0" i="0" u="none" strike="noStrike" kern="1200" cap="none" spc="0" normalizeH="0" baseline="0" noProof="0" dirty="0">
                <a:ln>
                  <a:noFill/>
                </a:ln>
                <a:effectLst/>
                <a:uLnTx/>
                <a:uFillTx/>
                <a:cs typeface="+mn-cs"/>
              </a:rPr>
              <a:t>delivered scope of work in their communications with the customer, but there is no contract between Microsoft and the partner for the Factory delivery—it is a side-by-side execution and contracting for Factory and the partner separately with the customer</a:t>
            </a:r>
          </a:p>
          <a:p>
            <a:pPr marL="533400" lvl="1" indent="-209550">
              <a:spcBef>
                <a:spcPts val="0"/>
              </a:spcBef>
              <a:spcAft>
                <a:spcPts val="1200"/>
              </a:spcAft>
              <a:buClr>
                <a:schemeClr val="tx1"/>
              </a:buClr>
              <a:buSzPct val="100000"/>
              <a:buFont typeface="Segoe Sans Text" pitchFamily="2" charset="0"/>
              <a:buChar char="‒"/>
              <a:defRPr/>
            </a:pPr>
            <a:r>
              <a:rPr kumimoji="0" lang="en-US" sz="1200" b="0" i="1" u="none" strike="noStrike" kern="1200" cap="none" spc="0" normalizeH="0" baseline="0" noProof="0" dirty="0">
                <a:ln>
                  <a:noFill/>
                </a:ln>
                <a:effectLst/>
                <a:uLnTx/>
                <a:uFillTx/>
              </a:rPr>
              <a:t>SAMPLE LANGUAGE: We &lt;partner name&gt;, provide the orchestration and oversight of the Microsoft Cloud Accelerate Factory (Factory) delivery services as part of our offer and SOW. The Factory</a:t>
            </a:r>
            <a:r>
              <a:rPr kumimoji="0" lang="en-US" sz="1200" b="0" i="1" u="none" strike="noStrike" kern="1200" cap="none" spc="0" normalizeH="0" baseline="0" noProof="0" dirty="0">
                <a:ln>
                  <a:noFill/>
                </a:ln>
                <a:effectLst/>
                <a:uLnTx/>
                <a:uFillTx/>
                <a:ea typeface="Aptos" panose="020B0004020202020204" pitchFamily="34" charset="0"/>
                <a:cs typeface="Segoe Sans Text" pitchFamily="2" charset="0"/>
              </a:rPr>
              <a:t> services are contracted and delivered directly to you (the customer) by Microsoft typically as part of the Unified Agreement. &lt;Partner name&gt;‘s estimated efforts and project schedule are dependent on the delivery of the Factory scope of work which is contracted directly between you (customer) and Microsoft.</a:t>
            </a:r>
            <a:endParaRPr kumimoji="0" lang="en-US" sz="1200" b="0" i="1" u="none" strike="noStrike" kern="1200" cap="none" spc="0" normalizeH="0" baseline="0" noProof="0" dirty="0">
              <a:ln>
                <a:noFill/>
              </a:ln>
              <a:effectLst/>
              <a:uLnTx/>
              <a:uFillTx/>
            </a:endParaRPr>
          </a:p>
          <a:p>
            <a:pPr marL="204788" indent="-204788">
              <a:spcBef>
                <a:spcPts val="200"/>
              </a:spcBef>
              <a:spcAft>
                <a:spcPts val="1200"/>
              </a:spcAft>
              <a:buSzPct val="100000"/>
              <a:buFont typeface="Arial" panose="020B0604020202020204" pitchFamily="34" charset="0"/>
              <a:buChar char="•"/>
              <a:defRPr/>
            </a:pPr>
            <a:r>
              <a:rPr kumimoji="0" lang="en-US" sz="1400" i="0" u="none" strike="noStrike" kern="1200" cap="none" spc="0" normalizeH="0" baseline="0" noProof="0" dirty="0">
                <a:ln>
                  <a:noFill/>
                </a:ln>
                <a:effectLst/>
                <a:uLnTx/>
                <a:uFillTx/>
                <a:latin typeface="+mj-lt"/>
                <a:ea typeface="+mj-ea"/>
                <a:cs typeface="+mj-cs"/>
              </a:rPr>
              <a:t>Cloud Accelerate Factory operates under customer‘s Unified Agreement </a:t>
            </a:r>
            <a:r>
              <a:rPr lang="en-US" sz="1400" noProof="0" dirty="0">
                <a:cs typeface="+mn-cs"/>
              </a:rPr>
              <a:t>or under the two-page </a:t>
            </a:r>
            <a:r>
              <a:rPr kumimoji="0" lang="en-US" sz="1400" b="0" i="0" u="none" strike="noStrike" kern="1200" cap="none" spc="0" normalizeH="0" baseline="0" noProof="0" dirty="0">
                <a:ln>
                  <a:noFill/>
                </a:ln>
                <a:effectLst/>
                <a:uLnTx/>
                <a:uFillTx/>
                <a:cs typeface="+mn-cs"/>
              </a:rPr>
              <a:t>Factory</a:t>
            </a:r>
            <a:r>
              <a:rPr lang="en-US" sz="1400" noProof="0" dirty="0">
                <a:cs typeface="+mn-cs"/>
              </a:rPr>
              <a:t> Agreement signed by the customer to enable required terms and conditions (Ts and Cs) for hands-on-keyboard delivery work</a:t>
            </a:r>
          </a:p>
          <a:p>
            <a:pPr marL="204788" indent="-204788">
              <a:spcBef>
                <a:spcPts val="200"/>
              </a:spcBef>
              <a:spcAft>
                <a:spcPts val="1200"/>
              </a:spcAft>
              <a:buSzPct val="100000"/>
              <a:buFont typeface="Arial" panose="020B0604020202020204" pitchFamily="34" charset="0"/>
              <a:buChar char="•"/>
              <a:defRPr/>
            </a:pPr>
            <a:r>
              <a:rPr kumimoji="0" lang="en-US" sz="1400" i="0" u="none" strike="noStrike" kern="1200" cap="none" spc="0" normalizeH="0" baseline="0" noProof="0" dirty="0">
                <a:ln>
                  <a:noFill/>
                </a:ln>
                <a:effectLst/>
                <a:uLnTx/>
                <a:uFillTx/>
                <a:latin typeface="+mj-lt"/>
                <a:ea typeface="+mj-ea"/>
                <a:cs typeface="+mj-cs"/>
              </a:rPr>
              <a:t>No other contracts required or supported </a:t>
            </a:r>
            <a:r>
              <a:rPr kumimoji="0" lang="en-US" sz="1400" b="0" i="0" u="none" strike="noStrike" kern="1200" cap="none" spc="0" normalizeH="0" baseline="0" noProof="0" dirty="0">
                <a:ln>
                  <a:noFill/>
                </a:ln>
                <a:effectLst/>
                <a:uLnTx/>
                <a:uFillTx/>
                <a:cs typeface="+mn-cs"/>
              </a:rPr>
              <a:t>for Factory execution, either with customers or partners</a:t>
            </a:r>
            <a:endParaRPr kumimoji="0" lang="en-US" sz="1400" i="0" u="none" strike="noStrike" kern="1200" cap="none" spc="0" normalizeH="0" baseline="0" noProof="0" dirty="0">
              <a:ln>
                <a:noFill/>
              </a:ln>
              <a:effectLst/>
              <a:uLnTx/>
              <a:uFillTx/>
              <a:cs typeface="+mn-cs"/>
            </a:endParaRPr>
          </a:p>
          <a:p>
            <a:pPr marL="204788" indent="-204788">
              <a:spcBef>
                <a:spcPts val="200"/>
              </a:spcBef>
              <a:spcAft>
                <a:spcPts val="1200"/>
              </a:spcAft>
              <a:buSzPct val="100000"/>
              <a:buFont typeface="Arial" panose="020B0604020202020204" pitchFamily="34" charset="0"/>
              <a:buChar char="•"/>
              <a:defRPr/>
            </a:pPr>
            <a:r>
              <a:rPr kumimoji="0" lang="en-US" sz="1400" i="0" u="none" strike="noStrike" kern="1200" cap="none" spc="0" normalizeH="0" baseline="0" noProof="0" dirty="0">
                <a:ln>
                  <a:noFill/>
                </a:ln>
                <a:effectLst/>
                <a:uLnTx/>
                <a:uFillTx/>
                <a:latin typeface="+mj-lt"/>
                <a:ea typeface="+mj-ea"/>
                <a:cs typeface="+mj-cs"/>
              </a:rPr>
              <a:t>Scope to be delivered by Cloud Accelerate Factory is documented </a:t>
            </a:r>
            <a:r>
              <a:rPr kumimoji="0" lang="en-US" sz="1400" b="0" i="0" u="none" strike="noStrike" kern="1200" cap="none" spc="0" normalizeH="0" baseline="0" noProof="0" dirty="0">
                <a:ln>
                  <a:noFill/>
                </a:ln>
                <a:effectLst/>
                <a:uLnTx/>
                <a:uFillTx/>
                <a:cs typeface="+mn-cs"/>
              </a:rPr>
              <a:t>as part of the execution lifecycle by the Factory PM to the customer and partner; this is not part of a legal contract, but instead is part of standard project execution documentation</a:t>
            </a:r>
            <a:endParaRPr kumimoji="0" lang="en-US" sz="1400" b="0" i="1" u="none" strike="noStrike" kern="1200" cap="none" spc="0" normalizeH="0" baseline="0" noProof="0" dirty="0">
              <a:ln>
                <a:noFill/>
              </a:ln>
              <a:effectLst/>
              <a:uLnTx/>
              <a:uFillTx/>
              <a:cs typeface="+mn-cs"/>
            </a:endParaRPr>
          </a:p>
          <a:p>
            <a:pPr marL="204788" indent="-204788">
              <a:spcBef>
                <a:spcPts val="200"/>
              </a:spcBef>
              <a:spcAft>
                <a:spcPts val="1200"/>
              </a:spcAft>
              <a:buSzPct val="100000"/>
              <a:buFont typeface="Arial" panose="020B0604020202020204" pitchFamily="34" charset="0"/>
              <a:buChar char="•"/>
              <a:defRPr/>
            </a:pPr>
            <a:r>
              <a:rPr kumimoji="0" lang="en-US" sz="1400" i="0" u="none" strike="noStrike" kern="1200" cap="none" spc="0" normalizeH="0" baseline="0" noProof="0" dirty="0">
                <a:ln>
                  <a:noFill/>
                </a:ln>
                <a:effectLst/>
                <a:uLnTx/>
                <a:uFillTx/>
                <a:latin typeface="+mj-lt"/>
                <a:ea typeface="+mj-ea"/>
                <a:cs typeface="+mj-cs"/>
              </a:rPr>
              <a:t>No custom Ts and Cs are supported</a:t>
            </a:r>
            <a:r>
              <a:rPr kumimoji="0" lang="en-US" sz="1400" b="0" i="0" u="none" strike="noStrike" kern="1200" cap="none" spc="0" normalizeH="0" baseline="0" noProof="0" dirty="0">
                <a:ln>
                  <a:noFill/>
                </a:ln>
                <a:effectLst/>
                <a:uLnTx/>
                <a:uFillTx/>
                <a:cs typeface="+mn-cs"/>
              </a:rPr>
              <a:t>—only the standard terms and conditions included in existing Microsoft contracts with the customer (Unified, Factory agreement, MBSA, NDA) will apply</a:t>
            </a:r>
          </a:p>
        </p:txBody>
      </p:sp>
      <p:sp>
        <p:nvSpPr>
          <p:cNvPr id="5" name="TextBox 4">
            <a:extLst>
              <a:ext uri="{FF2B5EF4-FFF2-40B4-BE49-F238E27FC236}">
                <a16:creationId xmlns:a16="http://schemas.microsoft.com/office/drawing/2014/main" id="{F15AE510-EF3A-03CD-BEE3-CC149F5C6B8A}"/>
              </a:ext>
            </a:extLst>
          </p:cNvPr>
          <p:cNvSpPr txBox="1"/>
          <p:nvPr/>
        </p:nvSpPr>
        <p:spPr>
          <a:xfrm>
            <a:off x="586740" y="6568520"/>
            <a:ext cx="11018520" cy="123111"/>
          </a:xfrm>
          <a:prstGeom prst="rect">
            <a:avLst/>
          </a:prstGeom>
          <a:noFill/>
        </p:spPr>
        <p:txBody>
          <a:bodyPr wrap="square" lIns="0" tIns="0" rIns="0" bIns="0" rtlCol="0" anchor="b" anchorCtr="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Note: All contracting guidelines are provided for illustration purposes only and should not be construed as a commitment, promise or guarantee, as it is subject to final approval according to Microsoft policy. </a:t>
            </a:r>
          </a:p>
        </p:txBody>
      </p:sp>
      <p:sp>
        <p:nvSpPr>
          <p:cNvPr id="6" name="Rectangle: Rounded Corners 5">
            <a:extLst>
              <a:ext uri="{FF2B5EF4-FFF2-40B4-BE49-F238E27FC236}">
                <a16:creationId xmlns:a16="http://schemas.microsoft.com/office/drawing/2014/main" id="{0512037D-6859-3A6C-15CC-6D6C7D0CD599}"/>
              </a:ext>
            </a:extLst>
          </p:cNvPr>
          <p:cNvSpPr>
            <a:spLocks/>
          </p:cNvSpPr>
          <p:nvPr/>
        </p:nvSpPr>
        <p:spPr bwMode="auto">
          <a:xfrm>
            <a:off x="588963" y="1682433"/>
            <a:ext cx="11017250" cy="4576127"/>
          </a:xfrm>
          <a:prstGeom prst="roundRect">
            <a:avLst>
              <a:gd name="adj" fmla="val 285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Tree>
    <p:extLst>
      <p:ext uri="{BB962C8B-B14F-4D97-AF65-F5344CB8AC3E}">
        <p14:creationId xmlns:p14="http://schemas.microsoft.com/office/powerpoint/2010/main" val="125614169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4222CA6-9B27-E135-5C07-7A2E19E70C34}"/>
              </a:ext>
            </a:extLst>
          </p:cNvPr>
          <p:cNvSpPr txBox="1">
            <a:spLocks/>
          </p:cNvSpPr>
          <p:nvPr/>
        </p:nvSpPr>
        <p:spPr>
          <a:xfrm>
            <a:off x="404167" y="1887146"/>
            <a:ext cx="5633468" cy="4610932"/>
          </a:xfrm>
          <a:prstGeom prst="roundRect">
            <a:avLst>
              <a:gd name="adj" fmla="val 1901"/>
            </a:avLst>
          </a:prstGeom>
          <a:solidFill>
            <a:srgbClr val="FFFFFF">
              <a:lumMod val="85000"/>
              <a:lumOff val="15000"/>
            </a:srgbClr>
          </a:solidFill>
          <a:ln w="6350">
            <a:solidFill>
              <a:srgbClr val="FFFFFF">
                <a:lumMod val="85000"/>
              </a:srgbClr>
            </a:solidFill>
          </a:ln>
        </p:spPr>
        <p:txBody>
          <a:bodyPr wrap="square" lIns="228600" tIns="45720" rIns="91440" bIns="45720" anchor="ctr">
            <a:noAutofit/>
          </a:bodyPr>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Segoe UI Semibold" panose="020B0502040204020203" pitchFamily="34" charset="0"/>
              <a:ea typeface="+mj-ea"/>
              <a:cs typeface="Segoe UI Semibold" panose="020B0502040204020203" pitchFamily="34" charset="0"/>
            </a:endParaRPr>
          </a:p>
        </p:txBody>
      </p:sp>
      <p:sp>
        <p:nvSpPr>
          <p:cNvPr id="4" name="TextBox 3">
            <a:extLst>
              <a:ext uri="{FF2B5EF4-FFF2-40B4-BE49-F238E27FC236}">
                <a16:creationId xmlns:a16="http://schemas.microsoft.com/office/drawing/2014/main" id="{6E5862CC-01D3-ECAD-F4FF-4D294D323580}"/>
              </a:ext>
            </a:extLst>
          </p:cNvPr>
          <p:cNvSpPr txBox="1"/>
          <p:nvPr/>
        </p:nvSpPr>
        <p:spPr>
          <a:xfrm>
            <a:off x="474371" y="2110163"/>
            <a:ext cx="5493060" cy="386259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Management &amp; delivery governance for the project scope of work</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Enterprise scale Landing Zone deployment and validation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Sans Text"/>
                <a:ea typeface="+mn-ea"/>
                <a:cs typeface="+mn-cs"/>
              </a:rPr>
              <a:t>Agents</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 developed and deployed using CoPilot Studio or Foundry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1st Party or PG approved Tool based Technical assessment &amp; discovery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Sans Text"/>
                <a:ea typeface="+mn-ea"/>
                <a:cs typeface="+mn-cs"/>
              </a:rPr>
              <a:t>Workshop</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 to identify Dependencies and Wave group planning for identified scope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Sans Text"/>
                <a:ea typeface="+mn-ea"/>
                <a:cs typeface="+mn-cs"/>
              </a:rPr>
              <a:t>Migration &amp; Modernization execution</a:t>
            </a:r>
          </a:p>
          <a:p>
            <a:pPr marL="628650" marR="0" lvl="2"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WS/Linux VMs (VMware, Hyper-V, AWS, GCP) – tool based </a:t>
            </a:r>
          </a:p>
          <a:p>
            <a:pPr marL="1085850" marR="0" lvl="4"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AVS deployment + HCX migration setup</a:t>
            </a:r>
          </a:p>
          <a:p>
            <a:pPr marL="1085850" marR="0" lvl="4"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Clean deployment (using standard AVM modules) </a:t>
            </a:r>
          </a:p>
          <a:p>
            <a:pPr marL="628650" marR="0" lvl="2"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Agentic Modernization of .NET / Java apps</a:t>
            </a:r>
          </a:p>
          <a:p>
            <a:pPr marL="628650" marR="0" lvl="2"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Every Infra and App Modernization will include associated DB migration </a:t>
            </a:r>
          </a:p>
          <a:p>
            <a:pPr marL="1085850" marR="0" lvl="4"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SQL Server, MySQL, Postgres 
Oracle/Sybase → Azure SQL or PostgreSQL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Sans Text"/>
                <a:ea typeface="+mn-ea"/>
                <a:cs typeface="+mn-cs"/>
              </a:rPr>
              <a:t>P SKU to F SKU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conversion and deployment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Segoe Sans Text"/>
                <a:ea typeface="+mn-ea"/>
                <a:cs typeface="+mn-cs"/>
              </a:rPr>
              <a:t>Analytics</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 – Jump start scenarios (6-8 weeks) for Lakehouse deployment, PBI migrations , RTI implementation</a:t>
            </a:r>
          </a:p>
          <a:p>
            <a:pPr marL="171450" indent="-171450">
              <a:spcBef>
                <a:spcPts val="600"/>
              </a:spcBef>
              <a:buFont typeface="Arial" panose="020B0604020202020204" pitchFamily="34" charset="0"/>
              <a:buChar char="•"/>
              <a:defRPr/>
            </a:pPr>
            <a:r>
              <a:rPr lang="en-US" sz="1000" b="1" dirty="0">
                <a:solidFill>
                  <a:srgbClr val="000000"/>
                </a:solidFill>
              </a:rPr>
              <a:t>ODAA Migrations / SAP (health checks) / AVD migrations </a:t>
            </a:r>
            <a:r>
              <a:rPr lang="en-US" sz="1000" dirty="0">
                <a:solidFill>
                  <a:srgbClr val="000000"/>
                </a:solidFill>
              </a:rPr>
              <a:t>will be performed as per factory scope 1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All migrations and modernizations will include Arc enablement, Zonal resiliency configurations, DR setup and Security enablement </a:t>
            </a:r>
          </a:p>
        </p:txBody>
      </p:sp>
      <p:sp>
        <p:nvSpPr>
          <p:cNvPr id="5" name="Title 1">
            <a:extLst>
              <a:ext uri="{FF2B5EF4-FFF2-40B4-BE49-F238E27FC236}">
                <a16:creationId xmlns:a16="http://schemas.microsoft.com/office/drawing/2014/main" id="{7FD9DAB9-2025-03D5-3CB6-95FA02FB3C77}"/>
              </a:ext>
            </a:extLst>
          </p:cNvPr>
          <p:cNvSpPr txBox="1">
            <a:spLocks/>
          </p:cNvSpPr>
          <p:nvPr/>
        </p:nvSpPr>
        <p:spPr>
          <a:xfrm>
            <a:off x="372731" y="287819"/>
            <a:ext cx="11018520" cy="553998"/>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200"/>
              </a:spcAft>
              <a:buClrTx/>
              <a:buSzTx/>
              <a:buFontTx/>
              <a:buNone/>
              <a:tabLst/>
              <a:defRPr/>
            </a:pPr>
            <a:r>
              <a:rPr kumimoji="0" lang="en-US" sz="2400" b="0" i="0" u="none" strike="noStrike" kern="1200" cap="none" spc="-50" normalizeH="0" baseline="0" noProof="0" dirty="0">
                <a:ln w="3175">
                  <a:noFill/>
                </a:ln>
                <a:solidFill>
                  <a:srgbClr val="0078D4"/>
                </a:solidFill>
                <a:effectLst/>
                <a:uLnTx/>
                <a:uFillTx/>
                <a:latin typeface="Segoe UI Semibold"/>
                <a:ea typeface="+mn-ea"/>
                <a:cs typeface="Segoe Sans Text" pitchFamily="2" charset="0"/>
              </a:rPr>
              <a:t>Factory’s </a:t>
            </a:r>
            <a:r>
              <a:rPr lang="en-US" sz="2400" noProof="0" dirty="0">
                <a:solidFill>
                  <a:srgbClr val="0078D4"/>
                </a:solidFill>
                <a:latin typeface="Segoe UI Semibold"/>
                <a:cs typeface="Segoe Sans Text" pitchFamily="2" charset="0"/>
              </a:rPr>
              <a:t>Scope and How Factory work </a:t>
            </a:r>
            <a:r>
              <a:rPr kumimoji="0" lang="en-US" sz="2400" b="0" i="0" u="none" strike="noStrike" kern="1200" cap="none" spc="-50" normalizeH="0" baseline="0" noProof="0" dirty="0">
                <a:ln w="3175">
                  <a:noFill/>
                </a:ln>
                <a:solidFill>
                  <a:srgbClr val="0078D4"/>
                </a:solidFill>
                <a:effectLst/>
                <a:uLnTx/>
                <a:uFillTx/>
                <a:latin typeface="Segoe UI Semibold"/>
                <a:ea typeface="+mn-ea"/>
                <a:cs typeface="Segoe Sans Text" pitchFamily="2" charset="0"/>
              </a:rPr>
              <a:t>with Unified / Partners / ISD Jointly</a:t>
            </a:r>
          </a:p>
        </p:txBody>
      </p:sp>
      <p:sp>
        <p:nvSpPr>
          <p:cNvPr id="6" name="TextBox 5">
            <a:extLst>
              <a:ext uri="{FF2B5EF4-FFF2-40B4-BE49-F238E27FC236}">
                <a16:creationId xmlns:a16="http://schemas.microsoft.com/office/drawing/2014/main" id="{9B0CEA5C-36AB-4BD1-549A-B39BEAC6D630}"/>
              </a:ext>
            </a:extLst>
          </p:cNvPr>
          <p:cNvSpPr txBox="1"/>
          <p:nvPr/>
        </p:nvSpPr>
        <p:spPr>
          <a:xfrm>
            <a:off x="372731" y="815222"/>
            <a:ext cx="11700000" cy="482248"/>
          </a:xfrm>
          <a:prstGeom prst="rect">
            <a:avLst/>
          </a:prstGeom>
          <a:noFill/>
        </p:spPr>
        <p:txBody>
          <a:bodyPr wrap="square" lIns="91440" tIns="45720" rIns="91440" bIns="45720" rtlCol="0">
            <a:spAutoFit/>
          </a:bodyPr>
          <a:lstStyle/>
          <a:p>
            <a:pPr lvl="0">
              <a:lnSpc>
                <a:spcPct val="110000"/>
              </a:lnSpc>
              <a:spcAft>
                <a:spcPts val="100"/>
              </a:spcAft>
              <a:defRPr/>
            </a:pPr>
            <a:r>
              <a:rPr lang="en-US" sz="1200" noProof="0" dirty="0"/>
              <a:t>Achieving successful customer outcomes, engagements should have </a:t>
            </a:r>
            <a:r>
              <a:rPr lang="en-US" sz="1200" b="1" i="1" noProof="0" dirty="0"/>
              <a:t>both</a:t>
            </a:r>
            <a:r>
              <a:rPr lang="en-US" sz="1200" noProof="0" dirty="0"/>
              <a:t> Scope 1 and Scope 2.  While the contracts are independent, the delivery will be joint (where applicable) and seamlessly managed for the customer with the Factory PM operating under the Customer/Partner/ISD PM.</a:t>
            </a:r>
            <a:endParaRPr kumimoji="0" lang="en-US" sz="120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endParaRPr>
          </a:p>
        </p:txBody>
      </p:sp>
      <p:sp>
        <p:nvSpPr>
          <p:cNvPr id="7" name="Title 1">
            <a:extLst>
              <a:ext uri="{FF2B5EF4-FFF2-40B4-BE49-F238E27FC236}">
                <a16:creationId xmlns:a16="http://schemas.microsoft.com/office/drawing/2014/main" id="{63074EFF-196F-8B9A-B576-04A58A5BF87A}"/>
              </a:ext>
            </a:extLst>
          </p:cNvPr>
          <p:cNvSpPr txBox="1">
            <a:spLocks/>
          </p:cNvSpPr>
          <p:nvPr/>
        </p:nvSpPr>
        <p:spPr>
          <a:xfrm>
            <a:off x="6271098" y="1887144"/>
            <a:ext cx="5350213" cy="4610933"/>
          </a:xfrm>
          <a:prstGeom prst="roundRect">
            <a:avLst>
              <a:gd name="adj" fmla="val 1901"/>
            </a:avLst>
          </a:prstGeom>
          <a:solidFill>
            <a:srgbClr val="FFFFFF">
              <a:lumMod val="85000"/>
              <a:lumOff val="15000"/>
            </a:srgbClr>
          </a:solidFill>
          <a:ln w="6350">
            <a:solidFill>
              <a:srgbClr val="FFFFFF">
                <a:lumMod val="85000"/>
              </a:srgbClr>
            </a:solidFill>
          </a:ln>
        </p:spPr>
        <p:txBody>
          <a:bodyPr wrap="square" lIns="228600" tIns="45720" rIns="91440" bIns="45720" anchor="ctr">
            <a:noAutofit/>
          </a:bodyPr>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Segoe UI Semibold" panose="020B0502040204020203" pitchFamily="34" charset="0"/>
              <a:ea typeface="+mj-ea"/>
              <a:cs typeface="Segoe UI Semibold" panose="020B0502040204020203" pitchFamily="34" charset="0"/>
            </a:endParaRPr>
          </a:p>
        </p:txBody>
      </p:sp>
      <p:sp>
        <p:nvSpPr>
          <p:cNvPr id="8" name="TextBox 7">
            <a:extLst>
              <a:ext uri="{FF2B5EF4-FFF2-40B4-BE49-F238E27FC236}">
                <a16:creationId xmlns:a16="http://schemas.microsoft.com/office/drawing/2014/main" id="{5CBC6304-0FA4-95BB-539B-F8E3CE4CA08B}"/>
              </a:ext>
            </a:extLst>
          </p:cNvPr>
          <p:cNvSpPr txBox="1"/>
          <p:nvPr/>
        </p:nvSpPr>
        <p:spPr>
          <a:xfrm>
            <a:off x="6472136" y="2513715"/>
            <a:ext cx="4892994" cy="2169825"/>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Program &amp; change management, governance across portfolio of projects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Redesign/Rebuild/code customizations/ code optimizations/ New development of business logic, 3P tools, platforms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Customization of landing zones / Customization of policies for Industry compliance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Advanced testing, business sign-offs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Performance tuning &amp; optimization</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Source-side changes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Post-migration operations, hyper-care beyond 5 days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 consulting, advisory services</a:t>
            </a:r>
          </a:p>
        </p:txBody>
      </p:sp>
      <p:sp>
        <p:nvSpPr>
          <p:cNvPr id="9" name="Rectangle: Top Corners Rounded 8">
            <a:extLst>
              <a:ext uri="{FF2B5EF4-FFF2-40B4-BE49-F238E27FC236}">
                <a16:creationId xmlns:a16="http://schemas.microsoft.com/office/drawing/2014/main" id="{368DF33B-9AFC-E9E0-A46A-0A7801A4B18B}"/>
              </a:ext>
              <a:ext uri="{C183D7F6-B498-43B3-948B-1728B52AA6E4}">
                <adec:decorative xmlns:adec="http://schemas.microsoft.com/office/drawing/2017/decorative" val="1"/>
              </a:ext>
            </a:extLst>
          </p:cNvPr>
          <p:cNvSpPr>
            <a:spLocks/>
          </p:cNvSpPr>
          <p:nvPr/>
        </p:nvSpPr>
        <p:spPr bwMode="auto">
          <a:xfrm>
            <a:off x="404167" y="1638304"/>
            <a:ext cx="5633468" cy="331262"/>
          </a:xfrm>
          <a:prstGeom prst="round2SameRect">
            <a:avLst>
              <a:gd name="adj1" fmla="val 50000"/>
              <a:gd name="adj2" fmla="val 0"/>
            </a:avLst>
          </a:prstGeom>
          <a:gradFill>
            <a:gsLst>
              <a:gs pos="0">
                <a:srgbClr val="0078D4"/>
              </a:gs>
              <a:gs pos="100000">
                <a:srgbClr val="3C8A9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1200"/>
              </a:spcBef>
              <a:spcAft>
                <a:spcPts val="120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Sans Display Semibold"/>
                <a:ea typeface="+mn-ea"/>
                <a:cs typeface="+mn-cs"/>
              </a:rPr>
              <a:t>Scope 1: Factory Led</a:t>
            </a:r>
          </a:p>
        </p:txBody>
      </p:sp>
      <p:sp>
        <p:nvSpPr>
          <p:cNvPr id="10" name="Rectangle: Top Corners Rounded 9">
            <a:extLst>
              <a:ext uri="{FF2B5EF4-FFF2-40B4-BE49-F238E27FC236}">
                <a16:creationId xmlns:a16="http://schemas.microsoft.com/office/drawing/2014/main" id="{16F9CB0F-6931-4F72-E31F-6A95D6A93FA5}"/>
              </a:ext>
              <a:ext uri="{C183D7F6-B498-43B3-948B-1728B52AA6E4}">
                <adec:decorative xmlns:adec="http://schemas.microsoft.com/office/drawing/2017/decorative" val="1"/>
              </a:ext>
            </a:extLst>
          </p:cNvPr>
          <p:cNvSpPr>
            <a:spLocks/>
          </p:cNvSpPr>
          <p:nvPr/>
        </p:nvSpPr>
        <p:spPr bwMode="auto">
          <a:xfrm>
            <a:off x="6271098" y="1638304"/>
            <a:ext cx="5350213" cy="331262"/>
          </a:xfrm>
          <a:prstGeom prst="round2SameRect">
            <a:avLst>
              <a:gd name="adj1" fmla="val 50000"/>
              <a:gd name="adj2" fmla="val 0"/>
            </a:avLst>
          </a:prstGeom>
          <a:gradFill>
            <a:gsLst>
              <a:gs pos="0">
                <a:srgbClr val="0078D4"/>
              </a:gs>
              <a:gs pos="100000">
                <a:srgbClr val="3C8A9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1200"/>
              </a:spcBef>
              <a:spcAft>
                <a:spcPts val="120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Sans Display Semibold"/>
                <a:ea typeface="+mn-ea"/>
                <a:cs typeface="+mn-cs"/>
              </a:rPr>
              <a:t>Scope 2: Unified / ISD/ Partner / Customer Led*</a:t>
            </a:r>
          </a:p>
        </p:txBody>
      </p:sp>
      <p:sp>
        <p:nvSpPr>
          <p:cNvPr id="11" name="TextBox 10">
            <a:extLst>
              <a:ext uri="{FF2B5EF4-FFF2-40B4-BE49-F238E27FC236}">
                <a16:creationId xmlns:a16="http://schemas.microsoft.com/office/drawing/2014/main" id="{649130B5-D56F-C5AE-EB50-C4093D49CA91}"/>
              </a:ext>
            </a:extLst>
          </p:cNvPr>
          <p:cNvSpPr txBox="1"/>
          <p:nvPr/>
        </p:nvSpPr>
        <p:spPr>
          <a:xfrm>
            <a:off x="6472136" y="2103076"/>
            <a:ext cx="4760068"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2" name="TextBox 11">
            <a:extLst>
              <a:ext uri="{FF2B5EF4-FFF2-40B4-BE49-F238E27FC236}">
                <a16:creationId xmlns:a16="http://schemas.microsoft.com/office/drawing/2014/main" id="{A5FB2210-BF51-1418-6467-5015196154CB}"/>
              </a:ext>
            </a:extLst>
          </p:cNvPr>
          <p:cNvSpPr txBox="1"/>
          <p:nvPr/>
        </p:nvSpPr>
        <p:spPr>
          <a:xfrm>
            <a:off x="131134" y="6565612"/>
            <a:ext cx="12145926" cy="323165"/>
          </a:xfrm>
          <a:prstGeom prst="rect">
            <a:avLst/>
          </a:prstGeom>
          <a:noFill/>
        </p:spPr>
        <p:txBody>
          <a:bodyPr wrap="square">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a:p>
            <a:r>
              <a:rPr lang="en-US" sz="750" noProof="0" dirty="0"/>
              <a:t> </a:t>
            </a:r>
          </a:p>
        </p:txBody>
      </p:sp>
    </p:spTree>
    <p:extLst>
      <p:ext uri="{BB962C8B-B14F-4D97-AF65-F5344CB8AC3E}">
        <p14:creationId xmlns:p14="http://schemas.microsoft.com/office/powerpoint/2010/main" val="1418407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200"/>
                                  </p:stCondLst>
                                  <p:childTnLst>
                                    <p:animMotion origin="layout" path="M 4.16667E-7 -2.22222E-6 L 4.16667E-7 0.03542 " pathEditMode="relative" rAng="0" ptsTypes="AA">
                                      <p:cBhvr>
                                        <p:cTn id="9" dur="700" spd="-100000" fill="hold"/>
                                        <p:tgtEl>
                                          <p:spTgt spid="3"/>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42" presetClass="path" presetSubtype="0" decel="100000" fill="hold" grpId="1" nodeType="withEffect">
                                  <p:stCondLst>
                                    <p:cond delay="100"/>
                                  </p:stCondLst>
                                  <p:childTnLst>
                                    <p:animMotion origin="layout" path="M 4.16667E-7 -2.22222E-6 L 4.16667E-7 0.03542 " pathEditMode="relative" rAng="0" ptsTypes="AA">
                                      <p:cBhvr>
                                        <p:cTn id="14" dur="700" spd="-100000" fill="hold"/>
                                        <p:tgtEl>
                                          <p:spTgt spid="9"/>
                                        </p:tgtEl>
                                        <p:attrNameLst>
                                          <p:attrName>ppt_x</p:attrName>
                                          <p:attrName>ppt_y</p:attrName>
                                        </p:attrNameLst>
                                      </p:cBhvr>
                                      <p:rCtr x="0" y="1759"/>
                                    </p:animMotion>
                                  </p:childTnLst>
                                </p:cTn>
                              </p:par>
                              <p:par>
                                <p:cTn id="15" presetID="10" presetClass="entr" presetSubtype="0" fill="hold" grpId="0" nodeType="withEffect">
                                  <p:stCondLst>
                                    <p:cond delay="1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42" presetClass="path" presetSubtype="0" decel="100000" fill="hold" grpId="1" nodeType="withEffect">
                                  <p:stCondLst>
                                    <p:cond delay="100"/>
                                  </p:stCondLst>
                                  <p:childTnLst>
                                    <p:animMotion origin="layout" path="M 4.16667E-7 -2.22222E-6 L 4.16667E-7 0.03542 " pathEditMode="relative" rAng="0" ptsTypes="AA">
                                      <p:cBhvr>
                                        <p:cTn id="19" dur="700" spd="-100000" fill="hold"/>
                                        <p:tgtEl>
                                          <p:spTgt spid="10"/>
                                        </p:tgtEl>
                                        <p:attrNameLst>
                                          <p:attrName>ppt_x</p:attrName>
                                          <p:attrName>ppt_y</p:attrName>
                                        </p:attrNameLst>
                                      </p:cBhvr>
                                      <p:rCtr x="0" y="1759"/>
                                    </p:animMotion>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42" presetClass="path" presetSubtype="0" decel="100000" fill="hold" grpId="1" nodeType="withEffect">
                                  <p:stCondLst>
                                    <p:cond delay="200"/>
                                  </p:stCondLst>
                                  <p:childTnLst>
                                    <p:animMotion origin="layout" path="M 4.16667E-7 -2.22222E-6 L 4.16667E-7 0.03542 " pathEditMode="relative" rAng="0" ptsTypes="AA">
                                      <p:cBhvr>
                                        <p:cTn id="24" dur="700" spd="-100000" fill="hold"/>
                                        <p:tgtEl>
                                          <p:spTgt spid="7"/>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7" grpId="0" animBg="1"/>
      <p:bldP spid="7" grpId="1" animBg="1"/>
      <p:bldP spid="9" grpId="0" animBg="1"/>
      <p:bldP spid="9" grpId="1" animBg="1"/>
      <p:bldP spid="10" grpId="0" animBg="1"/>
      <p:bldP spid="1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6">
            <a:extLst>
              <a:ext uri="{FF2B5EF4-FFF2-40B4-BE49-F238E27FC236}">
                <a16:creationId xmlns:a16="http://schemas.microsoft.com/office/drawing/2014/main" id="{55082F5A-A89A-9CD5-5D5C-C9B62EB8588B}"/>
              </a:ext>
              <a:ext uri="{C183D7F6-B498-43B3-948B-1728B52AA6E4}">
                <adec:decorative xmlns:adec="http://schemas.microsoft.com/office/drawing/2017/decorative" val="1"/>
              </a:ext>
            </a:extLst>
          </p:cNvPr>
          <p:cNvSpPr/>
          <p:nvPr/>
        </p:nvSpPr>
        <p:spPr bwMode="auto">
          <a:xfrm>
            <a:off x="224177" y="1358900"/>
            <a:ext cx="11881120" cy="392630"/>
          </a:xfrm>
          <a:prstGeom prst="uturnArrow">
            <a:avLst>
              <a:gd name="adj1" fmla="val 0"/>
              <a:gd name="adj2" fmla="val 0"/>
              <a:gd name="adj3" fmla="val 0"/>
              <a:gd name="adj4" fmla="val 35067"/>
              <a:gd name="adj5" fmla="val 100000"/>
            </a:avLst>
          </a:prstGeom>
          <a:solidFill>
            <a:schemeClr val="bg1"/>
          </a:solidFill>
          <a:ln w="15875">
            <a:gradFill flip="none" rotWithShape="1">
              <a:gsLst>
                <a:gs pos="0">
                  <a:srgbClr val="2A6B9F"/>
                </a:gs>
                <a:gs pos="100000">
                  <a:srgbClr val="2A5A8A"/>
                </a:gs>
              </a:gsLst>
              <a:lin ang="10800000" scaled="1"/>
              <a:tileRect/>
            </a:gradFill>
          </a:ln>
        </p:spPr>
        <p:txBody>
          <a:bodyPr wrap="square" lIns="0" tIns="0" rIns="0" bIns="0" rtlCol="0" anchor="ctr" anchorCtr="0">
            <a:noAutofit/>
          </a:bodyPr>
          <a:lstStyle/>
          <a:p>
            <a:pPr marL="0" marR="0" lvl="0" indent="0" algn="ctr" defTabSz="2275850" rtl="0" eaLnBrk="1" fontAlgn="base" latinLnBrk="0" hangingPunct="1">
              <a:lnSpc>
                <a:spcPct val="100000"/>
              </a:lnSpc>
              <a:spcBef>
                <a:spcPct val="0"/>
              </a:spcBef>
              <a:spcAft>
                <a:spcPct val="0"/>
              </a:spcAft>
              <a:buClrTx/>
              <a:buSzTx/>
              <a:buFontTx/>
              <a:buNone/>
              <a:tabLst>
                <a:tab pos="3701239" algn="l"/>
              </a:tabLst>
              <a:defRPr/>
            </a:pPr>
            <a:endParaRPr kumimoji="0" lang="en-US" sz="6000" b="1" i="0" u="none" strike="noStrike" kern="1200" cap="none" spc="0" normalizeH="0" baseline="0" noProof="0" dirty="0">
              <a:ln w="3175">
                <a:noFill/>
              </a:ln>
              <a:gradFill>
                <a:gsLst>
                  <a:gs pos="53147">
                    <a:srgbClr val="FFFFFF"/>
                  </a:gs>
                  <a:gs pos="28000">
                    <a:srgbClr val="FFFFFF"/>
                  </a:gs>
                </a:gsLst>
                <a:path path="circle">
                  <a:fillToRect l="100000" b="100000"/>
                </a:path>
              </a:gra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11569B12-20EE-2120-BCB2-9727D54B8F11}"/>
              </a:ext>
            </a:extLst>
          </p:cNvPr>
          <p:cNvSpPr/>
          <p:nvPr/>
        </p:nvSpPr>
        <p:spPr bwMode="auto">
          <a:xfrm>
            <a:off x="140086" y="5023788"/>
            <a:ext cx="11965211" cy="1598040"/>
          </a:xfrm>
          <a:prstGeom prst="roundRect">
            <a:avLst>
              <a:gd name="adj" fmla="val 10768"/>
            </a:avLst>
          </a:prstGeom>
          <a:solidFill>
            <a:srgbClr val="D0D9EB"/>
          </a:solidFill>
          <a:ln>
            <a:solidFill>
              <a:schemeClr val="accent3">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Build a unified, </a:t>
            </a:r>
            <a:b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b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governed </a:t>
            </a:r>
            <a:b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b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data and </a:t>
            </a:r>
            <a:b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b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AI estate</a:t>
            </a:r>
          </a:p>
        </p:txBody>
      </p:sp>
      <p:sp>
        <p:nvSpPr>
          <p:cNvPr id="4" name="Title 1">
            <a:extLst>
              <a:ext uri="{FF2B5EF4-FFF2-40B4-BE49-F238E27FC236}">
                <a16:creationId xmlns:a16="http://schemas.microsoft.com/office/drawing/2014/main" id="{F15403B6-7240-0069-7B63-E5B12FE57CE9}"/>
              </a:ext>
            </a:extLst>
          </p:cNvPr>
          <p:cNvSpPr txBox="1">
            <a:spLocks/>
          </p:cNvSpPr>
          <p:nvPr/>
        </p:nvSpPr>
        <p:spPr>
          <a:xfrm>
            <a:off x="140086" y="28209"/>
            <a:ext cx="11018520" cy="553998"/>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r>
              <a:rPr lang="en-US" noProof="0" dirty="0"/>
              <a:t>Table of Contents</a:t>
            </a:r>
            <a:endParaRPr lang="en-US" sz="1800" noProof="0" dirty="0">
              <a:solidFill>
                <a:srgbClr val="0078D4"/>
              </a:solidFill>
            </a:endParaRPr>
          </a:p>
        </p:txBody>
      </p:sp>
      <p:sp>
        <p:nvSpPr>
          <p:cNvPr id="5" name="Rectangle: Rounded Corners 4">
            <a:extLst>
              <a:ext uri="{FF2B5EF4-FFF2-40B4-BE49-F238E27FC236}">
                <a16:creationId xmlns:a16="http://schemas.microsoft.com/office/drawing/2014/main" id="{1AF88F95-76F5-A454-E163-C94A7645E16C}"/>
              </a:ext>
            </a:extLst>
          </p:cNvPr>
          <p:cNvSpPr/>
          <p:nvPr/>
        </p:nvSpPr>
        <p:spPr bwMode="auto">
          <a:xfrm>
            <a:off x="140086" y="4086397"/>
            <a:ext cx="11965212" cy="913236"/>
          </a:xfrm>
          <a:prstGeom prst="roundRect">
            <a:avLst>
              <a:gd name="adj" fmla="val 12495"/>
            </a:avLst>
          </a:prstGeom>
          <a:solidFill>
            <a:srgbClr val="BFDED6"/>
          </a:solidFill>
          <a:ln>
            <a:solidFill>
              <a:schemeClr val="accent3">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ts val="600"/>
              </a:spcAft>
              <a:buClrTx/>
              <a:buSzTx/>
              <a:buFontTx/>
              <a:buNone/>
              <a:tabLst/>
              <a:defRPr/>
            </a:pP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Ubiquitous</a:t>
            </a:r>
            <a:b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b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innovation </a:t>
            </a:r>
          </a:p>
          <a:p>
            <a:pPr marL="0" marR="0" lvl="0" indent="0" algn="l" defTabSz="932449" rtl="0" eaLnBrk="1" fontAlgn="base" latinLnBrk="0" hangingPunct="1">
              <a:lnSpc>
                <a:spcPct val="100000"/>
              </a:lnSpc>
              <a:spcBef>
                <a:spcPct val="0"/>
              </a:spcBef>
              <a:spcAft>
                <a:spcPts val="600"/>
              </a:spcAft>
              <a:buClrTx/>
              <a:buSzTx/>
              <a:buFontTx/>
              <a:buNone/>
              <a:tabLst/>
              <a:defRPr/>
            </a:pP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Amplify your</a:t>
            </a:r>
            <a:b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b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intelligence </a:t>
            </a:r>
          </a:p>
        </p:txBody>
      </p:sp>
      <p:sp>
        <p:nvSpPr>
          <p:cNvPr id="6" name="Rectangle: Rounded Corners 5">
            <a:extLst>
              <a:ext uri="{FF2B5EF4-FFF2-40B4-BE49-F238E27FC236}">
                <a16:creationId xmlns:a16="http://schemas.microsoft.com/office/drawing/2014/main" id="{48E8D473-F8D2-3B6C-E4F4-9EE2A4BCD404}"/>
              </a:ext>
            </a:extLst>
          </p:cNvPr>
          <p:cNvSpPr/>
          <p:nvPr/>
        </p:nvSpPr>
        <p:spPr bwMode="auto">
          <a:xfrm>
            <a:off x="140086" y="1479602"/>
            <a:ext cx="11965211" cy="2587061"/>
          </a:xfrm>
          <a:prstGeom prst="roundRect">
            <a:avLst>
              <a:gd name="adj" fmla="val 8448"/>
            </a:avLst>
          </a:prstGeom>
          <a:solidFill>
            <a:srgbClr val="D0D9EB"/>
          </a:solidFill>
          <a:ln>
            <a:solidFill>
              <a:schemeClr val="accent3">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Modernize with </a:t>
            </a:r>
          </a:p>
          <a:p>
            <a:pPr marL="0" marR="0" lvl="0" indent="0" algn="l" defTabSz="932449"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lumMod val="75000"/>
                    <a:lumOff val="25000"/>
                  </a:srgbClr>
                </a:solidFill>
                <a:effectLst/>
                <a:uLnTx/>
                <a:uFillTx/>
                <a:latin typeface="Segoe Sans Display Semibold"/>
                <a:ea typeface="+mn-ea"/>
                <a:cs typeface="Segoe UI" pitchFamily="34" charset="0"/>
              </a:rPr>
              <a:t>Confidence</a:t>
            </a:r>
          </a:p>
        </p:txBody>
      </p:sp>
      <p:grpSp>
        <p:nvGrpSpPr>
          <p:cNvPr id="7" name="Group 6">
            <a:extLst>
              <a:ext uri="{FF2B5EF4-FFF2-40B4-BE49-F238E27FC236}">
                <a16:creationId xmlns:a16="http://schemas.microsoft.com/office/drawing/2014/main" id="{18D8EC95-1E64-B42E-553C-92AD9F5335B7}"/>
              </a:ext>
            </a:extLst>
          </p:cNvPr>
          <p:cNvGrpSpPr/>
          <p:nvPr/>
        </p:nvGrpSpPr>
        <p:grpSpPr>
          <a:xfrm>
            <a:off x="2134258" y="1063378"/>
            <a:ext cx="4971068" cy="5558450"/>
            <a:chOff x="1971825" y="1478035"/>
            <a:chExt cx="5672696" cy="5293705"/>
          </a:xfrm>
        </p:grpSpPr>
        <p:sp>
          <p:nvSpPr>
            <p:cNvPr id="8" name="Rounded Rectangle 29">
              <a:extLst>
                <a:ext uri="{FF2B5EF4-FFF2-40B4-BE49-F238E27FC236}">
                  <a16:creationId xmlns:a16="http://schemas.microsoft.com/office/drawing/2014/main" id="{3D9A1282-6072-EF49-F692-AAB1AD208CDF}"/>
                </a:ext>
                <a:ext uri="{C183D7F6-B498-43B3-948B-1728B52AA6E4}">
                  <adec:decorative xmlns:adec="http://schemas.microsoft.com/office/drawing/2017/decorative" val="1"/>
                </a:ext>
              </a:extLst>
            </p:cNvPr>
            <p:cNvSpPr/>
            <p:nvPr/>
          </p:nvSpPr>
          <p:spPr bwMode="auto">
            <a:xfrm>
              <a:off x="1980319" y="1645161"/>
              <a:ext cx="5664202" cy="5126579"/>
            </a:xfrm>
            <a:prstGeom prst="roundRect">
              <a:avLst>
                <a:gd name="adj" fmla="val 1490"/>
              </a:avLst>
            </a:prstGeom>
            <a:solidFill>
              <a:srgbClr val="F4F4F6">
                <a:alpha val="80000"/>
              </a:srgbClr>
            </a:solidFill>
            <a:ln w="12700">
              <a:solidFill>
                <a:srgbClr val="319A8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9" name="Rectangle: Top Corners Rounded 8">
              <a:extLst>
                <a:ext uri="{FF2B5EF4-FFF2-40B4-BE49-F238E27FC236}">
                  <a16:creationId xmlns:a16="http://schemas.microsoft.com/office/drawing/2014/main" id="{9C000B99-F640-F6CD-5E64-F401D69D98AF}"/>
                </a:ext>
              </a:extLst>
            </p:cNvPr>
            <p:cNvSpPr/>
            <p:nvPr/>
          </p:nvSpPr>
          <p:spPr bwMode="auto">
            <a:xfrm>
              <a:off x="1971825" y="1478035"/>
              <a:ext cx="5672696" cy="277669"/>
            </a:xfrm>
            <a:prstGeom prst="round2SameRect">
              <a:avLst>
                <a:gd name="adj1" fmla="val 50000"/>
                <a:gd name="adj2" fmla="val 0"/>
              </a:avLst>
            </a:prstGeom>
            <a:solidFill>
              <a:srgbClr val="319A89"/>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Segoe Sans Display Semibold"/>
                  <a:ea typeface="Segoe UI" pitchFamily="34" charset="0"/>
                  <a:cs typeface="Segoe UI" pitchFamily="34" charset="0"/>
                  <a:hlinkClick r:id="rId2" action="ppaction://hlinksldjump">
                    <a:extLst>
                      <a:ext uri="{A12FA001-AC4F-418D-AE19-62706E023703}">
                        <ahyp:hlinkClr xmlns:ahyp="http://schemas.microsoft.com/office/drawing/2018/hyperlinkcolor" val="tx"/>
                      </a:ext>
                    </a:extLst>
                  </a:hlinkClick>
                </a:rPr>
                <a:t>Factory </a:t>
              </a:r>
              <a:r>
                <a:rPr kumimoji="0" lang="en-US" sz="1400" b="0" i="1" u="none" strike="noStrike" kern="1200" cap="none" spc="0" normalizeH="0" baseline="0" noProof="0" dirty="0">
                  <a:ln>
                    <a:noFill/>
                  </a:ln>
                  <a:solidFill>
                    <a:schemeClr val="bg1"/>
                  </a:solidFill>
                  <a:effectLst/>
                  <a:uLnTx/>
                  <a:uFillTx/>
                  <a:latin typeface="Segoe Sans Display Semibold"/>
                  <a:ea typeface="Segoe UI" pitchFamily="34" charset="0"/>
                  <a:cs typeface="Segoe UI" pitchFamily="34" charset="0"/>
                  <a:hlinkClick r:id="rId2" action="ppaction://hlinksldjump">
                    <a:extLst>
                      <a:ext uri="{A12FA001-AC4F-418D-AE19-62706E023703}">
                        <ahyp:hlinkClr xmlns:ahyp="http://schemas.microsoft.com/office/drawing/2018/hyperlinkcolor" val="tx"/>
                      </a:ext>
                    </a:extLst>
                  </a:hlinkClick>
                </a:rPr>
                <a:t>Optimized</a:t>
              </a:r>
              <a:r>
                <a:rPr kumimoji="0" lang="en-US" sz="1400" b="0" i="0" u="none" strike="noStrike" kern="1200" cap="none" spc="0" normalizeH="0" baseline="0" noProof="0" dirty="0">
                  <a:ln>
                    <a:noFill/>
                  </a:ln>
                  <a:solidFill>
                    <a:schemeClr val="bg1"/>
                  </a:solidFill>
                  <a:effectLst/>
                  <a:uLnTx/>
                  <a:uFillTx/>
                  <a:latin typeface="Segoe Sans Display Semibold"/>
                  <a:ea typeface="Segoe UI" pitchFamily="34" charset="0"/>
                  <a:cs typeface="Segoe UI" pitchFamily="34" charset="0"/>
                  <a:hlinkClick r:id="rId2" action="ppaction://hlinksldjump">
                    <a:extLst>
                      <a:ext uri="{A12FA001-AC4F-418D-AE19-62706E023703}">
                        <ahyp:hlinkClr xmlns:ahyp="http://schemas.microsoft.com/office/drawing/2018/hyperlinkcolor" val="tx"/>
                      </a:ext>
                    </a:extLst>
                  </a:hlinkClick>
                </a:rPr>
                <a:t> Workloads</a:t>
              </a:r>
              <a:endParaRPr kumimoji="0" lang="en-US" sz="1400" b="0" i="1" u="sng" strike="noStrike" kern="1200" cap="none" spc="0" normalizeH="0" baseline="0" noProof="0" dirty="0">
                <a:ln>
                  <a:noFill/>
                </a:ln>
                <a:solidFill>
                  <a:schemeClr val="bg1"/>
                </a:solidFill>
                <a:effectLst/>
                <a:uLnTx/>
                <a:uFillTx/>
                <a:latin typeface="Segoe Sans Display Semibold"/>
                <a:ea typeface="Segoe UI" pitchFamily="34" charset="0"/>
                <a:cs typeface="Segoe UI" pitchFamily="34" charset="0"/>
              </a:endParaRPr>
            </a:p>
          </p:txBody>
        </p:sp>
      </p:grpSp>
      <p:grpSp>
        <p:nvGrpSpPr>
          <p:cNvPr id="10" name="Group 9">
            <a:extLst>
              <a:ext uri="{FF2B5EF4-FFF2-40B4-BE49-F238E27FC236}">
                <a16:creationId xmlns:a16="http://schemas.microsoft.com/office/drawing/2014/main" id="{6B273EA6-DD34-81B9-2897-479300F00FDB}"/>
              </a:ext>
            </a:extLst>
          </p:cNvPr>
          <p:cNvGrpSpPr/>
          <p:nvPr/>
        </p:nvGrpSpPr>
        <p:grpSpPr>
          <a:xfrm>
            <a:off x="7149206" y="1067048"/>
            <a:ext cx="4956091" cy="5554780"/>
            <a:chOff x="7681428" y="1481705"/>
            <a:chExt cx="4365792" cy="5298901"/>
          </a:xfrm>
        </p:grpSpPr>
        <p:sp>
          <p:nvSpPr>
            <p:cNvPr id="11" name="Rounded Rectangle 29">
              <a:extLst>
                <a:ext uri="{FF2B5EF4-FFF2-40B4-BE49-F238E27FC236}">
                  <a16:creationId xmlns:a16="http://schemas.microsoft.com/office/drawing/2014/main" id="{2E47856A-D5FA-D7B4-5D36-EF5031516D2F}"/>
                </a:ext>
                <a:ext uri="{C183D7F6-B498-43B3-948B-1728B52AA6E4}">
                  <adec:decorative xmlns:adec="http://schemas.microsoft.com/office/drawing/2017/decorative" val="1"/>
                </a:ext>
              </a:extLst>
            </p:cNvPr>
            <p:cNvSpPr/>
            <p:nvPr/>
          </p:nvSpPr>
          <p:spPr bwMode="auto">
            <a:xfrm>
              <a:off x="7681428" y="1645161"/>
              <a:ext cx="4365792" cy="5135445"/>
            </a:xfrm>
            <a:prstGeom prst="roundRect">
              <a:avLst>
                <a:gd name="adj" fmla="val 2862"/>
              </a:avLst>
            </a:prstGeom>
            <a:solidFill>
              <a:srgbClr val="F4F4F6">
                <a:alpha val="80000"/>
              </a:srgbClr>
            </a:solidFill>
            <a:ln w="12700">
              <a:solidFill>
                <a:srgbClr val="8DC8E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12" name="Rectangle: Top Corners Rounded 11">
              <a:extLst>
                <a:ext uri="{FF2B5EF4-FFF2-40B4-BE49-F238E27FC236}">
                  <a16:creationId xmlns:a16="http://schemas.microsoft.com/office/drawing/2014/main" id="{E62B0F34-77C6-56FE-2DEA-48D43EA5FB53}"/>
                </a:ext>
              </a:extLst>
            </p:cNvPr>
            <p:cNvSpPr/>
            <p:nvPr/>
          </p:nvSpPr>
          <p:spPr bwMode="auto">
            <a:xfrm>
              <a:off x="7681429" y="1481705"/>
              <a:ext cx="4365791" cy="277669"/>
            </a:xfrm>
            <a:prstGeom prst="round2SameRect">
              <a:avLst>
                <a:gd name="adj1" fmla="val 50000"/>
                <a:gd name="adj2" fmla="val 0"/>
              </a:avLst>
            </a:prstGeom>
            <a:solidFill>
              <a:srgbClr val="8DC8E8"/>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Display Semibold"/>
                  <a:ea typeface="Segoe UI" pitchFamily="34" charset="0"/>
                  <a:cs typeface="Segoe UI" pitchFamily="34" charset="0"/>
                </a:rPr>
                <a:t>Factory </a:t>
              </a:r>
              <a:r>
                <a:rPr kumimoji="0" lang="en-US" sz="1400" b="0" i="1" u="none" strike="noStrike" kern="1200" cap="none" spc="0" normalizeH="0" baseline="0" noProof="0" dirty="0">
                  <a:ln>
                    <a:noFill/>
                  </a:ln>
                  <a:solidFill>
                    <a:srgbClr val="000000"/>
                  </a:solidFill>
                  <a:effectLst/>
                  <a:uLnTx/>
                  <a:uFillTx/>
                  <a:latin typeface="Segoe Sans Display Semibold"/>
                  <a:ea typeface="Segoe UI" pitchFamily="34" charset="0"/>
                  <a:cs typeface="Segoe UI" pitchFamily="34" charset="0"/>
                </a:rPr>
                <a:t>Supported</a:t>
              </a:r>
              <a:r>
                <a:rPr kumimoji="0" lang="en-US" sz="1400" b="0" i="0" u="none" strike="noStrike" kern="1200" cap="none" spc="0" normalizeH="0" baseline="0" noProof="0" dirty="0">
                  <a:ln>
                    <a:noFill/>
                  </a:ln>
                  <a:solidFill>
                    <a:srgbClr val="000000"/>
                  </a:solidFill>
                  <a:effectLst/>
                  <a:uLnTx/>
                  <a:uFillTx/>
                  <a:latin typeface="Segoe Sans Display Semibold"/>
                  <a:ea typeface="Segoe UI" pitchFamily="34" charset="0"/>
                  <a:cs typeface="Segoe UI" pitchFamily="34" charset="0"/>
                </a:rPr>
                <a:t> Workloads</a:t>
              </a:r>
            </a:p>
          </p:txBody>
        </p:sp>
      </p:grpSp>
      <p:sp>
        <p:nvSpPr>
          <p:cNvPr id="13" name="Rectangle: Rounded Corners 12">
            <a:extLst>
              <a:ext uri="{FF2B5EF4-FFF2-40B4-BE49-F238E27FC236}">
                <a16:creationId xmlns:a16="http://schemas.microsoft.com/office/drawing/2014/main" id="{01A6B0FC-C8AB-98DE-80CC-0B8613A8C463}"/>
              </a:ext>
            </a:extLst>
          </p:cNvPr>
          <p:cNvSpPr/>
          <p:nvPr/>
        </p:nvSpPr>
        <p:spPr bwMode="auto">
          <a:xfrm rot="16200000">
            <a:off x="-489796" y="3730509"/>
            <a:ext cx="4792048" cy="365936"/>
          </a:xfrm>
          <a:prstGeom prst="roundRect">
            <a:avLst>
              <a:gd name="adj" fmla="val 50000"/>
            </a:avLst>
          </a:prstGeom>
          <a:gradFill>
            <a:gsLst>
              <a:gs pos="0">
                <a:schemeClr val="accent1"/>
              </a:gs>
              <a:gs pos="97701">
                <a:srgbClr val="3C8A94"/>
              </a:gs>
              <a:gs pos="51000">
                <a:srgbClr val="2A72A7"/>
              </a:gs>
            </a:gsLst>
            <a:lin ang="0" scaled="1"/>
          </a:gradFill>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Segoe UI"/>
                <a:ea typeface="Segoe UI" pitchFamily="34" charset="0"/>
                <a:cs typeface="Segoe UI"/>
              </a:rPr>
              <a:t> </a:t>
            </a:r>
            <a:r>
              <a:rPr kumimoji="0" lang="en-US" sz="1000" b="0" i="0" u="none" strike="noStrike" kern="1200" cap="none" spc="0" normalizeH="0" baseline="0" noProof="0" dirty="0">
                <a:ln>
                  <a:noFill/>
                </a:ln>
                <a:solidFill>
                  <a:srgbClr val="FFFFFF"/>
                </a:solidFill>
                <a:effectLst/>
                <a:uLnTx/>
                <a:uFillTx/>
                <a:latin typeface="Segoe UI Semibold"/>
                <a:ea typeface="+mn-ea"/>
                <a:cs typeface="Segoe UI"/>
              </a:rPr>
              <a:t>Anchored on Resiliency, and Security as differentiation </a:t>
            </a:r>
            <a:endParaRPr kumimoji="0" lang="en-US" sz="1000" b="0" i="0" u="none" strike="noStrike" kern="1200" cap="none" spc="0" normalizeH="0" baseline="0" noProof="0" dirty="0">
              <a:ln>
                <a:noFill/>
              </a:ln>
              <a:solidFill>
                <a:srgbClr val="FFFFFF"/>
              </a:solidFill>
              <a:effectLst/>
              <a:uLnTx/>
              <a:uFillTx/>
              <a:latin typeface="Segoe UI"/>
              <a:ea typeface="Segoe UI" pitchFamily="34" charset="0"/>
              <a:cs typeface="Segoe UI"/>
            </a:endParaRPr>
          </a:p>
        </p:txBody>
      </p:sp>
      <p:sp>
        <p:nvSpPr>
          <p:cNvPr id="14" name="Rectangle: Rounded Corners 36">
            <a:extLst>
              <a:ext uri="{FF2B5EF4-FFF2-40B4-BE49-F238E27FC236}">
                <a16:creationId xmlns:a16="http://schemas.microsoft.com/office/drawing/2014/main" id="{066ACFA4-894D-1BC6-D92A-98D4A06DB58B}"/>
              </a:ext>
              <a:ext uri="{C183D7F6-B498-43B3-948B-1728B52AA6E4}">
                <adec:decorative xmlns:adec="http://schemas.microsoft.com/office/drawing/2017/decorative" val="1"/>
              </a:ext>
            </a:extLst>
          </p:cNvPr>
          <p:cNvSpPr/>
          <p:nvPr/>
        </p:nvSpPr>
        <p:spPr>
          <a:xfrm>
            <a:off x="589105" y="1202329"/>
            <a:ext cx="1188720" cy="206665"/>
          </a:xfrm>
          <a:prstGeom prst="roundRect">
            <a:avLst>
              <a:gd name="adj" fmla="val 50000"/>
            </a:avLst>
          </a:prstGeom>
          <a:solidFill>
            <a:schemeClr val="bg1"/>
          </a:solidFill>
          <a:ln w="15875">
            <a:gradFill flip="none" rotWithShape="1">
              <a:gsLst>
                <a:gs pos="0">
                  <a:srgbClr val="2A6B9F"/>
                </a:gs>
                <a:gs pos="100000">
                  <a:srgbClr val="2A5A8A"/>
                </a:gs>
              </a:gsLst>
              <a:lin ang="10800000" scaled="1"/>
              <a:tileRect/>
            </a:gradFill>
          </a:ln>
        </p:spPr>
        <p:txBody>
          <a:bodyPr wrap="square" lIns="0" tIns="0" rIns="0" bIns="0" rtlCol="0" anchor="ctr" anchorCtr="0">
            <a:noAutofit/>
          </a:bodyPr>
          <a:lstStyle/>
          <a:p>
            <a:pPr marL="0" marR="0" lvl="0" indent="0" algn="ctr" defTabSz="2275850" rtl="0" eaLnBrk="1" fontAlgn="base" latinLnBrk="0" hangingPunct="1">
              <a:lnSpc>
                <a:spcPct val="100000"/>
              </a:lnSpc>
              <a:spcBef>
                <a:spcPct val="0"/>
              </a:spcBef>
              <a:spcAft>
                <a:spcPct val="0"/>
              </a:spcAft>
              <a:buClrTx/>
              <a:buSzTx/>
              <a:buFontTx/>
              <a:buNone/>
              <a:tabLst>
                <a:tab pos="3701239" algn="l"/>
              </a:tabLst>
              <a:defRPr/>
            </a:pPr>
            <a:r>
              <a:rPr kumimoji="0" lang="en-US" sz="1100" b="0" i="0" u="none" strike="noStrike" kern="1200" cap="none" spc="0" normalizeH="0" baseline="0" noProof="0" dirty="0">
                <a:ln w="3175">
                  <a:noFill/>
                </a:ln>
                <a:solidFill>
                  <a:srgbClr val="000000"/>
                </a:solidFill>
                <a:effectLst/>
                <a:uLnTx/>
                <a:uFillTx/>
                <a:latin typeface="Segoe UI"/>
                <a:ea typeface="+mn-ea"/>
                <a:cs typeface="Segoe UI" pitchFamily="34" charset="0"/>
              </a:rPr>
              <a:t>Conversations</a:t>
            </a:r>
          </a:p>
        </p:txBody>
      </p:sp>
      <p:grpSp>
        <p:nvGrpSpPr>
          <p:cNvPr id="15" name="Group 14">
            <a:extLst>
              <a:ext uri="{FF2B5EF4-FFF2-40B4-BE49-F238E27FC236}">
                <a16:creationId xmlns:a16="http://schemas.microsoft.com/office/drawing/2014/main" id="{DDA77D25-46B5-2734-9422-62F9116485C4}"/>
              </a:ext>
            </a:extLst>
          </p:cNvPr>
          <p:cNvGrpSpPr/>
          <p:nvPr/>
        </p:nvGrpSpPr>
        <p:grpSpPr>
          <a:xfrm>
            <a:off x="9707886" y="1678540"/>
            <a:ext cx="2320520" cy="963774"/>
            <a:chOff x="5024364" y="1138391"/>
            <a:chExt cx="2118083" cy="565265"/>
          </a:xfrm>
        </p:grpSpPr>
        <p:sp>
          <p:nvSpPr>
            <p:cNvPr id="16" name="Rectangle: Rounded Corners 36">
              <a:extLst>
                <a:ext uri="{FF2B5EF4-FFF2-40B4-BE49-F238E27FC236}">
                  <a16:creationId xmlns:a16="http://schemas.microsoft.com/office/drawing/2014/main" id="{CF4F40B8-ED99-C551-C491-CA639CBA84F1}"/>
                </a:ext>
                <a:ext uri="{C183D7F6-B498-43B3-948B-1728B52AA6E4}">
                  <adec:decorative xmlns:adec="http://schemas.microsoft.com/office/drawing/2017/decorative" val="0"/>
                </a:ext>
              </a:extLst>
            </p:cNvPr>
            <p:cNvSpPr/>
            <p:nvPr/>
          </p:nvSpPr>
          <p:spPr>
            <a:xfrm>
              <a:off x="5024364" y="1138391"/>
              <a:ext cx="2118083" cy="565264"/>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3" action="ppaction://hlinksldjump" tooltip="SAP – RISE/Grow "/>
                </a:rPr>
                <a:t>SAP – RISE/Grow </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285750" marR="0" lvl="0" indent="0" algn="l" defTabSz="932449" rtl="0" eaLnBrk="1" fontAlgn="base"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Segoe Sans Text Semibold"/>
                  <a:ea typeface="+mn-ea"/>
                  <a:cs typeface="+mn-cs"/>
                </a:rPr>
                <a:t>(Assessment / Go live support)</a:t>
              </a:r>
            </a:p>
            <a:p>
              <a:pPr marL="401638" marR="0" lvl="0" indent="0" algn="l" defTabSz="914344" rtl="0" eaLnBrk="1" fontAlgn="base"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Well Architected assessment and Platform health checks</a:t>
              </a:r>
            </a:p>
          </p:txBody>
        </p:sp>
        <p:sp>
          <p:nvSpPr>
            <p:cNvPr id="17" name="Freeform: Shape 16">
              <a:extLst>
                <a:ext uri="{FF2B5EF4-FFF2-40B4-BE49-F238E27FC236}">
                  <a16:creationId xmlns:a16="http://schemas.microsoft.com/office/drawing/2014/main" id="{7C6D30BC-B3AE-6026-99DE-6FD33DB34BF4}"/>
                </a:ext>
                <a:ext uri="{C183D7F6-B498-43B3-948B-1728B52AA6E4}">
                  <adec:decorative xmlns:adec="http://schemas.microsoft.com/office/drawing/2017/decorative" val="1"/>
                </a:ext>
              </a:extLst>
            </p:cNvPr>
            <p:cNvSpPr/>
            <p:nvPr/>
          </p:nvSpPr>
          <p:spPr>
            <a:xfrm>
              <a:off x="5043148" y="1601297"/>
              <a:ext cx="2095761" cy="102359"/>
            </a:xfrm>
            <a:custGeom>
              <a:avLst/>
              <a:gdLst>
                <a:gd name="connsiteX0" fmla="*/ 0 w 3327263"/>
                <a:gd name="connsiteY0" fmla="*/ 0 h 273828"/>
                <a:gd name="connsiteX1" fmla="*/ 3327263 w 3327263"/>
                <a:gd name="connsiteY1" fmla="*/ 0 h 273828"/>
                <a:gd name="connsiteX2" fmla="*/ 3327263 w 3327263"/>
                <a:gd name="connsiteY2" fmla="*/ 142863 h 273828"/>
                <a:gd name="connsiteX3" fmla="*/ 3196298 w 3327263"/>
                <a:gd name="connsiteY3" fmla="*/ 273828 h 273828"/>
                <a:gd name="connsiteX4" fmla="*/ 130965 w 3327263"/>
                <a:gd name="connsiteY4" fmla="*/ 273828 h 273828"/>
                <a:gd name="connsiteX5" fmla="*/ 0 w 3327263"/>
                <a:gd name="connsiteY5" fmla="*/ 142863 h 273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7263" h="273828">
                  <a:moveTo>
                    <a:pt x="0" y="0"/>
                  </a:moveTo>
                  <a:lnTo>
                    <a:pt x="3327263" y="0"/>
                  </a:lnTo>
                  <a:lnTo>
                    <a:pt x="3327263" y="142863"/>
                  </a:lnTo>
                  <a:cubicBezTo>
                    <a:pt x="3327263" y="215193"/>
                    <a:pt x="3268628" y="273828"/>
                    <a:pt x="3196298" y="273828"/>
                  </a:cubicBezTo>
                  <a:lnTo>
                    <a:pt x="130965" y="273828"/>
                  </a:lnTo>
                  <a:cubicBezTo>
                    <a:pt x="58635" y="273828"/>
                    <a:pt x="0" y="215193"/>
                    <a:pt x="0" y="142863"/>
                  </a:cubicBezTo>
                  <a:close/>
                </a:path>
              </a:pathLst>
            </a:custGeom>
            <a:solidFill>
              <a:srgbClr val="8DC8E8">
                <a:alpha val="25098"/>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45720" rIns="91440" bIns="45720" numCol="1" spcCol="0" rtlCol="0" fromWordArt="0" anchor="b" anchorCtr="0" forceAA="0" compatLnSpc="1">
              <a:prstTxWarp prst="textNoShape">
                <a:avLst/>
              </a:prstTxWarp>
              <a:noAutofit/>
            </a:bodyPr>
            <a:lstStyle/>
            <a:p>
              <a:pPr marL="0" marR="0" lvl="0" indent="0" algn="l" defTabSz="932449"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Segoe Sans Text"/>
                  <a:ea typeface="+mn-ea"/>
                  <a:cs typeface="Segoe Sans Text" pitchFamily="2" charset="0"/>
                </a:rPr>
                <a:t> SAP RISE/Grow Architecture Validation/GO – LIVE support</a:t>
              </a:r>
            </a:p>
          </p:txBody>
        </p:sp>
      </p:grpSp>
      <p:sp>
        <p:nvSpPr>
          <p:cNvPr id="18" name="Rectangle: Rounded Corners 36">
            <a:extLst>
              <a:ext uri="{FF2B5EF4-FFF2-40B4-BE49-F238E27FC236}">
                <a16:creationId xmlns:a16="http://schemas.microsoft.com/office/drawing/2014/main" id="{A1034ACB-D71A-A261-5E22-61CD6941F59E}"/>
              </a:ext>
              <a:ext uri="{C183D7F6-B498-43B3-948B-1728B52AA6E4}">
                <adec:decorative xmlns:adec="http://schemas.microsoft.com/office/drawing/2017/decorative" val="0"/>
              </a:ext>
            </a:extLst>
          </p:cNvPr>
          <p:cNvSpPr/>
          <p:nvPr/>
        </p:nvSpPr>
        <p:spPr>
          <a:xfrm>
            <a:off x="9707886" y="2889346"/>
            <a:ext cx="2320519" cy="963774"/>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4" action="ppaction://hlinksldjump" tooltip="Oracle DB@Azure"/>
              </a:rPr>
              <a:t>Oracle DB@Azure</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0" algn="l" defTabSz="914344" rtl="0" eaLnBrk="1" fontAlgn="base" latinLnBrk="0" hangingPunct="1">
              <a:lnSpc>
                <a:spcPct val="100000"/>
              </a:lnSpc>
              <a:spcBef>
                <a:spcPct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On-prem Oracle Exadata system to Exadata service </a:t>
            </a:r>
          </a:p>
        </p:txBody>
      </p:sp>
      <p:sp>
        <p:nvSpPr>
          <p:cNvPr id="19" name="Rectangle: Rounded Corners 36">
            <a:extLst>
              <a:ext uri="{FF2B5EF4-FFF2-40B4-BE49-F238E27FC236}">
                <a16:creationId xmlns:a16="http://schemas.microsoft.com/office/drawing/2014/main" id="{C2610174-F4C1-075D-D9CF-A9E75814F74E}"/>
              </a:ext>
              <a:ext uri="{C183D7F6-B498-43B3-948B-1728B52AA6E4}">
                <adec:decorative xmlns:adec="http://schemas.microsoft.com/office/drawing/2017/decorative" val="0"/>
              </a:ext>
            </a:extLst>
          </p:cNvPr>
          <p:cNvSpPr/>
          <p:nvPr/>
        </p:nvSpPr>
        <p:spPr>
          <a:xfrm>
            <a:off x="7227017" y="4176640"/>
            <a:ext cx="4801390" cy="742708"/>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5" action="ppaction://hlinksldjump" tooltip="Microsoft Foundry"/>
              </a:rPr>
              <a:t>Microsoft Foundry</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573088" marR="0" lvl="0" indent="-171450" algn="l" defTabSz="914344" rtl="0" eaLnBrk="1" fontAlgn="base" latinLnBrk="0" hangingPunct="1">
              <a:lnSpc>
                <a:spcPct val="100000"/>
              </a:lnSpc>
              <a:spcBef>
                <a:spcPct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All Gen AI uses cases like Chat Bot, RAG GPT, Document analysis etc.. </a:t>
            </a:r>
          </a:p>
          <a:p>
            <a:pPr marL="573088" indent="-171450" defTabSz="914344" fontAlgn="base">
              <a:spcBef>
                <a:spcPct val="0"/>
              </a:spcBef>
              <a:buFont typeface="Arial" panose="020B0604020202020204" pitchFamily="34" charset="0"/>
              <a:buChar char="•"/>
              <a:defRPr/>
            </a:pPr>
            <a:r>
              <a:rPr lang="en-US" sz="900" dirty="0">
                <a:solidFill>
                  <a:srgbClr val="000000"/>
                </a:solidFill>
                <a:cs typeface="Segoe Sans Text" pitchFamily="2" charset="0"/>
              </a:rPr>
              <a:t>Foundry (pro code) – Multi Agents </a:t>
            </a:r>
          </a:p>
          <a:p>
            <a:pPr marL="401638" marR="0" lvl="0" indent="0" algn="l" defTabSz="914344" rtl="0" eaLnBrk="1" fontAlgn="base" latinLnBrk="0" hangingPunct="1">
              <a:lnSpc>
                <a:spcPct val="100000"/>
              </a:lnSpc>
              <a:spcBef>
                <a:spcPct val="0"/>
              </a:spcBef>
              <a:spcAft>
                <a:spcPts val="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20" name="Rectangle: Rounded Corners 36">
            <a:extLst>
              <a:ext uri="{FF2B5EF4-FFF2-40B4-BE49-F238E27FC236}">
                <a16:creationId xmlns:a16="http://schemas.microsoft.com/office/drawing/2014/main" id="{960717A1-FFD4-814C-8085-50922B32ABB5}"/>
              </a:ext>
              <a:ext uri="{C183D7F6-B498-43B3-948B-1728B52AA6E4}">
                <adec:decorative xmlns:adec="http://schemas.microsoft.com/office/drawing/2017/decorative" val="0"/>
              </a:ext>
            </a:extLst>
          </p:cNvPr>
          <p:cNvSpPr/>
          <p:nvPr/>
        </p:nvSpPr>
        <p:spPr>
          <a:xfrm>
            <a:off x="7213258" y="2892717"/>
            <a:ext cx="2417736" cy="963774"/>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6" action="ppaction://hlinksldjump" tooltip="Azure Virtual Desktop"/>
              </a:rPr>
              <a:t>Azure Virtual Desktop</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0" algn="l" defTabSz="914344" rtl="0" eaLnBrk="1" fontAlgn="base"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Migrate RDS/Citrix VDI to AVD</a:t>
            </a:r>
          </a:p>
        </p:txBody>
      </p:sp>
      <p:sp>
        <p:nvSpPr>
          <p:cNvPr id="25" name="Rectangle: Rounded Corners 36">
            <a:extLst>
              <a:ext uri="{FF2B5EF4-FFF2-40B4-BE49-F238E27FC236}">
                <a16:creationId xmlns:a16="http://schemas.microsoft.com/office/drawing/2014/main" id="{946A7100-4AC2-0487-2105-253E105840DB}"/>
              </a:ext>
              <a:ext uri="{C183D7F6-B498-43B3-948B-1728B52AA6E4}">
                <adec:decorative xmlns:adec="http://schemas.microsoft.com/office/drawing/2017/decorative" val="0"/>
              </a:ext>
            </a:extLst>
          </p:cNvPr>
          <p:cNvSpPr/>
          <p:nvPr/>
        </p:nvSpPr>
        <p:spPr>
          <a:xfrm>
            <a:off x="2185308" y="4163144"/>
            <a:ext cx="2451751" cy="804990"/>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227013"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7" action="ppaction://hlinksldjump" tooltip="GitHub Migration (repos only)"/>
              </a:rPr>
              <a:t>GitHub Migration (repos only)</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0" algn="l" defTabSz="914344"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ADO, Bitbucket, GitLab, GHES to GitHub repository migration</a:t>
            </a:r>
          </a:p>
        </p:txBody>
      </p:sp>
      <p:grpSp>
        <p:nvGrpSpPr>
          <p:cNvPr id="37" name="Group 36">
            <a:extLst>
              <a:ext uri="{FF2B5EF4-FFF2-40B4-BE49-F238E27FC236}">
                <a16:creationId xmlns:a16="http://schemas.microsoft.com/office/drawing/2014/main" id="{8ACFF821-676E-AB7E-12CD-252D9877ECA6}"/>
              </a:ext>
            </a:extLst>
          </p:cNvPr>
          <p:cNvGrpSpPr/>
          <p:nvPr/>
        </p:nvGrpSpPr>
        <p:grpSpPr>
          <a:xfrm>
            <a:off x="2242202" y="4502551"/>
            <a:ext cx="385766" cy="400464"/>
            <a:chOff x="2242202" y="4427889"/>
            <a:chExt cx="308713" cy="320040"/>
          </a:xfrm>
        </p:grpSpPr>
        <p:sp>
          <p:nvSpPr>
            <p:cNvPr id="26" name="Freeform: Shape 25">
              <a:extLst>
                <a:ext uri="{FF2B5EF4-FFF2-40B4-BE49-F238E27FC236}">
                  <a16:creationId xmlns:a16="http://schemas.microsoft.com/office/drawing/2014/main" id="{9181ED95-4BF8-8B09-F983-96AC66C457B0}"/>
                </a:ext>
              </a:extLst>
            </p:cNvPr>
            <p:cNvSpPr/>
            <p:nvPr/>
          </p:nvSpPr>
          <p:spPr>
            <a:xfrm>
              <a:off x="2355008" y="4427889"/>
              <a:ext cx="195907" cy="130415"/>
            </a:xfrm>
            <a:custGeom>
              <a:avLst/>
              <a:gdLst>
                <a:gd name="csX0" fmla="*/ 148336 w 174061"/>
                <a:gd name="csY0" fmla="*/ 43766 h 112588"/>
                <a:gd name="csX1" fmla="*/ 115261 w 174061"/>
                <a:gd name="csY1" fmla="*/ 16036 h 112588"/>
                <a:gd name="csX2" fmla="*/ 109916 w 174061"/>
                <a:gd name="csY2" fmla="*/ 16370 h 112588"/>
                <a:gd name="csX3" fmla="*/ 75504 w 174061"/>
                <a:gd name="csY3" fmla="*/ 0 h 112588"/>
                <a:gd name="csX4" fmla="*/ 32741 w 174061"/>
                <a:gd name="csY4" fmla="*/ 32407 h 112588"/>
                <a:gd name="csX5" fmla="*/ 0 w 174061"/>
                <a:gd name="csY5" fmla="*/ 72164 h 112588"/>
                <a:gd name="csX6" fmla="*/ 40091 w 174061"/>
                <a:gd name="csY6" fmla="*/ 112589 h 112588"/>
                <a:gd name="csX7" fmla="*/ 40091 w 174061"/>
                <a:gd name="csY7" fmla="*/ 112589 h 112588"/>
                <a:gd name="csX8" fmla="*/ 140318 w 174061"/>
                <a:gd name="csY8" fmla="*/ 112589 h 112588"/>
                <a:gd name="csX9" fmla="*/ 174061 w 174061"/>
                <a:gd name="csY9" fmla="*/ 77509 h 112588"/>
                <a:gd name="csX10" fmla="*/ 148336 w 174061"/>
                <a:gd name="csY10" fmla="*/ 43766 h 112588"/>
                <a:gd name="csX11" fmla="*/ 138314 w 174061"/>
                <a:gd name="csY11" fmla="*/ 92543 h 112588"/>
                <a:gd name="csX12" fmla="*/ 39423 w 174061"/>
                <a:gd name="csY12" fmla="*/ 92543 h 112588"/>
                <a:gd name="csX13" fmla="*/ 21716 w 174061"/>
                <a:gd name="csY13" fmla="*/ 80850 h 112588"/>
                <a:gd name="csX14" fmla="*/ 24055 w 174061"/>
                <a:gd name="csY14" fmla="*/ 59468 h 112588"/>
                <a:gd name="csX15" fmla="*/ 40425 w 174061"/>
                <a:gd name="csY15" fmla="*/ 51116 h 112588"/>
                <a:gd name="csX16" fmla="*/ 43766 w 174061"/>
                <a:gd name="csY16" fmla="*/ 51450 h 112588"/>
                <a:gd name="csX17" fmla="*/ 49780 w 174061"/>
                <a:gd name="csY17" fmla="*/ 52452 h 112588"/>
                <a:gd name="csX18" fmla="*/ 49780 w 174061"/>
                <a:gd name="csY18" fmla="*/ 45770 h 112588"/>
                <a:gd name="csX19" fmla="*/ 69491 w 174061"/>
                <a:gd name="csY19" fmla="*/ 20714 h 112588"/>
                <a:gd name="csX20" fmla="*/ 75504 w 174061"/>
                <a:gd name="csY20" fmla="*/ 20045 h 112588"/>
                <a:gd name="csX21" fmla="*/ 75504 w 174061"/>
                <a:gd name="csY21" fmla="*/ 20045 h 112588"/>
                <a:gd name="csX22" fmla="*/ 75504 w 174061"/>
                <a:gd name="csY22" fmla="*/ 20045 h 112588"/>
                <a:gd name="csX23" fmla="*/ 75504 w 174061"/>
                <a:gd name="csY23" fmla="*/ 20045 h 112588"/>
                <a:gd name="csX24" fmla="*/ 98223 w 174061"/>
                <a:gd name="csY24" fmla="*/ 34077 h 112588"/>
                <a:gd name="csX25" fmla="*/ 100227 w 174061"/>
                <a:gd name="csY25" fmla="*/ 38086 h 112588"/>
                <a:gd name="csX26" fmla="*/ 104570 w 174061"/>
                <a:gd name="csY26" fmla="*/ 36416 h 112588"/>
                <a:gd name="csX27" fmla="*/ 111252 w 174061"/>
                <a:gd name="csY27" fmla="*/ 35414 h 112588"/>
                <a:gd name="csX28" fmla="*/ 123279 w 174061"/>
                <a:gd name="csY28" fmla="*/ 39089 h 112588"/>
                <a:gd name="csX29" fmla="*/ 131966 w 174061"/>
                <a:gd name="csY29" fmla="*/ 56127 h 112588"/>
                <a:gd name="csX30" fmla="*/ 131966 w 174061"/>
                <a:gd name="csY30" fmla="*/ 61473 h 112588"/>
                <a:gd name="csX31" fmla="*/ 138648 w 174061"/>
                <a:gd name="csY31" fmla="*/ 61473 h 112588"/>
                <a:gd name="csX32" fmla="*/ 154350 w 174061"/>
                <a:gd name="csY32" fmla="*/ 77175 h 112588"/>
                <a:gd name="csX33" fmla="*/ 138314 w 174061"/>
                <a:gd name="csY33" fmla="*/ 92543 h 1125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74061" h="112588">
                  <a:moveTo>
                    <a:pt x="148336" y="43766"/>
                  </a:moveTo>
                  <a:cubicBezTo>
                    <a:pt x="145664" y="28064"/>
                    <a:pt x="131632" y="16036"/>
                    <a:pt x="115261" y="16036"/>
                  </a:cubicBezTo>
                  <a:cubicBezTo>
                    <a:pt x="113591" y="16036"/>
                    <a:pt x="111586" y="16370"/>
                    <a:pt x="109916" y="16370"/>
                  </a:cubicBezTo>
                  <a:cubicBezTo>
                    <a:pt x="101898" y="6348"/>
                    <a:pt x="89536" y="0"/>
                    <a:pt x="75504" y="0"/>
                  </a:cubicBezTo>
                  <a:cubicBezTo>
                    <a:pt x="55125" y="0"/>
                    <a:pt x="38086" y="13698"/>
                    <a:pt x="32741" y="32407"/>
                  </a:cubicBezTo>
                  <a:cubicBezTo>
                    <a:pt x="14032" y="36082"/>
                    <a:pt x="0" y="52452"/>
                    <a:pt x="0" y="72164"/>
                  </a:cubicBezTo>
                  <a:cubicBezTo>
                    <a:pt x="0" y="94548"/>
                    <a:pt x="18041" y="112589"/>
                    <a:pt x="40091" y="112589"/>
                  </a:cubicBezTo>
                  <a:lnTo>
                    <a:pt x="40091" y="112589"/>
                  </a:lnTo>
                  <a:cubicBezTo>
                    <a:pt x="40091" y="112589"/>
                    <a:pt x="138982" y="112589"/>
                    <a:pt x="140318" y="112589"/>
                  </a:cubicBezTo>
                  <a:cubicBezTo>
                    <a:pt x="159695" y="112589"/>
                    <a:pt x="174061" y="96886"/>
                    <a:pt x="174061" y="77509"/>
                  </a:cubicBezTo>
                  <a:cubicBezTo>
                    <a:pt x="174061" y="61473"/>
                    <a:pt x="163036" y="48109"/>
                    <a:pt x="148336" y="43766"/>
                  </a:cubicBezTo>
                  <a:close/>
                  <a:moveTo>
                    <a:pt x="138314" y="92543"/>
                  </a:moveTo>
                  <a:lnTo>
                    <a:pt x="39423" y="92543"/>
                  </a:lnTo>
                  <a:cubicBezTo>
                    <a:pt x="31739" y="91875"/>
                    <a:pt x="25057" y="87532"/>
                    <a:pt x="21716" y="80850"/>
                  </a:cubicBezTo>
                  <a:cubicBezTo>
                    <a:pt x="18709" y="73834"/>
                    <a:pt x="19377" y="65816"/>
                    <a:pt x="24055" y="59468"/>
                  </a:cubicBezTo>
                  <a:cubicBezTo>
                    <a:pt x="28064" y="54123"/>
                    <a:pt x="34077" y="51116"/>
                    <a:pt x="40425" y="51116"/>
                  </a:cubicBezTo>
                  <a:cubicBezTo>
                    <a:pt x="41427" y="51116"/>
                    <a:pt x="42764" y="51116"/>
                    <a:pt x="43766" y="51450"/>
                  </a:cubicBezTo>
                  <a:lnTo>
                    <a:pt x="49780" y="52452"/>
                  </a:lnTo>
                  <a:lnTo>
                    <a:pt x="49780" y="45770"/>
                  </a:lnTo>
                  <a:cubicBezTo>
                    <a:pt x="49780" y="33743"/>
                    <a:pt x="57798" y="23386"/>
                    <a:pt x="69491" y="20714"/>
                  </a:cubicBezTo>
                  <a:cubicBezTo>
                    <a:pt x="71495" y="20380"/>
                    <a:pt x="73500" y="20045"/>
                    <a:pt x="75504" y="20045"/>
                  </a:cubicBezTo>
                  <a:cubicBezTo>
                    <a:pt x="75504" y="20045"/>
                    <a:pt x="75504" y="20045"/>
                    <a:pt x="75504" y="20045"/>
                  </a:cubicBezTo>
                  <a:lnTo>
                    <a:pt x="75504" y="20045"/>
                  </a:lnTo>
                  <a:cubicBezTo>
                    <a:pt x="75504" y="20045"/>
                    <a:pt x="75504" y="20045"/>
                    <a:pt x="75504" y="20045"/>
                  </a:cubicBezTo>
                  <a:cubicBezTo>
                    <a:pt x="85193" y="20045"/>
                    <a:pt x="93879" y="25391"/>
                    <a:pt x="98223" y="34077"/>
                  </a:cubicBezTo>
                  <a:lnTo>
                    <a:pt x="100227" y="38086"/>
                  </a:lnTo>
                  <a:lnTo>
                    <a:pt x="104570" y="36416"/>
                  </a:lnTo>
                  <a:cubicBezTo>
                    <a:pt x="106575" y="35748"/>
                    <a:pt x="108914" y="35414"/>
                    <a:pt x="111252" y="35414"/>
                  </a:cubicBezTo>
                  <a:cubicBezTo>
                    <a:pt x="115595" y="35414"/>
                    <a:pt x="119604" y="36750"/>
                    <a:pt x="123279" y="39089"/>
                  </a:cubicBezTo>
                  <a:cubicBezTo>
                    <a:pt x="128625" y="43098"/>
                    <a:pt x="131966" y="49445"/>
                    <a:pt x="131966" y="56127"/>
                  </a:cubicBezTo>
                  <a:lnTo>
                    <a:pt x="131966" y="61473"/>
                  </a:lnTo>
                  <a:lnTo>
                    <a:pt x="138648" y="61473"/>
                  </a:lnTo>
                  <a:cubicBezTo>
                    <a:pt x="147334" y="61473"/>
                    <a:pt x="154350" y="68489"/>
                    <a:pt x="154350" y="77175"/>
                  </a:cubicBezTo>
                  <a:cubicBezTo>
                    <a:pt x="154016" y="85527"/>
                    <a:pt x="147000" y="92543"/>
                    <a:pt x="138314" y="92543"/>
                  </a:cubicBezTo>
                  <a:close/>
                </a:path>
              </a:pathLst>
            </a:custGeom>
            <a:gradFill flip="none" rotWithShape="1">
              <a:gsLst>
                <a:gs pos="0">
                  <a:srgbClr val="319A89"/>
                </a:gs>
                <a:gs pos="100000">
                  <a:srgbClr val="0677CE"/>
                </a:gs>
              </a:gsLst>
              <a:lin ang="8100000" scaled="1"/>
              <a:tileRect/>
            </a:gradFill>
            <a:ln w="52388" cap="flat">
              <a:noFill/>
              <a:prstDash val="solid"/>
              <a:miter/>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27" name="Freeform: Shape 26">
              <a:extLst>
                <a:ext uri="{FF2B5EF4-FFF2-40B4-BE49-F238E27FC236}">
                  <a16:creationId xmlns:a16="http://schemas.microsoft.com/office/drawing/2014/main" id="{69F22F42-177F-24AE-D7E7-2A8832ADBA00}"/>
                </a:ext>
              </a:extLst>
            </p:cNvPr>
            <p:cNvSpPr/>
            <p:nvPr/>
          </p:nvSpPr>
          <p:spPr>
            <a:xfrm>
              <a:off x="2242202" y="4573784"/>
              <a:ext cx="180489" cy="174145"/>
            </a:xfrm>
            <a:custGeom>
              <a:avLst/>
              <a:gdLst>
                <a:gd name="csX0" fmla="*/ 149673 w 160363"/>
                <a:gd name="csY0" fmla="*/ 0 h 150340"/>
                <a:gd name="csX1" fmla="*/ 10691 w 160363"/>
                <a:gd name="csY1" fmla="*/ 0 h 150340"/>
                <a:gd name="csX2" fmla="*/ 0 w 160363"/>
                <a:gd name="csY2" fmla="*/ 10691 h 150340"/>
                <a:gd name="csX3" fmla="*/ 0 w 160363"/>
                <a:gd name="csY3" fmla="*/ 106241 h 150340"/>
                <a:gd name="csX4" fmla="*/ 10691 w 160363"/>
                <a:gd name="csY4" fmla="*/ 116932 h 150340"/>
                <a:gd name="csX5" fmla="*/ 10691 w 160363"/>
                <a:gd name="csY5" fmla="*/ 116932 h 150340"/>
                <a:gd name="csX6" fmla="*/ 63477 w 160363"/>
                <a:gd name="csY6" fmla="*/ 116932 h 150340"/>
                <a:gd name="csX7" fmla="*/ 63477 w 160363"/>
                <a:gd name="csY7" fmla="*/ 130295 h 150340"/>
                <a:gd name="csX8" fmla="*/ 40091 w 160363"/>
                <a:gd name="csY8" fmla="*/ 130295 h 150340"/>
                <a:gd name="csX9" fmla="*/ 40091 w 160363"/>
                <a:gd name="csY9" fmla="*/ 150341 h 150340"/>
                <a:gd name="csX10" fmla="*/ 120273 w 160363"/>
                <a:gd name="csY10" fmla="*/ 150341 h 150340"/>
                <a:gd name="csX11" fmla="*/ 120273 w 160363"/>
                <a:gd name="csY11" fmla="*/ 130295 h 150340"/>
                <a:gd name="csX12" fmla="*/ 96886 w 160363"/>
                <a:gd name="csY12" fmla="*/ 130295 h 150340"/>
                <a:gd name="csX13" fmla="*/ 96886 w 160363"/>
                <a:gd name="csY13" fmla="*/ 116932 h 150340"/>
                <a:gd name="csX14" fmla="*/ 149673 w 160363"/>
                <a:gd name="csY14" fmla="*/ 116932 h 150340"/>
                <a:gd name="csX15" fmla="*/ 160364 w 160363"/>
                <a:gd name="csY15" fmla="*/ 106241 h 150340"/>
                <a:gd name="csX16" fmla="*/ 160364 w 160363"/>
                <a:gd name="csY16" fmla="*/ 106241 h 150340"/>
                <a:gd name="csX17" fmla="*/ 160364 w 160363"/>
                <a:gd name="csY17" fmla="*/ 10691 h 150340"/>
                <a:gd name="csX18" fmla="*/ 149673 w 160363"/>
                <a:gd name="csY18" fmla="*/ 0 h 150340"/>
                <a:gd name="csX19" fmla="*/ 140318 w 160363"/>
                <a:gd name="csY19" fmla="*/ 96886 h 150340"/>
                <a:gd name="csX20" fmla="*/ 20045 w 160363"/>
                <a:gd name="csY20" fmla="*/ 96886 h 150340"/>
                <a:gd name="csX21" fmla="*/ 20045 w 160363"/>
                <a:gd name="csY21" fmla="*/ 20045 h 150340"/>
                <a:gd name="csX22" fmla="*/ 140318 w 160363"/>
                <a:gd name="csY22" fmla="*/ 20045 h 150340"/>
                <a:gd name="csX23" fmla="*/ 140318 w 160363"/>
                <a:gd name="csY23" fmla="*/ 96886 h 150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60363" h="150340">
                  <a:moveTo>
                    <a:pt x="149673" y="0"/>
                  </a:moveTo>
                  <a:lnTo>
                    <a:pt x="10691" y="0"/>
                  </a:lnTo>
                  <a:cubicBezTo>
                    <a:pt x="4677" y="0"/>
                    <a:pt x="0" y="4677"/>
                    <a:pt x="0" y="10691"/>
                  </a:cubicBezTo>
                  <a:lnTo>
                    <a:pt x="0" y="106241"/>
                  </a:lnTo>
                  <a:cubicBezTo>
                    <a:pt x="0" y="112254"/>
                    <a:pt x="4677" y="116932"/>
                    <a:pt x="10691" y="116932"/>
                  </a:cubicBezTo>
                  <a:cubicBezTo>
                    <a:pt x="10691" y="116932"/>
                    <a:pt x="10691" y="116932"/>
                    <a:pt x="10691" y="116932"/>
                  </a:cubicBezTo>
                  <a:lnTo>
                    <a:pt x="63477" y="116932"/>
                  </a:lnTo>
                  <a:lnTo>
                    <a:pt x="63477" y="130295"/>
                  </a:lnTo>
                  <a:lnTo>
                    <a:pt x="40091" y="130295"/>
                  </a:lnTo>
                  <a:lnTo>
                    <a:pt x="40091" y="150341"/>
                  </a:lnTo>
                  <a:lnTo>
                    <a:pt x="120273" y="150341"/>
                  </a:lnTo>
                  <a:lnTo>
                    <a:pt x="120273" y="130295"/>
                  </a:lnTo>
                  <a:lnTo>
                    <a:pt x="96886" y="130295"/>
                  </a:lnTo>
                  <a:lnTo>
                    <a:pt x="96886" y="116932"/>
                  </a:lnTo>
                  <a:lnTo>
                    <a:pt x="149673" y="116932"/>
                  </a:lnTo>
                  <a:cubicBezTo>
                    <a:pt x="155686" y="116932"/>
                    <a:pt x="160364" y="112254"/>
                    <a:pt x="160364" y="106241"/>
                  </a:cubicBezTo>
                  <a:lnTo>
                    <a:pt x="160364" y="106241"/>
                  </a:lnTo>
                  <a:lnTo>
                    <a:pt x="160364" y="10691"/>
                  </a:lnTo>
                  <a:cubicBezTo>
                    <a:pt x="160364" y="4677"/>
                    <a:pt x="155686" y="0"/>
                    <a:pt x="149673" y="0"/>
                  </a:cubicBezTo>
                  <a:close/>
                  <a:moveTo>
                    <a:pt x="140318" y="96886"/>
                  </a:moveTo>
                  <a:lnTo>
                    <a:pt x="20045" y="96886"/>
                  </a:lnTo>
                  <a:lnTo>
                    <a:pt x="20045" y="20045"/>
                  </a:lnTo>
                  <a:lnTo>
                    <a:pt x="140318" y="20045"/>
                  </a:lnTo>
                  <a:lnTo>
                    <a:pt x="140318" y="96886"/>
                  </a:lnTo>
                  <a:close/>
                </a:path>
              </a:pathLst>
            </a:custGeom>
            <a:gradFill flip="none" rotWithShape="1">
              <a:gsLst>
                <a:gs pos="0">
                  <a:srgbClr val="319A89"/>
                </a:gs>
                <a:gs pos="100000">
                  <a:srgbClr val="0677CE"/>
                </a:gs>
              </a:gsLst>
              <a:lin ang="18900000" scaled="1"/>
              <a:tileRect/>
            </a:gradFill>
            <a:ln w="52388" cap="flat">
              <a:noFill/>
              <a:prstDash val="solid"/>
              <a:miter/>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28" name="Freeform: Shape 27">
              <a:extLst>
                <a:ext uri="{FF2B5EF4-FFF2-40B4-BE49-F238E27FC236}">
                  <a16:creationId xmlns:a16="http://schemas.microsoft.com/office/drawing/2014/main" id="{7231972D-E661-9136-1298-FAA9E3E443DD}"/>
                </a:ext>
              </a:extLst>
            </p:cNvPr>
            <p:cNvSpPr/>
            <p:nvPr/>
          </p:nvSpPr>
          <p:spPr>
            <a:xfrm>
              <a:off x="2440365" y="4573784"/>
              <a:ext cx="66269" cy="85912"/>
            </a:xfrm>
            <a:custGeom>
              <a:avLst/>
              <a:gdLst>
                <a:gd name="csX0" fmla="*/ 33743 w 58880"/>
                <a:gd name="csY0" fmla="*/ 0 h 74168"/>
                <a:gd name="csX1" fmla="*/ 38755 w 58880"/>
                <a:gd name="csY1" fmla="*/ 15368 h 74168"/>
                <a:gd name="csX2" fmla="*/ 24389 w 58880"/>
                <a:gd name="csY2" fmla="*/ 39089 h 74168"/>
                <a:gd name="csX3" fmla="*/ 24389 w 58880"/>
                <a:gd name="csY3" fmla="*/ 25391 h 74168"/>
                <a:gd name="csX4" fmla="*/ 0 w 58880"/>
                <a:gd name="csY4" fmla="*/ 50114 h 74168"/>
                <a:gd name="csX5" fmla="*/ 24389 w 58880"/>
                <a:gd name="csY5" fmla="*/ 74168 h 74168"/>
                <a:gd name="csX6" fmla="*/ 24389 w 58880"/>
                <a:gd name="csY6" fmla="*/ 60470 h 74168"/>
                <a:gd name="csX7" fmla="*/ 57130 w 58880"/>
                <a:gd name="csY7" fmla="*/ 3007 h 74168"/>
                <a:gd name="csX8" fmla="*/ 56127 w 58880"/>
                <a:gd name="csY8" fmla="*/ 0 h 74168"/>
                <a:gd name="csX9" fmla="*/ 33743 w 58880"/>
                <a:gd name="csY9" fmla="*/ 0 h 741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8880" h="74168">
                  <a:moveTo>
                    <a:pt x="33743" y="0"/>
                  </a:moveTo>
                  <a:cubicBezTo>
                    <a:pt x="37084" y="4343"/>
                    <a:pt x="38755" y="10023"/>
                    <a:pt x="38755" y="15368"/>
                  </a:cubicBezTo>
                  <a:cubicBezTo>
                    <a:pt x="38755" y="25391"/>
                    <a:pt x="33075" y="34411"/>
                    <a:pt x="24389" y="39089"/>
                  </a:cubicBezTo>
                  <a:lnTo>
                    <a:pt x="24389" y="25391"/>
                  </a:lnTo>
                  <a:lnTo>
                    <a:pt x="0" y="50114"/>
                  </a:lnTo>
                  <a:lnTo>
                    <a:pt x="24389" y="74168"/>
                  </a:lnTo>
                  <a:lnTo>
                    <a:pt x="24389" y="60470"/>
                  </a:lnTo>
                  <a:cubicBezTo>
                    <a:pt x="49445" y="53789"/>
                    <a:pt x="64145" y="28064"/>
                    <a:pt x="57130" y="3007"/>
                  </a:cubicBezTo>
                  <a:cubicBezTo>
                    <a:pt x="56795" y="2005"/>
                    <a:pt x="56461" y="1002"/>
                    <a:pt x="56127" y="0"/>
                  </a:cubicBezTo>
                  <a:lnTo>
                    <a:pt x="33743" y="0"/>
                  </a:lnTo>
                  <a:close/>
                </a:path>
              </a:pathLst>
            </a:custGeom>
            <a:solidFill>
              <a:srgbClr val="0677CE"/>
            </a:solidFill>
            <a:ln w="52388" cap="flat">
              <a:noFill/>
              <a:prstDash val="solid"/>
              <a:miter/>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29" name="Freeform: Shape 28">
              <a:extLst>
                <a:ext uri="{FF2B5EF4-FFF2-40B4-BE49-F238E27FC236}">
                  <a16:creationId xmlns:a16="http://schemas.microsoft.com/office/drawing/2014/main" id="{494A1C6E-434F-50D4-C8F9-189186333EE3}"/>
                </a:ext>
              </a:extLst>
            </p:cNvPr>
            <p:cNvSpPr/>
            <p:nvPr/>
          </p:nvSpPr>
          <p:spPr>
            <a:xfrm>
              <a:off x="2273698" y="4472394"/>
              <a:ext cx="66269" cy="85912"/>
            </a:xfrm>
            <a:custGeom>
              <a:avLst/>
              <a:gdLst>
                <a:gd name="csX0" fmla="*/ 25138 w 58880"/>
                <a:gd name="csY0" fmla="*/ 74168 h 74168"/>
                <a:gd name="csX1" fmla="*/ 20126 w 58880"/>
                <a:gd name="csY1" fmla="*/ 58800 h 74168"/>
                <a:gd name="csX2" fmla="*/ 34492 w 58880"/>
                <a:gd name="csY2" fmla="*/ 35080 h 74168"/>
                <a:gd name="csX3" fmla="*/ 34492 w 58880"/>
                <a:gd name="csY3" fmla="*/ 48777 h 74168"/>
                <a:gd name="csX4" fmla="*/ 58881 w 58880"/>
                <a:gd name="csY4" fmla="*/ 24055 h 74168"/>
                <a:gd name="csX5" fmla="*/ 34492 w 58880"/>
                <a:gd name="csY5" fmla="*/ 0 h 74168"/>
                <a:gd name="csX6" fmla="*/ 34492 w 58880"/>
                <a:gd name="csY6" fmla="*/ 13698 h 74168"/>
                <a:gd name="csX7" fmla="*/ 1751 w 58880"/>
                <a:gd name="csY7" fmla="*/ 71161 h 74168"/>
                <a:gd name="csX8" fmla="*/ 2753 w 58880"/>
                <a:gd name="csY8" fmla="*/ 74168 h 74168"/>
                <a:gd name="csX9" fmla="*/ 25138 w 58880"/>
                <a:gd name="csY9" fmla="*/ 74168 h 741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8880" h="74168">
                  <a:moveTo>
                    <a:pt x="25138" y="74168"/>
                  </a:moveTo>
                  <a:cubicBezTo>
                    <a:pt x="22465" y="70827"/>
                    <a:pt x="20126" y="64145"/>
                    <a:pt x="20126" y="58800"/>
                  </a:cubicBezTo>
                  <a:cubicBezTo>
                    <a:pt x="20126" y="48777"/>
                    <a:pt x="25806" y="39757"/>
                    <a:pt x="34492" y="35080"/>
                  </a:cubicBezTo>
                  <a:lnTo>
                    <a:pt x="34492" y="48777"/>
                  </a:lnTo>
                  <a:lnTo>
                    <a:pt x="58881" y="24055"/>
                  </a:lnTo>
                  <a:lnTo>
                    <a:pt x="34492" y="0"/>
                  </a:lnTo>
                  <a:lnTo>
                    <a:pt x="34492" y="13698"/>
                  </a:lnTo>
                  <a:cubicBezTo>
                    <a:pt x="9435" y="20380"/>
                    <a:pt x="-5265" y="46105"/>
                    <a:pt x="1751" y="71161"/>
                  </a:cubicBezTo>
                  <a:cubicBezTo>
                    <a:pt x="2085" y="72164"/>
                    <a:pt x="2419" y="73166"/>
                    <a:pt x="2753" y="74168"/>
                  </a:cubicBezTo>
                  <a:lnTo>
                    <a:pt x="25138" y="74168"/>
                  </a:lnTo>
                  <a:close/>
                </a:path>
              </a:pathLst>
            </a:custGeom>
            <a:gradFill>
              <a:gsLst>
                <a:gs pos="0">
                  <a:srgbClr val="319A89"/>
                </a:gs>
                <a:gs pos="100000">
                  <a:srgbClr val="0677CE"/>
                </a:gs>
              </a:gsLst>
              <a:path path="circle">
                <a:fillToRect l="100000" t="100000"/>
              </a:path>
            </a:gradFill>
            <a:ln w="52388" cap="flat">
              <a:noFill/>
              <a:prstDash val="solid"/>
              <a:miter/>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sp>
        <p:nvSpPr>
          <p:cNvPr id="31" name="Rectangle: Rounded Corners 30">
            <a:extLst>
              <a:ext uri="{FF2B5EF4-FFF2-40B4-BE49-F238E27FC236}">
                <a16:creationId xmlns:a16="http://schemas.microsoft.com/office/drawing/2014/main" id="{63D39EDB-BEB2-77F2-23D3-C2BA878EA806}"/>
              </a:ext>
              <a:ext uri="{C183D7F6-B498-43B3-948B-1728B52AA6E4}">
                <adec:decorative xmlns:adec="http://schemas.microsoft.com/office/drawing/2017/decorative" val="0"/>
              </a:ext>
            </a:extLst>
          </p:cNvPr>
          <p:cNvSpPr/>
          <p:nvPr/>
        </p:nvSpPr>
        <p:spPr>
          <a:xfrm>
            <a:off x="2197060" y="1529277"/>
            <a:ext cx="4875256" cy="362414"/>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285750" marR="0" lvl="0" indent="0"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8" action="ppaction://hlinksldjump" tooltip="Platform Foundation &amp; Landing Zone"/>
              </a:rPr>
              <a:t>Platform Foundation &amp; Landing Zone</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60375" marR="0" lvl="0" indent="0" algn="l" defTabSz="914344" rtl="0" eaLnBrk="1" fontAlgn="auto" latinLnBrk="0" hangingPunct="1">
              <a:lnSpc>
                <a:spcPct val="100000"/>
              </a:lnSpc>
              <a:spcBef>
                <a:spcPct val="0"/>
              </a:spcBef>
              <a:spcAft>
                <a:spcPts val="0"/>
              </a:spcAft>
              <a:buClrTx/>
              <a:buSzTx/>
              <a:buFontTx/>
              <a:buNone/>
              <a:tabLst>
                <a:tab pos="460375" algn="l"/>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Build/Validate WAF/CAF landing zones when using another Factory service</a:t>
            </a:r>
          </a:p>
        </p:txBody>
      </p:sp>
      <p:grpSp>
        <p:nvGrpSpPr>
          <p:cNvPr id="38" name="Group 37">
            <a:extLst>
              <a:ext uri="{FF2B5EF4-FFF2-40B4-BE49-F238E27FC236}">
                <a16:creationId xmlns:a16="http://schemas.microsoft.com/office/drawing/2014/main" id="{36CC854D-FB1F-6F39-5B8F-1B2831BF7F2C}"/>
              </a:ext>
            </a:extLst>
          </p:cNvPr>
          <p:cNvGrpSpPr/>
          <p:nvPr/>
        </p:nvGrpSpPr>
        <p:grpSpPr>
          <a:xfrm>
            <a:off x="2227960" y="1592021"/>
            <a:ext cx="383665" cy="287429"/>
            <a:chOff x="2244303" y="1592021"/>
            <a:chExt cx="273865" cy="226650"/>
          </a:xfrm>
        </p:grpSpPr>
        <p:sp>
          <p:nvSpPr>
            <p:cNvPr id="32" name="Freeform: Shape 31">
              <a:extLst>
                <a:ext uri="{FF2B5EF4-FFF2-40B4-BE49-F238E27FC236}">
                  <a16:creationId xmlns:a16="http://schemas.microsoft.com/office/drawing/2014/main" id="{191DD9CA-125F-7ECA-1EAB-B41EFB0D066D}"/>
                </a:ext>
              </a:extLst>
            </p:cNvPr>
            <p:cNvSpPr/>
            <p:nvPr/>
          </p:nvSpPr>
          <p:spPr>
            <a:xfrm>
              <a:off x="2244303" y="1592021"/>
              <a:ext cx="273865" cy="186644"/>
            </a:xfrm>
            <a:custGeom>
              <a:avLst/>
              <a:gdLst>
                <a:gd name="csX0" fmla="*/ 47373 w 306655"/>
                <a:gd name="csY0" fmla="*/ 163105 h 186644"/>
                <a:gd name="csX1" fmla="*/ 24154 w 306655"/>
                <a:gd name="csY1" fmla="*/ 141872 h 186644"/>
                <a:gd name="csX2" fmla="*/ 28387 w 306655"/>
                <a:gd name="csY2" fmla="*/ 99300 h 186644"/>
                <a:gd name="csX3" fmla="*/ 67592 w 306655"/>
                <a:gd name="csY3" fmla="*/ 83132 h 186644"/>
                <a:gd name="csX4" fmla="*/ 79427 w 306655"/>
                <a:gd name="csY4" fmla="*/ 85099 h 186644"/>
                <a:gd name="csX5" fmla="*/ 79427 w 306655"/>
                <a:gd name="csY5" fmla="*/ 72197 h 186644"/>
                <a:gd name="csX6" fmla="*/ 118465 w 306655"/>
                <a:gd name="csY6" fmla="*/ 22191 h 186644"/>
                <a:gd name="csX7" fmla="*/ 175673 w 306655"/>
                <a:gd name="csY7" fmla="*/ 48861 h 186644"/>
                <a:gd name="csX8" fmla="*/ 179706 w 306655"/>
                <a:gd name="csY8" fmla="*/ 56895 h 186644"/>
                <a:gd name="csX9" fmla="*/ 188074 w 306655"/>
                <a:gd name="csY9" fmla="*/ 53928 h 186644"/>
                <a:gd name="csX10" fmla="*/ 225312 w 306655"/>
                <a:gd name="csY10" fmla="*/ 59129 h 186644"/>
                <a:gd name="csX11" fmla="*/ 242481 w 306655"/>
                <a:gd name="csY11" fmla="*/ 92900 h 186644"/>
                <a:gd name="csX12" fmla="*/ 242481 w 306655"/>
                <a:gd name="csY12" fmla="*/ 103301 h 186644"/>
                <a:gd name="csX13" fmla="*/ 256083 w 306655"/>
                <a:gd name="csY13" fmla="*/ 103301 h 186644"/>
                <a:gd name="csX14" fmla="*/ 286190 w 306655"/>
                <a:gd name="csY14" fmla="*/ 135757 h 186644"/>
                <a:gd name="csX15" fmla="*/ 255749 w 306655"/>
                <a:gd name="csY15" fmla="*/ 165875 h 186644"/>
                <a:gd name="csX16" fmla="*/ 238247 w 306655"/>
                <a:gd name="csY16" fmla="*/ 165875 h 186644"/>
                <a:gd name="csX17" fmla="*/ 195042 w 306655"/>
                <a:gd name="csY17" fmla="*/ 165802 h 186644"/>
                <a:gd name="csX18" fmla="*/ 195042 w 306655"/>
                <a:gd name="csY18" fmla="*/ 186578 h 186644"/>
                <a:gd name="csX19" fmla="*/ 220545 w 306655"/>
                <a:gd name="csY19" fmla="*/ 186645 h 186644"/>
                <a:gd name="csX20" fmla="*/ 255749 w 306655"/>
                <a:gd name="csY20" fmla="*/ 186645 h 186644"/>
                <a:gd name="csX21" fmla="*/ 306641 w 306655"/>
                <a:gd name="csY21" fmla="*/ 133286 h 186644"/>
                <a:gd name="csX22" fmla="*/ 262083 w 306655"/>
                <a:gd name="csY22" fmla="*/ 82932 h 186644"/>
                <a:gd name="csX23" fmla="*/ 237147 w 306655"/>
                <a:gd name="csY23" fmla="*/ 42260 h 186644"/>
                <a:gd name="csX24" fmla="*/ 189574 w 306655"/>
                <a:gd name="csY24" fmla="*/ 32259 h 186644"/>
                <a:gd name="csX25" fmla="*/ 113765 w 306655"/>
                <a:gd name="csY25" fmla="*/ 1955 h 186644"/>
                <a:gd name="csX26" fmla="*/ 59791 w 306655"/>
                <a:gd name="csY26" fmla="*/ 61962 h 186644"/>
                <a:gd name="csX27" fmla="*/ 12085 w 306655"/>
                <a:gd name="csY27" fmla="*/ 86799 h 186644"/>
                <a:gd name="csX28" fmla="*/ 5685 w 306655"/>
                <a:gd name="csY28" fmla="*/ 150687 h 186644"/>
                <a:gd name="csX29" fmla="*/ 58158 w 306655"/>
                <a:gd name="csY29" fmla="*/ 186291 h 186644"/>
                <a:gd name="csX30" fmla="*/ 82628 w 306655"/>
                <a:gd name="csY30" fmla="*/ 186291 h 186644"/>
                <a:gd name="csX31" fmla="*/ 108364 w 306655"/>
                <a:gd name="csY31" fmla="*/ 186361 h 186644"/>
                <a:gd name="csX32" fmla="*/ 108364 w 306655"/>
                <a:gd name="csY32" fmla="*/ 165652 h 186644"/>
                <a:gd name="csX33" fmla="*/ 65025 w 306655"/>
                <a:gd name="csY33" fmla="*/ 165575 h 186644"/>
                <a:gd name="csX34" fmla="*/ 59025 w 306655"/>
                <a:gd name="csY34" fmla="*/ 165575 h 186644"/>
                <a:gd name="csX35" fmla="*/ 47907 w 306655"/>
                <a:gd name="csY35" fmla="*/ 163308 h 1866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06655" h="186644">
                  <a:moveTo>
                    <a:pt x="47373" y="163105"/>
                  </a:moveTo>
                  <a:cubicBezTo>
                    <a:pt x="37141" y="159358"/>
                    <a:pt x="28798" y="151729"/>
                    <a:pt x="24154" y="141872"/>
                  </a:cubicBezTo>
                  <a:cubicBezTo>
                    <a:pt x="17897" y="127938"/>
                    <a:pt x="19509" y="111730"/>
                    <a:pt x="28387" y="99300"/>
                  </a:cubicBezTo>
                  <a:cubicBezTo>
                    <a:pt x="37430" y="87037"/>
                    <a:pt x="52534" y="80807"/>
                    <a:pt x="67592" y="83132"/>
                  </a:cubicBezTo>
                  <a:lnTo>
                    <a:pt x="79427" y="85099"/>
                  </a:lnTo>
                  <a:lnTo>
                    <a:pt x="79427" y="72197"/>
                  </a:lnTo>
                  <a:cubicBezTo>
                    <a:pt x="79531" y="48582"/>
                    <a:pt x="95582" y="28022"/>
                    <a:pt x="118465" y="22191"/>
                  </a:cubicBezTo>
                  <a:cubicBezTo>
                    <a:pt x="141420" y="16657"/>
                    <a:pt x="165153" y="27722"/>
                    <a:pt x="175673" y="48861"/>
                  </a:cubicBezTo>
                  <a:lnTo>
                    <a:pt x="179706" y="56895"/>
                  </a:lnTo>
                  <a:lnTo>
                    <a:pt x="188074" y="53928"/>
                  </a:lnTo>
                  <a:cubicBezTo>
                    <a:pt x="200595" y="49512"/>
                    <a:pt x="214480" y="51451"/>
                    <a:pt x="225312" y="59129"/>
                  </a:cubicBezTo>
                  <a:cubicBezTo>
                    <a:pt x="236082" y="67013"/>
                    <a:pt x="242457" y="79552"/>
                    <a:pt x="242481" y="92900"/>
                  </a:cubicBezTo>
                  <a:lnTo>
                    <a:pt x="242481" y="103301"/>
                  </a:lnTo>
                  <a:lnTo>
                    <a:pt x="256083" y="103301"/>
                  </a:lnTo>
                  <a:cubicBezTo>
                    <a:pt x="273359" y="103950"/>
                    <a:pt x="286839" y="118481"/>
                    <a:pt x="286190" y="135757"/>
                  </a:cubicBezTo>
                  <a:cubicBezTo>
                    <a:pt x="285571" y="152252"/>
                    <a:pt x="272250" y="165432"/>
                    <a:pt x="255749" y="165875"/>
                  </a:cubicBezTo>
                  <a:lnTo>
                    <a:pt x="238247" y="165875"/>
                  </a:lnTo>
                  <a:lnTo>
                    <a:pt x="195042" y="165802"/>
                  </a:lnTo>
                  <a:lnTo>
                    <a:pt x="195042" y="186578"/>
                  </a:lnTo>
                  <a:lnTo>
                    <a:pt x="220545" y="186645"/>
                  </a:lnTo>
                  <a:lnTo>
                    <a:pt x="255749" y="186645"/>
                  </a:lnTo>
                  <a:cubicBezTo>
                    <a:pt x="284537" y="185963"/>
                    <a:pt x="307322" y="162074"/>
                    <a:pt x="306641" y="133286"/>
                  </a:cubicBezTo>
                  <a:cubicBezTo>
                    <a:pt x="306039" y="107887"/>
                    <a:pt x="287220" y="86619"/>
                    <a:pt x="262083" y="82932"/>
                  </a:cubicBezTo>
                  <a:cubicBezTo>
                    <a:pt x="259428" y="66628"/>
                    <a:pt x="250473" y="52021"/>
                    <a:pt x="237147" y="42260"/>
                  </a:cubicBezTo>
                  <a:cubicBezTo>
                    <a:pt x="223353" y="32496"/>
                    <a:pt x="206133" y="28875"/>
                    <a:pt x="189574" y="32259"/>
                  </a:cubicBezTo>
                  <a:cubicBezTo>
                    <a:pt x="173284" y="7108"/>
                    <a:pt x="142904" y="-5037"/>
                    <a:pt x="113765" y="1955"/>
                  </a:cubicBezTo>
                  <a:cubicBezTo>
                    <a:pt x="85300" y="9211"/>
                    <a:pt x="64002" y="32890"/>
                    <a:pt x="59791" y="61962"/>
                  </a:cubicBezTo>
                  <a:cubicBezTo>
                    <a:pt x="40934" y="62535"/>
                    <a:pt x="23369" y="71679"/>
                    <a:pt x="12085" y="86799"/>
                  </a:cubicBezTo>
                  <a:cubicBezTo>
                    <a:pt x="-1315" y="105420"/>
                    <a:pt x="-3755" y="129778"/>
                    <a:pt x="5685" y="150687"/>
                  </a:cubicBezTo>
                  <a:cubicBezTo>
                    <a:pt x="15301" y="171298"/>
                    <a:pt x="35452" y="184972"/>
                    <a:pt x="58158" y="186291"/>
                  </a:cubicBezTo>
                  <a:lnTo>
                    <a:pt x="82628" y="186291"/>
                  </a:lnTo>
                  <a:lnTo>
                    <a:pt x="108364" y="186361"/>
                  </a:lnTo>
                  <a:lnTo>
                    <a:pt x="108364" y="165652"/>
                  </a:lnTo>
                  <a:lnTo>
                    <a:pt x="65025" y="165575"/>
                  </a:lnTo>
                  <a:lnTo>
                    <a:pt x="59025" y="165575"/>
                  </a:lnTo>
                  <a:cubicBezTo>
                    <a:pt x="55232" y="165334"/>
                    <a:pt x="51491" y="164571"/>
                    <a:pt x="47907" y="163308"/>
                  </a:cubicBezTo>
                  <a:close/>
                </a:path>
              </a:pathLst>
            </a:custGeom>
            <a:solidFill>
              <a:srgbClr val="0677CE"/>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33" name="Freeform: Shape 32">
              <a:extLst>
                <a:ext uri="{FF2B5EF4-FFF2-40B4-BE49-F238E27FC236}">
                  <a16:creationId xmlns:a16="http://schemas.microsoft.com/office/drawing/2014/main" id="{4E5784CA-16CE-F2F4-2C19-BB8AC0338BD8}"/>
                </a:ext>
              </a:extLst>
            </p:cNvPr>
            <p:cNvSpPr/>
            <p:nvPr/>
          </p:nvSpPr>
          <p:spPr>
            <a:xfrm>
              <a:off x="2318750" y="1658651"/>
              <a:ext cx="122068" cy="160020"/>
            </a:xfrm>
            <a:custGeom>
              <a:avLst/>
              <a:gdLst>
                <a:gd name="csX0" fmla="*/ 95012 w 136683"/>
                <a:gd name="csY0" fmla="*/ 160020 h 160020"/>
                <a:gd name="csX1" fmla="*/ 95012 w 136683"/>
                <a:gd name="csY1" fmla="*/ 80010 h 160020"/>
                <a:gd name="csX2" fmla="*/ 136684 w 136683"/>
                <a:gd name="csY2" fmla="*/ 80010 h 160020"/>
                <a:gd name="csX3" fmla="*/ 68342 w 136683"/>
                <a:gd name="csY3" fmla="*/ 0 h 160020"/>
                <a:gd name="csX4" fmla="*/ 0 w 136683"/>
                <a:gd name="csY4" fmla="*/ 80010 h 160020"/>
                <a:gd name="csX5" fmla="*/ 41672 w 136683"/>
                <a:gd name="csY5" fmla="*/ 80010 h 160020"/>
                <a:gd name="csX6" fmla="*/ 41672 w 136683"/>
                <a:gd name="csY6" fmla="*/ 160020 h 160020"/>
                <a:gd name="csX7" fmla="*/ 95012 w 136683"/>
                <a:gd name="csY7" fmla="*/ 160020 h 160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6683" h="160020">
                  <a:moveTo>
                    <a:pt x="95012" y="160020"/>
                  </a:moveTo>
                  <a:lnTo>
                    <a:pt x="95012" y="80010"/>
                  </a:lnTo>
                  <a:lnTo>
                    <a:pt x="136684" y="80010"/>
                  </a:lnTo>
                  <a:lnTo>
                    <a:pt x="68342" y="0"/>
                  </a:lnTo>
                  <a:lnTo>
                    <a:pt x="0" y="80010"/>
                  </a:lnTo>
                  <a:lnTo>
                    <a:pt x="41672" y="80010"/>
                  </a:lnTo>
                  <a:lnTo>
                    <a:pt x="41672" y="160020"/>
                  </a:lnTo>
                  <a:lnTo>
                    <a:pt x="95012" y="160020"/>
                  </a:lnTo>
                  <a:close/>
                </a:path>
              </a:pathLst>
            </a:cu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sp>
        <p:nvSpPr>
          <p:cNvPr id="42" name="Rectangle: Rounded Corners 36">
            <a:extLst>
              <a:ext uri="{FF2B5EF4-FFF2-40B4-BE49-F238E27FC236}">
                <a16:creationId xmlns:a16="http://schemas.microsoft.com/office/drawing/2014/main" id="{91FEFE55-E970-9790-1DD1-8318E417A26F}"/>
              </a:ext>
              <a:ext uri="{C183D7F6-B498-43B3-948B-1728B52AA6E4}">
                <adec:decorative xmlns:adec="http://schemas.microsoft.com/office/drawing/2017/decorative" val="0"/>
              </a:ext>
            </a:extLst>
          </p:cNvPr>
          <p:cNvSpPr/>
          <p:nvPr/>
        </p:nvSpPr>
        <p:spPr>
          <a:xfrm>
            <a:off x="7213257" y="1693530"/>
            <a:ext cx="2413862" cy="963774"/>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9" action="ppaction://hlinksldjump" tooltip="Enhanced Security "/>
              </a:rPr>
              <a:t>Enhanced Security </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0" algn="l" defTabSz="914344" rtl="0" eaLnBrk="1" fontAlgn="base"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Sentinel Deployment</a:t>
            </a:r>
          </a:p>
          <a:p>
            <a:pPr marL="401638" marR="0" lvl="0" indent="0" algn="l" defTabSz="914344" rtl="0" eaLnBrk="1" fontAlgn="base"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Splunk to Sentinel Migration </a:t>
            </a:r>
          </a:p>
        </p:txBody>
      </p:sp>
      <p:grpSp>
        <p:nvGrpSpPr>
          <p:cNvPr id="35" name="Group 34">
            <a:extLst>
              <a:ext uri="{FF2B5EF4-FFF2-40B4-BE49-F238E27FC236}">
                <a16:creationId xmlns:a16="http://schemas.microsoft.com/office/drawing/2014/main" id="{96F92F82-BD89-A65E-2076-6D6D5161509A}"/>
              </a:ext>
            </a:extLst>
          </p:cNvPr>
          <p:cNvGrpSpPr/>
          <p:nvPr/>
        </p:nvGrpSpPr>
        <p:grpSpPr>
          <a:xfrm>
            <a:off x="7293759" y="2059176"/>
            <a:ext cx="322833" cy="371973"/>
            <a:chOff x="7224394" y="1844402"/>
            <a:chExt cx="226485" cy="270018"/>
          </a:xfrm>
        </p:grpSpPr>
        <p:sp>
          <p:nvSpPr>
            <p:cNvPr id="43" name="Freeform: Shape 42">
              <a:extLst>
                <a:ext uri="{FF2B5EF4-FFF2-40B4-BE49-F238E27FC236}">
                  <a16:creationId xmlns:a16="http://schemas.microsoft.com/office/drawing/2014/main" id="{5B61D6DF-BD80-17DE-373D-2B2E8DD1FE21}"/>
                </a:ext>
              </a:extLst>
            </p:cNvPr>
            <p:cNvSpPr/>
            <p:nvPr/>
          </p:nvSpPr>
          <p:spPr>
            <a:xfrm>
              <a:off x="7224394" y="1844402"/>
              <a:ext cx="226485" cy="270018"/>
            </a:xfrm>
            <a:custGeom>
              <a:avLst/>
              <a:gdLst>
                <a:gd name="csX0" fmla="*/ 214957 w 226485"/>
                <a:gd name="csY0" fmla="*/ 49476 h 270018"/>
                <a:gd name="csX1" fmla="*/ 122706 w 226485"/>
                <a:gd name="csY1" fmla="*/ 4334 h 270018"/>
                <a:gd name="csX2" fmla="*/ 105078 w 226485"/>
                <a:gd name="csY2" fmla="*/ 3036 h 270018"/>
                <a:gd name="csX3" fmla="*/ 103780 w 226485"/>
                <a:gd name="csY3" fmla="*/ 4334 h 270018"/>
                <a:gd name="csX4" fmla="*/ 11528 w 226485"/>
                <a:gd name="csY4" fmla="*/ 49476 h 270018"/>
                <a:gd name="csX5" fmla="*/ 0 w 226485"/>
                <a:gd name="csY5" fmla="*/ 62231 h 270018"/>
                <a:gd name="csX6" fmla="*/ 0 w 226485"/>
                <a:gd name="csY6" fmla="*/ 94412 h 270018"/>
                <a:gd name="csX7" fmla="*/ 106277 w 226485"/>
                <a:gd name="csY7" fmla="*/ 267974 h 270018"/>
                <a:gd name="csX8" fmla="*/ 120209 w 226485"/>
                <a:gd name="csY8" fmla="*/ 267974 h 270018"/>
                <a:gd name="csX9" fmla="*/ 226485 w 226485"/>
                <a:gd name="csY9" fmla="*/ 94412 h 270018"/>
                <a:gd name="csX10" fmla="*/ 226485 w 226485"/>
                <a:gd name="csY10" fmla="*/ 62231 h 270018"/>
                <a:gd name="csX11" fmla="*/ 214957 w 226485"/>
                <a:gd name="csY11" fmla="*/ 49476 h 270018"/>
                <a:gd name="csX12" fmla="*/ 204816 w 226485"/>
                <a:gd name="csY12" fmla="*/ 94412 h 270018"/>
                <a:gd name="csX13" fmla="*/ 116092 w 226485"/>
                <a:gd name="csY13" fmla="*/ 244684 h 270018"/>
                <a:gd name="csX14" fmla="*/ 113245 w 226485"/>
                <a:gd name="csY14" fmla="*/ 246654 h 270018"/>
                <a:gd name="csX15" fmla="*/ 110401 w 226485"/>
                <a:gd name="csY15" fmla="*/ 244684 h 270018"/>
                <a:gd name="csX16" fmla="*/ 21666 w 226485"/>
                <a:gd name="csY16" fmla="*/ 94412 h 270018"/>
                <a:gd name="csX17" fmla="*/ 21666 w 226485"/>
                <a:gd name="csY17" fmla="*/ 70239 h 270018"/>
                <a:gd name="csX18" fmla="*/ 25880 w 226485"/>
                <a:gd name="csY18" fmla="*/ 69572 h 270018"/>
                <a:gd name="csX19" fmla="*/ 109854 w 226485"/>
                <a:gd name="csY19" fmla="*/ 28900 h 270018"/>
                <a:gd name="csX20" fmla="*/ 113241 w 226485"/>
                <a:gd name="csY20" fmla="*/ 25780 h 270018"/>
                <a:gd name="csX21" fmla="*/ 116632 w 226485"/>
                <a:gd name="csY21" fmla="*/ 28900 h 270018"/>
                <a:gd name="csX22" fmla="*/ 200602 w 226485"/>
                <a:gd name="csY22" fmla="*/ 69572 h 270018"/>
                <a:gd name="csX23" fmla="*/ 204816 w 226485"/>
                <a:gd name="csY23" fmla="*/ 70239 h 270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26485" h="270018">
                  <a:moveTo>
                    <a:pt x="214957" y="49476"/>
                  </a:moveTo>
                  <a:cubicBezTo>
                    <a:pt x="179598" y="46659"/>
                    <a:pt x="146627" y="30525"/>
                    <a:pt x="122706" y="4334"/>
                  </a:cubicBezTo>
                  <a:cubicBezTo>
                    <a:pt x="118196" y="-892"/>
                    <a:pt x="110304" y="-1474"/>
                    <a:pt x="105078" y="3036"/>
                  </a:cubicBezTo>
                  <a:cubicBezTo>
                    <a:pt x="104614" y="3436"/>
                    <a:pt x="104180" y="3870"/>
                    <a:pt x="103780" y="4334"/>
                  </a:cubicBezTo>
                  <a:cubicBezTo>
                    <a:pt x="79859" y="30525"/>
                    <a:pt x="46888" y="46659"/>
                    <a:pt x="11528" y="49476"/>
                  </a:cubicBezTo>
                  <a:cubicBezTo>
                    <a:pt x="4958" y="50092"/>
                    <a:pt x="-49" y="55632"/>
                    <a:pt x="0" y="62231"/>
                  </a:cubicBezTo>
                  <a:lnTo>
                    <a:pt x="0" y="94412"/>
                  </a:lnTo>
                  <a:cubicBezTo>
                    <a:pt x="0" y="164374"/>
                    <a:pt x="44496" y="228372"/>
                    <a:pt x="106277" y="267974"/>
                  </a:cubicBezTo>
                  <a:cubicBezTo>
                    <a:pt x="110521" y="270701"/>
                    <a:pt x="115965" y="270701"/>
                    <a:pt x="120209" y="267974"/>
                  </a:cubicBezTo>
                  <a:cubicBezTo>
                    <a:pt x="181990" y="228362"/>
                    <a:pt x="226485" y="164374"/>
                    <a:pt x="226485" y="94412"/>
                  </a:cubicBezTo>
                  <a:lnTo>
                    <a:pt x="226485" y="62231"/>
                  </a:lnTo>
                  <a:cubicBezTo>
                    <a:pt x="226535" y="55632"/>
                    <a:pt x="221528" y="50092"/>
                    <a:pt x="214957" y="49476"/>
                  </a:cubicBezTo>
                  <a:close/>
                  <a:moveTo>
                    <a:pt x="204816" y="94412"/>
                  </a:moveTo>
                  <a:cubicBezTo>
                    <a:pt x="204816" y="150085"/>
                    <a:pt x="171648" y="206249"/>
                    <a:pt x="116092" y="244684"/>
                  </a:cubicBezTo>
                  <a:lnTo>
                    <a:pt x="113245" y="246654"/>
                  </a:lnTo>
                  <a:lnTo>
                    <a:pt x="110401" y="244684"/>
                  </a:lnTo>
                  <a:cubicBezTo>
                    <a:pt x="54841" y="206246"/>
                    <a:pt x="21666" y="150069"/>
                    <a:pt x="21666" y="94412"/>
                  </a:cubicBezTo>
                  <a:lnTo>
                    <a:pt x="21666" y="70239"/>
                  </a:lnTo>
                  <a:lnTo>
                    <a:pt x="25880" y="69572"/>
                  </a:lnTo>
                  <a:cubicBezTo>
                    <a:pt x="57275" y="64608"/>
                    <a:pt x="86495" y="50455"/>
                    <a:pt x="109854" y="28900"/>
                  </a:cubicBezTo>
                  <a:lnTo>
                    <a:pt x="113241" y="25780"/>
                  </a:lnTo>
                  <a:lnTo>
                    <a:pt x="116632" y="28900"/>
                  </a:lnTo>
                  <a:cubicBezTo>
                    <a:pt x="139990" y="50455"/>
                    <a:pt x="169209" y="64608"/>
                    <a:pt x="200602" y="69572"/>
                  </a:cubicBezTo>
                  <a:lnTo>
                    <a:pt x="204816" y="70239"/>
                  </a:lnTo>
                  <a:close/>
                </a:path>
              </a:pathLst>
            </a:custGeom>
            <a:solidFill>
              <a:srgbClr val="0677CE"/>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44" name="Freeform: Shape 43">
              <a:extLst>
                <a:ext uri="{FF2B5EF4-FFF2-40B4-BE49-F238E27FC236}">
                  <a16:creationId xmlns:a16="http://schemas.microsoft.com/office/drawing/2014/main" id="{31EB7734-50FE-8BF9-D01E-0294C4CAC8D4}"/>
                </a:ext>
              </a:extLst>
            </p:cNvPr>
            <p:cNvSpPr/>
            <p:nvPr/>
          </p:nvSpPr>
          <p:spPr>
            <a:xfrm>
              <a:off x="7256062" y="1883700"/>
              <a:ext cx="163147" cy="195164"/>
            </a:xfrm>
            <a:custGeom>
              <a:avLst/>
              <a:gdLst>
                <a:gd name="csX0" fmla="*/ 81574 w 163147"/>
                <a:gd name="csY0" fmla="*/ 0 h 195164"/>
                <a:gd name="csX1" fmla="*/ 0 w 163147"/>
                <a:gd name="csY1" fmla="*/ 39418 h 195164"/>
                <a:gd name="csX2" fmla="*/ 0 w 163147"/>
                <a:gd name="csY2" fmla="*/ 55114 h 195164"/>
                <a:gd name="csX3" fmla="*/ 81577 w 163147"/>
                <a:gd name="csY3" fmla="*/ 195164 h 195164"/>
                <a:gd name="csX4" fmla="*/ 163147 w 163147"/>
                <a:gd name="csY4" fmla="*/ 55114 h 195164"/>
                <a:gd name="csX5" fmla="*/ 163147 w 163147"/>
                <a:gd name="csY5" fmla="*/ 39418 h 195164"/>
                <a:gd name="csX6" fmla="*/ 81574 w 163147"/>
                <a:gd name="csY6" fmla="*/ 0 h 195164"/>
                <a:gd name="csX7" fmla="*/ 73012 w 163147"/>
                <a:gd name="csY7" fmla="*/ 130166 h 195164"/>
                <a:gd name="csX8" fmla="*/ 39302 w 163147"/>
                <a:gd name="csY8" fmla="*/ 96452 h 195164"/>
                <a:gd name="csX9" fmla="*/ 50756 w 163147"/>
                <a:gd name="csY9" fmla="*/ 84997 h 195164"/>
                <a:gd name="csX10" fmla="*/ 73012 w 163147"/>
                <a:gd name="csY10" fmla="*/ 107253 h 195164"/>
                <a:gd name="csX11" fmla="*/ 118591 w 163147"/>
                <a:gd name="csY11" fmla="*/ 61674 h 195164"/>
                <a:gd name="csX12" fmla="*/ 130046 w 163147"/>
                <a:gd name="csY12" fmla="*/ 73132 h 195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3147" h="195164">
                  <a:moveTo>
                    <a:pt x="81574" y="0"/>
                  </a:moveTo>
                  <a:cubicBezTo>
                    <a:pt x="58427" y="20244"/>
                    <a:pt x="30244" y="33862"/>
                    <a:pt x="0" y="39418"/>
                  </a:cubicBezTo>
                  <a:lnTo>
                    <a:pt x="0" y="55114"/>
                  </a:lnTo>
                  <a:cubicBezTo>
                    <a:pt x="0" y="106543"/>
                    <a:pt x="30427" y="158670"/>
                    <a:pt x="81577" y="195164"/>
                  </a:cubicBezTo>
                  <a:cubicBezTo>
                    <a:pt x="132720" y="158677"/>
                    <a:pt x="163147" y="106547"/>
                    <a:pt x="163147" y="55114"/>
                  </a:cubicBezTo>
                  <a:lnTo>
                    <a:pt x="163147" y="39418"/>
                  </a:lnTo>
                  <a:cubicBezTo>
                    <a:pt x="132903" y="33862"/>
                    <a:pt x="104720" y="20244"/>
                    <a:pt x="81574" y="0"/>
                  </a:cubicBezTo>
                  <a:close/>
                  <a:moveTo>
                    <a:pt x="73012" y="130166"/>
                  </a:moveTo>
                  <a:lnTo>
                    <a:pt x="39302" y="96452"/>
                  </a:lnTo>
                  <a:lnTo>
                    <a:pt x="50756" y="84997"/>
                  </a:lnTo>
                  <a:lnTo>
                    <a:pt x="73012" y="107253"/>
                  </a:lnTo>
                  <a:lnTo>
                    <a:pt x="118591" y="61674"/>
                  </a:lnTo>
                  <a:lnTo>
                    <a:pt x="130046" y="73132"/>
                  </a:lnTo>
                  <a:close/>
                </a:path>
              </a:pathLst>
            </a:custGeom>
            <a:gradFill>
              <a:gsLst>
                <a:gs pos="0">
                  <a:srgbClr val="0677CE"/>
                </a:gs>
                <a:gs pos="100000">
                  <a:srgbClr val="319A89"/>
                </a:gs>
              </a:gsLst>
              <a:lin ang="2700000" scaled="0"/>
            </a:gra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grpSp>
        <p:nvGrpSpPr>
          <p:cNvPr id="45" name="Group 44">
            <a:extLst>
              <a:ext uri="{FF2B5EF4-FFF2-40B4-BE49-F238E27FC236}">
                <a16:creationId xmlns:a16="http://schemas.microsoft.com/office/drawing/2014/main" id="{50882C0A-CFCC-F4A2-D5F7-33F92AE3360C}"/>
              </a:ext>
            </a:extLst>
          </p:cNvPr>
          <p:cNvGrpSpPr/>
          <p:nvPr/>
        </p:nvGrpSpPr>
        <p:grpSpPr>
          <a:xfrm>
            <a:off x="2196032" y="3620974"/>
            <a:ext cx="4876284" cy="406977"/>
            <a:chOff x="2070486" y="3861125"/>
            <a:chExt cx="5458968" cy="406977"/>
          </a:xfrm>
        </p:grpSpPr>
        <p:sp>
          <p:nvSpPr>
            <p:cNvPr id="46" name="Rectangle: Rounded Corners 36">
              <a:extLst>
                <a:ext uri="{FF2B5EF4-FFF2-40B4-BE49-F238E27FC236}">
                  <a16:creationId xmlns:a16="http://schemas.microsoft.com/office/drawing/2014/main" id="{106D6070-9DE6-A7A3-450C-BB90D7B85374}"/>
                </a:ext>
                <a:ext uri="{C183D7F6-B498-43B3-948B-1728B52AA6E4}">
                  <adec:decorative xmlns:adec="http://schemas.microsoft.com/office/drawing/2017/decorative" val="0"/>
                </a:ext>
              </a:extLst>
            </p:cNvPr>
            <p:cNvSpPr/>
            <p:nvPr/>
          </p:nvSpPr>
          <p:spPr>
            <a:xfrm>
              <a:off x="2070486" y="3861125"/>
              <a:ext cx="5458968" cy="406977"/>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0" bIns="0" numCol="1" spcCol="0" rtlCol="0" fromWordArt="0" anchor="t"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10" action="ppaction://hlinksldjump" tooltip="Enable Security, Resiliency &amp; Arc"/>
                </a:rPr>
                <a:t>Enable Security, Resiliency &amp; Arc</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60375" marR="0" lvl="0" indent="0" algn="l" defTabSz="914344"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Cloud Defender, Cloud Workload Protection, Zonal Resiliency &amp; Arc Enablement</a:t>
              </a:r>
            </a:p>
            <a:p>
              <a:pPr marL="0" marR="0" lvl="0" indent="0" algn="l" defTabSz="932449" rtl="0" eaLnBrk="1" fontAlgn="base" latinLnBrk="0" hangingPunct="1">
                <a:lnSpc>
                  <a:spcPct val="100000"/>
                </a:lnSpc>
                <a:spcBef>
                  <a:spcPct val="0"/>
                </a:spcBef>
                <a:spcAft>
                  <a:spcPts val="600"/>
                </a:spcAft>
                <a:buClrTx/>
                <a:buSzTx/>
                <a:buFontTx/>
                <a:buNone/>
                <a:tabLst/>
                <a:defRPr/>
              </a:pPr>
              <a:endParaRPr kumimoji="0" lang="en-US" sz="700" b="0" i="0" u="none" strike="noStrike" kern="1200" cap="none" spc="0" normalizeH="0" baseline="0" noProof="0" dirty="0">
                <a:ln>
                  <a:noFill/>
                </a:ln>
                <a:solidFill>
                  <a:srgbClr val="000000"/>
                </a:solidFill>
                <a:effectLst/>
                <a:uLnTx/>
                <a:uFillTx/>
                <a:latin typeface="Segoe Sans Text"/>
                <a:ea typeface="+mn-ea"/>
                <a:cs typeface="Segoe Sans Text" pitchFamily="2" charset="0"/>
              </a:endParaRPr>
            </a:p>
          </p:txBody>
        </p:sp>
        <p:sp>
          <p:nvSpPr>
            <p:cNvPr id="47" name="Graphic 35" descr="Shield with solid fill">
              <a:extLst>
                <a:ext uri="{FF2B5EF4-FFF2-40B4-BE49-F238E27FC236}">
                  <a16:creationId xmlns:a16="http://schemas.microsoft.com/office/drawing/2014/main" id="{93FAFC54-C618-9E3B-0D38-FD9881E487F1}"/>
                </a:ext>
              </a:extLst>
            </p:cNvPr>
            <p:cNvSpPr/>
            <p:nvPr/>
          </p:nvSpPr>
          <p:spPr>
            <a:xfrm>
              <a:off x="2163799" y="3915219"/>
              <a:ext cx="226485" cy="270032"/>
            </a:xfrm>
            <a:custGeom>
              <a:avLst/>
              <a:gdLst>
                <a:gd name="csX0" fmla="*/ 122706 w 226485"/>
                <a:gd name="csY0" fmla="*/ 4334 h 270032"/>
                <a:gd name="csX1" fmla="*/ 214957 w 226485"/>
                <a:gd name="csY1" fmla="*/ 49493 h 270032"/>
                <a:gd name="csX2" fmla="*/ 226485 w 226485"/>
                <a:gd name="csY2" fmla="*/ 62244 h 270032"/>
                <a:gd name="csX3" fmla="*/ 226485 w 226485"/>
                <a:gd name="csY3" fmla="*/ 94428 h 270032"/>
                <a:gd name="csX4" fmla="*/ 120209 w 226485"/>
                <a:gd name="csY4" fmla="*/ 267990 h 270032"/>
                <a:gd name="csX5" fmla="*/ 106277 w 226485"/>
                <a:gd name="csY5" fmla="*/ 267990 h 270032"/>
                <a:gd name="csX6" fmla="*/ 0 w 226485"/>
                <a:gd name="csY6" fmla="*/ 94428 h 270032"/>
                <a:gd name="csX7" fmla="*/ 0 w 226485"/>
                <a:gd name="csY7" fmla="*/ 62244 h 270032"/>
                <a:gd name="csX8" fmla="*/ 11528 w 226485"/>
                <a:gd name="csY8" fmla="*/ 49493 h 270032"/>
                <a:gd name="csX9" fmla="*/ 103780 w 226485"/>
                <a:gd name="csY9" fmla="*/ 4334 h 270032"/>
                <a:gd name="csX10" fmla="*/ 121408 w 226485"/>
                <a:gd name="csY10" fmla="*/ 3036 h 270032"/>
                <a:gd name="csX11" fmla="*/ 122706 w 226485"/>
                <a:gd name="csY11" fmla="*/ 4334 h 270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26485" h="270032">
                  <a:moveTo>
                    <a:pt x="122706" y="4334"/>
                  </a:moveTo>
                  <a:cubicBezTo>
                    <a:pt x="146625" y="30529"/>
                    <a:pt x="179596" y="46669"/>
                    <a:pt x="214957" y="49493"/>
                  </a:cubicBezTo>
                  <a:cubicBezTo>
                    <a:pt x="221526" y="50109"/>
                    <a:pt x="226533" y="55647"/>
                    <a:pt x="226485" y="62244"/>
                  </a:cubicBezTo>
                  <a:lnTo>
                    <a:pt x="226485" y="94428"/>
                  </a:lnTo>
                  <a:cubicBezTo>
                    <a:pt x="226485" y="164387"/>
                    <a:pt x="181990" y="228389"/>
                    <a:pt x="120209" y="267990"/>
                  </a:cubicBezTo>
                  <a:cubicBezTo>
                    <a:pt x="115964" y="270714"/>
                    <a:pt x="110521" y="270714"/>
                    <a:pt x="106277" y="267990"/>
                  </a:cubicBezTo>
                  <a:cubicBezTo>
                    <a:pt x="44496" y="228389"/>
                    <a:pt x="0" y="164387"/>
                    <a:pt x="0" y="94428"/>
                  </a:cubicBezTo>
                  <a:lnTo>
                    <a:pt x="0" y="62244"/>
                  </a:lnTo>
                  <a:cubicBezTo>
                    <a:pt x="-47" y="55647"/>
                    <a:pt x="4959" y="50109"/>
                    <a:pt x="11528" y="49493"/>
                  </a:cubicBezTo>
                  <a:cubicBezTo>
                    <a:pt x="46889" y="46669"/>
                    <a:pt x="79860" y="30529"/>
                    <a:pt x="103780" y="4334"/>
                  </a:cubicBezTo>
                  <a:cubicBezTo>
                    <a:pt x="108289" y="-892"/>
                    <a:pt x="116181" y="-1474"/>
                    <a:pt x="121408" y="3036"/>
                  </a:cubicBezTo>
                  <a:cubicBezTo>
                    <a:pt x="121871" y="3436"/>
                    <a:pt x="122305" y="3870"/>
                    <a:pt x="122706" y="4334"/>
                  </a:cubicBezTo>
                  <a:close/>
                </a:path>
              </a:pathLst>
            </a:custGeom>
            <a:gradFill flip="none" rotWithShape="1">
              <a:gsLst>
                <a:gs pos="0">
                  <a:srgbClr val="0677CE"/>
                </a:gs>
                <a:gs pos="100000">
                  <a:srgbClr val="319A89"/>
                </a:gs>
              </a:gsLst>
              <a:lin ang="2700000" scaled="1"/>
              <a:tileRect/>
            </a:gra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sp>
        <p:nvSpPr>
          <p:cNvPr id="49" name="Rectangle: Rounded Corners 36">
            <a:extLst>
              <a:ext uri="{FF2B5EF4-FFF2-40B4-BE49-F238E27FC236}">
                <a16:creationId xmlns:a16="http://schemas.microsoft.com/office/drawing/2014/main" id="{D9ED644E-0D00-CA77-291D-8B83942919B7}"/>
              </a:ext>
              <a:ext uri="{C183D7F6-B498-43B3-948B-1728B52AA6E4}">
                <adec:decorative xmlns:adec="http://schemas.microsoft.com/office/drawing/2017/decorative" val="0"/>
              </a:ext>
            </a:extLst>
          </p:cNvPr>
          <p:cNvSpPr/>
          <p:nvPr/>
        </p:nvSpPr>
        <p:spPr>
          <a:xfrm>
            <a:off x="4677132" y="4163143"/>
            <a:ext cx="2395183" cy="804991"/>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0" bIns="0" numCol="1" spcCol="0" rtlCol="0" fromWordArt="0" anchor="ctr" anchorCtr="0" forceAA="0" compatLnSpc="1">
            <a:prstTxWarp prst="textNoShape">
              <a:avLst/>
            </a:prstTxWarp>
            <a:noAutofit/>
          </a:bodyPr>
          <a:lstStyle/>
          <a:p>
            <a:pPr marL="227013" marR="0" lvl="0" indent="0" algn="l" defTabSz="932449" rtl="0" eaLnBrk="1" fontAlgn="base" latinLnBrk="0" hangingPunct="1">
              <a:lnSpc>
                <a:spcPct val="100000"/>
              </a:lnSpc>
              <a:spcBef>
                <a:spcPts val="60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11" action="ppaction://hlinksldjump" tooltip="Agent Factory"/>
              </a:rPr>
              <a:t>Agent Development</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174625" algn="l" defTabSz="932449" rtl="0" eaLnBrk="1" fontAlgn="base"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Segoe Sans Text" pitchFamily="2" charset="0"/>
              </a:rPr>
              <a:t>Custom Agents built using Co-pilot Studio or Foundry (Scope 1 patterns) </a:t>
            </a:r>
          </a:p>
        </p:txBody>
      </p:sp>
      <p:grpSp>
        <p:nvGrpSpPr>
          <p:cNvPr id="36" name="Group 35">
            <a:extLst>
              <a:ext uri="{FF2B5EF4-FFF2-40B4-BE49-F238E27FC236}">
                <a16:creationId xmlns:a16="http://schemas.microsoft.com/office/drawing/2014/main" id="{9AF72796-EAA9-A600-5B61-E10BD7D57192}"/>
              </a:ext>
            </a:extLst>
          </p:cNvPr>
          <p:cNvGrpSpPr/>
          <p:nvPr/>
        </p:nvGrpSpPr>
        <p:grpSpPr>
          <a:xfrm>
            <a:off x="4717231" y="4566508"/>
            <a:ext cx="324834" cy="346366"/>
            <a:chOff x="4761512" y="4457067"/>
            <a:chExt cx="213594" cy="232163"/>
          </a:xfrm>
        </p:grpSpPr>
        <p:sp>
          <p:nvSpPr>
            <p:cNvPr id="50" name="Oval 49">
              <a:extLst>
                <a:ext uri="{FF2B5EF4-FFF2-40B4-BE49-F238E27FC236}">
                  <a16:creationId xmlns:a16="http://schemas.microsoft.com/office/drawing/2014/main" id="{97ECFB4D-300B-210E-0931-982B832850F9}"/>
                </a:ext>
              </a:extLst>
            </p:cNvPr>
            <p:cNvSpPr/>
            <p:nvPr/>
          </p:nvSpPr>
          <p:spPr>
            <a:xfrm>
              <a:off x="4909165" y="4622555"/>
              <a:ext cx="62831" cy="66675"/>
            </a:xfrm>
            <a:prstGeom prst="ellipse">
              <a:avLst/>
            </a:prstGeom>
            <a:gradFill>
              <a:gsLst>
                <a:gs pos="0">
                  <a:srgbClr val="319A89"/>
                </a:gs>
                <a:gs pos="100000">
                  <a:srgbClr val="0677CE"/>
                </a:gs>
              </a:gsLst>
              <a:lin ang="2700000" scaled="0"/>
            </a:gra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51" name="Oval 50">
              <a:extLst>
                <a:ext uri="{FF2B5EF4-FFF2-40B4-BE49-F238E27FC236}">
                  <a16:creationId xmlns:a16="http://schemas.microsoft.com/office/drawing/2014/main" id="{BD45BC4F-57F6-1CA2-8BA8-1C3CD00DCE5D}"/>
                </a:ext>
              </a:extLst>
            </p:cNvPr>
            <p:cNvSpPr/>
            <p:nvPr/>
          </p:nvSpPr>
          <p:spPr>
            <a:xfrm>
              <a:off x="4761512" y="4459201"/>
              <a:ext cx="62831" cy="66675"/>
            </a:xfrm>
            <a:prstGeom prst="ellipse">
              <a:avLst/>
            </a:prstGeom>
            <a:gradFill>
              <a:gsLst>
                <a:gs pos="0">
                  <a:srgbClr val="319A89"/>
                </a:gs>
                <a:gs pos="100000">
                  <a:srgbClr val="0677CE"/>
                </a:gs>
              </a:gsLst>
              <a:lin ang="2700000" scaled="0"/>
            </a:gra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52" name="Freeform: Shape 51">
              <a:extLst>
                <a:ext uri="{FF2B5EF4-FFF2-40B4-BE49-F238E27FC236}">
                  <a16:creationId xmlns:a16="http://schemas.microsoft.com/office/drawing/2014/main" id="{C3566BA3-154F-D13E-7931-49E4D4A18D7C}"/>
                </a:ext>
              </a:extLst>
            </p:cNvPr>
            <p:cNvSpPr/>
            <p:nvPr/>
          </p:nvSpPr>
          <p:spPr>
            <a:xfrm>
              <a:off x="4906055" y="4457067"/>
              <a:ext cx="69051" cy="72075"/>
            </a:xfrm>
            <a:custGeom>
              <a:avLst/>
              <a:gdLst>
                <a:gd name="csX0" fmla="*/ 36638 w 73275"/>
                <a:gd name="csY0" fmla="*/ 72076 h 72075"/>
                <a:gd name="csX1" fmla="*/ 0 w 73275"/>
                <a:gd name="csY1" fmla="*/ 35438 h 72075"/>
                <a:gd name="csX2" fmla="*/ 36638 w 73275"/>
                <a:gd name="csY2" fmla="*/ 0 h 72075"/>
                <a:gd name="csX3" fmla="*/ 73276 w 73275"/>
                <a:gd name="csY3" fmla="*/ 35438 h 72075"/>
                <a:gd name="csX4" fmla="*/ 36638 w 73275"/>
                <a:gd name="csY4" fmla="*/ 72076 h 72075"/>
              </a:gdLst>
              <a:ahLst/>
              <a:cxnLst>
                <a:cxn ang="0">
                  <a:pos x="csX0" y="csY0"/>
                </a:cxn>
                <a:cxn ang="0">
                  <a:pos x="csX1" y="csY1"/>
                </a:cxn>
                <a:cxn ang="0">
                  <a:pos x="csX2" y="csY2"/>
                </a:cxn>
                <a:cxn ang="0">
                  <a:pos x="csX3" y="csY3"/>
                </a:cxn>
                <a:cxn ang="0">
                  <a:pos x="csX4" y="csY4"/>
                </a:cxn>
              </a:cxnLst>
              <a:rect l="l" t="t" r="r" b="b"/>
              <a:pathLst>
                <a:path w="73275" h="72075">
                  <a:moveTo>
                    <a:pt x="36638" y="72076"/>
                  </a:moveTo>
                  <a:lnTo>
                    <a:pt x="0" y="35438"/>
                  </a:lnTo>
                  <a:lnTo>
                    <a:pt x="36638" y="0"/>
                  </a:lnTo>
                  <a:lnTo>
                    <a:pt x="73276" y="35438"/>
                  </a:lnTo>
                  <a:lnTo>
                    <a:pt x="36638" y="72076"/>
                  </a:lnTo>
                  <a:close/>
                </a:path>
              </a:pathLst>
            </a:custGeom>
            <a:solidFill>
              <a:srgbClr val="0677CE"/>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53" name="Rectangle 52">
              <a:extLst>
                <a:ext uri="{FF2B5EF4-FFF2-40B4-BE49-F238E27FC236}">
                  <a16:creationId xmlns:a16="http://schemas.microsoft.com/office/drawing/2014/main" id="{FA6B04D5-3EDA-55F3-0BBB-27AA6D7A2171}"/>
                </a:ext>
              </a:extLst>
            </p:cNvPr>
            <p:cNvSpPr/>
            <p:nvPr/>
          </p:nvSpPr>
          <p:spPr>
            <a:xfrm>
              <a:off x="4761512" y="4622355"/>
              <a:ext cx="62831" cy="66675"/>
            </a:xfrm>
            <a:prstGeom prst="rect">
              <a:avLst/>
            </a:prstGeom>
            <a:solidFill>
              <a:srgbClr val="0677CE"/>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54" name="Freeform: Shape 53">
              <a:extLst>
                <a:ext uri="{FF2B5EF4-FFF2-40B4-BE49-F238E27FC236}">
                  <a16:creationId xmlns:a16="http://schemas.microsoft.com/office/drawing/2014/main" id="{56035AE4-5C53-C8E0-DA11-00E7F076A59D}"/>
                </a:ext>
              </a:extLst>
            </p:cNvPr>
            <p:cNvSpPr/>
            <p:nvPr/>
          </p:nvSpPr>
          <p:spPr>
            <a:xfrm>
              <a:off x="4829872" y="4632577"/>
              <a:ext cx="66318" cy="46691"/>
            </a:xfrm>
            <a:custGeom>
              <a:avLst/>
              <a:gdLst>
                <a:gd name="csX0" fmla="*/ 70375 w 70375"/>
                <a:gd name="csY0" fmla="*/ 16647 h 46691"/>
                <a:gd name="csX1" fmla="*/ 20803 w 70375"/>
                <a:gd name="csY1" fmla="*/ 16647 h 46691"/>
                <a:gd name="csX2" fmla="*/ 27470 w 70375"/>
                <a:gd name="csY2" fmla="*/ 9980 h 46691"/>
                <a:gd name="csX3" fmla="*/ 27470 w 70375"/>
                <a:gd name="csY3" fmla="*/ 1712 h 46691"/>
                <a:gd name="csX4" fmla="*/ 19202 w 70375"/>
                <a:gd name="csY4" fmla="*/ 1712 h 46691"/>
                <a:gd name="csX5" fmla="*/ 1700 w 70375"/>
                <a:gd name="csY5" fmla="*/ 19214 h 46691"/>
                <a:gd name="csX6" fmla="*/ 0 w 70375"/>
                <a:gd name="csY6" fmla="*/ 23348 h 46691"/>
                <a:gd name="csX7" fmla="*/ 1700 w 70375"/>
                <a:gd name="csY7" fmla="*/ 27482 h 46691"/>
                <a:gd name="csX8" fmla="*/ 19202 w 70375"/>
                <a:gd name="csY8" fmla="*/ 44984 h 46691"/>
                <a:gd name="csX9" fmla="*/ 27487 w 70375"/>
                <a:gd name="csY9" fmla="*/ 44968 h 46691"/>
                <a:gd name="csX10" fmla="*/ 27470 w 70375"/>
                <a:gd name="csY10" fmla="*/ 36683 h 46691"/>
                <a:gd name="csX11" fmla="*/ 20803 w 70375"/>
                <a:gd name="csY11" fmla="*/ 30016 h 46691"/>
                <a:gd name="csX12" fmla="*/ 70375 w 70375"/>
                <a:gd name="csY12" fmla="*/ 30016 h 466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0375" h="46691">
                  <a:moveTo>
                    <a:pt x="70375" y="16647"/>
                  </a:moveTo>
                  <a:lnTo>
                    <a:pt x="20803" y="16647"/>
                  </a:lnTo>
                  <a:lnTo>
                    <a:pt x="27470" y="9980"/>
                  </a:lnTo>
                  <a:cubicBezTo>
                    <a:pt x="29753" y="7697"/>
                    <a:pt x="29753" y="3995"/>
                    <a:pt x="27470" y="1712"/>
                  </a:cubicBezTo>
                  <a:cubicBezTo>
                    <a:pt x="25187" y="-571"/>
                    <a:pt x="21485" y="-571"/>
                    <a:pt x="19202" y="1712"/>
                  </a:cubicBezTo>
                  <a:lnTo>
                    <a:pt x="1700" y="19214"/>
                  </a:lnTo>
                  <a:cubicBezTo>
                    <a:pt x="622" y="20322"/>
                    <a:pt x="13" y="21803"/>
                    <a:pt x="0" y="23348"/>
                  </a:cubicBezTo>
                  <a:cubicBezTo>
                    <a:pt x="6" y="24895"/>
                    <a:pt x="616" y="26378"/>
                    <a:pt x="1700" y="27482"/>
                  </a:cubicBezTo>
                  <a:lnTo>
                    <a:pt x="19202" y="44984"/>
                  </a:lnTo>
                  <a:cubicBezTo>
                    <a:pt x="21495" y="47267"/>
                    <a:pt x="25204" y="47260"/>
                    <a:pt x="27487" y="44968"/>
                  </a:cubicBezTo>
                  <a:cubicBezTo>
                    <a:pt x="29770" y="42675"/>
                    <a:pt x="29762" y="38966"/>
                    <a:pt x="27470" y="36683"/>
                  </a:cubicBezTo>
                  <a:lnTo>
                    <a:pt x="20803" y="30016"/>
                  </a:lnTo>
                  <a:lnTo>
                    <a:pt x="70375" y="30016"/>
                  </a:lnTo>
                  <a:close/>
                </a:path>
              </a:pathLst>
            </a:cu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55" name="Freeform: Shape 54">
              <a:extLst>
                <a:ext uri="{FF2B5EF4-FFF2-40B4-BE49-F238E27FC236}">
                  <a16:creationId xmlns:a16="http://schemas.microsoft.com/office/drawing/2014/main" id="{F08EDB82-3E36-02F0-E22F-33F29611D4E6}"/>
                </a:ext>
              </a:extLst>
            </p:cNvPr>
            <p:cNvSpPr/>
            <p:nvPr/>
          </p:nvSpPr>
          <p:spPr>
            <a:xfrm>
              <a:off x="4836909" y="4469035"/>
              <a:ext cx="63023" cy="46651"/>
            </a:xfrm>
            <a:custGeom>
              <a:avLst/>
              <a:gdLst>
                <a:gd name="csX0" fmla="*/ 65175 w 66878"/>
                <a:gd name="csY0" fmla="*/ 19203 h 46651"/>
                <a:gd name="csX1" fmla="*/ 47673 w 66878"/>
                <a:gd name="csY1" fmla="*/ 1701 h 46651"/>
                <a:gd name="csX2" fmla="*/ 39422 w 66878"/>
                <a:gd name="csY2" fmla="*/ 1717 h 46651"/>
                <a:gd name="csX3" fmla="*/ 39438 w 66878"/>
                <a:gd name="csY3" fmla="*/ 9968 h 46651"/>
                <a:gd name="csX4" fmla="*/ 46106 w 66878"/>
                <a:gd name="csY4" fmla="*/ 16636 h 46651"/>
                <a:gd name="csX5" fmla="*/ 0 w 66878"/>
                <a:gd name="csY5" fmla="*/ 16636 h 46651"/>
                <a:gd name="csX6" fmla="*/ 0 w 66878"/>
                <a:gd name="csY6" fmla="*/ 29971 h 46651"/>
                <a:gd name="csX7" fmla="*/ 46139 w 66878"/>
                <a:gd name="csY7" fmla="*/ 29971 h 46651"/>
                <a:gd name="csX8" fmla="*/ 39472 w 66878"/>
                <a:gd name="csY8" fmla="*/ 36638 h 46651"/>
                <a:gd name="csX9" fmla="*/ 39405 w 66878"/>
                <a:gd name="csY9" fmla="*/ 44906 h 46651"/>
                <a:gd name="csX10" fmla="*/ 47673 w 66878"/>
                <a:gd name="csY10" fmla="*/ 44973 h 46651"/>
                <a:gd name="csX11" fmla="*/ 65175 w 66878"/>
                <a:gd name="csY11" fmla="*/ 27470 h 46651"/>
                <a:gd name="csX12" fmla="*/ 65175 w 66878"/>
                <a:gd name="csY12" fmla="*/ 19203 h 46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878" h="46651">
                  <a:moveTo>
                    <a:pt x="65175" y="19203"/>
                  </a:moveTo>
                  <a:lnTo>
                    <a:pt x="47673" y="1701"/>
                  </a:lnTo>
                  <a:cubicBezTo>
                    <a:pt x="45390" y="-573"/>
                    <a:pt x="41696" y="-566"/>
                    <a:pt x="39422" y="1717"/>
                  </a:cubicBezTo>
                  <a:cubicBezTo>
                    <a:pt x="37148" y="4000"/>
                    <a:pt x="37155" y="7694"/>
                    <a:pt x="39438" y="9968"/>
                  </a:cubicBezTo>
                  <a:lnTo>
                    <a:pt x="46106" y="16636"/>
                  </a:lnTo>
                  <a:lnTo>
                    <a:pt x="0" y="16636"/>
                  </a:lnTo>
                  <a:lnTo>
                    <a:pt x="0" y="29971"/>
                  </a:lnTo>
                  <a:lnTo>
                    <a:pt x="46139" y="29971"/>
                  </a:lnTo>
                  <a:lnTo>
                    <a:pt x="39472" y="36638"/>
                  </a:lnTo>
                  <a:cubicBezTo>
                    <a:pt x="37170" y="38903"/>
                    <a:pt x="37140" y="42604"/>
                    <a:pt x="39405" y="44906"/>
                  </a:cubicBezTo>
                  <a:cubicBezTo>
                    <a:pt x="41670" y="47208"/>
                    <a:pt x="45371" y="47237"/>
                    <a:pt x="47673" y="44973"/>
                  </a:cubicBezTo>
                  <a:lnTo>
                    <a:pt x="65175" y="27470"/>
                  </a:lnTo>
                  <a:cubicBezTo>
                    <a:pt x="67446" y="25182"/>
                    <a:pt x="67446" y="21491"/>
                    <a:pt x="65175" y="19203"/>
                  </a:cubicBezTo>
                  <a:close/>
                </a:path>
              </a:pathLst>
            </a:cu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56" name="Freeform: Shape 55">
              <a:extLst>
                <a:ext uri="{FF2B5EF4-FFF2-40B4-BE49-F238E27FC236}">
                  <a16:creationId xmlns:a16="http://schemas.microsoft.com/office/drawing/2014/main" id="{AD70BE70-8E4A-1E98-C4EF-B93B3BC2E29B}"/>
                </a:ext>
              </a:extLst>
            </p:cNvPr>
            <p:cNvSpPr/>
            <p:nvPr/>
          </p:nvSpPr>
          <p:spPr>
            <a:xfrm>
              <a:off x="4918637" y="4542345"/>
              <a:ext cx="44032" cy="73745"/>
            </a:xfrm>
            <a:custGeom>
              <a:avLst/>
              <a:gdLst>
                <a:gd name="csX0" fmla="*/ 45023 w 46726"/>
                <a:gd name="csY0" fmla="*/ 46206 h 73745"/>
                <a:gd name="csX1" fmla="*/ 36755 w 46726"/>
                <a:gd name="csY1" fmla="*/ 46206 h 73745"/>
                <a:gd name="csX2" fmla="*/ 30087 w 46726"/>
                <a:gd name="csY2" fmla="*/ 52873 h 73745"/>
                <a:gd name="csX3" fmla="*/ 30087 w 46726"/>
                <a:gd name="csY3" fmla="*/ 0 h 73745"/>
                <a:gd name="csX4" fmla="*/ 16619 w 46726"/>
                <a:gd name="csY4" fmla="*/ 0 h 73745"/>
                <a:gd name="csX5" fmla="*/ 16619 w 46726"/>
                <a:gd name="csY5" fmla="*/ 52940 h 73745"/>
                <a:gd name="csX6" fmla="*/ 9952 w 46726"/>
                <a:gd name="csY6" fmla="*/ 46272 h 73745"/>
                <a:gd name="csX7" fmla="*/ 1701 w 46726"/>
                <a:gd name="csY7" fmla="*/ 46289 h 73745"/>
                <a:gd name="csX8" fmla="*/ 1717 w 46726"/>
                <a:gd name="csY8" fmla="*/ 54540 h 73745"/>
                <a:gd name="csX9" fmla="*/ 19186 w 46726"/>
                <a:gd name="csY9" fmla="*/ 72042 h 73745"/>
                <a:gd name="csX10" fmla="*/ 27454 w 46726"/>
                <a:gd name="csY10" fmla="*/ 72042 h 73745"/>
                <a:gd name="csX11" fmla="*/ 44956 w 46726"/>
                <a:gd name="csY11" fmla="*/ 54540 h 73745"/>
                <a:gd name="csX12" fmla="*/ 45059 w 46726"/>
                <a:gd name="csY12" fmla="*/ 46243 h 73745"/>
                <a:gd name="csX13" fmla="*/ 45023 w 46726"/>
                <a:gd name="csY13" fmla="*/ 46206 h 73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6726" h="73745">
                  <a:moveTo>
                    <a:pt x="45023" y="46206"/>
                  </a:moveTo>
                  <a:cubicBezTo>
                    <a:pt x="42735" y="43934"/>
                    <a:pt x="39043" y="43934"/>
                    <a:pt x="36755" y="46206"/>
                  </a:cubicBezTo>
                  <a:lnTo>
                    <a:pt x="30087" y="52873"/>
                  </a:lnTo>
                  <a:lnTo>
                    <a:pt x="30087" y="0"/>
                  </a:lnTo>
                  <a:lnTo>
                    <a:pt x="16619" y="0"/>
                  </a:lnTo>
                  <a:lnTo>
                    <a:pt x="16619" y="52940"/>
                  </a:lnTo>
                  <a:lnTo>
                    <a:pt x="9952" y="46272"/>
                  </a:lnTo>
                  <a:cubicBezTo>
                    <a:pt x="7669" y="43998"/>
                    <a:pt x="3974" y="44006"/>
                    <a:pt x="1701" y="46289"/>
                  </a:cubicBezTo>
                  <a:cubicBezTo>
                    <a:pt x="-573" y="48572"/>
                    <a:pt x="-566" y="52266"/>
                    <a:pt x="1717" y="54540"/>
                  </a:cubicBezTo>
                  <a:lnTo>
                    <a:pt x="19186" y="72042"/>
                  </a:lnTo>
                  <a:cubicBezTo>
                    <a:pt x="21474" y="74314"/>
                    <a:pt x="25166" y="74314"/>
                    <a:pt x="27454" y="72042"/>
                  </a:cubicBezTo>
                  <a:lnTo>
                    <a:pt x="44956" y="54540"/>
                  </a:lnTo>
                  <a:cubicBezTo>
                    <a:pt x="47276" y="52278"/>
                    <a:pt x="47322" y="48563"/>
                    <a:pt x="45059" y="46243"/>
                  </a:cubicBezTo>
                  <a:cubicBezTo>
                    <a:pt x="45047" y="46230"/>
                    <a:pt x="45035" y="46218"/>
                    <a:pt x="45023" y="46206"/>
                  </a:cubicBezTo>
                  <a:close/>
                </a:path>
              </a:pathLst>
            </a:cu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grpSp>
        <p:nvGrpSpPr>
          <p:cNvPr id="57" name="Group 56">
            <a:extLst>
              <a:ext uri="{FF2B5EF4-FFF2-40B4-BE49-F238E27FC236}">
                <a16:creationId xmlns:a16="http://schemas.microsoft.com/office/drawing/2014/main" id="{81E9D80D-817D-895B-AE7A-D06557F359E7}"/>
              </a:ext>
            </a:extLst>
          </p:cNvPr>
          <p:cNvGrpSpPr/>
          <p:nvPr/>
        </p:nvGrpSpPr>
        <p:grpSpPr>
          <a:xfrm>
            <a:off x="2179674" y="5093637"/>
            <a:ext cx="2453198" cy="686824"/>
            <a:chOff x="2053538" y="5340942"/>
            <a:chExt cx="2581839" cy="686824"/>
          </a:xfrm>
        </p:grpSpPr>
        <p:sp>
          <p:nvSpPr>
            <p:cNvPr id="58" name="Rectangle: Rounded Corners 36">
              <a:extLst>
                <a:ext uri="{FF2B5EF4-FFF2-40B4-BE49-F238E27FC236}">
                  <a16:creationId xmlns:a16="http://schemas.microsoft.com/office/drawing/2014/main" id="{03EDDC25-C4F8-FEB7-45CA-EDF76DB212DB}"/>
                </a:ext>
                <a:ext uri="{C183D7F6-B498-43B3-948B-1728B52AA6E4}">
                  <adec:decorative xmlns:adec="http://schemas.microsoft.com/office/drawing/2017/decorative" val="0"/>
                </a:ext>
              </a:extLst>
            </p:cNvPr>
            <p:cNvSpPr/>
            <p:nvPr/>
          </p:nvSpPr>
          <p:spPr>
            <a:xfrm>
              <a:off x="2053538" y="5340942"/>
              <a:ext cx="2581839" cy="686824"/>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12" action="ppaction://hlinksldjump" tooltip="P SKU to F SKU Migration"/>
                </a:rPr>
                <a:t>P SKU to F SKU Migration</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0" algn="l" defTabSz="914344"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P SKU to F SKU migrations </a:t>
              </a:r>
            </a:p>
          </p:txBody>
        </p:sp>
        <p:sp>
          <p:nvSpPr>
            <p:cNvPr id="59" name="Graphic 75">
              <a:extLst>
                <a:ext uri="{FF2B5EF4-FFF2-40B4-BE49-F238E27FC236}">
                  <a16:creationId xmlns:a16="http://schemas.microsoft.com/office/drawing/2014/main" id="{37F2B246-F8B8-54AF-8F9F-E351E39EA28D}"/>
                </a:ext>
                <a:ext uri="{C183D7F6-B498-43B3-948B-1728B52AA6E4}">
                  <adec:decorative xmlns:adec="http://schemas.microsoft.com/office/drawing/2017/decorative" val="1"/>
                </a:ext>
              </a:extLst>
            </p:cNvPr>
            <p:cNvSpPr/>
            <p:nvPr/>
          </p:nvSpPr>
          <p:spPr>
            <a:xfrm>
              <a:off x="2121728" y="5553343"/>
              <a:ext cx="283574" cy="262021"/>
            </a:xfrm>
            <a:custGeom>
              <a:avLst/>
              <a:gdLst>
                <a:gd name="connsiteX0" fmla="*/ 45720 w 320040"/>
                <a:gd name="connsiteY0" fmla="*/ 0 h 320040"/>
                <a:gd name="connsiteX1" fmla="*/ 0 w 320040"/>
                <a:gd name="connsiteY1" fmla="*/ 45720 h 320040"/>
                <a:gd name="connsiteX2" fmla="*/ 0 w 320040"/>
                <a:gd name="connsiteY2" fmla="*/ 228600 h 320040"/>
                <a:gd name="connsiteX3" fmla="*/ 65425 w 320040"/>
                <a:gd name="connsiteY3" fmla="*/ 206670 h 320040"/>
                <a:gd name="connsiteX4" fmla="*/ 94963 w 320040"/>
                <a:gd name="connsiteY4" fmla="*/ 156176 h 320040"/>
                <a:gd name="connsiteX5" fmla="*/ 101555 w 320040"/>
                <a:gd name="connsiteY5" fmla="*/ 136365 h 320040"/>
                <a:gd name="connsiteX6" fmla="*/ 104557 w 320040"/>
                <a:gd name="connsiteY6" fmla="*/ 127073 h 320040"/>
                <a:gd name="connsiteX7" fmla="*/ 115149 w 320040"/>
                <a:gd name="connsiteY7" fmla="*/ 99901 h 320040"/>
                <a:gd name="connsiteX8" fmla="*/ 132028 w 320040"/>
                <a:gd name="connsiteY8" fmla="*/ 77891 h 320040"/>
                <a:gd name="connsiteX9" fmla="*/ 160020 w 320040"/>
                <a:gd name="connsiteY9" fmla="*/ 68580 h 320040"/>
                <a:gd name="connsiteX10" fmla="*/ 188012 w 320040"/>
                <a:gd name="connsiteY10" fmla="*/ 77891 h 320040"/>
                <a:gd name="connsiteX11" fmla="*/ 204890 w 320040"/>
                <a:gd name="connsiteY11" fmla="*/ 99901 h 320040"/>
                <a:gd name="connsiteX12" fmla="*/ 215483 w 320040"/>
                <a:gd name="connsiteY12" fmla="*/ 127073 h 320040"/>
                <a:gd name="connsiteX13" fmla="*/ 218484 w 320040"/>
                <a:gd name="connsiteY13" fmla="*/ 136365 h 320040"/>
                <a:gd name="connsiteX14" fmla="*/ 225077 w 320040"/>
                <a:gd name="connsiteY14" fmla="*/ 156176 h 320040"/>
                <a:gd name="connsiteX15" fmla="*/ 254615 w 320040"/>
                <a:gd name="connsiteY15" fmla="*/ 206670 h 320040"/>
                <a:gd name="connsiteX16" fmla="*/ 320040 w 320040"/>
                <a:gd name="connsiteY16" fmla="*/ 228600 h 320040"/>
                <a:gd name="connsiteX17" fmla="*/ 320040 w 320040"/>
                <a:gd name="connsiteY17" fmla="*/ 45720 h 320040"/>
                <a:gd name="connsiteX18" fmla="*/ 274320 w 320040"/>
                <a:gd name="connsiteY18" fmla="*/ 0 h 320040"/>
                <a:gd name="connsiteX19" fmla="*/ 45720 w 320040"/>
                <a:gd name="connsiteY19" fmla="*/ 0 h 320040"/>
                <a:gd name="connsiteX20" fmla="*/ 320040 w 320040"/>
                <a:gd name="connsiteY20" fmla="*/ 251460 h 320040"/>
                <a:gd name="connsiteX21" fmla="*/ 239017 w 320040"/>
                <a:gd name="connsiteY21" fmla="*/ 223383 h 320040"/>
                <a:gd name="connsiteX22" fmla="*/ 203548 w 320040"/>
                <a:gd name="connsiteY22" fmla="*/ 163865 h 320040"/>
                <a:gd name="connsiteX23" fmla="*/ 196571 w 320040"/>
                <a:gd name="connsiteY23" fmla="*/ 142895 h 320040"/>
                <a:gd name="connsiteX24" fmla="*/ 193766 w 320040"/>
                <a:gd name="connsiteY24" fmla="*/ 134209 h 320040"/>
                <a:gd name="connsiteX25" fmla="*/ 184444 w 320040"/>
                <a:gd name="connsiteY25" fmla="*/ 110125 h 320040"/>
                <a:gd name="connsiteX26" fmla="*/ 173907 w 320040"/>
                <a:gd name="connsiteY26" fmla="*/ 95881 h 320040"/>
                <a:gd name="connsiteX27" fmla="*/ 160020 w 320040"/>
                <a:gd name="connsiteY27" fmla="*/ 91440 h 320040"/>
                <a:gd name="connsiteX28" fmla="*/ 146132 w 320040"/>
                <a:gd name="connsiteY28" fmla="*/ 95881 h 320040"/>
                <a:gd name="connsiteX29" fmla="*/ 135596 w 320040"/>
                <a:gd name="connsiteY29" fmla="*/ 110125 h 320040"/>
                <a:gd name="connsiteX30" fmla="*/ 126275 w 320040"/>
                <a:gd name="connsiteY30" fmla="*/ 134209 h 320040"/>
                <a:gd name="connsiteX31" fmla="*/ 123469 w 320040"/>
                <a:gd name="connsiteY31" fmla="*/ 142895 h 320040"/>
                <a:gd name="connsiteX32" fmla="*/ 116492 w 320040"/>
                <a:gd name="connsiteY32" fmla="*/ 163865 h 320040"/>
                <a:gd name="connsiteX33" fmla="*/ 81022 w 320040"/>
                <a:gd name="connsiteY33" fmla="*/ 223383 h 320040"/>
                <a:gd name="connsiteX34" fmla="*/ 0 w 320040"/>
                <a:gd name="connsiteY34" fmla="*/ 251460 h 320040"/>
                <a:gd name="connsiteX35" fmla="*/ 0 w 320040"/>
                <a:gd name="connsiteY35" fmla="*/ 274320 h 320040"/>
                <a:gd name="connsiteX36" fmla="*/ 45720 w 320040"/>
                <a:gd name="connsiteY36" fmla="*/ 320040 h 320040"/>
                <a:gd name="connsiteX37" fmla="*/ 274320 w 320040"/>
                <a:gd name="connsiteY37" fmla="*/ 320040 h 320040"/>
                <a:gd name="connsiteX38" fmla="*/ 320040 w 320040"/>
                <a:gd name="connsiteY38" fmla="*/ 274320 h 320040"/>
                <a:gd name="connsiteX39" fmla="*/ 320040 w 320040"/>
                <a:gd name="connsiteY39" fmla="*/ 251460 h 32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0040" h="320040">
                  <a:moveTo>
                    <a:pt x="45720" y="0"/>
                  </a:moveTo>
                  <a:cubicBezTo>
                    <a:pt x="20470" y="0"/>
                    <a:pt x="0" y="20470"/>
                    <a:pt x="0" y="45720"/>
                  </a:cubicBezTo>
                  <a:lnTo>
                    <a:pt x="0" y="228600"/>
                  </a:lnTo>
                  <a:cubicBezTo>
                    <a:pt x="31836" y="228600"/>
                    <a:pt x="51770" y="219415"/>
                    <a:pt x="65425" y="206670"/>
                  </a:cubicBezTo>
                  <a:cubicBezTo>
                    <a:pt x="79452" y="193578"/>
                    <a:pt x="87990" y="175702"/>
                    <a:pt x="94963" y="156176"/>
                  </a:cubicBezTo>
                  <a:cubicBezTo>
                    <a:pt x="97351" y="149490"/>
                    <a:pt x="99452" y="142933"/>
                    <a:pt x="101555" y="136365"/>
                  </a:cubicBezTo>
                  <a:cubicBezTo>
                    <a:pt x="102545" y="133275"/>
                    <a:pt x="103536" y="130183"/>
                    <a:pt x="104557" y="127073"/>
                  </a:cubicBezTo>
                  <a:cubicBezTo>
                    <a:pt x="107660" y="117631"/>
                    <a:pt x="110999" y="108201"/>
                    <a:pt x="115149" y="99901"/>
                  </a:cubicBezTo>
                  <a:cubicBezTo>
                    <a:pt x="119298" y="91605"/>
                    <a:pt x="124602" y="83712"/>
                    <a:pt x="132028" y="77891"/>
                  </a:cubicBezTo>
                  <a:cubicBezTo>
                    <a:pt x="139701" y="71875"/>
                    <a:pt x="148994" y="68580"/>
                    <a:pt x="160020" y="68580"/>
                  </a:cubicBezTo>
                  <a:cubicBezTo>
                    <a:pt x="171045" y="68580"/>
                    <a:pt x="180338" y="71875"/>
                    <a:pt x="188012" y="77891"/>
                  </a:cubicBezTo>
                  <a:cubicBezTo>
                    <a:pt x="195437" y="83712"/>
                    <a:pt x="200743" y="91605"/>
                    <a:pt x="204890" y="99901"/>
                  </a:cubicBezTo>
                  <a:cubicBezTo>
                    <a:pt x="209041" y="108201"/>
                    <a:pt x="212381" y="117631"/>
                    <a:pt x="215483" y="127073"/>
                  </a:cubicBezTo>
                  <a:cubicBezTo>
                    <a:pt x="216505" y="130183"/>
                    <a:pt x="217495" y="133275"/>
                    <a:pt x="218484" y="136365"/>
                  </a:cubicBezTo>
                  <a:cubicBezTo>
                    <a:pt x="220588" y="142933"/>
                    <a:pt x="222688" y="149490"/>
                    <a:pt x="225077" y="156176"/>
                  </a:cubicBezTo>
                  <a:cubicBezTo>
                    <a:pt x="232050" y="175700"/>
                    <a:pt x="240588" y="193578"/>
                    <a:pt x="254615" y="206670"/>
                  </a:cubicBezTo>
                  <a:cubicBezTo>
                    <a:pt x="268271" y="219415"/>
                    <a:pt x="288203" y="228600"/>
                    <a:pt x="320040" y="228600"/>
                  </a:cubicBezTo>
                  <a:lnTo>
                    <a:pt x="320040" y="45720"/>
                  </a:lnTo>
                  <a:cubicBezTo>
                    <a:pt x="320040" y="20470"/>
                    <a:pt x="299571" y="0"/>
                    <a:pt x="274320" y="0"/>
                  </a:cubicBezTo>
                  <a:lnTo>
                    <a:pt x="45720" y="0"/>
                  </a:lnTo>
                  <a:close/>
                  <a:moveTo>
                    <a:pt x="320040" y="251460"/>
                  </a:moveTo>
                  <a:cubicBezTo>
                    <a:pt x="283297" y="251460"/>
                    <a:pt x="257509" y="240643"/>
                    <a:pt x="239017" y="223383"/>
                  </a:cubicBezTo>
                  <a:cubicBezTo>
                    <a:pt x="220898" y="206472"/>
                    <a:pt x="210863" y="184345"/>
                    <a:pt x="203548" y="163865"/>
                  </a:cubicBezTo>
                  <a:cubicBezTo>
                    <a:pt x="201033" y="156821"/>
                    <a:pt x="198733" y="149643"/>
                    <a:pt x="196571" y="142895"/>
                  </a:cubicBezTo>
                  <a:cubicBezTo>
                    <a:pt x="195611" y="139899"/>
                    <a:pt x="194678" y="136987"/>
                    <a:pt x="193766" y="134209"/>
                  </a:cubicBezTo>
                  <a:cubicBezTo>
                    <a:pt x="190705" y="124899"/>
                    <a:pt x="187795" y="116827"/>
                    <a:pt x="184444" y="110125"/>
                  </a:cubicBezTo>
                  <a:cubicBezTo>
                    <a:pt x="181090" y="103419"/>
                    <a:pt x="177645" y="98811"/>
                    <a:pt x="173907" y="95881"/>
                  </a:cubicBezTo>
                  <a:cubicBezTo>
                    <a:pt x="170419" y="93146"/>
                    <a:pt x="166140" y="91440"/>
                    <a:pt x="160020" y="91440"/>
                  </a:cubicBezTo>
                  <a:cubicBezTo>
                    <a:pt x="153901" y="91440"/>
                    <a:pt x="149621" y="93146"/>
                    <a:pt x="146132" y="95881"/>
                  </a:cubicBezTo>
                  <a:cubicBezTo>
                    <a:pt x="142395" y="98811"/>
                    <a:pt x="138949" y="103419"/>
                    <a:pt x="135596" y="110125"/>
                  </a:cubicBezTo>
                  <a:cubicBezTo>
                    <a:pt x="132245" y="116827"/>
                    <a:pt x="129334" y="124899"/>
                    <a:pt x="126275" y="134209"/>
                  </a:cubicBezTo>
                  <a:cubicBezTo>
                    <a:pt x="125362" y="136987"/>
                    <a:pt x="124430" y="139899"/>
                    <a:pt x="123469" y="142895"/>
                  </a:cubicBezTo>
                  <a:cubicBezTo>
                    <a:pt x="121307" y="149643"/>
                    <a:pt x="119007" y="156821"/>
                    <a:pt x="116492" y="163865"/>
                  </a:cubicBezTo>
                  <a:cubicBezTo>
                    <a:pt x="109177" y="184345"/>
                    <a:pt x="99142" y="206472"/>
                    <a:pt x="81022" y="223383"/>
                  </a:cubicBezTo>
                  <a:cubicBezTo>
                    <a:pt x="62530" y="240643"/>
                    <a:pt x="36744" y="251460"/>
                    <a:pt x="0" y="251460"/>
                  </a:cubicBezTo>
                  <a:lnTo>
                    <a:pt x="0" y="274320"/>
                  </a:lnTo>
                  <a:cubicBezTo>
                    <a:pt x="0" y="299571"/>
                    <a:pt x="20470" y="320040"/>
                    <a:pt x="45720" y="320040"/>
                  </a:cubicBezTo>
                  <a:lnTo>
                    <a:pt x="274320" y="320040"/>
                  </a:lnTo>
                  <a:cubicBezTo>
                    <a:pt x="299571" y="320040"/>
                    <a:pt x="320040" y="299571"/>
                    <a:pt x="320040" y="274320"/>
                  </a:cubicBezTo>
                  <a:lnTo>
                    <a:pt x="320040" y="251460"/>
                  </a:lnTo>
                  <a:close/>
                </a:path>
              </a:pathLst>
            </a:custGeom>
            <a:gradFill flip="none" rotWithShape="1">
              <a:gsLst>
                <a:gs pos="99000">
                  <a:schemeClr val="accent1"/>
                </a:gs>
                <a:gs pos="0">
                  <a:srgbClr val="319A89"/>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Sans Text"/>
                <a:ea typeface="+mn-ea"/>
                <a:cs typeface="+mn-cs"/>
              </a:endParaRPr>
            </a:p>
          </p:txBody>
        </p:sp>
      </p:grpSp>
      <p:sp>
        <p:nvSpPr>
          <p:cNvPr id="60" name="Graphic 13" descr="Influencer with solid fill">
            <a:extLst>
              <a:ext uri="{FF2B5EF4-FFF2-40B4-BE49-F238E27FC236}">
                <a16:creationId xmlns:a16="http://schemas.microsoft.com/office/drawing/2014/main" id="{0470A24F-B1D5-5DC2-349C-C2A06F002E02}"/>
              </a:ext>
            </a:extLst>
          </p:cNvPr>
          <p:cNvSpPr/>
          <p:nvPr/>
        </p:nvSpPr>
        <p:spPr>
          <a:xfrm>
            <a:off x="9741566" y="2034612"/>
            <a:ext cx="376226" cy="361378"/>
          </a:xfrm>
          <a:custGeom>
            <a:avLst/>
            <a:gdLst>
              <a:gd name="csX0" fmla="*/ 338938 w 383136"/>
              <a:gd name="csY0" fmla="*/ 188689 h 362740"/>
              <a:gd name="csX1" fmla="*/ 383136 w 383136"/>
              <a:gd name="csY1" fmla="*/ 144490 h 362740"/>
              <a:gd name="csX2" fmla="*/ 338938 w 383136"/>
              <a:gd name="csY2" fmla="*/ 100292 h 362740"/>
              <a:gd name="csX3" fmla="*/ 294739 w 383136"/>
              <a:gd name="csY3" fmla="*/ 144490 h 362740"/>
              <a:gd name="csX4" fmla="*/ 295230 w 383136"/>
              <a:gd name="csY4" fmla="*/ 151365 h 362740"/>
              <a:gd name="csX5" fmla="*/ 244156 w 383136"/>
              <a:gd name="csY5" fmla="*/ 172483 h 362740"/>
              <a:gd name="csX6" fmla="*/ 200449 w 383136"/>
              <a:gd name="csY6" fmla="*/ 142035 h 362740"/>
              <a:gd name="csX7" fmla="*/ 200449 w 383136"/>
              <a:gd name="csY7" fmla="*/ 87523 h 362740"/>
              <a:gd name="csX8" fmla="*/ 233843 w 383136"/>
              <a:gd name="csY8" fmla="*/ 34485 h 362740"/>
              <a:gd name="csX9" fmla="*/ 180805 w 383136"/>
              <a:gd name="csY9" fmla="*/ 1090 h 362740"/>
              <a:gd name="csX10" fmla="*/ 147411 w 383136"/>
              <a:gd name="csY10" fmla="*/ 54129 h 362740"/>
              <a:gd name="csX11" fmla="*/ 180805 w 383136"/>
              <a:gd name="csY11" fmla="*/ 87523 h 362740"/>
              <a:gd name="csX12" fmla="*/ 180805 w 383136"/>
              <a:gd name="csY12" fmla="*/ 142526 h 362740"/>
              <a:gd name="csX13" fmla="*/ 137589 w 383136"/>
              <a:gd name="csY13" fmla="*/ 172483 h 362740"/>
              <a:gd name="csX14" fmla="*/ 87988 w 383136"/>
              <a:gd name="csY14" fmla="*/ 151857 h 362740"/>
              <a:gd name="csX15" fmla="*/ 51156 w 383136"/>
              <a:gd name="csY15" fmla="*/ 101274 h 362740"/>
              <a:gd name="csX16" fmla="*/ 573 w 383136"/>
              <a:gd name="csY16" fmla="*/ 137615 h 362740"/>
              <a:gd name="csX17" fmla="*/ 37405 w 383136"/>
              <a:gd name="csY17" fmla="*/ 188198 h 362740"/>
              <a:gd name="csX18" fmla="*/ 80622 w 383136"/>
              <a:gd name="csY18" fmla="*/ 170027 h 362740"/>
              <a:gd name="csX19" fmla="*/ 130713 w 383136"/>
              <a:gd name="csY19" fmla="*/ 190653 h 362740"/>
              <a:gd name="csX20" fmla="*/ 141517 w 383136"/>
              <a:gd name="csY20" fmla="*/ 239763 h 362740"/>
              <a:gd name="csX21" fmla="*/ 100757 w 383136"/>
              <a:gd name="csY21" fmla="*/ 281014 h 362740"/>
              <a:gd name="csX22" fmla="*/ 39861 w 383136"/>
              <a:gd name="csY22" fmla="*/ 295256 h 362740"/>
              <a:gd name="csX23" fmla="*/ 54103 w 383136"/>
              <a:gd name="csY23" fmla="*/ 356152 h 362740"/>
              <a:gd name="csX24" fmla="*/ 114998 w 383136"/>
              <a:gd name="csY24" fmla="*/ 341910 h 362740"/>
              <a:gd name="csX25" fmla="*/ 114507 w 383136"/>
              <a:gd name="csY25" fmla="*/ 294765 h 362740"/>
              <a:gd name="csX26" fmla="*/ 155268 w 383136"/>
              <a:gd name="csY26" fmla="*/ 254004 h 362740"/>
              <a:gd name="csX27" fmla="*/ 225004 w 383136"/>
              <a:gd name="csY27" fmla="*/ 254004 h 362740"/>
              <a:gd name="csX28" fmla="*/ 265764 w 383136"/>
              <a:gd name="csY28" fmla="*/ 294765 h 362740"/>
              <a:gd name="csX29" fmla="*/ 279024 w 383136"/>
              <a:gd name="csY29" fmla="*/ 355661 h 362740"/>
              <a:gd name="csX30" fmla="*/ 339920 w 383136"/>
              <a:gd name="csY30" fmla="*/ 342401 h 362740"/>
              <a:gd name="csX31" fmla="*/ 326660 w 383136"/>
              <a:gd name="csY31" fmla="*/ 281506 h 362740"/>
              <a:gd name="csX32" fmla="*/ 279024 w 383136"/>
              <a:gd name="csY32" fmla="*/ 281014 h 362740"/>
              <a:gd name="csX33" fmla="*/ 239736 w 383136"/>
              <a:gd name="csY33" fmla="*/ 239763 h 362740"/>
              <a:gd name="csX34" fmla="*/ 252014 w 383136"/>
              <a:gd name="csY34" fmla="*/ 202930 h 362740"/>
              <a:gd name="csX35" fmla="*/ 251032 w 383136"/>
              <a:gd name="csY35" fmla="*/ 191144 h 362740"/>
              <a:gd name="csX36" fmla="*/ 302597 w 383136"/>
              <a:gd name="csY36" fmla="*/ 170027 h 362740"/>
              <a:gd name="csX37" fmla="*/ 338938 w 383136"/>
              <a:gd name="csY37" fmla="*/ 188689 h 362740"/>
              <a:gd name="csX38" fmla="*/ 328625 w 383136"/>
              <a:gd name="csY38" fmla="*/ 139088 h 362740"/>
              <a:gd name="csX39" fmla="*/ 339920 w 383136"/>
              <a:gd name="csY39" fmla="*/ 124355 h 362740"/>
              <a:gd name="csX40" fmla="*/ 343357 w 383136"/>
              <a:gd name="csY40" fmla="*/ 120426 h 362740"/>
              <a:gd name="csX41" fmla="*/ 347286 w 383136"/>
              <a:gd name="csY41" fmla="*/ 123864 h 362740"/>
              <a:gd name="csX42" fmla="*/ 347286 w 383136"/>
              <a:gd name="csY42" fmla="*/ 124355 h 362740"/>
              <a:gd name="csX43" fmla="*/ 345322 w 383136"/>
              <a:gd name="csY43" fmla="*/ 136142 h 362740"/>
              <a:gd name="csX44" fmla="*/ 347286 w 383136"/>
              <a:gd name="csY44" fmla="*/ 138106 h 362740"/>
              <a:gd name="csX45" fmla="*/ 359072 w 383136"/>
              <a:gd name="csY45" fmla="*/ 138106 h 362740"/>
              <a:gd name="csX46" fmla="*/ 363001 w 383136"/>
              <a:gd name="csY46" fmla="*/ 142035 h 362740"/>
              <a:gd name="csX47" fmla="*/ 360546 w 383136"/>
              <a:gd name="csY47" fmla="*/ 145472 h 362740"/>
              <a:gd name="csX48" fmla="*/ 360546 w 383136"/>
              <a:gd name="csY48" fmla="*/ 150874 h 362740"/>
              <a:gd name="csX49" fmla="*/ 358581 w 383136"/>
              <a:gd name="csY49" fmla="*/ 151857 h 362740"/>
              <a:gd name="csX50" fmla="*/ 359564 w 383136"/>
              <a:gd name="csY50" fmla="*/ 154312 h 362740"/>
              <a:gd name="csX51" fmla="*/ 355635 w 383136"/>
              <a:gd name="csY51" fmla="*/ 158241 h 362740"/>
              <a:gd name="csX52" fmla="*/ 355144 w 383136"/>
              <a:gd name="csY52" fmla="*/ 158241 h 362740"/>
              <a:gd name="csX53" fmla="*/ 356126 w 383136"/>
              <a:gd name="csY53" fmla="*/ 160696 h 362740"/>
              <a:gd name="csX54" fmla="*/ 352197 w 383136"/>
              <a:gd name="csY54" fmla="*/ 164625 h 362740"/>
              <a:gd name="csX55" fmla="*/ 340902 w 383136"/>
              <a:gd name="csY55" fmla="*/ 164625 h 362740"/>
              <a:gd name="csX56" fmla="*/ 327642 w 383136"/>
              <a:gd name="csY56" fmla="*/ 159714 h 362740"/>
              <a:gd name="csX57" fmla="*/ 327642 w 383136"/>
              <a:gd name="csY57" fmla="*/ 139088 h 362740"/>
              <a:gd name="csX58" fmla="*/ 317821 w 383136"/>
              <a:gd name="csY58" fmla="*/ 136142 h 362740"/>
              <a:gd name="csX59" fmla="*/ 322240 w 383136"/>
              <a:gd name="csY59" fmla="*/ 136142 h 362740"/>
              <a:gd name="csX60" fmla="*/ 324696 w 383136"/>
              <a:gd name="csY60" fmla="*/ 138597 h 362740"/>
              <a:gd name="csX61" fmla="*/ 324696 w 383136"/>
              <a:gd name="csY61" fmla="*/ 159714 h 362740"/>
              <a:gd name="csX62" fmla="*/ 322240 w 383136"/>
              <a:gd name="csY62" fmla="*/ 162170 h 362740"/>
              <a:gd name="csX63" fmla="*/ 317821 w 383136"/>
              <a:gd name="csY63" fmla="*/ 162170 h 362740"/>
              <a:gd name="csX64" fmla="*/ 317821 w 383136"/>
              <a:gd name="csY64" fmla="*/ 136142 h 362740"/>
              <a:gd name="csX65" fmla="*/ 63433 w 383136"/>
              <a:gd name="csY65" fmla="*/ 148419 h 362740"/>
              <a:gd name="csX66" fmla="*/ 48701 w 383136"/>
              <a:gd name="csY66" fmla="*/ 148419 h 362740"/>
              <a:gd name="csX67" fmla="*/ 48701 w 383136"/>
              <a:gd name="csY67" fmla="*/ 163152 h 362740"/>
              <a:gd name="csX68" fmla="*/ 38879 w 383136"/>
              <a:gd name="csY68" fmla="*/ 163152 h 362740"/>
              <a:gd name="csX69" fmla="*/ 38879 w 383136"/>
              <a:gd name="csY69" fmla="*/ 148419 h 362740"/>
              <a:gd name="csX70" fmla="*/ 24146 w 383136"/>
              <a:gd name="csY70" fmla="*/ 148419 h 362740"/>
              <a:gd name="csX71" fmla="*/ 24146 w 383136"/>
              <a:gd name="csY71" fmla="*/ 138597 h 362740"/>
              <a:gd name="csX72" fmla="*/ 38879 w 383136"/>
              <a:gd name="csY72" fmla="*/ 138597 h 362740"/>
              <a:gd name="csX73" fmla="*/ 38879 w 383136"/>
              <a:gd name="csY73" fmla="*/ 123864 h 362740"/>
              <a:gd name="csX74" fmla="*/ 48701 w 383136"/>
              <a:gd name="csY74" fmla="*/ 123864 h 362740"/>
              <a:gd name="csX75" fmla="*/ 48701 w 383136"/>
              <a:gd name="csY75" fmla="*/ 138597 h 362740"/>
              <a:gd name="csX76" fmla="*/ 63433 w 383136"/>
              <a:gd name="csY76" fmla="*/ 138597 h 362740"/>
              <a:gd name="csX77" fmla="*/ 63433 w 383136"/>
              <a:gd name="csY77" fmla="*/ 148419 h 362740"/>
              <a:gd name="csX78" fmla="*/ 62942 w 383136"/>
              <a:gd name="csY78" fmla="*/ 332088 h 362740"/>
              <a:gd name="csX79" fmla="*/ 60487 w 383136"/>
              <a:gd name="csY79" fmla="*/ 334544 h 362740"/>
              <a:gd name="csX80" fmla="*/ 56067 w 383136"/>
              <a:gd name="csY80" fmla="*/ 334544 h 362740"/>
              <a:gd name="csX81" fmla="*/ 56067 w 383136"/>
              <a:gd name="csY81" fmla="*/ 308516 h 362740"/>
              <a:gd name="csX82" fmla="*/ 60487 w 383136"/>
              <a:gd name="csY82" fmla="*/ 308516 h 362740"/>
              <a:gd name="csX83" fmla="*/ 62942 w 383136"/>
              <a:gd name="csY83" fmla="*/ 310971 h 362740"/>
              <a:gd name="csX84" fmla="*/ 62942 w 383136"/>
              <a:gd name="csY84" fmla="*/ 332088 h 362740"/>
              <a:gd name="csX85" fmla="*/ 99774 w 383136"/>
              <a:gd name="csY85" fmla="*/ 320302 h 362740"/>
              <a:gd name="csX86" fmla="*/ 96828 w 383136"/>
              <a:gd name="csY86" fmla="*/ 323740 h 362740"/>
              <a:gd name="csX87" fmla="*/ 97810 w 383136"/>
              <a:gd name="csY87" fmla="*/ 326195 h 362740"/>
              <a:gd name="csX88" fmla="*/ 93881 w 383136"/>
              <a:gd name="csY88" fmla="*/ 330124 h 362740"/>
              <a:gd name="csX89" fmla="*/ 94863 w 383136"/>
              <a:gd name="csY89" fmla="*/ 332579 h 362740"/>
              <a:gd name="csX90" fmla="*/ 90935 w 383136"/>
              <a:gd name="csY90" fmla="*/ 336508 h 362740"/>
              <a:gd name="csX91" fmla="*/ 79640 w 383136"/>
              <a:gd name="csY91" fmla="*/ 336508 h 362740"/>
              <a:gd name="csX92" fmla="*/ 66380 w 383136"/>
              <a:gd name="csY92" fmla="*/ 331597 h 362740"/>
              <a:gd name="csX93" fmla="*/ 66380 w 383136"/>
              <a:gd name="csY93" fmla="*/ 311462 h 362740"/>
              <a:gd name="csX94" fmla="*/ 77675 w 383136"/>
              <a:gd name="csY94" fmla="*/ 296730 h 362740"/>
              <a:gd name="csX95" fmla="*/ 81113 w 383136"/>
              <a:gd name="csY95" fmla="*/ 292801 h 362740"/>
              <a:gd name="csX96" fmla="*/ 85042 w 383136"/>
              <a:gd name="csY96" fmla="*/ 296238 h 362740"/>
              <a:gd name="csX97" fmla="*/ 85042 w 383136"/>
              <a:gd name="csY97" fmla="*/ 296730 h 362740"/>
              <a:gd name="csX98" fmla="*/ 83077 w 383136"/>
              <a:gd name="csY98" fmla="*/ 308516 h 362740"/>
              <a:gd name="csX99" fmla="*/ 85042 w 383136"/>
              <a:gd name="csY99" fmla="*/ 310480 h 362740"/>
              <a:gd name="csX100" fmla="*/ 97319 w 383136"/>
              <a:gd name="csY100" fmla="*/ 310480 h 362740"/>
              <a:gd name="csX101" fmla="*/ 101248 w 383136"/>
              <a:gd name="csY101" fmla="*/ 314409 h 362740"/>
              <a:gd name="csX102" fmla="*/ 98792 w 383136"/>
              <a:gd name="csY102" fmla="*/ 317847 h 362740"/>
              <a:gd name="csX103" fmla="*/ 99774 w 383136"/>
              <a:gd name="csY103" fmla="*/ 320302 h 362740"/>
              <a:gd name="csX104" fmla="*/ 169019 w 383136"/>
              <a:gd name="csY104" fmla="*/ 36940 h 362740"/>
              <a:gd name="csX105" fmla="*/ 191118 w 383136"/>
              <a:gd name="csY105" fmla="*/ 34485 h 362740"/>
              <a:gd name="csX106" fmla="*/ 213217 w 383136"/>
              <a:gd name="csY106" fmla="*/ 36940 h 362740"/>
              <a:gd name="csX107" fmla="*/ 191118 w 383136"/>
              <a:gd name="csY107" fmla="*/ 67388 h 362740"/>
              <a:gd name="csX108" fmla="*/ 169019 w 383136"/>
              <a:gd name="csY108" fmla="*/ 36940 h 362740"/>
              <a:gd name="csX109" fmla="*/ 173439 w 383136"/>
              <a:gd name="csY109" fmla="*/ 182304 h 362740"/>
              <a:gd name="csX110" fmla="*/ 190627 w 383136"/>
              <a:gd name="csY110" fmla="*/ 165116 h 362740"/>
              <a:gd name="csX111" fmla="*/ 207815 w 383136"/>
              <a:gd name="csY111" fmla="*/ 182304 h 362740"/>
              <a:gd name="csX112" fmla="*/ 190627 w 383136"/>
              <a:gd name="csY112" fmla="*/ 199493 h 362740"/>
              <a:gd name="csX113" fmla="*/ 173439 w 383136"/>
              <a:gd name="csY113" fmla="*/ 182304 h 362740"/>
              <a:gd name="csX114" fmla="*/ 173439 w 383136"/>
              <a:gd name="csY114" fmla="*/ 182304 h 362740"/>
              <a:gd name="csX115" fmla="*/ 225004 w 383136"/>
              <a:gd name="csY115" fmla="*/ 234360 h 362740"/>
              <a:gd name="csX116" fmla="*/ 156250 w 383136"/>
              <a:gd name="csY116" fmla="*/ 234360 h 362740"/>
              <a:gd name="csX117" fmla="*/ 156250 w 383136"/>
              <a:gd name="csY117" fmla="*/ 221101 h 362740"/>
              <a:gd name="csX118" fmla="*/ 159688 w 383136"/>
              <a:gd name="csY118" fmla="*/ 214226 h 362740"/>
              <a:gd name="csX119" fmla="*/ 176385 w 383136"/>
              <a:gd name="csY119" fmla="*/ 205877 h 362740"/>
              <a:gd name="csX120" fmla="*/ 190627 w 383136"/>
              <a:gd name="csY120" fmla="*/ 203913 h 362740"/>
              <a:gd name="csX121" fmla="*/ 204869 w 383136"/>
              <a:gd name="csY121" fmla="*/ 205877 h 362740"/>
              <a:gd name="csX122" fmla="*/ 221566 w 383136"/>
              <a:gd name="csY122" fmla="*/ 214226 h 362740"/>
              <a:gd name="csX123" fmla="*/ 225004 w 383136"/>
              <a:gd name="csY123" fmla="*/ 221101 h 362740"/>
              <a:gd name="csX124" fmla="*/ 225004 w 383136"/>
              <a:gd name="csY124" fmla="*/ 234360 h 362740"/>
              <a:gd name="csX125" fmla="*/ 304070 w 383136"/>
              <a:gd name="csY125" fmla="*/ 308025 h 362740"/>
              <a:gd name="csX126" fmla="*/ 326169 w 383136"/>
              <a:gd name="csY126" fmla="*/ 310480 h 362740"/>
              <a:gd name="csX127" fmla="*/ 304070 w 383136"/>
              <a:gd name="csY127" fmla="*/ 340928 h 362740"/>
              <a:gd name="csX128" fmla="*/ 281971 w 383136"/>
              <a:gd name="csY128" fmla="*/ 310480 h 362740"/>
              <a:gd name="csX129" fmla="*/ 304070 w 383136"/>
              <a:gd name="csY129" fmla="*/ 308025 h 362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Lst>
            <a:rect l="l" t="t" r="r" b="b"/>
            <a:pathLst>
              <a:path w="383136" h="362740">
                <a:moveTo>
                  <a:pt x="338938" y="188689"/>
                </a:moveTo>
                <a:cubicBezTo>
                  <a:pt x="363492" y="188689"/>
                  <a:pt x="383136" y="169045"/>
                  <a:pt x="383136" y="144490"/>
                </a:cubicBezTo>
                <a:cubicBezTo>
                  <a:pt x="383136" y="119935"/>
                  <a:pt x="363492" y="100292"/>
                  <a:pt x="338938" y="100292"/>
                </a:cubicBezTo>
                <a:cubicBezTo>
                  <a:pt x="314383" y="100292"/>
                  <a:pt x="294739" y="119935"/>
                  <a:pt x="294739" y="144490"/>
                </a:cubicBezTo>
                <a:cubicBezTo>
                  <a:pt x="294739" y="146946"/>
                  <a:pt x="294739" y="148910"/>
                  <a:pt x="295230" y="151365"/>
                </a:cubicBezTo>
                <a:lnTo>
                  <a:pt x="244156" y="172483"/>
                </a:lnTo>
                <a:cubicBezTo>
                  <a:pt x="234825" y="156276"/>
                  <a:pt x="219110" y="144981"/>
                  <a:pt x="200449" y="142035"/>
                </a:cubicBezTo>
                <a:lnTo>
                  <a:pt x="200449" y="87523"/>
                </a:lnTo>
                <a:cubicBezTo>
                  <a:pt x="224021" y="82121"/>
                  <a:pt x="239245" y="58549"/>
                  <a:pt x="233843" y="34485"/>
                </a:cubicBezTo>
                <a:cubicBezTo>
                  <a:pt x="228441" y="10912"/>
                  <a:pt x="204869" y="-4312"/>
                  <a:pt x="180805" y="1090"/>
                </a:cubicBezTo>
                <a:cubicBezTo>
                  <a:pt x="156741" y="6492"/>
                  <a:pt x="142009" y="30065"/>
                  <a:pt x="147411" y="54129"/>
                </a:cubicBezTo>
                <a:cubicBezTo>
                  <a:pt x="151339" y="70826"/>
                  <a:pt x="164108" y="83594"/>
                  <a:pt x="180805" y="87523"/>
                </a:cubicBezTo>
                <a:lnTo>
                  <a:pt x="180805" y="142526"/>
                </a:lnTo>
                <a:cubicBezTo>
                  <a:pt x="162635" y="145472"/>
                  <a:pt x="146920" y="156276"/>
                  <a:pt x="137589" y="172483"/>
                </a:cubicBezTo>
                <a:lnTo>
                  <a:pt x="87988" y="151857"/>
                </a:lnTo>
                <a:cubicBezTo>
                  <a:pt x="91917" y="127793"/>
                  <a:pt x="75220" y="105203"/>
                  <a:pt x="51156" y="101274"/>
                </a:cubicBezTo>
                <a:cubicBezTo>
                  <a:pt x="26601" y="97345"/>
                  <a:pt x="4011" y="113551"/>
                  <a:pt x="573" y="137615"/>
                </a:cubicBezTo>
                <a:cubicBezTo>
                  <a:pt x="-3355" y="161678"/>
                  <a:pt x="13342" y="184269"/>
                  <a:pt x="37405" y="188198"/>
                </a:cubicBezTo>
                <a:cubicBezTo>
                  <a:pt x="54103" y="190653"/>
                  <a:pt x="70800" y="183778"/>
                  <a:pt x="80622" y="170027"/>
                </a:cubicBezTo>
                <a:lnTo>
                  <a:pt x="130713" y="190653"/>
                </a:lnTo>
                <a:cubicBezTo>
                  <a:pt x="127276" y="207841"/>
                  <a:pt x="131204" y="225521"/>
                  <a:pt x="141517" y="239763"/>
                </a:cubicBezTo>
                <a:lnTo>
                  <a:pt x="100757" y="281014"/>
                </a:lnTo>
                <a:cubicBezTo>
                  <a:pt x="80131" y="268246"/>
                  <a:pt x="52629" y="274630"/>
                  <a:pt x="39861" y="295256"/>
                </a:cubicBezTo>
                <a:cubicBezTo>
                  <a:pt x="27092" y="315882"/>
                  <a:pt x="33477" y="343384"/>
                  <a:pt x="54103" y="356152"/>
                </a:cubicBezTo>
                <a:cubicBezTo>
                  <a:pt x="74729" y="368920"/>
                  <a:pt x="102230" y="362536"/>
                  <a:pt x="114998" y="341910"/>
                </a:cubicBezTo>
                <a:cubicBezTo>
                  <a:pt x="123838" y="327177"/>
                  <a:pt x="123838" y="309007"/>
                  <a:pt x="114507" y="294765"/>
                </a:cubicBezTo>
                <a:lnTo>
                  <a:pt x="155268" y="254004"/>
                </a:lnTo>
                <a:cubicBezTo>
                  <a:pt x="176385" y="268737"/>
                  <a:pt x="204378" y="268737"/>
                  <a:pt x="225004" y="254004"/>
                </a:cubicBezTo>
                <a:lnTo>
                  <a:pt x="265764" y="294765"/>
                </a:lnTo>
                <a:cubicBezTo>
                  <a:pt x="252505" y="315391"/>
                  <a:pt x="258398" y="342401"/>
                  <a:pt x="279024" y="355661"/>
                </a:cubicBezTo>
                <a:cubicBezTo>
                  <a:pt x="299650" y="368920"/>
                  <a:pt x="326660" y="363027"/>
                  <a:pt x="339920" y="342401"/>
                </a:cubicBezTo>
                <a:cubicBezTo>
                  <a:pt x="353179" y="321775"/>
                  <a:pt x="347286" y="294765"/>
                  <a:pt x="326660" y="281506"/>
                </a:cubicBezTo>
                <a:cubicBezTo>
                  <a:pt x="312418" y="272175"/>
                  <a:pt x="293757" y="272175"/>
                  <a:pt x="279024" y="281014"/>
                </a:cubicBezTo>
                <a:lnTo>
                  <a:pt x="239736" y="239763"/>
                </a:lnTo>
                <a:cubicBezTo>
                  <a:pt x="247594" y="228958"/>
                  <a:pt x="252014" y="216190"/>
                  <a:pt x="252014" y="202930"/>
                </a:cubicBezTo>
                <a:cubicBezTo>
                  <a:pt x="252014" y="199002"/>
                  <a:pt x="251523" y="195073"/>
                  <a:pt x="251032" y="191144"/>
                </a:cubicBezTo>
                <a:lnTo>
                  <a:pt x="302597" y="170027"/>
                </a:lnTo>
                <a:cubicBezTo>
                  <a:pt x="310945" y="181322"/>
                  <a:pt x="324205" y="188689"/>
                  <a:pt x="338938" y="188689"/>
                </a:cubicBezTo>
                <a:close/>
                <a:moveTo>
                  <a:pt x="328625" y="139088"/>
                </a:moveTo>
                <a:cubicBezTo>
                  <a:pt x="328625" y="139088"/>
                  <a:pt x="339920" y="133686"/>
                  <a:pt x="339920" y="124355"/>
                </a:cubicBezTo>
                <a:cubicBezTo>
                  <a:pt x="339920" y="122391"/>
                  <a:pt x="341393" y="120426"/>
                  <a:pt x="343357" y="120426"/>
                </a:cubicBezTo>
                <a:cubicBezTo>
                  <a:pt x="345322" y="120426"/>
                  <a:pt x="347286" y="121900"/>
                  <a:pt x="347286" y="123864"/>
                </a:cubicBezTo>
                <a:cubicBezTo>
                  <a:pt x="347286" y="123864"/>
                  <a:pt x="347286" y="123864"/>
                  <a:pt x="347286" y="124355"/>
                </a:cubicBezTo>
                <a:cubicBezTo>
                  <a:pt x="347286" y="128284"/>
                  <a:pt x="346795" y="132213"/>
                  <a:pt x="345322" y="136142"/>
                </a:cubicBezTo>
                <a:cubicBezTo>
                  <a:pt x="345322" y="137124"/>
                  <a:pt x="346304" y="138106"/>
                  <a:pt x="347286" y="138106"/>
                </a:cubicBezTo>
                <a:lnTo>
                  <a:pt x="359072" y="138106"/>
                </a:lnTo>
                <a:cubicBezTo>
                  <a:pt x="361037" y="138106"/>
                  <a:pt x="363001" y="139579"/>
                  <a:pt x="363001" y="142035"/>
                </a:cubicBezTo>
                <a:cubicBezTo>
                  <a:pt x="363001" y="143508"/>
                  <a:pt x="362019" y="144981"/>
                  <a:pt x="360546" y="145472"/>
                </a:cubicBezTo>
                <a:cubicBezTo>
                  <a:pt x="362019" y="146946"/>
                  <a:pt x="362019" y="149401"/>
                  <a:pt x="360546" y="150874"/>
                </a:cubicBezTo>
                <a:cubicBezTo>
                  <a:pt x="360055" y="151365"/>
                  <a:pt x="359564" y="151857"/>
                  <a:pt x="358581" y="151857"/>
                </a:cubicBezTo>
                <a:cubicBezTo>
                  <a:pt x="359072" y="152348"/>
                  <a:pt x="359564" y="153330"/>
                  <a:pt x="359564" y="154312"/>
                </a:cubicBezTo>
                <a:cubicBezTo>
                  <a:pt x="359564" y="156276"/>
                  <a:pt x="358090" y="158241"/>
                  <a:pt x="355635" y="158241"/>
                </a:cubicBezTo>
                <a:lnTo>
                  <a:pt x="355144" y="158241"/>
                </a:lnTo>
                <a:cubicBezTo>
                  <a:pt x="355635" y="158732"/>
                  <a:pt x="356126" y="159714"/>
                  <a:pt x="356126" y="160696"/>
                </a:cubicBezTo>
                <a:cubicBezTo>
                  <a:pt x="356126" y="162661"/>
                  <a:pt x="354653" y="164625"/>
                  <a:pt x="352197" y="164625"/>
                </a:cubicBezTo>
                <a:lnTo>
                  <a:pt x="340902" y="164625"/>
                </a:lnTo>
                <a:cubicBezTo>
                  <a:pt x="332553" y="164625"/>
                  <a:pt x="332062" y="159714"/>
                  <a:pt x="327642" y="159714"/>
                </a:cubicBezTo>
                <a:lnTo>
                  <a:pt x="327642" y="139088"/>
                </a:lnTo>
                <a:close/>
                <a:moveTo>
                  <a:pt x="317821" y="136142"/>
                </a:moveTo>
                <a:lnTo>
                  <a:pt x="322240" y="136142"/>
                </a:lnTo>
                <a:cubicBezTo>
                  <a:pt x="323714" y="136142"/>
                  <a:pt x="324696" y="137124"/>
                  <a:pt x="324696" y="138597"/>
                </a:cubicBezTo>
                <a:lnTo>
                  <a:pt x="324696" y="159714"/>
                </a:lnTo>
                <a:cubicBezTo>
                  <a:pt x="324696" y="161187"/>
                  <a:pt x="323714" y="162170"/>
                  <a:pt x="322240" y="162170"/>
                </a:cubicBezTo>
                <a:lnTo>
                  <a:pt x="317821" y="162170"/>
                </a:lnTo>
                <a:lnTo>
                  <a:pt x="317821" y="136142"/>
                </a:lnTo>
                <a:close/>
                <a:moveTo>
                  <a:pt x="63433" y="148419"/>
                </a:moveTo>
                <a:lnTo>
                  <a:pt x="48701" y="148419"/>
                </a:lnTo>
                <a:lnTo>
                  <a:pt x="48701" y="163152"/>
                </a:lnTo>
                <a:lnTo>
                  <a:pt x="38879" y="163152"/>
                </a:lnTo>
                <a:lnTo>
                  <a:pt x="38879" y="148419"/>
                </a:lnTo>
                <a:lnTo>
                  <a:pt x="24146" y="148419"/>
                </a:lnTo>
                <a:lnTo>
                  <a:pt x="24146" y="138597"/>
                </a:lnTo>
                <a:lnTo>
                  <a:pt x="38879" y="138597"/>
                </a:lnTo>
                <a:lnTo>
                  <a:pt x="38879" y="123864"/>
                </a:lnTo>
                <a:lnTo>
                  <a:pt x="48701" y="123864"/>
                </a:lnTo>
                <a:lnTo>
                  <a:pt x="48701" y="138597"/>
                </a:lnTo>
                <a:lnTo>
                  <a:pt x="63433" y="138597"/>
                </a:lnTo>
                <a:lnTo>
                  <a:pt x="63433" y="148419"/>
                </a:lnTo>
                <a:close/>
                <a:moveTo>
                  <a:pt x="62942" y="332088"/>
                </a:moveTo>
                <a:cubicBezTo>
                  <a:pt x="62942" y="333562"/>
                  <a:pt x="61960" y="334544"/>
                  <a:pt x="60487" y="334544"/>
                </a:cubicBezTo>
                <a:lnTo>
                  <a:pt x="56067" y="334544"/>
                </a:lnTo>
                <a:lnTo>
                  <a:pt x="56067" y="308516"/>
                </a:lnTo>
                <a:lnTo>
                  <a:pt x="60487" y="308516"/>
                </a:lnTo>
                <a:cubicBezTo>
                  <a:pt x="61960" y="308516"/>
                  <a:pt x="62942" y="309498"/>
                  <a:pt x="62942" y="310971"/>
                </a:cubicBezTo>
                <a:lnTo>
                  <a:pt x="62942" y="332088"/>
                </a:lnTo>
                <a:close/>
                <a:moveTo>
                  <a:pt x="99774" y="320302"/>
                </a:moveTo>
                <a:cubicBezTo>
                  <a:pt x="99774" y="322266"/>
                  <a:pt x="98301" y="323740"/>
                  <a:pt x="96828" y="323740"/>
                </a:cubicBezTo>
                <a:cubicBezTo>
                  <a:pt x="97319" y="324231"/>
                  <a:pt x="97810" y="325213"/>
                  <a:pt x="97810" y="326195"/>
                </a:cubicBezTo>
                <a:cubicBezTo>
                  <a:pt x="97810" y="328160"/>
                  <a:pt x="95846" y="330124"/>
                  <a:pt x="93881" y="330124"/>
                </a:cubicBezTo>
                <a:cubicBezTo>
                  <a:pt x="94372" y="330615"/>
                  <a:pt x="94863" y="331597"/>
                  <a:pt x="94863" y="332579"/>
                </a:cubicBezTo>
                <a:cubicBezTo>
                  <a:pt x="94863" y="334544"/>
                  <a:pt x="93390" y="336508"/>
                  <a:pt x="90935" y="336508"/>
                </a:cubicBezTo>
                <a:lnTo>
                  <a:pt x="79640" y="336508"/>
                </a:lnTo>
                <a:cubicBezTo>
                  <a:pt x="71291" y="336508"/>
                  <a:pt x="70800" y="331597"/>
                  <a:pt x="66380" y="331597"/>
                </a:cubicBezTo>
                <a:lnTo>
                  <a:pt x="66380" y="311462"/>
                </a:lnTo>
                <a:cubicBezTo>
                  <a:pt x="66380" y="311462"/>
                  <a:pt x="77675" y="306060"/>
                  <a:pt x="77675" y="296730"/>
                </a:cubicBezTo>
                <a:cubicBezTo>
                  <a:pt x="77675" y="294765"/>
                  <a:pt x="79148" y="292801"/>
                  <a:pt x="81113" y="292801"/>
                </a:cubicBezTo>
                <a:cubicBezTo>
                  <a:pt x="83077" y="292801"/>
                  <a:pt x="85042" y="294274"/>
                  <a:pt x="85042" y="296238"/>
                </a:cubicBezTo>
                <a:cubicBezTo>
                  <a:pt x="85042" y="296238"/>
                  <a:pt x="85042" y="296238"/>
                  <a:pt x="85042" y="296730"/>
                </a:cubicBezTo>
                <a:cubicBezTo>
                  <a:pt x="85042" y="300658"/>
                  <a:pt x="84550" y="304587"/>
                  <a:pt x="83077" y="308516"/>
                </a:cubicBezTo>
                <a:cubicBezTo>
                  <a:pt x="83077" y="309498"/>
                  <a:pt x="84059" y="310480"/>
                  <a:pt x="85042" y="310480"/>
                </a:cubicBezTo>
                <a:lnTo>
                  <a:pt x="97319" y="310480"/>
                </a:lnTo>
                <a:cubicBezTo>
                  <a:pt x="99283" y="310480"/>
                  <a:pt x="101248" y="311953"/>
                  <a:pt x="101248" y="314409"/>
                </a:cubicBezTo>
                <a:cubicBezTo>
                  <a:pt x="101248" y="315882"/>
                  <a:pt x="100266" y="317355"/>
                  <a:pt x="98792" y="317847"/>
                </a:cubicBezTo>
                <a:cubicBezTo>
                  <a:pt x="99283" y="318338"/>
                  <a:pt x="99774" y="319320"/>
                  <a:pt x="99774" y="320302"/>
                </a:cubicBezTo>
                <a:close/>
                <a:moveTo>
                  <a:pt x="169019" y="36940"/>
                </a:moveTo>
                <a:cubicBezTo>
                  <a:pt x="169019" y="28101"/>
                  <a:pt x="182769" y="18279"/>
                  <a:pt x="191118" y="34485"/>
                </a:cubicBezTo>
                <a:cubicBezTo>
                  <a:pt x="199467" y="18279"/>
                  <a:pt x="213217" y="28101"/>
                  <a:pt x="213217" y="36940"/>
                </a:cubicBezTo>
                <a:cubicBezTo>
                  <a:pt x="213217" y="50691"/>
                  <a:pt x="191118" y="67388"/>
                  <a:pt x="191118" y="67388"/>
                </a:cubicBezTo>
                <a:cubicBezTo>
                  <a:pt x="191118" y="67388"/>
                  <a:pt x="169019" y="50200"/>
                  <a:pt x="169019" y="36940"/>
                </a:cubicBezTo>
                <a:close/>
                <a:moveTo>
                  <a:pt x="173439" y="182304"/>
                </a:moveTo>
                <a:cubicBezTo>
                  <a:pt x="173439" y="172974"/>
                  <a:pt x="181296" y="165116"/>
                  <a:pt x="190627" y="165116"/>
                </a:cubicBezTo>
                <a:cubicBezTo>
                  <a:pt x="199958" y="165116"/>
                  <a:pt x="207815" y="172974"/>
                  <a:pt x="207815" y="182304"/>
                </a:cubicBezTo>
                <a:cubicBezTo>
                  <a:pt x="207815" y="191635"/>
                  <a:pt x="199958" y="199493"/>
                  <a:pt x="190627" y="199493"/>
                </a:cubicBezTo>
                <a:cubicBezTo>
                  <a:pt x="181296" y="199493"/>
                  <a:pt x="173439" y="192126"/>
                  <a:pt x="173439" y="182304"/>
                </a:cubicBezTo>
                <a:lnTo>
                  <a:pt x="173439" y="182304"/>
                </a:lnTo>
                <a:close/>
                <a:moveTo>
                  <a:pt x="225004" y="234360"/>
                </a:moveTo>
                <a:lnTo>
                  <a:pt x="156250" y="234360"/>
                </a:lnTo>
                <a:lnTo>
                  <a:pt x="156250" y="221101"/>
                </a:lnTo>
                <a:cubicBezTo>
                  <a:pt x="156250" y="218645"/>
                  <a:pt x="157724" y="215699"/>
                  <a:pt x="159688" y="214226"/>
                </a:cubicBezTo>
                <a:cubicBezTo>
                  <a:pt x="164599" y="210788"/>
                  <a:pt x="170492" y="207841"/>
                  <a:pt x="176385" y="205877"/>
                </a:cubicBezTo>
                <a:cubicBezTo>
                  <a:pt x="180805" y="204404"/>
                  <a:pt x="185716" y="203913"/>
                  <a:pt x="190627" y="203913"/>
                </a:cubicBezTo>
                <a:cubicBezTo>
                  <a:pt x="195538" y="203913"/>
                  <a:pt x="200449" y="204404"/>
                  <a:pt x="204869" y="205877"/>
                </a:cubicBezTo>
                <a:cubicBezTo>
                  <a:pt x="210762" y="207350"/>
                  <a:pt x="216655" y="210297"/>
                  <a:pt x="221566" y="214226"/>
                </a:cubicBezTo>
                <a:cubicBezTo>
                  <a:pt x="223530" y="215699"/>
                  <a:pt x="225004" y="218645"/>
                  <a:pt x="225004" y="221101"/>
                </a:cubicBezTo>
                <a:lnTo>
                  <a:pt x="225004" y="234360"/>
                </a:lnTo>
                <a:close/>
                <a:moveTo>
                  <a:pt x="304070" y="308025"/>
                </a:moveTo>
                <a:cubicBezTo>
                  <a:pt x="312418" y="291819"/>
                  <a:pt x="326169" y="301640"/>
                  <a:pt x="326169" y="310480"/>
                </a:cubicBezTo>
                <a:cubicBezTo>
                  <a:pt x="326169" y="324231"/>
                  <a:pt x="304070" y="340928"/>
                  <a:pt x="304070" y="340928"/>
                </a:cubicBezTo>
                <a:cubicBezTo>
                  <a:pt x="304070" y="340928"/>
                  <a:pt x="281971" y="324231"/>
                  <a:pt x="281971" y="310480"/>
                </a:cubicBezTo>
                <a:cubicBezTo>
                  <a:pt x="281971" y="301640"/>
                  <a:pt x="295721" y="291819"/>
                  <a:pt x="304070" y="308025"/>
                </a:cubicBezTo>
                <a:close/>
              </a:path>
            </a:pathLst>
          </a:custGeom>
          <a:gradFill flip="none" rotWithShape="1">
            <a:gsLst>
              <a:gs pos="0">
                <a:srgbClr val="0677CE"/>
              </a:gs>
              <a:gs pos="100000">
                <a:srgbClr val="319A89"/>
              </a:gs>
            </a:gsLst>
            <a:path path="circle">
              <a:fillToRect l="100000" t="100000"/>
            </a:path>
            <a:tileRect r="-100000" b="-100000"/>
          </a:gradFill>
          <a:ln w="13649" cap="flat">
            <a:noFill/>
            <a:prstDash val="solid"/>
            <a:miter/>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61" name="Graphic 158">
            <a:extLst>
              <a:ext uri="{FF2B5EF4-FFF2-40B4-BE49-F238E27FC236}">
                <a16:creationId xmlns:a16="http://schemas.microsoft.com/office/drawing/2014/main" id="{B25C5BDF-F56E-96C4-2D94-CD8E9FFF3747}"/>
              </a:ext>
              <a:ext uri="{C183D7F6-B498-43B3-948B-1728B52AA6E4}">
                <adec:decorative xmlns:adec="http://schemas.microsoft.com/office/drawing/2017/decorative" val="1"/>
              </a:ext>
            </a:extLst>
          </p:cNvPr>
          <p:cNvSpPr/>
          <p:nvPr/>
        </p:nvSpPr>
        <p:spPr>
          <a:xfrm>
            <a:off x="7289896" y="3365375"/>
            <a:ext cx="351560" cy="315958"/>
          </a:xfrm>
          <a:custGeom>
            <a:avLst/>
            <a:gdLst>
              <a:gd name="connsiteX0" fmla="*/ 90488 w 397566"/>
              <a:gd name="connsiteY0" fmla="*/ 361958 h 381058"/>
              <a:gd name="connsiteX1" fmla="*/ 76200 w 397566"/>
              <a:gd name="connsiteY1" fmla="*/ 347670 h 381058"/>
              <a:gd name="connsiteX2" fmla="*/ 88549 w 397566"/>
              <a:gd name="connsiteY2" fmla="*/ 333514 h 381058"/>
              <a:gd name="connsiteX3" fmla="*/ 90488 w 397566"/>
              <a:gd name="connsiteY3" fmla="*/ 333383 h 381058"/>
              <a:gd name="connsiteX4" fmla="*/ 123806 w 397566"/>
              <a:gd name="connsiteY4" fmla="*/ 333375 h 381058"/>
              <a:gd name="connsiteX5" fmla="*/ 123806 w 397566"/>
              <a:gd name="connsiteY5" fmla="*/ 285788 h 381058"/>
              <a:gd name="connsiteX6" fmla="*/ 42863 w 397566"/>
              <a:gd name="connsiteY6" fmla="*/ 285794 h 381058"/>
              <a:gd name="connsiteX7" fmla="*/ 99 w 397566"/>
              <a:gd name="connsiteY7" fmla="*/ 245865 h 381058"/>
              <a:gd name="connsiteX8" fmla="*/ 0 w 397566"/>
              <a:gd name="connsiteY8" fmla="*/ 242931 h 381058"/>
              <a:gd name="connsiteX9" fmla="*/ 0 w 397566"/>
              <a:gd name="connsiteY9" fmla="*/ 42863 h 381058"/>
              <a:gd name="connsiteX10" fmla="*/ 39928 w 397566"/>
              <a:gd name="connsiteY10" fmla="*/ 99 h 381058"/>
              <a:gd name="connsiteX11" fmla="*/ 42863 w 397566"/>
              <a:gd name="connsiteY11" fmla="*/ 0 h 381058"/>
              <a:gd name="connsiteX12" fmla="*/ 338115 w 397566"/>
              <a:gd name="connsiteY12" fmla="*/ 0 h 381058"/>
              <a:gd name="connsiteX13" fmla="*/ 380878 w 397566"/>
              <a:gd name="connsiteY13" fmla="*/ 39928 h 381058"/>
              <a:gd name="connsiteX14" fmla="*/ 380977 w 397566"/>
              <a:gd name="connsiteY14" fmla="*/ 42863 h 381058"/>
              <a:gd name="connsiteX15" fmla="*/ 380977 w 397566"/>
              <a:gd name="connsiteY15" fmla="*/ 242931 h 381058"/>
              <a:gd name="connsiteX16" fmla="*/ 376217 w 397566"/>
              <a:gd name="connsiteY16" fmla="*/ 262585 h 381058"/>
              <a:gd name="connsiteX17" fmla="*/ 286783 w 397566"/>
              <a:gd name="connsiteY17" fmla="*/ 163420 h 381058"/>
              <a:gd name="connsiteX18" fmla="*/ 250075 w 397566"/>
              <a:gd name="connsiteY18" fmla="*/ 154627 h 381058"/>
              <a:gd name="connsiteX19" fmla="*/ 228690 w 397566"/>
              <a:gd name="connsiteY19" fmla="*/ 185732 h 381058"/>
              <a:gd name="connsiteX20" fmla="*/ 228640 w 397566"/>
              <a:gd name="connsiteY20" fmla="*/ 285788 h 381058"/>
              <a:gd name="connsiteX21" fmla="*/ 152362 w 397566"/>
              <a:gd name="connsiteY21" fmla="*/ 285788 h 381058"/>
              <a:gd name="connsiteX22" fmla="*/ 152381 w 397566"/>
              <a:gd name="connsiteY22" fmla="*/ 333383 h 381058"/>
              <a:gd name="connsiteX23" fmla="*/ 228617 w 397566"/>
              <a:gd name="connsiteY23" fmla="*/ 333383 h 381058"/>
              <a:gd name="connsiteX24" fmla="*/ 228602 w 397566"/>
              <a:gd name="connsiteY24" fmla="*/ 361958 h 381058"/>
              <a:gd name="connsiteX25" fmla="*/ 90488 w 397566"/>
              <a:gd name="connsiteY25" fmla="*/ 361958 h 381058"/>
              <a:gd name="connsiteX26" fmla="*/ 256904 w 397566"/>
              <a:gd name="connsiteY26" fmla="*/ 172410 h 381058"/>
              <a:gd name="connsiteX27" fmla="*/ 272636 w 397566"/>
              <a:gd name="connsiteY27" fmla="*/ 176178 h 381058"/>
              <a:gd name="connsiteX28" fmla="*/ 393889 w 397566"/>
              <a:gd name="connsiteY28" fmla="*/ 310624 h 381058"/>
              <a:gd name="connsiteX29" fmla="*/ 395531 w 397566"/>
              <a:gd name="connsiteY29" fmla="*/ 327540 h 381058"/>
              <a:gd name="connsiteX30" fmla="*/ 379836 w 397566"/>
              <a:gd name="connsiteY30" fmla="*/ 334059 h 381058"/>
              <a:gd name="connsiteX31" fmla="*/ 312464 w 397566"/>
              <a:gd name="connsiteY31" fmla="*/ 317329 h 381058"/>
              <a:gd name="connsiteX32" fmla="*/ 273789 w 397566"/>
              <a:gd name="connsiteY32" fmla="*/ 374752 h 381058"/>
              <a:gd name="connsiteX33" fmla="*/ 257762 w 397566"/>
              <a:gd name="connsiteY33" fmla="*/ 380434 h 381058"/>
              <a:gd name="connsiteX34" fmla="*/ 247650 w 397566"/>
              <a:gd name="connsiteY34" fmla="*/ 366764 h 381058"/>
              <a:gd name="connsiteX35" fmla="*/ 247740 w 397566"/>
              <a:gd name="connsiteY35" fmla="*/ 185739 h 381058"/>
              <a:gd name="connsiteX36" fmla="*/ 256904 w 397566"/>
              <a:gd name="connsiteY36" fmla="*/ 172410 h 381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97566" h="381058">
                <a:moveTo>
                  <a:pt x="90488" y="361958"/>
                </a:moveTo>
                <a:cubicBezTo>
                  <a:pt x="82597" y="361958"/>
                  <a:pt x="76200" y="355563"/>
                  <a:pt x="76200" y="347670"/>
                </a:cubicBezTo>
                <a:cubicBezTo>
                  <a:pt x="76200" y="340437"/>
                  <a:pt x="81575" y="334459"/>
                  <a:pt x="88549" y="333514"/>
                </a:cubicBezTo>
                <a:lnTo>
                  <a:pt x="90488" y="333383"/>
                </a:lnTo>
                <a:lnTo>
                  <a:pt x="123806" y="333375"/>
                </a:lnTo>
                <a:lnTo>
                  <a:pt x="123806" y="285788"/>
                </a:lnTo>
                <a:lnTo>
                  <a:pt x="42863" y="285794"/>
                </a:lnTo>
                <a:cubicBezTo>
                  <a:pt x="20177" y="285794"/>
                  <a:pt x="1607" y="268169"/>
                  <a:pt x="99" y="245865"/>
                </a:cubicBezTo>
                <a:lnTo>
                  <a:pt x="0" y="242931"/>
                </a:lnTo>
                <a:lnTo>
                  <a:pt x="0" y="42863"/>
                </a:lnTo>
                <a:cubicBezTo>
                  <a:pt x="0" y="20177"/>
                  <a:pt x="17624" y="1607"/>
                  <a:pt x="39928" y="99"/>
                </a:cubicBezTo>
                <a:lnTo>
                  <a:pt x="42863" y="0"/>
                </a:lnTo>
                <a:lnTo>
                  <a:pt x="338115" y="0"/>
                </a:lnTo>
                <a:cubicBezTo>
                  <a:pt x="360801" y="0"/>
                  <a:pt x="379371" y="17624"/>
                  <a:pt x="380878" y="39928"/>
                </a:cubicBezTo>
                <a:lnTo>
                  <a:pt x="380977" y="42863"/>
                </a:lnTo>
                <a:lnTo>
                  <a:pt x="380977" y="242931"/>
                </a:lnTo>
                <a:cubicBezTo>
                  <a:pt x="380977" y="250014"/>
                  <a:pt x="379259" y="256697"/>
                  <a:pt x="376217" y="262585"/>
                </a:cubicBezTo>
                <a:lnTo>
                  <a:pt x="286783" y="163420"/>
                </a:lnTo>
                <a:cubicBezTo>
                  <a:pt x="277545" y="153177"/>
                  <a:pt x="262951" y="149682"/>
                  <a:pt x="250075" y="154627"/>
                </a:cubicBezTo>
                <a:cubicBezTo>
                  <a:pt x="237197" y="159572"/>
                  <a:pt x="228695" y="171938"/>
                  <a:pt x="228690" y="185732"/>
                </a:cubicBezTo>
                <a:lnTo>
                  <a:pt x="228640" y="285788"/>
                </a:lnTo>
                <a:lnTo>
                  <a:pt x="152362" y="285788"/>
                </a:lnTo>
                <a:lnTo>
                  <a:pt x="152381" y="333383"/>
                </a:lnTo>
                <a:lnTo>
                  <a:pt x="228617" y="333383"/>
                </a:lnTo>
                <a:lnTo>
                  <a:pt x="228602" y="361958"/>
                </a:lnTo>
                <a:lnTo>
                  <a:pt x="90488" y="361958"/>
                </a:lnTo>
                <a:close/>
                <a:moveTo>
                  <a:pt x="256904" y="172410"/>
                </a:moveTo>
                <a:cubicBezTo>
                  <a:pt x="262423" y="170290"/>
                  <a:pt x="268677" y="171789"/>
                  <a:pt x="272636" y="176178"/>
                </a:cubicBezTo>
                <a:lnTo>
                  <a:pt x="393889" y="310624"/>
                </a:lnTo>
                <a:cubicBezTo>
                  <a:pt x="398095" y="315287"/>
                  <a:pt x="398762" y="322153"/>
                  <a:pt x="395531" y="327540"/>
                </a:cubicBezTo>
                <a:cubicBezTo>
                  <a:pt x="392300" y="332927"/>
                  <a:pt x="385932" y="335571"/>
                  <a:pt x="379836" y="334059"/>
                </a:cubicBezTo>
                <a:lnTo>
                  <a:pt x="312464" y="317329"/>
                </a:lnTo>
                <a:lnTo>
                  <a:pt x="273789" y="374752"/>
                </a:lnTo>
                <a:cubicBezTo>
                  <a:pt x="270278" y="379964"/>
                  <a:pt x="263772" y="382271"/>
                  <a:pt x="257762" y="380434"/>
                </a:cubicBezTo>
                <a:cubicBezTo>
                  <a:pt x="251751" y="378598"/>
                  <a:pt x="247646" y="373049"/>
                  <a:pt x="247650" y="366764"/>
                </a:cubicBezTo>
                <a:lnTo>
                  <a:pt x="247740" y="185739"/>
                </a:lnTo>
                <a:cubicBezTo>
                  <a:pt x="247741" y="179828"/>
                  <a:pt x="251386" y="174528"/>
                  <a:pt x="256904" y="172410"/>
                </a:cubicBezTo>
                <a:close/>
              </a:path>
            </a:pathLst>
          </a:custGeom>
          <a:gradFill flip="none" rotWithShape="1">
            <a:gsLst>
              <a:gs pos="99000">
                <a:schemeClr val="accent1"/>
              </a:gs>
              <a:gs pos="0">
                <a:srgbClr val="319A89"/>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2" name="Graphic 15" descr="USB with solid fill">
            <a:extLst>
              <a:ext uri="{FF2B5EF4-FFF2-40B4-BE49-F238E27FC236}">
                <a16:creationId xmlns:a16="http://schemas.microsoft.com/office/drawing/2014/main" id="{9BF4DAFC-3060-0F5E-22D0-5C121DB97BED}"/>
              </a:ext>
            </a:extLst>
          </p:cNvPr>
          <p:cNvSpPr/>
          <p:nvPr/>
        </p:nvSpPr>
        <p:spPr>
          <a:xfrm>
            <a:off x="9763759" y="3278532"/>
            <a:ext cx="386292" cy="368974"/>
          </a:xfrm>
          <a:custGeom>
            <a:avLst/>
            <a:gdLst>
              <a:gd name="csX0" fmla="*/ 316784 w 330968"/>
              <a:gd name="csY0" fmla="*/ 147234 h 321512"/>
              <a:gd name="csX1" fmla="*/ 316784 w 330968"/>
              <a:gd name="csY1" fmla="*/ 122931 h 321512"/>
              <a:gd name="csX2" fmla="*/ 293144 w 330968"/>
              <a:gd name="csY2" fmla="*/ 122931 h 321512"/>
              <a:gd name="csX3" fmla="*/ 293144 w 330968"/>
              <a:gd name="csY3" fmla="*/ 33097 h 321512"/>
              <a:gd name="csX4" fmla="*/ 264775 w 330968"/>
              <a:gd name="csY4" fmla="*/ 4728 h 321512"/>
              <a:gd name="csX5" fmla="*/ 184397 w 330968"/>
              <a:gd name="csY5" fmla="*/ 4728 h 321512"/>
              <a:gd name="csX6" fmla="*/ 156028 w 330968"/>
              <a:gd name="csY6" fmla="*/ 33097 h 321512"/>
              <a:gd name="csX7" fmla="*/ 156028 w 330968"/>
              <a:gd name="csY7" fmla="*/ 283688 h 321512"/>
              <a:gd name="csX8" fmla="*/ 146572 w 330968"/>
              <a:gd name="csY8" fmla="*/ 293144 h 321512"/>
              <a:gd name="csX9" fmla="*/ 66194 w 330968"/>
              <a:gd name="csY9" fmla="*/ 293144 h 321512"/>
              <a:gd name="csX10" fmla="*/ 56738 w 330968"/>
              <a:gd name="csY10" fmla="*/ 283688 h 321512"/>
              <a:gd name="csX11" fmla="*/ 56738 w 330968"/>
              <a:gd name="csY11" fmla="*/ 198581 h 321512"/>
              <a:gd name="csX12" fmla="*/ 80378 w 330968"/>
              <a:gd name="csY12" fmla="*/ 198581 h 321512"/>
              <a:gd name="csX13" fmla="*/ 80378 w 330968"/>
              <a:gd name="csY13" fmla="*/ 174279 h 321512"/>
              <a:gd name="csX14" fmla="*/ 94563 w 330968"/>
              <a:gd name="csY14" fmla="*/ 156028 h 321512"/>
              <a:gd name="csX15" fmla="*/ 94563 w 330968"/>
              <a:gd name="csY15" fmla="*/ 42553 h 321512"/>
              <a:gd name="csX16" fmla="*/ 80378 w 330968"/>
              <a:gd name="csY16" fmla="*/ 42553 h 321512"/>
              <a:gd name="csX17" fmla="*/ 80378 w 330968"/>
              <a:gd name="csY17" fmla="*/ 0 h 321512"/>
              <a:gd name="csX18" fmla="*/ 14184 w 330968"/>
              <a:gd name="csY18" fmla="*/ 0 h 321512"/>
              <a:gd name="csX19" fmla="*/ 14184 w 330968"/>
              <a:gd name="csY19" fmla="*/ 42553 h 321512"/>
              <a:gd name="csX20" fmla="*/ 0 w 330968"/>
              <a:gd name="csY20" fmla="*/ 42553 h 321512"/>
              <a:gd name="csX21" fmla="*/ 0 w 330968"/>
              <a:gd name="csY21" fmla="*/ 156028 h 321512"/>
              <a:gd name="csX22" fmla="*/ 14184 w 330968"/>
              <a:gd name="csY22" fmla="*/ 174279 h 321512"/>
              <a:gd name="csX23" fmla="*/ 14184 w 330968"/>
              <a:gd name="csY23" fmla="*/ 198581 h 321512"/>
              <a:gd name="csX24" fmla="*/ 37825 w 330968"/>
              <a:gd name="csY24" fmla="*/ 198581 h 321512"/>
              <a:gd name="csX25" fmla="*/ 37825 w 330968"/>
              <a:gd name="csY25" fmla="*/ 283688 h 321512"/>
              <a:gd name="csX26" fmla="*/ 66194 w 330968"/>
              <a:gd name="csY26" fmla="*/ 312056 h 321512"/>
              <a:gd name="csX27" fmla="*/ 146572 w 330968"/>
              <a:gd name="csY27" fmla="*/ 312056 h 321512"/>
              <a:gd name="csX28" fmla="*/ 174941 w 330968"/>
              <a:gd name="csY28" fmla="*/ 283688 h 321512"/>
              <a:gd name="csX29" fmla="*/ 174941 w 330968"/>
              <a:gd name="csY29" fmla="*/ 33097 h 321512"/>
              <a:gd name="csX30" fmla="*/ 184397 w 330968"/>
              <a:gd name="csY30" fmla="*/ 23641 h 321512"/>
              <a:gd name="csX31" fmla="*/ 264775 w 330968"/>
              <a:gd name="csY31" fmla="*/ 23641 h 321512"/>
              <a:gd name="csX32" fmla="*/ 274231 w 330968"/>
              <a:gd name="csY32" fmla="*/ 33097 h 321512"/>
              <a:gd name="csX33" fmla="*/ 274231 w 330968"/>
              <a:gd name="csY33" fmla="*/ 122931 h 321512"/>
              <a:gd name="csX34" fmla="*/ 250591 w 330968"/>
              <a:gd name="csY34" fmla="*/ 122931 h 321512"/>
              <a:gd name="csX35" fmla="*/ 250591 w 330968"/>
              <a:gd name="csY35" fmla="*/ 147234 h 321512"/>
              <a:gd name="csX36" fmla="*/ 236406 w 330968"/>
              <a:gd name="csY36" fmla="*/ 165484 h 321512"/>
              <a:gd name="csX37" fmla="*/ 236406 w 330968"/>
              <a:gd name="csY37" fmla="*/ 278959 h 321512"/>
              <a:gd name="csX38" fmla="*/ 250591 w 330968"/>
              <a:gd name="csY38" fmla="*/ 278959 h 321512"/>
              <a:gd name="csX39" fmla="*/ 250591 w 330968"/>
              <a:gd name="csY39" fmla="*/ 321513 h 321512"/>
              <a:gd name="csX40" fmla="*/ 316784 w 330968"/>
              <a:gd name="csY40" fmla="*/ 321513 h 321512"/>
              <a:gd name="csX41" fmla="*/ 316784 w 330968"/>
              <a:gd name="csY41" fmla="*/ 278959 h 321512"/>
              <a:gd name="csX42" fmla="*/ 330969 w 330968"/>
              <a:gd name="csY42" fmla="*/ 278959 h 321512"/>
              <a:gd name="csX43" fmla="*/ 330969 w 330968"/>
              <a:gd name="csY43" fmla="*/ 165484 h 321512"/>
              <a:gd name="csX44" fmla="*/ 316784 w 330968"/>
              <a:gd name="csY44" fmla="*/ 147234 h 321512"/>
              <a:gd name="csX45" fmla="*/ 33097 w 330968"/>
              <a:gd name="csY45" fmla="*/ 18913 h 321512"/>
              <a:gd name="csX46" fmla="*/ 61466 w 330968"/>
              <a:gd name="csY46" fmla="*/ 18913 h 321512"/>
              <a:gd name="csX47" fmla="*/ 61466 w 330968"/>
              <a:gd name="csY47" fmla="*/ 42553 h 321512"/>
              <a:gd name="csX48" fmla="*/ 33097 w 330968"/>
              <a:gd name="csY48" fmla="*/ 42553 h 321512"/>
              <a:gd name="csX49" fmla="*/ 297872 w 330968"/>
              <a:gd name="csY49" fmla="*/ 302600 h 321512"/>
              <a:gd name="csX50" fmla="*/ 269503 w 330968"/>
              <a:gd name="csY50" fmla="*/ 302600 h 321512"/>
              <a:gd name="csX51" fmla="*/ 269503 w 330968"/>
              <a:gd name="csY51" fmla="*/ 278959 h 321512"/>
              <a:gd name="csX52" fmla="*/ 297872 w 330968"/>
              <a:gd name="csY52" fmla="*/ 278959 h 3215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330968" h="321512">
                <a:moveTo>
                  <a:pt x="316784" y="147234"/>
                </a:moveTo>
                <a:lnTo>
                  <a:pt x="316784" y="122931"/>
                </a:lnTo>
                <a:lnTo>
                  <a:pt x="293144" y="122931"/>
                </a:lnTo>
                <a:lnTo>
                  <a:pt x="293144" y="33097"/>
                </a:lnTo>
                <a:cubicBezTo>
                  <a:pt x="293144" y="17429"/>
                  <a:pt x="280443" y="4728"/>
                  <a:pt x="264775" y="4728"/>
                </a:cubicBezTo>
                <a:lnTo>
                  <a:pt x="184397" y="4728"/>
                </a:lnTo>
                <a:cubicBezTo>
                  <a:pt x="168729" y="4728"/>
                  <a:pt x="156028" y="17429"/>
                  <a:pt x="156028" y="33097"/>
                </a:cubicBezTo>
                <a:lnTo>
                  <a:pt x="156028" y="283688"/>
                </a:lnTo>
                <a:cubicBezTo>
                  <a:pt x="156028" y="288910"/>
                  <a:pt x="151795" y="293144"/>
                  <a:pt x="146572" y="293144"/>
                </a:cubicBezTo>
                <a:lnTo>
                  <a:pt x="66194" y="293144"/>
                </a:lnTo>
                <a:cubicBezTo>
                  <a:pt x="60971" y="293144"/>
                  <a:pt x="56738" y="288910"/>
                  <a:pt x="56738" y="283688"/>
                </a:cubicBezTo>
                <a:lnTo>
                  <a:pt x="56738" y="198581"/>
                </a:lnTo>
                <a:lnTo>
                  <a:pt x="80378" y="198581"/>
                </a:lnTo>
                <a:lnTo>
                  <a:pt x="80378" y="174279"/>
                </a:lnTo>
                <a:cubicBezTo>
                  <a:pt x="88706" y="172128"/>
                  <a:pt x="94535" y="164630"/>
                  <a:pt x="94563" y="156028"/>
                </a:cubicBezTo>
                <a:lnTo>
                  <a:pt x="94563" y="42553"/>
                </a:lnTo>
                <a:lnTo>
                  <a:pt x="80378" y="42553"/>
                </a:lnTo>
                <a:lnTo>
                  <a:pt x="80378" y="0"/>
                </a:lnTo>
                <a:lnTo>
                  <a:pt x="14184" y="0"/>
                </a:lnTo>
                <a:lnTo>
                  <a:pt x="14184" y="42553"/>
                </a:lnTo>
                <a:lnTo>
                  <a:pt x="0" y="42553"/>
                </a:lnTo>
                <a:lnTo>
                  <a:pt x="0" y="156028"/>
                </a:lnTo>
                <a:cubicBezTo>
                  <a:pt x="28" y="164630"/>
                  <a:pt x="5856" y="172128"/>
                  <a:pt x="14184" y="174279"/>
                </a:cubicBezTo>
                <a:lnTo>
                  <a:pt x="14184" y="198581"/>
                </a:lnTo>
                <a:lnTo>
                  <a:pt x="37825" y="198581"/>
                </a:lnTo>
                <a:lnTo>
                  <a:pt x="37825" y="283688"/>
                </a:lnTo>
                <a:cubicBezTo>
                  <a:pt x="37825" y="299355"/>
                  <a:pt x="50526" y="312056"/>
                  <a:pt x="66194" y="312056"/>
                </a:cubicBezTo>
                <a:lnTo>
                  <a:pt x="146572" y="312056"/>
                </a:lnTo>
                <a:cubicBezTo>
                  <a:pt x="162239" y="312056"/>
                  <a:pt x="174941" y="299355"/>
                  <a:pt x="174941" y="283688"/>
                </a:cubicBezTo>
                <a:lnTo>
                  <a:pt x="174941" y="33097"/>
                </a:lnTo>
                <a:cubicBezTo>
                  <a:pt x="174941" y="27874"/>
                  <a:pt x="179174" y="23641"/>
                  <a:pt x="184397" y="23641"/>
                </a:cubicBezTo>
                <a:lnTo>
                  <a:pt x="264775" y="23641"/>
                </a:lnTo>
                <a:cubicBezTo>
                  <a:pt x="269998" y="23641"/>
                  <a:pt x="274231" y="27874"/>
                  <a:pt x="274231" y="33097"/>
                </a:cubicBezTo>
                <a:lnTo>
                  <a:pt x="274231" y="122931"/>
                </a:lnTo>
                <a:lnTo>
                  <a:pt x="250591" y="122931"/>
                </a:lnTo>
                <a:lnTo>
                  <a:pt x="250591" y="147234"/>
                </a:lnTo>
                <a:cubicBezTo>
                  <a:pt x="242263" y="149384"/>
                  <a:pt x="236434" y="156883"/>
                  <a:pt x="236406" y="165484"/>
                </a:cubicBezTo>
                <a:lnTo>
                  <a:pt x="236406" y="278959"/>
                </a:lnTo>
                <a:lnTo>
                  <a:pt x="250591" y="278959"/>
                </a:lnTo>
                <a:lnTo>
                  <a:pt x="250591" y="321513"/>
                </a:lnTo>
                <a:lnTo>
                  <a:pt x="316784" y="321513"/>
                </a:lnTo>
                <a:lnTo>
                  <a:pt x="316784" y="278959"/>
                </a:lnTo>
                <a:lnTo>
                  <a:pt x="330969" y="278959"/>
                </a:lnTo>
                <a:lnTo>
                  <a:pt x="330969" y="165484"/>
                </a:lnTo>
                <a:cubicBezTo>
                  <a:pt x="330941" y="156883"/>
                  <a:pt x="325113" y="149384"/>
                  <a:pt x="316784" y="147234"/>
                </a:cubicBezTo>
                <a:close/>
                <a:moveTo>
                  <a:pt x="33097" y="18913"/>
                </a:moveTo>
                <a:lnTo>
                  <a:pt x="61466" y="18913"/>
                </a:lnTo>
                <a:lnTo>
                  <a:pt x="61466" y="42553"/>
                </a:lnTo>
                <a:lnTo>
                  <a:pt x="33097" y="42553"/>
                </a:lnTo>
                <a:close/>
                <a:moveTo>
                  <a:pt x="297872" y="302600"/>
                </a:moveTo>
                <a:lnTo>
                  <a:pt x="269503" y="302600"/>
                </a:lnTo>
                <a:lnTo>
                  <a:pt x="269503" y="278959"/>
                </a:lnTo>
                <a:lnTo>
                  <a:pt x="297872" y="278959"/>
                </a:lnTo>
                <a:close/>
              </a:path>
            </a:pathLst>
          </a:custGeom>
          <a:gradFill flip="none" rotWithShape="1">
            <a:gsLst>
              <a:gs pos="0">
                <a:srgbClr val="0677CE"/>
              </a:gs>
              <a:gs pos="100000">
                <a:srgbClr val="319A89"/>
              </a:gs>
            </a:gsLst>
            <a:path path="circle">
              <a:fillToRect l="100000" t="100000"/>
            </a:path>
            <a:tileRect r="-100000" b="-100000"/>
          </a:gradFill>
          <a:ln w="13649" cap="flat">
            <a:noFill/>
            <a:prstDash val="solid"/>
            <a:miter/>
          </a:ln>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63" name="Graphic 335">
            <a:extLst>
              <a:ext uri="{FF2B5EF4-FFF2-40B4-BE49-F238E27FC236}">
                <a16:creationId xmlns:a16="http://schemas.microsoft.com/office/drawing/2014/main" id="{316840B4-86D3-4132-C5C0-E80586E18EFD}"/>
              </a:ext>
              <a:ext uri="{C183D7F6-B498-43B3-948B-1728B52AA6E4}">
                <adec:decorative xmlns:adec="http://schemas.microsoft.com/office/drawing/2017/decorative" val="1"/>
              </a:ext>
            </a:extLst>
          </p:cNvPr>
          <p:cNvSpPr/>
          <p:nvPr/>
        </p:nvSpPr>
        <p:spPr>
          <a:xfrm>
            <a:off x="7255657" y="4406807"/>
            <a:ext cx="320040" cy="320040"/>
          </a:xfrm>
          <a:custGeom>
            <a:avLst/>
            <a:gdLst>
              <a:gd name="connsiteX0" fmla="*/ 155057 w 381000"/>
              <a:gd name="connsiteY0" fmla="*/ 0 h 380814"/>
              <a:gd name="connsiteX1" fmla="*/ 176213 w 381000"/>
              <a:gd name="connsiteY1" fmla="*/ 26890 h 380814"/>
              <a:gd name="connsiteX2" fmla="*/ 176213 w 381000"/>
              <a:gd name="connsiteY2" fmla="*/ 109426 h 380814"/>
              <a:gd name="connsiteX3" fmla="*/ 159155 w 381000"/>
              <a:gd name="connsiteY3" fmla="*/ 109426 h 380814"/>
              <a:gd name="connsiteX4" fmla="*/ 123825 w 381000"/>
              <a:gd name="connsiteY4" fmla="*/ 85613 h 380814"/>
              <a:gd name="connsiteX5" fmla="*/ 85725 w 381000"/>
              <a:gd name="connsiteY5" fmla="*/ 123713 h 380814"/>
              <a:gd name="connsiteX6" fmla="*/ 123825 w 381000"/>
              <a:gd name="connsiteY6" fmla="*/ 161813 h 380814"/>
              <a:gd name="connsiteX7" fmla="*/ 159155 w 381000"/>
              <a:gd name="connsiteY7" fmla="*/ 138001 h 380814"/>
              <a:gd name="connsiteX8" fmla="*/ 176213 w 381000"/>
              <a:gd name="connsiteY8" fmla="*/ 138001 h 380814"/>
              <a:gd name="connsiteX9" fmla="*/ 176213 w 381000"/>
              <a:gd name="connsiteY9" fmla="*/ 345606 h 380814"/>
              <a:gd name="connsiteX10" fmla="*/ 161302 w 381000"/>
              <a:gd name="connsiteY10" fmla="*/ 373432 h 380814"/>
              <a:gd name="connsiteX11" fmla="*/ 131596 w 381000"/>
              <a:gd name="connsiteY11" fmla="*/ 380814 h 380814"/>
              <a:gd name="connsiteX12" fmla="*/ 67647 w 381000"/>
              <a:gd name="connsiteY12" fmla="*/ 349029 h 380814"/>
              <a:gd name="connsiteX13" fmla="*/ 48233 w 381000"/>
              <a:gd name="connsiteY13" fmla="*/ 308317 h 380814"/>
              <a:gd name="connsiteX14" fmla="*/ 24047 w 381000"/>
              <a:gd name="connsiteY14" fmla="*/ 295181 h 380814"/>
              <a:gd name="connsiteX15" fmla="*/ 0 w 381000"/>
              <a:gd name="connsiteY15" fmla="*/ 237371 h 380814"/>
              <a:gd name="connsiteX16" fmla="*/ 3607 w 381000"/>
              <a:gd name="connsiteY16" fmla="*/ 199913 h 380814"/>
              <a:gd name="connsiteX17" fmla="*/ 83816 w 381000"/>
              <a:gd name="connsiteY17" fmla="*/ 199913 h 380814"/>
              <a:gd name="connsiteX18" fmla="*/ 109257 w 381000"/>
              <a:gd name="connsiteY18" fmla="*/ 221848 h 380814"/>
              <a:gd name="connsiteX19" fmla="*/ 85725 w 381000"/>
              <a:gd name="connsiteY19" fmla="*/ 257063 h 380814"/>
              <a:gd name="connsiteX20" fmla="*/ 123825 w 381000"/>
              <a:gd name="connsiteY20" fmla="*/ 295163 h 380814"/>
              <a:gd name="connsiteX21" fmla="*/ 161925 w 381000"/>
              <a:gd name="connsiteY21" fmla="*/ 257063 h 380814"/>
              <a:gd name="connsiteX22" fmla="*/ 137967 w 381000"/>
              <a:gd name="connsiteY22" fmla="*/ 221674 h 380814"/>
              <a:gd name="connsiteX23" fmla="*/ 83816 w 381000"/>
              <a:gd name="connsiteY23" fmla="*/ 171338 h 380814"/>
              <a:gd name="connsiteX24" fmla="*/ 19801 w 381000"/>
              <a:gd name="connsiteY24" fmla="*/ 171338 h 380814"/>
              <a:gd name="connsiteX25" fmla="*/ 27988 w 381000"/>
              <a:gd name="connsiteY25" fmla="*/ 166147 h 380814"/>
              <a:gd name="connsiteX26" fmla="*/ 29240 w 381000"/>
              <a:gd name="connsiteY26" fmla="*/ 165583 h 380814"/>
              <a:gd name="connsiteX27" fmla="*/ 25859 w 381000"/>
              <a:gd name="connsiteY27" fmla="*/ 144121 h 380814"/>
              <a:gd name="connsiteX28" fmla="*/ 31477 w 381000"/>
              <a:gd name="connsiteY28" fmla="*/ 102569 h 380814"/>
              <a:gd name="connsiteX29" fmla="*/ 51251 w 381000"/>
              <a:gd name="connsiteY29" fmla="*/ 68779 h 380814"/>
              <a:gd name="connsiteX30" fmla="*/ 72119 w 381000"/>
              <a:gd name="connsiteY30" fmla="*/ 57979 h 380814"/>
              <a:gd name="connsiteX31" fmla="*/ 97892 w 381000"/>
              <a:gd name="connsiteY31" fmla="*/ 19158 h 380814"/>
              <a:gd name="connsiteX32" fmla="*/ 155057 w 381000"/>
              <a:gd name="connsiteY32" fmla="*/ 0 h 380814"/>
              <a:gd name="connsiteX33" fmla="*/ 204788 w 381000"/>
              <a:gd name="connsiteY33" fmla="*/ 285638 h 380814"/>
              <a:gd name="connsiteX34" fmla="*/ 236220 w 381000"/>
              <a:gd name="connsiteY34" fmla="*/ 285638 h 380814"/>
              <a:gd name="connsiteX35" fmla="*/ 290513 w 381000"/>
              <a:gd name="connsiteY35" fmla="*/ 231346 h 380814"/>
              <a:gd name="connsiteX36" fmla="*/ 290513 w 381000"/>
              <a:gd name="connsiteY36" fmla="*/ 197144 h 380814"/>
              <a:gd name="connsiteX37" fmla="*/ 314325 w 381000"/>
              <a:gd name="connsiteY37" fmla="*/ 161813 h 380814"/>
              <a:gd name="connsiteX38" fmla="*/ 276225 w 381000"/>
              <a:gd name="connsiteY38" fmla="*/ 123713 h 380814"/>
              <a:gd name="connsiteX39" fmla="*/ 238125 w 381000"/>
              <a:gd name="connsiteY39" fmla="*/ 161813 h 380814"/>
              <a:gd name="connsiteX40" fmla="*/ 261938 w 381000"/>
              <a:gd name="connsiteY40" fmla="*/ 197144 h 380814"/>
              <a:gd name="connsiteX41" fmla="*/ 261938 w 381000"/>
              <a:gd name="connsiteY41" fmla="*/ 231346 h 380814"/>
              <a:gd name="connsiteX42" fmla="*/ 236220 w 381000"/>
              <a:gd name="connsiteY42" fmla="*/ 257063 h 380814"/>
              <a:gd name="connsiteX43" fmla="*/ 204788 w 381000"/>
              <a:gd name="connsiteY43" fmla="*/ 257063 h 380814"/>
              <a:gd name="connsiteX44" fmla="*/ 204788 w 381000"/>
              <a:gd name="connsiteY44" fmla="*/ 123847 h 380814"/>
              <a:gd name="connsiteX45" fmla="*/ 204788 w 381000"/>
              <a:gd name="connsiteY45" fmla="*/ 123713 h 380814"/>
              <a:gd name="connsiteX46" fmla="*/ 204788 w 381000"/>
              <a:gd name="connsiteY46" fmla="*/ 123579 h 380814"/>
              <a:gd name="connsiteX47" fmla="*/ 204788 w 381000"/>
              <a:gd name="connsiteY47" fmla="*/ 26890 h 380814"/>
              <a:gd name="connsiteX48" fmla="*/ 225943 w 381000"/>
              <a:gd name="connsiteY48" fmla="*/ 0 h 380814"/>
              <a:gd name="connsiteX49" fmla="*/ 283108 w 381000"/>
              <a:gd name="connsiteY49" fmla="*/ 19158 h 380814"/>
              <a:gd name="connsiteX50" fmla="*/ 308881 w 381000"/>
              <a:gd name="connsiteY50" fmla="*/ 57979 h 380814"/>
              <a:gd name="connsiteX51" fmla="*/ 329750 w 381000"/>
              <a:gd name="connsiteY51" fmla="*/ 68779 h 380814"/>
              <a:gd name="connsiteX52" fmla="*/ 349524 w 381000"/>
              <a:gd name="connsiteY52" fmla="*/ 102569 h 380814"/>
              <a:gd name="connsiteX53" fmla="*/ 355142 w 381000"/>
              <a:gd name="connsiteY53" fmla="*/ 144121 h 380814"/>
              <a:gd name="connsiteX54" fmla="*/ 351760 w 381000"/>
              <a:gd name="connsiteY54" fmla="*/ 165583 h 380814"/>
              <a:gd name="connsiteX55" fmla="*/ 353012 w 381000"/>
              <a:gd name="connsiteY55" fmla="*/ 166147 h 380814"/>
              <a:gd name="connsiteX56" fmla="*/ 370052 w 381000"/>
              <a:gd name="connsiteY56" fmla="*/ 181589 h 380814"/>
              <a:gd name="connsiteX57" fmla="*/ 381000 w 381000"/>
              <a:gd name="connsiteY57" fmla="*/ 237371 h 380814"/>
              <a:gd name="connsiteX58" fmla="*/ 356953 w 381000"/>
              <a:gd name="connsiteY58" fmla="*/ 295181 h 380814"/>
              <a:gd name="connsiteX59" fmla="*/ 332767 w 381000"/>
              <a:gd name="connsiteY59" fmla="*/ 308317 h 380814"/>
              <a:gd name="connsiteX60" fmla="*/ 313353 w 381000"/>
              <a:gd name="connsiteY60" fmla="*/ 349029 h 380814"/>
              <a:gd name="connsiteX61" fmla="*/ 249403 w 381000"/>
              <a:gd name="connsiteY61" fmla="*/ 380814 h 380814"/>
              <a:gd name="connsiteX62" fmla="*/ 219698 w 381000"/>
              <a:gd name="connsiteY62" fmla="*/ 373432 h 380814"/>
              <a:gd name="connsiteX63" fmla="*/ 204788 w 381000"/>
              <a:gd name="connsiteY63" fmla="*/ 345606 h 380814"/>
              <a:gd name="connsiteX64" fmla="*/ 204788 w 381000"/>
              <a:gd name="connsiteY64" fmla="*/ 285638 h 380814"/>
              <a:gd name="connsiteX65" fmla="*/ 114300 w 381000"/>
              <a:gd name="connsiteY65" fmla="*/ 123713 h 380814"/>
              <a:gd name="connsiteX66" fmla="*/ 123825 w 381000"/>
              <a:gd name="connsiteY66" fmla="*/ 114188 h 380814"/>
              <a:gd name="connsiteX67" fmla="*/ 133350 w 381000"/>
              <a:gd name="connsiteY67" fmla="*/ 123713 h 380814"/>
              <a:gd name="connsiteX68" fmla="*/ 123825 w 381000"/>
              <a:gd name="connsiteY68" fmla="*/ 133238 h 380814"/>
              <a:gd name="connsiteX69" fmla="*/ 114300 w 381000"/>
              <a:gd name="connsiteY69" fmla="*/ 123713 h 380814"/>
              <a:gd name="connsiteX70" fmla="*/ 123825 w 381000"/>
              <a:gd name="connsiteY70" fmla="*/ 247538 h 380814"/>
              <a:gd name="connsiteX71" fmla="*/ 114300 w 381000"/>
              <a:gd name="connsiteY71" fmla="*/ 257063 h 380814"/>
              <a:gd name="connsiteX72" fmla="*/ 123825 w 381000"/>
              <a:gd name="connsiteY72" fmla="*/ 266588 h 380814"/>
              <a:gd name="connsiteX73" fmla="*/ 133350 w 381000"/>
              <a:gd name="connsiteY73" fmla="*/ 257063 h 380814"/>
              <a:gd name="connsiteX74" fmla="*/ 123825 w 381000"/>
              <a:gd name="connsiteY74" fmla="*/ 247538 h 380814"/>
              <a:gd name="connsiteX75" fmla="*/ 266700 w 381000"/>
              <a:gd name="connsiteY75" fmla="*/ 161813 h 380814"/>
              <a:gd name="connsiteX76" fmla="*/ 276225 w 381000"/>
              <a:gd name="connsiteY76" fmla="*/ 171338 h 380814"/>
              <a:gd name="connsiteX77" fmla="*/ 285750 w 381000"/>
              <a:gd name="connsiteY77" fmla="*/ 161813 h 380814"/>
              <a:gd name="connsiteX78" fmla="*/ 276225 w 381000"/>
              <a:gd name="connsiteY78" fmla="*/ 152288 h 380814"/>
              <a:gd name="connsiteX79" fmla="*/ 266700 w 381000"/>
              <a:gd name="connsiteY79" fmla="*/ 161813 h 38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81000" h="380814">
                <a:moveTo>
                  <a:pt x="155057" y="0"/>
                </a:moveTo>
                <a:cubicBezTo>
                  <a:pt x="168539" y="0"/>
                  <a:pt x="176213" y="13409"/>
                  <a:pt x="176213" y="26890"/>
                </a:cubicBezTo>
                <a:lnTo>
                  <a:pt x="176213" y="109426"/>
                </a:lnTo>
                <a:lnTo>
                  <a:pt x="159155" y="109426"/>
                </a:lnTo>
                <a:cubicBezTo>
                  <a:pt x="153503" y="95463"/>
                  <a:pt x="139814" y="85613"/>
                  <a:pt x="123825" y="85613"/>
                </a:cubicBezTo>
                <a:cubicBezTo>
                  <a:pt x="102783" y="85613"/>
                  <a:pt x="85725" y="102671"/>
                  <a:pt x="85725" y="123713"/>
                </a:cubicBezTo>
                <a:cubicBezTo>
                  <a:pt x="85725" y="144755"/>
                  <a:pt x="102783" y="161813"/>
                  <a:pt x="123825" y="161813"/>
                </a:cubicBezTo>
                <a:cubicBezTo>
                  <a:pt x="139815" y="161813"/>
                  <a:pt x="153503" y="151964"/>
                  <a:pt x="159155" y="138001"/>
                </a:cubicBezTo>
                <a:lnTo>
                  <a:pt x="176213" y="138001"/>
                </a:lnTo>
                <a:lnTo>
                  <a:pt x="176213" y="345606"/>
                </a:lnTo>
                <a:cubicBezTo>
                  <a:pt x="176213" y="356962"/>
                  <a:pt x="171412" y="368256"/>
                  <a:pt x="161302" y="373432"/>
                </a:cubicBezTo>
                <a:cubicBezTo>
                  <a:pt x="152655" y="377859"/>
                  <a:pt x="142694" y="380814"/>
                  <a:pt x="131596" y="380814"/>
                </a:cubicBezTo>
                <a:cubicBezTo>
                  <a:pt x="102818" y="380814"/>
                  <a:pt x="81416" y="366256"/>
                  <a:pt x="67647" y="349029"/>
                </a:cubicBezTo>
                <a:cubicBezTo>
                  <a:pt x="57536" y="336380"/>
                  <a:pt x="50890" y="321511"/>
                  <a:pt x="48233" y="308317"/>
                </a:cubicBezTo>
                <a:cubicBezTo>
                  <a:pt x="40561" y="306089"/>
                  <a:pt x="31897" y="301915"/>
                  <a:pt x="24047" y="295181"/>
                </a:cubicBezTo>
                <a:cubicBezTo>
                  <a:pt x="10518" y="283575"/>
                  <a:pt x="0" y="264889"/>
                  <a:pt x="0" y="237371"/>
                </a:cubicBezTo>
                <a:cubicBezTo>
                  <a:pt x="0" y="222983"/>
                  <a:pt x="1029" y="210452"/>
                  <a:pt x="3607" y="199913"/>
                </a:cubicBezTo>
                <a:lnTo>
                  <a:pt x="83816" y="199913"/>
                </a:lnTo>
                <a:cubicBezTo>
                  <a:pt x="96734" y="199913"/>
                  <a:pt x="107428" y="209438"/>
                  <a:pt x="109257" y="221848"/>
                </a:cubicBezTo>
                <a:cubicBezTo>
                  <a:pt x="95443" y="227568"/>
                  <a:pt x="85725" y="241181"/>
                  <a:pt x="85725" y="257063"/>
                </a:cubicBezTo>
                <a:cubicBezTo>
                  <a:pt x="85725" y="278106"/>
                  <a:pt x="102783" y="295163"/>
                  <a:pt x="123825" y="295163"/>
                </a:cubicBezTo>
                <a:cubicBezTo>
                  <a:pt x="144867" y="295163"/>
                  <a:pt x="161925" y="278106"/>
                  <a:pt x="161925" y="257063"/>
                </a:cubicBezTo>
                <a:cubicBezTo>
                  <a:pt x="161925" y="241018"/>
                  <a:pt x="152007" y="227290"/>
                  <a:pt x="137967" y="221674"/>
                </a:cubicBezTo>
                <a:cubicBezTo>
                  <a:pt x="135940" y="193537"/>
                  <a:pt x="112471" y="171338"/>
                  <a:pt x="83816" y="171338"/>
                </a:cubicBezTo>
                <a:lnTo>
                  <a:pt x="19801" y="171338"/>
                </a:lnTo>
                <a:cubicBezTo>
                  <a:pt x="22288" y="169283"/>
                  <a:pt x="25018" y="167549"/>
                  <a:pt x="27988" y="166147"/>
                </a:cubicBezTo>
                <a:cubicBezTo>
                  <a:pt x="28404" y="165953"/>
                  <a:pt x="28821" y="165764"/>
                  <a:pt x="29240" y="165583"/>
                </a:cubicBezTo>
                <a:cubicBezTo>
                  <a:pt x="27230" y="158590"/>
                  <a:pt x="26181" y="151287"/>
                  <a:pt x="25859" y="144121"/>
                </a:cubicBezTo>
                <a:cubicBezTo>
                  <a:pt x="25230" y="130123"/>
                  <a:pt x="27314" y="115541"/>
                  <a:pt x="31477" y="102569"/>
                </a:cubicBezTo>
                <a:cubicBezTo>
                  <a:pt x="35579" y="89790"/>
                  <a:pt x="42092" y="77373"/>
                  <a:pt x="51251" y="68779"/>
                </a:cubicBezTo>
                <a:cubicBezTo>
                  <a:pt x="57002" y="63382"/>
                  <a:pt x="64115" y="59302"/>
                  <a:pt x="72119" y="57979"/>
                </a:cubicBezTo>
                <a:cubicBezTo>
                  <a:pt x="75905" y="41980"/>
                  <a:pt x="85566" y="28753"/>
                  <a:pt x="97892" y="19158"/>
                </a:cubicBezTo>
                <a:cubicBezTo>
                  <a:pt x="113735" y="6824"/>
                  <a:pt x="134460" y="0"/>
                  <a:pt x="155057" y="0"/>
                </a:cubicBezTo>
                <a:close/>
                <a:moveTo>
                  <a:pt x="204788" y="285638"/>
                </a:moveTo>
                <a:lnTo>
                  <a:pt x="236220" y="285638"/>
                </a:lnTo>
                <a:cubicBezTo>
                  <a:pt x="266205" y="285638"/>
                  <a:pt x="290513" y="261331"/>
                  <a:pt x="290513" y="231346"/>
                </a:cubicBezTo>
                <a:lnTo>
                  <a:pt x="290513" y="197144"/>
                </a:lnTo>
                <a:cubicBezTo>
                  <a:pt x="304476" y="191491"/>
                  <a:pt x="314325" y="177802"/>
                  <a:pt x="314325" y="161813"/>
                </a:cubicBezTo>
                <a:cubicBezTo>
                  <a:pt x="314325" y="140771"/>
                  <a:pt x="297268" y="123713"/>
                  <a:pt x="276225" y="123713"/>
                </a:cubicBezTo>
                <a:cubicBezTo>
                  <a:pt x="255182" y="123713"/>
                  <a:pt x="238125" y="140771"/>
                  <a:pt x="238125" y="161813"/>
                </a:cubicBezTo>
                <a:cubicBezTo>
                  <a:pt x="238125" y="177802"/>
                  <a:pt x="247974" y="191491"/>
                  <a:pt x="261938" y="197144"/>
                </a:cubicBezTo>
                <a:lnTo>
                  <a:pt x="261938" y="231346"/>
                </a:lnTo>
                <a:cubicBezTo>
                  <a:pt x="261938" y="245550"/>
                  <a:pt x="250424" y="257063"/>
                  <a:pt x="236220" y="257063"/>
                </a:cubicBezTo>
                <a:lnTo>
                  <a:pt x="204788" y="257063"/>
                </a:lnTo>
                <a:lnTo>
                  <a:pt x="204788" y="123847"/>
                </a:lnTo>
                <a:cubicBezTo>
                  <a:pt x="204788" y="123803"/>
                  <a:pt x="204788" y="123758"/>
                  <a:pt x="204788" y="123713"/>
                </a:cubicBezTo>
                <a:cubicBezTo>
                  <a:pt x="204788" y="123668"/>
                  <a:pt x="204788" y="123624"/>
                  <a:pt x="204788" y="123579"/>
                </a:cubicBezTo>
                <a:lnTo>
                  <a:pt x="204788" y="26890"/>
                </a:lnTo>
                <a:cubicBezTo>
                  <a:pt x="204788" y="13409"/>
                  <a:pt x="212461" y="0"/>
                  <a:pt x="225943" y="0"/>
                </a:cubicBezTo>
                <a:cubicBezTo>
                  <a:pt x="246539" y="0"/>
                  <a:pt x="267266" y="6824"/>
                  <a:pt x="283108" y="19158"/>
                </a:cubicBezTo>
                <a:cubicBezTo>
                  <a:pt x="295433" y="28753"/>
                  <a:pt x="305095" y="41980"/>
                  <a:pt x="308881" y="57979"/>
                </a:cubicBezTo>
                <a:cubicBezTo>
                  <a:pt x="316885" y="59302"/>
                  <a:pt x="323999" y="63382"/>
                  <a:pt x="329750" y="68779"/>
                </a:cubicBezTo>
                <a:cubicBezTo>
                  <a:pt x="338907" y="77373"/>
                  <a:pt x="345420" y="89790"/>
                  <a:pt x="349524" y="102569"/>
                </a:cubicBezTo>
                <a:cubicBezTo>
                  <a:pt x="353686" y="115541"/>
                  <a:pt x="355770" y="130123"/>
                  <a:pt x="355142" y="144121"/>
                </a:cubicBezTo>
                <a:cubicBezTo>
                  <a:pt x="354820" y="151287"/>
                  <a:pt x="353770" y="158590"/>
                  <a:pt x="351760" y="165583"/>
                </a:cubicBezTo>
                <a:cubicBezTo>
                  <a:pt x="352179" y="165764"/>
                  <a:pt x="352596" y="165953"/>
                  <a:pt x="353012" y="166147"/>
                </a:cubicBezTo>
                <a:cubicBezTo>
                  <a:pt x="360064" y="169473"/>
                  <a:pt x="365764" y="174680"/>
                  <a:pt x="370052" y="181589"/>
                </a:cubicBezTo>
                <a:cubicBezTo>
                  <a:pt x="378150" y="194633"/>
                  <a:pt x="381000" y="213427"/>
                  <a:pt x="381000" y="237371"/>
                </a:cubicBezTo>
                <a:cubicBezTo>
                  <a:pt x="381000" y="264889"/>
                  <a:pt x="370483" y="283575"/>
                  <a:pt x="356953" y="295181"/>
                </a:cubicBezTo>
                <a:cubicBezTo>
                  <a:pt x="349103" y="301915"/>
                  <a:pt x="340439" y="306089"/>
                  <a:pt x="332767" y="308317"/>
                </a:cubicBezTo>
                <a:cubicBezTo>
                  <a:pt x="330110" y="321511"/>
                  <a:pt x="323463" y="336380"/>
                  <a:pt x="313353" y="349029"/>
                </a:cubicBezTo>
                <a:cubicBezTo>
                  <a:pt x="299584" y="366256"/>
                  <a:pt x="278181" y="380814"/>
                  <a:pt x="249403" y="380814"/>
                </a:cubicBezTo>
                <a:cubicBezTo>
                  <a:pt x="238306" y="380814"/>
                  <a:pt x="228345" y="377859"/>
                  <a:pt x="219698" y="373432"/>
                </a:cubicBezTo>
                <a:cubicBezTo>
                  <a:pt x="209588" y="368256"/>
                  <a:pt x="204788" y="356962"/>
                  <a:pt x="204788" y="345606"/>
                </a:cubicBezTo>
                <a:lnTo>
                  <a:pt x="204788" y="285638"/>
                </a:lnTo>
                <a:close/>
                <a:moveTo>
                  <a:pt x="114300" y="123713"/>
                </a:moveTo>
                <a:cubicBezTo>
                  <a:pt x="114300" y="118453"/>
                  <a:pt x="118565" y="114188"/>
                  <a:pt x="123825" y="114188"/>
                </a:cubicBezTo>
                <a:cubicBezTo>
                  <a:pt x="129085" y="114188"/>
                  <a:pt x="133350" y="118453"/>
                  <a:pt x="133350" y="123713"/>
                </a:cubicBezTo>
                <a:cubicBezTo>
                  <a:pt x="133350" y="128974"/>
                  <a:pt x="129085" y="133238"/>
                  <a:pt x="123825" y="133238"/>
                </a:cubicBezTo>
                <a:cubicBezTo>
                  <a:pt x="118565" y="133238"/>
                  <a:pt x="114300" y="128974"/>
                  <a:pt x="114300" y="123713"/>
                </a:cubicBezTo>
                <a:close/>
                <a:moveTo>
                  <a:pt x="123825" y="247538"/>
                </a:moveTo>
                <a:cubicBezTo>
                  <a:pt x="118565" y="247538"/>
                  <a:pt x="114300" y="251804"/>
                  <a:pt x="114300" y="257063"/>
                </a:cubicBezTo>
                <a:cubicBezTo>
                  <a:pt x="114300" y="262323"/>
                  <a:pt x="118565" y="266588"/>
                  <a:pt x="123825" y="266588"/>
                </a:cubicBezTo>
                <a:cubicBezTo>
                  <a:pt x="129085" y="266588"/>
                  <a:pt x="133350" y="262323"/>
                  <a:pt x="133350" y="257063"/>
                </a:cubicBezTo>
                <a:cubicBezTo>
                  <a:pt x="133350" y="251804"/>
                  <a:pt x="129085" y="247538"/>
                  <a:pt x="123825" y="247538"/>
                </a:cubicBezTo>
                <a:close/>
                <a:moveTo>
                  <a:pt x="266700" y="161813"/>
                </a:moveTo>
                <a:cubicBezTo>
                  <a:pt x="266700" y="167073"/>
                  <a:pt x="270965" y="171338"/>
                  <a:pt x="276225" y="171338"/>
                </a:cubicBezTo>
                <a:cubicBezTo>
                  <a:pt x="281485" y="171338"/>
                  <a:pt x="285750" y="167073"/>
                  <a:pt x="285750" y="161813"/>
                </a:cubicBezTo>
                <a:cubicBezTo>
                  <a:pt x="285750" y="156554"/>
                  <a:pt x="281485" y="152288"/>
                  <a:pt x="276225" y="152288"/>
                </a:cubicBezTo>
                <a:cubicBezTo>
                  <a:pt x="270965" y="152288"/>
                  <a:pt x="266700" y="156554"/>
                  <a:pt x="266700" y="161813"/>
                </a:cubicBezTo>
                <a:close/>
              </a:path>
            </a:pathLst>
          </a:custGeom>
          <a:gradFill flip="none" rotWithShape="1">
            <a:gsLst>
              <a:gs pos="99000">
                <a:srgbClr val="319A89"/>
              </a:gs>
              <a:gs pos="0">
                <a:srgbClr val="0677CE"/>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5" name="Rectangle: Rounded Corners 36">
            <a:extLst>
              <a:ext uri="{FF2B5EF4-FFF2-40B4-BE49-F238E27FC236}">
                <a16:creationId xmlns:a16="http://schemas.microsoft.com/office/drawing/2014/main" id="{F29C6029-1A98-5325-09CE-74FA06DDA31C}"/>
              </a:ext>
              <a:ext uri="{C183D7F6-B498-43B3-948B-1728B52AA6E4}">
                <adec:decorative xmlns:adec="http://schemas.microsoft.com/office/drawing/2017/decorative" val="0"/>
              </a:ext>
            </a:extLst>
          </p:cNvPr>
          <p:cNvSpPr/>
          <p:nvPr/>
        </p:nvSpPr>
        <p:spPr>
          <a:xfrm>
            <a:off x="7213259" y="5085348"/>
            <a:ext cx="2417737" cy="1035201"/>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13" action="ppaction://hlinksldjump" tooltip="Lakehouse"/>
              </a:rPr>
              <a:t>Lakehouse</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171450" defTabSz="914321" fontAlgn="base">
              <a:lnSpc>
                <a:spcPct val="100000"/>
              </a:lnSpc>
              <a:spcBef>
                <a:spcPct val="0"/>
              </a:spcBef>
              <a:spcAft>
                <a:spcPts val="0"/>
              </a:spcAft>
              <a:buClrTx/>
              <a:buSzTx/>
              <a:buFont typeface="Arial" panose="020B0604020202020204" pitchFamily="34" charset="0"/>
              <a:buChar char="•"/>
              <a:tabLst/>
              <a:defRPr/>
            </a:pPr>
            <a:r>
              <a:rPr lang="en-US" sz="900" noProof="0" dirty="0">
                <a:solidFill>
                  <a:srgbClr val="000000"/>
                </a:solidFill>
                <a:latin typeface="Segoe Sans Display"/>
              </a:rPr>
              <a:t>Migrate Datawarehouse Bronze Medallion to Lakehouse (Fabric or Databricks)</a:t>
            </a:r>
          </a:p>
          <a:p>
            <a:pPr marL="401638" marR="0" lvl="0" indent="-171450" defTabSz="914321" fontAlgn="base">
              <a:lnSpc>
                <a:spcPct val="100000"/>
              </a:lnSpc>
              <a:spcBef>
                <a:spcPct val="0"/>
              </a:spcBef>
              <a:spcAft>
                <a:spcPts val="0"/>
              </a:spcAft>
              <a:buClrTx/>
              <a:buSzTx/>
              <a:buFont typeface="Arial" panose="020B0604020202020204" pitchFamily="34" charset="0"/>
              <a:buChar char="•"/>
              <a:tabLst/>
              <a:defRPr/>
            </a:pPr>
            <a:r>
              <a:rPr lang="en-US" sz="900" noProof="0" dirty="0">
                <a:solidFill>
                  <a:srgbClr val="000000"/>
                </a:solidFill>
                <a:latin typeface="Segoe Sans Display"/>
              </a:rPr>
              <a:t>Create first 3 use cases of Silver and Gold Medallion to Lakehouse</a:t>
            </a:r>
          </a:p>
        </p:txBody>
      </p:sp>
      <p:grpSp>
        <p:nvGrpSpPr>
          <p:cNvPr id="66" name="Graphic 55" descr="Database with solid fill">
            <a:extLst>
              <a:ext uri="{FF2B5EF4-FFF2-40B4-BE49-F238E27FC236}">
                <a16:creationId xmlns:a16="http://schemas.microsoft.com/office/drawing/2014/main" id="{AE3BE6B9-F792-F8E7-AA60-B63C2DC3E49A}"/>
              </a:ext>
            </a:extLst>
          </p:cNvPr>
          <p:cNvGrpSpPr/>
          <p:nvPr/>
        </p:nvGrpSpPr>
        <p:grpSpPr>
          <a:xfrm>
            <a:off x="7286872" y="5400427"/>
            <a:ext cx="226485" cy="347913"/>
            <a:chOff x="7848825" y="5618558"/>
            <a:chExt cx="186690" cy="253365"/>
          </a:xfrm>
          <a:solidFill>
            <a:srgbClr val="000000"/>
          </a:solidFill>
        </p:grpSpPr>
        <p:sp>
          <p:nvSpPr>
            <p:cNvPr id="67" name="Oval 66">
              <a:extLst>
                <a:ext uri="{FF2B5EF4-FFF2-40B4-BE49-F238E27FC236}">
                  <a16:creationId xmlns:a16="http://schemas.microsoft.com/office/drawing/2014/main" id="{CB084B29-5B92-877D-1C79-5E9A823B1E2D}"/>
                </a:ext>
              </a:extLst>
            </p:cNvPr>
            <p:cNvSpPr/>
            <p:nvPr/>
          </p:nvSpPr>
          <p:spPr>
            <a:xfrm>
              <a:off x="7848825" y="5618558"/>
              <a:ext cx="186690" cy="53340"/>
            </a:xfrm>
            <a:prstGeom prst="ellipse">
              <a:avLst/>
            </a:prstGeom>
            <a:solidFill>
              <a:srgbClr val="0677CE"/>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68" name="Freeform: Shape 67">
              <a:extLst>
                <a:ext uri="{FF2B5EF4-FFF2-40B4-BE49-F238E27FC236}">
                  <a16:creationId xmlns:a16="http://schemas.microsoft.com/office/drawing/2014/main" id="{275DD55A-0FD7-AEA2-CDDD-C280B443DF34}"/>
                </a:ext>
              </a:extLst>
            </p:cNvPr>
            <p:cNvSpPr/>
            <p:nvPr/>
          </p:nvSpPr>
          <p:spPr>
            <a:xfrm>
              <a:off x="7848825" y="5658563"/>
              <a:ext cx="186690" cy="80010"/>
            </a:xfrm>
            <a:custGeom>
              <a:avLst/>
              <a:gdLst>
                <a:gd name="csX0" fmla="*/ 160020 w 186690"/>
                <a:gd name="csY0" fmla="*/ 53340 h 80010"/>
                <a:gd name="csX1" fmla="*/ 153353 w 186690"/>
                <a:gd name="csY1" fmla="*/ 46673 h 80010"/>
                <a:gd name="csX2" fmla="*/ 160020 w 186690"/>
                <a:gd name="csY2" fmla="*/ 40005 h 80010"/>
                <a:gd name="csX3" fmla="*/ 166688 w 186690"/>
                <a:gd name="csY3" fmla="*/ 46673 h 80010"/>
                <a:gd name="csX4" fmla="*/ 160020 w 186690"/>
                <a:gd name="csY4" fmla="*/ 53340 h 80010"/>
                <a:gd name="csX5" fmla="*/ 93345 w 186690"/>
                <a:gd name="csY5" fmla="*/ 26670 h 80010"/>
                <a:gd name="csX6" fmla="*/ 0 w 186690"/>
                <a:gd name="csY6" fmla="*/ 0 h 80010"/>
                <a:gd name="csX7" fmla="*/ 0 w 186690"/>
                <a:gd name="csY7" fmla="*/ 53340 h 80010"/>
                <a:gd name="csX8" fmla="*/ 93345 w 186690"/>
                <a:gd name="csY8" fmla="*/ 80010 h 80010"/>
                <a:gd name="csX9" fmla="*/ 186690 w 186690"/>
                <a:gd name="csY9" fmla="*/ 53340 h 80010"/>
                <a:gd name="csX10" fmla="*/ 186690 w 186690"/>
                <a:gd name="csY10" fmla="*/ 0 h 80010"/>
                <a:gd name="csX11" fmla="*/ 93345 w 186690"/>
                <a:gd name="csY11" fmla="*/ 26670 h 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6690" h="80010">
                  <a:moveTo>
                    <a:pt x="160020" y="53340"/>
                  </a:moveTo>
                  <a:cubicBezTo>
                    <a:pt x="156020" y="53340"/>
                    <a:pt x="153353" y="50673"/>
                    <a:pt x="153353" y="46673"/>
                  </a:cubicBezTo>
                  <a:cubicBezTo>
                    <a:pt x="153353" y="42672"/>
                    <a:pt x="156020" y="40005"/>
                    <a:pt x="160020" y="40005"/>
                  </a:cubicBezTo>
                  <a:cubicBezTo>
                    <a:pt x="164020" y="40005"/>
                    <a:pt x="166688" y="42672"/>
                    <a:pt x="166688" y="46673"/>
                  </a:cubicBezTo>
                  <a:cubicBezTo>
                    <a:pt x="166688" y="50673"/>
                    <a:pt x="164020" y="53340"/>
                    <a:pt x="160020" y="53340"/>
                  </a:cubicBezTo>
                  <a:close/>
                  <a:moveTo>
                    <a:pt x="93345" y="26670"/>
                  </a:moveTo>
                  <a:cubicBezTo>
                    <a:pt x="42005" y="26670"/>
                    <a:pt x="0" y="14668"/>
                    <a:pt x="0" y="0"/>
                  </a:cubicBezTo>
                  <a:lnTo>
                    <a:pt x="0" y="53340"/>
                  </a:lnTo>
                  <a:cubicBezTo>
                    <a:pt x="0" y="68009"/>
                    <a:pt x="42005" y="80010"/>
                    <a:pt x="93345" y="80010"/>
                  </a:cubicBezTo>
                  <a:cubicBezTo>
                    <a:pt x="144685" y="80010"/>
                    <a:pt x="186690" y="68009"/>
                    <a:pt x="186690" y="53340"/>
                  </a:cubicBezTo>
                  <a:lnTo>
                    <a:pt x="186690" y="0"/>
                  </a:lnTo>
                  <a:cubicBezTo>
                    <a:pt x="186690" y="14668"/>
                    <a:pt x="144685" y="26670"/>
                    <a:pt x="93345" y="26670"/>
                  </a:cubicBezTo>
                  <a:close/>
                </a:path>
              </a:pathLst>
            </a:cu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69" name="Freeform: Shape 68">
              <a:extLst>
                <a:ext uri="{FF2B5EF4-FFF2-40B4-BE49-F238E27FC236}">
                  <a16:creationId xmlns:a16="http://schemas.microsoft.com/office/drawing/2014/main" id="{C77246B1-C873-6A59-8EE0-6EC8DD050F48}"/>
                </a:ext>
              </a:extLst>
            </p:cNvPr>
            <p:cNvSpPr/>
            <p:nvPr/>
          </p:nvSpPr>
          <p:spPr>
            <a:xfrm>
              <a:off x="7848825" y="5725238"/>
              <a:ext cx="186690" cy="80010"/>
            </a:xfrm>
            <a:custGeom>
              <a:avLst/>
              <a:gdLst>
                <a:gd name="csX0" fmla="*/ 160020 w 186690"/>
                <a:gd name="csY0" fmla="*/ 53340 h 80010"/>
                <a:gd name="csX1" fmla="*/ 153353 w 186690"/>
                <a:gd name="csY1" fmla="*/ 46673 h 80010"/>
                <a:gd name="csX2" fmla="*/ 160020 w 186690"/>
                <a:gd name="csY2" fmla="*/ 40005 h 80010"/>
                <a:gd name="csX3" fmla="*/ 166688 w 186690"/>
                <a:gd name="csY3" fmla="*/ 46673 h 80010"/>
                <a:gd name="csX4" fmla="*/ 160020 w 186690"/>
                <a:gd name="csY4" fmla="*/ 53340 h 80010"/>
                <a:gd name="csX5" fmla="*/ 93345 w 186690"/>
                <a:gd name="csY5" fmla="*/ 26670 h 80010"/>
                <a:gd name="csX6" fmla="*/ 0 w 186690"/>
                <a:gd name="csY6" fmla="*/ 0 h 80010"/>
                <a:gd name="csX7" fmla="*/ 0 w 186690"/>
                <a:gd name="csY7" fmla="*/ 53340 h 80010"/>
                <a:gd name="csX8" fmla="*/ 93345 w 186690"/>
                <a:gd name="csY8" fmla="*/ 80010 h 80010"/>
                <a:gd name="csX9" fmla="*/ 186690 w 186690"/>
                <a:gd name="csY9" fmla="*/ 53340 h 80010"/>
                <a:gd name="csX10" fmla="*/ 186690 w 186690"/>
                <a:gd name="csY10" fmla="*/ 0 h 80010"/>
                <a:gd name="csX11" fmla="*/ 93345 w 186690"/>
                <a:gd name="csY11" fmla="*/ 26670 h 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6690" h="80010">
                  <a:moveTo>
                    <a:pt x="160020" y="53340"/>
                  </a:moveTo>
                  <a:cubicBezTo>
                    <a:pt x="156020" y="53340"/>
                    <a:pt x="153353" y="50673"/>
                    <a:pt x="153353" y="46673"/>
                  </a:cubicBezTo>
                  <a:cubicBezTo>
                    <a:pt x="153353" y="42672"/>
                    <a:pt x="156020" y="40005"/>
                    <a:pt x="160020" y="40005"/>
                  </a:cubicBezTo>
                  <a:cubicBezTo>
                    <a:pt x="164020" y="40005"/>
                    <a:pt x="166688" y="42672"/>
                    <a:pt x="166688" y="46673"/>
                  </a:cubicBezTo>
                  <a:cubicBezTo>
                    <a:pt x="166688" y="50673"/>
                    <a:pt x="164020" y="53340"/>
                    <a:pt x="160020" y="53340"/>
                  </a:cubicBezTo>
                  <a:close/>
                  <a:moveTo>
                    <a:pt x="93345" y="26670"/>
                  </a:moveTo>
                  <a:cubicBezTo>
                    <a:pt x="42005" y="26670"/>
                    <a:pt x="0" y="14669"/>
                    <a:pt x="0" y="0"/>
                  </a:cubicBezTo>
                  <a:lnTo>
                    <a:pt x="0" y="53340"/>
                  </a:lnTo>
                  <a:cubicBezTo>
                    <a:pt x="0" y="68009"/>
                    <a:pt x="42005" y="80010"/>
                    <a:pt x="93345" y="80010"/>
                  </a:cubicBezTo>
                  <a:cubicBezTo>
                    <a:pt x="144685" y="80010"/>
                    <a:pt x="186690" y="68009"/>
                    <a:pt x="186690" y="53340"/>
                  </a:cubicBezTo>
                  <a:lnTo>
                    <a:pt x="186690" y="0"/>
                  </a:lnTo>
                  <a:cubicBezTo>
                    <a:pt x="186690" y="14669"/>
                    <a:pt x="144685" y="26670"/>
                    <a:pt x="93345" y="26670"/>
                  </a:cubicBezTo>
                  <a:close/>
                </a:path>
              </a:pathLst>
            </a:cu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70" name="Freeform: Shape 69">
              <a:extLst>
                <a:ext uri="{FF2B5EF4-FFF2-40B4-BE49-F238E27FC236}">
                  <a16:creationId xmlns:a16="http://schemas.microsoft.com/office/drawing/2014/main" id="{7CEB6967-CC2E-248A-D718-CC266909D8C1}"/>
                </a:ext>
              </a:extLst>
            </p:cNvPr>
            <p:cNvSpPr/>
            <p:nvPr/>
          </p:nvSpPr>
          <p:spPr>
            <a:xfrm>
              <a:off x="7848825" y="5791913"/>
              <a:ext cx="186690" cy="80010"/>
            </a:xfrm>
            <a:custGeom>
              <a:avLst/>
              <a:gdLst>
                <a:gd name="csX0" fmla="*/ 160020 w 186690"/>
                <a:gd name="csY0" fmla="*/ 53340 h 80010"/>
                <a:gd name="csX1" fmla="*/ 153353 w 186690"/>
                <a:gd name="csY1" fmla="*/ 46673 h 80010"/>
                <a:gd name="csX2" fmla="*/ 160020 w 186690"/>
                <a:gd name="csY2" fmla="*/ 40005 h 80010"/>
                <a:gd name="csX3" fmla="*/ 166688 w 186690"/>
                <a:gd name="csY3" fmla="*/ 46673 h 80010"/>
                <a:gd name="csX4" fmla="*/ 160020 w 186690"/>
                <a:gd name="csY4" fmla="*/ 53340 h 80010"/>
                <a:gd name="csX5" fmla="*/ 93345 w 186690"/>
                <a:gd name="csY5" fmla="*/ 26670 h 80010"/>
                <a:gd name="csX6" fmla="*/ 0 w 186690"/>
                <a:gd name="csY6" fmla="*/ 0 h 80010"/>
                <a:gd name="csX7" fmla="*/ 0 w 186690"/>
                <a:gd name="csY7" fmla="*/ 53340 h 80010"/>
                <a:gd name="csX8" fmla="*/ 93345 w 186690"/>
                <a:gd name="csY8" fmla="*/ 80010 h 80010"/>
                <a:gd name="csX9" fmla="*/ 186690 w 186690"/>
                <a:gd name="csY9" fmla="*/ 53340 h 80010"/>
                <a:gd name="csX10" fmla="*/ 186690 w 186690"/>
                <a:gd name="csY10" fmla="*/ 0 h 80010"/>
                <a:gd name="csX11" fmla="*/ 93345 w 186690"/>
                <a:gd name="csY11" fmla="*/ 26670 h 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6690" h="80010">
                  <a:moveTo>
                    <a:pt x="160020" y="53340"/>
                  </a:moveTo>
                  <a:cubicBezTo>
                    <a:pt x="156020" y="53340"/>
                    <a:pt x="153353" y="50673"/>
                    <a:pt x="153353" y="46673"/>
                  </a:cubicBezTo>
                  <a:cubicBezTo>
                    <a:pt x="153353" y="42672"/>
                    <a:pt x="156020" y="40005"/>
                    <a:pt x="160020" y="40005"/>
                  </a:cubicBezTo>
                  <a:cubicBezTo>
                    <a:pt x="164020" y="40005"/>
                    <a:pt x="166688" y="42672"/>
                    <a:pt x="166688" y="46673"/>
                  </a:cubicBezTo>
                  <a:cubicBezTo>
                    <a:pt x="166688" y="50673"/>
                    <a:pt x="164020" y="53340"/>
                    <a:pt x="160020" y="53340"/>
                  </a:cubicBezTo>
                  <a:close/>
                  <a:moveTo>
                    <a:pt x="93345" y="26670"/>
                  </a:moveTo>
                  <a:cubicBezTo>
                    <a:pt x="42005" y="26670"/>
                    <a:pt x="0" y="14669"/>
                    <a:pt x="0" y="0"/>
                  </a:cubicBezTo>
                  <a:lnTo>
                    <a:pt x="0" y="53340"/>
                  </a:lnTo>
                  <a:cubicBezTo>
                    <a:pt x="0" y="68009"/>
                    <a:pt x="42005" y="80010"/>
                    <a:pt x="93345" y="80010"/>
                  </a:cubicBezTo>
                  <a:cubicBezTo>
                    <a:pt x="144685" y="80010"/>
                    <a:pt x="186690" y="68009"/>
                    <a:pt x="186690" y="53340"/>
                  </a:cubicBezTo>
                  <a:lnTo>
                    <a:pt x="186690" y="0"/>
                  </a:lnTo>
                  <a:cubicBezTo>
                    <a:pt x="186690" y="14669"/>
                    <a:pt x="144685" y="26670"/>
                    <a:pt x="93345" y="26670"/>
                  </a:cubicBezTo>
                  <a:close/>
                </a:path>
              </a:pathLst>
            </a:cu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sp>
        <p:nvSpPr>
          <p:cNvPr id="72" name="Rectangle: Rounded Corners 36">
            <a:extLst>
              <a:ext uri="{FF2B5EF4-FFF2-40B4-BE49-F238E27FC236}">
                <a16:creationId xmlns:a16="http://schemas.microsoft.com/office/drawing/2014/main" id="{EE85C0BC-F8BD-ABF6-B5C9-9D47E82E52B6}"/>
              </a:ext>
              <a:ext uri="{C183D7F6-B498-43B3-948B-1728B52AA6E4}">
                <adec:decorative xmlns:adec="http://schemas.microsoft.com/office/drawing/2017/decorative" val="0"/>
              </a:ext>
            </a:extLst>
          </p:cNvPr>
          <p:cNvSpPr/>
          <p:nvPr/>
        </p:nvSpPr>
        <p:spPr>
          <a:xfrm>
            <a:off x="9707887" y="5085348"/>
            <a:ext cx="2320519" cy="1035201"/>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14" action="ppaction://hlinksldjump" tooltip="Real-Time Intelligence "/>
              </a:rPr>
              <a:t>Real-Time Intelligence </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0" algn="l" defTabSz="914344" rtl="0" eaLnBrk="1" fontAlgn="base" latinLnBrk="0" hangingPunct="1">
              <a:lnSpc>
                <a:spcPct val="100000"/>
              </a:lnSpc>
              <a:spcBef>
                <a:spcPct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Repeatable, low-to-no code analytics platform for real-time intelligence</a:t>
            </a:r>
          </a:p>
        </p:txBody>
      </p:sp>
      <p:grpSp>
        <p:nvGrpSpPr>
          <p:cNvPr id="73" name="Graphic 57" descr="Artificial Intelligence outline">
            <a:extLst>
              <a:ext uri="{FF2B5EF4-FFF2-40B4-BE49-F238E27FC236}">
                <a16:creationId xmlns:a16="http://schemas.microsoft.com/office/drawing/2014/main" id="{CD30D647-41C1-199B-4C30-984156608227}"/>
              </a:ext>
            </a:extLst>
          </p:cNvPr>
          <p:cNvGrpSpPr/>
          <p:nvPr/>
        </p:nvGrpSpPr>
        <p:grpSpPr>
          <a:xfrm>
            <a:off x="9753904" y="5401688"/>
            <a:ext cx="362595" cy="391636"/>
            <a:chOff x="9925093" y="5580626"/>
            <a:chExt cx="274930" cy="298157"/>
          </a:xfrm>
          <a:solidFill>
            <a:srgbClr val="000000"/>
          </a:solidFill>
        </p:grpSpPr>
        <p:sp>
          <p:nvSpPr>
            <p:cNvPr id="74" name="Freeform: Shape 73">
              <a:extLst>
                <a:ext uri="{FF2B5EF4-FFF2-40B4-BE49-F238E27FC236}">
                  <a16:creationId xmlns:a16="http://schemas.microsoft.com/office/drawing/2014/main" id="{A19234FE-29C7-AC90-BF84-A87F7C4B9D70}"/>
                </a:ext>
              </a:extLst>
            </p:cNvPr>
            <p:cNvSpPr/>
            <p:nvPr/>
          </p:nvSpPr>
          <p:spPr>
            <a:xfrm>
              <a:off x="9948270" y="5632817"/>
              <a:ext cx="53634" cy="73968"/>
            </a:xfrm>
            <a:custGeom>
              <a:avLst/>
              <a:gdLst>
                <a:gd name="csX0" fmla="*/ 39483 w 53634"/>
                <a:gd name="csY0" fmla="*/ 56252 h 73968"/>
                <a:gd name="csX1" fmla="*/ 34263 w 53634"/>
                <a:gd name="csY1" fmla="*/ 68420 h 73968"/>
                <a:gd name="csX2" fmla="*/ 47568 w 53634"/>
                <a:gd name="csY2" fmla="*/ 73195 h 73968"/>
                <a:gd name="csX3" fmla="*/ 52788 w 53634"/>
                <a:gd name="csY3" fmla="*/ 61026 h 73968"/>
                <a:gd name="csX4" fmla="*/ 47568 w 53634"/>
                <a:gd name="csY4" fmla="*/ 56252 h 73968"/>
                <a:gd name="csX5" fmla="*/ 47568 w 53634"/>
                <a:gd name="csY5" fmla="*/ 31470 h 73968"/>
                <a:gd name="csX6" fmla="*/ 31398 w 53634"/>
                <a:gd name="csY6" fmla="*/ 31470 h 73968"/>
                <a:gd name="csX7" fmla="*/ 31398 w 53634"/>
                <a:gd name="csY7" fmla="*/ 17717 h 73968"/>
                <a:gd name="csX8" fmla="*/ 36618 w 53634"/>
                <a:gd name="csY8" fmla="*/ 5548 h 73968"/>
                <a:gd name="csX9" fmla="*/ 23313 w 53634"/>
                <a:gd name="csY9" fmla="*/ 774 h 73968"/>
                <a:gd name="csX10" fmla="*/ 18093 w 53634"/>
                <a:gd name="csY10" fmla="*/ 12942 h 73968"/>
                <a:gd name="csX11" fmla="*/ 23313 w 53634"/>
                <a:gd name="csY11" fmla="*/ 17717 h 73968"/>
                <a:gd name="csX12" fmla="*/ 23313 w 53634"/>
                <a:gd name="csY12" fmla="*/ 31466 h 73968"/>
                <a:gd name="csX13" fmla="*/ 2365 w 53634"/>
                <a:gd name="csY13" fmla="*/ 31440 h 73968"/>
                <a:gd name="csX14" fmla="*/ 404 w 53634"/>
                <a:gd name="csY14" fmla="*/ 37478 h 73968"/>
                <a:gd name="csX15" fmla="*/ 0 w 53634"/>
                <a:gd name="csY15" fmla="*/ 38835 h 73968"/>
                <a:gd name="csX16" fmla="*/ 39483 w 53634"/>
                <a:gd name="csY16" fmla="*/ 38868 h 73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3634" h="73968">
                  <a:moveTo>
                    <a:pt x="39483" y="56252"/>
                  </a:moveTo>
                  <a:cubicBezTo>
                    <a:pt x="34368" y="58294"/>
                    <a:pt x="32030" y="63742"/>
                    <a:pt x="34263" y="68420"/>
                  </a:cubicBezTo>
                  <a:cubicBezTo>
                    <a:pt x="36496" y="73099"/>
                    <a:pt x="42453" y="75237"/>
                    <a:pt x="47568" y="73195"/>
                  </a:cubicBezTo>
                  <a:cubicBezTo>
                    <a:pt x="52683" y="71153"/>
                    <a:pt x="55021" y="65705"/>
                    <a:pt x="52788" y="61026"/>
                  </a:cubicBezTo>
                  <a:cubicBezTo>
                    <a:pt x="51769" y="58890"/>
                    <a:pt x="49904" y="57184"/>
                    <a:pt x="47568" y="56252"/>
                  </a:cubicBezTo>
                  <a:lnTo>
                    <a:pt x="47568" y="31470"/>
                  </a:lnTo>
                  <a:lnTo>
                    <a:pt x="31398" y="31470"/>
                  </a:lnTo>
                  <a:lnTo>
                    <a:pt x="31398" y="17717"/>
                  </a:lnTo>
                  <a:cubicBezTo>
                    <a:pt x="36513" y="15675"/>
                    <a:pt x="38851" y="10227"/>
                    <a:pt x="36618" y="5548"/>
                  </a:cubicBezTo>
                  <a:cubicBezTo>
                    <a:pt x="34385" y="870"/>
                    <a:pt x="28428" y="-1268"/>
                    <a:pt x="23313" y="774"/>
                  </a:cubicBezTo>
                  <a:cubicBezTo>
                    <a:pt x="18198" y="2816"/>
                    <a:pt x="15860" y="8264"/>
                    <a:pt x="18093" y="12942"/>
                  </a:cubicBezTo>
                  <a:cubicBezTo>
                    <a:pt x="19112" y="15079"/>
                    <a:pt x="20977" y="16784"/>
                    <a:pt x="23313" y="17717"/>
                  </a:cubicBezTo>
                  <a:lnTo>
                    <a:pt x="23313" y="31466"/>
                  </a:lnTo>
                  <a:lnTo>
                    <a:pt x="2365" y="31440"/>
                  </a:lnTo>
                  <a:cubicBezTo>
                    <a:pt x="1589" y="33418"/>
                    <a:pt x="1011" y="35396"/>
                    <a:pt x="404" y="37478"/>
                  </a:cubicBezTo>
                  <a:cubicBezTo>
                    <a:pt x="275" y="37929"/>
                    <a:pt x="137" y="38384"/>
                    <a:pt x="0" y="38835"/>
                  </a:cubicBezTo>
                  <a:lnTo>
                    <a:pt x="39483" y="38868"/>
                  </a:lnTo>
                  <a:close/>
                </a:path>
              </a:pathLst>
            </a:custGeom>
            <a:solidFill>
              <a:srgbClr val="319A89"/>
            </a:solidFill>
            <a:ln w="3969" cap="flat">
              <a:solidFill>
                <a:srgbClr val="319A8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75" name="Freeform: Shape 74">
              <a:extLst>
                <a:ext uri="{FF2B5EF4-FFF2-40B4-BE49-F238E27FC236}">
                  <a16:creationId xmlns:a16="http://schemas.microsoft.com/office/drawing/2014/main" id="{06866BF9-5278-C5A8-DA23-0F16FEFA43F9}"/>
                </a:ext>
              </a:extLst>
            </p:cNvPr>
            <p:cNvSpPr/>
            <p:nvPr/>
          </p:nvSpPr>
          <p:spPr>
            <a:xfrm>
              <a:off x="9925093" y="5580626"/>
              <a:ext cx="274930" cy="298157"/>
            </a:xfrm>
            <a:custGeom>
              <a:avLst/>
              <a:gdLst>
                <a:gd name="csX0" fmla="*/ 270848 w 274930"/>
                <a:gd name="csY0" fmla="*/ 161322 h 298157"/>
                <a:gd name="csX1" fmla="*/ 242955 w 274930"/>
                <a:gd name="csY1" fmla="*/ 116956 h 298157"/>
                <a:gd name="csX2" fmla="*/ 242955 w 274930"/>
                <a:gd name="csY2" fmla="*/ 115107 h 298157"/>
                <a:gd name="csX3" fmla="*/ 125784 w 274930"/>
                <a:gd name="csY3" fmla="*/ 76 h 298157"/>
                <a:gd name="csX4" fmla="*/ 125722 w 274930"/>
                <a:gd name="csY4" fmla="*/ 74 h 298157"/>
                <a:gd name="csX5" fmla="*/ 121231 w 274930"/>
                <a:gd name="csY5" fmla="*/ 0 h 298157"/>
                <a:gd name="csX6" fmla="*/ 1 w 274930"/>
                <a:gd name="csY6" fmla="*/ 106959 h 298157"/>
                <a:gd name="csX7" fmla="*/ 1 w 274930"/>
                <a:gd name="csY7" fmla="*/ 115093 h 298157"/>
                <a:gd name="csX8" fmla="*/ 47702 w 274930"/>
                <a:gd name="csY8" fmla="*/ 204593 h 298157"/>
                <a:gd name="csX9" fmla="*/ 47702 w 274930"/>
                <a:gd name="csY9" fmla="*/ 298157 h 298157"/>
                <a:gd name="csX10" fmla="*/ 175445 w 274930"/>
                <a:gd name="csY10" fmla="*/ 298157 h 298157"/>
                <a:gd name="csX11" fmla="*/ 175445 w 274930"/>
                <a:gd name="csY11" fmla="*/ 253791 h 298157"/>
                <a:gd name="csX12" fmla="*/ 195253 w 274930"/>
                <a:gd name="csY12" fmla="*/ 253791 h 298157"/>
                <a:gd name="csX13" fmla="*/ 242955 w 274930"/>
                <a:gd name="csY13" fmla="*/ 210165 h 298157"/>
                <a:gd name="csX14" fmla="*/ 242955 w 274930"/>
                <a:gd name="csY14" fmla="*/ 187243 h 298157"/>
                <a:gd name="csX15" fmla="*/ 260742 w 274930"/>
                <a:gd name="csY15" fmla="*/ 187243 h 298157"/>
                <a:gd name="csX16" fmla="*/ 270848 w 274930"/>
                <a:gd name="csY16" fmla="*/ 161322 h 298157"/>
                <a:gd name="csX17" fmla="*/ 266110 w 274930"/>
                <a:gd name="csY17" fmla="*/ 175741 h 298157"/>
                <a:gd name="csX18" fmla="*/ 260192 w 274930"/>
                <a:gd name="csY18" fmla="*/ 179808 h 298157"/>
                <a:gd name="csX19" fmla="*/ 234870 w 274930"/>
                <a:gd name="csY19" fmla="*/ 179808 h 298157"/>
                <a:gd name="csX20" fmla="*/ 234870 w 274930"/>
                <a:gd name="csY20" fmla="*/ 210124 h 298157"/>
                <a:gd name="csX21" fmla="*/ 195253 w 274930"/>
                <a:gd name="csY21" fmla="*/ 246356 h 298157"/>
                <a:gd name="csX22" fmla="*/ 167360 w 274930"/>
                <a:gd name="csY22" fmla="*/ 246356 h 298157"/>
                <a:gd name="csX23" fmla="*/ 167360 w 274930"/>
                <a:gd name="csY23" fmla="*/ 290722 h 298157"/>
                <a:gd name="csX24" fmla="*/ 55787 w 274930"/>
                <a:gd name="csY24" fmla="*/ 290722 h 298157"/>
                <a:gd name="csX25" fmla="*/ 55787 w 274930"/>
                <a:gd name="csY25" fmla="*/ 200963 h 298157"/>
                <a:gd name="csX26" fmla="*/ 52650 w 274930"/>
                <a:gd name="csY26" fmla="*/ 198744 h 298157"/>
                <a:gd name="csX27" fmla="*/ 8086 w 274930"/>
                <a:gd name="csY27" fmla="*/ 115096 h 298157"/>
                <a:gd name="csX28" fmla="*/ 8086 w 274930"/>
                <a:gd name="csY28" fmla="*/ 107096 h 298157"/>
                <a:gd name="csX29" fmla="*/ 121239 w 274930"/>
                <a:gd name="csY29" fmla="*/ 7402 h 298157"/>
                <a:gd name="csX30" fmla="*/ 125439 w 274930"/>
                <a:gd name="csY30" fmla="*/ 7472 h 298157"/>
                <a:gd name="csX31" fmla="*/ 234890 w 274930"/>
                <a:gd name="csY31" fmla="*/ 114830 h 298157"/>
                <a:gd name="csX32" fmla="*/ 234890 w 274930"/>
                <a:gd name="csY32" fmla="*/ 118919 h 298157"/>
                <a:gd name="csX33" fmla="*/ 235965 w 274930"/>
                <a:gd name="csY33" fmla="*/ 120631 h 298157"/>
                <a:gd name="csX34" fmla="*/ 263858 w 274930"/>
                <a:gd name="csY34" fmla="*/ 164997 h 298157"/>
                <a:gd name="csX35" fmla="*/ 263968 w 274930"/>
                <a:gd name="csY35" fmla="*/ 165167 h 298157"/>
                <a:gd name="csX36" fmla="*/ 264085 w 274930"/>
                <a:gd name="csY36" fmla="*/ 165333 h 298157"/>
                <a:gd name="csX37" fmla="*/ 266126 w 274930"/>
                <a:gd name="csY37" fmla="*/ 175737 h 2981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74930" h="298157">
                  <a:moveTo>
                    <a:pt x="270848" y="161322"/>
                  </a:moveTo>
                  <a:lnTo>
                    <a:pt x="242955" y="116956"/>
                  </a:lnTo>
                  <a:lnTo>
                    <a:pt x="242955" y="115107"/>
                  </a:lnTo>
                  <a:cubicBezTo>
                    <a:pt x="245331" y="53750"/>
                    <a:pt x="192871" y="2249"/>
                    <a:pt x="125784" y="76"/>
                  </a:cubicBezTo>
                  <a:cubicBezTo>
                    <a:pt x="125763" y="75"/>
                    <a:pt x="125743" y="75"/>
                    <a:pt x="125722" y="74"/>
                  </a:cubicBezTo>
                  <a:cubicBezTo>
                    <a:pt x="124219" y="27"/>
                    <a:pt x="122722" y="3"/>
                    <a:pt x="121231" y="0"/>
                  </a:cubicBezTo>
                  <a:cubicBezTo>
                    <a:pt x="55908" y="-53"/>
                    <a:pt x="2291" y="47252"/>
                    <a:pt x="1" y="106959"/>
                  </a:cubicBezTo>
                  <a:lnTo>
                    <a:pt x="1" y="115093"/>
                  </a:lnTo>
                  <a:cubicBezTo>
                    <a:pt x="-157" y="150082"/>
                    <a:pt x="17469" y="183152"/>
                    <a:pt x="47702" y="204593"/>
                  </a:cubicBezTo>
                  <a:lnTo>
                    <a:pt x="47702" y="298157"/>
                  </a:lnTo>
                  <a:lnTo>
                    <a:pt x="175445" y="298157"/>
                  </a:lnTo>
                  <a:lnTo>
                    <a:pt x="175445" y="253791"/>
                  </a:lnTo>
                  <a:lnTo>
                    <a:pt x="195253" y="253791"/>
                  </a:lnTo>
                  <a:cubicBezTo>
                    <a:pt x="221576" y="253743"/>
                    <a:pt x="242901" y="234239"/>
                    <a:pt x="242955" y="210165"/>
                  </a:cubicBezTo>
                  <a:lnTo>
                    <a:pt x="242955" y="187243"/>
                  </a:lnTo>
                  <a:lnTo>
                    <a:pt x="260742" y="187243"/>
                  </a:lnTo>
                  <a:cubicBezTo>
                    <a:pt x="271252" y="186100"/>
                    <a:pt x="280550" y="175005"/>
                    <a:pt x="270848" y="161322"/>
                  </a:cubicBezTo>
                  <a:close/>
                  <a:moveTo>
                    <a:pt x="266110" y="175741"/>
                  </a:moveTo>
                  <a:cubicBezTo>
                    <a:pt x="264965" y="177886"/>
                    <a:pt x="262764" y="179399"/>
                    <a:pt x="260192" y="179808"/>
                  </a:cubicBezTo>
                  <a:lnTo>
                    <a:pt x="234870" y="179808"/>
                  </a:lnTo>
                  <a:lnTo>
                    <a:pt x="234870" y="210124"/>
                  </a:lnTo>
                  <a:cubicBezTo>
                    <a:pt x="234839" y="230123"/>
                    <a:pt x="217120" y="246328"/>
                    <a:pt x="195253" y="246356"/>
                  </a:cubicBezTo>
                  <a:lnTo>
                    <a:pt x="167360" y="246356"/>
                  </a:lnTo>
                  <a:lnTo>
                    <a:pt x="167360" y="290722"/>
                  </a:lnTo>
                  <a:lnTo>
                    <a:pt x="55787" y="290722"/>
                  </a:lnTo>
                  <a:lnTo>
                    <a:pt x="55787" y="200963"/>
                  </a:lnTo>
                  <a:lnTo>
                    <a:pt x="52650" y="198744"/>
                  </a:lnTo>
                  <a:cubicBezTo>
                    <a:pt x="24347" y="178742"/>
                    <a:pt x="7868" y="147809"/>
                    <a:pt x="8086" y="115096"/>
                  </a:cubicBezTo>
                  <a:lnTo>
                    <a:pt x="8086" y="107096"/>
                  </a:lnTo>
                  <a:cubicBezTo>
                    <a:pt x="10157" y="51362"/>
                    <a:pt x="60265" y="7214"/>
                    <a:pt x="121239" y="7402"/>
                  </a:cubicBezTo>
                  <a:cubicBezTo>
                    <a:pt x="122633" y="7402"/>
                    <a:pt x="124033" y="7425"/>
                    <a:pt x="125439" y="7472"/>
                  </a:cubicBezTo>
                  <a:cubicBezTo>
                    <a:pt x="188046" y="9541"/>
                    <a:pt x="237008" y="57567"/>
                    <a:pt x="234890" y="114830"/>
                  </a:cubicBezTo>
                  <a:lnTo>
                    <a:pt x="234890" y="118919"/>
                  </a:lnTo>
                  <a:lnTo>
                    <a:pt x="235965" y="120631"/>
                  </a:lnTo>
                  <a:lnTo>
                    <a:pt x="263858" y="164997"/>
                  </a:lnTo>
                  <a:lnTo>
                    <a:pt x="263968" y="165167"/>
                  </a:lnTo>
                  <a:lnTo>
                    <a:pt x="264085" y="165333"/>
                  </a:lnTo>
                  <a:cubicBezTo>
                    <a:pt x="266712" y="168234"/>
                    <a:pt x="267486" y="172181"/>
                    <a:pt x="266126" y="175737"/>
                  </a:cubicBezTo>
                  <a:close/>
                </a:path>
              </a:pathLst>
            </a:custGeom>
            <a:solidFill>
              <a:srgbClr val="0677CE"/>
            </a:solidFill>
            <a:ln w="9525" cap="flat">
              <a:solidFill>
                <a:srgbClr val="0677CE"/>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76" name="Freeform: Shape 75">
              <a:extLst>
                <a:ext uri="{FF2B5EF4-FFF2-40B4-BE49-F238E27FC236}">
                  <a16:creationId xmlns:a16="http://schemas.microsoft.com/office/drawing/2014/main" id="{BE5EB8CA-F2EA-C484-2B44-AB97D7BF5E6A}"/>
                </a:ext>
              </a:extLst>
            </p:cNvPr>
            <p:cNvSpPr/>
            <p:nvPr/>
          </p:nvSpPr>
          <p:spPr>
            <a:xfrm>
              <a:off x="10080730" y="5603798"/>
              <a:ext cx="34349" cy="47521"/>
            </a:xfrm>
            <a:custGeom>
              <a:avLst/>
              <a:gdLst>
                <a:gd name="csX0" fmla="*/ 24255 w 34349"/>
                <a:gd name="csY0" fmla="*/ 29034 h 47521"/>
                <a:gd name="csX1" fmla="*/ 20807 w 34349"/>
                <a:gd name="csY1" fmla="*/ 29625 h 47521"/>
                <a:gd name="csX2" fmla="*/ 8085 w 34349"/>
                <a:gd name="csY2" fmla="*/ 19155 h 47521"/>
                <a:gd name="csX3" fmla="*/ 8085 w 34349"/>
                <a:gd name="csY3" fmla="*/ 2784 h 47521"/>
                <a:gd name="csX4" fmla="*/ 0 w 34349"/>
                <a:gd name="csY4" fmla="*/ 0 h 47521"/>
                <a:gd name="csX5" fmla="*/ 0 w 34349"/>
                <a:gd name="csY5" fmla="*/ 22301 h 47521"/>
                <a:gd name="csX6" fmla="*/ 14957 w 34349"/>
                <a:gd name="csY6" fmla="*/ 34624 h 47521"/>
                <a:gd name="csX7" fmla="*/ 20247 w 34349"/>
                <a:gd name="csY7" fmla="*/ 46767 h 47521"/>
                <a:gd name="csX8" fmla="*/ 33524 w 34349"/>
                <a:gd name="csY8" fmla="*/ 41929 h 47521"/>
                <a:gd name="csX9" fmla="*/ 28235 w 34349"/>
                <a:gd name="csY9" fmla="*/ 29786 h 47521"/>
                <a:gd name="csX10" fmla="*/ 24255 w 34349"/>
                <a:gd name="csY10" fmla="*/ 29034 h 47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4349" h="47521">
                  <a:moveTo>
                    <a:pt x="24255" y="29034"/>
                  </a:moveTo>
                  <a:cubicBezTo>
                    <a:pt x="23076" y="29043"/>
                    <a:pt x="21909" y="29243"/>
                    <a:pt x="20807" y="29625"/>
                  </a:cubicBezTo>
                  <a:lnTo>
                    <a:pt x="8085" y="19155"/>
                  </a:lnTo>
                  <a:lnTo>
                    <a:pt x="8085" y="2784"/>
                  </a:lnTo>
                  <a:cubicBezTo>
                    <a:pt x="5417" y="1812"/>
                    <a:pt x="2700" y="836"/>
                    <a:pt x="0" y="0"/>
                  </a:cubicBezTo>
                  <a:lnTo>
                    <a:pt x="0" y="22301"/>
                  </a:lnTo>
                  <a:lnTo>
                    <a:pt x="14957" y="34624"/>
                  </a:lnTo>
                  <a:cubicBezTo>
                    <a:pt x="12751" y="39313"/>
                    <a:pt x="15120" y="44750"/>
                    <a:pt x="20247" y="46767"/>
                  </a:cubicBezTo>
                  <a:cubicBezTo>
                    <a:pt x="25374" y="48784"/>
                    <a:pt x="31318" y="46619"/>
                    <a:pt x="33524" y="41929"/>
                  </a:cubicBezTo>
                  <a:cubicBezTo>
                    <a:pt x="35730" y="37240"/>
                    <a:pt x="33362" y="31804"/>
                    <a:pt x="28235" y="29786"/>
                  </a:cubicBezTo>
                  <a:cubicBezTo>
                    <a:pt x="26978" y="29291"/>
                    <a:pt x="25624" y="29036"/>
                    <a:pt x="24255" y="29034"/>
                  </a:cubicBezTo>
                  <a:close/>
                </a:path>
              </a:pathLst>
            </a:custGeom>
            <a:solidFill>
              <a:srgbClr val="319A89"/>
            </a:solidFill>
            <a:ln w="3969" cap="flat">
              <a:solidFill>
                <a:srgbClr val="319A8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77" name="Freeform: Shape 76">
              <a:extLst>
                <a:ext uri="{FF2B5EF4-FFF2-40B4-BE49-F238E27FC236}">
                  <a16:creationId xmlns:a16="http://schemas.microsoft.com/office/drawing/2014/main" id="{8E61CEED-9E7E-9915-9EF5-6FB48340285E}"/>
                </a:ext>
              </a:extLst>
            </p:cNvPr>
            <p:cNvSpPr/>
            <p:nvPr/>
          </p:nvSpPr>
          <p:spPr>
            <a:xfrm>
              <a:off x="9952241" y="5603236"/>
              <a:ext cx="118380" cy="162704"/>
            </a:xfrm>
            <a:custGeom>
              <a:avLst/>
              <a:gdLst>
                <a:gd name="csX0" fmla="*/ 108277 w 118380"/>
                <a:gd name="csY0" fmla="*/ 103539 h 162704"/>
                <a:gd name="csX1" fmla="*/ 104437 w 118380"/>
                <a:gd name="csY1" fmla="*/ 104241 h 162704"/>
                <a:gd name="csX2" fmla="*/ 75937 w 118380"/>
                <a:gd name="csY2" fmla="*/ 78087 h 162704"/>
                <a:gd name="csX3" fmla="*/ 75937 w 118380"/>
                <a:gd name="csY3" fmla="*/ 35163 h 162704"/>
                <a:gd name="csX4" fmla="*/ 100192 w 118380"/>
                <a:gd name="csY4" fmla="*/ 35163 h 162704"/>
                <a:gd name="csX5" fmla="*/ 100192 w 118380"/>
                <a:gd name="csY5" fmla="*/ 52540 h 162704"/>
                <a:gd name="csX6" fmla="*/ 94972 w 118380"/>
                <a:gd name="csY6" fmla="*/ 64709 h 162704"/>
                <a:gd name="csX7" fmla="*/ 108277 w 118380"/>
                <a:gd name="csY7" fmla="*/ 69483 h 162704"/>
                <a:gd name="csX8" fmla="*/ 113497 w 118380"/>
                <a:gd name="csY8" fmla="*/ 57314 h 162704"/>
                <a:gd name="csX9" fmla="*/ 108277 w 118380"/>
                <a:gd name="csY9" fmla="*/ 52540 h 162704"/>
                <a:gd name="csX10" fmla="*/ 108277 w 118380"/>
                <a:gd name="csY10" fmla="*/ 27765 h 162704"/>
                <a:gd name="csX11" fmla="*/ 75937 w 118380"/>
                <a:gd name="csY11" fmla="*/ 27765 h 162704"/>
                <a:gd name="csX12" fmla="*/ 75937 w 118380"/>
                <a:gd name="csY12" fmla="*/ 17717 h 162704"/>
                <a:gd name="csX13" fmla="*/ 81157 w 118380"/>
                <a:gd name="csY13" fmla="*/ 5548 h 162704"/>
                <a:gd name="csX14" fmla="*/ 67852 w 118380"/>
                <a:gd name="csY14" fmla="*/ 774 h 162704"/>
                <a:gd name="csX15" fmla="*/ 62632 w 118380"/>
                <a:gd name="csY15" fmla="*/ 12942 h 162704"/>
                <a:gd name="csX16" fmla="*/ 67852 w 118380"/>
                <a:gd name="csY16" fmla="*/ 17717 h 162704"/>
                <a:gd name="csX17" fmla="*/ 67852 w 118380"/>
                <a:gd name="csY17" fmla="*/ 81012 h 162704"/>
                <a:gd name="csX18" fmla="*/ 81192 w 118380"/>
                <a:gd name="csY18" fmla="*/ 93615 h 162704"/>
                <a:gd name="csX19" fmla="*/ 59767 w 118380"/>
                <a:gd name="csY19" fmla="*/ 113210 h 162704"/>
                <a:gd name="csX20" fmla="*/ 59767 w 118380"/>
                <a:gd name="csY20" fmla="*/ 131304 h 162704"/>
                <a:gd name="csX21" fmla="*/ 35387 w 118380"/>
                <a:gd name="csY21" fmla="*/ 131304 h 162704"/>
                <a:gd name="csX22" fmla="*/ 19799 w 118380"/>
                <a:gd name="csY22" fmla="*/ 114560 h 162704"/>
                <a:gd name="csX23" fmla="*/ 14800 w 118380"/>
                <a:gd name="csY23" fmla="*/ 101924 h 162704"/>
                <a:gd name="csX24" fmla="*/ 984 w 118380"/>
                <a:gd name="csY24" fmla="*/ 106496 h 162704"/>
                <a:gd name="csX25" fmla="*/ 5983 w 118380"/>
                <a:gd name="csY25" fmla="*/ 119132 h 162704"/>
                <a:gd name="csX26" fmla="*/ 13610 w 118380"/>
                <a:gd name="csY26" fmla="*/ 119562 h 162704"/>
                <a:gd name="csX27" fmla="*/ 31599 w 118380"/>
                <a:gd name="csY27" fmla="*/ 138702 h 162704"/>
                <a:gd name="csX28" fmla="*/ 59767 w 118380"/>
                <a:gd name="csY28" fmla="*/ 138702 h 162704"/>
                <a:gd name="csX29" fmla="*/ 59767 w 118380"/>
                <a:gd name="csY29" fmla="*/ 144987 h 162704"/>
                <a:gd name="csX30" fmla="*/ 54547 w 118380"/>
                <a:gd name="csY30" fmla="*/ 157156 h 162704"/>
                <a:gd name="csX31" fmla="*/ 67852 w 118380"/>
                <a:gd name="csY31" fmla="*/ 161930 h 162704"/>
                <a:gd name="csX32" fmla="*/ 73072 w 118380"/>
                <a:gd name="csY32" fmla="*/ 149762 h 162704"/>
                <a:gd name="csX33" fmla="*/ 67852 w 118380"/>
                <a:gd name="csY33" fmla="*/ 144987 h 162704"/>
                <a:gd name="csX34" fmla="*/ 67852 w 118380"/>
                <a:gd name="csY34" fmla="*/ 116127 h 162704"/>
                <a:gd name="csX35" fmla="*/ 86852 w 118380"/>
                <a:gd name="csY35" fmla="*/ 98751 h 162704"/>
                <a:gd name="csX36" fmla="*/ 98773 w 118380"/>
                <a:gd name="csY36" fmla="*/ 109731 h 162704"/>
                <a:gd name="csX37" fmla="*/ 104985 w 118380"/>
                <a:gd name="csY37" fmla="*/ 121469 h 162704"/>
                <a:gd name="csX38" fmla="*/ 117819 w 118380"/>
                <a:gd name="csY38" fmla="*/ 115787 h 162704"/>
                <a:gd name="csX39" fmla="*/ 111607 w 118380"/>
                <a:gd name="csY39" fmla="*/ 104050 h 162704"/>
                <a:gd name="csX40" fmla="*/ 108277 w 118380"/>
                <a:gd name="csY40" fmla="*/ 103539 h 162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8380" h="162704">
                  <a:moveTo>
                    <a:pt x="108277" y="103539"/>
                  </a:moveTo>
                  <a:cubicBezTo>
                    <a:pt x="106959" y="103540"/>
                    <a:pt x="105654" y="103779"/>
                    <a:pt x="104437" y="104241"/>
                  </a:cubicBezTo>
                  <a:lnTo>
                    <a:pt x="75937" y="78087"/>
                  </a:lnTo>
                  <a:lnTo>
                    <a:pt x="75937" y="35163"/>
                  </a:lnTo>
                  <a:lnTo>
                    <a:pt x="100192" y="35163"/>
                  </a:lnTo>
                  <a:lnTo>
                    <a:pt x="100192" y="52540"/>
                  </a:lnTo>
                  <a:cubicBezTo>
                    <a:pt x="95077" y="54582"/>
                    <a:pt x="92739" y="60030"/>
                    <a:pt x="94972" y="64709"/>
                  </a:cubicBezTo>
                  <a:cubicBezTo>
                    <a:pt x="97205" y="69387"/>
                    <a:pt x="103162" y="71525"/>
                    <a:pt x="108277" y="69483"/>
                  </a:cubicBezTo>
                  <a:cubicBezTo>
                    <a:pt x="113392" y="67441"/>
                    <a:pt x="115730" y="61993"/>
                    <a:pt x="113497" y="57314"/>
                  </a:cubicBezTo>
                  <a:cubicBezTo>
                    <a:pt x="112478" y="55178"/>
                    <a:pt x="110613" y="53473"/>
                    <a:pt x="108277" y="52540"/>
                  </a:cubicBezTo>
                  <a:lnTo>
                    <a:pt x="108277" y="27765"/>
                  </a:lnTo>
                  <a:lnTo>
                    <a:pt x="75937" y="27765"/>
                  </a:lnTo>
                  <a:lnTo>
                    <a:pt x="75937" y="17717"/>
                  </a:lnTo>
                  <a:cubicBezTo>
                    <a:pt x="81053" y="15675"/>
                    <a:pt x="83390" y="10227"/>
                    <a:pt x="81157" y="5548"/>
                  </a:cubicBezTo>
                  <a:cubicBezTo>
                    <a:pt x="78925" y="870"/>
                    <a:pt x="72968" y="-1268"/>
                    <a:pt x="67852" y="774"/>
                  </a:cubicBezTo>
                  <a:cubicBezTo>
                    <a:pt x="62737" y="2816"/>
                    <a:pt x="60399" y="8264"/>
                    <a:pt x="62632" y="12942"/>
                  </a:cubicBezTo>
                  <a:cubicBezTo>
                    <a:pt x="63652" y="15079"/>
                    <a:pt x="65516" y="16784"/>
                    <a:pt x="67852" y="17717"/>
                  </a:cubicBezTo>
                  <a:lnTo>
                    <a:pt x="67852" y="81012"/>
                  </a:lnTo>
                  <a:lnTo>
                    <a:pt x="81192" y="93615"/>
                  </a:lnTo>
                  <a:lnTo>
                    <a:pt x="59767" y="113210"/>
                  </a:lnTo>
                  <a:lnTo>
                    <a:pt x="59767" y="131304"/>
                  </a:lnTo>
                  <a:lnTo>
                    <a:pt x="35387" y="131304"/>
                  </a:lnTo>
                  <a:lnTo>
                    <a:pt x="19799" y="114560"/>
                  </a:lnTo>
                  <a:cubicBezTo>
                    <a:pt x="22234" y="109808"/>
                    <a:pt x="19996" y="104151"/>
                    <a:pt x="14800" y="101924"/>
                  </a:cubicBezTo>
                  <a:cubicBezTo>
                    <a:pt x="9605" y="99697"/>
                    <a:pt x="3419" y="101744"/>
                    <a:pt x="984" y="106496"/>
                  </a:cubicBezTo>
                  <a:cubicBezTo>
                    <a:pt x="-1451" y="111248"/>
                    <a:pt x="788" y="116905"/>
                    <a:pt x="5983" y="119132"/>
                  </a:cubicBezTo>
                  <a:cubicBezTo>
                    <a:pt x="8373" y="120156"/>
                    <a:pt x="11100" y="120310"/>
                    <a:pt x="13610" y="119562"/>
                  </a:cubicBezTo>
                  <a:lnTo>
                    <a:pt x="31599" y="138702"/>
                  </a:lnTo>
                  <a:lnTo>
                    <a:pt x="59767" y="138702"/>
                  </a:lnTo>
                  <a:lnTo>
                    <a:pt x="59767" y="144987"/>
                  </a:lnTo>
                  <a:cubicBezTo>
                    <a:pt x="54652" y="147029"/>
                    <a:pt x="52315" y="152477"/>
                    <a:pt x="54547" y="157156"/>
                  </a:cubicBezTo>
                  <a:cubicBezTo>
                    <a:pt x="56780" y="161834"/>
                    <a:pt x="62737" y="163972"/>
                    <a:pt x="67852" y="161930"/>
                  </a:cubicBezTo>
                  <a:cubicBezTo>
                    <a:pt x="72968" y="159888"/>
                    <a:pt x="75305" y="154440"/>
                    <a:pt x="73072" y="149762"/>
                  </a:cubicBezTo>
                  <a:cubicBezTo>
                    <a:pt x="72053" y="147625"/>
                    <a:pt x="70188" y="145920"/>
                    <a:pt x="67852" y="144987"/>
                  </a:cubicBezTo>
                  <a:lnTo>
                    <a:pt x="67852" y="116127"/>
                  </a:lnTo>
                  <a:lnTo>
                    <a:pt x="86852" y="98751"/>
                  </a:lnTo>
                  <a:lnTo>
                    <a:pt x="98773" y="109731"/>
                  </a:lnTo>
                  <a:cubicBezTo>
                    <a:pt x="96945" y="114541"/>
                    <a:pt x="99726" y="119797"/>
                    <a:pt x="104985" y="121469"/>
                  </a:cubicBezTo>
                  <a:cubicBezTo>
                    <a:pt x="110245" y="123141"/>
                    <a:pt x="115991" y="120597"/>
                    <a:pt x="117819" y="115787"/>
                  </a:cubicBezTo>
                  <a:cubicBezTo>
                    <a:pt x="119647" y="110977"/>
                    <a:pt x="116866" y="105722"/>
                    <a:pt x="111607" y="104050"/>
                  </a:cubicBezTo>
                  <a:cubicBezTo>
                    <a:pt x="110536" y="103709"/>
                    <a:pt x="109411" y="103537"/>
                    <a:pt x="108277" y="103539"/>
                  </a:cubicBezTo>
                  <a:close/>
                </a:path>
              </a:pathLst>
            </a:custGeom>
            <a:solidFill>
              <a:srgbClr val="0677CE"/>
            </a:solidFill>
            <a:ln w="3969" cap="flat">
              <a:solidFill>
                <a:srgbClr val="0677CE"/>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sp>
        <p:nvSpPr>
          <p:cNvPr id="79" name="Rectangle: Rounded Corners 36">
            <a:extLst>
              <a:ext uri="{FF2B5EF4-FFF2-40B4-BE49-F238E27FC236}">
                <a16:creationId xmlns:a16="http://schemas.microsoft.com/office/drawing/2014/main" id="{6E483039-393F-8CC5-F5AA-4530758143D4}"/>
              </a:ext>
              <a:ext uri="{C183D7F6-B498-43B3-948B-1728B52AA6E4}">
                <adec:decorative xmlns:adec="http://schemas.microsoft.com/office/drawing/2017/decorative" val="0"/>
              </a:ext>
            </a:extLst>
          </p:cNvPr>
          <p:cNvSpPr/>
          <p:nvPr/>
        </p:nvSpPr>
        <p:spPr>
          <a:xfrm>
            <a:off x="7227017" y="6172740"/>
            <a:ext cx="4801390" cy="424933"/>
          </a:xfrm>
          <a:prstGeom prst="roundRect">
            <a:avLst>
              <a:gd name="adj" fmla="val 10123"/>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285750" marR="0" lvl="0" indent="0" algn="l" defTabSz="932449" rtl="0"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Semibold"/>
                <a:ea typeface="+mn-ea"/>
                <a:cs typeface="+mn-cs"/>
                <a:hlinkClick r:id="rId15" action="ppaction://hlinksldjump" tooltip="Power BI Migration"/>
              </a:rPr>
              <a:t>Power BI Migration</a:t>
            </a:r>
            <a:endParaRPr kumimoji="0" lang="en-US" sz="1100" b="0" i="0" u="none" strike="noStrike" kern="0" cap="none" spc="0" normalizeH="0" baseline="0" noProof="0" dirty="0">
              <a:ln>
                <a:noFill/>
              </a:ln>
              <a:solidFill>
                <a:srgbClr val="000000"/>
              </a:solidFill>
              <a:effectLst/>
              <a:uLnTx/>
              <a:uFillTx/>
              <a:latin typeface="Segoe Sans Text Semibold"/>
              <a:ea typeface="+mn-ea"/>
              <a:cs typeface="+mn-cs"/>
            </a:endParaRPr>
          </a:p>
          <a:p>
            <a:pPr marL="401638" marR="0" lvl="0" indent="0" algn="l" defTabSz="914344" rtl="0" eaLnBrk="1" fontAlgn="base" latinLnBrk="0" hangingPunct="1">
              <a:lnSpc>
                <a:spcPct val="100000"/>
              </a:lnSpc>
              <a:spcBef>
                <a:spcPct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Display"/>
                <a:ea typeface="+mn-ea"/>
                <a:cs typeface="+mn-cs"/>
              </a:rPr>
              <a:t>Migrate SSRS/SSAS to Power BI</a:t>
            </a:r>
          </a:p>
        </p:txBody>
      </p:sp>
      <p:grpSp>
        <p:nvGrpSpPr>
          <p:cNvPr id="34" name="Group 33">
            <a:extLst>
              <a:ext uri="{FF2B5EF4-FFF2-40B4-BE49-F238E27FC236}">
                <a16:creationId xmlns:a16="http://schemas.microsoft.com/office/drawing/2014/main" id="{34301F71-F076-2451-ECDE-8FC05D6A9FDD}"/>
              </a:ext>
            </a:extLst>
          </p:cNvPr>
          <p:cNvGrpSpPr/>
          <p:nvPr/>
        </p:nvGrpSpPr>
        <p:grpSpPr>
          <a:xfrm>
            <a:off x="7251833" y="6261307"/>
            <a:ext cx="293194" cy="278886"/>
            <a:chOff x="7835322" y="6271560"/>
            <a:chExt cx="227224" cy="226695"/>
          </a:xfrm>
        </p:grpSpPr>
        <p:sp>
          <p:nvSpPr>
            <p:cNvPr id="80" name="Freeform: Shape 79">
              <a:extLst>
                <a:ext uri="{FF2B5EF4-FFF2-40B4-BE49-F238E27FC236}">
                  <a16:creationId xmlns:a16="http://schemas.microsoft.com/office/drawing/2014/main" id="{99262536-AE74-7FE3-E99C-792EDEB5D1CA}"/>
                </a:ext>
              </a:extLst>
            </p:cNvPr>
            <p:cNvSpPr/>
            <p:nvPr/>
          </p:nvSpPr>
          <p:spPr>
            <a:xfrm>
              <a:off x="7835322" y="6271560"/>
              <a:ext cx="227224" cy="226695"/>
            </a:xfrm>
            <a:custGeom>
              <a:avLst/>
              <a:gdLst>
                <a:gd name="csX0" fmla="*/ 20003 w 226695"/>
                <a:gd name="csY0" fmla="*/ 0 h 226695"/>
                <a:gd name="csX1" fmla="*/ 0 w 226695"/>
                <a:gd name="csY1" fmla="*/ 0 h 226695"/>
                <a:gd name="csX2" fmla="*/ 0 w 226695"/>
                <a:gd name="csY2" fmla="*/ 226695 h 226695"/>
                <a:gd name="csX3" fmla="*/ 226695 w 226695"/>
                <a:gd name="csY3" fmla="*/ 226695 h 226695"/>
                <a:gd name="csX4" fmla="*/ 226695 w 226695"/>
                <a:gd name="csY4" fmla="*/ 206693 h 226695"/>
                <a:gd name="csX5" fmla="*/ 20003 w 226695"/>
                <a:gd name="csY5" fmla="*/ 206693 h 226695"/>
              </a:gdLst>
              <a:ahLst/>
              <a:cxnLst>
                <a:cxn ang="0">
                  <a:pos x="csX0" y="csY0"/>
                </a:cxn>
                <a:cxn ang="0">
                  <a:pos x="csX1" y="csY1"/>
                </a:cxn>
                <a:cxn ang="0">
                  <a:pos x="csX2" y="csY2"/>
                </a:cxn>
                <a:cxn ang="0">
                  <a:pos x="csX3" y="csY3"/>
                </a:cxn>
                <a:cxn ang="0">
                  <a:pos x="csX4" y="csY4"/>
                </a:cxn>
                <a:cxn ang="0">
                  <a:pos x="csX5" y="csY5"/>
                </a:cxn>
              </a:cxnLst>
              <a:rect l="l" t="t" r="r" b="b"/>
              <a:pathLst>
                <a:path w="226695" h="226695">
                  <a:moveTo>
                    <a:pt x="20003" y="0"/>
                  </a:moveTo>
                  <a:lnTo>
                    <a:pt x="0" y="0"/>
                  </a:lnTo>
                  <a:lnTo>
                    <a:pt x="0" y="226695"/>
                  </a:lnTo>
                  <a:lnTo>
                    <a:pt x="226695" y="226695"/>
                  </a:lnTo>
                  <a:lnTo>
                    <a:pt x="226695" y="206693"/>
                  </a:lnTo>
                  <a:lnTo>
                    <a:pt x="20003" y="206693"/>
                  </a:lnTo>
                  <a:close/>
                </a:path>
              </a:pathLst>
            </a:custGeom>
            <a:solidFill>
              <a:srgbClr val="0677CE"/>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81" name="Rectangle 80">
              <a:extLst>
                <a:ext uri="{FF2B5EF4-FFF2-40B4-BE49-F238E27FC236}">
                  <a16:creationId xmlns:a16="http://schemas.microsoft.com/office/drawing/2014/main" id="{4FDB09C8-6DEA-F617-8FD3-41626CCCE652}"/>
                </a:ext>
              </a:extLst>
            </p:cNvPr>
            <p:cNvSpPr/>
            <p:nvPr/>
          </p:nvSpPr>
          <p:spPr>
            <a:xfrm>
              <a:off x="7875420" y="6341569"/>
              <a:ext cx="36757" cy="116681"/>
            </a:xfrm>
            <a:prstGeom prst="rect">
              <a:avLst/>
            </a:pr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82" name="Rectangle 81">
              <a:extLst>
                <a:ext uri="{FF2B5EF4-FFF2-40B4-BE49-F238E27FC236}">
                  <a16:creationId xmlns:a16="http://schemas.microsoft.com/office/drawing/2014/main" id="{5EEA5224-A052-309E-845C-0503C8B9BF6D}"/>
                </a:ext>
              </a:extLst>
            </p:cNvPr>
            <p:cNvSpPr/>
            <p:nvPr/>
          </p:nvSpPr>
          <p:spPr>
            <a:xfrm>
              <a:off x="7925543" y="6271560"/>
              <a:ext cx="36757" cy="186690"/>
            </a:xfrm>
            <a:prstGeom prst="rect">
              <a:avLst/>
            </a:pr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83" name="Rectangle 82">
              <a:extLst>
                <a:ext uri="{FF2B5EF4-FFF2-40B4-BE49-F238E27FC236}">
                  <a16:creationId xmlns:a16="http://schemas.microsoft.com/office/drawing/2014/main" id="{06FA6240-69E6-EA76-BB25-C650D6D7D880}"/>
                </a:ext>
              </a:extLst>
            </p:cNvPr>
            <p:cNvSpPr/>
            <p:nvPr/>
          </p:nvSpPr>
          <p:spPr>
            <a:xfrm>
              <a:off x="7975666" y="6341569"/>
              <a:ext cx="36757" cy="116681"/>
            </a:xfrm>
            <a:prstGeom prst="rect">
              <a:avLst/>
            </a:pr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sp>
          <p:nvSpPr>
            <p:cNvPr id="84" name="Rectangle 83">
              <a:extLst>
                <a:ext uri="{FF2B5EF4-FFF2-40B4-BE49-F238E27FC236}">
                  <a16:creationId xmlns:a16="http://schemas.microsoft.com/office/drawing/2014/main" id="{3C29A20F-18E0-A530-0EC1-CF6FA45F8F3A}"/>
                </a:ext>
              </a:extLst>
            </p:cNvPr>
            <p:cNvSpPr/>
            <p:nvPr/>
          </p:nvSpPr>
          <p:spPr>
            <a:xfrm>
              <a:off x="8025789" y="6398243"/>
              <a:ext cx="36757" cy="60007"/>
            </a:xfrm>
            <a:prstGeom prst="rect">
              <a:avLst/>
            </a:prstGeom>
            <a:solidFill>
              <a:srgbClr val="319A89"/>
            </a:solidFill>
            <a:ln w="327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Display"/>
                <a:ea typeface="+mn-ea"/>
                <a:cs typeface="+mn-cs"/>
              </a:endParaRPr>
            </a:p>
          </p:txBody>
        </p:sp>
      </p:grpSp>
      <p:grpSp>
        <p:nvGrpSpPr>
          <p:cNvPr id="85" name="Group 84">
            <a:extLst>
              <a:ext uri="{FF2B5EF4-FFF2-40B4-BE49-F238E27FC236}">
                <a16:creationId xmlns:a16="http://schemas.microsoft.com/office/drawing/2014/main" id="{6D8322D2-9CCB-F1A3-02A8-1F0377F4A3D6}"/>
              </a:ext>
            </a:extLst>
          </p:cNvPr>
          <p:cNvGrpSpPr/>
          <p:nvPr/>
        </p:nvGrpSpPr>
        <p:grpSpPr>
          <a:xfrm>
            <a:off x="10415476" y="693055"/>
            <a:ext cx="1492684" cy="234840"/>
            <a:chOff x="275877" y="1475216"/>
            <a:chExt cx="1492684" cy="234840"/>
          </a:xfrm>
        </p:grpSpPr>
        <p:grpSp>
          <p:nvGrpSpPr>
            <p:cNvPr id="86" name="Group 85">
              <a:extLst>
                <a:ext uri="{FF2B5EF4-FFF2-40B4-BE49-F238E27FC236}">
                  <a16:creationId xmlns:a16="http://schemas.microsoft.com/office/drawing/2014/main" id="{52514FD1-5CEA-27BC-3E7E-04FF23B884DB}"/>
                </a:ext>
              </a:extLst>
            </p:cNvPr>
            <p:cNvGrpSpPr/>
            <p:nvPr/>
          </p:nvGrpSpPr>
          <p:grpSpPr>
            <a:xfrm>
              <a:off x="275877" y="1475347"/>
              <a:ext cx="901527" cy="234709"/>
              <a:chOff x="11192868" y="263689"/>
              <a:chExt cx="901527" cy="234709"/>
            </a:xfrm>
          </p:grpSpPr>
          <p:sp>
            <p:nvSpPr>
              <p:cNvPr id="90" name="Oval 89">
                <a:extLst>
                  <a:ext uri="{FF2B5EF4-FFF2-40B4-BE49-F238E27FC236}">
                    <a16:creationId xmlns:a16="http://schemas.microsoft.com/office/drawing/2014/main" id="{6BD6DEC7-C691-8635-6CD6-5541C4E59F95}"/>
                  </a:ext>
                </a:extLst>
              </p:cNvPr>
              <p:cNvSpPr/>
              <p:nvPr/>
            </p:nvSpPr>
            <p:spPr bwMode="auto">
              <a:xfrm>
                <a:off x="11192868" y="263689"/>
                <a:ext cx="246416" cy="234709"/>
              </a:xfrm>
              <a:prstGeom prst="ellipse">
                <a:avLst/>
              </a:prstGeom>
              <a:solidFill>
                <a:srgbClr val="C1DF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91" name="TextBox 90">
                <a:extLst>
                  <a:ext uri="{FF2B5EF4-FFF2-40B4-BE49-F238E27FC236}">
                    <a16:creationId xmlns:a16="http://schemas.microsoft.com/office/drawing/2014/main" id="{642232B5-7E90-ADD5-90D5-772C477D9020}"/>
                  </a:ext>
                </a:extLst>
              </p:cNvPr>
              <p:cNvSpPr txBox="1"/>
              <p:nvPr/>
            </p:nvSpPr>
            <p:spPr>
              <a:xfrm>
                <a:off x="11494259" y="288711"/>
                <a:ext cx="600136"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Frontier</a:t>
                </a:r>
              </a:p>
            </p:txBody>
          </p:sp>
        </p:grpSp>
        <p:grpSp>
          <p:nvGrpSpPr>
            <p:cNvPr id="87" name="Group 86">
              <a:extLst>
                <a:ext uri="{FF2B5EF4-FFF2-40B4-BE49-F238E27FC236}">
                  <a16:creationId xmlns:a16="http://schemas.microsoft.com/office/drawing/2014/main" id="{A8FEA877-354C-9580-A481-62F1CBB442C0}"/>
                </a:ext>
              </a:extLst>
            </p:cNvPr>
            <p:cNvGrpSpPr/>
            <p:nvPr/>
          </p:nvGrpSpPr>
          <p:grpSpPr>
            <a:xfrm>
              <a:off x="1088409" y="1475216"/>
              <a:ext cx="680152" cy="234709"/>
              <a:chOff x="11192868" y="588823"/>
              <a:chExt cx="680152" cy="234709"/>
            </a:xfrm>
          </p:grpSpPr>
          <p:sp>
            <p:nvSpPr>
              <p:cNvPr id="88" name="Oval 87">
                <a:extLst>
                  <a:ext uri="{FF2B5EF4-FFF2-40B4-BE49-F238E27FC236}">
                    <a16:creationId xmlns:a16="http://schemas.microsoft.com/office/drawing/2014/main" id="{8F8C4EEE-D811-CA79-6CFB-DCD29613877F}"/>
                  </a:ext>
                </a:extLst>
              </p:cNvPr>
              <p:cNvSpPr/>
              <p:nvPr/>
            </p:nvSpPr>
            <p:spPr bwMode="auto">
              <a:xfrm>
                <a:off x="11192868" y="588823"/>
                <a:ext cx="246416" cy="234709"/>
              </a:xfrm>
              <a:prstGeom prst="ellipse">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89" name="TextBox 88">
                <a:extLst>
                  <a:ext uri="{FF2B5EF4-FFF2-40B4-BE49-F238E27FC236}">
                    <a16:creationId xmlns:a16="http://schemas.microsoft.com/office/drawing/2014/main" id="{B53FAB53-D5BC-934F-22B5-627BEE7E157A}"/>
                  </a:ext>
                </a:extLst>
              </p:cNvPr>
              <p:cNvSpPr txBox="1"/>
              <p:nvPr/>
            </p:nvSpPr>
            <p:spPr>
              <a:xfrm>
                <a:off x="11500383" y="613845"/>
                <a:ext cx="372637"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Core</a:t>
                </a:r>
              </a:p>
            </p:txBody>
          </p:sp>
        </p:grpSp>
      </p:grpSp>
      <p:sp>
        <p:nvSpPr>
          <p:cNvPr id="92" name="Rectangle 91">
            <a:extLst>
              <a:ext uri="{FF2B5EF4-FFF2-40B4-BE49-F238E27FC236}">
                <a16:creationId xmlns:a16="http://schemas.microsoft.com/office/drawing/2014/main" id="{F7F5533C-2ECE-EB26-B54C-FEF14B599357}"/>
              </a:ext>
            </a:extLst>
          </p:cNvPr>
          <p:cNvSpPr/>
          <p:nvPr/>
        </p:nvSpPr>
        <p:spPr bwMode="auto">
          <a:xfrm>
            <a:off x="5460386" y="6521083"/>
            <a:ext cx="3189344" cy="3211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50" noProof="0" dirty="0">
                <a:solidFill>
                  <a:schemeClr val="tx1"/>
                </a:solidFill>
                <a:ea typeface="Segoe UI" pitchFamily="34" charset="0"/>
                <a:cs typeface="Segoe UI" pitchFamily="34" charset="0"/>
                <a:hlinkClick r:id="rId16" action="ppaction://hlinksldjump" tooltip="Appendix">
                  <a:extLst>
                    <a:ext uri="{A12FA001-AC4F-418D-AE19-62706E023703}">
                      <ahyp:hlinkClr xmlns:ahyp="http://schemas.microsoft.com/office/drawing/2018/hyperlinkcolor" val="tx"/>
                    </a:ext>
                  </a:extLst>
                </a:hlinkClick>
              </a:rPr>
              <a:t>Appendix - Engagement Models &amp; Phases</a:t>
            </a:r>
            <a:endParaRPr lang="en-US" sz="1050" noProof="0" dirty="0">
              <a:solidFill>
                <a:schemeClr val="tx1"/>
              </a:solidFill>
              <a:ea typeface="Segoe UI" pitchFamily="34" charset="0"/>
              <a:cs typeface="Segoe UI" pitchFamily="34" charset="0"/>
            </a:endParaRPr>
          </a:p>
        </p:txBody>
      </p:sp>
      <p:sp>
        <p:nvSpPr>
          <p:cNvPr id="93" name="Rectangle: Rounded Corners 92">
            <a:extLst>
              <a:ext uri="{FF2B5EF4-FFF2-40B4-BE49-F238E27FC236}">
                <a16:creationId xmlns:a16="http://schemas.microsoft.com/office/drawing/2014/main" id="{0FBEF091-7148-EDD6-9409-7583B15D864E}"/>
              </a:ext>
            </a:extLst>
          </p:cNvPr>
          <p:cNvSpPr/>
          <p:nvPr/>
        </p:nvSpPr>
        <p:spPr bwMode="auto">
          <a:xfrm>
            <a:off x="4632871" y="665901"/>
            <a:ext cx="4942942" cy="261476"/>
          </a:xfrm>
          <a:prstGeom prst="roundRect">
            <a:avLst>
              <a:gd name="adj" fmla="val 50000"/>
            </a:avLst>
          </a:prstGeom>
          <a:solidFill>
            <a:srgbClr val="00808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fontAlgn="base">
              <a:spcBef>
                <a:spcPct val="0"/>
              </a:spcBef>
              <a:spcAft>
                <a:spcPct val="0"/>
              </a:spcAft>
            </a:pPr>
            <a:r>
              <a:rPr lang="en-US" sz="1600" b="1" noProof="0" dirty="0">
                <a:solidFill>
                  <a:schemeClr val="bg1"/>
                </a:solidFill>
              </a:rPr>
              <a:t>Each offering title is a link to a detailed section</a:t>
            </a:r>
          </a:p>
        </p:txBody>
      </p:sp>
      <p:grpSp>
        <p:nvGrpSpPr>
          <p:cNvPr id="94" name="Group 93">
            <a:extLst>
              <a:ext uri="{FF2B5EF4-FFF2-40B4-BE49-F238E27FC236}">
                <a16:creationId xmlns:a16="http://schemas.microsoft.com/office/drawing/2014/main" id="{50C20EDC-05C6-72FF-DD22-FD1CF18FE8B0}"/>
              </a:ext>
            </a:extLst>
          </p:cNvPr>
          <p:cNvGrpSpPr/>
          <p:nvPr/>
        </p:nvGrpSpPr>
        <p:grpSpPr>
          <a:xfrm>
            <a:off x="2196032" y="1962301"/>
            <a:ext cx="4876283" cy="1551806"/>
            <a:chOff x="2069595" y="2381762"/>
            <a:chExt cx="5458967" cy="644561"/>
          </a:xfrm>
        </p:grpSpPr>
        <p:sp>
          <p:nvSpPr>
            <p:cNvPr id="95" name="Rectangle: Rounded Corners 36">
              <a:extLst>
                <a:ext uri="{FF2B5EF4-FFF2-40B4-BE49-F238E27FC236}">
                  <a16:creationId xmlns:a16="http://schemas.microsoft.com/office/drawing/2014/main" id="{62817B0D-5D9A-CB28-73A0-D0706223A470}"/>
                </a:ext>
                <a:ext uri="{C183D7F6-B498-43B3-948B-1728B52AA6E4}">
                  <adec:decorative xmlns:adec="http://schemas.microsoft.com/office/drawing/2017/decorative" val="0"/>
                </a:ext>
              </a:extLst>
            </p:cNvPr>
            <p:cNvSpPr/>
            <p:nvPr/>
          </p:nvSpPr>
          <p:spPr>
            <a:xfrm>
              <a:off x="2069595" y="2381762"/>
              <a:ext cx="5458967" cy="644561"/>
            </a:xfrm>
            <a:prstGeom prst="roundRect">
              <a:avLst>
                <a:gd name="adj" fmla="val 4812"/>
              </a:avLst>
            </a:prstGeom>
            <a:gradFill>
              <a:gsLst>
                <a:gs pos="0">
                  <a:schemeClr val="bg1"/>
                </a:gs>
                <a:gs pos="100000">
                  <a:schemeClr val="tx2">
                    <a:lumMod val="20000"/>
                    <a:lumOff val="80000"/>
                    <a:alpha val="19000"/>
                  </a:schemeClr>
                </a:gs>
              </a:gsLst>
              <a:lin ang="8100000" scaled="1"/>
            </a:gradFill>
            <a:ln>
              <a:solidFill>
                <a:schemeClr val="bg1"/>
              </a:solidFill>
              <a:headEnd type="none" w="med" len="med"/>
              <a:tailEnd type="none" w="med" len="med"/>
            </a:ln>
            <a:effectLst>
              <a:outerShdw blurRad="190500" dist="88900" dir="2700000" algn="tl"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t" anchorCtr="0" forceAA="0" compatLnSpc="1">
              <a:prstTxWarp prst="textNoShape">
                <a:avLst/>
              </a:prstTxWarp>
              <a:noAutofit/>
            </a:bodyPr>
            <a:lstStyle/>
            <a:p>
              <a:pPr marL="285744" defTabSz="914354">
                <a:defRPr/>
              </a:pPr>
              <a:r>
                <a:rPr lang="en-US" sz="1100" kern="0" noProof="0" dirty="0">
                  <a:solidFill>
                    <a:srgbClr val="000000"/>
                  </a:solidFill>
                  <a:latin typeface="Segoe Sans Display Semibold"/>
                  <a:hlinkClick r:id="rId17" action="ppaction://hlinksldjump" tooltip="Migration &amp; Modernization of Infra, Apps &amp; Data"/>
                </a:rPr>
                <a:t>Migration &amp; Modernization of Infra, Apps &amp; Data</a:t>
              </a:r>
              <a:endParaRPr lang="en-US" sz="1100" kern="0" noProof="0" dirty="0">
                <a:solidFill>
                  <a:srgbClr val="0078D4"/>
                </a:solidFill>
                <a:latin typeface="Segoe Sans Display Semibold"/>
              </a:endParaRPr>
            </a:p>
            <a:p>
              <a:pPr marL="285744" defTabSz="914354">
                <a:defRPr/>
              </a:pPr>
              <a:r>
                <a:rPr lang="en-US" sz="900" kern="0" noProof="0" dirty="0">
                  <a:solidFill>
                    <a:srgbClr val="000000"/>
                  </a:solidFill>
                  <a:latin typeface="Segoe Sans Display Semibold"/>
                </a:rPr>
                <a:t>(solutions built on WS/Linux, SQL/OSS DB, .NET/Java)</a:t>
              </a:r>
              <a:endParaRPr lang="en-US" sz="900" noProof="0" dirty="0">
                <a:solidFill>
                  <a:srgbClr val="000000"/>
                </a:solidFill>
                <a:latin typeface="Segoe Sans Display"/>
              </a:endParaRPr>
            </a:p>
            <a:p>
              <a:pPr marL="460363" indent="-171446" defTabSz="914321">
                <a:spcBef>
                  <a:spcPts val="600"/>
                </a:spcBef>
                <a:buFont typeface="Arial" panose="020B0604020202020204" pitchFamily="34" charset="0"/>
                <a:buChar char="•"/>
                <a:defRPr/>
              </a:pPr>
              <a:r>
                <a:rPr lang="en-US" sz="900" noProof="0" dirty="0">
                  <a:solidFill>
                    <a:srgbClr val="000000"/>
                  </a:solidFill>
                  <a:latin typeface="Segoe Sans Display"/>
                  <a:hlinkClick r:id="rId18" action="ppaction://hlinksldjump" tooltip="Migrate &amp; Modernize of Infra"/>
                </a:rPr>
                <a:t>Infrastructure Migration &amp; Modernization (VMWare, Windows, Linux) to Azure Native IaaS</a:t>
              </a:r>
              <a:r>
                <a:rPr lang="en-US" sz="900" noProof="0" dirty="0">
                  <a:solidFill>
                    <a:srgbClr val="000000"/>
                  </a:solidFill>
                  <a:latin typeface="Segoe Sans Display"/>
                </a:rPr>
                <a:t>, </a:t>
              </a:r>
              <a:r>
                <a:rPr lang="en-US" sz="900" noProof="0" dirty="0">
                  <a:solidFill>
                    <a:srgbClr val="000000"/>
                  </a:solidFill>
                  <a:latin typeface="Segoe Sans Display"/>
                  <a:hlinkClick r:id="rId19" action="ppaction://hlinksldjump" tooltip="AVS"/>
                </a:rPr>
                <a:t>AVS</a:t>
              </a:r>
              <a:endParaRPr lang="en-US" sz="900" noProof="0" dirty="0">
                <a:solidFill>
                  <a:srgbClr val="000000"/>
                </a:solidFill>
                <a:latin typeface="Segoe Sans Display"/>
              </a:endParaRPr>
            </a:p>
            <a:p>
              <a:pPr marL="917567" lvl="1" indent="-171450" defTabSz="914321">
                <a:buFont typeface="Courier New" panose="02070309020205020404" pitchFamily="49" charset="0"/>
                <a:buChar char="o"/>
                <a:defRPr/>
              </a:pPr>
              <a:r>
                <a:rPr lang="en-US" sz="900" noProof="0" dirty="0">
                  <a:solidFill>
                    <a:srgbClr val="000000"/>
                  </a:solidFill>
                  <a:latin typeface="Segoe Sans Display"/>
                </a:rPr>
                <a:t>Clean deployments – DevOps with Infrastructure-as-code, Azure Verified Modules </a:t>
              </a:r>
            </a:p>
            <a:p>
              <a:pPr marL="460363" indent="-171446" defTabSz="914321">
                <a:buFont typeface="Arial" panose="020B0604020202020204" pitchFamily="34" charset="0"/>
                <a:buChar char="•"/>
                <a:defRPr/>
              </a:pPr>
              <a:r>
                <a:rPr lang="en-US" sz="900" noProof="0" dirty="0">
                  <a:solidFill>
                    <a:srgbClr val="000000"/>
                  </a:solidFill>
                  <a:latin typeface="Segoe Sans Display"/>
                  <a:hlinkClick r:id="rId20" action="ppaction://hlinksldjump" tooltip="App Modernization with AI Agents">
                    <a:extLst>
                      <a:ext uri="{A12FA001-AC4F-418D-AE19-62706E023703}">
                        <ahyp:hlinkClr xmlns:ahyp="http://schemas.microsoft.com/office/drawing/2018/hyperlinkcolor" val="tx"/>
                      </a:ext>
                    </a:extLst>
                  </a:hlinkClick>
                </a:rPr>
                <a:t>.NET and Java Application stack Modernization (inclusive of Apps, Database, Infra) </a:t>
              </a:r>
              <a:endParaRPr lang="en-US" sz="900" noProof="0" dirty="0">
                <a:solidFill>
                  <a:srgbClr val="000000"/>
                </a:solidFill>
                <a:latin typeface="Segoe Sans Display"/>
              </a:endParaRPr>
            </a:p>
            <a:p>
              <a:pPr marL="917567" lvl="1" indent="-171450" defTabSz="914321">
                <a:buFont typeface="Courier New" panose="02070309020205020404" pitchFamily="49" charset="0"/>
                <a:buChar char="o"/>
                <a:defRPr/>
              </a:pPr>
              <a:r>
                <a:rPr lang="en-US" sz="900" noProof="0" dirty="0">
                  <a:solidFill>
                    <a:srgbClr val="000000"/>
                  </a:solidFill>
                  <a:latin typeface="Segoe Sans Display"/>
                </a:rPr>
                <a:t>Container-to-Container – EKS, GKE, or on-prem Kubernetes to AKS</a:t>
              </a:r>
            </a:p>
            <a:p>
              <a:pPr marL="460363" indent="-171446" defTabSz="914321">
                <a:buFont typeface="Arial" panose="020B0604020202020204" pitchFamily="34" charset="0"/>
                <a:buChar char="•"/>
                <a:defRPr/>
              </a:pPr>
              <a:r>
                <a:rPr lang="en-US" sz="900" noProof="0" dirty="0">
                  <a:solidFill>
                    <a:srgbClr val="000000"/>
                  </a:solidFill>
                  <a:latin typeface="Segoe Sans Display"/>
                  <a:hlinkClick r:id="rId21" action="ppaction://hlinksldjump" tooltip="SQL Server, PostgreSQL, MySQL, Azure DocumentDB, MongoDB ATLAS, Cassandra and MariaDB">
                    <a:extLst>
                      <a:ext uri="{A12FA001-AC4F-418D-AE19-62706E023703}">
                        <ahyp:hlinkClr xmlns:ahyp="http://schemas.microsoft.com/office/drawing/2018/hyperlinkcolor" val="tx"/>
                      </a:ext>
                    </a:extLst>
                  </a:hlinkClick>
                </a:rPr>
                <a:t>SQL Server → Azure SQL (VM, MI, DB) ; PostgreSQL/MySQL → Azure Flexible Server</a:t>
              </a:r>
              <a:endParaRPr lang="en-US" sz="900" noProof="0" dirty="0">
                <a:solidFill>
                  <a:srgbClr val="000000"/>
                </a:solidFill>
                <a:latin typeface="Segoe Sans Display"/>
              </a:endParaRPr>
            </a:p>
            <a:p>
              <a:pPr marL="460363" indent="-171446" defTabSz="914321">
                <a:buFont typeface="Arial" panose="020B0604020202020204" pitchFamily="34" charset="0"/>
                <a:buChar char="•"/>
                <a:defRPr/>
              </a:pPr>
              <a:r>
                <a:rPr lang="en-US" sz="900" noProof="0" dirty="0">
                  <a:solidFill>
                    <a:srgbClr val="000000"/>
                  </a:solidFill>
                  <a:latin typeface="Segoe Sans Display"/>
                  <a:hlinkClick r:id="rId22" action="ppaction://hlinksldjump" tooltip="Heterogeneous Database Modernization from Oracle, Sybase to SQL/PGSQL">
                    <a:extLst>
                      <a:ext uri="{A12FA001-AC4F-418D-AE19-62706E023703}">
                        <ahyp:hlinkClr xmlns:ahyp="http://schemas.microsoft.com/office/drawing/2018/hyperlinkcolor" val="tx"/>
                      </a:ext>
                    </a:extLst>
                  </a:hlinkClick>
                </a:rPr>
                <a:t>Heterogeneous Database Modernization from Oracle, Sybase to SQL/PGSQL</a:t>
              </a:r>
              <a:endParaRPr lang="en-US" sz="900" noProof="0" dirty="0">
                <a:solidFill>
                  <a:srgbClr val="000000"/>
                </a:solidFill>
                <a:latin typeface="Segoe Sans Display"/>
              </a:endParaRPr>
            </a:p>
            <a:p>
              <a:pPr marL="460363" indent="-171446" defTabSz="914321">
                <a:buFont typeface="Arial" panose="020B0604020202020204" pitchFamily="34" charset="0"/>
                <a:buChar char="•"/>
                <a:defRPr/>
              </a:pPr>
              <a:endParaRPr lang="en-US" sz="700" noProof="0" dirty="0">
                <a:solidFill>
                  <a:srgbClr val="000000"/>
                </a:solidFill>
                <a:latin typeface="Segoe Sans Display"/>
              </a:endParaRPr>
            </a:p>
          </p:txBody>
        </p:sp>
        <p:sp>
          <p:nvSpPr>
            <p:cNvPr id="96" name="Graphic 92">
              <a:extLst>
                <a:ext uri="{FF2B5EF4-FFF2-40B4-BE49-F238E27FC236}">
                  <a16:creationId xmlns:a16="http://schemas.microsoft.com/office/drawing/2014/main" id="{24D4AA64-1535-06FE-32F8-429E6B3F6770}"/>
                </a:ext>
                <a:ext uri="{C183D7F6-B498-43B3-948B-1728B52AA6E4}">
                  <adec:decorative xmlns:adec="http://schemas.microsoft.com/office/drawing/2017/decorative" val="1"/>
                </a:ext>
              </a:extLst>
            </p:cNvPr>
            <p:cNvSpPr/>
            <p:nvPr/>
          </p:nvSpPr>
          <p:spPr>
            <a:xfrm>
              <a:off x="2139952" y="2653221"/>
              <a:ext cx="334629" cy="121803"/>
            </a:xfrm>
            <a:custGeom>
              <a:avLst/>
              <a:gdLst>
                <a:gd name="connsiteX0" fmla="*/ 295128 w 368236"/>
                <a:gd name="connsiteY0" fmla="*/ 12554 h 368212"/>
                <a:gd name="connsiteX1" fmla="*/ 355683 w 368236"/>
                <a:gd name="connsiteY1" fmla="*/ 73110 h 368212"/>
                <a:gd name="connsiteX2" fmla="*/ 355683 w 368236"/>
                <a:gd name="connsiteY2" fmla="*/ 133726 h 368212"/>
                <a:gd name="connsiteX3" fmla="*/ 309517 w 368236"/>
                <a:gd name="connsiteY3" fmla="*/ 179878 h 368212"/>
                <a:gd name="connsiteX4" fmla="*/ 342900 w 368236"/>
                <a:gd name="connsiteY4" fmla="*/ 225337 h 368212"/>
                <a:gd name="connsiteX5" fmla="*/ 342900 w 368236"/>
                <a:gd name="connsiteY5" fmla="*/ 320587 h 368212"/>
                <a:gd name="connsiteX6" fmla="*/ 295275 w 368236"/>
                <a:gd name="connsiteY6" fmla="*/ 368212 h 368212"/>
                <a:gd name="connsiteX7" fmla="*/ 47625 w 368236"/>
                <a:gd name="connsiteY7" fmla="*/ 368212 h 368212"/>
                <a:gd name="connsiteX8" fmla="*/ 0 w 368236"/>
                <a:gd name="connsiteY8" fmla="*/ 320587 h 368212"/>
                <a:gd name="connsiteX9" fmla="*/ 0 w 368236"/>
                <a:gd name="connsiteY9" fmla="*/ 72936 h 368212"/>
                <a:gd name="connsiteX10" fmla="*/ 47625 w 368236"/>
                <a:gd name="connsiteY10" fmla="*/ 25311 h 368212"/>
                <a:gd name="connsiteX11" fmla="*/ 142875 w 368236"/>
                <a:gd name="connsiteY11" fmla="*/ 25311 h 368212"/>
                <a:gd name="connsiteX12" fmla="*/ 188345 w 368236"/>
                <a:gd name="connsiteY12" fmla="*/ 58733 h 368212"/>
                <a:gd name="connsiteX13" fmla="*/ 234511 w 368236"/>
                <a:gd name="connsiteY13" fmla="*/ 12554 h 368212"/>
                <a:gd name="connsiteX14" fmla="*/ 295128 w 368236"/>
                <a:gd name="connsiteY14" fmla="*/ 12554 h 368212"/>
                <a:gd name="connsiteX15" fmla="*/ 152400 w 368236"/>
                <a:gd name="connsiteY15" fmla="*/ 215812 h 368212"/>
                <a:gd name="connsiteX16" fmla="*/ 38100 w 368236"/>
                <a:gd name="connsiteY16" fmla="*/ 215812 h 368212"/>
                <a:gd name="connsiteX17" fmla="*/ 38100 w 368236"/>
                <a:gd name="connsiteY17" fmla="*/ 320587 h 368212"/>
                <a:gd name="connsiteX18" fmla="*/ 47625 w 368236"/>
                <a:gd name="connsiteY18" fmla="*/ 330112 h 368212"/>
                <a:gd name="connsiteX19" fmla="*/ 152400 w 368236"/>
                <a:gd name="connsiteY19" fmla="*/ 330112 h 368212"/>
                <a:gd name="connsiteX20" fmla="*/ 152400 w 368236"/>
                <a:gd name="connsiteY20" fmla="*/ 215812 h 368212"/>
                <a:gd name="connsiteX21" fmla="*/ 295275 w 368236"/>
                <a:gd name="connsiteY21" fmla="*/ 215812 h 368212"/>
                <a:gd name="connsiteX22" fmla="*/ 190500 w 368236"/>
                <a:gd name="connsiteY22" fmla="*/ 215812 h 368212"/>
                <a:gd name="connsiteX23" fmla="*/ 190500 w 368236"/>
                <a:gd name="connsiteY23" fmla="*/ 330112 h 368212"/>
                <a:gd name="connsiteX24" fmla="*/ 295275 w 368236"/>
                <a:gd name="connsiteY24" fmla="*/ 330112 h 368212"/>
                <a:gd name="connsiteX25" fmla="*/ 304800 w 368236"/>
                <a:gd name="connsiteY25" fmla="*/ 320587 h 368212"/>
                <a:gd name="connsiteX26" fmla="*/ 304800 w 368236"/>
                <a:gd name="connsiteY26" fmla="*/ 225337 h 368212"/>
                <a:gd name="connsiteX27" fmla="*/ 295275 w 368236"/>
                <a:gd name="connsiteY27" fmla="*/ 215812 h 368212"/>
                <a:gd name="connsiteX28" fmla="*/ 217932 w 368236"/>
                <a:gd name="connsiteY28" fmla="*/ 177699 h 368212"/>
                <a:gd name="connsiteX29" fmla="*/ 190500 w 368236"/>
                <a:gd name="connsiteY29" fmla="*/ 150266 h 368212"/>
                <a:gd name="connsiteX30" fmla="*/ 190500 w 368236"/>
                <a:gd name="connsiteY30" fmla="*/ 177712 h 368212"/>
                <a:gd name="connsiteX31" fmla="*/ 217932 w 368236"/>
                <a:gd name="connsiteY31" fmla="*/ 177699 h 368212"/>
                <a:gd name="connsiteX32" fmla="*/ 142875 w 368236"/>
                <a:gd name="connsiteY32" fmla="*/ 63411 h 368212"/>
                <a:gd name="connsiteX33" fmla="*/ 47625 w 368236"/>
                <a:gd name="connsiteY33" fmla="*/ 63411 h 368212"/>
                <a:gd name="connsiteX34" fmla="*/ 38100 w 368236"/>
                <a:gd name="connsiteY34" fmla="*/ 72936 h 368212"/>
                <a:gd name="connsiteX35" fmla="*/ 38100 w 368236"/>
                <a:gd name="connsiteY35" fmla="*/ 177712 h 368212"/>
                <a:gd name="connsiteX36" fmla="*/ 152400 w 368236"/>
                <a:gd name="connsiteY36" fmla="*/ 177712 h 368212"/>
                <a:gd name="connsiteX37" fmla="*/ 152400 w 368236"/>
                <a:gd name="connsiteY37" fmla="*/ 72936 h 368212"/>
                <a:gd name="connsiteX38" fmla="*/ 142875 w 368236"/>
                <a:gd name="connsiteY38" fmla="*/ 63411 h 36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8236" h="368212">
                  <a:moveTo>
                    <a:pt x="295128" y="12554"/>
                  </a:moveTo>
                  <a:lnTo>
                    <a:pt x="355683" y="73110"/>
                  </a:lnTo>
                  <a:cubicBezTo>
                    <a:pt x="372422" y="89849"/>
                    <a:pt x="372422" y="116988"/>
                    <a:pt x="355683" y="133726"/>
                  </a:cubicBezTo>
                  <a:lnTo>
                    <a:pt x="309517" y="179878"/>
                  </a:lnTo>
                  <a:cubicBezTo>
                    <a:pt x="328862" y="185932"/>
                    <a:pt x="342900" y="203995"/>
                    <a:pt x="342900" y="225337"/>
                  </a:cubicBezTo>
                  <a:lnTo>
                    <a:pt x="342900" y="320587"/>
                  </a:lnTo>
                  <a:cubicBezTo>
                    <a:pt x="342900" y="346890"/>
                    <a:pt x="321577" y="368212"/>
                    <a:pt x="295275" y="368212"/>
                  </a:cubicBezTo>
                  <a:lnTo>
                    <a:pt x="47625" y="368212"/>
                  </a:lnTo>
                  <a:cubicBezTo>
                    <a:pt x="21322" y="368212"/>
                    <a:pt x="0" y="346890"/>
                    <a:pt x="0" y="320587"/>
                  </a:cubicBezTo>
                  <a:lnTo>
                    <a:pt x="0" y="72936"/>
                  </a:lnTo>
                  <a:cubicBezTo>
                    <a:pt x="0" y="46634"/>
                    <a:pt x="21322" y="25311"/>
                    <a:pt x="47625" y="25311"/>
                  </a:cubicBezTo>
                  <a:lnTo>
                    <a:pt x="142875" y="25311"/>
                  </a:lnTo>
                  <a:cubicBezTo>
                    <a:pt x="164230" y="25311"/>
                    <a:pt x="182303" y="39367"/>
                    <a:pt x="188345" y="58733"/>
                  </a:cubicBezTo>
                  <a:lnTo>
                    <a:pt x="234511" y="12554"/>
                  </a:lnTo>
                  <a:cubicBezTo>
                    <a:pt x="251250" y="-4185"/>
                    <a:pt x="278389" y="-4185"/>
                    <a:pt x="295128" y="12554"/>
                  </a:cubicBezTo>
                  <a:close/>
                  <a:moveTo>
                    <a:pt x="152400" y="215812"/>
                  </a:moveTo>
                  <a:lnTo>
                    <a:pt x="38100" y="215812"/>
                  </a:lnTo>
                  <a:lnTo>
                    <a:pt x="38100" y="320587"/>
                  </a:lnTo>
                  <a:cubicBezTo>
                    <a:pt x="38100" y="325847"/>
                    <a:pt x="42365" y="330112"/>
                    <a:pt x="47625" y="330112"/>
                  </a:cubicBezTo>
                  <a:lnTo>
                    <a:pt x="152400" y="330112"/>
                  </a:lnTo>
                  <a:lnTo>
                    <a:pt x="152400" y="215812"/>
                  </a:lnTo>
                  <a:close/>
                  <a:moveTo>
                    <a:pt x="295275" y="215812"/>
                  </a:moveTo>
                  <a:lnTo>
                    <a:pt x="190500" y="215812"/>
                  </a:lnTo>
                  <a:lnTo>
                    <a:pt x="190500" y="330112"/>
                  </a:lnTo>
                  <a:lnTo>
                    <a:pt x="295275" y="330112"/>
                  </a:lnTo>
                  <a:cubicBezTo>
                    <a:pt x="300535" y="330112"/>
                    <a:pt x="304800" y="325847"/>
                    <a:pt x="304800" y="320587"/>
                  </a:cubicBezTo>
                  <a:lnTo>
                    <a:pt x="304800" y="225337"/>
                  </a:lnTo>
                  <a:cubicBezTo>
                    <a:pt x="304800" y="220076"/>
                    <a:pt x="300535" y="215812"/>
                    <a:pt x="295275" y="215812"/>
                  </a:cubicBezTo>
                  <a:close/>
                  <a:moveTo>
                    <a:pt x="217932" y="177699"/>
                  </a:moveTo>
                  <a:lnTo>
                    <a:pt x="190500" y="150266"/>
                  </a:lnTo>
                  <a:lnTo>
                    <a:pt x="190500" y="177712"/>
                  </a:lnTo>
                  <a:lnTo>
                    <a:pt x="217932" y="177699"/>
                  </a:lnTo>
                  <a:close/>
                  <a:moveTo>
                    <a:pt x="142875" y="63411"/>
                  </a:moveTo>
                  <a:lnTo>
                    <a:pt x="47625" y="63411"/>
                  </a:lnTo>
                  <a:cubicBezTo>
                    <a:pt x="42365" y="63411"/>
                    <a:pt x="38100" y="67676"/>
                    <a:pt x="38100" y="72936"/>
                  </a:cubicBezTo>
                  <a:lnTo>
                    <a:pt x="38100" y="177712"/>
                  </a:lnTo>
                  <a:lnTo>
                    <a:pt x="152400" y="177712"/>
                  </a:lnTo>
                  <a:lnTo>
                    <a:pt x="152400" y="72936"/>
                  </a:lnTo>
                  <a:cubicBezTo>
                    <a:pt x="152400" y="67676"/>
                    <a:pt x="148135" y="63411"/>
                    <a:pt x="142875" y="63411"/>
                  </a:cubicBezTo>
                  <a:close/>
                </a:path>
              </a:pathLst>
            </a:custGeom>
            <a:gradFill flip="none" rotWithShape="1">
              <a:gsLst>
                <a:gs pos="100000">
                  <a:srgbClr val="0677CE"/>
                </a:gs>
                <a:gs pos="0">
                  <a:srgbClr val="319A89">
                    <a:lumMod val="100000"/>
                  </a:srgbClr>
                </a:gs>
              </a:gsLst>
              <a:path path="circle">
                <a:fillToRect l="100000" b="100000"/>
              </a:path>
              <a:tileRect t="-100000" r="-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21">
                <a:defRPr/>
              </a:pPr>
              <a:endParaRPr lang="en-US" sz="1400" noProof="0" dirty="0">
                <a:solidFill>
                  <a:srgbClr val="000000"/>
                </a:solidFill>
                <a:latin typeface="Segoe Sans Text"/>
              </a:endParaRPr>
            </a:p>
          </p:txBody>
        </p:sp>
      </p:grpSp>
    </p:spTree>
    <p:extLst>
      <p:ext uri="{BB962C8B-B14F-4D97-AF65-F5344CB8AC3E}">
        <p14:creationId xmlns:p14="http://schemas.microsoft.com/office/powerpoint/2010/main" val="13129702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42" presetClass="path" presetSubtype="0" decel="100000" fill="hold" grpId="1" nodeType="withEffect">
                                  <p:stCondLst>
                                    <p:cond delay="200"/>
                                  </p:stCondLst>
                                  <p:childTnLst>
                                    <p:animMotion origin="layout" path="M 0 -2.22222E-6 L 0 0.03542 " pathEditMode="relative" rAng="0" ptsTypes="AA">
                                      <p:cBhvr>
                                        <p:cTn id="9" dur="700" spd="-100000" fill="hold"/>
                                        <p:tgtEl>
                                          <p:spTgt spid="1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C91EBBAF-FAE1-3089-BFFE-A9E87730F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B9A23-6D47-B684-65FB-39C2963B62DB}"/>
              </a:ext>
            </a:extLst>
          </p:cNvPr>
          <p:cNvSpPr>
            <a:spLocks noGrp="1"/>
          </p:cNvSpPr>
          <p:nvPr>
            <p:ph type="title"/>
          </p:nvPr>
        </p:nvSpPr>
        <p:spPr>
          <a:xfrm>
            <a:off x="585216" y="2916268"/>
            <a:ext cx="9144000" cy="615553"/>
          </a:xfrm>
        </p:spPr>
        <p:txBody>
          <a:bodyPr/>
          <a:lstStyle/>
          <a:p>
            <a:r>
              <a:rPr lang="en-US" noProof="0" dirty="0"/>
              <a:t>Scope 1 Delivery- Service Catalogue</a:t>
            </a:r>
            <a:endParaRPr lang="en-US" noProof="0" dirty="0">
              <a:solidFill>
                <a:schemeClr val="tx1"/>
              </a:solidFill>
            </a:endParaRPr>
          </a:p>
        </p:txBody>
      </p:sp>
      <p:sp>
        <p:nvSpPr>
          <p:cNvPr id="4" name="Image 10" descr="Home (outlined)">
            <a:hlinkClick r:id="" action="ppaction://noaction"/>
            <a:extLst>
              <a:ext uri="{FF2B5EF4-FFF2-40B4-BE49-F238E27FC236}">
                <a16:creationId xmlns:a16="http://schemas.microsoft.com/office/drawing/2014/main" id="{570A5C73-9ED9-E9ED-E5D7-67E48FA8426C}"/>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
        <p:nvSpPr>
          <p:cNvPr id="6" name="TextBox 5">
            <a:extLst>
              <a:ext uri="{FF2B5EF4-FFF2-40B4-BE49-F238E27FC236}">
                <a16:creationId xmlns:a16="http://schemas.microsoft.com/office/drawing/2014/main" id="{968EF820-4E45-267C-57F4-37AEDEB3E16A}"/>
              </a:ext>
            </a:extLst>
          </p:cNvPr>
          <p:cNvSpPr txBox="1"/>
          <p:nvPr/>
        </p:nvSpPr>
        <p:spPr>
          <a:xfrm>
            <a:off x="9184575" y="797269"/>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0852347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 presetClass="emph" presetSubtype="0" fill="hold" grpId="1" nodeType="withEffect">
                                  <p:stCondLst>
                                    <p:cond delay="0"/>
                                  </p:stCondLst>
                                  <p:childTnLst>
                                    <p:animScale>
                                      <p:cBhvr>
                                        <p:cTn id="9" dur="100" fill="hold"/>
                                        <p:tgtEl>
                                          <p:spTgt spid="6"/>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2AC9C3-DEC7-1B47-44B0-D168AE7D59C9}"/>
              </a:ext>
            </a:extLst>
          </p:cNvPr>
          <p:cNvSpPr txBox="1"/>
          <p:nvPr/>
        </p:nvSpPr>
        <p:spPr>
          <a:xfrm>
            <a:off x="6096001" y="1236099"/>
            <a:ext cx="5910942" cy="5210009"/>
          </a:xfrm>
          <a:prstGeom prst="rect">
            <a:avLst/>
          </a:prstGeom>
          <a:solidFill>
            <a:schemeClr val="bg1"/>
          </a:solidFill>
        </p:spPr>
        <p:txBody>
          <a:bodyPr wrap="square" t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a:p>
            <a:pPr marR="0" lvl="0" algn="l"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Security and Policy Management</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Recommended Baseline Security and Policy setup</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Azure Policy initiative assignments at Management Group level</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Defender for Cloud and DDoS</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Microsoft Defender for Cloud baseline configuration</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Azure DDoS Protection (Standard)</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Integration with Sentinel (if in scope)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a:p>
            <a:pPr marR="0" lvl="0" algn="l"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Monitoring Management</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Monitoring Enablement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Logging and monitoring enablement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Deploy Azure Monitor Baseline Alerts (AMBA)</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Configure Azure Monitor Log Analytics workspace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a:p>
            <a:pPr marR="0" lvl="0" algn="l"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Platform Foundation / automation</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Subscription vending</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Automated subscription creation model</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Management Group placement automation</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Policy inheritance validation </a:t>
            </a: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&amp; RBAC auto-assignment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Naming convention &amp; Tag enforcement</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Azure Verified Modules based deployment (terraform)</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Infrastructure as Code (IaC) using Terraform and Azure Verified Modules (AVM)</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Version-controlled deployments</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CI/CD pipeline integration (GitHub &amp; Azure DevOps)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a:p>
            <a:pPr marR="0" lvl="0" algn="l"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Landing Zone Validation </a:t>
            </a: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(checklist based)</a:t>
            </a:r>
            <a:endPar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Validation of existing Landing Zone</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Architecture review against CAF Enterprise-Scale reference</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Security posture assessment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Network topology validation &amp; RBAC review</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Subscription structure review</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endPar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sp>
        <p:nvSpPr>
          <p:cNvPr id="3" name="TextBox 2">
            <a:extLst>
              <a:ext uri="{FF2B5EF4-FFF2-40B4-BE49-F238E27FC236}">
                <a16:creationId xmlns:a16="http://schemas.microsoft.com/office/drawing/2014/main" id="{9A924AE9-A310-57FE-C884-00BF6193F3F6}"/>
              </a:ext>
            </a:extLst>
          </p:cNvPr>
          <p:cNvSpPr txBox="1"/>
          <p:nvPr/>
        </p:nvSpPr>
        <p:spPr>
          <a:xfrm>
            <a:off x="289559" y="1341512"/>
            <a:ext cx="5679725" cy="5304622"/>
          </a:xfrm>
          <a:prstGeom prst="rect">
            <a:avLst/>
          </a:prstGeom>
          <a:solidFill>
            <a:schemeClr val="bg1"/>
          </a:solidFill>
        </p:spPr>
        <p:txBody>
          <a:bodyPr wrap="square" tIns="182880" rtlCol="0">
            <a:noAutofit/>
          </a:bodyPr>
          <a:lstStyle/>
          <a:p>
            <a:pPr>
              <a:defRPr/>
            </a:pPr>
            <a:r>
              <a:rPr lang="en-US" sz="900" b="1" noProof="0" dirty="0">
                <a:solidFill>
                  <a:srgbClr val="000000"/>
                </a:solidFill>
                <a:latin typeface="Segoe Sans Text" pitchFamily="2" charset="0"/>
                <a:cs typeface="Segoe Sans Text" pitchFamily="2" charset="0"/>
              </a:rPr>
              <a:t>Enterprise scale Platform Landing Zone deployment</a:t>
            </a:r>
          </a:p>
          <a:p>
            <a:pPr marL="400050" marR="0" lvl="1" indent="-2301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Establish Landing Zone for Modernization, Migration and Cloud Native </a:t>
            </a:r>
          </a:p>
          <a:p>
            <a:pPr marL="400050" marR="0" lvl="1" indent="-2301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Green-field and Brown-field scenario</a:t>
            </a:r>
          </a:p>
          <a:p>
            <a:pPr marL="400050" marR="0" lvl="1" indent="-2301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Multi-region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a:p>
            <a:pPr marR="0" lvl="0" algn="l"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Identity and Management</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Baseline Identity deployment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Integration with on-premises Active Directory (</a:t>
            </a:r>
            <a:r>
              <a:rPr kumimoji="0" lang="en-US" sz="900" b="0" i="0" u="none" strike="noStrike" kern="1200" cap="none" spc="0" normalizeH="0" baseline="0" noProof="0" dirty="0">
                <a:ln>
                  <a:noFill/>
                </a:ln>
                <a:solidFill>
                  <a:srgbClr val="7F5A1A"/>
                </a:solidFill>
                <a:effectLst/>
                <a:uLnTx/>
                <a:uFillTx/>
                <a:latin typeface="Segoe Sans Text" pitchFamily="2" charset="0"/>
                <a:ea typeface="+mn-ea"/>
                <a:cs typeface="Segoe Sans Text" pitchFamily="2" charset="0"/>
              </a:rPr>
              <a:t>Hybrid Identity</a:t>
            </a: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Conditional Access baseline policies</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Privileged Identity Management (PIM) enablement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MFA enforcement for privileged roles (Third-party managed by customer)</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Break-glass account strategy</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Scalable Management Group hierarchy</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Enterprise-aligned </a:t>
            </a:r>
            <a:r>
              <a:rPr lang="en-US" sz="900" noProof="0" dirty="0">
                <a:solidFill>
                  <a:srgbClr val="000000"/>
                </a:solidFill>
                <a:latin typeface="Segoe Sans Text" pitchFamily="2" charset="0"/>
                <a:cs typeface="Segoe Sans Text" pitchFamily="2" charset="0"/>
              </a:rPr>
              <a:t>Management Group design (Root, Platform</a:t>
            </a: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 Landing Zones, Sandbox)</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Subscription segmentation by Environment (Prod / Non-Prod), Business Unit, Workload Type</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Policy inheritance strategy aligned to hierarchy</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Default RBAC (limited customization)</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Standard Azure built-in roles</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Least privilege model</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Separation of duties between teams (Platform, Application, Security,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a:p>
            <a:pPr marR="0" lvl="0" algn="l"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Network and Connectivity</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Express Route &amp; VPN Configuration support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Design and configuration guidance</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Connectivity model between on-premise/multi-cloud environments to Azure </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Hub and Spoke with Azure Firewall</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Centralized Hub VNet design</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Azure Firewall deployment (Application rules, Network rules, DNAT rules) </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Shared services placement in hub (DNS, Bastion)</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Spoke onboarding model</a:t>
            </a:r>
          </a:p>
          <a:p>
            <a:pPr marL="36576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latin typeface="Segoe Sans Text" pitchFamily="2" charset="0"/>
                <a:ea typeface="+mn-ea"/>
                <a:cs typeface="Segoe Sans Text" pitchFamily="2" charset="0"/>
              </a:rPr>
              <a:t>VWAN and VWAN Hub (Azure Only)</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Azure Virtual WAN deployment</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VWAN Hub configuration</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Azure-only scope (Third-party NVAs and SDWAN not supported)</a:t>
            </a:r>
          </a:p>
          <a:p>
            <a:pPr marL="574675" marR="0" lvl="2" indent="-171450" algn="l" defTabSz="914400" rtl="0" eaLnBrk="1" fontAlgn="auto" latinLnBrk="0" hangingPunct="1">
              <a:lnSpc>
                <a:spcPct val="100000"/>
              </a:lnSpc>
              <a:spcBef>
                <a:spcPts val="0"/>
              </a:spcBef>
              <a:spcAft>
                <a:spcPts val="0"/>
              </a:spcAft>
              <a:buClrTx/>
              <a:buSzTx/>
              <a:buFont typeface="Segoe Sans Text" pitchFamily="2" charset="0"/>
              <a:buChar char="‒"/>
              <a:tabLst/>
              <a:defRPr/>
            </a:pPr>
            <a:r>
              <a:rPr kumimoji="0" lang="en-US" sz="9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Azure Secure VWAN HUB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1"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sp>
        <p:nvSpPr>
          <p:cNvPr id="8" name="Rounded Rectangle 55">
            <a:extLst>
              <a:ext uri="{FF2B5EF4-FFF2-40B4-BE49-F238E27FC236}">
                <a16:creationId xmlns:a16="http://schemas.microsoft.com/office/drawing/2014/main" id="{8CCC174E-9D66-EAB3-8035-649D39A45B42}"/>
              </a:ext>
              <a:ext uri="{C183D7F6-B498-43B3-948B-1728B52AA6E4}">
                <adec:decorative xmlns:adec="http://schemas.microsoft.com/office/drawing/2017/decorative" val="1"/>
              </a:ext>
            </a:extLst>
          </p:cNvPr>
          <p:cNvSpPr>
            <a:spLocks/>
          </p:cNvSpPr>
          <p:nvPr/>
        </p:nvSpPr>
        <p:spPr bwMode="auto">
          <a:xfrm>
            <a:off x="264754" y="862519"/>
            <a:ext cx="11840333" cy="5662106"/>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 name="Title 1">
            <a:extLst>
              <a:ext uri="{FF2B5EF4-FFF2-40B4-BE49-F238E27FC236}">
                <a16:creationId xmlns:a16="http://schemas.microsoft.com/office/drawing/2014/main" id="{3DC29ADD-24AB-F1EA-5E3D-B05B75BBF4A1}"/>
              </a:ext>
            </a:extLst>
          </p:cNvPr>
          <p:cNvSpPr>
            <a:spLocks noGrp="1"/>
          </p:cNvSpPr>
          <p:nvPr>
            <p:ph type="title"/>
          </p:nvPr>
        </p:nvSpPr>
        <p:spPr>
          <a:xfrm>
            <a:off x="185057" y="142935"/>
            <a:ext cx="9198892" cy="446276"/>
          </a:xfrm>
        </p:spPr>
        <p:txBody>
          <a:bodyPr/>
          <a:lstStyle/>
          <a:p>
            <a:r>
              <a:rPr lang="en-US" sz="2900" noProof="0" dirty="0"/>
              <a:t>Service Catalog – Platform Foundation &amp; Landing Zone</a:t>
            </a:r>
          </a:p>
        </p:txBody>
      </p:sp>
      <p:sp>
        <p:nvSpPr>
          <p:cNvPr id="5" name="TextBox 4">
            <a:extLst>
              <a:ext uri="{FF2B5EF4-FFF2-40B4-BE49-F238E27FC236}">
                <a16:creationId xmlns:a16="http://schemas.microsoft.com/office/drawing/2014/main" id="{9ED3B4A0-CDAB-4CF9-43A2-43F1474FEE26}"/>
              </a:ext>
            </a:extLst>
          </p:cNvPr>
          <p:cNvSpPr txBox="1">
            <a:spLocks/>
          </p:cNvSpPr>
          <p:nvPr/>
        </p:nvSpPr>
        <p:spPr>
          <a:xfrm>
            <a:off x="289560" y="990908"/>
            <a:ext cx="11790722" cy="315278"/>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defRPr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noProof="0" dirty="0"/>
              <a:t>Azure Foundation | Landing Zone</a:t>
            </a:r>
          </a:p>
        </p:txBody>
      </p:sp>
      <p:sp>
        <p:nvSpPr>
          <p:cNvPr id="7" name="TextBox 6">
            <a:extLst>
              <a:ext uri="{FF2B5EF4-FFF2-40B4-BE49-F238E27FC236}">
                <a16:creationId xmlns:a16="http://schemas.microsoft.com/office/drawing/2014/main" id="{5EA51A1A-31F6-029D-B8AC-54306B31C2BD}"/>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defTabSz="885848" fontAlgn="base">
              <a:lnSpc>
                <a:spcPct val="100000"/>
              </a:lnSpc>
              <a:spcBef>
                <a:spcPct val="0"/>
              </a:spcBef>
              <a:spcAft>
                <a:spcPct val="0"/>
              </a:spcAft>
              <a:buClrTx/>
              <a:buSzTx/>
              <a:buFontTx/>
              <a:buNone/>
              <a:tabLst/>
              <a:defRPr kumimoji="0" b="0" i="0" u="none" strike="noStrike" kern="0" cap="none" spc="0" normalizeH="0" baseline="0">
                <a:ln>
                  <a:noFill/>
                </a:ln>
                <a:effectLst/>
                <a:uLnTx/>
                <a:uFillTx/>
                <a:latin typeface="+mj-lt"/>
                <a:cs typeface="Segoe Sans Display Thin"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lgn="l" defTabSz="914400" fontAlgn="auto">
              <a:spcBef>
                <a:spcPts val="0"/>
              </a:spcBef>
              <a:spcAft>
                <a:spcPts val="0"/>
              </a:spcAft>
            </a:pPr>
            <a:r>
              <a:rPr lang="en-US" sz="1200" kern="1200" noProof="0" dirty="0">
                <a:solidFill>
                  <a:srgbClr val="000000"/>
                </a:solidFill>
                <a:latin typeface="Segoe UI" panose="020B0502040204020203" pitchFamily="34" charset="0"/>
                <a:cs typeface="Segoe UI" panose="020B0502040204020203" pitchFamily="34" charset="0"/>
              </a:rPr>
              <a:t>Factory Optimized Workload</a:t>
            </a:r>
          </a:p>
        </p:txBody>
      </p:sp>
      <p:sp>
        <p:nvSpPr>
          <p:cNvPr id="9" name="Rectangle: Rounded Corners 8">
            <a:extLst>
              <a:ext uri="{FF2B5EF4-FFF2-40B4-BE49-F238E27FC236}">
                <a16:creationId xmlns:a16="http://schemas.microsoft.com/office/drawing/2014/main" id="{48B0951C-5980-AB84-57DB-EFC65BB915FF}"/>
              </a:ext>
            </a:extLst>
          </p:cNvPr>
          <p:cNvSpPr/>
          <p:nvPr/>
        </p:nvSpPr>
        <p:spPr bwMode="auto">
          <a:xfrm>
            <a:off x="1383914" y="-373140"/>
            <a:ext cx="5260634" cy="158213"/>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4009964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D4C7-CCF9-1D3E-966A-F6DD371AD5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24AF80-CA01-D596-05E9-1707C865D7D9}"/>
              </a:ext>
            </a:extLst>
          </p:cNvPr>
          <p:cNvSpPr txBox="1"/>
          <p:nvPr/>
        </p:nvSpPr>
        <p:spPr>
          <a:xfrm>
            <a:off x="8183443" y="1465838"/>
            <a:ext cx="3840480" cy="4614008"/>
          </a:xfrm>
          <a:prstGeom prst="rect">
            <a:avLst/>
          </a:prstGeom>
          <a:solidFill>
            <a:schemeClr val="bg1"/>
          </a:solidFill>
        </p:spPr>
        <p:txBody>
          <a:bodyPr wrap="square" tIns="182880" rtlCol="0">
            <a:noAutofit/>
          </a:bodyPr>
          <a:lstStyle/>
          <a:p>
            <a:pPr lvl="0">
              <a:defRPr/>
            </a:pPr>
            <a:r>
              <a:rPr lang="en-US" sz="1050" b="1" noProof="0" dirty="0">
                <a:solidFill>
                  <a:srgbClr val="000000"/>
                </a:solidFill>
                <a:latin typeface="Segoe Sans Text"/>
              </a:rPr>
              <a:t>Microsoft Defender for Cloud</a:t>
            </a:r>
          </a:p>
          <a:p>
            <a:pPr marL="171450" lvl="0" indent="-171450">
              <a:buFont typeface="Arial" panose="020B0604020202020204" pitchFamily="34" charset="0"/>
              <a:buChar char="•"/>
              <a:defRPr/>
            </a:pPr>
            <a:r>
              <a:rPr lang="en-US" sz="1050" noProof="0" dirty="0">
                <a:solidFill>
                  <a:srgbClr val="000000"/>
                </a:solidFill>
                <a:latin typeface="Segoe Sans Text"/>
              </a:rPr>
              <a:t>Cloud Security Posture Management (CSPM)</a:t>
            </a:r>
          </a:p>
          <a:p>
            <a:pPr marL="171450" lvl="0" indent="-171450">
              <a:buFont typeface="Arial" panose="020B0604020202020204" pitchFamily="34" charset="0"/>
              <a:buChar char="•"/>
              <a:defRPr/>
            </a:pPr>
            <a:r>
              <a:rPr lang="en-US" sz="1050" noProof="0" dirty="0">
                <a:solidFill>
                  <a:srgbClr val="000000"/>
                </a:solidFill>
                <a:latin typeface="Segoe Sans Text"/>
              </a:rPr>
              <a:t>Cloud Workload Protection (CWP)</a:t>
            </a:r>
          </a:p>
          <a:p>
            <a:pPr marL="171450" lvl="0" indent="-171450">
              <a:buFont typeface="Arial" panose="020B0604020202020204" pitchFamily="34" charset="0"/>
              <a:buChar char="•"/>
              <a:defRPr/>
            </a:pPr>
            <a:r>
              <a:rPr lang="en-US" sz="1050" noProof="0" dirty="0">
                <a:solidFill>
                  <a:srgbClr val="000000"/>
                </a:solidFill>
                <a:latin typeface="Segoe Sans Text"/>
              </a:rPr>
              <a:t>Servers / Databases </a:t>
            </a:r>
          </a:p>
          <a:p>
            <a:pPr marL="320040" lvl="1" indent="-171450">
              <a:buFont typeface="Arial" panose="020B0604020202020204" pitchFamily="34" charset="0"/>
              <a:buChar char="•"/>
              <a:defRPr/>
            </a:pPr>
            <a:r>
              <a:rPr lang="en-US" sz="1050" noProof="0" dirty="0">
                <a:solidFill>
                  <a:srgbClr val="000000"/>
                </a:solidFill>
                <a:latin typeface="Segoe Sans Text"/>
              </a:rPr>
              <a:t>Azure SQL databases </a:t>
            </a:r>
          </a:p>
          <a:p>
            <a:pPr marL="320040" lvl="1" indent="-171450">
              <a:buFont typeface="Arial" panose="020B0604020202020204" pitchFamily="34" charset="0"/>
              <a:buChar char="•"/>
              <a:defRPr/>
            </a:pPr>
            <a:r>
              <a:rPr lang="en-US" sz="1050" noProof="0" dirty="0">
                <a:solidFill>
                  <a:srgbClr val="000000"/>
                </a:solidFill>
                <a:latin typeface="Segoe Sans Text"/>
              </a:rPr>
              <a:t>SQL Servers on machines (SQL on Azure VM, On-Premise VM, Arc enabled SQL Servers)</a:t>
            </a:r>
          </a:p>
          <a:p>
            <a:pPr marL="320040" lvl="1" indent="-171450">
              <a:buFont typeface="Arial" panose="020B0604020202020204" pitchFamily="34" charset="0"/>
              <a:buChar char="•"/>
              <a:defRPr/>
            </a:pPr>
            <a:r>
              <a:rPr lang="en-US" sz="1050" noProof="0" dirty="0">
                <a:solidFill>
                  <a:srgbClr val="000000"/>
                </a:solidFill>
                <a:latin typeface="Segoe Sans Text"/>
              </a:rPr>
              <a:t>Open-source relational databases (PostgreSQL and MySQL flexible servers)</a:t>
            </a:r>
          </a:p>
          <a:p>
            <a:pPr marL="320040" lvl="1" indent="-171450">
              <a:buFont typeface="Arial" panose="020B0604020202020204" pitchFamily="34" charset="0"/>
              <a:buChar char="•"/>
              <a:defRPr/>
            </a:pPr>
            <a:r>
              <a:rPr lang="en-US" sz="1050" noProof="0" dirty="0">
                <a:solidFill>
                  <a:srgbClr val="000000"/>
                </a:solidFill>
                <a:latin typeface="Segoe Sans Text"/>
              </a:rPr>
              <a:t>Azure Cosmos DB / Storage / App Service / Containers</a:t>
            </a:r>
          </a:p>
          <a:p>
            <a:pPr marL="320040" lvl="1" indent="-171450">
              <a:buFont typeface="Arial" panose="020B0604020202020204" pitchFamily="34" charset="0"/>
              <a:buChar char="•"/>
              <a:defRPr/>
            </a:pPr>
            <a:r>
              <a:rPr lang="en-US" sz="1050" noProof="0" dirty="0">
                <a:solidFill>
                  <a:srgbClr val="000000"/>
                </a:solidFill>
                <a:latin typeface="Segoe Sans Text"/>
              </a:rPr>
              <a:t>AI Services / Key Vault / Resource Manager / APIs</a:t>
            </a:r>
          </a:p>
          <a:p>
            <a:pPr marL="171450" lvl="0" indent="-171450">
              <a:buFont typeface="Arial" panose="020B0604020202020204" pitchFamily="34" charset="0"/>
              <a:buChar char="•"/>
              <a:defRPr/>
            </a:pPr>
            <a:endParaRPr lang="en-US" sz="1050" noProof="0" dirty="0">
              <a:solidFill>
                <a:srgbClr val="000000"/>
              </a:solidFill>
              <a:latin typeface="Segoe Sans Text"/>
            </a:endParaRPr>
          </a:p>
          <a:p>
            <a:pPr marL="171450" lvl="0" indent="-171450">
              <a:buFont typeface="Arial" panose="020B0604020202020204" pitchFamily="34" charset="0"/>
              <a:buChar char="•"/>
              <a:defRPr/>
            </a:pPr>
            <a:r>
              <a:rPr lang="en-US" sz="1050" noProof="0" dirty="0">
                <a:solidFill>
                  <a:srgbClr val="000000"/>
                </a:solidFill>
                <a:latin typeface="Segoe Sans Text"/>
              </a:rPr>
              <a:t>Defender for Endpoint Mode setup (MDE to run in passive mode )</a:t>
            </a:r>
          </a:p>
          <a:p>
            <a:pPr marL="171450" lvl="0" indent="-171450">
              <a:buFont typeface="Arial" panose="020B0604020202020204" pitchFamily="34" charset="0"/>
              <a:buChar char="•"/>
              <a:defRPr/>
            </a:pPr>
            <a:endParaRPr lang="en-US" sz="1050" noProof="0" dirty="0">
              <a:solidFill>
                <a:srgbClr val="000000"/>
              </a:solidFill>
              <a:latin typeface="Segoe Sans Text"/>
            </a:endParaRPr>
          </a:p>
          <a:p>
            <a:pPr lvl="0">
              <a:defRPr/>
            </a:pPr>
            <a:r>
              <a:rPr lang="en-US" sz="1050" b="1" noProof="0" dirty="0">
                <a:latin typeface="Segoe Sans Text"/>
              </a:rPr>
              <a:t>Resiliency Enablement</a:t>
            </a:r>
          </a:p>
          <a:p>
            <a:pPr marL="171450" lvl="0" indent="-171450">
              <a:buFont typeface="Arial" panose="020B0604020202020204" pitchFamily="34" charset="0"/>
              <a:buChar char="•"/>
              <a:defRPr/>
            </a:pPr>
            <a:r>
              <a:rPr lang="en-US" sz="1050" noProof="0" dirty="0">
                <a:solidFill>
                  <a:srgbClr val="000000"/>
                </a:solidFill>
                <a:latin typeface="Segoe Sans Text"/>
              </a:rPr>
              <a:t>Enable Zonal Resiliency for Azure Resources for migrated resources</a:t>
            </a:r>
          </a:p>
          <a:p>
            <a:pPr marL="171450" lvl="0" indent="-171450">
              <a:buFont typeface="Arial" panose="020B0604020202020204" pitchFamily="34" charset="0"/>
              <a:buChar char="•"/>
              <a:defRPr/>
            </a:pPr>
            <a:endParaRPr lang="en-US" sz="1050" noProof="0" dirty="0">
              <a:solidFill>
                <a:srgbClr val="000000"/>
              </a:solidFill>
              <a:latin typeface="Segoe Sans Text"/>
            </a:endParaRPr>
          </a:p>
          <a:p>
            <a:pPr lvl="0">
              <a:defRPr/>
            </a:pPr>
            <a:r>
              <a:rPr lang="en-US" sz="1050" b="1" noProof="0" dirty="0">
                <a:solidFill>
                  <a:srgbClr val="000000"/>
                </a:solidFill>
                <a:latin typeface="Segoe Sans Text"/>
              </a:rPr>
              <a:t>Azure Arc</a:t>
            </a:r>
          </a:p>
          <a:p>
            <a:pPr marL="171450" lvl="0" indent="-171450">
              <a:buFont typeface="Arial" panose="020B0604020202020204" pitchFamily="34" charset="0"/>
              <a:buChar char="•"/>
              <a:defRPr/>
            </a:pPr>
            <a:r>
              <a:rPr lang="en-US" sz="1050" noProof="0" dirty="0">
                <a:solidFill>
                  <a:srgbClr val="000000"/>
                </a:solidFill>
                <a:latin typeface="Segoe Sans Text"/>
              </a:rPr>
              <a:t>Arc-enabled servers</a:t>
            </a:r>
          </a:p>
          <a:p>
            <a:pPr marL="171450" lvl="0" indent="-171450">
              <a:buFont typeface="Arial" panose="020B0604020202020204" pitchFamily="34" charset="0"/>
              <a:buChar char="•"/>
              <a:defRPr/>
            </a:pPr>
            <a:r>
              <a:rPr lang="en-US" sz="1050" noProof="0" dirty="0">
                <a:solidFill>
                  <a:srgbClr val="000000"/>
                </a:solidFill>
                <a:latin typeface="Segoe Sans Text"/>
              </a:rPr>
              <a:t>Arc-enabled SQL Servers</a:t>
            </a:r>
          </a:p>
          <a:p>
            <a:pPr marL="171450" lvl="0" indent="-171450">
              <a:buFont typeface="Arial" panose="020B0604020202020204" pitchFamily="34" charset="0"/>
              <a:buChar char="•"/>
              <a:defRPr/>
            </a:pPr>
            <a:r>
              <a:rPr lang="en-US" sz="1050" noProof="0" dirty="0">
                <a:solidFill>
                  <a:srgbClr val="000000"/>
                </a:solidFill>
                <a:latin typeface="Segoe Sans Text"/>
              </a:rPr>
              <a:t>Extended Security Updates (ESUs) through Azure Arc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 name="TextBox 6">
            <a:extLst>
              <a:ext uri="{FF2B5EF4-FFF2-40B4-BE49-F238E27FC236}">
                <a16:creationId xmlns:a16="http://schemas.microsoft.com/office/drawing/2014/main" id="{443D85CB-0BF8-AB03-F7CD-06DD35AF1501}"/>
              </a:ext>
            </a:extLst>
          </p:cNvPr>
          <p:cNvSpPr txBox="1"/>
          <p:nvPr/>
        </p:nvSpPr>
        <p:spPr>
          <a:xfrm>
            <a:off x="291547" y="1465838"/>
            <a:ext cx="3840480" cy="4614008"/>
          </a:xfrm>
          <a:prstGeom prst="rect">
            <a:avLst/>
          </a:prstGeom>
          <a:solidFill>
            <a:schemeClr val="bg1"/>
          </a:solidFill>
        </p:spPr>
        <p:txBody>
          <a:bodyPr wrap="square" t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Segoe Sans Text"/>
                <a:ea typeface="+mn-ea"/>
                <a:cs typeface="+mn-cs"/>
              </a:rPr>
              <a:t>Migrate using Azure Migrate and HCX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Agent-based migration (for servers, applications and databases VMs), VMWare/Hyper-V/Physical/AWS/GCP/Multi-Cloud/other Hypervisors to Azure IaaS</a:t>
            </a:r>
          </a:p>
          <a:p>
            <a:pPr marL="171450" lvl="0" indent="-171450">
              <a:buFont typeface="Arial" panose="020B0604020202020204" pitchFamily="34" charset="0"/>
              <a:buChar char="•"/>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Agent-less migration (for servers, applications and databases VMs) </a:t>
            </a:r>
            <a:r>
              <a:rPr lang="en-US" sz="1050" noProof="0" dirty="0">
                <a:solidFill>
                  <a:srgbClr val="000000"/>
                </a:solidFill>
                <a:latin typeface="Segoe Sans Text"/>
              </a:rPr>
              <a:t>VMWare/Hyper-V </a:t>
            </a:r>
            <a:r>
              <a:rPr kumimoji="0" lang="en-US" sz="1050" b="0" i="0" u="none" strike="noStrike" kern="1200" cap="none" spc="0" normalizeH="0" baseline="0" noProof="0" dirty="0">
                <a:ln>
                  <a:noFill/>
                </a:ln>
                <a:solidFill>
                  <a:srgbClr val="000000"/>
                </a:solidFill>
                <a:effectLst/>
                <a:uLnTx/>
                <a:uFillTx/>
                <a:latin typeface="Segoe Sans Text"/>
                <a:ea typeface="+mn-ea"/>
                <a:cs typeface="+mn-cs"/>
              </a:rPr>
              <a:t>to Azure IaaS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Lift &amp; Shift (Servers, applications and database VMs) from VMWare to </a:t>
            </a:r>
            <a:r>
              <a:rPr kumimoji="0" lang="en-US" sz="1050" b="1" i="0" u="none" strike="noStrike" kern="1200" cap="none" spc="0" normalizeH="0" baseline="0" noProof="0" dirty="0">
                <a:ln>
                  <a:noFill/>
                </a:ln>
                <a:solidFill>
                  <a:srgbClr val="000000"/>
                </a:solidFill>
                <a:effectLst/>
                <a:uLnTx/>
                <a:uFillTx/>
                <a:latin typeface="Segoe Sans Text"/>
                <a:ea typeface="+mn-ea"/>
                <a:cs typeface="+mn-cs"/>
              </a:rPr>
              <a:t>Azure VMWare Solution (AVS) </a:t>
            </a:r>
            <a:r>
              <a:rPr kumimoji="0" lang="en-US" sz="1050" b="0" i="0" u="none" strike="noStrike" kern="1200" cap="none" spc="0" normalizeH="0" baseline="0" noProof="0" dirty="0">
                <a:ln>
                  <a:noFill/>
                </a:ln>
                <a:solidFill>
                  <a:srgbClr val="000000"/>
                </a:solidFill>
                <a:effectLst/>
                <a:uLnTx/>
                <a:uFillTx/>
                <a:latin typeface="Segoe Sans Text"/>
                <a:ea typeface="+mn-ea"/>
                <a:cs typeface="+mn-cs"/>
              </a:rPr>
              <a:t>using </a:t>
            </a:r>
            <a:r>
              <a:rPr kumimoji="0" lang="en-US" sz="1050" b="1" i="0" u="none" strike="noStrike" kern="1200" cap="none" spc="0" normalizeH="0" baseline="0" noProof="0" dirty="0">
                <a:ln>
                  <a:noFill/>
                </a:ln>
                <a:solidFill>
                  <a:srgbClr val="000000"/>
                </a:solidFill>
                <a:effectLst/>
                <a:uLnTx/>
                <a:uFillTx/>
                <a:latin typeface="Segoe Sans Text"/>
                <a:ea typeface="+mn-ea"/>
                <a:cs typeface="+mn-cs"/>
              </a:rPr>
              <a:t>HCX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Automated OS Upgrade  (Azure Migrate)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Segoe Sans Text"/>
                <a:ea typeface="+mn-ea"/>
                <a:cs typeface="+mn-cs"/>
              </a:rPr>
              <a:t>Clean Deployment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Deploy Infrastructure using DevOps IaC (using Terraform, Bicep)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Leverage Azure Verified Modules (AVM only) for clean deployments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Migration to Azure PaaS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Segoe Sans Text"/>
                <a:ea typeface="+mn-ea"/>
                <a:cs typeface="+mn-cs"/>
              </a:rPr>
              <a:t>Container-to-Container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Migration from EKS, GKE or On-prem Kubernetes to AKS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Containerized Application Migration to AKS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Segoe Sans Text"/>
                <a:ea typeface="+mn-ea"/>
                <a:cs typeface="+mn-cs"/>
              </a:rPr>
              <a:t>Databases Migration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SQL, Oracle, PostgreSQL VMs to Azure IaaS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AWS EC2 RDS DB to Azure SQL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Oracle DB on Google Compute Engine (GCE) to Azure SQL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8" name="TextBox 7">
            <a:extLst>
              <a:ext uri="{FF2B5EF4-FFF2-40B4-BE49-F238E27FC236}">
                <a16:creationId xmlns:a16="http://schemas.microsoft.com/office/drawing/2014/main" id="{E0060795-33C7-6BC8-0D72-0062A8183FF8}"/>
              </a:ext>
            </a:extLst>
          </p:cNvPr>
          <p:cNvSpPr txBox="1"/>
          <p:nvPr/>
        </p:nvSpPr>
        <p:spPr>
          <a:xfrm>
            <a:off x="4256415" y="1465837"/>
            <a:ext cx="3840480" cy="3565997"/>
          </a:xfrm>
          <a:prstGeom prst="rect">
            <a:avLst/>
          </a:prstGeom>
          <a:solidFill>
            <a:schemeClr val="bg1"/>
          </a:solidFill>
        </p:spPr>
        <p:txBody>
          <a:bodyPr wrap="square" lIns="91440" tIns="18288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Segoe Sans Text"/>
                <a:ea typeface="+mn-ea"/>
                <a:cs typeface="+mn-cs"/>
              </a:rPr>
              <a:t>Application Modernization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.NET/Java Apps to Azure PaaS App Service</a:t>
            </a:r>
          </a:p>
          <a:p>
            <a:pPr marL="171450" indent="-171450">
              <a:buFont typeface="Arial" panose="020B0604020202020204" pitchFamily="34" charset="0"/>
              <a:buChar char="•"/>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.NET/Java Container Apps to  AKS / ACA </a:t>
            </a:r>
          </a:p>
          <a:p>
            <a:pPr marL="171450" indent="-171450">
              <a:buFont typeface="Arial" panose="020B0604020202020204" pitchFamily="34" charset="0"/>
              <a:buChar char="•"/>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Apps to Containers</a:t>
            </a:r>
          </a:p>
          <a:p>
            <a:pPr marL="628650" lvl="1" indent="-171450">
              <a:buFont typeface="Arial" panose="020B0604020202020204" pitchFamily="34" charset="0"/>
              <a:buChar char="•"/>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.NET apps refactored into Azure App Service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000000"/>
              </a:solidFill>
              <a:effectLst/>
              <a:uLnTx/>
              <a:uFillTx/>
              <a:latin typeface="Segoe Sans Text"/>
              <a:ea typeface="+mn-ea"/>
              <a:cs typeface="+mn-cs"/>
            </a:endParaRPr>
          </a:p>
          <a:p>
            <a:pPr lvl="0">
              <a:defRPr/>
            </a:pPr>
            <a:r>
              <a:rPr lang="en-US" sz="1050" b="1" noProof="0" dirty="0">
                <a:solidFill>
                  <a:srgbClr val="000000"/>
                </a:solidFill>
                <a:latin typeface="Segoe Sans Text"/>
              </a:rPr>
              <a:t>Database Modernization</a:t>
            </a:r>
          </a:p>
          <a:p>
            <a:pPr marL="171450" lvl="0" indent="-171450">
              <a:buFont typeface="Arial" panose="020B0604020202020204" pitchFamily="34" charset="0"/>
              <a:buChar char="•"/>
              <a:defRPr/>
            </a:pPr>
            <a:r>
              <a:rPr lang="en-US" sz="1050" noProof="0" dirty="0">
                <a:solidFill>
                  <a:srgbClr val="000000"/>
                </a:solidFill>
                <a:latin typeface="Segoe Sans Text"/>
              </a:rPr>
              <a:t>On-premise SQL, Cloud SQL to Azure SQL VM, SQL DB, SQL MI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On-premise/Cloud PostgreSQL to Azure PostgreSQL</a:t>
            </a:r>
          </a:p>
          <a:p>
            <a:pPr marL="171450" indent="-171450">
              <a:buFont typeface="Arial" panose="020B0604020202020204" pitchFamily="34" charset="0"/>
              <a:buChar char="•"/>
              <a:defRPr/>
            </a:pPr>
            <a:r>
              <a:rPr lang="en-US" sz="1050" noProof="0" dirty="0">
                <a:solidFill>
                  <a:srgbClr val="000000"/>
                </a:solidFill>
                <a:latin typeface="Segoe Sans Text"/>
              </a:rPr>
              <a:t>On-premise/Cloud MySQL, MariaDB to Azure MySQL</a:t>
            </a:r>
          </a:p>
          <a:p>
            <a:pPr marL="171450" indent="-171450">
              <a:buFont typeface="Arial" panose="020B0604020202020204" pitchFamily="34" charset="0"/>
              <a:buChar char="•"/>
              <a:defRPr/>
            </a:pPr>
            <a:r>
              <a:rPr lang="en-US" sz="1050" noProof="0" dirty="0">
                <a:solidFill>
                  <a:srgbClr val="000000"/>
                </a:solidFill>
              </a:rPr>
              <a:t>Cassandra to Azure Managed Instance for Apache Cassandra </a:t>
            </a:r>
            <a:endParaRPr lang="en-US" sz="1050" noProof="0" dirty="0">
              <a:solidFill>
                <a:srgbClr val="000000"/>
              </a:solidFill>
              <a:cs typeface="Segoe Sans Text"/>
            </a:endParaRPr>
          </a:p>
          <a:p>
            <a:pPr marL="171450" indent="-171450">
              <a:buFont typeface="Arial" panose="020B0604020202020204" pitchFamily="34" charset="0"/>
              <a:buChar char="•"/>
              <a:defRPr/>
            </a:pPr>
            <a:r>
              <a:rPr lang="en-US" sz="1050" noProof="0" dirty="0">
                <a:solidFill>
                  <a:srgbClr val="000000"/>
                </a:solidFill>
              </a:rPr>
              <a:t>MongoDB (EA, Community, Compete Cloud) to Azure DocumentDB / MongoDB Atlas on Azure </a:t>
            </a:r>
            <a:endParaRPr lang="en-US" sz="1050" noProof="0" dirty="0">
              <a:solidFill>
                <a:srgbClr val="000000"/>
              </a:solidFill>
              <a:cs typeface="Segoe Sans Text"/>
            </a:endParaRPr>
          </a:p>
          <a:p>
            <a:pPr marL="171450" indent="-171450">
              <a:buFont typeface="Arial" panose="020B0604020202020204" pitchFamily="34" charset="0"/>
              <a:buChar char="•"/>
              <a:defRPr/>
            </a:pPr>
            <a:r>
              <a:rPr lang="en-US" sz="1050" noProof="0" dirty="0">
                <a:solidFill>
                  <a:srgbClr val="000000"/>
                </a:solidFill>
              </a:rPr>
              <a:t>AWS DocumentDB to Azure DocumentDB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Segoe Sans Text"/>
                <a:ea typeface="+mn-ea"/>
                <a:cs typeface="+mn-cs"/>
              </a:rPr>
              <a:t>Heterogeneous Database Migrations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Oracle DB (on-premise/AWS/GCP) to Azure SQL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mn-cs"/>
              </a:rPr>
              <a:t>Oracle to Azure Database for PostgreSQL (AI Assisted)</a:t>
            </a:r>
          </a:p>
          <a:p>
            <a:pPr marL="171450" indent="-171450">
              <a:buFont typeface="Arial" panose="020B0604020202020204" pitchFamily="34" charset="0"/>
              <a:buChar char="•"/>
              <a:defRPr/>
            </a:pPr>
            <a:r>
              <a:rPr lang="en-US" sz="1050" noProof="0" dirty="0">
                <a:solidFill>
                  <a:srgbClr val="000000"/>
                </a:solidFill>
                <a:latin typeface="Segoe Sans Text"/>
              </a:rPr>
              <a:t>SAP Sybase ASE to Azure SQL</a:t>
            </a:r>
          </a:p>
          <a:p>
            <a:pPr marL="171450" indent="-171450">
              <a:buFont typeface="Arial" panose="020B0604020202020204" pitchFamily="34" charset="0"/>
              <a:buChar char="•"/>
              <a:defRPr/>
            </a:pPr>
            <a:endParaRPr lang="en-US" sz="1050" noProof="0" dirty="0">
              <a:solidFill>
                <a:srgbClr val="000000"/>
              </a:solidFill>
              <a:latin typeface="Segoe Sans Text"/>
            </a:endParaRPr>
          </a:p>
        </p:txBody>
      </p:sp>
      <p:sp>
        <p:nvSpPr>
          <p:cNvPr id="12" name="Rounded Rectangle 55">
            <a:extLst>
              <a:ext uri="{FF2B5EF4-FFF2-40B4-BE49-F238E27FC236}">
                <a16:creationId xmlns:a16="http://schemas.microsoft.com/office/drawing/2014/main" id="{EB8483C3-36B9-FEDB-9324-71DBC30B4B32}"/>
              </a:ext>
              <a:ext uri="{C183D7F6-B498-43B3-948B-1728B52AA6E4}">
                <adec:decorative xmlns:adec="http://schemas.microsoft.com/office/drawing/2017/decorative" val="1"/>
              </a:ext>
            </a:extLst>
          </p:cNvPr>
          <p:cNvSpPr>
            <a:spLocks/>
          </p:cNvSpPr>
          <p:nvPr/>
        </p:nvSpPr>
        <p:spPr bwMode="auto">
          <a:xfrm>
            <a:off x="237028" y="863408"/>
            <a:ext cx="3925960" cy="5509802"/>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Rounded Rectangle 55">
            <a:extLst>
              <a:ext uri="{FF2B5EF4-FFF2-40B4-BE49-F238E27FC236}">
                <a16:creationId xmlns:a16="http://schemas.microsoft.com/office/drawing/2014/main" id="{D0BBE965-4787-17F5-BA82-C951705CEC8C}"/>
              </a:ext>
              <a:ext uri="{C183D7F6-B498-43B3-948B-1728B52AA6E4}">
                <adec:decorative xmlns:adec="http://schemas.microsoft.com/office/drawing/2017/decorative" val="1"/>
              </a:ext>
            </a:extLst>
          </p:cNvPr>
          <p:cNvSpPr>
            <a:spLocks/>
          </p:cNvSpPr>
          <p:nvPr/>
        </p:nvSpPr>
        <p:spPr bwMode="auto">
          <a:xfrm>
            <a:off x="4217507" y="863408"/>
            <a:ext cx="3894473" cy="4168427"/>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8" name="Rounded Rectangle 55">
            <a:extLst>
              <a:ext uri="{FF2B5EF4-FFF2-40B4-BE49-F238E27FC236}">
                <a16:creationId xmlns:a16="http://schemas.microsoft.com/office/drawing/2014/main" id="{9AD625C1-1D1E-78EE-84B1-6C421925EDDB}"/>
              </a:ext>
              <a:ext uri="{C183D7F6-B498-43B3-948B-1728B52AA6E4}">
                <adec:decorative xmlns:adec="http://schemas.microsoft.com/office/drawing/2017/decorative" val="1"/>
              </a:ext>
            </a:extLst>
          </p:cNvPr>
          <p:cNvSpPr>
            <a:spLocks/>
          </p:cNvSpPr>
          <p:nvPr/>
        </p:nvSpPr>
        <p:spPr bwMode="auto">
          <a:xfrm>
            <a:off x="8153203" y="863408"/>
            <a:ext cx="3894472" cy="5069708"/>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6" name="Title 15">
            <a:extLst>
              <a:ext uri="{FF2B5EF4-FFF2-40B4-BE49-F238E27FC236}">
                <a16:creationId xmlns:a16="http://schemas.microsoft.com/office/drawing/2014/main" id="{EAD6B626-6998-19AE-6275-9AE0F546B587}"/>
              </a:ext>
            </a:extLst>
          </p:cNvPr>
          <p:cNvSpPr>
            <a:spLocks noGrp="1"/>
          </p:cNvSpPr>
          <p:nvPr>
            <p:ph type="title"/>
          </p:nvPr>
        </p:nvSpPr>
        <p:spPr>
          <a:xfrm>
            <a:off x="289558" y="118764"/>
            <a:ext cx="11306099" cy="984885"/>
          </a:xfrm>
        </p:spPr>
        <p:txBody>
          <a:bodyPr/>
          <a:lstStyle/>
          <a:p>
            <a:r>
              <a:rPr lang="en-US" sz="3200" noProof="0" dirty="0"/>
              <a:t>Service Catalog – Modernize with Confidence</a:t>
            </a:r>
            <a:br>
              <a:rPr lang="en-US" sz="3200" noProof="0" dirty="0"/>
            </a:br>
            <a:endParaRPr lang="en-US" sz="3200" noProof="0" dirty="0"/>
          </a:p>
        </p:txBody>
      </p:sp>
      <p:sp>
        <p:nvSpPr>
          <p:cNvPr id="4" name="Rectangle: Rounded Corners 3">
            <a:extLst>
              <a:ext uri="{FF2B5EF4-FFF2-40B4-BE49-F238E27FC236}">
                <a16:creationId xmlns:a16="http://schemas.microsoft.com/office/drawing/2014/main" id="{DE129E28-4A8D-1086-0D7F-D6D275694050}"/>
              </a:ext>
            </a:extLst>
          </p:cNvPr>
          <p:cNvSpPr/>
          <p:nvPr/>
        </p:nvSpPr>
        <p:spPr bwMode="auto">
          <a:xfrm>
            <a:off x="283074" y="990908"/>
            <a:ext cx="3844979" cy="454492"/>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Migrate &amp; Modernize of Infra, Apps, &amp; Data</a:t>
            </a:r>
          </a:p>
          <a:p>
            <a:pPr algn="ctr"/>
            <a:r>
              <a:rPr lang="en-US" sz="1000" kern="0" noProof="0" dirty="0">
                <a:solidFill>
                  <a:schemeClr val="bg1"/>
                </a:solidFill>
                <a:latin typeface="+mj-lt"/>
                <a:ea typeface="+mj-ea"/>
                <a:cs typeface="+mj-cs"/>
              </a:rPr>
              <a:t>(Windows/Linux, SQL Server/OSS DB/NoSQL DB)</a:t>
            </a:r>
          </a:p>
        </p:txBody>
      </p:sp>
      <p:sp>
        <p:nvSpPr>
          <p:cNvPr id="5" name="Rectangle: Rounded Corners 4">
            <a:extLst>
              <a:ext uri="{FF2B5EF4-FFF2-40B4-BE49-F238E27FC236}">
                <a16:creationId xmlns:a16="http://schemas.microsoft.com/office/drawing/2014/main" id="{15AC7F48-1F47-8FA2-CEF5-7522B7AC6E55}"/>
              </a:ext>
            </a:extLst>
          </p:cNvPr>
          <p:cNvSpPr/>
          <p:nvPr/>
        </p:nvSpPr>
        <p:spPr bwMode="auto">
          <a:xfrm>
            <a:off x="4245955" y="990906"/>
            <a:ext cx="3852927" cy="454493"/>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kern="0" noProof="0" dirty="0">
                <a:solidFill>
                  <a:schemeClr val="bg1"/>
                </a:solidFill>
                <a:latin typeface="+mj-lt"/>
                <a:ea typeface="+mj-ea"/>
                <a:cs typeface="+mj-cs"/>
              </a:rPr>
              <a:t>Scale App and Database Modernization with AI Agents </a:t>
            </a:r>
          </a:p>
          <a:p>
            <a:pPr algn="ctr"/>
            <a:r>
              <a:rPr lang="en-US" sz="1000" kern="0" noProof="0" dirty="0">
                <a:solidFill>
                  <a:schemeClr val="bg1"/>
                </a:solidFill>
                <a:latin typeface="+mj-lt"/>
                <a:ea typeface="+mj-ea"/>
                <a:cs typeface="+mj-cs"/>
              </a:rPr>
              <a:t>(.NET/Java, SQL Server/OSS DB/NoSQL DB)</a:t>
            </a:r>
          </a:p>
        </p:txBody>
      </p:sp>
      <p:sp>
        <p:nvSpPr>
          <p:cNvPr id="3" name="Rectangle: Rounded Corners 2">
            <a:extLst>
              <a:ext uri="{FF2B5EF4-FFF2-40B4-BE49-F238E27FC236}">
                <a16:creationId xmlns:a16="http://schemas.microsoft.com/office/drawing/2014/main" id="{98A09BDB-F1AC-D894-43BC-48F4B3370511}"/>
              </a:ext>
            </a:extLst>
          </p:cNvPr>
          <p:cNvSpPr/>
          <p:nvPr/>
        </p:nvSpPr>
        <p:spPr bwMode="auto">
          <a:xfrm>
            <a:off x="8183442" y="990906"/>
            <a:ext cx="3833995" cy="454493"/>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Enable Security, Resiliency, &amp; Arc</a:t>
            </a:r>
          </a:p>
        </p:txBody>
      </p:sp>
      <p:sp>
        <p:nvSpPr>
          <p:cNvPr id="9" name="TextBox 8">
            <a:extLst>
              <a:ext uri="{FF2B5EF4-FFF2-40B4-BE49-F238E27FC236}">
                <a16:creationId xmlns:a16="http://schemas.microsoft.com/office/drawing/2014/main" id="{DE4D654D-A9E6-1E04-7968-E282414A6C92}"/>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2379636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6" presetClass="emph" presetSubtype="0" fill="hold" grpId="1" nodeType="withEffect">
                                  <p:stCondLst>
                                    <p:cond delay="0"/>
                                  </p:stCondLst>
                                  <p:childTnLst>
                                    <p:animScale>
                                      <p:cBhvr>
                                        <p:cTn id="9" dur="100" fill="hold"/>
                                        <p:tgtEl>
                                          <p:spTgt spid="9"/>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9"/>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829A9-1EF6-6DE3-3028-40ACFE0C8198}"/>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88278FC7-7004-C06C-8B85-6622FDF31837}"/>
              </a:ext>
            </a:extLst>
          </p:cNvPr>
          <p:cNvPicPr>
            <a:picLocks noChangeAspect="1"/>
          </p:cNvPicPr>
          <p:nvPr/>
        </p:nvPicPr>
        <p:blipFill>
          <a:blip r:embed="rId3"/>
          <a:stretch>
            <a:fillRect/>
          </a:stretch>
        </p:blipFill>
        <p:spPr>
          <a:xfrm>
            <a:off x="6327293" y="1072933"/>
            <a:ext cx="4673213" cy="4619625"/>
          </a:xfrm>
          <a:prstGeom prst="rect">
            <a:avLst/>
          </a:prstGeom>
          <a:effectLst/>
        </p:spPr>
      </p:pic>
      <p:sp>
        <p:nvSpPr>
          <p:cNvPr id="16" name="Title 15">
            <a:extLst>
              <a:ext uri="{FF2B5EF4-FFF2-40B4-BE49-F238E27FC236}">
                <a16:creationId xmlns:a16="http://schemas.microsoft.com/office/drawing/2014/main" id="{ECAAD03B-1927-0AA7-474D-3A2EFBB69BD9}"/>
              </a:ext>
            </a:extLst>
          </p:cNvPr>
          <p:cNvSpPr>
            <a:spLocks noGrp="1"/>
          </p:cNvSpPr>
          <p:nvPr>
            <p:ph type="title"/>
          </p:nvPr>
        </p:nvSpPr>
        <p:spPr>
          <a:xfrm>
            <a:off x="622830" y="172426"/>
            <a:ext cx="9203558" cy="984885"/>
          </a:xfrm>
        </p:spPr>
        <p:txBody>
          <a:bodyPr/>
          <a:lstStyle/>
          <a:p>
            <a:r>
              <a:rPr lang="en-US" sz="3200" noProof="0" dirty="0"/>
              <a:t>Service Catalog – Ubiquitous innovation </a:t>
            </a:r>
            <a:br>
              <a:rPr lang="en-US" sz="3200" noProof="0" dirty="0"/>
            </a:br>
            <a:r>
              <a:rPr lang="en-US" sz="3200" noProof="0" dirty="0"/>
              <a:t>Amplify your intelligence </a:t>
            </a:r>
          </a:p>
        </p:txBody>
      </p:sp>
      <p:pic>
        <p:nvPicPr>
          <p:cNvPr id="12" name="Picture 11">
            <a:extLst>
              <a:ext uri="{FF2B5EF4-FFF2-40B4-BE49-F238E27FC236}">
                <a16:creationId xmlns:a16="http://schemas.microsoft.com/office/drawing/2014/main" id="{EF8FD89B-8574-3906-816F-720DBD49E9A5}"/>
              </a:ext>
            </a:extLst>
          </p:cNvPr>
          <p:cNvPicPr>
            <a:picLocks noChangeAspect="1"/>
          </p:cNvPicPr>
          <p:nvPr/>
        </p:nvPicPr>
        <p:blipFill>
          <a:blip r:embed="rId3"/>
          <a:stretch>
            <a:fillRect/>
          </a:stretch>
        </p:blipFill>
        <p:spPr>
          <a:xfrm>
            <a:off x="1237019" y="1559720"/>
            <a:ext cx="3916744" cy="3428542"/>
          </a:xfrm>
          <a:prstGeom prst="rect">
            <a:avLst/>
          </a:prstGeom>
          <a:effectLst/>
        </p:spPr>
      </p:pic>
      <p:sp>
        <p:nvSpPr>
          <p:cNvPr id="17" name="TextBox 16">
            <a:extLst>
              <a:ext uri="{FF2B5EF4-FFF2-40B4-BE49-F238E27FC236}">
                <a16:creationId xmlns:a16="http://schemas.microsoft.com/office/drawing/2014/main" id="{640B2F4D-A914-AF01-D07E-8EAF5BE7E4A1}"/>
              </a:ext>
            </a:extLst>
          </p:cNvPr>
          <p:cNvSpPr txBox="1"/>
          <p:nvPr/>
        </p:nvSpPr>
        <p:spPr>
          <a:xfrm>
            <a:off x="1271341" y="2175523"/>
            <a:ext cx="3581401" cy="2915350"/>
          </a:xfrm>
          <a:prstGeom prst="rect">
            <a:avLst/>
          </a:prstGeom>
          <a:noFill/>
        </p:spPr>
        <p:txBody>
          <a:bodyPr wrap="square">
            <a:spAutoFit/>
          </a:bodyPr>
          <a:lstStyle/>
          <a:p>
            <a:pPr marL="171450" lvl="0" indent="-171450">
              <a:lnSpc>
                <a:spcPct val="120000"/>
              </a:lnSpc>
              <a:buFont typeface="Arial" panose="020B0604020202020204" pitchFamily="34" charset="0"/>
              <a:buChar char="•"/>
              <a:defRPr/>
            </a:pPr>
            <a:r>
              <a:rPr lang="en-US" sz="1100" b="1" noProof="0" dirty="0">
                <a:solidFill>
                  <a:srgbClr val="000000"/>
                </a:solidFill>
                <a:latin typeface="Segoe Sans Text"/>
              </a:rPr>
              <a:t>GitHub Repository Migrations</a:t>
            </a:r>
          </a:p>
          <a:p>
            <a:pPr marL="171450" lvl="0" indent="-171450">
              <a:lnSpc>
                <a:spcPct val="120000"/>
              </a:lnSpc>
              <a:buFont typeface="Arial" panose="020B0604020202020204" pitchFamily="34" charset="0"/>
              <a:buChar char="•"/>
              <a:defRPr/>
            </a:pPr>
            <a:endParaRPr lang="en-US" sz="1100" b="1" noProof="0" dirty="0">
              <a:solidFill>
                <a:srgbClr val="000000"/>
              </a:solidFill>
              <a:latin typeface="Segoe Sans Text"/>
            </a:endParaRPr>
          </a:p>
          <a:p>
            <a:pPr marL="628650" lvl="1" indent="-171450">
              <a:lnSpc>
                <a:spcPct val="120000"/>
              </a:lnSpc>
              <a:buFont typeface="Arial" panose="020B0604020202020204" pitchFamily="34" charset="0"/>
              <a:buChar char="•"/>
              <a:defRPr/>
            </a:pPr>
            <a:r>
              <a:rPr lang="en-US" sz="1100" b="1" noProof="0" dirty="0">
                <a:solidFill>
                  <a:srgbClr val="000000"/>
                </a:solidFill>
                <a:latin typeface="Segoe Sans Text"/>
              </a:rPr>
              <a:t>Supported Source Platforms:</a:t>
            </a:r>
            <a:r>
              <a:rPr lang="en-US" sz="1100" noProof="0" dirty="0">
                <a:solidFill>
                  <a:srgbClr val="000000"/>
                </a:solidFill>
                <a:latin typeface="Segoe Sans Text"/>
              </a:rPr>
              <a:t> ADO Services, Bitbucket Server, GitLab Server, or GHES</a:t>
            </a:r>
          </a:p>
          <a:p>
            <a:pPr marL="628650" lvl="1" indent="-171450">
              <a:lnSpc>
                <a:spcPct val="120000"/>
              </a:lnSpc>
              <a:buFont typeface="Arial" panose="020B0604020202020204" pitchFamily="34" charset="0"/>
              <a:buChar char="•"/>
              <a:defRPr/>
            </a:pPr>
            <a:r>
              <a:rPr lang="en-US" sz="1100" b="1" noProof="0" dirty="0">
                <a:solidFill>
                  <a:srgbClr val="000000"/>
                </a:solidFill>
                <a:latin typeface="Segoe Sans Text"/>
              </a:rPr>
              <a:t>Assessment &amp; Planning:</a:t>
            </a:r>
            <a:r>
              <a:rPr lang="en-US" sz="1100" noProof="0" dirty="0">
                <a:solidFill>
                  <a:srgbClr val="000000"/>
                </a:solidFill>
                <a:latin typeface="Segoe Sans Text"/>
              </a:rPr>
              <a:t> Inventory Report, Scope Finalization</a:t>
            </a:r>
          </a:p>
          <a:p>
            <a:pPr marL="628650" lvl="1" indent="-171450">
              <a:lnSpc>
                <a:spcPct val="120000"/>
              </a:lnSpc>
              <a:buFont typeface="Arial" panose="020B0604020202020204" pitchFamily="34" charset="0"/>
              <a:buChar char="•"/>
              <a:defRPr/>
            </a:pPr>
            <a:r>
              <a:rPr lang="en-US" sz="1100" b="1" noProof="0" dirty="0">
                <a:solidFill>
                  <a:srgbClr val="000000"/>
                </a:solidFill>
                <a:latin typeface="Segoe Sans Text"/>
              </a:rPr>
              <a:t>Execution: </a:t>
            </a:r>
            <a:r>
              <a:rPr lang="en-US" sz="1100" noProof="0" dirty="0">
                <a:solidFill>
                  <a:srgbClr val="000000"/>
                </a:solidFill>
                <a:latin typeface="Segoe Sans Text"/>
              </a:rPr>
              <a:t>Repo migration, Migration validations, mannequin reclaims</a:t>
            </a:r>
          </a:p>
          <a:p>
            <a:pPr marL="628650" lvl="1" indent="-171450">
              <a:lnSpc>
                <a:spcPct val="120000"/>
              </a:lnSpc>
              <a:buFont typeface="Arial" panose="020B0604020202020204" pitchFamily="34" charset="0"/>
              <a:buChar char="•"/>
              <a:defRPr/>
            </a:pPr>
            <a:r>
              <a:rPr lang="en-US" sz="1100" noProof="0" dirty="0">
                <a:solidFill>
                  <a:srgbClr val="000000"/>
                </a:solidFill>
                <a:latin typeface="Segoe Sans Text"/>
              </a:rPr>
              <a:t>Azure Boards integration (ADO → GitHub only)</a:t>
            </a:r>
          </a:p>
          <a:p>
            <a:pPr marL="628650" lvl="1" indent="-171450">
              <a:lnSpc>
                <a:spcPct val="120000"/>
              </a:lnSpc>
              <a:buFont typeface="Arial" panose="020B0604020202020204" pitchFamily="34" charset="0"/>
              <a:buChar char="•"/>
              <a:defRPr/>
            </a:pPr>
            <a:r>
              <a:rPr lang="en-US" sz="1100" noProof="0" dirty="0">
                <a:solidFill>
                  <a:srgbClr val="000000"/>
                </a:solidFill>
                <a:latin typeface="Segoe Sans Text"/>
              </a:rPr>
              <a:t>Azure Pipeline rewiring guidance (ADO → GitHub, few repos only)</a:t>
            </a:r>
          </a:p>
          <a:p>
            <a:pPr marL="628650" lvl="1" indent="-171450">
              <a:lnSpc>
                <a:spcPct val="120000"/>
              </a:lnSpc>
              <a:buFont typeface="Arial" panose="020B0604020202020204" pitchFamily="34" charset="0"/>
              <a:buChar char="•"/>
              <a:defRPr/>
            </a:pPr>
            <a:endParaRPr lang="en-US" sz="1100" noProof="0" dirty="0">
              <a:solidFill>
                <a:srgbClr val="000000"/>
              </a:solidFill>
              <a:latin typeface="Segoe Sans Text"/>
            </a:endParaRPr>
          </a:p>
        </p:txBody>
      </p:sp>
      <p:sp>
        <p:nvSpPr>
          <p:cNvPr id="8" name="TextBox 7">
            <a:extLst>
              <a:ext uri="{FF2B5EF4-FFF2-40B4-BE49-F238E27FC236}">
                <a16:creationId xmlns:a16="http://schemas.microsoft.com/office/drawing/2014/main" id="{AB3DD9DA-2801-4FC7-1B92-E89A8110E05A}"/>
              </a:ext>
            </a:extLst>
          </p:cNvPr>
          <p:cNvSpPr txBox="1">
            <a:spLocks/>
          </p:cNvSpPr>
          <p:nvPr/>
        </p:nvSpPr>
        <p:spPr>
          <a:xfrm>
            <a:off x="1271341" y="1678078"/>
            <a:ext cx="3848100"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dirty="0"/>
              <a:t>GitHub Migrations (repos only)</a:t>
            </a:r>
          </a:p>
        </p:txBody>
      </p:sp>
      <p:sp>
        <p:nvSpPr>
          <p:cNvPr id="10" name="TextBox 9">
            <a:extLst>
              <a:ext uri="{FF2B5EF4-FFF2-40B4-BE49-F238E27FC236}">
                <a16:creationId xmlns:a16="http://schemas.microsoft.com/office/drawing/2014/main" id="{8E33FDC7-0EE1-DD14-F97C-A8FD34959AD4}"/>
              </a:ext>
            </a:extLst>
          </p:cNvPr>
          <p:cNvSpPr txBox="1">
            <a:spLocks/>
          </p:cNvSpPr>
          <p:nvPr/>
        </p:nvSpPr>
        <p:spPr>
          <a:xfrm>
            <a:off x="6372819" y="1213237"/>
            <a:ext cx="458216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dirty="0"/>
              <a:t>Agent Development</a:t>
            </a:r>
          </a:p>
        </p:txBody>
      </p:sp>
      <p:sp>
        <p:nvSpPr>
          <p:cNvPr id="21" name="TextBox 20">
            <a:extLst>
              <a:ext uri="{FF2B5EF4-FFF2-40B4-BE49-F238E27FC236}">
                <a16:creationId xmlns:a16="http://schemas.microsoft.com/office/drawing/2014/main" id="{40C42DEE-3698-F930-9FB2-D7FE97EC40CA}"/>
              </a:ext>
            </a:extLst>
          </p:cNvPr>
          <p:cNvSpPr txBox="1"/>
          <p:nvPr/>
        </p:nvSpPr>
        <p:spPr>
          <a:xfrm>
            <a:off x="6388589" y="1710192"/>
            <a:ext cx="4262122" cy="3931013"/>
          </a:xfrm>
          <a:prstGeom prst="rect">
            <a:avLst/>
          </a:prstGeom>
          <a:noFill/>
        </p:spPr>
        <p:txBody>
          <a:bodyPr wrap="square">
            <a:spAutoFit/>
          </a:bodyPr>
          <a:lstStyle>
            <a:defPPr>
              <a:defRPr lang="en-US"/>
            </a:defPPr>
            <a:lvl1pPr marL="171450" lvl="0" indent="-171450">
              <a:lnSpc>
                <a:spcPct val="120000"/>
              </a:lnSpc>
              <a:buFont typeface="Arial" panose="020B0604020202020204" pitchFamily="34" charset="0"/>
              <a:buChar char="•"/>
              <a:defRPr sz="1100" b="1">
                <a:solidFill>
                  <a:srgbClr val="000000"/>
                </a:solidFill>
                <a:latin typeface="Segoe Sans Text"/>
              </a:defRPr>
            </a:lvl1pPr>
            <a:lvl2pPr marL="628650" lvl="1" indent="-171450">
              <a:lnSpc>
                <a:spcPct val="120000"/>
              </a:lnSpc>
              <a:buFont typeface="Arial" panose="020B0604020202020204" pitchFamily="34" charset="0"/>
              <a:buChar char="•"/>
              <a:defRPr sz="1100" b="1">
                <a:solidFill>
                  <a:srgbClr val="000000"/>
                </a:solidFill>
                <a:latin typeface="Segoe Sans Text"/>
              </a:defRPr>
            </a:lvl2pPr>
          </a:lstStyle>
          <a:p>
            <a:r>
              <a:rPr lang="en-US" noProof="0" dirty="0"/>
              <a:t>M365 Copilot Scope: </a:t>
            </a:r>
            <a:r>
              <a:rPr lang="en-US" b="0" noProof="0" dirty="0"/>
              <a:t>Copilot Studio, D365 1P, Copilot Chat, Low-code, SaaS</a:t>
            </a:r>
          </a:p>
          <a:p>
            <a:r>
              <a:rPr lang="en-US" noProof="0" dirty="0"/>
              <a:t>Agent P3 Scope: </a:t>
            </a:r>
            <a:r>
              <a:rPr lang="en-US" b="0" noProof="0" dirty="0"/>
              <a:t>Copilot Studio and Microsoft Foundry (32 services) Azure databases and integration services. Low-code &amp; pro-code, SaaS &amp; PaaS</a:t>
            </a:r>
          </a:p>
          <a:p>
            <a:r>
              <a:rPr lang="en-US" noProof="0" dirty="0"/>
              <a:t>Microsoft Foundry: </a:t>
            </a:r>
            <a:r>
              <a:rPr lang="en-US" b="0" noProof="0" dirty="0"/>
              <a:t>Microsoft Foundry (32 services)  and Azure Services, Azure databases and integration services, Pro-code, PaaS solution, Sample Patterns</a:t>
            </a:r>
          </a:p>
          <a:p>
            <a:r>
              <a:rPr lang="en-US" noProof="0" dirty="0"/>
              <a:t>Custom Copilots: </a:t>
            </a:r>
            <a:r>
              <a:rPr lang="en-US" b="0" noProof="0" dirty="0"/>
              <a:t>Create copilots tailored to business scenarios using prompts and connectors.</a:t>
            </a:r>
          </a:p>
          <a:p>
            <a:r>
              <a:rPr lang="en-US" noProof="0" dirty="0"/>
              <a:t>Copilot Studio + Azure AI Search</a:t>
            </a:r>
            <a:r>
              <a:rPr lang="en-US" b="0" noProof="0" dirty="0"/>
              <a:t>: Enhance Copilot Studio with Azure AI Search for retrieval-augmented generation (RAG).</a:t>
            </a:r>
          </a:p>
          <a:p>
            <a:r>
              <a:rPr lang="en-US" noProof="0" dirty="0"/>
              <a:t>Copilot Studio + Fine tuning: </a:t>
            </a:r>
            <a:r>
              <a:rPr lang="en-US" b="0" noProof="0" dirty="0"/>
              <a:t>Adapt copilots with enterprise-specific datasets.</a:t>
            </a:r>
          </a:p>
          <a:p>
            <a:r>
              <a:rPr lang="en-US" noProof="0" dirty="0"/>
              <a:t>GenAI assistant: </a:t>
            </a:r>
            <a:r>
              <a:rPr lang="en-US" b="0" noProof="0" dirty="0"/>
              <a:t>Deploy conversational AI based on RAG approach, GenAI based search, document intelligence, image analysis, prompt tuning</a:t>
            </a:r>
            <a:r>
              <a:rPr lang="en-US" noProof="0" dirty="0"/>
              <a:t>.</a:t>
            </a:r>
          </a:p>
          <a:p>
            <a:endParaRPr lang="en-US" noProof="0" dirty="0"/>
          </a:p>
        </p:txBody>
      </p:sp>
      <p:sp>
        <p:nvSpPr>
          <p:cNvPr id="2" name="TextBox 1">
            <a:extLst>
              <a:ext uri="{FF2B5EF4-FFF2-40B4-BE49-F238E27FC236}">
                <a16:creationId xmlns:a16="http://schemas.microsoft.com/office/drawing/2014/main" id="{D55DF2FC-AFED-9D3F-6390-38452115802E}"/>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49252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BDC71-BD79-9AEA-7F37-15B936E01F53}"/>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72D4F836-9C65-4170-B5BF-BC6F2FAF5B52}"/>
              </a:ext>
            </a:extLst>
          </p:cNvPr>
          <p:cNvSpPr>
            <a:spLocks noGrp="1"/>
          </p:cNvSpPr>
          <p:nvPr>
            <p:ph type="title"/>
          </p:nvPr>
        </p:nvSpPr>
        <p:spPr>
          <a:xfrm>
            <a:off x="514715" y="172766"/>
            <a:ext cx="7930515" cy="984885"/>
          </a:xfrm>
        </p:spPr>
        <p:txBody>
          <a:bodyPr/>
          <a:lstStyle/>
          <a:p>
            <a:r>
              <a:rPr lang="en-US" sz="3200" noProof="0" dirty="0"/>
              <a:t>Service Catalog – Build a unified, </a:t>
            </a:r>
            <a:br>
              <a:rPr lang="en-US" sz="3200" noProof="0" dirty="0"/>
            </a:br>
            <a:r>
              <a:rPr lang="en-US" sz="3200" noProof="0" dirty="0"/>
              <a:t>governed data and AI estate</a:t>
            </a:r>
          </a:p>
        </p:txBody>
      </p:sp>
      <p:sp>
        <p:nvSpPr>
          <p:cNvPr id="2" name="TextBox 1">
            <a:extLst>
              <a:ext uri="{FF2B5EF4-FFF2-40B4-BE49-F238E27FC236}">
                <a16:creationId xmlns:a16="http://schemas.microsoft.com/office/drawing/2014/main" id="{7731B41F-763E-D469-CEEF-721453CFF105}"/>
              </a:ext>
            </a:extLst>
          </p:cNvPr>
          <p:cNvSpPr txBox="1"/>
          <p:nvPr/>
        </p:nvSpPr>
        <p:spPr>
          <a:xfrm>
            <a:off x="365760" y="1941568"/>
            <a:ext cx="10291660" cy="537397"/>
          </a:xfrm>
          <a:prstGeom prst="rect">
            <a:avLst/>
          </a:prstGeom>
          <a:noFill/>
        </p:spPr>
        <p:txBody>
          <a:bodyPr wrap="square" lIns="45720" tIns="18288" rIns="45720" bIns="18288" rtlCol="0">
            <a:noAutofit/>
          </a:bodyPr>
          <a:lstStyle/>
          <a:p>
            <a:pPr marL="171450" lvl="0" indent="-171450">
              <a:lnSpc>
                <a:spcPct val="120000"/>
              </a:lnSpc>
              <a:buFont typeface="Arial" panose="020B0604020202020204" pitchFamily="34" charset="0"/>
              <a:buChar char="•"/>
              <a:defRPr/>
            </a:pPr>
            <a:r>
              <a:rPr lang="en-US" sz="1200" b="1" noProof="0" dirty="0">
                <a:solidFill>
                  <a:srgbClr val="000000"/>
                </a:solidFill>
                <a:latin typeface="Segoe Sans Text"/>
              </a:rPr>
              <a:t>Migrating from Power BI Premium (P SKU) to Fabric (F SKU)</a:t>
            </a:r>
          </a:p>
          <a:p>
            <a:pPr marL="628650" lvl="1" indent="-171450">
              <a:lnSpc>
                <a:spcPct val="120000"/>
              </a:lnSpc>
              <a:buFont typeface="Arial" panose="020B0604020202020204" pitchFamily="34" charset="0"/>
              <a:buChar char="•"/>
              <a:defRPr/>
            </a:pPr>
            <a:r>
              <a:rPr lang="en-US" sz="1200" noProof="0" dirty="0">
                <a:solidFill>
                  <a:srgbClr val="000000"/>
                </a:solidFill>
                <a:latin typeface="Segoe Sans Text"/>
              </a:rPr>
              <a:t>Low-to-no code migrations from Power BI Premium (P SKU) to Microsoft Fabric Capacity (F SKU)</a:t>
            </a:r>
            <a:endParaRPr kumimoji="0" lang="en-US" sz="120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3" name="TextBox 2">
            <a:extLst>
              <a:ext uri="{FF2B5EF4-FFF2-40B4-BE49-F238E27FC236}">
                <a16:creationId xmlns:a16="http://schemas.microsoft.com/office/drawing/2014/main" id="{8AD51F7F-82D8-6696-DF50-61F61ADCD3BA}"/>
              </a:ext>
            </a:extLst>
          </p:cNvPr>
          <p:cNvSpPr txBox="1">
            <a:spLocks/>
          </p:cNvSpPr>
          <p:nvPr/>
        </p:nvSpPr>
        <p:spPr>
          <a:xfrm>
            <a:off x="289560" y="1401136"/>
            <a:ext cx="10435590"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noProof="0" dirty="0"/>
              <a:t>P SKU to F SKU Migrations </a:t>
            </a:r>
          </a:p>
        </p:txBody>
      </p:sp>
      <p:sp>
        <p:nvSpPr>
          <p:cNvPr id="6" name="Rounded Rectangle 55">
            <a:extLst>
              <a:ext uri="{FF2B5EF4-FFF2-40B4-BE49-F238E27FC236}">
                <a16:creationId xmlns:a16="http://schemas.microsoft.com/office/drawing/2014/main" id="{C51BFB10-9988-275F-24B7-566D049581FD}"/>
              </a:ext>
              <a:ext uri="{C183D7F6-B498-43B3-948B-1728B52AA6E4}">
                <adec:decorative xmlns:adec="http://schemas.microsoft.com/office/drawing/2017/decorative" val="1"/>
              </a:ext>
            </a:extLst>
          </p:cNvPr>
          <p:cNvSpPr>
            <a:spLocks/>
          </p:cNvSpPr>
          <p:nvPr/>
        </p:nvSpPr>
        <p:spPr bwMode="auto">
          <a:xfrm>
            <a:off x="222885" y="1290710"/>
            <a:ext cx="10561847" cy="1638300"/>
          </a:xfrm>
          <a:prstGeom prst="roundRect">
            <a:avLst>
              <a:gd name="adj" fmla="val 16286"/>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 name="TextBox 4">
            <a:extLst>
              <a:ext uri="{FF2B5EF4-FFF2-40B4-BE49-F238E27FC236}">
                <a16:creationId xmlns:a16="http://schemas.microsoft.com/office/drawing/2014/main" id="{D0988AEE-77E8-34F1-CDD1-9C6EBD19CA0B}"/>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1845335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8C4F-5442-A8DF-1A57-C9E25C50F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3046C-69B3-F178-A36F-5ED77B80630E}"/>
              </a:ext>
            </a:extLst>
          </p:cNvPr>
          <p:cNvSpPr>
            <a:spLocks noGrp="1"/>
          </p:cNvSpPr>
          <p:nvPr>
            <p:ph type="title"/>
          </p:nvPr>
        </p:nvSpPr>
        <p:spPr>
          <a:xfrm>
            <a:off x="585216" y="2362270"/>
            <a:ext cx="9144000" cy="1169551"/>
          </a:xfrm>
        </p:spPr>
        <p:txBody>
          <a:bodyPr/>
          <a:lstStyle/>
          <a:p>
            <a:r>
              <a:rPr lang="en-US"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3" name="TextBox 2">
            <a:extLst>
              <a:ext uri="{FF2B5EF4-FFF2-40B4-BE49-F238E27FC236}">
                <a16:creationId xmlns:a16="http://schemas.microsoft.com/office/drawing/2014/main" id="{BC2E5F9D-904E-929A-A140-31D8C105C9C9}"/>
              </a:ext>
            </a:extLst>
          </p:cNvPr>
          <p:cNvSpPr txBox="1"/>
          <p:nvPr/>
        </p:nvSpPr>
        <p:spPr>
          <a:xfrm>
            <a:off x="584200" y="4173052"/>
            <a:ext cx="4494876"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800" noProof="0" dirty="0">
                <a:latin typeface="Segoe Sans Display Semibold" pitchFamily="2" charset="0"/>
                <a:cs typeface="Segoe Sans Display Semibold" pitchFamily="2" charset="0"/>
              </a:rPr>
              <a:t>Platform Foundation &amp; Landing Zone</a:t>
            </a:r>
          </a:p>
        </p:txBody>
      </p:sp>
      <p:sp>
        <p:nvSpPr>
          <p:cNvPr id="5" name="TextBox 4">
            <a:extLst>
              <a:ext uri="{FF2B5EF4-FFF2-40B4-BE49-F238E27FC236}">
                <a16:creationId xmlns:a16="http://schemas.microsoft.com/office/drawing/2014/main" id="{690EE90E-9606-81FB-EAD7-60E276F5A928}"/>
              </a:ext>
            </a:extLst>
          </p:cNvPr>
          <p:cNvSpPr txBox="1"/>
          <p:nvPr/>
        </p:nvSpPr>
        <p:spPr>
          <a:xfrm>
            <a:off x="9233457" y="22919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9" name="Image 10" descr="Home (outlined)">
            <a:hlinkClick r:id="rId3" action="ppaction://hlinksldjump" tooltip="Home"/>
            <a:extLst>
              <a:ext uri="{FF2B5EF4-FFF2-40B4-BE49-F238E27FC236}">
                <a16:creationId xmlns:a16="http://schemas.microsoft.com/office/drawing/2014/main" id="{06A204C9-AD4F-7945-D39E-E64E13956550}"/>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9190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6" presetClass="emph" presetSubtype="0" fill="hold" grpId="1" nodeType="withEffect">
                                  <p:stCondLst>
                                    <p:cond delay="0"/>
                                  </p:stCondLst>
                                  <p:childTnLst>
                                    <p:animScale>
                                      <p:cBhvr>
                                        <p:cTn id="16" dur="100" fill="hold"/>
                                        <p:tgtEl>
                                          <p:spTgt spid="5"/>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5" grpId="0" animBg="1"/>
      <p:bldP spid="5" grpId="1" animBg="1"/>
      <p:bldP spid="5" grpId="2"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4F784-40BF-45B4-C169-A8D7B3CB3D88}"/>
            </a:ext>
          </a:extLst>
        </p:cNvPr>
        <p:cNvGrpSpPr/>
        <p:nvPr/>
      </p:nvGrpSpPr>
      <p:grpSpPr>
        <a:xfrm>
          <a:off x="0" y="0"/>
          <a:ext cx="0" cy="0"/>
          <a:chOff x="0" y="0"/>
          <a:chExt cx="0" cy="0"/>
        </a:xfrm>
      </p:grpSpPr>
      <p:sp>
        <p:nvSpPr>
          <p:cNvPr id="6" name="Rounded Rectangle 55">
            <a:extLst>
              <a:ext uri="{FF2B5EF4-FFF2-40B4-BE49-F238E27FC236}">
                <a16:creationId xmlns:a16="http://schemas.microsoft.com/office/drawing/2014/main" id="{4B8DDEFE-829F-6EFA-210B-9A9EAEC3B727}"/>
              </a:ext>
              <a:ext uri="{C183D7F6-B498-43B3-948B-1728B52AA6E4}">
                <adec:decorative xmlns:adec="http://schemas.microsoft.com/office/drawing/2017/decorative" val="1"/>
              </a:ext>
            </a:extLst>
          </p:cNvPr>
          <p:cNvSpPr/>
          <p:nvPr/>
        </p:nvSpPr>
        <p:spPr bwMode="auto">
          <a:xfrm>
            <a:off x="8421154" y="1406525"/>
            <a:ext cx="3211310" cy="5273973"/>
          </a:xfrm>
          <a:prstGeom prst="roundRect">
            <a:avLst>
              <a:gd name="adj" fmla="val 507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Rounded Rectangle 55">
            <a:extLst>
              <a:ext uri="{FF2B5EF4-FFF2-40B4-BE49-F238E27FC236}">
                <a16:creationId xmlns:a16="http://schemas.microsoft.com/office/drawing/2014/main" id="{D2FD97F3-762B-63C6-4D4C-6C2F22332A2B}"/>
              </a:ext>
              <a:ext uri="{C183D7F6-B498-43B3-948B-1728B52AA6E4}">
                <adec:decorative xmlns:adec="http://schemas.microsoft.com/office/drawing/2017/decorative" val="1"/>
              </a:ext>
            </a:extLst>
          </p:cNvPr>
          <p:cNvSpPr/>
          <p:nvPr/>
        </p:nvSpPr>
        <p:spPr bwMode="auto">
          <a:xfrm>
            <a:off x="559536" y="1406525"/>
            <a:ext cx="7595242" cy="5273973"/>
          </a:xfrm>
          <a:prstGeom prst="roundRect">
            <a:avLst>
              <a:gd name="adj" fmla="val 2533"/>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 name="Title 1">
            <a:extLst>
              <a:ext uri="{FF2B5EF4-FFF2-40B4-BE49-F238E27FC236}">
                <a16:creationId xmlns:a16="http://schemas.microsoft.com/office/drawing/2014/main" id="{405F03D4-9A1D-1441-FEB7-EDC3EEE719D5}"/>
              </a:ext>
            </a:extLst>
          </p:cNvPr>
          <p:cNvSpPr>
            <a:spLocks noGrp="1"/>
          </p:cNvSpPr>
          <p:nvPr>
            <p:ph type="title"/>
          </p:nvPr>
        </p:nvSpPr>
        <p:spPr>
          <a:xfrm>
            <a:off x="397763" y="236895"/>
            <a:ext cx="7541577" cy="707886"/>
          </a:xfrm>
        </p:spPr>
        <p:txBody>
          <a:bodyPr/>
          <a:lstStyle/>
          <a:p>
            <a:r>
              <a:rPr lang="en-US" sz="2800" noProof="0" dirty="0"/>
              <a:t>Infrastructure Migration</a:t>
            </a:r>
            <a:br>
              <a:rPr lang="en-US" sz="2400" noProof="0" dirty="0"/>
            </a:br>
            <a:r>
              <a:rPr lang="en-US" sz="1800" noProof="0" dirty="0">
                <a:solidFill>
                  <a:schemeClr val="tx1"/>
                </a:solidFill>
              </a:rPr>
              <a:t>Azure Landing Zone - New Deployment or Validation</a:t>
            </a:r>
          </a:p>
        </p:txBody>
      </p:sp>
      <p:sp>
        <p:nvSpPr>
          <p:cNvPr id="5" name="Content Placeholder 4">
            <a:extLst>
              <a:ext uri="{FF2B5EF4-FFF2-40B4-BE49-F238E27FC236}">
                <a16:creationId xmlns:a16="http://schemas.microsoft.com/office/drawing/2014/main" id="{1C6E0BE8-3CE5-662D-0E3E-9F6280955169}"/>
              </a:ext>
            </a:extLst>
          </p:cNvPr>
          <p:cNvSpPr>
            <a:spLocks noGrp="1"/>
          </p:cNvSpPr>
          <p:nvPr>
            <p:ph sz="quarter" idx="4294967295"/>
          </p:nvPr>
        </p:nvSpPr>
        <p:spPr>
          <a:xfrm>
            <a:off x="8555039" y="2022635"/>
            <a:ext cx="3048000" cy="4308474"/>
          </a:xfrm>
          <a:solidFill>
            <a:schemeClr val="bg1"/>
          </a:solidFill>
        </p:spPr>
        <p:txBody>
          <a:bodyPr vert="horz" wrap="square" lIns="91440" tIns="0" rIns="91440" bIns="0" rtlCol="0" anchor="t">
            <a:noAutofit/>
          </a:bodyPr>
          <a:lstStyle/>
          <a:p>
            <a:pPr marL="0" lvl="3" indent="0">
              <a:spcBef>
                <a:spcPts val="600"/>
              </a:spcBef>
              <a:spcAft>
                <a:spcPts val="600"/>
              </a:spcAft>
              <a:buNone/>
              <a:defRPr/>
            </a:pPr>
            <a:r>
              <a:rPr lang="en-US" b="1" noProof="0" dirty="0">
                <a:solidFill>
                  <a:schemeClr val="dk1"/>
                </a:solidFill>
              </a:rPr>
              <a:t>Requirements to leveraging </a:t>
            </a:r>
            <a:br>
              <a:rPr lang="en-US" b="1" noProof="0" dirty="0">
                <a:solidFill>
                  <a:schemeClr val="dk1"/>
                </a:solidFill>
              </a:rPr>
            </a:br>
            <a:r>
              <a:rPr lang="en-US" b="1" noProof="0" dirty="0">
                <a:solidFill>
                  <a:schemeClr val="dk1"/>
                </a:solidFill>
              </a:rPr>
              <a:t>this service:</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Customer should provide the required four (4) subscription names or IDs</a:t>
            </a:r>
          </a:p>
          <a:p>
            <a:pPr marL="171450" indent="-171450">
              <a:spcBef>
                <a:spcPts val="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Customer is responsible for selecting one of </a:t>
            </a:r>
            <a:br>
              <a:rPr lang="en-US" sz="1000" noProof="0" dirty="0">
                <a:ln w="3175">
                  <a:noFill/>
                </a:ln>
                <a:solidFill>
                  <a:prstClr val="black"/>
                </a:solidFill>
                <a:ea typeface="+mn-lt"/>
                <a:cs typeface="+mn-lt"/>
              </a:rPr>
            </a:br>
            <a:r>
              <a:rPr lang="en-US" sz="1000" noProof="0" dirty="0">
                <a:ln w="3175">
                  <a:noFill/>
                </a:ln>
                <a:solidFill>
                  <a:prstClr val="black"/>
                </a:solidFill>
                <a:ea typeface="+mn-lt"/>
                <a:cs typeface="+mn-lt"/>
              </a:rPr>
              <a:t>the three variations of the ALZ-aligned Networking Architecture:</a:t>
            </a:r>
          </a:p>
          <a:p>
            <a:pPr marL="288925" indent="-114300">
              <a:spcBef>
                <a:spcPts val="0"/>
              </a:spcBef>
              <a:buFont typeface="Arial" panose="020B0604020202020204" pitchFamily="34" charset="0"/>
              <a:buChar char="•"/>
              <a:defRPr/>
            </a:pPr>
            <a:r>
              <a:rPr lang="en-US" sz="800" noProof="0" dirty="0">
                <a:ln w="3175">
                  <a:noFill/>
                </a:ln>
                <a:solidFill>
                  <a:prstClr val="black"/>
                </a:solidFill>
                <a:ea typeface="+mn-lt"/>
                <a:cs typeface="+mn-lt"/>
              </a:rPr>
              <a:t>Hub and spoke with Azure Firewall</a:t>
            </a:r>
          </a:p>
          <a:p>
            <a:pPr marL="288925" indent="-114300">
              <a:spcBef>
                <a:spcPts val="0"/>
              </a:spcBef>
              <a:buFont typeface="Arial" panose="020B0604020202020204" pitchFamily="34" charset="0"/>
              <a:buChar char="•"/>
              <a:defRPr/>
            </a:pPr>
            <a:r>
              <a:rPr lang="en-US" sz="800" noProof="0" dirty="0">
                <a:ln w="3175">
                  <a:noFill/>
                </a:ln>
                <a:solidFill>
                  <a:prstClr val="black"/>
                </a:solidFill>
                <a:ea typeface="+mn-lt"/>
                <a:cs typeface="+mn-lt"/>
              </a:rPr>
              <a:t>Hub and spoke with your own third-party NVA</a:t>
            </a:r>
          </a:p>
          <a:p>
            <a:pPr marL="288925" indent="-114300">
              <a:spcBef>
                <a:spcPts val="0"/>
              </a:spcBef>
              <a:spcAft>
                <a:spcPts val="600"/>
              </a:spcAft>
              <a:buFont typeface="Arial" panose="020B0604020202020204" pitchFamily="34" charset="0"/>
              <a:buChar char="•"/>
              <a:defRPr/>
            </a:pPr>
            <a:r>
              <a:rPr lang="en-US" sz="800" noProof="0" dirty="0">
                <a:ln w="3175">
                  <a:noFill/>
                </a:ln>
                <a:solidFill>
                  <a:prstClr val="black"/>
                </a:solidFill>
                <a:ea typeface="+mn-lt"/>
                <a:cs typeface="+mn-lt"/>
              </a:rPr>
              <a:t>Virtual WAN (Microsoft managed)</a:t>
            </a:r>
            <a:endParaRPr lang="en-US" sz="1000" noProof="0" dirty="0">
              <a:ln w="3175">
                <a:noFill/>
              </a:ln>
              <a:solidFill>
                <a:prstClr val="black"/>
              </a:solidFill>
              <a:ea typeface="+mn-lt"/>
              <a:cs typeface="+mn-lt"/>
            </a:endParaRPr>
          </a:p>
          <a:p>
            <a:pPr marL="171450" indent="-171450">
              <a:spcBef>
                <a:spcPts val="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Customer to provide three (3) non-overlapping IP address ranges for the Azure virtual network</a:t>
            </a:r>
          </a:p>
          <a:p>
            <a:pPr marL="171450" indent="-171450">
              <a:spcBef>
                <a:spcPts val="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If seeking dual region implementation, the customer must provide needed design parameters (e.g., IP address range of the Secondary Azure Region ‘hub’ VNet)</a:t>
            </a:r>
          </a:p>
          <a:p>
            <a:pPr marL="171450" indent="-171450">
              <a:spcBef>
                <a:spcPts val="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Customer is responsible for specifying all compliance and security parameters - firewall tier for Azure Firewall in ALZ (standard or Premium), governance, etc..</a:t>
            </a:r>
          </a:p>
          <a:p>
            <a:pPr marL="171450" indent="-171450">
              <a:spcBef>
                <a:spcPts val="0"/>
              </a:spcBef>
              <a:buFont typeface="Arial" panose="020B0604020202020204" pitchFamily="34" charset="0"/>
              <a:buChar char="•"/>
              <a:defRPr/>
            </a:pPr>
            <a:r>
              <a:rPr lang="en-US" sz="1000" noProof="0" dirty="0">
                <a:ln w="3175">
                  <a:noFill/>
                </a:ln>
                <a:solidFill>
                  <a:prstClr val="black"/>
                </a:solidFill>
                <a:ea typeface="+mn-lt"/>
                <a:cs typeface="+mn-lt"/>
              </a:rPr>
              <a:t>Customer should establish private connectivity and specify the respective type of virtual network gateway required in the landing zone.</a:t>
            </a:r>
          </a:p>
        </p:txBody>
      </p:sp>
      <p:sp>
        <p:nvSpPr>
          <p:cNvPr id="8" name="TextBox 7">
            <a:extLst>
              <a:ext uri="{FF2B5EF4-FFF2-40B4-BE49-F238E27FC236}">
                <a16:creationId xmlns:a16="http://schemas.microsoft.com/office/drawing/2014/main" id="{4D4A6F9B-6961-771F-E413-F334DB359583}"/>
              </a:ext>
            </a:extLst>
          </p:cNvPr>
          <p:cNvSpPr txBox="1"/>
          <p:nvPr/>
        </p:nvSpPr>
        <p:spPr>
          <a:xfrm>
            <a:off x="588962" y="1548388"/>
            <a:ext cx="7541578"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6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dirty="0"/>
              <a:t>What to expect</a:t>
            </a:r>
          </a:p>
        </p:txBody>
      </p:sp>
      <p:graphicFrame>
        <p:nvGraphicFramePr>
          <p:cNvPr id="3" name="Table 2" title="Exchange Online Technet Guidance">
            <a:extLst>
              <a:ext uri="{FF2B5EF4-FFF2-40B4-BE49-F238E27FC236}">
                <a16:creationId xmlns:a16="http://schemas.microsoft.com/office/drawing/2014/main" id="{F92892F8-045F-CF5E-3398-72B9A99A071C}"/>
              </a:ext>
            </a:extLst>
          </p:cNvPr>
          <p:cNvGraphicFramePr>
            <a:graphicFrameLocks noGrp="1"/>
          </p:cNvGraphicFramePr>
          <p:nvPr>
            <p:extLst>
              <p:ext uri="{D42A27DB-BD31-4B8C-83A1-F6EECF244321}">
                <p14:modId xmlns:p14="http://schemas.microsoft.com/office/powerpoint/2010/main" val="618840415"/>
              </p:ext>
            </p:extLst>
          </p:nvPr>
        </p:nvGraphicFramePr>
        <p:xfrm>
          <a:off x="771552" y="2022635"/>
          <a:ext cx="7271631" cy="3744248"/>
        </p:xfrm>
        <a:graphic>
          <a:graphicData uri="http://schemas.openxmlformats.org/drawingml/2006/table">
            <a:tbl>
              <a:tblPr firstRow="1" bandRow="1">
                <a:tableStyleId>{5C22544A-7EE6-4342-B048-85BDC9FD1C3A}</a:tableStyleId>
              </a:tblPr>
              <a:tblGrid>
                <a:gridCol w="304988">
                  <a:extLst>
                    <a:ext uri="{9D8B030D-6E8A-4147-A177-3AD203B41FA5}">
                      <a16:colId xmlns:a16="http://schemas.microsoft.com/office/drawing/2014/main" val="920430407"/>
                    </a:ext>
                  </a:extLst>
                </a:gridCol>
                <a:gridCol w="6966643">
                  <a:extLst>
                    <a:ext uri="{9D8B030D-6E8A-4147-A177-3AD203B41FA5}">
                      <a16:colId xmlns:a16="http://schemas.microsoft.com/office/drawing/2014/main" val="125040094"/>
                    </a:ext>
                  </a:extLst>
                </a:gridCol>
              </a:tblGrid>
              <a:tr h="388538">
                <a:tc gridSpan="2">
                  <a:txBody>
                    <a:bodyPr/>
                    <a:lstStyle/>
                    <a:p>
                      <a:pPr marL="0" marR="0" lvl="0" indent="0" algn="l" rtl="0" eaLnBrk="1" fontAlgn="auto" latinLnBrk="0" hangingPunct="1">
                        <a:lnSpc>
                          <a:spcPct val="100000"/>
                        </a:lnSpc>
                        <a:spcBef>
                          <a:spcPts val="0"/>
                        </a:spcBef>
                        <a:spcAft>
                          <a:spcPts val="0"/>
                        </a:spcAft>
                        <a:buClrTx/>
                        <a:buSzTx/>
                        <a:buFontTx/>
                        <a:buNone/>
                      </a:pPr>
                      <a:r>
                        <a:rPr kumimoji="0" lang="en-US" sz="1000" b="1" i="0" u="none" strike="noStrike" kern="1200" cap="none" spc="0" normalizeH="0" baseline="0" noProof="0" dirty="0">
                          <a:ln>
                            <a:noFill/>
                          </a:ln>
                          <a:solidFill>
                            <a:srgbClr val="000000"/>
                          </a:solidFill>
                          <a:effectLst/>
                          <a:uLnTx/>
                          <a:uFillTx/>
                          <a:latin typeface="+mn-lt"/>
                          <a:ea typeface="+mn-ea"/>
                          <a:cs typeface="+mn-cs"/>
                        </a:rPr>
                        <a:t>Microsoft Cloud Accelerate Factory (Factory) </a:t>
                      </a:r>
                      <a:r>
                        <a:rPr kumimoji="0" lang="en-US" sz="1000" b="0" i="0" u="none" strike="noStrike" kern="1200" cap="none" spc="0" normalizeH="0" baseline="0" noProof="0" dirty="0">
                          <a:ln>
                            <a:noFill/>
                          </a:ln>
                          <a:solidFill>
                            <a:srgbClr val="000000"/>
                          </a:solidFill>
                          <a:effectLst/>
                          <a:uLnTx/>
                          <a:uFillTx/>
                          <a:latin typeface="+mn-lt"/>
                          <a:ea typeface="+mn-ea"/>
                          <a:cs typeface="+mn-cs"/>
                        </a:rPr>
                        <a:t>deploys Azure Landing Zones (ALZ) as a part of another service request. This can not be delivered as a standalone engagement. </a:t>
                      </a: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798949">
                <a:tc>
                  <a:txBody>
                    <a:bodyPr/>
                    <a:lstStyle/>
                    <a:p>
                      <a:pPr algn="l"/>
                      <a:r>
                        <a:rPr lang="en-US" sz="1050" b="1" noProof="0" dirty="0">
                          <a:solidFill>
                            <a:srgbClr val="0078D7"/>
                          </a:solidFill>
                          <a:latin typeface="+mj-lt"/>
                        </a:rPr>
                        <a:t>1</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00" b="1" noProof="0" dirty="0">
                          <a:solidFill>
                            <a:srgbClr val="000000"/>
                          </a:solidFill>
                          <a:latin typeface="+mn-lt"/>
                        </a:rPr>
                        <a:t>New ALZ deployment: </a:t>
                      </a:r>
                      <a:r>
                        <a:rPr lang="en-US" sz="1000" b="0" noProof="0" dirty="0">
                          <a:solidFill>
                            <a:srgbClr val="000000"/>
                          </a:solidFill>
                          <a:latin typeface="+mn-lt"/>
                        </a:rPr>
                        <a:t>Deployment of new Azure Landing Zone</a:t>
                      </a:r>
                      <a:r>
                        <a:rPr kumimoji="0" lang="en-US" sz="1000" b="0" i="0" u="none" strike="noStrike" kern="1200" cap="none" spc="0" normalizeH="0" baseline="0" noProof="0" dirty="0">
                          <a:ln>
                            <a:noFill/>
                          </a:ln>
                          <a:solidFill>
                            <a:schemeClr val="accent4"/>
                          </a:solidFill>
                          <a:effectLst/>
                          <a:uLnTx/>
                          <a:uFillTx/>
                          <a:latin typeface="+mn-lt"/>
                          <a:ea typeface="+mn-ea"/>
                          <a:cs typeface="+mn-cs"/>
                        </a:rPr>
                        <a:t> </a:t>
                      </a:r>
                      <a:r>
                        <a:rPr lang="en-US" sz="1000" kern="1200" noProof="0" dirty="0">
                          <a:solidFill>
                            <a:srgbClr val="000000"/>
                          </a:solidFill>
                          <a:latin typeface="+mn-lt"/>
                          <a:ea typeface="+mn-ea"/>
                          <a:cs typeface="+mn-cs"/>
                        </a:rPr>
                        <a:t>using Portal Accelerator or Terraform ALZ AVM, leveraging hands on support or screen share guidance</a:t>
                      </a:r>
                    </a:p>
                    <a:p>
                      <a:pPr marL="0" marR="0" lvl="0" indent="0" algn="l" defTabSz="914367" rtl="0" eaLnBrk="1" fontAlgn="auto" latinLnBrk="0" hangingPunct="1">
                        <a:lnSpc>
                          <a:spcPct val="100000"/>
                        </a:lnSpc>
                        <a:spcBef>
                          <a:spcPts val="0"/>
                        </a:spcBef>
                        <a:spcAft>
                          <a:spcPts val="0"/>
                        </a:spcAft>
                        <a:buClrTx/>
                        <a:buSzTx/>
                        <a:buFontTx/>
                        <a:buNone/>
                        <a:tabLst/>
                        <a:defRPr/>
                      </a:pPr>
                      <a:endParaRPr lang="en-US" sz="1000" b="1" kern="1200" noProof="0" dirty="0">
                        <a:solidFill>
                          <a:srgbClr val="000000"/>
                        </a:solidFill>
                        <a:latin typeface="+mn-lt"/>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1000" b="1" kern="1200" noProof="0" dirty="0">
                          <a:solidFill>
                            <a:srgbClr val="000000"/>
                          </a:solidFill>
                          <a:latin typeface="+mn-lt"/>
                          <a:ea typeface="+mn-ea"/>
                          <a:cs typeface="+mn-cs"/>
                        </a:rPr>
                        <a:t>Existing ALZ: </a:t>
                      </a:r>
                      <a:r>
                        <a:rPr lang="en-US" sz="1000" kern="1200" noProof="0" dirty="0">
                          <a:solidFill>
                            <a:srgbClr val="000000"/>
                          </a:solidFill>
                          <a:latin typeface="+mn-lt"/>
                          <a:ea typeface="+mn-ea"/>
                          <a:cs typeface="+mn-cs"/>
                        </a:rPr>
                        <a:t>Validate landing zone through a landing zone review assessment, grading environment readiness and future scalability</a:t>
                      </a:r>
                    </a:p>
                  </a:txBody>
                  <a:tcPr marL="63999" marR="63999" marT="63999" marB="63999" anchor="ctr">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798949">
                <a:tc>
                  <a:txBody>
                    <a:bodyPr/>
                    <a:lstStyle/>
                    <a:p>
                      <a:pPr algn="l"/>
                      <a:r>
                        <a:rPr lang="en-US" sz="1050" b="1" noProof="0" dirty="0">
                          <a:solidFill>
                            <a:srgbClr val="0078D7"/>
                          </a:solidFill>
                          <a:latin typeface="+mj-lt"/>
                        </a:rPr>
                        <a:t>2</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1" noProof="0" dirty="0">
                          <a:solidFill>
                            <a:srgbClr val="000000"/>
                          </a:solidFill>
                          <a:latin typeface="+mn-lt"/>
                        </a:rPr>
                        <a:t>New ALZ deployment: Implement single or dual region Azure Landing Zone </a:t>
                      </a:r>
                      <a:r>
                        <a:rPr lang="en-US" sz="1000" noProof="0" dirty="0">
                          <a:solidFill>
                            <a:srgbClr val="000000"/>
                          </a:solidFill>
                          <a:latin typeface="+mn-lt"/>
                        </a:rPr>
                        <a:t>based on the customer requirements and desired redundancy. Default engagement would be single-region unless otherwise specified. No customization will be performed by the Factory</a:t>
                      </a:r>
                    </a:p>
                    <a:p>
                      <a:pPr marL="0" marR="0" lvl="0" indent="0" algn="l" rtl="0" eaLnBrk="1" fontAlgn="auto" latinLnBrk="0" hangingPunct="1">
                        <a:lnSpc>
                          <a:spcPct val="100000"/>
                        </a:lnSpc>
                        <a:spcBef>
                          <a:spcPts val="0"/>
                        </a:spcBef>
                        <a:spcAft>
                          <a:spcPts val="0"/>
                        </a:spcAft>
                        <a:buFontTx/>
                        <a:buNone/>
                      </a:pPr>
                      <a:endParaRPr lang="en-US" sz="1000" noProof="0" dirty="0">
                        <a:solidFill>
                          <a:srgbClr val="000000"/>
                        </a:solidFill>
                        <a:latin typeface="+mn-lt"/>
                      </a:endParaRPr>
                    </a:p>
                    <a:p>
                      <a:pPr marL="0" marR="0" lvl="0" indent="0" algn="l" rtl="0" eaLnBrk="1" fontAlgn="auto" latinLnBrk="0" hangingPunct="1">
                        <a:lnSpc>
                          <a:spcPct val="100000"/>
                        </a:lnSpc>
                        <a:spcBef>
                          <a:spcPts val="0"/>
                        </a:spcBef>
                        <a:spcAft>
                          <a:spcPts val="0"/>
                        </a:spcAft>
                        <a:buFontTx/>
                        <a:buNone/>
                      </a:pPr>
                      <a:r>
                        <a:rPr lang="en-US" sz="1000" b="1" noProof="0" dirty="0">
                          <a:solidFill>
                            <a:srgbClr val="000000"/>
                          </a:solidFill>
                          <a:latin typeface="+mn-lt"/>
                        </a:rPr>
                        <a:t>Existing ALZ: </a:t>
                      </a:r>
                      <a:r>
                        <a:rPr lang="en-US" sz="1000" noProof="0" dirty="0">
                          <a:solidFill>
                            <a:srgbClr val="000000"/>
                          </a:solidFill>
                          <a:latin typeface="+mn-lt"/>
                        </a:rPr>
                        <a:t>Provide customer with assessment findings, recommendations, and best practices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332902">
                <a:tc>
                  <a:txBody>
                    <a:bodyPr/>
                    <a:lstStyle/>
                    <a:p>
                      <a:pPr algn="l"/>
                      <a:r>
                        <a:rPr lang="en-US" sz="1050" b="1" noProof="0" dirty="0">
                          <a:solidFill>
                            <a:srgbClr val="0078D7"/>
                          </a:solidFill>
                          <a:latin typeface="+mj-lt"/>
                        </a:rPr>
                        <a:t>3</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mn-lt"/>
                          <a:ea typeface="+mn-ea"/>
                          <a:cs typeface="+mn-cs"/>
                        </a:rPr>
                        <a:t>Continue with the selected service </a:t>
                      </a:r>
                      <a:r>
                        <a:rPr kumimoji="0" lang="en-US" sz="1000" b="0" i="0" u="none" strike="noStrike" kern="0" cap="none" spc="0" normalizeH="0" baseline="0" noProof="0" dirty="0">
                          <a:ln>
                            <a:noFill/>
                          </a:ln>
                          <a:solidFill>
                            <a:srgbClr val="000000"/>
                          </a:solidFill>
                          <a:effectLst/>
                          <a:uLnTx/>
                          <a:uFillTx/>
                          <a:latin typeface="+mn-lt"/>
                          <a:ea typeface="+mn-ea"/>
                          <a:cs typeface="+mn-cs"/>
                        </a:rPr>
                        <a:t>that this ALZ engagement was a part of.</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029587"/>
                  </a:ext>
                </a:extLst>
              </a:tr>
              <a:tr h="332902">
                <a:tc>
                  <a:txBody>
                    <a:bodyPr/>
                    <a:lstStyle/>
                    <a:p>
                      <a:pPr marL="0" algn="l" defTabSz="932742" rtl="0" eaLnBrk="1" latinLnBrk="0" hangingPunct="1"/>
                      <a:r>
                        <a:rPr lang="en-US" sz="1050" b="1" kern="1200" noProof="0" dirty="0">
                          <a:solidFill>
                            <a:srgbClr val="0078D7"/>
                          </a:solidFill>
                          <a:latin typeface="+mj-lt"/>
                          <a:ea typeface="+mn-ea"/>
                          <a:cs typeface="+mn-cs"/>
                        </a:rPr>
                        <a:t>4</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mn-lt"/>
                          <a:ea typeface="+mn-ea"/>
                          <a:cs typeface="+mn-cs"/>
                        </a:rPr>
                        <a:t>Hand over </a:t>
                      </a:r>
                      <a:r>
                        <a:rPr kumimoji="0" lang="en-US" sz="1000" b="0" i="0" u="none" strike="noStrike" kern="0" cap="none" spc="0" normalizeH="0" baseline="0" noProof="0" dirty="0">
                          <a:ln>
                            <a:noFill/>
                          </a:ln>
                          <a:solidFill>
                            <a:srgbClr val="000000"/>
                          </a:solidFill>
                          <a:effectLst/>
                          <a:uLnTx/>
                          <a:uFillTx/>
                          <a:latin typeface="+mn-lt"/>
                          <a:ea typeface="+mn-ea"/>
                          <a:cs typeface="+mn-cs"/>
                        </a:rPr>
                        <a:t>to customer/ISD/Partner for post-migration activities</a:t>
                      </a:r>
                    </a:p>
                  </a:txBody>
                  <a:tcPr marL="63999" marR="63999" marT="63999" marB="63999" anchor="ctr">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6195731"/>
                  </a:ext>
                </a:extLst>
              </a:tr>
              <a:tr h="443261">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a:t>
                      </a:r>
                    </a:p>
                    <a:p>
                      <a:pPr marL="0" marR="0" lvl="0" indent="0" algn="l" defTabSz="932563"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n-lt"/>
                          <a:ea typeface="+mn-ea"/>
                          <a:cs typeface="+mn-cs"/>
                        </a:rPr>
                        <a:t>Factory will provide overall project management; coordinating and </a:t>
                      </a:r>
                      <a:r>
                        <a:rPr kumimoji="0" lang="en-US" sz="800" b="0" i="0" u="none" strike="noStrike" kern="1200" cap="none" spc="0" normalizeH="0" baseline="0" noProof="0" dirty="0">
                          <a:ln>
                            <a:noFill/>
                          </a:ln>
                          <a:solidFill>
                            <a:srgbClr val="282828"/>
                          </a:solidFill>
                          <a:effectLst/>
                          <a:uLnTx/>
                          <a:uFillTx/>
                          <a:latin typeface="+mn-lt"/>
                          <a:ea typeface="+mn-ea"/>
                          <a:cs typeface="Segoe Sans Text" pitchFamily="2" charset="0"/>
                        </a:rPr>
                        <a:t>attending checkpoint meetings; and  customer is responsible for implementing user communications, training, and change management. </a:t>
                      </a: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87022939"/>
                  </a:ext>
                </a:extLst>
              </a:tr>
              <a:tr h="0">
                <a:tc gridSpan="2">
                  <a:txBody>
                    <a:bodyPr/>
                    <a:lstStyle/>
                    <a:p>
                      <a:pPr lvl="0" algn="l">
                        <a:lnSpc>
                          <a:spcPct val="100000"/>
                        </a:lnSpc>
                        <a:spcBef>
                          <a:spcPts val="0"/>
                        </a:spcBef>
                        <a:spcAft>
                          <a:spcPts val="0"/>
                        </a:spcAft>
                        <a:buNone/>
                      </a:pPr>
                      <a:r>
                        <a:rPr lang="en-US" sz="800" b="0" i="0" u="none" strike="noStrike" kern="1200" cap="none" spc="0" normalizeH="0" baseline="0" noProof="0" dirty="0">
                          <a:ln>
                            <a:noFill/>
                          </a:ln>
                          <a:solidFill>
                            <a:srgbClr val="000000"/>
                          </a:solidFill>
                          <a:effectLst/>
                          <a:uLnTx/>
                          <a:uFillTx/>
                          <a:latin typeface="+mn-lt"/>
                        </a:rPr>
                        <a:t>Estimated duration for completing all activities in a typical engagement is within three weeks, when all the requirements are met, and customer and partner are ready for execution.</a:t>
                      </a: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12" name="TextBox 11">
            <a:extLst>
              <a:ext uri="{FF2B5EF4-FFF2-40B4-BE49-F238E27FC236}">
                <a16:creationId xmlns:a16="http://schemas.microsoft.com/office/drawing/2014/main" id="{5DE01DA0-ACF0-4F8C-8A7C-07DE942A3E69}"/>
              </a:ext>
            </a:extLst>
          </p:cNvPr>
          <p:cNvSpPr txBox="1"/>
          <p:nvPr/>
        </p:nvSpPr>
        <p:spPr>
          <a:xfrm>
            <a:off x="8450580" y="1548388"/>
            <a:ext cx="3152458"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6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dirty="0"/>
              <a:t>Notes</a:t>
            </a:r>
          </a:p>
        </p:txBody>
      </p:sp>
      <p:sp>
        <p:nvSpPr>
          <p:cNvPr id="10" name="Graphic 22">
            <a:extLst>
              <a:ext uri="{FF2B5EF4-FFF2-40B4-BE49-F238E27FC236}">
                <a16:creationId xmlns:a16="http://schemas.microsoft.com/office/drawing/2014/main" id="{06E391A7-4F67-2A43-2F6C-DC7E9A77DAC2}"/>
              </a:ext>
            </a:extLst>
          </p:cNvPr>
          <p:cNvSpPr/>
          <p:nvPr/>
        </p:nvSpPr>
        <p:spPr>
          <a:xfrm>
            <a:off x="3403545" y="1619230"/>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16" name="Graphic 25">
            <a:extLst>
              <a:ext uri="{FF2B5EF4-FFF2-40B4-BE49-F238E27FC236}">
                <a16:creationId xmlns:a16="http://schemas.microsoft.com/office/drawing/2014/main" id="{F03CD66D-4C79-902C-95C7-57ED0ECEC3AA}"/>
              </a:ext>
            </a:extLst>
          </p:cNvPr>
          <p:cNvSpPr/>
          <p:nvPr/>
        </p:nvSpPr>
        <p:spPr>
          <a:xfrm>
            <a:off x="9520629" y="1626057"/>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4" name="TextBox 3">
            <a:extLst>
              <a:ext uri="{FF2B5EF4-FFF2-40B4-BE49-F238E27FC236}">
                <a16:creationId xmlns:a16="http://schemas.microsoft.com/office/drawing/2014/main" id="{B062F268-8D75-A246-F7C9-97433E6E8E96}"/>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8819842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3FDABB-BF63-D0B9-C765-2EBDD23C7D3A}"/>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D876C183-22CE-E45A-9CD0-63508F53D1B0}"/>
              </a:ext>
            </a:extLst>
          </p:cNvPr>
          <p:cNvSpPr>
            <a:spLocks noGrp="1"/>
          </p:cNvSpPr>
          <p:nvPr>
            <p:ph type="title"/>
          </p:nvPr>
        </p:nvSpPr>
        <p:spPr>
          <a:xfrm>
            <a:off x="570242" y="119128"/>
            <a:ext cx="6779420" cy="706788"/>
          </a:xfrm>
        </p:spPr>
        <p:txBody>
          <a:bodyPr>
            <a:noAutofit/>
          </a:bodyPr>
          <a:lstStyle/>
          <a:p>
            <a:r>
              <a:rPr lang="en-US" sz="2800" noProof="0" dirty="0"/>
              <a:t>Infrastructure Migration</a:t>
            </a:r>
            <a:br>
              <a:rPr lang="en-US" sz="2400" noProof="0" dirty="0"/>
            </a:br>
            <a:r>
              <a:rPr lang="en-US" sz="1800" noProof="0" dirty="0">
                <a:solidFill>
                  <a:schemeClr val="tx1"/>
                </a:solidFill>
              </a:rPr>
              <a:t>Azure Landing Zone – Scope &amp; Responsibilities</a:t>
            </a:r>
          </a:p>
        </p:txBody>
      </p:sp>
      <p:sp>
        <p:nvSpPr>
          <p:cNvPr id="23" name="Rounded Rectangle 22">
            <a:extLst>
              <a:ext uri="{FF2B5EF4-FFF2-40B4-BE49-F238E27FC236}">
                <a16:creationId xmlns:a16="http://schemas.microsoft.com/office/drawing/2014/main" id="{FEC1DD96-57B3-C3B8-A526-351032F8F789}"/>
              </a:ext>
              <a:ext uri="{C183D7F6-B498-43B3-948B-1728B52AA6E4}">
                <adec:decorative xmlns:adec="http://schemas.microsoft.com/office/drawing/2017/decorative" val="1"/>
              </a:ext>
            </a:extLst>
          </p:cNvPr>
          <p:cNvSpPr>
            <a:spLocks/>
          </p:cNvSpPr>
          <p:nvPr/>
        </p:nvSpPr>
        <p:spPr bwMode="auto">
          <a:xfrm>
            <a:off x="6096000" y="1003301"/>
            <a:ext cx="5539369" cy="3523189"/>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4" name="Rounded Rectangle 23">
            <a:extLst>
              <a:ext uri="{FF2B5EF4-FFF2-40B4-BE49-F238E27FC236}">
                <a16:creationId xmlns:a16="http://schemas.microsoft.com/office/drawing/2014/main" id="{B7B1609C-E5AB-3C3D-D3CF-A424A18128E3}"/>
              </a:ext>
              <a:ext uri="{C183D7F6-B498-43B3-948B-1728B52AA6E4}">
                <adec:decorative xmlns:adec="http://schemas.microsoft.com/office/drawing/2017/decorative" val="1"/>
              </a:ext>
            </a:extLst>
          </p:cNvPr>
          <p:cNvSpPr>
            <a:spLocks/>
          </p:cNvSpPr>
          <p:nvPr/>
        </p:nvSpPr>
        <p:spPr bwMode="auto">
          <a:xfrm>
            <a:off x="541916" y="1005500"/>
            <a:ext cx="5483812" cy="5620696"/>
          </a:xfrm>
          <a:prstGeom prst="roundRect">
            <a:avLst>
              <a:gd name="adj" fmla="val 359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5" name="TextBox 24">
            <a:extLst>
              <a:ext uri="{FF2B5EF4-FFF2-40B4-BE49-F238E27FC236}">
                <a16:creationId xmlns:a16="http://schemas.microsoft.com/office/drawing/2014/main" id="{A31419A4-4C58-03AF-974C-F2F12DD20FFA}"/>
              </a:ext>
            </a:extLst>
          </p:cNvPr>
          <p:cNvSpPr txBox="1">
            <a:spLocks/>
          </p:cNvSpPr>
          <p:nvPr/>
        </p:nvSpPr>
        <p:spPr>
          <a:xfrm>
            <a:off x="570242" y="1143600"/>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6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dirty="0"/>
              <a:t>Scope 1: Factory - Led</a:t>
            </a:r>
          </a:p>
        </p:txBody>
      </p:sp>
      <p:sp>
        <p:nvSpPr>
          <p:cNvPr id="26" name="TextBox 25">
            <a:extLst>
              <a:ext uri="{FF2B5EF4-FFF2-40B4-BE49-F238E27FC236}">
                <a16:creationId xmlns:a16="http://schemas.microsoft.com/office/drawing/2014/main" id="{3E2330F4-59B6-4DC1-5766-3BC050396976}"/>
              </a:ext>
            </a:extLst>
          </p:cNvPr>
          <p:cNvSpPr txBox="1">
            <a:spLocks/>
          </p:cNvSpPr>
          <p:nvPr/>
        </p:nvSpPr>
        <p:spPr>
          <a:xfrm>
            <a:off x="6137946" y="1131085"/>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6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dirty="0"/>
              <a:t>Scope 2: Unified / ISD / Partner / Customer – Led*</a:t>
            </a:r>
          </a:p>
        </p:txBody>
      </p:sp>
      <p:sp>
        <p:nvSpPr>
          <p:cNvPr id="14" name="TextBox 13">
            <a:extLst>
              <a:ext uri="{FF2B5EF4-FFF2-40B4-BE49-F238E27FC236}">
                <a16:creationId xmlns:a16="http://schemas.microsoft.com/office/drawing/2014/main" id="{D26597A0-9992-E3B6-1897-D17F4969859A}"/>
              </a:ext>
            </a:extLst>
          </p:cNvPr>
          <p:cNvSpPr txBox="1"/>
          <p:nvPr/>
        </p:nvSpPr>
        <p:spPr>
          <a:xfrm>
            <a:off x="933469" y="1736239"/>
            <a:ext cx="4937760" cy="4712572"/>
          </a:xfrm>
          <a:prstGeom prst="rect">
            <a:avLst/>
          </a:prstGeom>
          <a:noFill/>
        </p:spPr>
        <p:txBody>
          <a:bodyPr wrap="square" lIns="45720" tIns="18288" rIns="45720" bIns="18288" anchor="t">
            <a:spAutoFit/>
          </a:bodyPr>
          <a:lstStyle/>
          <a:p>
            <a:pPr lvl="0">
              <a:spcAft>
                <a:spcPts val="200"/>
              </a:spcAft>
              <a:defRPr/>
            </a:pPr>
            <a:r>
              <a:rPr lang="en-US" sz="1050" b="1" kern="0" noProof="0" dirty="0">
                <a:solidFill>
                  <a:srgbClr val="000000"/>
                </a:solidFill>
                <a:latin typeface="Segoe Sans Text Semibold" pitchFamily="2" charset="0"/>
              </a:rPr>
              <a:t>Factory will</a:t>
            </a:r>
          </a:p>
          <a:p>
            <a:pPr marL="241300" lvl="1" indent="-133350">
              <a:spcAft>
                <a:spcPts val="200"/>
              </a:spcAft>
              <a:buFont typeface="Arial" panose="020B0604020202020204" pitchFamily="34" charset="0"/>
              <a:buChar char="•"/>
              <a:defRPr/>
            </a:pPr>
            <a:r>
              <a:rPr lang="en-US" sz="800" kern="0" noProof="0" dirty="0">
                <a:solidFill>
                  <a:srgbClr val="000000"/>
                </a:solidFill>
              </a:rPr>
              <a:t>Lead/participate in design and deployment of Azure Landing Zone aligned to Cloud Adaption Framework </a:t>
            </a:r>
          </a:p>
          <a:p>
            <a:pPr marL="241300" lvl="1" indent="-133350">
              <a:spcAft>
                <a:spcPts val="200"/>
              </a:spcAft>
              <a:buFont typeface="Arial" panose="020B0604020202020204" pitchFamily="34" charset="0"/>
              <a:buChar char="•"/>
              <a:defRPr/>
            </a:pPr>
            <a:r>
              <a:rPr lang="en-US" sz="800" kern="0" noProof="0" dirty="0">
                <a:solidFill>
                  <a:srgbClr val="000000"/>
                </a:solidFill>
              </a:rPr>
              <a:t>Develop and deploy IaC templates (Bicep/Terraform) leveraging Azure Verified Modules</a:t>
            </a:r>
          </a:p>
          <a:p>
            <a:pPr marL="241300" lvl="1" indent="-133350">
              <a:spcAft>
                <a:spcPts val="200"/>
              </a:spcAft>
              <a:buFont typeface="Arial" panose="020B0604020202020204" pitchFamily="34" charset="0"/>
              <a:buChar char="•"/>
              <a:defRPr/>
            </a:pPr>
            <a:r>
              <a:rPr lang="en-US" sz="800" kern="0" noProof="0" dirty="0">
                <a:solidFill>
                  <a:srgbClr val="000000"/>
                </a:solidFill>
              </a:rPr>
              <a:t>Establish automation pipelines for repeatable deployments</a:t>
            </a:r>
          </a:p>
          <a:p>
            <a:pPr marL="241300" lvl="1" indent="-133350">
              <a:spcAft>
                <a:spcPts val="200"/>
              </a:spcAft>
              <a:buFont typeface="Arial" panose="020B0604020202020204" pitchFamily="34" charset="0"/>
              <a:buChar char="•"/>
              <a:defRPr/>
            </a:pPr>
            <a:r>
              <a:rPr lang="en-US" sz="800" kern="0" noProof="0" dirty="0">
                <a:solidFill>
                  <a:srgbClr val="000000"/>
                </a:solidFill>
              </a:rPr>
              <a:t>Deliver documentation for the work performed</a:t>
            </a:r>
          </a:p>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050" b="1" i="0" u="none" strike="noStrike" kern="0" cap="none" spc="0" normalizeH="0" baseline="0" noProof="0" dirty="0">
              <a:ln>
                <a:noFill/>
              </a:ln>
              <a:solidFill>
                <a:srgbClr val="000000"/>
              </a:solidFill>
              <a:effectLst/>
              <a:uLnTx/>
              <a:uFillTx/>
              <a:latin typeface="Segoe Sans Text Semibold" pitchFamily="2" charset="0"/>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Segoe Sans Text Semibold" pitchFamily="2" charset="0"/>
                <a:ea typeface="+mn-ea"/>
                <a:cs typeface="+mn-cs"/>
              </a:rPr>
              <a:t>Implement, Deploy and configure the following</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Enterprise scale Platform Landing Zone deployment</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Establish Landing Zone for Modernization, Migration and Cloud Native </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Green-field and Brown-field scenario</a:t>
            </a:r>
          </a:p>
          <a:p>
            <a:pPr marL="698500" lvl="2" indent="-133350">
              <a:spcAft>
                <a:spcPts val="200"/>
              </a:spcAft>
              <a:buFont typeface="Arial" panose="020B0604020202020204" pitchFamily="34" charset="0"/>
              <a:buChar char="•"/>
              <a:defRPr/>
            </a:pPr>
            <a:r>
              <a:rPr lang="en-US" sz="800" kern="0" noProof="0" dirty="0">
                <a:solidFill>
                  <a:srgbClr val="000000"/>
                </a:solidFill>
                <a:latin typeface="Segoe Sans Text"/>
              </a:rPr>
              <a:t>Multi-region </a:t>
            </a:r>
            <a:r>
              <a:rPr kumimoji="0" lang="en-US" sz="800" b="0" i="0" u="none" strike="noStrike" kern="0" cap="none" spc="0" normalizeH="0" baseline="0" noProof="0" dirty="0">
                <a:ln>
                  <a:noFill/>
                </a:ln>
                <a:solidFill>
                  <a:srgbClr val="000000"/>
                </a:solidFill>
                <a:effectLst/>
                <a:uLnTx/>
                <a:uFillTx/>
                <a:latin typeface="Segoe Sans Text"/>
                <a:ea typeface="+mn-ea"/>
                <a:cs typeface="+mn-cs"/>
              </a:rPr>
              <a:t>Deployment</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Identity and Management</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Baseline Identity deployment</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Scalable Management Group hierarchy</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Default RBAC (limited customization)</a:t>
            </a:r>
          </a:p>
          <a:p>
            <a:pPr marL="241300" lvl="1"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Network and Connectivity</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Express Route &amp; VPN Configuration support</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Hub and Spoke with Azure Firewall</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VWAN and VWAN Hub (Azure Only)</a:t>
            </a:r>
          </a:p>
          <a:p>
            <a:pPr marL="241300" lvl="1"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Security and Policy Management</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Recommended Baseline Security and Policy setup</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Defender for Cloud and DDoS</a:t>
            </a:r>
          </a:p>
          <a:p>
            <a:pPr marL="241300" lvl="1"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Monitoring Management</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Monitoring Enablement</a:t>
            </a:r>
          </a:p>
          <a:p>
            <a:pPr marL="241300" lvl="1"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Platform Foundation / automation</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Subscription vending</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Azure Verified Modules based deployment (terraform)</a:t>
            </a:r>
          </a:p>
          <a:p>
            <a:pPr marL="241300" lvl="1"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Landing Zone Validation (checklist based)</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Validation of existing Landing Zone</a:t>
            </a:r>
          </a:p>
          <a:p>
            <a:pPr marL="698500" lvl="2" indent="-133350">
              <a:spcAft>
                <a:spcPts val="200"/>
              </a:spcAft>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Architecture review against Cloud Adaption Framework Enterprise-Scale reference</a:t>
            </a:r>
          </a:p>
        </p:txBody>
      </p:sp>
      <p:sp>
        <p:nvSpPr>
          <p:cNvPr id="20" name="TextBox 19">
            <a:extLst>
              <a:ext uri="{FF2B5EF4-FFF2-40B4-BE49-F238E27FC236}">
                <a16:creationId xmlns:a16="http://schemas.microsoft.com/office/drawing/2014/main" id="{BBBB4B12-6664-41B7-15C4-DB06EC477408}"/>
              </a:ext>
            </a:extLst>
          </p:cNvPr>
          <p:cNvSpPr txBox="1"/>
          <p:nvPr/>
        </p:nvSpPr>
        <p:spPr>
          <a:xfrm>
            <a:off x="6429048" y="1736239"/>
            <a:ext cx="4937760" cy="2790251"/>
          </a:xfrm>
          <a:prstGeom prst="rect">
            <a:avLst/>
          </a:prstGeom>
          <a:noFill/>
        </p:spPr>
        <p:txBody>
          <a:bodyPr wrap="square" lIns="45720" tIns="18288" rIns="45720" bIns="18288">
            <a:spAutoFit/>
          </a:bodyPr>
          <a:lstStyle/>
          <a:p>
            <a:pPr marL="171450" lvl="0" indent="-171450">
              <a:lnSpc>
                <a:spcPct val="125000"/>
              </a:lnSpc>
              <a:buFont typeface="Arial" panose="020B0604020202020204" pitchFamily="34" charset="0"/>
              <a:buChar char="•"/>
              <a:defRPr/>
            </a:pPr>
            <a:r>
              <a:rPr lang="en-US" sz="800" kern="0" noProof="0" dirty="0">
                <a:solidFill>
                  <a:srgbClr val="1A1A2E"/>
                </a:solidFill>
              </a:rPr>
              <a:t>Consulting, advisory services</a:t>
            </a:r>
            <a:endParaRPr kumimoji="0" lang="en-US" sz="8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Design Landing Zone architecture (management groups, subscription model, region strategy)</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Define and implement network architecture (hub-spoke/vWAN, connectivity, DNS strategy)</a:t>
            </a:r>
          </a:p>
          <a:p>
            <a:pPr marL="171450" indent="-171450">
              <a:lnSpc>
                <a:spcPct val="125000"/>
              </a:lnSpc>
              <a:buFont typeface="Arial" panose="020B0604020202020204" pitchFamily="34" charset="0"/>
              <a:buChar char="•"/>
              <a:defRPr/>
            </a:pPr>
            <a:r>
              <a:rPr lang="en-US" sz="800" noProof="0" dirty="0">
                <a:solidFill>
                  <a:srgbClr val="000000"/>
                </a:solidFill>
              </a:rPr>
              <a:t>Owns Microsoft Entra ID (Azure AD) tenant and identity/access management.</a:t>
            </a:r>
            <a:endParaRPr kumimoji="0" lang="en-US" sz="8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Co-develop and enforce security policies and Azure Policy framework</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Implement identity integration (hybrid identity, SSO, MFA)</a:t>
            </a:r>
          </a:p>
          <a:p>
            <a:pPr marL="171450" lvl="0" indent="-171450">
              <a:lnSpc>
                <a:spcPct val="125000"/>
              </a:lnSpc>
              <a:buFont typeface="Arial" panose="020B0604020202020204" pitchFamily="34" charset="0"/>
              <a:buChar char="•"/>
              <a:defRPr/>
            </a:pPr>
            <a:r>
              <a:rPr lang="en-US" sz="800" noProof="0" dirty="0">
                <a:solidFill>
                  <a:srgbClr val="000000"/>
                </a:solidFill>
              </a:rPr>
              <a:t>Define RBAC, PIM, and Conditional Access policies and governance needed.</a:t>
            </a:r>
            <a:endParaRPr kumimoji="0" lang="en-US" sz="800" b="0" i="0" u="none" strike="noStrike" kern="0" cap="none" spc="0" normalizeH="0" baseline="0" noProof="0" dirty="0">
              <a:ln>
                <a:noFill/>
              </a:ln>
              <a:solidFill>
                <a:srgbClr val="000000"/>
              </a:solidFill>
              <a:effectLst/>
              <a:uLnTx/>
              <a:uFillTx/>
              <a:latin typeface="Segoe Sans Text"/>
              <a:ea typeface="+mn-ea"/>
              <a:cs typeface="+mn-cs"/>
            </a:endParaRPr>
          </a:p>
          <a:p>
            <a:pPr marL="171450" lvl="0" indent="-171450">
              <a:lnSpc>
                <a:spcPct val="125000"/>
              </a:lnSpc>
              <a:buFont typeface="Arial" panose="020B0604020202020204" pitchFamily="34" charset="0"/>
              <a:buChar char="•"/>
              <a:defRPr/>
            </a:pPr>
            <a:r>
              <a:rPr lang="en-US" sz="800" noProof="0" dirty="0">
                <a:solidFill>
                  <a:srgbClr val="000000"/>
                </a:solidFill>
              </a:rPr>
              <a:t>Baseline network connectivity (VPN/ExpressRoute) readiness or will enable it as needed</a:t>
            </a:r>
            <a:endParaRPr kumimoji="0" lang="en-US" sz="8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Enable platform services (monitoring, logging, backup, disaster recovery)</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Establish cost management practices (tagging, budget alerts, optimization approach)</a:t>
            </a:r>
          </a:p>
          <a:p>
            <a:pPr marL="171450" lvl="0" indent="-171450">
              <a:lnSpc>
                <a:spcPct val="125000"/>
              </a:lnSpc>
              <a:buFont typeface="Arial" panose="020B0604020202020204" pitchFamily="34" charset="0"/>
              <a:buChar char="•"/>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Build and maintain </a:t>
            </a:r>
            <a:r>
              <a:rPr lang="en-US" sz="800" kern="0" noProof="0" dirty="0">
                <a:solidFill>
                  <a:srgbClr val="000000"/>
                </a:solidFill>
              </a:rPr>
              <a:t>custom </a:t>
            </a:r>
            <a:r>
              <a:rPr kumimoji="0" lang="en-US" sz="800" b="0" i="0" u="none" strike="noStrike" kern="0" cap="none" spc="0" normalizeH="0" baseline="0" noProof="0" dirty="0">
                <a:ln>
                  <a:noFill/>
                </a:ln>
                <a:solidFill>
                  <a:srgbClr val="000000"/>
                </a:solidFill>
                <a:effectLst/>
                <a:uLnTx/>
                <a:uFillTx/>
                <a:latin typeface="Segoe Sans Text"/>
                <a:ea typeface="+mn-ea"/>
                <a:cs typeface="+mn-cs"/>
              </a:rPr>
              <a:t>Infrastructure as Code (IaC) outside of standard AVM </a:t>
            </a:r>
          </a:p>
          <a:p>
            <a:pPr marL="171450" lvl="0" indent="-171450">
              <a:lnSpc>
                <a:spcPct val="125000"/>
              </a:lnSpc>
              <a:buFont typeface="Arial" panose="020B0604020202020204" pitchFamily="34" charset="0"/>
              <a:buChar char="•"/>
              <a:defRPr/>
            </a:pPr>
            <a:r>
              <a:rPr lang="en-US" sz="800" kern="0" noProof="0" dirty="0">
                <a:solidFill>
                  <a:srgbClr val="000000"/>
                </a:solidFill>
                <a:latin typeface="Segoe Sans Text"/>
              </a:rPr>
              <a:t>Defines</a:t>
            </a:r>
            <a:r>
              <a:rPr kumimoji="0" lang="en-US" sz="800" b="0" i="0" u="none" strike="noStrike" kern="0" cap="none" spc="0" normalizeH="0" baseline="0" noProof="0" dirty="0">
                <a:ln>
                  <a:noFill/>
                </a:ln>
                <a:solidFill>
                  <a:srgbClr val="000000"/>
                </a:solidFill>
                <a:effectLst/>
                <a:uLnTx/>
                <a:uFillTx/>
                <a:latin typeface="Segoe Sans Text"/>
                <a:ea typeface="+mn-ea"/>
                <a:cs typeface="+mn-cs"/>
              </a:rPr>
              <a:t> CI/CD pipelines standards</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Define operating model (support structure, SLAs, incident management)</a:t>
            </a:r>
          </a:p>
          <a:p>
            <a:pPr marL="171450" indent="-171450">
              <a:lnSpc>
                <a:spcPct val="125000"/>
              </a:lnSpc>
              <a:buFont typeface="Arial" panose="020B0604020202020204" pitchFamily="34" charset="0"/>
              <a:buChar char="•"/>
              <a:defRPr/>
            </a:pPr>
            <a:r>
              <a:rPr lang="en-US" sz="800" noProof="0" dirty="0">
                <a:solidFill>
                  <a:srgbClr val="000000"/>
                </a:solidFill>
              </a:rPr>
              <a:t>Any substantial deviations such as multi-tenant Landing Zones, M&amp;A and Regulation Separation, etc..</a:t>
            </a:r>
          </a:p>
          <a:p>
            <a:pPr marL="171450" indent="-171450">
              <a:lnSpc>
                <a:spcPct val="125000"/>
              </a:lnSpc>
              <a:buFont typeface="Arial" panose="020B0604020202020204" pitchFamily="34" charset="0"/>
              <a:buChar char="•"/>
              <a:defRPr/>
            </a:pPr>
            <a:r>
              <a:rPr lang="en-US" sz="800" noProof="0" dirty="0">
                <a:solidFill>
                  <a:srgbClr val="000000"/>
                </a:solidFill>
              </a:rPr>
              <a:t>Any third-party integrations or tools are managed and supported by the customer unless explicitly included.</a:t>
            </a:r>
          </a:p>
          <a:p>
            <a:pPr marL="171450" indent="-171450">
              <a:lnSpc>
                <a:spcPct val="125000"/>
              </a:lnSpc>
              <a:buFont typeface="Arial" panose="020B0604020202020204" pitchFamily="34" charset="0"/>
              <a:buChar char="•"/>
              <a:defRPr/>
            </a:pPr>
            <a:r>
              <a:rPr lang="en-US" sz="800" noProof="0" dirty="0">
                <a:solidFill>
                  <a:srgbClr val="000000"/>
                </a:solidFill>
              </a:rPr>
              <a:t>Post-deployment operations ownership transitions to customer or designated support team.</a:t>
            </a:r>
            <a:endParaRPr kumimoji="0" lang="en-US" sz="8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Develop documentation, runbooks, and conduct knowledge transfer</a:t>
            </a:r>
            <a:endParaRPr kumimoji="0" lang="en-US" sz="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3" name="Oval 2">
            <a:extLst>
              <a:ext uri="{FF2B5EF4-FFF2-40B4-BE49-F238E27FC236}">
                <a16:creationId xmlns:a16="http://schemas.microsoft.com/office/drawing/2014/main" id="{4AF0497C-005D-C9D7-391F-549C78891F3B}"/>
              </a:ext>
              <a:ext uri="{C183D7F6-B498-43B3-948B-1728B52AA6E4}">
                <adec:decorative xmlns:adec="http://schemas.microsoft.com/office/drawing/2017/decorative" val="1"/>
              </a:ext>
            </a:extLst>
          </p:cNvPr>
          <p:cNvSpPr/>
          <p:nvPr/>
        </p:nvSpPr>
        <p:spPr bwMode="auto">
          <a:xfrm>
            <a:off x="746934" y="1759274"/>
            <a:ext cx="140352" cy="140352"/>
          </a:xfrm>
          <a:prstGeom prst="ellipse">
            <a:avLst/>
          </a:prstGeom>
          <a:solidFill>
            <a:schemeClr val="bg1"/>
          </a:solidFill>
          <a:ln w="22225"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8" name="Straight Connector 7">
            <a:extLst>
              <a:ext uri="{FF2B5EF4-FFF2-40B4-BE49-F238E27FC236}">
                <a16:creationId xmlns:a16="http://schemas.microsoft.com/office/drawing/2014/main" id="{AD3E6FFD-5A77-EBED-29E9-44008F2EAAAC}"/>
              </a:ext>
              <a:ext uri="{C183D7F6-B498-43B3-948B-1728B52AA6E4}">
                <adec:decorative xmlns:adec="http://schemas.microsoft.com/office/drawing/2017/decorative" val="1"/>
              </a:ext>
            </a:extLst>
          </p:cNvPr>
          <p:cNvCxnSpPr>
            <a:cxnSpLocks/>
          </p:cNvCxnSpPr>
          <p:nvPr/>
        </p:nvCxnSpPr>
        <p:spPr>
          <a:xfrm>
            <a:off x="933469" y="2745923"/>
            <a:ext cx="4937760" cy="0"/>
          </a:xfrm>
          <a:prstGeom prst="line">
            <a:avLst/>
          </a:prstGeom>
          <a:ln w="12700">
            <a:solidFill>
              <a:schemeClr val="bg2">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78A6FA1-D5E4-8893-CDB4-A9F9A6AB2911}"/>
              </a:ext>
              <a:ext uri="{C183D7F6-B498-43B3-948B-1728B52AA6E4}">
                <adec:decorative xmlns:adec="http://schemas.microsoft.com/office/drawing/2017/decorative" val="1"/>
              </a:ext>
            </a:extLst>
          </p:cNvPr>
          <p:cNvSpPr/>
          <p:nvPr/>
        </p:nvSpPr>
        <p:spPr bwMode="auto">
          <a:xfrm>
            <a:off x="746934" y="2840570"/>
            <a:ext cx="140352" cy="140352"/>
          </a:xfrm>
          <a:prstGeom prst="ellipse">
            <a:avLst/>
          </a:prstGeom>
          <a:solidFill>
            <a:schemeClr val="bg1"/>
          </a:solidFill>
          <a:ln w="22225"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 name="Rounded Rectangle 22">
            <a:extLst>
              <a:ext uri="{FF2B5EF4-FFF2-40B4-BE49-F238E27FC236}">
                <a16:creationId xmlns:a16="http://schemas.microsoft.com/office/drawing/2014/main" id="{03DB0907-4E4C-76CB-93E6-BCC564D74D22}"/>
              </a:ext>
              <a:ext uri="{C183D7F6-B498-43B3-948B-1728B52AA6E4}">
                <adec:decorative xmlns:adec="http://schemas.microsoft.com/office/drawing/2017/decorative" val="1"/>
              </a:ext>
            </a:extLst>
          </p:cNvPr>
          <p:cNvSpPr>
            <a:spLocks/>
          </p:cNvSpPr>
          <p:nvPr/>
        </p:nvSpPr>
        <p:spPr bwMode="auto">
          <a:xfrm>
            <a:off x="6110715" y="4654275"/>
            <a:ext cx="5539369" cy="1971922"/>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9" name="TextBox 8">
            <a:extLst>
              <a:ext uri="{FF2B5EF4-FFF2-40B4-BE49-F238E27FC236}">
                <a16:creationId xmlns:a16="http://schemas.microsoft.com/office/drawing/2014/main" id="{30FB53F2-EF1C-1980-83EC-BC8EE21AB57E}"/>
              </a:ext>
            </a:extLst>
          </p:cNvPr>
          <p:cNvSpPr txBox="1">
            <a:spLocks/>
          </p:cNvSpPr>
          <p:nvPr/>
        </p:nvSpPr>
        <p:spPr>
          <a:xfrm>
            <a:off x="6151557" y="4722147"/>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6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dirty="0"/>
              <a:t>Prerequisites</a:t>
            </a:r>
          </a:p>
        </p:txBody>
      </p:sp>
      <p:sp>
        <p:nvSpPr>
          <p:cNvPr id="16" name="TextBox 15">
            <a:extLst>
              <a:ext uri="{FF2B5EF4-FFF2-40B4-BE49-F238E27FC236}">
                <a16:creationId xmlns:a16="http://schemas.microsoft.com/office/drawing/2014/main" id="{BCE3D273-97E0-7415-7B8C-FBA8188EC22B}"/>
              </a:ext>
            </a:extLst>
          </p:cNvPr>
          <p:cNvSpPr txBox="1"/>
          <p:nvPr/>
        </p:nvSpPr>
        <p:spPr>
          <a:xfrm>
            <a:off x="6424583" y="5151775"/>
            <a:ext cx="4937760" cy="1350113"/>
          </a:xfrm>
          <a:prstGeom prst="rect">
            <a:avLst/>
          </a:prstGeom>
          <a:noFill/>
        </p:spPr>
        <p:txBody>
          <a:bodyPr wrap="square" lIns="45720" tIns="18288" rIns="45720" bIns="18288">
            <a:spAutoFit/>
          </a:bodyPr>
          <a:lstStyle/>
          <a:p>
            <a:pPr marL="171450" lvl="0" indent="-171450">
              <a:spcAft>
                <a:spcPts val="200"/>
              </a:spcAft>
              <a:buFont typeface="Arial" panose="020B0604020202020204" pitchFamily="34" charset="0"/>
              <a:buChar char="•"/>
              <a:defRPr/>
            </a:pPr>
            <a:r>
              <a:rPr lang="en-US" sz="800" noProof="0" dirty="0">
                <a:solidFill>
                  <a:srgbClr val="000000"/>
                </a:solidFill>
              </a:rPr>
              <a:t>Customer owns Microsoft Entra ID (Azure AD) tenant and identity/access management.</a:t>
            </a:r>
          </a:p>
          <a:p>
            <a:pPr marL="171450" lvl="0" indent="-171450">
              <a:spcAft>
                <a:spcPts val="200"/>
              </a:spcAft>
              <a:buFont typeface="Arial" panose="020B0604020202020204" pitchFamily="34" charset="0"/>
              <a:buChar char="•"/>
              <a:defRPr/>
            </a:pPr>
            <a:r>
              <a:rPr lang="en-US" sz="800" noProof="0" dirty="0">
                <a:solidFill>
                  <a:srgbClr val="000000"/>
                </a:solidFill>
              </a:rPr>
              <a:t>Customer will provide required access (subscriptions, identity, network).</a:t>
            </a:r>
          </a:p>
          <a:p>
            <a:pPr marL="171450" lvl="0" indent="-171450">
              <a:spcAft>
                <a:spcPts val="200"/>
              </a:spcAft>
              <a:buFont typeface="Arial" panose="020B0604020202020204" pitchFamily="34" charset="0"/>
              <a:buChar char="•"/>
              <a:defRPr/>
            </a:pPr>
            <a:r>
              <a:rPr lang="en-US" sz="800" noProof="0" dirty="0">
                <a:solidFill>
                  <a:srgbClr val="000000"/>
                </a:solidFill>
              </a:rPr>
              <a:t>Necessary licenses (Azure, security, monitoring tools) are procured by the customer.</a:t>
            </a:r>
          </a:p>
          <a:p>
            <a:pPr marL="171450" lvl="0" indent="-171450">
              <a:spcAft>
                <a:spcPts val="200"/>
              </a:spcAft>
              <a:buFont typeface="Arial" panose="020B0604020202020204" pitchFamily="34" charset="0"/>
              <a:buChar char="•"/>
              <a:defRPr/>
            </a:pPr>
            <a:r>
              <a:rPr lang="en-US" sz="800" noProof="0" dirty="0">
                <a:solidFill>
                  <a:srgbClr val="000000"/>
                </a:solidFill>
              </a:rPr>
              <a:t>Customer has baseline network connectivity (VPN/ExpressRoute) readiness or will enable it as needed.</a:t>
            </a:r>
          </a:p>
          <a:p>
            <a:pPr marL="171450" lvl="0" indent="-171450">
              <a:spcAft>
                <a:spcPts val="200"/>
              </a:spcAft>
              <a:buFont typeface="Arial" panose="020B0604020202020204" pitchFamily="34" charset="0"/>
              <a:buChar char="•"/>
              <a:defRPr/>
            </a:pPr>
            <a:r>
              <a:rPr lang="en-US" sz="800" noProof="0" dirty="0">
                <a:solidFill>
                  <a:srgbClr val="000000"/>
                </a:solidFill>
              </a:rPr>
              <a:t>Customer will assign dedicated SMEs for identity, network, security, and applications.</a:t>
            </a:r>
          </a:p>
          <a:p>
            <a:pPr marL="171450" lvl="0" indent="-171450">
              <a:spcAft>
                <a:spcPts val="200"/>
              </a:spcAft>
              <a:buFont typeface="Arial" panose="020B0604020202020204" pitchFamily="34" charset="0"/>
              <a:buChar char="•"/>
              <a:defRPr/>
            </a:pPr>
            <a:r>
              <a:rPr lang="en-US" sz="800" noProof="0" dirty="0">
                <a:solidFill>
                  <a:srgbClr val="000000"/>
                </a:solidFill>
              </a:rPr>
              <a:t>Customer to define and approve RBAC, PIM, and Conditional Access policies and governance needed.</a:t>
            </a:r>
          </a:p>
          <a:p>
            <a:pPr marL="171450" lvl="0" indent="-171450">
              <a:spcAft>
                <a:spcPts val="200"/>
              </a:spcAft>
              <a:buFont typeface="Arial" panose="020B0604020202020204" pitchFamily="34" charset="0"/>
              <a:buChar char="•"/>
              <a:defRPr/>
            </a:pPr>
            <a:r>
              <a:rPr lang="en-US" sz="800" noProof="0" dirty="0">
                <a:solidFill>
                  <a:srgbClr val="000000"/>
                </a:solidFill>
              </a:rPr>
              <a:t>Approvals will be provided within agreed turnaround timelines to avoid delays.</a:t>
            </a:r>
          </a:p>
          <a:p>
            <a:pPr marL="171450" lvl="0" indent="-171450">
              <a:spcAft>
                <a:spcPts val="200"/>
              </a:spcAft>
              <a:buFont typeface="Arial" panose="020B0604020202020204" pitchFamily="34" charset="0"/>
              <a:buChar char="•"/>
              <a:defRPr/>
            </a:pPr>
            <a:r>
              <a:rPr lang="en-US" sz="800" noProof="0" dirty="0">
                <a:solidFill>
                  <a:srgbClr val="000000"/>
                </a:solidFill>
              </a:rPr>
              <a:t>No major organizational, security, or compliance changes during deployment that impact scope.</a:t>
            </a:r>
          </a:p>
          <a:p>
            <a:pPr marL="171450" lvl="0" indent="-171450">
              <a:spcAft>
                <a:spcPts val="200"/>
              </a:spcAft>
              <a:buFont typeface="Arial" panose="020B0604020202020204" pitchFamily="34" charset="0"/>
              <a:buChar char="•"/>
              <a:defRPr/>
            </a:pPr>
            <a:r>
              <a:rPr lang="en-US" sz="800" noProof="0" dirty="0">
                <a:solidFill>
                  <a:srgbClr val="000000"/>
                </a:solidFill>
              </a:rPr>
              <a:t>Customer owns Azure subscriptions, billing, budgets, and cost management.</a:t>
            </a:r>
          </a:p>
        </p:txBody>
      </p:sp>
      <p:sp>
        <p:nvSpPr>
          <p:cNvPr id="7" name="TextBox 6">
            <a:extLst>
              <a:ext uri="{FF2B5EF4-FFF2-40B4-BE49-F238E27FC236}">
                <a16:creationId xmlns:a16="http://schemas.microsoft.com/office/drawing/2014/main" id="{EB3EF775-114D-65F6-D461-57D7440075F9}"/>
              </a:ext>
            </a:extLst>
          </p:cNvPr>
          <p:cNvSpPr txBox="1"/>
          <p:nvPr/>
        </p:nvSpPr>
        <p:spPr>
          <a:xfrm>
            <a:off x="6262782" y="1528547"/>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 name="TextBox 1">
            <a:extLst>
              <a:ext uri="{FF2B5EF4-FFF2-40B4-BE49-F238E27FC236}">
                <a16:creationId xmlns:a16="http://schemas.microsoft.com/office/drawing/2014/main" id="{C04E684C-DAE1-24FD-C582-70EE95CEC1F5}"/>
              </a:ext>
            </a:extLst>
          </p:cNvPr>
          <p:cNvSpPr txBox="1"/>
          <p:nvPr/>
        </p:nvSpPr>
        <p:spPr>
          <a:xfrm>
            <a:off x="212178" y="6680031"/>
            <a:ext cx="12101208" cy="230832"/>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a:p>
            <a:r>
              <a:rPr lang="en-US" sz="750" noProof="0" dirty="0"/>
              <a:t> </a:t>
            </a:r>
          </a:p>
        </p:txBody>
      </p:sp>
      <p:sp>
        <p:nvSpPr>
          <p:cNvPr id="4" name="TextBox 3">
            <a:extLst>
              <a:ext uri="{FF2B5EF4-FFF2-40B4-BE49-F238E27FC236}">
                <a16:creationId xmlns:a16="http://schemas.microsoft.com/office/drawing/2014/main" id="{F9C43654-9431-3AB7-7AD5-9EB7B9D40476}"/>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40946765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7B3519-F21E-A3E0-FD92-C04788F856C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8491E1D-CBC5-7077-A552-46FA25D5946F}"/>
              </a:ext>
            </a:extLst>
          </p:cNvPr>
          <p:cNvSpPr>
            <a:spLocks noGrp="1"/>
          </p:cNvSpPr>
          <p:nvPr>
            <p:ph type="title"/>
          </p:nvPr>
        </p:nvSpPr>
        <p:spPr>
          <a:xfrm>
            <a:off x="620589" y="216416"/>
            <a:ext cx="7247637" cy="707886"/>
          </a:xfrm>
        </p:spPr>
        <p:txBody>
          <a:bodyPr/>
          <a:lstStyle/>
          <a:p>
            <a:r>
              <a:rPr lang="en-US" sz="2800" spc="-150" noProof="0" dirty="0"/>
              <a:t>Key Deliverables</a:t>
            </a:r>
            <a:br>
              <a:rPr lang="en-US" sz="2000" noProof="0" dirty="0"/>
            </a:br>
            <a:r>
              <a:rPr lang="en-US" sz="1800" noProof="0" dirty="0">
                <a:solidFill>
                  <a:schemeClr val="tx1"/>
                </a:solidFill>
              </a:rPr>
              <a:t>Azure Landing Zone - New Deployment or Validation</a:t>
            </a:r>
          </a:p>
        </p:txBody>
      </p:sp>
      <p:sp>
        <p:nvSpPr>
          <p:cNvPr id="9" name="Rectangle: Rounded Corners 8">
            <a:extLst>
              <a:ext uri="{FF2B5EF4-FFF2-40B4-BE49-F238E27FC236}">
                <a16:creationId xmlns:a16="http://schemas.microsoft.com/office/drawing/2014/main" id="{FDA84141-1F84-81E3-2698-AE156A883CAE}"/>
              </a:ext>
              <a:ext uri="{C183D7F6-B498-43B3-948B-1728B52AA6E4}">
                <adec:decorative xmlns:adec="http://schemas.microsoft.com/office/drawing/2017/decorative" val="0"/>
              </a:ext>
            </a:extLst>
          </p:cNvPr>
          <p:cNvSpPr/>
          <p:nvPr/>
        </p:nvSpPr>
        <p:spPr bwMode="auto">
          <a:xfrm>
            <a:off x="488926" y="1693499"/>
            <a:ext cx="2484500" cy="3955118"/>
          </a:xfrm>
          <a:prstGeom prst="roundRect">
            <a:avLst>
              <a:gd name="adj" fmla="val 772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146304"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mn-cs"/>
              </a:rPr>
              <a:t>Greenfield deployments only</a:t>
            </a:r>
          </a:p>
          <a:p>
            <a:pPr marL="22860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mn-cs"/>
              </a:rPr>
              <a:t>Enterprise Scale Platform Landing Zone deployment*</a:t>
            </a:r>
          </a:p>
          <a:p>
            <a:pPr marL="22860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mn-cs"/>
              </a:rPr>
              <a:t>Validation of existing Landing Zone**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 Factory will create the Landing using the </a:t>
            </a:r>
            <a:br>
              <a:rPr kumimoji="0" lang="en-US" sz="800" b="0" i="0" u="none" strike="noStrike" kern="1200" cap="none" spc="0" normalizeH="0" baseline="0" noProof="0" dirty="0">
                <a:ln>
                  <a:noFill/>
                </a:ln>
                <a:solidFill>
                  <a:srgbClr val="000000"/>
                </a:solidFill>
                <a:effectLst/>
                <a:uLnTx/>
                <a:uFillTx/>
                <a:latin typeface="Segoe Sans Text"/>
                <a:ea typeface="+mn-ea"/>
                <a:cs typeface="+mn-cs"/>
              </a:rPr>
            </a:br>
            <a:r>
              <a:rPr kumimoji="0" lang="en-US" sz="800" b="0" i="0" u="none" strike="noStrike" kern="1200" cap="none" spc="0" normalizeH="0" baseline="0" noProof="0" dirty="0">
                <a:ln>
                  <a:noFill/>
                </a:ln>
                <a:solidFill>
                  <a:srgbClr val="000000"/>
                </a:solidFill>
                <a:effectLst/>
                <a:uLnTx/>
                <a:uFillTx/>
                <a:latin typeface="Segoe Sans Text"/>
                <a:ea typeface="+mn-ea"/>
                <a:cs typeface="+mn-cs"/>
              </a:rPr>
              <a:t>Portal Accelerator or Terraform ALZ AVM. Any necessary customizations should be managed by the partner or customer. All resources will be deployed by either using portal Accelerator or Terraform ALZ AVM, and Factory will not handle any manual configurations.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 ALZ Validation for existing landing zone is not a compressive assessment, but it only validates for minimum recommended best practices. Partner/customer is responsible for implementation of any best practice </a:t>
            </a:r>
            <a:br>
              <a:rPr kumimoji="0" lang="en-US" sz="800" b="0" i="0" u="none" strike="noStrike" kern="1200" cap="none" spc="0" normalizeH="0" baseline="0" noProof="0" dirty="0">
                <a:ln>
                  <a:noFill/>
                </a:ln>
                <a:solidFill>
                  <a:srgbClr val="000000"/>
                </a:solidFill>
                <a:effectLst/>
                <a:uLnTx/>
                <a:uFillTx/>
                <a:latin typeface="Segoe Sans Text"/>
                <a:ea typeface="+mn-ea"/>
                <a:cs typeface="+mn-cs"/>
              </a:rPr>
            </a:br>
            <a:r>
              <a:rPr kumimoji="0" lang="en-US" sz="800" b="0" i="0" u="none" strike="noStrike" kern="1200" cap="none" spc="0" normalizeH="0" baseline="0" noProof="0" dirty="0">
                <a:ln>
                  <a:noFill/>
                </a:ln>
                <a:solidFill>
                  <a:srgbClr val="000000"/>
                </a:solidFill>
                <a:effectLst/>
                <a:uLnTx/>
                <a:uFillTx/>
                <a:latin typeface="Segoe Sans Text"/>
                <a:ea typeface="+mn-ea"/>
                <a:cs typeface="+mn-cs"/>
              </a:rPr>
              <a:t>which is not implemented.</a:t>
            </a:r>
          </a:p>
        </p:txBody>
      </p:sp>
      <p:sp>
        <p:nvSpPr>
          <p:cNvPr id="5" name="TextBox 9">
            <a:extLst>
              <a:ext uri="{FF2B5EF4-FFF2-40B4-BE49-F238E27FC236}">
                <a16:creationId xmlns:a16="http://schemas.microsoft.com/office/drawing/2014/main" id="{27D02F8D-9FA3-9A93-4F3B-9A7E4033AE42}"/>
              </a:ext>
            </a:extLst>
          </p:cNvPr>
          <p:cNvSpPr txBox="1"/>
          <p:nvPr/>
        </p:nvSpPr>
        <p:spPr>
          <a:xfrm>
            <a:off x="3673584" y="1866617"/>
            <a:ext cx="7785600" cy="4248838"/>
          </a:xfrm>
          <a:prstGeom prst="rect">
            <a:avLst/>
          </a:prstGeom>
          <a:solidFill>
            <a:schemeClr val="bg1"/>
          </a:solidFill>
        </p:spPr>
        <p:txBody>
          <a:bodyPr wrap="square" lIns="182880" tIns="182880" rIns="182880" bIns="4572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spcAft>
                <a:spcPts val="600"/>
              </a:spcAft>
              <a:defRPr/>
            </a:pPr>
            <a:r>
              <a:rPr lang="en-US" sz="1400" b="1" kern="0" noProof="0" dirty="0">
                <a:solidFill>
                  <a:schemeClr val="tx2"/>
                </a:solidFill>
                <a:latin typeface="+mj-lt"/>
              </a:rPr>
              <a:t>Greenfield deployments only</a:t>
            </a:r>
          </a:p>
          <a:p>
            <a:pPr marL="231775" lvl="1" indent="-231775">
              <a:spcAft>
                <a:spcPts val="600"/>
              </a:spcAft>
              <a:buFont typeface="+mj-lt"/>
              <a:buAutoNum type="arabicPeriod"/>
              <a:defRPr/>
            </a:pPr>
            <a:r>
              <a:rPr lang="en-US" sz="1400" b="1" kern="0" noProof="0" dirty="0">
                <a:solidFill>
                  <a:schemeClr val="tx2"/>
                </a:solidFill>
                <a:latin typeface="+mj-lt"/>
              </a:rPr>
              <a:t>Enterprise-Scale Platform Landing Zone</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LZ deployment using Azure Landing Zone Portal Accelerator or Terraform ALZ AVM</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Scalable Management Group hierarchy</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Azure Monitor (log analytics, audit logging, baseline alerts) </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Hub virtual network</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Spoke virtual networks (identity and Corp LZ) peered to hub virtual network</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Dedicated platform subscriptions</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VPN or ER gateway </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Azure Firewall </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Microsoft Defender for Cloud </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Microsoft Cloud Security Benchmark</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Recovery Services Vault with a default backup policy</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Azure DDoS Protection</a:t>
            </a:r>
          </a:p>
          <a:p>
            <a:pPr marL="463550" marR="0" lvl="1" indent="-174625"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Microsoft Sentinel</a:t>
            </a:r>
          </a:p>
          <a:p>
            <a:pPr marL="463550" marR="0" lvl="1" indent="-174625"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ea typeface="+mn-ea"/>
                <a:cs typeface="+mn-cs"/>
              </a:rPr>
              <a:t>Recommended Azure policies</a:t>
            </a:r>
          </a:p>
          <a:p>
            <a:pPr marL="225425" marR="0" lvl="1" indent="-225425" defTabSz="914400" rtl="0" eaLnBrk="1" fontAlgn="auto" latinLnBrk="0" hangingPunct="1">
              <a:lnSpc>
                <a:spcPct val="100000"/>
              </a:lnSpc>
              <a:spcBef>
                <a:spcPts val="0"/>
              </a:spcBef>
              <a:spcAft>
                <a:spcPts val="600"/>
              </a:spcAft>
              <a:buClrTx/>
              <a:buSzTx/>
              <a:buFont typeface="+mj-lt"/>
              <a:buAutoNum type="arabicPeriod" startAt="2"/>
              <a:tabLst/>
              <a:defRPr/>
            </a:pPr>
            <a:r>
              <a:rPr kumimoji="0" lang="en-US" sz="1400" b="1" i="0" u="none" strike="noStrike" kern="0" cap="none" spc="0" normalizeH="0" baseline="0" noProof="0" dirty="0">
                <a:ln>
                  <a:noFill/>
                </a:ln>
                <a:solidFill>
                  <a:schemeClr val="accent1"/>
                </a:solidFill>
                <a:effectLst/>
                <a:uLnTx/>
                <a:uFillTx/>
                <a:latin typeface="+mj-lt"/>
                <a:ea typeface="+mn-ea"/>
                <a:cs typeface="+mn-cs"/>
              </a:rPr>
              <a:t>Azure Landing Zone validation</a:t>
            </a:r>
          </a:p>
          <a:p>
            <a:pPr marL="463550" lvl="1" indent="-174625">
              <a:spcAft>
                <a:spcPts val="600"/>
              </a:spcAft>
              <a:buFont typeface="Arial" panose="020B0604020202020204" pitchFamily="34" charset="0"/>
              <a:buChar char="•"/>
              <a:defRPr/>
            </a:pPr>
            <a:r>
              <a:rPr lang="en-US" sz="1200" kern="0" noProof="0" dirty="0">
                <a:solidFill>
                  <a:prstClr val="black"/>
                </a:solidFill>
              </a:rPr>
              <a:t>Validate existing Azure Landing Zone for minimum recommended best practices</a:t>
            </a:r>
          </a:p>
        </p:txBody>
      </p:sp>
      <p:sp>
        <p:nvSpPr>
          <p:cNvPr id="10" name="TextBox 9">
            <a:extLst>
              <a:ext uri="{FF2B5EF4-FFF2-40B4-BE49-F238E27FC236}">
                <a16:creationId xmlns:a16="http://schemas.microsoft.com/office/drawing/2014/main" id="{84D77262-A744-3797-79F8-614F1F8C29AF}"/>
              </a:ext>
              <a:ext uri="{C183D7F6-B498-43B3-948B-1728B52AA6E4}">
                <adec:decorative xmlns:adec="http://schemas.microsoft.com/office/drawing/2017/decorative" val="1"/>
              </a:ext>
            </a:extLst>
          </p:cNvPr>
          <p:cNvSpPr txBox="1"/>
          <p:nvPr/>
        </p:nvSpPr>
        <p:spPr>
          <a:xfrm>
            <a:off x="402991" y="1778687"/>
            <a:ext cx="2656372"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11" name="Graphic 23">
            <a:extLst>
              <a:ext uri="{FF2B5EF4-FFF2-40B4-BE49-F238E27FC236}">
                <a16:creationId xmlns:a16="http://schemas.microsoft.com/office/drawing/2014/main" id="{626FF20D-4E2F-A7E3-F738-0870A928284D}"/>
              </a:ext>
              <a:ext uri="{C183D7F6-B498-43B3-948B-1728B52AA6E4}">
                <adec:decorative xmlns:adec="http://schemas.microsoft.com/office/drawing/2017/decorative" val="1"/>
              </a:ext>
            </a:extLst>
          </p:cNvPr>
          <p:cNvSpPr/>
          <p:nvPr/>
        </p:nvSpPr>
        <p:spPr>
          <a:xfrm>
            <a:off x="620589" y="2561444"/>
            <a:ext cx="190500" cy="19050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Rounded Rectangle 23">
            <a:extLst>
              <a:ext uri="{FF2B5EF4-FFF2-40B4-BE49-F238E27FC236}">
                <a16:creationId xmlns:a16="http://schemas.microsoft.com/office/drawing/2014/main" id="{B2B92D9B-B362-12C9-B6E4-572F2A8C8594}"/>
              </a:ext>
              <a:ext uri="{C183D7F6-B498-43B3-948B-1728B52AA6E4}">
                <adec:decorative xmlns:adec="http://schemas.microsoft.com/office/drawing/2017/decorative" val="1"/>
              </a:ext>
            </a:extLst>
          </p:cNvPr>
          <p:cNvSpPr>
            <a:spLocks/>
          </p:cNvSpPr>
          <p:nvPr/>
        </p:nvSpPr>
        <p:spPr bwMode="auto">
          <a:xfrm>
            <a:off x="363392" y="1693499"/>
            <a:ext cx="2735569" cy="3695701"/>
          </a:xfrm>
          <a:prstGeom prst="roundRect">
            <a:avLst>
              <a:gd name="adj" fmla="val 527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2" name="Graphic 23">
            <a:extLst>
              <a:ext uri="{FF2B5EF4-FFF2-40B4-BE49-F238E27FC236}">
                <a16:creationId xmlns:a16="http://schemas.microsoft.com/office/drawing/2014/main" id="{D1D2CC7A-FB89-CF20-2D8F-EB781E5DAE4D}"/>
              </a:ext>
              <a:ext uri="{C183D7F6-B498-43B3-948B-1728B52AA6E4}">
                <adec:decorative xmlns:adec="http://schemas.microsoft.com/office/drawing/2017/decorative" val="1"/>
              </a:ext>
            </a:extLst>
          </p:cNvPr>
          <p:cNvSpPr/>
          <p:nvPr/>
        </p:nvSpPr>
        <p:spPr>
          <a:xfrm>
            <a:off x="620589" y="3055548"/>
            <a:ext cx="190500" cy="19050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8" name="Group 7">
            <a:extLst>
              <a:ext uri="{FF2B5EF4-FFF2-40B4-BE49-F238E27FC236}">
                <a16:creationId xmlns:a16="http://schemas.microsoft.com/office/drawing/2014/main" id="{3459320D-204B-995E-92B8-C46A5B72ECE4}"/>
              </a:ext>
            </a:extLst>
          </p:cNvPr>
          <p:cNvGrpSpPr/>
          <p:nvPr/>
        </p:nvGrpSpPr>
        <p:grpSpPr>
          <a:xfrm>
            <a:off x="3488311" y="1693499"/>
            <a:ext cx="8521464" cy="4709179"/>
            <a:chOff x="3488311" y="1693499"/>
            <a:chExt cx="8521464" cy="4709179"/>
          </a:xfrm>
        </p:grpSpPr>
        <p:grpSp>
          <p:nvGrpSpPr>
            <p:cNvPr id="3" name="Group 2">
              <a:extLst>
                <a:ext uri="{FF2B5EF4-FFF2-40B4-BE49-F238E27FC236}">
                  <a16:creationId xmlns:a16="http://schemas.microsoft.com/office/drawing/2014/main" id="{C2B3F795-0F34-47D6-82F8-8250E2D5F28F}"/>
                </a:ext>
                <a:ext uri="{C183D7F6-B498-43B3-948B-1728B52AA6E4}">
                  <adec:decorative xmlns:adec="http://schemas.microsoft.com/office/drawing/2017/decorative" val="1"/>
                </a:ext>
              </a:extLst>
            </p:cNvPr>
            <p:cNvGrpSpPr/>
            <p:nvPr/>
          </p:nvGrpSpPr>
          <p:grpSpPr>
            <a:xfrm>
              <a:off x="3488311" y="1693499"/>
              <a:ext cx="8521464" cy="4709179"/>
              <a:chOff x="455996" y="1206500"/>
              <a:chExt cx="11306470" cy="5062538"/>
            </a:xfrm>
          </p:grpSpPr>
          <p:sp>
            <p:nvSpPr>
              <p:cNvPr id="4" name="Rectangle: Rounded Corners 3">
                <a:extLst>
                  <a:ext uri="{FF2B5EF4-FFF2-40B4-BE49-F238E27FC236}">
                    <a16:creationId xmlns:a16="http://schemas.microsoft.com/office/drawing/2014/main" id="{81332B40-6BF8-88A9-B92F-90488F96D186}"/>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7" name="Rectangle: Rounded Corners 6">
                <a:extLst>
                  <a:ext uri="{FF2B5EF4-FFF2-40B4-BE49-F238E27FC236}">
                    <a16:creationId xmlns:a16="http://schemas.microsoft.com/office/drawing/2014/main" id="{D6D51A44-BB88-E6C3-1601-02DA23810876}"/>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12" name="Arrow: Bent 11">
              <a:extLst>
                <a:ext uri="{FF2B5EF4-FFF2-40B4-BE49-F238E27FC236}">
                  <a16:creationId xmlns:a16="http://schemas.microsoft.com/office/drawing/2014/main" id="{BF59CAD2-6D21-9538-E0F1-D38352470788}"/>
                </a:ext>
                <a:ext uri="{C183D7F6-B498-43B3-948B-1728B52AA6E4}">
                  <adec:decorative xmlns:adec="http://schemas.microsoft.com/office/drawing/2017/decorative" val="1"/>
                </a:ext>
              </a:extLst>
            </p:cNvPr>
            <p:cNvSpPr>
              <a:spLocks/>
            </p:cNvSpPr>
            <p:nvPr/>
          </p:nvSpPr>
          <p:spPr bwMode="auto">
            <a:xfrm flipH="1">
              <a:off x="10067339" y="1693499"/>
              <a:ext cx="1942435" cy="2291830"/>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
        <p:nvSpPr>
          <p:cNvPr id="2" name="TextBox 1">
            <a:extLst>
              <a:ext uri="{FF2B5EF4-FFF2-40B4-BE49-F238E27FC236}">
                <a16:creationId xmlns:a16="http://schemas.microsoft.com/office/drawing/2014/main" id="{2F6C184A-2762-5991-8431-F9555445E44B}"/>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48583497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A680C-4095-E87E-37C0-1B1E01189612}"/>
            </a:ext>
          </a:extLst>
        </p:cNvPr>
        <p:cNvGrpSpPr/>
        <p:nvPr/>
      </p:nvGrpSpPr>
      <p:grpSpPr>
        <a:xfrm>
          <a:off x="0" y="0"/>
          <a:ext cx="0" cy="0"/>
          <a:chOff x="0" y="0"/>
          <a:chExt cx="0" cy="0"/>
        </a:xfrm>
      </p:grpSpPr>
      <p:sp>
        <p:nvSpPr>
          <p:cNvPr id="13" name="Freeform: Shape 32">
            <a:extLst>
              <a:ext uri="{FF2B5EF4-FFF2-40B4-BE49-F238E27FC236}">
                <a16:creationId xmlns:a16="http://schemas.microsoft.com/office/drawing/2014/main" id="{1302BD2E-8424-8879-02C7-3EB9D6660BA2}"/>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63074A0F-33B1-D293-46F0-770B3E762CC5}"/>
              </a:ext>
              <a:ext uri="{C183D7F6-B498-43B3-948B-1728B52AA6E4}">
                <adec:decorative xmlns:adec="http://schemas.microsoft.com/office/drawing/2017/decorative" val="1"/>
              </a:ext>
            </a:extLst>
          </p:cNvPr>
          <p:cNvCxnSpPr>
            <a:cxnSpLocks/>
          </p:cNvCxnSpPr>
          <p:nvPr/>
        </p:nvCxnSpPr>
        <p:spPr>
          <a:xfrm>
            <a:off x="620680" y="4137095"/>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2" name="Title 61">
            <a:extLst>
              <a:ext uri="{FF2B5EF4-FFF2-40B4-BE49-F238E27FC236}">
                <a16:creationId xmlns:a16="http://schemas.microsoft.com/office/drawing/2014/main" id="{B3AF112A-0291-793D-A7FE-D3DA9B5C7836}"/>
              </a:ext>
            </a:extLst>
          </p:cNvPr>
          <p:cNvSpPr txBox="1">
            <a:spLocks noGrp="1"/>
          </p:cNvSpPr>
          <p:nvPr>
            <p:ph type="title"/>
          </p:nvPr>
        </p:nvSpPr>
        <p:spPr>
          <a:xfrm>
            <a:off x="588263" y="457200"/>
            <a:ext cx="3286850" cy="1938992"/>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mn-lt"/>
                <a:ea typeface="+mn-ea"/>
                <a:cs typeface="Segoe Sans Text" pitchFamily="2" charset="0"/>
              </a:rPr>
              <a:t>Cloud Accelerate Factory </a:t>
            </a:r>
            <a:r>
              <a:rPr lang="en-US" sz="2400" spc="0" noProof="0" dirty="0">
                <a:ln>
                  <a:noFill/>
                </a:ln>
                <a:solidFill>
                  <a:schemeClr val="bg1"/>
                </a:solidFill>
                <a:latin typeface="+mn-lt"/>
                <a:cs typeface="Segoe Sans Text" pitchFamily="2" charset="0"/>
              </a:rPr>
              <a:t>Infrastructure Migration -</a:t>
            </a:r>
            <a:br>
              <a:rPr lang="en-US" sz="2400" spc="0" noProof="0" dirty="0">
                <a:ln>
                  <a:noFill/>
                </a:ln>
                <a:solidFill>
                  <a:schemeClr val="bg1"/>
                </a:solidFill>
                <a:latin typeface="+mn-lt"/>
                <a:cs typeface="Segoe Sans Text" pitchFamily="2" charset="0"/>
              </a:rPr>
            </a:br>
            <a:r>
              <a:rPr lang="en-US" sz="2400" spc="0" noProof="0" dirty="0">
                <a:ln>
                  <a:noFill/>
                </a:ln>
                <a:solidFill>
                  <a:schemeClr val="bg1"/>
                </a:solidFill>
                <a:latin typeface="+mn-lt"/>
                <a:cs typeface="Segoe Sans Text" pitchFamily="2" charset="0"/>
              </a:rPr>
              <a:t>Azure Landing Zone - Deployment</a:t>
            </a:r>
          </a:p>
        </p:txBody>
      </p:sp>
      <p:sp>
        <p:nvSpPr>
          <p:cNvPr id="51" name="Title 50">
            <a:extLst>
              <a:ext uri="{FF2B5EF4-FFF2-40B4-BE49-F238E27FC236}">
                <a16:creationId xmlns:a16="http://schemas.microsoft.com/office/drawing/2014/main" id="{5A034978-5AAA-EB61-1BE3-A342B85EF92A}"/>
              </a:ext>
            </a:extLst>
          </p:cNvPr>
          <p:cNvSpPr>
            <a:spLocks/>
          </p:cNvSpPr>
          <p:nvPr/>
        </p:nvSpPr>
        <p:spPr>
          <a:xfrm>
            <a:off x="491817" y="445663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w="3175">
                  <a:noFill/>
                </a:ln>
                <a:solidFill>
                  <a:schemeClr val="bg1"/>
                </a:solidFill>
                <a:effectLst/>
                <a:uLnTx/>
                <a:uFillTx/>
                <a:latin typeface="+mn-lt"/>
                <a:ea typeface="+mn-ea"/>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52A9224F-F392-DC02-353A-075E62A951D9}"/>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E46AF605-C7B8-933A-00AF-4355D6F1990F}"/>
              </a:ext>
            </a:extLst>
          </p:cNvPr>
          <p:cNvSpPr txBox="1"/>
          <p:nvPr/>
        </p:nvSpPr>
        <p:spPr>
          <a:xfrm>
            <a:off x="4357021" y="6264659"/>
            <a:ext cx="7648259" cy="553998"/>
          </a:xfrm>
          <a:prstGeom prst="rect">
            <a:avLst/>
          </a:prstGeom>
          <a:noFill/>
          <a:ln>
            <a:noFill/>
          </a:ln>
        </p:spPr>
        <p:txBody>
          <a:bodyPr wrap="square" lIns="0" tIns="0" rIns="0" bIns="0" rtlCol="0">
            <a:spAutoFit/>
          </a:bodyPr>
          <a:lstStyle/>
          <a:p>
            <a:pPr marL="111125" marR="0" lvl="0" indent="-111125"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ea typeface="Segoe UI" pitchFamily="34" charset="0"/>
                <a:cs typeface="Segoe Sans Text" pitchFamily="2" charset="0"/>
              </a:rPr>
              <a:t>* ISD/Partners (partner delivery orchestration center): </a:t>
            </a:r>
            <a:r>
              <a:rPr kumimoji="0" lang="en-US" sz="1200" b="0" i="0" u="none" strike="noStrike" kern="1200" cap="none" spc="0" normalizeH="0" baseline="0" noProof="0" dirty="0">
                <a:ln>
                  <a:noFill/>
                </a:ln>
                <a:solidFill>
                  <a:srgbClr val="000000"/>
                </a:solidFill>
                <a:effectLst/>
                <a:uLnTx/>
                <a:uFillTx/>
                <a:ea typeface="+mn-ea"/>
                <a:cs typeface="+mn-cs"/>
              </a:rPr>
              <a:t>ISD/Partner owns overall cloud journey engagement; Factory delivers migration scope under ISD/Partner project manager. If the project does have ISD/Partner engaged those activities falls into the Customer purview.</a:t>
            </a:r>
          </a:p>
        </p:txBody>
      </p:sp>
      <p:grpSp>
        <p:nvGrpSpPr>
          <p:cNvPr id="2" name="Group 1">
            <a:extLst>
              <a:ext uri="{FF2B5EF4-FFF2-40B4-BE49-F238E27FC236}">
                <a16:creationId xmlns:a16="http://schemas.microsoft.com/office/drawing/2014/main" id="{9E5D5DA9-1EE5-9591-3B86-24C88E2DC606}"/>
              </a:ext>
              <a:ext uri="{C183D7F6-B498-43B3-948B-1728B52AA6E4}">
                <adec:decorative xmlns:adec="http://schemas.microsoft.com/office/drawing/2017/decorative" val="1"/>
              </a:ext>
            </a:extLst>
          </p:cNvPr>
          <p:cNvGrpSpPr/>
          <p:nvPr/>
        </p:nvGrpSpPr>
        <p:grpSpPr>
          <a:xfrm>
            <a:off x="4191674" y="496139"/>
            <a:ext cx="7762799" cy="5186238"/>
            <a:chOff x="4191674" y="496139"/>
            <a:chExt cx="7762799" cy="5186238"/>
          </a:xfrm>
        </p:grpSpPr>
        <p:grpSp>
          <p:nvGrpSpPr>
            <p:cNvPr id="129" name="Group 128">
              <a:extLst>
                <a:ext uri="{FF2B5EF4-FFF2-40B4-BE49-F238E27FC236}">
                  <a16:creationId xmlns:a16="http://schemas.microsoft.com/office/drawing/2014/main" id="{957B2232-0995-E20A-7A8E-68285A0F66BF}"/>
                </a:ext>
                <a:ext uri="{C183D7F6-B498-43B3-948B-1728B52AA6E4}">
                  <adec:decorative xmlns:adec="http://schemas.microsoft.com/office/drawing/2017/decorative" val="1"/>
                </a:ext>
              </a:extLst>
            </p:cNvPr>
            <p:cNvGrpSpPr/>
            <p:nvPr/>
          </p:nvGrpSpPr>
          <p:grpSpPr>
            <a:xfrm>
              <a:off x="4191674" y="496139"/>
              <a:ext cx="7762799" cy="4983792"/>
              <a:chOff x="4173102" y="931717"/>
              <a:chExt cx="7762799" cy="4983792"/>
            </a:xfrm>
          </p:grpSpPr>
          <p:grpSp>
            <p:nvGrpSpPr>
              <p:cNvPr id="130" name="Group 129" descr="Venn diagram of three intersecting circles, labeled partner, customer, and Microsoft. The intersection of all three circles is labeled joint governance. 23 small circles around the edge show who is responsible for different tasks.">
                <a:extLst>
                  <a:ext uri="{FF2B5EF4-FFF2-40B4-BE49-F238E27FC236}">
                    <a16:creationId xmlns:a16="http://schemas.microsoft.com/office/drawing/2014/main" id="{E750D80C-5BDD-FC0C-26C1-24A7E80E4520}"/>
                  </a:ext>
                </a:extLst>
              </p:cNvPr>
              <p:cNvGrpSpPr/>
              <p:nvPr/>
            </p:nvGrpSpPr>
            <p:grpSpPr>
              <a:xfrm>
                <a:off x="4173102" y="931717"/>
                <a:ext cx="7762799" cy="4983792"/>
                <a:chOff x="4022721" y="727997"/>
                <a:chExt cx="7762799" cy="4983792"/>
              </a:xfrm>
            </p:grpSpPr>
            <p:sp>
              <p:nvSpPr>
                <p:cNvPr id="132" name="Freeform: Shape 131">
                  <a:extLst>
                    <a:ext uri="{FF2B5EF4-FFF2-40B4-BE49-F238E27FC236}">
                      <a16:creationId xmlns:a16="http://schemas.microsoft.com/office/drawing/2014/main" id="{A3B969BB-9B85-6DAB-DE05-517D77EF8663}"/>
                    </a:ext>
                  </a:extLst>
                </p:cNvPr>
                <p:cNvSpPr/>
                <p:nvPr/>
              </p:nvSpPr>
              <p:spPr>
                <a:xfrm>
                  <a:off x="6648051" y="1338072"/>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33" name="Freeform: Shape 132">
                  <a:extLst>
                    <a:ext uri="{FF2B5EF4-FFF2-40B4-BE49-F238E27FC236}">
                      <a16:creationId xmlns:a16="http://schemas.microsoft.com/office/drawing/2014/main" id="{8EFB0F23-673C-5FD7-3FE2-CF81DDA04956}"/>
                    </a:ext>
                  </a:extLst>
                </p:cNvPr>
                <p:cNvSpPr/>
                <p:nvPr/>
              </p:nvSpPr>
              <p:spPr>
                <a:xfrm>
                  <a:off x="7623385" y="2953191"/>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34" name="Freeform: Shape 133">
                  <a:extLst>
                    <a:ext uri="{FF2B5EF4-FFF2-40B4-BE49-F238E27FC236}">
                      <a16:creationId xmlns:a16="http://schemas.microsoft.com/office/drawing/2014/main" id="{8E96BDEE-B578-D5EA-C25B-85374F2C2A58}"/>
                    </a:ext>
                  </a:extLst>
                </p:cNvPr>
                <p:cNvSpPr/>
                <p:nvPr/>
              </p:nvSpPr>
              <p:spPr>
                <a:xfrm>
                  <a:off x="5737001" y="2990233"/>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35" name="Freeform: Shape 134">
                  <a:extLst>
                    <a:ext uri="{FF2B5EF4-FFF2-40B4-BE49-F238E27FC236}">
                      <a16:creationId xmlns:a16="http://schemas.microsoft.com/office/drawing/2014/main" id="{AC98E023-F794-5BE5-2436-BAE4BA374DA8}"/>
                    </a:ext>
                  </a:extLst>
                </p:cNvPr>
                <p:cNvSpPr/>
                <p:nvPr/>
              </p:nvSpPr>
              <p:spPr>
                <a:xfrm>
                  <a:off x="5717907" y="1318978"/>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0">
                  <a:gsLst>
                    <a:gs pos="37000">
                      <a:srgbClr val="0D5E82"/>
                    </a:gs>
                    <a:gs pos="65000">
                      <a:srgbClr val="008080"/>
                    </a:gs>
                    <a:gs pos="99000">
                      <a:srgbClr val="49C5B1"/>
                    </a:gs>
                    <a:gs pos="0">
                      <a:srgbClr val="005FA5"/>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36" name="Freeform: Shape 135">
                  <a:extLst>
                    <a:ext uri="{FF2B5EF4-FFF2-40B4-BE49-F238E27FC236}">
                      <a16:creationId xmlns:a16="http://schemas.microsoft.com/office/drawing/2014/main" id="{997A6379-11B9-5252-AB70-8D158330B048}"/>
                    </a:ext>
                  </a:extLst>
                </p:cNvPr>
                <p:cNvSpPr/>
                <p:nvPr/>
              </p:nvSpPr>
              <p:spPr>
                <a:xfrm>
                  <a:off x="7441990" y="3198233"/>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0">
                        <a:srgbClr val="005392"/>
                      </a:gs>
                      <a:gs pos="30000">
                        <a:srgbClr val="024B80"/>
                      </a:gs>
                      <a:gs pos="59500">
                        <a:srgbClr val="2D9388"/>
                      </a:gs>
                      <a:gs pos="89000">
                        <a:srgbClr val="3CAE9B"/>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37" name="Group 13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42D10DB0-84AE-5CB8-1A49-E862448FE702}"/>
                    </a:ext>
                  </a:extLst>
                </p:cNvPr>
                <p:cNvGrpSpPr/>
                <p:nvPr/>
              </p:nvGrpSpPr>
              <p:grpSpPr>
                <a:xfrm>
                  <a:off x="4027008" y="727997"/>
                  <a:ext cx="5890131" cy="4856423"/>
                  <a:chOff x="3669200" y="727997"/>
                  <a:chExt cx="5890131" cy="4856423"/>
                </a:xfrm>
              </p:grpSpPr>
              <p:grpSp>
                <p:nvGrpSpPr>
                  <p:cNvPr id="163" name="Group 162">
                    <a:extLst>
                      <a:ext uri="{FF2B5EF4-FFF2-40B4-BE49-F238E27FC236}">
                        <a16:creationId xmlns:a16="http://schemas.microsoft.com/office/drawing/2014/main" id="{7F2BC293-E29A-962B-54D2-139E665BD973}"/>
                      </a:ext>
                    </a:extLst>
                  </p:cNvPr>
                  <p:cNvGrpSpPr/>
                  <p:nvPr/>
                </p:nvGrpSpPr>
                <p:grpSpPr>
                  <a:xfrm>
                    <a:off x="5332078" y="1502838"/>
                    <a:ext cx="4227253" cy="4081582"/>
                    <a:chOff x="5332078" y="1502838"/>
                    <a:chExt cx="4227253" cy="4081582"/>
                  </a:xfrm>
                </p:grpSpPr>
                <p:grpSp>
                  <p:nvGrpSpPr>
                    <p:cNvPr id="165" name="Group 164">
                      <a:extLst>
                        <a:ext uri="{FF2B5EF4-FFF2-40B4-BE49-F238E27FC236}">
                          <a16:creationId xmlns:a16="http://schemas.microsoft.com/office/drawing/2014/main" id="{22C68748-E38A-42FF-963A-89C855F487C6}"/>
                        </a:ext>
                      </a:extLst>
                    </p:cNvPr>
                    <p:cNvGrpSpPr/>
                    <p:nvPr/>
                  </p:nvGrpSpPr>
                  <p:grpSpPr>
                    <a:xfrm>
                      <a:off x="5332078" y="1502838"/>
                      <a:ext cx="3052176" cy="4081582"/>
                      <a:chOff x="5332078" y="1502838"/>
                      <a:chExt cx="3052176" cy="4081582"/>
                    </a:xfrm>
                  </p:grpSpPr>
                  <p:sp>
                    <p:nvSpPr>
                      <p:cNvPr id="175" name="Oval 174">
                        <a:extLst>
                          <a:ext uri="{FF2B5EF4-FFF2-40B4-BE49-F238E27FC236}">
                            <a16:creationId xmlns:a16="http://schemas.microsoft.com/office/drawing/2014/main" id="{ED7C3215-BC1F-0AC4-7E6D-EB668D99448C}"/>
                          </a:ext>
                        </a:extLst>
                      </p:cNvPr>
                      <p:cNvSpPr>
                        <a:spLocks noChangeAspect="1"/>
                      </p:cNvSpPr>
                      <p:nvPr/>
                    </p:nvSpPr>
                    <p:spPr>
                      <a:xfrm>
                        <a:off x="6785419" y="1502838"/>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B3B4A117-8A9F-BF9F-5E40-D42CB494A7E6}"/>
                          </a:ext>
                        </a:extLst>
                      </p:cNvPr>
                      <p:cNvSpPr>
                        <a:spLocks noChangeAspect="1"/>
                      </p:cNvSpPr>
                      <p:nvPr/>
                    </p:nvSpPr>
                    <p:spPr>
                      <a:xfrm>
                        <a:off x="8256672" y="1521262"/>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80C56389-3CA3-587E-0817-D8326DD01F95}"/>
                          </a:ext>
                        </a:extLst>
                      </p:cNvPr>
                      <p:cNvSpPr>
                        <a:spLocks noChangeAspect="1"/>
                      </p:cNvSpPr>
                      <p:nvPr/>
                    </p:nvSpPr>
                    <p:spPr>
                      <a:xfrm>
                        <a:off x="6387844" y="1933539"/>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9E7A6786-2A35-A035-65F5-F0544592E549}"/>
                          </a:ext>
                        </a:extLst>
                      </p:cNvPr>
                      <p:cNvSpPr>
                        <a:spLocks noChangeAspect="1"/>
                      </p:cNvSpPr>
                      <p:nvPr/>
                    </p:nvSpPr>
                    <p:spPr>
                      <a:xfrm>
                        <a:off x="6227883" y="2485277"/>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2A8F7D2F-B35F-697B-9B96-B9E559D8F93F}"/>
                          </a:ext>
                        </a:extLst>
                      </p:cNvPr>
                      <p:cNvSpPr>
                        <a:spLocks noChangeAspect="1"/>
                      </p:cNvSpPr>
                      <p:nvPr/>
                    </p:nvSpPr>
                    <p:spPr>
                      <a:xfrm>
                        <a:off x="5737165" y="3261859"/>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Oval 180">
                        <a:extLst>
                          <a:ext uri="{FF2B5EF4-FFF2-40B4-BE49-F238E27FC236}">
                            <a16:creationId xmlns:a16="http://schemas.microsoft.com/office/drawing/2014/main" id="{5A1B3B49-63A8-6441-5718-7306BBA4EE99}"/>
                          </a:ext>
                        </a:extLst>
                      </p:cNvPr>
                      <p:cNvSpPr>
                        <a:spLocks noChangeAspect="1"/>
                      </p:cNvSpPr>
                      <p:nvPr/>
                    </p:nvSpPr>
                    <p:spPr>
                      <a:xfrm>
                        <a:off x="5332078" y="4435070"/>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2" name="Oval 181">
                        <a:extLst>
                          <a:ext uri="{FF2B5EF4-FFF2-40B4-BE49-F238E27FC236}">
                            <a16:creationId xmlns:a16="http://schemas.microsoft.com/office/drawing/2014/main" id="{CB4E2AFC-3A3B-7CC2-6E0D-8E93E20A36A8}"/>
                          </a:ext>
                        </a:extLst>
                      </p:cNvPr>
                      <p:cNvSpPr>
                        <a:spLocks noChangeAspect="1"/>
                      </p:cNvSpPr>
                      <p:nvPr/>
                    </p:nvSpPr>
                    <p:spPr>
                      <a:xfrm>
                        <a:off x="5592874" y="5001533"/>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3" name="Oval 182">
                        <a:extLst>
                          <a:ext uri="{FF2B5EF4-FFF2-40B4-BE49-F238E27FC236}">
                            <a16:creationId xmlns:a16="http://schemas.microsoft.com/office/drawing/2014/main" id="{D13C917C-420C-D371-1841-EC170D224616}"/>
                          </a:ext>
                        </a:extLst>
                      </p:cNvPr>
                      <p:cNvSpPr>
                        <a:spLocks noChangeAspect="1"/>
                      </p:cNvSpPr>
                      <p:nvPr/>
                    </p:nvSpPr>
                    <p:spPr>
                      <a:xfrm>
                        <a:off x="6383323" y="5456838"/>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4" name="Oval 183">
                        <a:extLst>
                          <a:ext uri="{FF2B5EF4-FFF2-40B4-BE49-F238E27FC236}">
                            <a16:creationId xmlns:a16="http://schemas.microsoft.com/office/drawing/2014/main" id="{6F3DC1C5-9862-8AA8-DCCD-CDEF65C4F423}"/>
                          </a:ext>
                        </a:extLst>
                      </p:cNvPr>
                      <p:cNvSpPr>
                        <a:spLocks noChangeAspect="1"/>
                      </p:cNvSpPr>
                      <p:nvPr/>
                    </p:nvSpPr>
                    <p:spPr>
                      <a:xfrm>
                        <a:off x="5392257" y="3776310"/>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6" name="TextBox 165">
                      <a:extLst>
                        <a:ext uri="{FF2B5EF4-FFF2-40B4-BE49-F238E27FC236}">
                          <a16:creationId xmlns:a16="http://schemas.microsoft.com/office/drawing/2014/main" id="{AA803299-400D-BF0B-4521-B2C388DF661F}"/>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7" name="TextBox 166">
                      <a:extLst>
                        <a:ext uri="{FF2B5EF4-FFF2-40B4-BE49-F238E27FC236}">
                          <a16:creationId xmlns:a16="http://schemas.microsoft.com/office/drawing/2014/main" id="{A7636FC3-6656-122E-9632-70A749353C3A}"/>
                        </a:ext>
                      </a:extLst>
                    </p:cNvPr>
                    <p:cNvSpPr txBox="1"/>
                    <p:nvPr/>
                  </p:nvSpPr>
                  <p:spPr>
                    <a:xfrm>
                      <a:off x="8416479" y="4603926"/>
                      <a:ext cx="1142851"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8" name="TextBox 167">
                      <a:extLst>
                        <a:ext uri="{FF2B5EF4-FFF2-40B4-BE49-F238E27FC236}">
                          <a16:creationId xmlns:a16="http://schemas.microsoft.com/office/drawing/2014/main" id="{B160388B-643F-6EC5-6FFE-660E7FDFC3EB}"/>
                        </a:ext>
                      </a:extLst>
                    </p:cNvPr>
                    <p:cNvSpPr txBox="1"/>
                    <p:nvPr/>
                  </p:nvSpPr>
                  <p:spPr>
                    <a:xfrm>
                      <a:off x="6617863" y="3142052"/>
                      <a:ext cx="515305" cy="246221"/>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Execution</a:t>
                      </a:r>
                      <a:b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wave </a:t>
                      </a:r>
                    </a:p>
                  </p:txBody>
                </p:sp>
                <p:sp>
                  <p:nvSpPr>
                    <p:cNvPr id="169" name="TextBox 168">
                      <a:extLst>
                        <a:ext uri="{FF2B5EF4-FFF2-40B4-BE49-F238E27FC236}">
                          <a16:creationId xmlns:a16="http://schemas.microsoft.com/office/drawing/2014/main" id="{45C14989-19CD-7125-D326-473EA8E233E7}"/>
                        </a:ext>
                      </a:extLst>
                    </p:cNvPr>
                    <p:cNvSpPr txBox="1"/>
                    <p:nvPr/>
                  </p:nvSpPr>
                  <p:spPr>
                    <a:xfrm>
                      <a:off x="7982715" y="3078153"/>
                      <a:ext cx="646011" cy="246221"/>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r>
                        <a:rPr lang="en-US" sz="800" noProof="0" dirty="0"/>
                        <a:t>Scheduling </a:t>
                      </a:r>
                      <a:br>
                        <a:rPr lang="en-US" sz="800" noProof="0" dirty="0"/>
                      </a:br>
                      <a:r>
                        <a:rPr lang="en-US" sz="800" noProof="0" dirty="0"/>
                        <a:t>and reporting</a:t>
                      </a:r>
                    </a:p>
                  </p:txBody>
                </p:sp>
                <p:sp>
                  <p:nvSpPr>
                    <p:cNvPr id="170" name="TextBox 169">
                      <a:extLst>
                        <a:ext uri="{FF2B5EF4-FFF2-40B4-BE49-F238E27FC236}">
                          <a16:creationId xmlns:a16="http://schemas.microsoft.com/office/drawing/2014/main" id="{4B58F2A8-E314-1908-99A3-C12DA3E6DABB}"/>
                        </a:ext>
                      </a:extLst>
                    </p:cNvPr>
                    <p:cNvSpPr txBox="1"/>
                    <p:nvPr/>
                  </p:nvSpPr>
                  <p:spPr>
                    <a:xfrm>
                      <a:off x="7349871" y="4317525"/>
                      <a:ext cx="450443" cy="246221"/>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Execution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71" name="TextBox 170">
                      <a:extLst>
                        <a:ext uri="{FF2B5EF4-FFF2-40B4-BE49-F238E27FC236}">
                          <a16:creationId xmlns:a16="http://schemas.microsoft.com/office/drawing/2014/main" id="{2764C642-C0B0-772F-4BDE-79DCD8297FC6}"/>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72" name="TextBox 171">
                      <a:extLst>
                        <a:ext uri="{FF2B5EF4-FFF2-40B4-BE49-F238E27FC236}">
                          <a16:creationId xmlns:a16="http://schemas.microsoft.com/office/drawing/2014/main" id="{0461EE76-1167-AF17-F4FE-2AF2AEED7377}"/>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73" name="Oval 172">
                      <a:extLst>
                        <a:ext uri="{FF2B5EF4-FFF2-40B4-BE49-F238E27FC236}">
                          <a16:creationId xmlns:a16="http://schemas.microsoft.com/office/drawing/2014/main" id="{CA4ABF35-0FBF-7571-833D-97F418C58724}"/>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BCC9CE06-C5C2-FCCB-FAB5-D04D75AB4E10}"/>
                        </a:ext>
                      </a:extLst>
                    </p:cNvPr>
                    <p:cNvSpPr>
                      <a:spLocks noChangeAspect="1"/>
                    </p:cNvSpPr>
                    <p:nvPr/>
                  </p:nvSpPr>
                  <p:spPr>
                    <a:xfrm>
                      <a:off x="8194132" y="4363113"/>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4" name="Rectangle 163">
                    <a:extLst>
                      <a:ext uri="{FF2B5EF4-FFF2-40B4-BE49-F238E27FC236}">
                        <a16:creationId xmlns:a16="http://schemas.microsoft.com/office/drawing/2014/main" id="{22783471-EAB5-EA69-80B1-386965E34A18}"/>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39" name="TextBox 138">
                  <a:extLst>
                    <a:ext uri="{FF2B5EF4-FFF2-40B4-BE49-F238E27FC236}">
                      <a16:creationId xmlns:a16="http://schemas.microsoft.com/office/drawing/2014/main" id="{7216D79A-E863-6D60-636A-909E4EA56FC3}"/>
                    </a:ext>
                  </a:extLst>
                </p:cNvPr>
                <p:cNvSpPr txBox="1"/>
                <p:nvPr/>
              </p:nvSpPr>
              <p:spPr>
                <a:xfrm>
                  <a:off x="5297743" y="1348877"/>
                  <a:ext cx="1662040" cy="307777"/>
                </a:xfrm>
                <a:prstGeom prst="rect">
                  <a:avLst/>
                </a:prstGeom>
                <a:noFill/>
              </p:spPr>
              <p:txBody>
                <a:bodyPr wrap="square" lIns="0" tIns="0" rIns="0" bIns="0" rtlCol="0" anchor="ctr">
                  <a:spAutoFit/>
                </a:bodyPr>
                <a:lstStyle/>
                <a:p>
                  <a:pPr lvl="0" algn="r">
                    <a:defRPr/>
                  </a:pPr>
                  <a:r>
                    <a:rPr lang="en-US" sz="1000" noProof="0" dirty="0">
                      <a:solidFill>
                        <a:srgbClr val="000000"/>
                      </a:solidFill>
                    </a:rPr>
                    <a:t>Customized/manual </a:t>
                  </a:r>
                </a:p>
                <a:p>
                  <a:pPr lvl="0" algn="r">
                    <a:defRPr/>
                  </a:pPr>
                  <a:r>
                    <a:rPr lang="en-US" sz="1000" noProof="0" dirty="0">
                      <a:solidFill>
                        <a:srgbClr val="000000"/>
                      </a:solidFill>
                    </a:rPr>
                    <a:t>implementation</a:t>
                  </a:r>
                </a:p>
              </p:txBody>
            </p:sp>
            <p:sp>
              <p:nvSpPr>
                <p:cNvPr id="140" name="TextBox 139">
                  <a:extLst>
                    <a:ext uri="{FF2B5EF4-FFF2-40B4-BE49-F238E27FC236}">
                      <a16:creationId xmlns:a16="http://schemas.microsoft.com/office/drawing/2014/main" id="{9C35E9D6-CC76-FF21-39E0-9CCC3FC87C4E}"/>
                    </a:ext>
                  </a:extLst>
                </p:cNvPr>
                <p:cNvSpPr txBox="1"/>
                <p:nvPr/>
              </p:nvSpPr>
              <p:spPr>
                <a:xfrm>
                  <a:off x="8904386" y="1372827"/>
                  <a:ext cx="942566"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41" name="TextBox 140">
                  <a:extLst>
                    <a:ext uri="{FF2B5EF4-FFF2-40B4-BE49-F238E27FC236}">
                      <a16:creationId xmlns:a16="http://schemas.microsoft.com/office/drawing/2014/main" id="{9BF57C6B-AE0A-8DC6-DF62-77DED51FB3E8}"/>
                    </a:ext>
                  </a:extLst>
                </p:cNvPr>
                <p:cNvSpPr txBox="1"/>
                <p:nvPr/>
              </p:nvSpPr>
              <p:spPr>
                <a:xfrm>
                  <a:off x="5265610" y="1843442"/>
                  <a:ext cx="1319272"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Post-migration services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support</a:t>
                  </a:r>
                </a:p>
              </p:txBody>
            </p:sp>
            <p:sp>
              <p:nvSpPr>
                <p:cNvPr id="143" name="TextBox 142">
                  <a:extLst>
                    <a:ext uri="{FF2B5EF4-FFF2-40B4-BE49-F238E27FC236}">
                      <a16:creationId xmlns:a16="http://schemas.microsoft.com/office/drawing/2014/main" id="{0A3D9B46-A405-8072-4C13-2289B28D2F22}"/>
                    </a:ext>
                  </a:extLst>
                </p:cNvPr>
                <p:cNvSpPr txBox="1"/>
                <p:nvPr/>
              </p:nvSpPr>
              <p:spPr>
                <a:xfrm>
                  <a:off x="4557138" y="2395180"/>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44" name="Rectangle 143" descr="Customer ">
                  <a:extLst>
                    <a:ext uri="{FF2B5EF4-FFF2-40B4-BE49-F238E27FC236}">
                      <a16:creationId xmlns:a16="http://schemas.microsoft.com/office/drawing/2014/main" id="{EBFE354C-9DCE-A983-AE20-0AFC125A1375}"/>
                    </a:ext>
                  </a:extLst>
                </p:cNvPr>
                <p:cNvSpPr/>
                <p:nvPr/>
              </p:nvSpPr>
              <p:spPr bwMode="auto">
                <a:xfrm>
                  <a:off x="4022721" y="311387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5" name="TextBox 144">
                  <a:extLst>
                    <a:ext uri="{FF2B5EF4-FFF2-40B4-BE49-F238E27FC236}">
                      <a16:creationId xmlns:a16="http://schemas.microsoft.com/office/drawing/2014/main" id="{EA76AB3A-D60F-202A-F648-DD0E6B9F8B41}"/>
                    </a:ext>
                  </a:extLst>
                </p:cNvPr>
                <p:cNvSpPr txBox="1"/>
                <p:nvPr/>
              </p:nvSpPr>
              <p:spPr>
                <a:xfrm>
                  <a:off x="4292744" y="3129558"/>
                  <a:ext cx="1583637" cy="307777"/>
                </a:xfrm>
                <a:prstGeom prst="rect">
                  <a:avLst/>
                </a:prstGeom>
                <a:noFill/>
              </p:spPr>
              <p:txBody>
                <a:bodyPr wrap="squar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LnTx/>
                      <a:uFillTx/>
                      <a:latin typeface="Segoe Sans Text"/>
                    </a:defRPr>
                  </a:lvl1pPr>
                </a:lstStyle>
                <a:p>
                  <a:r>
                    <a:rPr lang="en-US" noProof="0" dirty="0"/>
                    <a:t>Scope of Azure Landing Zone deployment</a:t>
                  </a:r>
                </a:p>
              </p:txBody>
            </p:sp>
            <p:sp>
              <p:nvSpPr>
                <p:cNvPr id="146" name="TextBox 145">
                  <a:extLst>
                    <a:ext uri="{FF2B5EF4-FFF2-40B4-BE49-F238E27FC236}">
                      <a16:creationId xmlns:a16="http://schemas.microsoft.com/office/drawing/2014/main" id="{B17C5BFD-EF99-ACC1-8F7A-D900714874EF}"/>
                    </a:ext>
                  </a:extLst>
                </p:cNvPr>
                <p:cNvSpPr txBox="1"/>
                <p:nvPr/>
              </p:nvSpPr>
              <p:spPr>
                <a:xfrm>
                  <a:off x="4247858" y="3674533"/>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47" name="TextBox 146">
                  <a:extLst>
                    <a:ext uri="{FF2B5EF4-FFF2-40B4-BE49-F238E27FC236}">
                      <a16:creationId xmlns:a16="http://schemas.microsoft.com/office/drawing/2014/main" id="{AFEB711D-7B18-92CB-F3D9-A87E46DEB95A}"/>
                    </a:ext>
                  </a:extLst>
                </p:cNvPr>
                <p:cNvSpPr txBox="1"/>
                <p:nvPr/>
              </p:nvSpPr>
              <p:spPr>
                <a:xfrm>
                  <a:off x="4162439" y="4408911"/>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48" name="TextBox 147">
                  <a:extLst>
                    <a:ext uri="{FF2B5EF4-FFF2-40B4-BE49-F238E27FC236}">
                      <a16:creationId xmlns:a16="http://schemas.microsoft.com/office/drawing/2014/main" id="{CBED9A8F-11EB-1156-9F70-9CF1429299A1}"/>
                    </a:ext>
                  </a:extLst>
                </p:cNvPr>
                <p:cNvSpPr txBox="1"/>
                <p:nvPr/>
              </p:nvSpPr>
              <p:spPr>
                <a:xfrm>
                  <a:off x="4438850" y="4905259"/>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9" name="TextBox 148">
                  <a:extLst>
                    <a:ext uri="{FF2B5EF4-FFF2-40B4-BE49-F238E27FC236}">
                      <a16:creationId xmlns:a16="http://schemas.microsoft.com/office/drawing/2014/main" id="{DAB87B15-4260-45B1-A747-C03EBE9A518B}"/>
                    </a:ext>
                  </a:extLst>
                </p:cNvPr>
                <p:cNvSpPr txBox="1"/>
                <p:nvPr/>
              </p:nvSpPr>
              <p:spPr>
                <a:xfrm>
                  <a:off x="5400055" y="5557901"/>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50" name="Rectangle 149" descr="Microsoft: Account team and Migration Factory ">
                  <a:extLst>
                    <a:ext uri="{FF2B5EF4-FFF2-40B4-BE49-F238E27FC236}">
                      <a16:creationId xmlns:a16="http://schemas.microsoft.com/office/drawing/2014/main" id="{F4391D1E-B00B-03A0-378C-7D73D6B74FA1}"/>
                    </a:ext>
                  </a:extLst>
                </p:cNvPr>
                <p:cNvSpPr/>
                <p:nvPr/>
              </p:nvSpPr>
              <p:spPr bwMode="auto">
                <a:xfrm>
                  <a:off x="9099824" y="2907163"/>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51" name="Oval 150">
                  <a:extLst>
                    <a:ext uri="{FF2B5EF4-FFF2-40B4-BE49-F238E27FC236}">
                      <a16:creationId xmlns:a16="http://schemas.microsoft.com/office/drawing/2014/main" id="{1BB76031-60A1-C643-3FA3-B2D3AA901298}"/>
                    </a:ext>
                    <a:ext uri="{C183D7F6-B498-43B3-948B-1728B52AA6E4}">
                      <adec:decorative xmlns:adec="http://schemas.microsoft.com/office/drawing/2017/decorative" val="1"/>
                    </a:ext>
                  </a:extLst>
                </p:cNvPr>
                <p:cNvSpPr>
                  <a:spLocks noChangeAspect="1"/>
                </p:cNvSpPr>
                <p:nvPr/>
              </p:nvSpPr>
              <p:spPr>
                <a:xfrm>
                  <a:off x="9388515" y="3016034"/>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52" name="TextBox 151">
                  <a:extLst>
                    <a:ext uri="{FF2B5EF4-FFF2-40B4-BE49-F238E27FC236}">
                      <a16:creationId xmlns:a16="http://schemas.microsoft.com/office/drawing/2014/main" id="{6F1307FD-BC5D-FD0D-9799-BB6D19AE34C9}"/>
                    </a:ext>
                  </a:extLst>
                </p:cNvPr>
                <p:cNvSpPr txBox="1"/>
                <p:nvPr/>
              </p:nvSpPr>
              <p:spPr>
                <a:xfrm>
                  <a:off x="9595501" y="2923520"/>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53" name="Oval 152">
                  <a:extLst>
                    <a:ext uri="{FF2B5EF4-FFF2-40B4-BE49-F238E27FC236}">
                      <a16:creationId xmlns:a16="http://schemas.microsoft.com/office/drawing/2014/main" id="{AE97CF9C-4F53-030E-642A-58EFD00B58E8}"/>
                    </a:ext>
                    <a:ext uri="{C183D7F6-B498-43B3-948B-1728B52AA6E4}">
                      <adec:decorative xmlns:adec="http://schemas.microsoft.com/office/drawing/2017/decorative" val="1"/>
                    </a:ext>
                  </a:extLst>
                </p:cNvPr>
                <p:cNvSpPr>
                  <a:spLocks noChangeAspect="1"/>
                </p:cNvSpPr>
                <p:nvPr/>
              </p:nvSpPr>
              <p:spPr>
                <a:xfrm>
                  <a:off x="9967558" y="3593193"/>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54" name="TextBox 153">
                  <a:extLst>
                    <a:ext uri="{FF2B5EF4-FFF2-40B4-BE49-F238E27FC236}">
                      <a16:creationId xmlns:a16="http://schemas.microsoft.com/office/drawing/2014/main" id="{F48683D4-3996-9FDE-AB57-1CD22157B791}"/>
                    </a:ext>
                  </a:extLst>
                </p:cNvPr>
                <p:cNvSpPr txBox="1"/>
                <p:nvPr/>
              </p:nvSpPr>
              <p:spPr>
                <a:xfrm>
                  <a:off x="10236052" y="3503095"/>
                  <a:ext cx="1022716"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56" name="TextBox 155">
                  <a:extLst>
                    <a:ext uri="{FF2B5EF4-FFF2-40B4-BE49-F238E27FC236}">
                      <a16:creationId xmlns:a16="http://schemas.microsoft.com/office/drawing/2014/main" id="{E0BEB9FB-2E46-5193-E5A4-BC2CE652C4D1}"/>
                    </a:ext>
                  </a:extLst>
                </p:cNvPr>
                <p:cNvSpPr txBox="1"/>
                <p:nvPr/>
              </p:nvSpPr>
              <p:spPr>
                <a:xfrm>
                  <a:off x="10336578" y="4073808"/>
                  <a:ext cx="144894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 Pre-requisites guidance/services</a:t>
                  </a:r>
                </a:p>
              </p:txBody>
            </p:sp>
            <p:sp>
              <p:nvSpPr>
                <p:cNvPr id="158" name="TextBox 157">
                  <a:extLst>
                    <a:ext uri="{FF2B5EF4-FFF2-40B4-BE49-F238E27FC236}">
                      <a16:creationId xmlns:a16="http://schemas.microsoft.com/office/drawing/2014/main" id="{4DD65AC4-3FCB-0F06-D6FC-776A842AB049}"/>
                    </a:ext>
                  </a:extLst>
                </p:cNvPr>
                <p:cNvSpPr txBox="1"/>
                <p:nvPr/>
              </p:nvSpPr>
              <p:spPr>
                <a:xfrm>
                  <a:off x="10245604" y="4617746"/>
                  <a:ext cx="1506120"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(Coordinators, architect, engineers)</a:t>
                  </a:r>
                </a:p>
              </p:txBody>
            </p:sp>
            <p:sp>
              <p:nvSpPr>
                <p:cNvPr id="161" name="Oval 160">
                  <a:extLst>
                    <a:ext uri="{FF2B5EF4-FFF2-40B4-BE49-F238E27FC236}">
                      <a16:creationId xmlns:a16="http://schemas.microsoft.com/office/drawing/2014/main" id="{3CB51B73-CB2F-B213-0C6A-A931F95FDAD6}"/>
                    </a:ext>
                    <a:ext uri="{C183D7F6-B498-43B3-948B-1728B52AA6E4}">
                      <adec:decorative xmlns:adec="http://schemas.microsoft.com/office/drawing/2017/decorative" val="1"/>
                    </a:ext>
                  </a:extLst>
                </p:cNvPr>
                <p:cNvSpPr>
                  <a:spLocks noChangeAspect="1"/>
                </p:cNvSpPr>
                <p:nvPr/>
              </p:nvSpPr>
              <p:spPr>
                <a:xfrm>
                  <a:off x="9392747" y="5298109"/>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2" name="TextBox 161">
                  <a:extLst>
                    <a:ext uri="{FF2B5EF4-FFF2-40B4-BE49-F238E27FC236}">
                      <a16:creationId xmlns:a16="http://schemas.microsoft.com/office/drawing/2014/main" id="{5108826E-E3EC-8F97-B95A-0D4AC3CEC35E}"/>
                    </a:ext>
                  </a:extLst>
                </p:cNvPr>
                <p:cNvSpPr txBox="1"/>
                <p:nvPr/>
              </p:nvSpPr>
              <p:spPr>
                <a:xfrm>
                  <a:off x="9581492" y="5414802"/>
                  <a:ext cx="1519305"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solidFill>
                        <a:srgbClr val="000000"/>
                      </a:solidFill>
                      <a:cs typeface="Segoe Sans Text" pitchFamily="2" charset="0"/>
                    </a:rPr>
                    <a:t>Landing Zone deployment</a:t>
                  </a:r>
                </a:p>
              </p:txBody>
            </p:sp>
          </p:grpSp>
          <p:sp>
            <p:nvSpPr>
              <p:cNvPr id="131" name="TextBox 130">
                <a:extLst>
                  <a:ext uri="{FF2B5EF4-FFF2-40B4-BE49-F238E27FC236}">
                    <a16:creationId xmlns:a16="http://schemas.microsoft.com/office/drawing/2014/main" id="{A245DCEE-632D-6DF6-787E-2BF248E6EF76}"/>
                  </a:ext>
                </a:extLst>
              </p:cNvPr>
              <p:cNvSpPr txBox="1"/>
              <p:nvPr/>
            </p:nvSpPr>
            <p:spPr>
              <a:xfrm>
                <a:off x="7014644" y="2401819"/>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solidFill>
                      <a:srgbClr val="0078D4">
                        <a:lumMod val="75000"/>
                      </a:srgbClr>
                    </a:solidFill>
                    <a:latin typeface="Segoe Sans Text Semibold"/>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solidFill>
                      <a:srgbClr val="0078D4">
                        <a:lumMod val="75000"/>
                      </a:srgbClr>
                    </a:solidFill>
                    <a:latin typeface="Segoe Sans Text Semibold"/>
                  </a:rPr>
                  <a:t>(when applicable)</a:t>
                </a:r>
              </a:p>
            </p:txBody>
          </p:sp>
        </p:grpSp>
        <p:sp>
          <p:nvSpPr>
            <p:cNvPr id="185" name="Oval 184">
              <a:extLst>
                <a:ext uri="{FF2B5EF4-FFF2-40B4-BE49-F238E27FC236}">
                  <a16:creationId xmlns:a16="http://schemas.microsoft.com/office/drawing/2014/main" id="{F3AC9187-63E1-87AE-A4D5-6FC2928EBF6E}"/>
                </a:ext>
                <a:ext uri="{C183D7F6-B498-43B3-948B-1728B52AA6E4}">
                  <adec:decorative xmlns:adec="http://schemas.microsoft.com/office/drawing/2017/decorative" val="1"/>
                </a:ext>
              </a:extLst>
            </p:cNvPr>
            <p:cNvSpPr>
              <a:spLocks noChangeAspect="1"/>
            </p:cNvSpPr>
            <p:nvPr/>
          </p:nvSpPr>
          <p:spPr>
            <a:xfrm>
              <a:off x="8865385" y="5196097"/>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6" name="TextBox 185">
              <a:extLst>
                <a:ext uri="{FF2B5EF4-FFF2-40B4-BE49-F238E27FC236}">
                  <a16:creationId xmlns:a16="http://schemas.microsoft.com/office/drawing/2014/main" id="{1A43ECC3-D5AD-9963-C038-3C81C9FDE39F}"/>
                </a:ext>
              </a:extLst>
            </p:cNvPr>
            <p:cNvSpPr txBox="1"/>
            <p:nvPr/>
          </p:nvSpPr>
          <p:spPr>
            <a:xfrm>
              <a:off x="8445720" y="5374600"/>
              <a:ext cx="1519305"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solidFill>
                    <a:srgbClr val="000000"/>
                  </a:solidFill>
                  <a:cs typeface="Segoe Sans Text" pitchFamily="2" charset="0"/>
                </a:rPr>
                <a:t>Remote assistance for service execution</a:t>
              </a:r>
            </a:p>
          </p:txBody>
        </p:sp>
        <p:sp>
          <p:nvSpPr>
            <p:cNvPr id="187" name="Oval 186">
              <a:extLst>
                <a:ext uri="{FF2B5EF4-FFF2-40B4-BE49-F238E27FC236}">
                  <a16:creationId xmlns:a16="http://schemas.microsoft.com/office/drawing/2014/main" id="{64D5DA91-C19A-6314-6744-820E33AFA287}"/>
                </a:ext>
                <a:ext uri="{C183D7F6-B498-43B3-948B-1728B52AA6E4}">
                  <adec:decorative xmlns:adec="http://schemas.microsoft.com/office/drawing/2017/decorative" val="1"/>
                </a:ext>
              </a:extLst>
            </p:cNvPr>
            <p:cNvSpPr>
              <a:spLocks noChangeAspect="1"/>
            </p:cNvSpPr>
            <p:nvPr/>
          </p:nvSpPr>
          <p:spPr>
            <a:xfrm>
              <a:off x="9913251" y="3042261"/>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8" name="TextBox 187">
              <a:extLst>
                <a:ext uri="{FF2B5EF4-FFF2-40B4-BE49-F238E27FC236}">
                  <a16:creationId xmlns:a16="http://schemas.microsoft.com/office/drawing/2014/main" id="{8CADE60A-A0AC-4522-61B3-97F730479EE3}"/>
                </a:ext>
              </a:extLst>
            </p:cNvPr>
            <p:cNvSpPr txBox="1"/>
            <p:nvPr/>
          </p:nvSpPr>
          <p:spPr>
            <a:xfrm>
              <a:off x="10174168" y="2898906"/>
              <a:ext cx="1429570"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Subscription questions and setup</a:t>
              </a:r>
            </a:p>
          </p:txBody>
        </p:sp>
      </p:grpSp>
      <p:sp>
        <p:nvSpPr>
          <p:cNvPr id="8" name="TextBox 7">
            <a:extLst>
              <a:ext uri="{FF2B5EF4-FFF2-40B4-BE49-F238E27FC236}">
                <a16:creationId xmlns:a16="http://schemas.microsoft.com/office/drawing/2014/main" id="{B4422ECF-560B-E333-260E-16956C63D64F}"/>
              </a:ext>
            </a:extLst>
          </p:cNvPr>
          <p:cNvSpPr txBox="1"/>
          <p:nvPr/>
        </p:nvSpPr>
        <p:spPr>
          <a:xfrm>
            <a:off x="9523313" y="1711355"/>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3" name="TextBox 2">
            <a:extLst>
              <a:ext uri="{FF2B5EF4-FFF2-40B4-BE49-F238E27FC236}">
                <a16:creationId xmlns:a16="http://schemas.microsoft.com/office/drawing/2014/main" id="{2208D88D-0A5F-6275-EB41-B5FB125B1C09}"/>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9" name="Oval 8">
            <a:extLst>
              <a:ext uri="{FF2B5EF4-FFF2-40B4-BE49-F238E27FC236}">
                <a16:creationId xmlns:a16="http://schemas.microsoft.com/office/drawing/2014/main" id="{918AB644-9C32-3D94-6560-1F9E2A8927EB}"/>
              </a:ext>
            </a:extLst>
          </p:cNvPr>
          <p:cNvSpPr>
            <a:spLocks noChangeAspect="1"/>
          </p:cNvSpPr>
          <p:nvPr/>
        </p:nvSpPr>
        <p:spPr>
          <a:xfrm>
            <a:off x="9190526" y="1790807"/>
            <a:ext cx="127582" cy="127582"/>
          </a:xfrm>
          <a:prstGeom prst="ellipse">
            <a:avLst/>
          </a:prstGeom>
          <a:solidFill>
            <a:srgbClr val="F4F3F5"/>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1" name="Oval 10">
            <a:extLst>
              <a:ext uri="{FF2B5EF4-FFF2-40B4-BE49-F238E27FC236}">
                <a16:creationId xmlns:a16="http://schemas.microsoft.com/office/drawing/2014/main" id="{D02254FC-FA92-1201-C555-BD21237DF403}"/>
              </a:ext>
              <a:ext uri="{C183D7F6-B498-43B3-948B-1728B52AA6E4}">
                <adec:decorative xmlns:adec="http://schemas.microsoft.com/office/drawing/2017/decorative" val="1"/>
              </a:ext>
            </a:extLst>
          </p:cNvPr>
          <p:cNvSpPr>
            <a:spLocks noChangeAspect="1"/>
          </p:cNvSpPr>
          <p:nvPr/>
        </p:nvSpPr>
        <p:spPr>
          <a:xfrm>
            <a:off x="10143264" y="4523981"/>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7CB6FA77-449A-AA26-3503-67BA9E195659}"/>
              </a:ext>
              <a:ext uri="{C183D7F6-B498-43B3-948B-1728B52AA6E4}">
                <adec:decorative xmlns:adec="http://schemas.microsoft.com/office/drawing/2017/decorative" val="1"/>
              </a:ext>
            </a:extLst>
          </p:cNvPr>
          <p:cNvSpPr>
            <a:spLocks noChangeAspect="1"/>
          </p:cNvSpPr>
          <p:nvPr/>
        </p:nvSpPr>
        <p:spPr>
          <a:xfrm>
            <a:off x="10279730" y="395045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Tree>
    <p:extLst>
      <p:ext uri="{BB962C8B-B14F-4D97-AF65-F5344CB8AC3E}">
        <p14:creationId xmlns:p14="http://schemas.microsoft.com/office/powerpoint/2010/main" val="231742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6873-65CA-2F44-9F5B-0260741F7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1E588-3270-DFF5-A39E-911A016E5C29}"/>
              </a:ext>
            </a:extLst>
          </p:cNvPr>
          <p:cNvSpPr>
            <a:spLocks noGrp="1"/>
          </p:cNvSpPr>
          <p:nvPr>
            <p:ph type="title"/>
          </p:nvPr>
        </p:nvSpPr>
        <p:spPr>
          <a:xfrm>
            <a:off x="585216" y="2362270"/>
            <a:ext cx="9144000" cy="1169551"/>
          </a:xfrm>
        </p:spPr>
        <p:txBody>
          <a:bodyPr/>
          <a:lstStyle/>
          <a:p>
            <a:r>
              <a:rPr lang="en-US" noProof="0" dirty="0"/>
              <a:t>Cloud Accelerate Factory</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3" name="TextBox 2">
            <a:extLst>
              <a:ext uri="{FF2B5EF4-FFF2-40B4-BE49-F238E27FC236}">
                <a16:creationId xmlns:a16="http://schemas.microsoft.com/office/drawing/2014/main" id="{F36CC56E-2581-1A4C-0F8D-CAB271858B3F}"/>
              </a:ext>
            </a:extLst>
          </p:cNvPr>
          <p:cNvSpPr txBox="1"/>
          <p:nvPr/>
        </p:nvSpPr>
        <p:spPr>
          <a:xfrm>
            <a:off x="585216" y="3722201"/>
            <a:ext cx="8883650" cy="979502"/>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71450" indent="-171450">
              <a:buFont typeface="Arial" panose="020B0604020202020204" pitchFamily="34" charset="0"/>
              <a:buChar char="•"/>
            </a:pPr>
            <a:r>
              <a:rPr lang="en-US" sz="1400" noProof="0" dirty="0"/>
              <a:t>Infrastructure Migration and Modernization (VMWare, Windows, Linux) to Azure Native IaaS, AVS</a:t>
            </a:r>
          </a:p>
          <a:p>
            <a:pPr marL="171450" indent="-171450">
              <a:buFont typeface="Arial" panose="020B0604020202020204" pitchFamily="34" charset="0"/>
              <a:buChar char="•"/>
            </a:pPr>
            <a:r>
              <a:rPr lang="en-US" sz="1400" noProof="0" dirty="0"/>
              <a:t>.NET and Java Application stack Modernization (inclusive of Apps, Database, Infra) </a:t>
            </a:r>
          </a:p>
          <a:p>
            <a:pPr marL="171450" indent="-171450">
              <a:buFont typeface="Arial" panose="020B0604020202020204" pitchFamily="34" charset="0"/>
              <a:buChar char="•"/>
            </a:pPr>
            <a:r>
              <a:rPr lang="en-US" sz="1400" noProof="0" dirty="0"/>
              <a:t>SQL Server → Azure SQL (VM, MI, DB) ; PostgreSQL/MySQL → Azure Flexible Server</a:t>
            </a:r>
          </a:p>
          <a:p>
            <a:pPr marL="171450" indent="-171450">
              <a:buFont typeface="Arial" panose="020B0604020202020204" pitchFamily="34" charset="0"/>
              <a:buChar char="•"/>
            </a:pPr>
            <a:r>
              <a:rPr lang="en-US" sz="1400" noProof="0" dirty="0"/>
              <a:t>Heterogeneous Database Modernization from Oracle, Sybase to SQL/PGSQL</a:t>
            </a:r>
          </a:p>
        </p:txBody>
      </p:sp>
      <p:sp>
        <p:nvSpPr>
          <p:cNvPr id="4" name="TextBox 3">
            <a:extLst>
              <a:ext uri="{FF2B5EF4-FFF2-40B4-BE49-F238E27FC236}">
                <a16:creationId xmlns:a16="http://schemas.microsoft.com/office/drawing/2014/main" id="{D83DA3A0-4562-CB6C-EB69-B643E49F4BA3}"/>
              </a:ext>
            </a:extLst>
          </p:cNvPr>
          <p:cNvSpPr txBox="1"/>
          <p:nvPr/>
        </p:nvSpPr>
        <p:spPr>
          <a:xfrm>
            <a:off x="9193695"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6" name="Image 10" descr="Home (outlined)">
            <a:hlinkClick r:id="rId3" action="ppaction://hlinksldjump" tooltip="Home"/>
            <a:extLst>
              <a:ext uri="{FF2B5EF4-FFF2-40B4-BE49-F238E27FC236}">
                <a16:creationId xmlns:a16="http://schemas.microsoft.com/office/drawing/2014/main" id="{F0C7A272-697C-17F9-8EF6-69FAE9B04B6C}"/>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671989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6" presetClass="emph" presetSubtype="0" fill="hold" grpId="1" nodeType="withEffect">
                                  <p:stCondLst>
                                    <p:cond delay="0"/>
                                  </p:stCondLst>
                                  <p:childTnLst>
                                    <p:animScale>
                                      <p:cBhvr>
                                        <p:cTn id="16" dur="100" fill="hold"/>
                                        <p:tgtEl>
                                          <p:spTgt spid="4"/>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4" grpId="0" animBg="1"/>
      <p:bldP spid="4" grpId="1" animBg="1"/>
      <p:bldP spid="4" grpId="2"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BB75B-9042-DA38-C21D-65224F894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F24DF-8E59-3AF4-40AE-B83626A33D10}"/>
              </a:ext>
            </a:extLst>
          </p:cNvPr>
          <p:cNvSpPr>
            <a:spLocks noGrp="1"/>
          </p:cNvSpPr>
          <p:nvPr>
            <p:ph type="title"/>
          </p:nvPr>
        </p:nvSpPr>
        <p:spPr>
          <a:xfrm>
            <a:off x="585216" y="2362270"/>
            <a:ext cx="9144000" cy="1169551"/>
          </a:xfrm>
        </p:spPr>
        <p:txBody>
          <a:bodyPr/>
          <a:lstStyle/>
          <a:p>
            <a:r>
              <a:rPr lang="en-US" noProof="0" dirty="0"/>
              <a:t>Cloud Accelerate Factory</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3" name="TextBox 2">
            <a:extLst>
              <a:ext uri="{FF2B5EF4-FFF2-40B4-BE49-F238E27FC236}">
                <a16:creationId xmlns:a16="http://schemas.microsoft.com/office/drawing/2014/main" id="{5F9F9339-899D-1173-C2B9-E89ECD3E5700}"/>
              </a:ext>
            </a:extLst>
          </p:cNvPr>
          <p:cNvSpPr txBox="1"/>
          <p:nvPr/>
        </p:nvSpPr>
        <p:spPr>
          <a:xfrm>
            <a:off x="584200" y="4173051"/>
            <a:ext cx="8424628" cy="58406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800" b="1" noProof="0" dirty="0"/>
              <a:t>Migrate &amp; Modernize of Infra </a:t>
            </a:r>
          </a:p>
          <a:p>
            <a:pPr marL="285750" indent="-285750" algn="ctr">
              <a:buFont typeface="Arial" panose="020B0604020202020204" pitchFamily="34" charset="0"/>
              <a:buChar char="•"/>
            </a:pPr>
            <a:r>
              <a:rPr lang="en-US" sz="1400" noProof="0" dirty="0"/>
              <a:t>Infrastructure Migration and Modernization (VMWare, Windows, Linux) to Azure Native IaaS, AVS</a:t>
            </a:r>
          </a:p>
        </p:txBody>
      </p:sp>
      <p:sp>
        <p:nvSpPr>
          <p:cNvPr id="4" name="TextBox 3">
            <a:extLst>
              <a:ext uri="{FF2B5EF4-FFF2-40B4-BE49-F238E27FC236}">
                <a16:creationId xmlns:a16="http://schemas.microsoft.com/office/drawing/2014/main" id="{6262C90D-F5D9-2D7F-A1F2-87BC2D48E762}"/>
              </a:ext>
            </a:extLst>
          </p:cNvPr>
          <p:cNvSpPr txBox="1"/>
          <p:nvPr/>
        </p:nvSpPr>
        <p:spPr>
          <a:xfrm>
            <a:off x="9193695"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6" name="Image 10" descr="Home (outlined)">
            <a:hlinkClick r:id="rId3" action="ppaction://hlinksldjump" tooltip="Home"/>
            <a:extLst>
              <a:ext uri="{FF2B5EF4-FFF2-40B4-BE49-F238E27FC236}">
                <a16:creationId xmlns:a16="http://schemas.microsoft.com/office/drawing/2014/main" id="{5128CE75-0991-1203-2C19-4900BD65D557}"/>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4138982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6" presetClass="emph" presetSubtype="0" fill="hold" grpId="1" nodeType="withEffect">
                                  <p:stCondLst>
                                    <p:cond delay="0"/>
                                  </p:stCondLst>
                                  <p:childTnLst>
                                    <p:animScale>
                                      <p:cBhvr>
                                        <p:cTn id="16" dur="100" fill="hold"/>
                                        <p:tgtEl>
                                          <p:spTgt spid="4"/>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4" grpId="0" animBg="1"/>
      <p:bldP spid="4" grpId="1" animBg="1"/>
      <p:bldP spid="4" grpId="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A92E5-5136-CD93-7E02-DB764E5A6063}"/>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196D1AEE-9128-6D17-3F2E-24BAF47D3271}"/>
              </a:ext>
            </a:extLst>
          </p:cNvPr>
          <p:cNvSpPr>
            <a:spLocks noGrp="1"/>
          </p:cNvSpPr>
          <p:nvPr>
            <p:ph type="title" idx="4294967295"/>
          </p:nvPr>
        </p:nvSpPr>
        <p:spPr>
          <a:xfrm>
            <a:off x="584200" y="150852"/>
            <a:ext cx="6973558" cy="707886"/>
          </a:xfrm>
        </p:spPr>
        <p:txBody>
          <a:bodyPr vert="horz" wrap="square" lIns="0" tIns="0" rIns="0" bIns="0" rtlCol="0" anchor="t">
            <a:spAutoFit/>
          </a:bodyPr>
          <a:lstStyle/>
          <a:p>
            <a:r>
              <a:rPr lang="en-US" sz="2800" noProof="0" dirty="0"/>
              <a:t>Infrastructure Migration</a:t>
            </a:r>
            <a:br>
              <a:rPr lang="en-US" sz="2000" noProof="0" dirty="0">
                <a:solidFill>
                  <a:schemeClr val="tx1"/>
                </a:solidFill>
              </a:rPr>
            </a:br>
            <a:r>
              <a:rPr lang="en-US" sz="1800" noProof="0" dirty="0">
                <a:solidFill>
                  <a:schemeClr val="tx1"/>
                </a:solidFill>
              </a:rPr>
              <a:t>Windows / Linux Workloads – Scope &amp; Responsibilities</a:t>
            </a:r>
          </a:p>
        </p:txBody>
      </p:sp>
      <p:sp>
        <p:nvSpPr>
          <p:cNvPr id="23" name="Rounded Rectangle 22">
            <a:extLst>
              <a:ext uri="{FF2B5EF4-FFF2-40B4-BE49-F238E27FC236}">
                <a16:creationId xmlns:a16="http://schemas.microsoft.com/office/drawing/2014/main" id="{FB5BD5F8-5BB9-7AAE-C6AC-E3DD815648E1}"/>
              </a:ext>
              <a:ext uri="{C183D7F6-B498-43B3-948B-1728B52AA6E4}">
                <adec:decorative xmlns:adec="http://schemas.microsoft.com/office/drawing/2017/decorative" val="1"/>
              </a:ext>
            </a:extLst>
          </p:cNvPr>
          <p:cNvSpPr>
            <a:spLocks/>
          </p:cNvSpPr>
          <p:nvPr/>
        </p:nvSpPr>
        <p:spPr bwMode="auto">
          <a:xfrm>
            <a:off x="6176379" y="1129561"/>
            <a:ext cx="5538994" cy="3459799"/>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4" name="Rounded Rectangle 23">
            <a:extLst>
              <a:ext uri="{FF2B5EF4-FFF2-40B4-BE49-F238E27FC236}">
                <a16:creationId xmlns:a16="http://schemas.microsoft.com/office/drawing/2014/main" id="{267DC744-9A2E-2909-F7EF-AAAD11C53D19}"/>
              </a:ext>
              <a:ext uri="{C183D7F6-B498-43B3-948B-1728B52AA6E4}">
                <adec:decorative xmlns:adec="http://schemas.microsoft.com/office/drawing/2017/decorative" val="1"/>
              </a:ext>
            </a:extLst>
          </p:cNvPr>
          <p:cNvSpPr>
            <a:spLocks/>
          </p:cNvSpPr>
          <p:nvPr/>
        </p:nvSpPr>
        <p:spPr bwMode="auto">
          <a:xfrm>
            <a:off x="541487" y="1129561"/>
            <a:ext cx="5538994" cy="5483675"/>
          </a:xfrm>
          <a:prstGeom prst="roundRect">
            <a:avLst>
              <a:gd name="adj" fmla="val 527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5" name="TextBox 24">
            <a:extLst>
              <a:ext uri="{FF2B5EF4-FFF2-40B4-BE49-F238E27FC236}">
                <a16:creationId xmlns:a16="http://schemas.microsoft.com/office/drawing/2014/main" id="{D4D386FF-12C1-B383-3A54-0A39D63F94E9}"/>
              </a:ext>
            </a:extLst>
          </p:cNvPr>
          <p:cNvSpPr txBox="1">
            <a:spLocks/>
          </p:cNvSpPr>
          <p:nvPr/>
        </p:nvSpPr>
        <p:spPr>
          <a:xfrm>
            <a:off x="584200" y="1319150"/>
            <a:ext cx="5441528" cy="321467"/>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6" name="TextBox 25">
            <a:extLst>
              <a:ext uri="{FF2B5EF4-FFF2-40B4-BE49-F238E27FC236}">
                <a16:creationId xmlns:a16="http://schemas.microsoft.com/office/drawing/2014/main" id="{5B16BF95-999B-5B22-FFDE-C98154F98BA1}"/>
              </a:ext>
            </a:extLst>
          </p:cNvPr>
          <p:cNvSpPr txBox="1">
            <a:spLocks/>
          </p:cNvSpPr>
          <p:nvPr/>
        </p:nvSpPr>
        <p:spPr>
          <a:xfrm>
            <a:off x="6203985" y="1325197"/>
            <a:ext cx="5483812" cy="315421"/>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cxnSp>
        <p:nvCxnSpPr>
          <p:cNvPr id="9" name="Straight Connector 8">
            <a:extLst>
              <a:ext uri="{FF2B5EF4-FFF2-40B4-BE49-F238E27FC236}">
                <a16:creationId xmlns:a16="http://schemas.microsoft.com/office/drawing/2014/main" id="{23A78BA6-8431-F2FA-F291-F10C28F4E910}"/>
              </a:ext>
              <a:ext uri="{C183D7F6-B498-43B3-948B-1728B52AA6E4}">
                <adec:decorative xmlns:adec="http://schemas.microsoft.com/office/drawing/2017/decorative" val="1"/>
              </a:ext>
            </a:extLst>
          </p:cNvPr>
          <p:cNvCxnSpPr>
            <a:cxnSpLocks/>
          </p:cNvCxnSpPr>
          <p:nvPr/>
        </p:nvCxnSpPr>
        <p:spPr>
          <a:xfrm>
            <a:off x="933469" y="3554985"/>
            <a:ext cx="4937760"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077255C-9161-5ECD-2A0C-89DBD49BB769}"/>
              </a:ext>
            </a:extLst>
          </p:cNvPr>
          <p:cNvSpPr txBox="1"/>
          <p:nvPr/>
        </p:nvSpPr>
        <p:spPr>
          <a:xfrm>
            <a:off x="933469" y="1813940"/>
            <a:ext cx="4937760" cy="189539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Infrastructure Migration (Windows &amp; Linux)</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Agent-based (</a:t>
            </a:r>
            <a:r>
              <a:rPr kumimoji="0" lang="en-US" sz="80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Physical, AWS, GCP</a:t>
            </a: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)—Support matrix for OS version: </a:t>
            </a:r>
            <a:r>
              <a:rPr kumimoji="0" lang="en-US" sz="800" b="0" i="0" u="none" strike="noStrike" kern="0" cap="none" spc="0" normalizeH="0" baseline="0" noProof="0" dirty="0">
                <a:ln>
                  <a:noFill/>
                </a:ln>
                <a:solidFill>
                  <a:srgbClr val="0070C0"/>
                </a:solidFill>
                <a:effectLst/>
                <a:uLnTx/>
                <a:uFillTx/>
                <a:latin typeface="Segoe UI" panose="020B0502040204020203" pitchFamily="34" charset="0"/>
                <a:cs typeface="Segoe UI" panose="020B0502040204020203" pitchFamily="34" charset="0"/>
                <a:hlinkClick r:id="rId2"/>
              </a:rPr>
              <a:t>Link—Agent Based (Physical, AWS, GCP)</a:t>
            </a:r>
            <a:endParaRPr kumimoji="0" lang="en-US" sz="800" b="0" i="0" u="none" strike="noStrike" kern="0" cap="none" spc="0" normalizeH="0" baseline="0" noProof="0" dirty="0">
              <a:ln>
                <a:noFill/>
              </a:ln>
              <a:solidFill>
                <a:srgbClr val="0070C0"/>
              </a:solidFill>
              <a:effectLst/>
              <a:uLnTx/>
              <a:uFillTx/>
              <a:latin typeface="Segoe UI" panose="020B0502040204020203" pitchFamily="34" charset="0"/>
              <a:cs typeface="Segoe UI" panose="020B0502040204020203" pitchFamily="34" charset="0"/>
            </a:endParaRP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Agentless (</a:t>
            </a:r>
            <a:r>
              <a:rPr kumimoji="0" lang="en-US" sz="80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VMware/Hyper-V</a:t>
            </a: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 - Support matrix for OS version: </a:t>
            </a: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hlinkClick r:id="rId3"/>
              </a:rPr>
              <a:t>Hyper-V</a:t>
            </a: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 and </a:t>
            </a: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hlinkClick r:id="rId4"/>
              </a:rPr>
              <a:t>VMware</a:t>
            </a:r>
            <a:endPar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endParaRP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AVS to Azure IaaS (see Infrastructure Migration section</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ea typeface="+mn-lt"/>
                <a:cs typeface="Segoe UI" panose="020B0502040204020203" pitchFamily="34" charset="0"/>
              </a:rPr>
              <a:t>Windows OS upgrade during migration. - </a:t>
            </a:r>
            <a:r>
              <a:rPr kumimoji="0" lang="en-US" sz="800" b="0" i="0" u="none" strike="noStrike" kern="0" cap="none" spc="0" normalizeH="0" baseline="0" noProof="0" dirty="0">
                <a:ln>
                  <a:noFill/>
                </a:ln>
                <a:solidFill>
                  <a:srgbClr val="000000"/>
                </a:solidFill>
                <a:effectLst/>
                <a:uLnTx/>
                <a:uFillTx/>
                <a:latin typeface="Segoe UI" panose="020B0502040204020203" pitchFamily="34" charset="0"/>
                <a:ea typeface="+mn-lt"/>
                <a:cs typeface="Segoe UI" panose="020B0502040204020203" pitchFamily="34" charset="0"/>
                <a:hlinkClick r:id="rId5"/>
              </a:rPr>
              <a:t>Azure Migrate Windows Server upgrade (Preview).</a:t>
            </a:r>
            <a:endParaRPr kumimoji="0" lang="en-US" sz="800" b="0" i="0" u="none" strike="noStrike" kern="0" cap="none" spc="0" normalizeH="0" baseline="0" noProof="0" dirty="0">
              <a:ln>
                <a:noFill/>
              </a:ln>
              <a:solidFill>
                <a:srgbClr val="000000"/>
              </a:solidFill>
              <a:effectLst/>
              <a:uLnTx/>
              <a:uFillTx/>
              <a:latin typeface="Segoe UI" panose="020B0502040204020203" pitchFamily="34" charset="0"/>
              <a:ea typeface="+mn-lt"/>
              <a:cs typeface="Segoe UI" panose="020B0502040204020203" pitchFamily="34" charset="0"/>
            </a:endParaRP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On-premises [physical, Hyper-V and VMware Virtualization cluster environment ] to Az Windows VMs[IaaS]: </a:t>
            </a:r>
            <a:r>
              <a:rPr kumimoji="0" lang="en-US" sz="800" b="0" i="0" u="none" strike="noStrike" kern="0" cap="none" spc="0" normalizeH="0" baseline="0" noProof="0" dirty="0">
                <a:ln>
                  <a:noFill/>
                </a:ln>
                <a:solidFill>
                  <a:srgbClr val="0070C0"/>
                </a:solidFill>
                <a:effectLst/>
                <a:uLnTx/>
                <a:uFillTx/>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Common questions Migration and modernization tool—Azure Migrate</a:t>
            </a:r>
            <a:endParaRPr kumimoji="0" lang="en-US" sz="800" b="0" i="0" u="none" strike="noStrike" kern="0" cap="none" spc="0" normalizeH="0" baseline="0" noProof="0" dirty="0">
              <a:ln>
                <a:noFill/>
              </a:ln>
              <a:solidFill>
                <a:srgbClr val="0070C0"/>
              </a:solidFill>
              <a:effectLst/>
              <a:uLnTx/>
              <a:uFillTx/>
              <a:latin typeface="Segoe UI" panose="020B0502040204020203" pitchFamily="34" charset="0"/>
              <a:cs typeface="Segoe UI" panose="020B0502040204020203" pitchFamily="34" charset="0"/>
            </a:endParaRP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70C0"/>
                </a:solidFill>
                <a:effectLst/>
                <a:uLnTx/>
                <a:uFillTx/>
                <a:latin typeface="Segoe UI" panose="020B0502040204020203" pitchFamily="34" charset="0"/>
                <a:cs typeface="Segoe UI" panose="020B0502040204020203" pitchFamily="34" charset="0"/>
                <a:hlinkClick r:id="rId7"/>
              </a:rPr>
              <a:t>Prepare on-premises machines for migration to Azure.</a:t>
            </a:r>
            <a:endParaRPr kumimoji="0" lang="en-US" sz="800" b="0" i="0" u="none" strike="noStrike" kern="0" cap="none" spc="0" normalizeH="0" baseline="0" noProof="0" dirty="0">
              <a:ln>
                <a:noFill/>
              </a:ln>
              <a:solidFill>
                <a:srgbClr val="0070C0"/>
              </a:solidFill>
              <a:effectLst/>
              <a:uLnTx/>
              <a:uFillTx/>
              <a:latin typeface="Segoe UI" panose="020B0502040204020203" pitchFamily="34" charset="0"/>
              <a:cs typeface="Segoe UI" panose="020B0502040204020203" pitchFamily="34" charset="0"/>
              <a:hlinkClick r:id="rId8">
                <a:extLst>
                  <a:ext uri="{A12FA001-AC4F-418D-AE19-62706E023703}">
                    <ahyp:hlinkClr xmlns:ahyp="http://schemas.microsoft.com/office/drawing/2018/hyperlinkcolor" val="tx"/>
                  </a:ext>
                </a:extLst>
              </a:hlinkClick>
            </a:endParaRP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Dependent apps without code change: </a:t>
            </a:r>
          </a:p>
          <a:p>
            <a:pPr marL="457200" marR="0" lvl="1" indent="-171450" algn="l" defTabSz="914400" rtl="0" eaLnBrk="1" fontAlgn="auto" latinLnBrk="0" hangingPunct="1">
              <a:lnSpc>
                <a:spcPct val="100000"/>
              </a:lnSpc>
              <a:spcBef>
                <a:spcPts val="0"/>
              </a:spcBef>
              <a:spcAft>
                <a:spcPts val="200"/>
              </a:spcAft>
              <a:buClrTx/>
              <a:buSzTx/>
              <a:buFont typeface="Segoe UI" panose="020B0502040204020203"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Lift and shift of dependent applications to Azure VMs or App Service (no refactoring/code change)</a:t>
            </a:r>
          </a:p>
          <a:p>
            <a:pPr lvl="1" indent="-171450">
              <a:spcAft>
                <a:spcPts val="200"/>
              </a:spcAft>
              <a:buFont typeface="Segoe UI" panose="020B0502040204020203"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High Performance Computing (HPC) Clusters – Lift and Shift migration to Azure Native supported.</a:t>
            </a:r>
          </a:p>
          <a:p>
            <a:pPr marL="457200" marR="0" lvl="1" indent="-171450" algn="l" defTabSz="914400" rtl="0" eaLnBrk="1" fontAlgn="auto" latinLnBrk="0" hangingPunct="1">
              <a:lnSpc>
                <a:spcPct val="100000"/>
              </a:lnSpc>
              <a:spcBef>
                <a:spcPts val="0"/>
              </a:spcBef>
              <a:spcAft>
                <a:spcPts val="200"/>
              </a:spcAft>
              <a:buClrTx/>
              <a:buSzTx/>
              <a:buFont typeface="Segoe UI" panose="020B0502040204020203" pitchFamily="34" charset="0"/>
              <a:buChar char="–"/>
              <a:tabLst/>
              <a:defRPr/>
            </a:pPr>
            <a:endPar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FBB93A19-6309-7EDA-9BC8-35DC2F4AD66D}"/>
              </a:ext>
            </a:extLst>
          </p:cNvPr>
          <p:cNvSpPr txBox="1"/>
          <p:nvPr/>
        </p:nvSpPr>
        <p:spPr>
          <a:xfrm>
            <a:off x="933469" y="3585136"/>
            <a:ext cx="4937760" cy="92589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Azure VMWare Solution (AVS)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AVS (Gen1 &amp; Gen2) deployment and HCX setup with VM migrations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Networking: AVS + ExpressRoute scenario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Lift &amp; shift of Windows and Linux images (apps migrated as-is)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Supported Storage: Azure NetApp Files, Elastic SAN (config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Storage Migration: On-premises to AVS | AWS VMC to AVS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AV36 EOS migration to other SKUs in new AVS SDDC (Gen1/Gen2)</a:t>
            </a:r>
          </a:p>
        </p:txBody>
      </p:sp>
      <p:sp>
        <p:nvSpPr>
          <p:cNvPr id="20" name="TextBox 19">
            <a:extLst>
              <a:ext uri="{FF2B5EF4-FFF2-40B4-BE49-F238E27FC236}">
                <a16:creationId xmlns:a16="http://schemas.microsoft.com/office/drawing/2014/main" id="{E50C1857-E596-1247-3C42-099D4BAAB9CC}"/>
              </a:ext>
            </a:extLst>
          </p:cNvPr>
          <p:cNvSpPr txBox="1"/>
          <p:nvPr/>
        </p:nvSpPr>
        <p:spPr>
          <a:xfrm>
            <a:off x="6400371" y="1797634"/>
            <a:ext cx="4937760" cy="2483950"/>
          </a:xfrm>
          <a:prstGeom prst="rect">
            <a:avLst/>
          </a:prstGeom>
          <a:noFill/>
        </p:spPr>
        <p:txBody>
          <a:bodyPr wrap="square" lIns="45720" tIns="18288" rIns="45720" bIns="18288">
            <a:spAutoFit/>
          </a:bodyPr>
          <a:lstStyle/>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On-Prem Upgrade of legacy, unsupported OS versions (e.g., Windows Server 2003, 2008, legacy &amp; end-of-life Linux distributions) to supported versions before migration. </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Provide documented Standard Operating Procedures (SOPs) for any configurations requiring "SOP-based" support</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Perform application and service configuration &amp; regression testing (pre- and post-migration)</a:t>
            </a:r>
          </a:p>
          <a:p>
            <a:pPr marL="171450" indent="-171450">
              <a:lnSpc>
                <a:spcPct val="125000"/>
              </a:lnSpc>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Migration paths not listed in scope 1, for example to Market place solutions</a:t>
            </a:r>
          </a:p>
          <a:p>
            <a:pPr marL="171450" indent="-171450">
              <a:lnSpc>
                <a:spcPct val="125000"/>
              </a:lnSpc>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Third-party tool integrations, advisory services, and consulting beyond migration execution are not included.</a:t>
            </a:r>
          </a:p>
          <a:p>
            <a:pPr marL="171450" indent="-171450">
              <a:lnSpc>
                <a:spcPct val="125000"/>
              </a:lnSpc>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SharePoint, Exchange, Biztalk – migration</a:t>
            </a:r>
          </a:p>
          <a:p>
            <a:pPr marL="171450" indent="-171450">
              <a:lnSpc>
                <a:spcPct val="125000"/>
              </a:lnSpc>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AS400, AIX, Solaris, HP-UX: Azure supports on x86 processor architecture, migration path for these operating systems requires refactoring and are not included.</a:t>
            </a:r>
          </a:p>
          <a:p>
            <a:pPr marL="171450" indent="-171450">
              <a:lnSpc>
                <a:spcPct val="125000"/>
              </a:lnSpc>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Decommission source systems</a:t>
            </a:r>
          </a:p>
          <a:p>
            <a:pPr marL="171450" indent="-171450">
              <a:lnSpc>
                <a:spcPct val="125000"/>
              </a:lnSpc>
              <a:buFont typeface="Arial" panose="020B0604020202020204" pitchFamily="34" charset="0"/>
              <a:buChar char="•"/>
              <a:defRPr/>
            </a:pPr>
            <a:r>
              <a:rPr lang="en-US" sz="800" noProof="0" dirty="0"/>
              <a:t>COTS Application Migration (For example SAP, Oracle Business application)</a:t>
            </a:r>
          </a:p>
          <a:p>
            <a:pPr marL="171450" indent="-171450">
              <a:lnSpc>
                <a:spcPct val="125000"/>
              </a:lnSpc>
              <a:buFont typeface="Arial" panose="020B0604020202020204" pitchFamily="34" charset="0"/>
              <a:buChar char="•"/>
              <a:defRPr/>
            </a:pPr>
            <a:r>
              <a:rPr lang="en-US" sz="800" noProof="0" dirty="0"/>
              <a:t>Any 3rd party - Backup, security, observability defined.</a:t>
            </a:r>
            <a:endParaRPr lang="en-US" sz="800" noProof="0" dirty="0">
              <a:solidFill>
                <a:srgbClr val="000000"/>
              </a:solidFill>
              <a:latin typeface="Segoe UI" panose="020B0502040204020203" pitchFamily="34" charset="0"/>
              <a:cs typeface="Segoe UI" panose="020B0502040204020203" pitchFamily="34" charset="0"/>
            </a:endParaRPr>
          </a:p>
          <a:p>
            <a:pPr marL="171450" indent="-171450">
              <a:lnSpc>
                <a:spcPct val="125000"/>
              </a:lnSpc>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Advisory or consulting services</a:t>
            </a:r>
          </a:p>
          <a:p>
            <a:pPr>
              <a:lnSpc>
                <a:spcPct val="125000"/>
              </a:lnSpc>
              <a:defRPr/>
            </a:pPr>
            <a:endParaRPr lang="en-US" sz="800" noProof="0" dirty="0">
              <a:solidFill>
                <a:srgbClr val="000000"/>
              </a:solidFill>
              <a:latin typeface="Segoe UI" panose="020B0502040204020203" pitchFamily="34" charset="0"/>
              <a:cs typeface="Segoe UI" panose="020B0502040204020203" pitchFamily="34" charset="0"/>
            </a:endParaRPr>
          </a:p>
        </p:txBody>
      </p:sp>
      <p:sp>
        <p:nvSpPr>
          <p:cNvPr id="17" name="TextBox 16">
            <a:extLst>
              <a:ext uri="{FF2B5EF4-FFF2-40B4-BE49-F238E27FC236}">
                <a16:creationId xmlns:a16="http://schemas.microsoft.com/office/drawing/2014/main" id="{0ED8EB5F-8E50-7977-F48C-B10C0BC1A2BF}"/>
              </a:ext>
            </a:extLst>
          </p:cNvPr>
          <p:cNvSpPr txBox="1"/>
          <p:nvPr/>
        </p:nvSpPr>
        <p:spPr>
          <a:xfrm>
            <a:off x="6400371" y="5331609"/>
            <a:ext cx="4937760" cy="1031051"/>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Customer provides network bandwidth sufficient for discovery, replication, and cutover operations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Customer provides timely access to source environments, Azure subscriptions, and necessary credentials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Customer/partner-provided SOPs for SOP-based configuration, environment-specific approvals, acceptance criteria, and rollback/business continuity decisions.</a:t>
            </a:r>
          </a:p>
          <a:p>
            <a:pPr marL="171450" indent="-171450">
              <a:spcAft>
                <a:spcPts val="200"/>
              </a:spcAft>
              <a:buFont typeface="Arial" panose="020B0604020202020204" pitchFamily="34" charset="0"/>
              <a:buChar char="•"/>
              <a:defRPr/>
            </a:pPr>
            <a:r>
              <a:rPr lang="en-US" sz="800" noProof="0" dirty="0">
                <a:solidFill>
                  <a:srgbClr val="000000"/>
                </a:solidFill>
              </a:rPr>
              <a:t>Any third-party integrations or tools are managed and supported by the customer unless explicitly included.</a:t>
            </a:r>
          </a:p>
        </p:txBody>
      </p:sp>
      <p:sp>
        <p:nvSpPr>
          <p:cNvPr id="7" name="TextBox 6">
            <a:extLst>
              <a:ext uri="{FF2B5EF4-FFF2-40B4-BE49-F238E27FC236}">
                <a16:creationId xmlns:a16="http://schemas.microsoft.com/office/drawing/2014/main" id="{A1A9907D-B537-E2C1-3C22-272D3D45FB11}"/>
              </a:ext>
            </a:extLst>
          </p:cNvPr>
          <p:cNvSpPr txBox="1"/>
          <p:nvPr/>
        </p:nvSpPr>
        <p:spPr>
          <a:xfrm>
            <a:off x="933469" y="5520028"/>
            <a:ext cx="4937760" cy="4591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Storage Migration (Only offered with Infra/DB/Apps/AVS migrations):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From </a:t>
            </a:r>
            <a:r>
              <a:rPr kumimoji="0" lang="en-US" sz="800" b="1"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On-prem</a:t>
            </a: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 and </a:t>
            </a:r>
            <a:r>
              <a:rPr kumimoji="0" lang="en-US" sz="800" b="1"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AWS</a:t>
            </a: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 to Azure Storage only via Storage mover tool.</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Supported sources and targets – Refer to this </a:t>
            </a: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hlinkClick r:id="rId9"/>
              </a:rPr>
              <a:t>link</a:t>
            </a:r>
            <a:endPar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endParaRPr>
          </a:p>
        </p:txBody>
      </p:sp>
      <p:cxnSp>
        <p:nvCxnSpPr>
          <p:cNvPr id="29" name="Straight Connector 28">
            <a:extLst>
              <a:ext uri="{FF2B5EF4-FFF2-40B4-BE49-F238E27FC236}">
                <a16:creationId xmlns:a16="http://schemas.microsoft.com/office/drawing/2014/main" id="{90887296-328D-583B-2C02-A29E9B4C34C8}"/>
              </a:ext>
              <a:ext uri="{C183D7F6-B498-43B3-948B-1728B52AA6E4}">
                <adec:decorative xmlns:adec="http://schemas.microsoft.com/office/drawing/2017/decorative" val="1"/>
              </a:ext>
            </a:extLst>
          </p:cNvPr>
          <p:cNvCxnSpPr>
            <a:cxnSpLocks/>
          </p:cNvCxnSpPr>
          <p:nvPr/>
        </p:nvCxnSpPr>
        <p:spPr>
          <a:xfrm>
            <a:off x="962401" y="4589360"/>
            <a:ext cx="4937760"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D38224E-BFC2-B6FE-950A-52E630B468CF}"/>
              </a:ext>
            </a:extLst>
          </p:cNvPr>
          <p:cNvSpPr txBox="1"/>
          <p:nvPr/>
        </p:nvSpPr>
        <p:spPr>
          <a:xfrm>
            <a:off x="933469" y="4651936"/>
            <a:ext cx="4937760" cy="67967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Clean Deployment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Deploy Infrastructure using DevOps IaC leverage Azure Verified Modules (AVM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Migration to Azure PaaS Services (as applicable)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Scenarios: Upgrade of unsupported OS versions (e.g., Windows Server 2003, 2008, end-of-life Linux distributions) - Factory will use the Clean deploy method for Windows/Linux VM deployment in Azure</a:t>
            </a:r>
          </a:p>
        </p:txBody>
      </p:sp>
      <p:cxnSp>
        <p:nvCxnSpPr>
          <p:cNvPr id="32" name="Straight Connector 31">
            <a:extLst>
              <a:ext uri="{FF2B5EF4-FFF2-40B4-BE49-F238E27FC236}">
                <a16:creationId xmlns:a16="http://schemas.microsoft.com/office/drawing/2014/main" id="{E0F4B793-826E-641A-6CC4-6BE29F5F19A8}"/>
              </a:ext>
              <a:ext uri="{C183D7F6-B498-43B3-948B-1728B52AA6E4}">
                <adec:decorative xmlns:adec="http://schemas.microsoft.com/office/drawing/2017/decorative" val="1"/>
              </a:ext>
            </a:extLst>
          </p:cNvPr>
          <p:cNvCxnSpPr>
            <a:cxnSpLocks/>
          </p:cNvCxnSpPr>
          <p:nvPr/>
        </p:nvCxnSpPr>
        <p:spPr>
          <a:xfrm>
            <a:off x="962400" y="5400270"/>
            <a:ext cx="4937760"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24D569B-EAD2-7C3B-516C-CCB89AA97AA3}"/>
              </a:ext>
            </a:extLst>
          </p:cNvPr>
          <p:cNvSpPr txBox="1"/>
          <p:nvPr/>
        </p:nvSpPr>
        <p:spPr>
          <a:xfrm>
            <a:off x="933469" y="6037394"/>
            <a:ext cx="4937760" cy="67967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050" b="1" kern="0" noProof="0" dirty="0">
                <a:solidFill>
                  <a:srgbClr val="000000"/>
                </a:solidFill>
                <a:latin typeface="Segoe UI" panose="020B0502040204020203" pitchFamily="34" charset="0"/>
                <a:cs typeface="Segoe UI" panose="020B0502040204020203" pitchFamily="34" charset="0"/>
              </a:rPr>
              <a:t>Readiness Support</a:t>
            </a:r>
            <a:endParaRPr kumimoji="0" lang="en-US" sz="1050" b="1"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Azure Landing Zone validation and deployment.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Disaster recovery setup,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Backups, Monitoring and alerts in Azure (post-migration).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endParaRPr>
          </a:p>
        </p:txBody>
      </p:sp>
      <p:sp>
        <p:nvSpPr>
          <p:cNvPr id="34" name="Oval 33">
            <a:extLst>
              <a:ext uri="{FF2B5EF4-FFF2-40B4-BE49-F238E27FC236}">
                <a16:creationId xmlns:a16="http://schemas.microsoft.com/office/drawing/2014/main" id="{69E4CD6F-2232-78E4-B78E-157C7157B22C}"/>
              </a:ext>
            </a:extLst>
          </p:cNvPr>
          <p:cNvSpPr/>
          <p:nvPr/>
        </p:nvSpPr>
        <p:spPr bwMode="auto">
          <a:xfrm>
            <a:off x="700411" y="18229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7" name="Oval 36">
            <a:extLst>
              <a:ext uri="{FF2B5EF4-FFF2-40B4-BE49-F238E27FC236}">
                <a16:creationId xmlns:a16="http://schemas.microsoft.com/office/drawing/2014/main" id="{3FD7611F-0581-B6EC-43A3-78C7DFCB6713}"/>
              </a:ext>
            </a:extLst>
          </p:cNvPr>
          <p:cNvSpPr/>
          <p:nvPr/>
        </p:nvSpPr>
        <p:spPr bwMode="auto">
          <a:xfrm>
            <a:off x="700750" y="359838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0" name="Oval 39">
            <a:extLst>
              <a:ext uri="{FF2B5EF4-FFF2-40B4-BE49-F238E27FC236}">
                <a16:creationId xmlns:a16="http://schemas.microsoft.com/office/drawing/2014/main" id="{465E9D82-6A7F-F510-54EC-4CF037CB888F}"/>
              </a:ext>
            </a:extLst>
          </p:cNvPr>
          <p:cNvSpPr/>
          <p:nvPr/>
        </p:nvSpPr>
        <p:spPr bwMode="auto">
          <a:xfrm>
            <a:off x="700750" y="465193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1" name="Oval 40">
            <a:extLst>
              <a:ext uri="{FF2B5EF4-FFF2-40B4-BE49-F238E27FC236}">
                <a16:creationId xmlns:a16="http://schemas.microsoft.com/office/drawing/2014/main" id="{2448AE9D-EF02-4ABA-1355-98E0FB6871CB}"/>
              </a:ext>
            </a:extLst>
          </p:cNvPr>
          <p:cNvSpPr/>
          <p:nvPr/>
        </p:nvSpPr>
        <p:spPr bwMode="auto">
          <a:xfrm>
            <a:off x="700411" y="553885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2" name="Oval 41">
            <a:extLst>
              <a:ext uri="{FF2B5EF4-FFF2-40B4-BE49-F238E27FC236}">
                <a16:creationId xmlns:a16="http://schemas.microsoft.com/office/drawing/2014/main" id="{8A217E46-74CF-DF38-A4B9-1BA151FB4A25}"/>
              </a:ext>
            </a:extLst>
          </p:cNvPr>
          <p:cNvSpPr/>
          <p:nvPr/>
        </p:nvSpPr>
        <p:spPr bwMode="auto">
          <a:xfrm>
            <a:off x="700411" y="603739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Rounded Rectangle 22">
            <a:extLst>
              <a:ext uri="{FF2B5EF4-FFF2-40B4-BE49-F238E27FC236}">
                <a16:creationId xmlns:a16="http://schemas.microsoft.com/office/drawing/2014/main" id="{57868C13-A696-21CC-D2EB-E7A54D3693CE}"/>
              </a:ext>
              <a:ext uri="{C183D7F6-B498-43B3-948B-1728B52AA6E4}">
                <adec:decorative xmlns:adec="http://schemas.microsoft.com/office/drawing/2017/decorative" val="1"/>
              </a:ext>
            </a:extLst>
          </p:cNvPr>
          <p:cNvSpPr>
            <a:spLocks/>
          </p:cNvSpPr>
          <p:nvPr/>
        </p:nvSpPr>
        <p:spPr bwMode="auto">
          <a:xfrm>
            <a:off x="6203985" y="4683285"/>
            <a:ext cx="5483813" cy="1929951"/>
          </a:xfrm>
          <a:prstGeom prst="roundRect">
            <a:avLst>
              <a:gd name="adj" fmla="val 1037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6" name="TextBox 5">
            <a:extLst>
              <a:ext uri="{FF2B5EF4-FFF2-40B4-BE49-F238E27FC236}">
                <a16:creationId xmlns:a16="http://schemas.microsoft.com/office/drawing/2014/main" id="{DDAC5CC1-473B-04BF-E832-3537811575FB}"/>
              </a:ext>
            </a:extLst>
          </p:cNvPr>
          <p:cNvSpPr txBox="1">
            <a:spLocks/>
          </p:cNvSpPr>
          <p:nvPr/>
        </p:nvSpPr>
        <p:spPr>
          <a:xfrm>
            <a:off x="6319865" y="4767811"/>
            <a:ext cx="5311279"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a:t>
            </a:r>
          </a:p>
        </p:txBody>
      </p:sp>
      <p:sp>
        <p:nvSpPr>
          <p:cNvPr id="5" name="TextBox 4">
            <a:extLst>
              <a:ext uri="{FF2B5EF4-FFF2-40B4-BE49-F238E27FC236}">
                <a16:creationId xmlns:a16="http://schemas.microsoft.com/office/drawing/2014/main" id="{5B688455-E439-16D4-AEAC-7DB3F0BAC28E}"/>
              </a:ext>
            </a:extLst>
          </p:cNvPr>
          <p:cNvSpPr txBox="1"/>
          <p:nvPr/>
        </p:nvSpPr>
        <p:spPr>
          <a:xfrm>
            <a:off x="6263211" y="1633917"/>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8" name="TextBox 7">
            <a:extLst>
              <a:ext uri="{FF2B5EF4-FFF2-40B4-BE49-F238E27FC236}">
                <a16:creationId xmlns:a16="http://schemas.microsoft.com/office/drawing/2014/main" id="{4467C48A-B13E-7E14-C6FC-9367E2DF1F1D}"/>
              </a:ext>
            </a:extLst>
          </p:cNvPr>
          <p:cNvSpPr txBox="1"/>
          <p:nvPr/>
        </p:nvSpPr>
        <p:spPr>
          <a:xfrm>
            <a:off x="212178" y="6680031"/>
            <a:ext cx="12101208" cy="230832"/>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a:p>
            <a:r>
              <a:rPr lang="en-US" sz="750" noProof="0" dirty="0"/>
              <a:t> </a:t>
            </a:r>
          </a:p>
        </p:txBody>
      </p:sp>
      <p:sp>
        <p:nvSpPr>
          <p:cNvPr id="2" name="TextBox 1">
            <a:extLst>
              <a:ext uri="{FF2B5EF4-FFF2-40B4-BE49-F238E27FC236}">
                <a16:creationId xmlns:a16="http://schemas.microsoft.com/office/drawing/2014/main" id="{3BAED6DA-B778-D271-F65D-04F9C4D76A10}"/>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1971553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1D25-C7CC-A76A-668C-D6ECDAC7F4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EFFC039-92F0-EA5A-B345-70B1BDD13025}"/>
              </a:ext>
            </a:extLst>
          </p:cNvPr>
          <p:cNvSpPr>
            <a:spLocks noGrp="1"/>
          </p:cNvSpPr>
          <p:nvPr>
            <p:ph type="title" idx="4294967295"/>
          </p:nvPr>
        </p:nvSpPr>
        <p:spPr>
          <a:xfrm>
            <a:off x="405615" y="262679"/>
            <a:ext cx="11017250" cy="707886"/>
          </a:xfrm>
        </p:spPr>
        <p:txBody>
          <a:bodyPr/>
          <a:lstStyle/>
          <a:p>
            <a:r>
              <a:rPr lang="en-US" sz="2800" spc="-150" noProof="0" dirty="0"/>
              <a:t>Key Deliverables</a:t>
            </a:r>
            <a:br>
              <a:rPr lang="en-US" sz="2400" noProof="0" dirty="0">
                <a:solidFill>
                  <a:schemeClr val="tx2"/>
                </a:solidFill>
                <a:cs typeface="Segoe UI"/>
              </a:rPr>
            </a:br>
            <a:r>
              <a:rPr lang="en-US" sz="1800" b="1" noProof="0" dirty="0">
                <a:solidFill>
                  <a:schemeClr val="tx1"/>
                </a:solidFill>
                <a:cs typeface="+mn-cs"/>
              </a:rPr>
              <a:t>Infrastructure and Database Migration (Windows and Linux)</a:t>
            </a:r>
          </a:p>
        </p:txBody>
      </p:sp>
      <p:sp>
        <p:nvSpPr>
          <p:cNvPr id="21" name="Rectangle: Rounded Corners 20">
            <a:extLst>
              <a:ext uri="{FF2B5EF4-FFF2-40B4-BE49-F238E27FC236}">
                <a16:creationId xmlns:a16="http://schemas.microsoft.com/office/drawing/2014/main" id="{56F5950B-6393-376C-6EBC-565B39B8D3DE}"/>
              </a:ext>
              <a:ext uri="{C183D7F6-B498-43B3-948B-1728B52AA6E4}">
                <adec:decorative xmlns:adec="http://schemas.microsoft.com/office/drawing/2017/decorative" val="0"/>
              </a:ext>
            </a:extLst>
          </p:cNvPr>
          <p:cNvSpPr/>
          <p:nvPr/>
        </p:nvSpPr>
        <p:spPr bwMode="auto">
          <a:xfrm>
            <a:off x="377550" y="1554422"/>
            <a:ext cx="2751709" cy="4709179"/>
          </a:xfrm>
          <a:prstGeom prst="roundRect">
            <a:avLst>
              <a:gd name="adj" fmla="val 6751"/>
            </a:avLst>
          </a:prstGeom>
          <a:ln w="9525">
            <a:solidFill>
              <a:schemeClr val="bg1">
                <a:lumMod val="85000"/>
              </a:schemeClr>
            </a:solidFill>
          </a:ln>
        </p:spPr>
        <p:style>
          <a:lnRef idx="2">
            <a:schemeClr val="dk1"/>
          </a:lnRef>
          <a:fillRef idx="1">
            <a:schemeClr val="lt1"/>
          </a:fillRef>
          <a:effectRef idx="0">
            <a:schemeClr val="dk1"/>
          </a:effectRef>
          <a:fontRef idx="minor">
            <a:schemeClr val="dk1"/>
          </a:fontRef>
        </p:style>
        <p:txBody>
          <a:bodyPr wrap="square" lIns="91440" tIns="457200" rIns="91440" bIns="146304" rtlCol="0" anchor="t" anchorCtr="0">
            <a:noAutofit/>
          </a:bodyPr>
          <a:lstStyle/>
          <a:p>
            <a:pPr marL="228600">
              <a:spcAft>
                <a:spcPts val="600"/>
              </a:spcAft>
              <a:defRPr/>
            </a:pPr>
            <a:r>
              <a:rPr lang="en-US" sz="1050" noProof="0" dirty="0">
                <a:solidFill>
                  <a:schemeClr val="tx1"/>
                </a:solidFill>
              </a:rPr>
              <a:t>ALZ: Enterprise-Scale Platform LZ | Management Groups | Policies | Defender | Sentinel | DDoS</a:t>
            </a:r>
            <a:endParaRPr lang="en-US" sz="1050" noProof="0" dirty="0">
              <a:solidFill>
                <a:srgbClr val="000000"/>
              </a:solidFill>
            </a:endParaRPr>
          </a:p>
          <a:p>
            <a:pPr marL="228600" lvl="0">
              <a:spcAft>
                <a:spcPts val="600"/>
              </a:spcAft>
              <a:defRPr/>
            </a:pPr>
            <a:endParaRPr lang="en-US" sz="1050" noProof="0" dirty="0">
              <a:solidFill>
                <a:schemeClr val="tx1"/>
              </a:solidFill>
            </a:endParaRPr>
          </a:p>
          <a:p>
            <a:pPr marL="228600" lvl="0">
              <a:spcAft>
                <a:spcPts val="600"/>
              </a:spcAft>
              <a:defRPr/>
            </a:pPr>
            <a:r>
              <a:rPr lang="en-US" sz="1050" noProof="0" dirty="0">
                <a:solidFill>
                  <a:schemeClr val="tx1"/>
                </a:solidFill>
              </a:rPr>
              <a:t>AVS: Enterprise Scale Landing Zone | AVS Deployment | VMware HCX Setup | Workload Migration</a:t>
            </a:r>
          </a:p>
          <a:p>
            <a:pPr marL="228600" lvl="0">
              <a:spcAft>
                <a:spcPts val="600"/>
              </a:spcAft>
              <a:defRPr/>
            </a:pPr>
            <a:endParaRPr lang="en-US" sz="1050" noProof="0" dirty="0">
              <a:solidFill>
                <a:schemeClr val="tx1"/>
              </a:solidFill>
            </a:endParaRPr>
          </a:p>
          <a:p>
            <a:pPr marL="228600" lvl="0">
              <a:spcAft>
                <a:spcPts val="600"/>
              </a:spcAft>
              <a:defRPr/>
            </a:pPr>
            <a:r>
              <a:rPr lang="en-US" sz="1050" noProof="0" dirty="0">
                <a:solidFill>
                  <a:schemeClr val="tx1"/>
                </a:solidFill>
              </a:rPr>
              <a:t>Infrastructure: Azure Discovery &amp; Assessment | Azure DNS | VPN Gateway | </a:t>
            </a:r>
            <a:r>
              <a:rPr kumimoji="0" lang="en-US" sz="1050" b="0" i="0" u="none" strike="noStrike" kern="1200" cap="none" spc="0" normalizeH="0" baseline="0" noProof="0" dirty="0">
                <a:ln>
                  <a:noFill/>
                </a:ln>
                <a:solidFill>
                  <a:srgbClr val="000000"/>
                </a:solidFill>
                <a:effectLst/>
                <a:uLnTx/>
                <a:uFillTx/>
                <a:ea typeface="+mn-ea"/>
                <a:cs typeface="+mn-cs"/>
              </a:rPr>
              <a:t>On-premises/AVS to Azure VMs | Third-party Cloud IaaS &amp; Physical to Azure VMs</a:t>
            </a:r>
          </a:p>
          <a:p>
            <a:pPr marL="228600" lvl="0">
              <a:spcAft>
                <a:spcPts val="600"/>
              </a:spcAft>
              <a:defRPr/>
            </a:pPr>
            <a:endParaRPr kumimoji="0" lang="en-US" sz="1050" b="0" i="0" u="none" strike="noStrike" kern="1200" cap="none" spc="0" normalizeH="0" baseline="0" noProof="0" dirty="0">
              <a:ln>
                <a:noFill/>
              </a:ln>
              <a:solidFill>
                <a:srgbClr val="000000"/>
              </a:solidFill>
              <a:effectLst/>
              <a:uLnTx/>
              <a:uFillTx/>
              <a:ea typeface="+mn-ea"/>
              <a:cs typeface="+mn-cs"/>
            </a:endParaRPr>
          </a:p>
          <a:p>
            <a:pPr marL="228600" lvl="0">
              <a:spcAft>
                <a:spcPts val="600"/>
              </a:spcAft>
              <a:defRPr/>
            </a:pPr>
            <a:r>
              <a:rPr kumimoji="0" lang="en-US" sz="1050" b="0" i="0" u="none" strike="noStrike" kern="1200" cap="none" spc="0" normalizeH="0" baseline="0" noProof="0" dirty="0">
                <a:ln>
                  <a:noFill/>
                </a:ln>
                <a:solidFill>
                  <a:srgbClr val="000000"/>
                </a:solidFill>
                <a:effectLst/>
                <a:uLnTx/>
                <a:uFillTx/>
                <a:ea typeface="+mn-ea"/>
                <a:cs typeface="+mn-cs"/>
              </a:rPr>
              <a:t>Database assessments (for all in-scope databases to be migrated)</a:t>
            </a:r>
          </a:p>
          <a:p>
            <a:pPr marL="228600" lvl="0">
              <a:spcAft>
                <a:spcPts val="600"/>
              </a:spcAft>
              <a:defRPr/>
            </a:pPr>
            <a:endParaRPr kumimoji="0" lang="en-US" sz="1050" b="0" i="0" u="none" strike="noStrike" kern="1200" cap="none" spc="0" normalizeH="0" baseline="0" noProof="0" dirty="0">
              <a:ln>
                <a:noFill/>
              </a:ln>
              <a:solidFill>
                <a:srgbClr val="000000"/>
              </a:solidFill>
              <a:effectLst/>
              <a:uLnTx/>
              <a:uFillTx/>
              <a:ea typeface="+mn-ea"/>
              <a:cs typeface="+mn-cs"/>
            </a:endParaRPr>
          </a:p>
          <a:p>
            <a:pPr marL="228600" lvl="0">
              <a:spcAft>
                <a:spcPts val="600"/>
              </a:spcAft>
              <a:defRPr/>
            </a:pPr>
            <a:r>
              <a:rPr lang="en-US" sz="1050" noProof="0" dirty="0">
                <a:solidFill>
                  <a:srgbClr val="000000"/>
                </a:solidFill>
              </a:rPr>
              <a:t>Infrastructure and Database Migration &amp; Modernization</a:t>
            </a:r>
            <a:endParaRPr kumimoji="0" lang="en-US" sz="1050" b="0" i="0" u="none" strike="noStrike" kern="1200" cap="none" spc="0" normalizeH="0" baseline="0" noProof="0" dirty="0">
              <a:ln>
                <a:noFill/>
              </a:ln>
              <a:solidFill>
                <a:srgbClr val="000000"/>
              </a:solidFill>
              <a:effectLst/>
              <a:uLnTx/>
              <a:uFillTx/>
              <a:ea typeface="+mn-ea"/>
              <a:cs typeface="+mn-cs"/>
            </a:endParaRPr>
          </a:p>
        </p:txBody>
      </p:sp>
      <p:sp>
        <p:nvSpPr>
          <p:cNvPr id="22" name="TextBox 21">
            <a:extLst>
              <a:ext uri="{FF2B5EF4-FFF2-40B4-BE49-F238E27FC236}">
                <a16:creationId xmlns:a16="http://schemas.microsoft.com/office/drawing/2014/main" id="{A966F791-9B4F-B3D4-058E-CFF2B77DAFF5}"/>
              </a:ext>
              <a:ext uri="{C183D7F6-B498-43B3-948B-1728B52AA6E4}">
                <adec:decorative xmlns:adec="http://schemas.microsoft.com/office/drawing/2017/decorative" val="1"/>
              </a:ext>
            </a:extLst>
          </p:cNvPr>
          <p:cNvSpPr txBox="1"/>
          <p:nvPr/>
        </p:nvSpPr>
        <p:spPr>
          <a:xfrm>
            <a:off x="415075" y="1635963"/>
            <a:ext cx="2676657"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5" name="TextBox 9">
            <a:extLst>
              <a:ext uri="{FF2B5EF4-FFF2-40B4-BE49-F238E27FC236}">
                <a16:creationId xmlns:a16="http://schemas.microsoft.com/office/drawing/2014/main" id="{55D8E677-D084-5E3D-9861-0B4D9C3FB45A}"/>
              </a:ext>
            </a:extLst>
          </p:cNvPr>
          <p:cNvSpPr txBox="1"/>
          <p:nvPr/>
        </p:nvSpPr>
        <p:spPr>
          <a:xfrm>
            <a:off x="3364753" y="1742175"/>
            <a:ext cx="7523741" cy="4572000"/>
          </a:xfrm>
          <a:prstGeom prst="rect">
            <a:avLst/>
          </a:prstGeom>
          <a:noFill/>
        </p:spPr>
        <p:txBody>
          <a:bodyPr wrap="square" lIns="182880" tIns="91440" rIns="182880" bIns="4572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marR="0" lvl="1" indent="-2317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On-premises / AVS to Azure VMs:</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Migration VMWare/Hyper-V workloads as-is using Azure Migrate appliance (one dedicated server required) </a:t>
            </a:r>
          </a:p>
          <a:p>
            <a:pPr marL="225425" marR="0" lvl="1" indent="-225425"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Third-party cloud IaaS and physical to Azure VMs </a:t>
            </a:r>
            <a:endParaRPr kumimoji="0" lang="en-US" sz="1000" b="0" i="0" u="none" strike="noStrike" kern="0" cap="none" spc="0" normalizeH="0" baseline="0" noProof="0" dirty="0">
              <a:ln>
                <a:noFill/>
              </a:ln>
              <a:solidFill>
                <a:srgbClr val="0078D4"/>
              </a:solidFill>
              <a:effectLst/>
              <a:uLnTx/>
              <a:uFillTx/>
              <a:latin typeface="Segoe Sans Text Semibold"/>
              <a:ea typeface="+mn-ea"/>
              <a:cs typeface="+mn-cs"/>
            </a:endParaRP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Migration of IaaS workloads and physical (Windows and Linux) as-is using Azure Migrate appliance (two dedicated servers required)</a:t>
            </a:r>
          </a:p>
          <a:p>
            <a:pPr marL="225425" marR="0" lvl="1" indent="-225425" algn="l" defTabSz="914400" rtl="0" eaLnBrk="1" fontAlgn="auto" latinLnBrk="0" hangingPunct="1">
              <a:lnSpc>
                <a:spcPct val="100000"/>
              </a:lnSpc>
              <a:spcBef>
                <a:spcPts val="0"/>
              </a:spcBef>
              <a:spcAft>
                <a:spcPts val="0"/>
              </a:spcAft>
              <a:buClrTx/>
              <a:buSzTx/>
              <a:buFont typeface="+mj-lt"/>
              <a:buAutoNum type="arabicPeriod" startAt="3"/>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Azure Landing Zone</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Enterprise scale platform Landing Zone deployment</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Validation of existing Landing Zone</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Recommended Azure policies | Scalable Management Group hierarchy</a:t>
            </a:r>
          </a:p>
          <a:p>
            <a:pPr marL="225425" marR="0" lvl="1" indent="-225425"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Azure discovery and assessment</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Assesses whether on-premises servers, SQL Servers, and web apps are ready for migration to Azure.</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Estimates the size of Azure VMs/Azure SQL configuration/number of Azure VMware Solution nodes </a:t>
            </a:r>
            <a:br>
              <a:rPr kumimoji="0" lang="en-US" sz="900" b="0" i="0" u="none" strike="noStrike" kern="0" cap="none" spc="0" normalizeH="0" baseline="0" noProof="0" dirty="0">
                <a:ln>
                  <a:noFill/>
                </a:ln>
                <a:solidFill>
                  <a:prstClr val="black"/>
                </a:solidFill>
                <a:effectLst/>
                <a:uLnTx/>
                <a:uFillTx/>
                <a:latin typeface="Segoe Sans Text"/>
                <a:ea typeface="+mn-ea"/>
                <a:cs typeface="+mn-cs"/>
              </a:rPr>
            </a:br>
            <a:r>
              <a:rPr kumimoji="0" lang="en-US" sz="900" b="0" i="0" u="none" strike="noStrike" kern="0" cap="none" spc="0" normalizeH="0" baseline="0" noProof="0" dirty="0">
                <a:ln>
                  <a:noFill/>
                </a:ln>
                <a:solidFill>
                  <a:prstClr val="black"/>
                </a:solidFill>
                <a:effectLst/>
                <a:uLnTx/>
                <a:uFillTx/>
                <a:latin typeface="Segoe Sans Text"/>
                <a:ea typeface="+mn-ea"/>
                <a:cs typeface="+mn-cs"/>
              </a:rPr>
              <a:t>after migration</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Validate connectivity setup (internet, site-to-site) and bandwidth availability</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Provide screen share guidance on Azure Migrate Appliance setup and execution</a:t>
            </a:r>
          </a:p>
          <a:p>
            <a:pPr marL="225425" marR="0" lvl="1" indent="-225425"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Azure VMWare Solutions:</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Create AVS private cloud using AVS Landing Zone Accelerator</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Connect to new Azure VNet | Deploy Azure Bastion and Windows 10 jump box  </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Connect on-premises data center to AVS via ExpressRoute and Global Reach</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Migration Setup with VMware HCX  Deploy and configure HCX Manager on AVS and HCX connector on-premises  </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Add site pairing | Create network and compute profiles  </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Create service mesh and network extension | Perform test migration</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Workload Migration to AVS using VMware HCX  Migration of VMware VMs from on-premises data center to AVS</a:t>
            </a:r>
          </a:p>
          <a:p>
            <a:pPr marL="225425" marR="0" lvl="1" indent="-225425"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Infrastructure Workloads (Windows/Linux Migrations)</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On-premises / AVS to Azure VMs  </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Migration of VMware/Hyper-V workloads as-is using Azure Migrate appliance (1 dedicated server)</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Third-party Cloud IaaS and Physical to Azure VMs  </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Migration of IaaS workloads and physical (Windows/Linux) using Azure Migrate appliance (2 servers)</a:t>
            </a:r>
          </a:p>
          <a:p>
            <a:pPr marL="225425" lvl="1" indent="-225425">
              <a:buFont typeface="+mj-lt"/>
              <a:buAutoNum type="arabicPeriod" startAt="6"/>
              <a:defRPr/>
            </a:pPr>
            <a:r>
              <a:rPr lang="en-US" sz="1000" b="1" kern="0" noProof="0" dirty="0">
                <a:solidFill>
                  <a:srgbClr val="0078D4"/>
                </a:solidFill>
                <a:latin typeface="Segoe Sans Text Semibold"/>
              </a:rPr>
              <a:t>Database Workloads (SQL Server,  Azure DocumentDB, Cassandra, MongoDB, PostgreSQL, MySQL, MariaDB )</a:t>
            </a:r>
          </a:p>
          <a:p>
            <a:pPr marL="463550" lvl="1" indent="-174625">
              <a:buFont typeface="Arial" panose="020B0604020202020204" pitchFamily="34" charset="0"/>
              <a:buChar char="•"/>
              <a:defRPr/>
            </a:pPr>
            <a:r>
              <a:rPr lang="en-US" sz="900" kern="0" noProof="0" dirty="0">
                <a:solidFill>
                  <a:prstClr val="black"/>
                </a:solidFill>
              </a:rPr>
              <a:t>On-premises Databases to Azure IaaS / PaaS</a:t>
            </a:r>
          </a:p>
          <a:p>
            <a:pPr marL="463550" lvl="1" indent="-174625">
              <a:buFont typeface="Arial" panose="020B0604020202020204" pitchFamily="34" charset="0"/>
              <a:buChar char="•"/>
              <a:defRPr/>
            </a:pPr>
            <a:r>
              <a:rPr lang="en-US" sz="900" kern="0" noProof="0" dirty="0">
                <a:solidFill>
                  <a:prstClr val="black"/>
                </a:solidFill>
              </a:rPr>
              <a:t>Assessment performed through either AZ Visual Studio Code or AZ Migrate appliance or Scripts or Database Migration Service.</a:t>
            </a:r>
          </a:p>
        </p:txBody>
      </p:sp>
      <p:sp>
        <p:nvSpPr>
          <p:cNvPr id="18" name="Oval 17">
            <a:extLst>
              <a:ext uri="{FF2B5EF4-FFF2-40B4-BE49-F238E27FC236}">
                <a16:creationId xmlns:a16="http://schemas.microsoft.com/office/drawing/2014/main" id="{EB8F12FB-A1C5-3938-3771-D0F48C99E843}"/>
              </a:ext>
            </a:extLst>
          </p:cNvPr>
          <p:cNvSpPr/>
          <p:nvPr/>
        </p:nvSpPr>
        <p:spPr bwMode="auto">
          <a:xfrm>
            <a:off x="508422" y="3626662"/>
            <a:ext cx="137160" cy="137160"/>
          </a:xfrm>
          <a:prstGeom prst="ellipse">
            <a:avLst/>
          </a:prstGeom>
          <a:solidFill>
            <a:srgbClr val="FFFFFF"/>
          </a:solidFill>
          <a:ln w="19050">
            <a:gradFill flip="none" rotWithShape="1">
              <a:gsLst>
                <a:gs pos="0">
                  <a:srgbClr val="0078D4">
                    <a:lumMod val="100000"/>
                  </a:srgbClr>
                </a:gs>
                <a:gs pos="71000">
                  <a:srgbClr val="8661C5"/>
                </a:gs>
                <a:gs pos="100000">
                  <a:srgbClr val="C03BC4"/>
                </a:gs>
              </a:gsLst>
              <a:path path="circle">
                <a:fillToRect r="100000" b="100000"/>
              </a:path>
              <a:tileRect l="-100000" t="-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defTabSz="932742"/>
            <a:endParaRPr lang="en-US" sz="1200" noProof="0" dirty="0">
              <a:solidFill>
                <a:schemeClr val="tx1"/>
              </a:solidFill>
              <a:latin typeface="+mj-lt"/>
            </a:endParaRPr>
          </a:p>
        </p:txBody>
      </p:sp>
      <p:sp>
        <p:nvSpPr>
          <p:cNvPr id="20" name="Oval 19">
            <a:extLst>
              <a:ext uri="{FF2B5EF4-FFF2-40B4-BE49-F238E27FC236}">
                <a16:creationId xmlns:a16="http://schemas.microsoft.com/office/drawing/2014/main" id="{59B554DD-3F82-CCBC-8638-6986EA298912}"/>
              </a:ext>
            </a:extLst>
          </p:cNvPr>
          <p:cNvSpPr/>
          <p:nvPr/>
        </p:nvSpPr>
        <p:spPr bwMode="auto">
          <a:xfrm>
            <a:off x="508422" y="5331806"/>
            <a:ext cx="137160" cy="137160"/>
          </a:xfrm>
          <a:prstGeom prst="ellipse">
            <a:avLst/>
          </a:prstGeom>
          <a:solidFill>
            <a:srgbClr val="FFFFFF"/>
          </a:solidFill>
          <a:ln w="19050">
            <a:gradFill flip="none" rotWithShape="1">
              <a:gsLst>
                <a:gs pos="0">
                  <a:srgbClr val="0078D4">
                    <a:lumMod val="100000"/>
                  </a:srgbClr>
                </a:gs>
                <a:gs pos="71000">
                  <a:srgbClr val="8661C5"/>
                </a:gs>
                <a:gs pos="100000">
                  <a:srgbClr val="C03BC4"/>
                </a:gs>
              </a:gsLst>
              <a:path path="circle">
                <a:fillToRect r="100000" b="100000"/>
              </a:path>
              <a:tileRect l="-100000" t="-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defTabSz="932742"/>
            <a:endParaRPr lang="en-US" sz="1200" noProof="0" dirty="0">
              <a:solidFill>
                <a:schemeClr val="tx1"/>
              </a:solidFill>
              <a:latin typeface="+mj-lt"/>
            </a:endParaRPr>
          </a:p>
        </p:txBody>
      </p:sp>
      <p:sp>
        <p:nvSpPr>
          <p:cNvPr id="8" name="Graphic 23">
            <a:extLst>
              <a:ext uri="{FF2B5EF4-FFF2-40B4-BE49-F238E27FC236}">
                <a16:creationId xmlns:a16="http://schemas.microsoft.com/office/drawing/2014/main" id="{EFCDA556-C3C8-6F84-7EBE-08990797546D}"/>
              </a:ext>
              <a:ext uri="{C183D7F6-B498-43B3-948B-1728B52AA6E4}">
                <adec:decorative xmlns:adec="http://schemas.microsoft.com/office/drawing/2017/decorative" val="1"/>
              </a:ext>
            </a:extLst>
          </p:cNvPr>
          <p:cNvSpPr/>
          <p:nvPr/>
        </p:nvSpPr>
        <p:spPr>
          <a:xfrm>
            <a:off x="481752" y="2041113"/>
            <a:ext cx="190500" cy="19050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Graphic 23">
            <a:extLst>
              <a:ext uri="{FF2B5EF4-FFF2-40B4-BE49-F238E27FC236}">
                <a16:creationId xmlns:a16="http://schemas.microsoft.com/office/drawing/2014/main" id="{D40CA31E-E4BB-AFA4-1431-78285A39FA4A}"/>
              </a:ext>
              <a:ext uri="{C183D7F6-B498-43B3-948B-1728B52AA6E4}">
                <adec:decorative xmlns:adec="http://schemas.microsoft.com/office/drawing/2017/decorative" val="1"/>
              </a:ext>
            </a:extLst>
          </p:cNvPr>
          <p:cNvSpPr/>
          <p:nvPr/>
        </p:nvSpPr>
        <p:spPr>
          <a:xfrm>
            <a:off x="484607" y="2816808"/>
            <a:ext cx="190500" cy="19050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Graphic 23">
            <a:extLst>
              <a:ext uri="{FF2B5EF4-FFF2-40B4-BE49-F238E27FC236}">
                <a16:creationId xmlns:a16="http://schemas.microsoft.com/office/drawing/2014/main" id="{8351C9BC-3A9E-5E5C-DC27-759F8B3CD1B3}"/>
              </a:ext>
              <a:ext uri="{C183D7F6-B498-43B3-948B-1728B52AA6E4}">
                <adec:decorative xmlns:adec="http://schemas.microsoft.com/office/drawing/2017/decorative" val="1"/>
              </a:ext>
            </a:extLst>
          </p:cNvPr>
          <p:cNvSpPr/>
          <p:nvPr/>
        </p:nvSpPr>
        <p:spPr>
          <a:xfrm>
            <a:off x="481752" y="3599992"/>
            <a:ext cx="190500" cy="19050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Graphic 23">
            <a:extLst>
              <a:ext uri="{FF2B5EF4-FFF2-40B4-BE49-F238E27FC236}">
                <a16:creationId xmlns:a16="http://schemas.microsoft.com/office/drawing/2014/main" id="{A5B8A83A-1D39-D2A2-EE44-F15D1A27893F}"/>
              </a:ext>
              <a:ext uri="{C183D7F6-B498-43B3-948B-1728B52AA6E4}">
                <adec:decorative xmlns:adec="http://schemas.microsoft.com/office/drawing/2017/decorative" val="1"/>
              </a:ext>
            </a:extLst>
          </p:cNvPr>
          <p:cNvSpPr/>
          <p:nvPr/>
        </p:nvSpPr>
        <p:spPr>
          <a:xfrm>
            <a:off x="481752" y="4704235"/>
            <a:ext cx="190500" cy="19050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3" name="Graphic 23">
            <a:extLst>
              <a:ext uri="{FF2B5EF4-FFF2-40B4-BE49-F238E27FC236}">
                <a16:creationId xmlns:a16="http://schemas.microsoft.com/office/drawing/2014/main" id="{48273903-B06D-9991-0785-FE190834A80F}"/>
              </a:ext>
              <a:ext uri="{C183D7F6-B498-43B3-948B-1728B52AA6E4}">
                <adec:decorative xmlns:adec="http://schemas.microsoft.com/office/drawing/2017/decorative" val="1"/>
              </a:ext>
            </a:extLst>
          </p:cNvPr>
          <p:cNvSpPr/>
          <p:nvPr/>
        </p:nvSpPr>
        <p:spPr>
          <a:xfrm>
            <a:off x="481752" y="5331806"/>
            <a:ext cx="190500" cy="19050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24" name="Group 23">
            <a:extLst>
              <a:ext uri="{FF2B5EF4-FFF2-40B4-BE49-F238E27FC236}">
                <a16:creationId xmlns:a16="http://schemas.microsoft.com/office/drawing/2014/main" id="{0BF2FA47-151E-4D72-2596-F8B7C2B29187}"/>
              </a:ext>
              <a:ext uri="{C183D7F6-B498-43B3-948B-1728B52AA6E4}">
                <adec:decorative xmlns:adec="http://schemas.microsoft.com/office/drawing/2017/decorative" val="1"/>
              </a:ext>
            </a:extLst>
          </p:cNvPr>
          <p:cNvGrpSpPr/>
          <p:nvPr/>
        </p:nvGrpSpPr>
        <p:grpSpPr>
          <a:xfrm>
            <a:off x="3292986" y="1559857"/>
            <a:ext cx="8521464" cy="4709179"/>
            <a:chOff x="455996" y="1206500"/>
            <a:chExt cx="11306470" cy="5062538"/>
          </a:xfrm>
        </p:grpSpPr>
        <p:sp>
          <p:nvSpPr>
            <p:cNvPr id="25" name="Rectangle: Rounded Corners 24">
              <a:extLst>
                <a:ext uri="{FF2B5EF4-FFF2-40B4-BE49-F238E27FC236}">
                  <a16:creationId xmlns:a16="http://schemas.microsoft.com/office/drawing/2014/main" id="{72CA03C0-513B-44AB-5993-5990A1F66CA9}"/>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6" name="Rectangle: Rounded Corners 25">
              <a:extLst>
                <a:ext uri="{FF2B5EF4-FFF2-40B4-BE49-F238E27FC236}">
                  <a16:creationId xmlns:a16="http://schemas.microsoft.com/office/drawing/2014/main" id="{744130DA-576A-00DD-B861-ED919B8E9AA0}"/>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31" name="Arrow: Bent 30">
            <a:extLst>
              <a:ext uri="{FF2B5EF4-FFF2-40B4-BE49-F238E27FC236}">
                <a16:creationId xmlns:a16="http://schemas.microsoft.com/office/drawing/2014/main" id="{B573DACD-588A-A7F2-14F8-19DEA79FD9B5}"/>
              </a:ext>
              <a:ext uri="{C183D7F6-B498-43B3-948B-1728B52AA6E4}">
                <adec:decorative xmlns:adec="http://schemas.microsoft.com/office/drawing/2017/decorative" val="1"/>
              </a:ext>
            </a:extLst>
          </p:cNvPr>
          <p:cNvSpPr>
            <a:spLocks/>
          </p:cNvSpPr>
          <p:nvPr/>
        </p:nvSpPr>
        <p:spPr bwMode="auto">
          <a:xfrm flipH="1">
            <a:off x="9867698" y="1554422"/>
            <a:ext cx="1942435" cy="2291830"/>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UI" pitchFamily="34" charset="0"/>
            </a:endParaRPr>
          </a:p>
        </p:txBody>
      </p:sp>
      <p:sp>
        <p:nvSpPr>
          <p:cNvPr id="2" name="TextBox 1">
            <a:extLst>
              <a:ext uri="{FF2B5EF4-FFF2-40B4-BE49-F238E27FC236}">
                <a16:creationId xmlns:a16="http://schemas.microsoft.com/office/drawing/2014/main" id="{6DC5DAF4-CC07-E5AC-BA6D-1670F636A1FF}"/>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627896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F68A5-8274-06E9-859B-78E73D8F8F29}"/>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6F7CD67D-48C6-32E0-F0A6-3BE1D36D2A87}"/>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D36CFA34-D5F0-CBC7-F123-C9EB19177380}"/>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2" name="Title 61">
            <a:extLst>
              <a:ext uri="{FF2B5EF4-FFF2-40B4-BE49-F238E27FC236}">
                <a16:creationId xmlns:a16="http://schemas.microsoft.com/office/drawing/2014/main" id="{EA0DF304-F983-7411-D40E-1DD0E886492C}"/>
              </a:ext>
            </a:extLst>
          </p:cNvPr>
          <p:cNvSpPr txBox="1">
            <a:spLocks noGrp="1"/>
          </p:cNvSpPr>
          <p:nvPr>
            <p:ph type="title"/>
          </p:nvPr>
        </p:nvSpPr>
        <p:spPr>
          <a:xfrm>
            <a:off x="588263" y="457200"/>
            <a:ext cx="3029407" cy="2923877"/>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mn-lt"/>
                <a:ea typeface="+mn-ea"/>
                <a:cs typeface="Segoe Sans Text" pitchFamily="2" charset="0"/>
              </a:rPr>
              <a:t>Cloud Accelerate Factory Infrastructure Migration </a:t>
            </a:r>
            <a:r>
              <a:rPr kumimoji="0" lang="en-US" sz="2400" b="0" i="0" u="none" strike="noStrike" kern="1200" cap="none" spc="0" normalizeH="0" baseline="0" noProof="0" dirty="0">
                <a:ln>
                  <a:noFill/>
                </a:ln>
                <a:solidFill>
                  <a:schemeClr val="bg1"/>
                </a:solidFill>
                <a:effectLst/>
                <a:uLnTx/>
                <a:uFillTx/>
                <a:latin typeface="+mn-lt"/>
                <a:ea typeface="+mn-ea"/>
                <a:cs typeface="Segoe Sans Text" pitchFamily="2" charset="0"/>
              </a:rPr>
              <a:t>Infrastructure and database migration (Windows and Linux)</a:t>
            </a:r>
            <a:endParaRPr kumimoji="0" lang="en-US" sz="2800" b="0" i="0" u="none" strike="noStrike" kern="1200" cap="none" spc="0" normalizeH="0" baseline="0" noProof="0" dirty="0">
              <a:ln>
                <a:noFill/>
              </a:ln>
              <a:solidFill>
                <a:schemeClr val="bg1"/>
              </a:solidFill>
              <a:effectLst/>
              <a:uLnTx/>
              <a:uFillTx/>
              <a:latin typeface="+mn-lt"/>
              <a:ea typeface="+mn-ea"/>
              <a:cs typeface="Segoe Sans Text" pitchFamily="2" charset="0"/>
            </a:endParaRPr>
          </a:p>
        </p:txBody>
      </p:sp>
      <p:sp>
        <p:nvSpPr>
          <p:cNvPr id="51" name="Title 50">
            <a:extLst>
              <a:ext uri="{FF2B5EF4-FFF2-40B4-BE49-F238E27FC236}">
                <a16:creationId xmlns:a16="http://schemas.microsoft.com/office/drawing/2014/main" id="{272D3FD8-C1CE-9111-EE78-EB5E8B192BB2}"/>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7029E071-305D-F7DA-C24F-29846AC523F1}"/>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93A9D5F9-4903-753D-8CC9-F85A5672742B}"/>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ISD/Partner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4620600B-A568-1B30-A7D6-52B2DB048C53}"/>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95488B2A-135C-6625-B98E-A4FA935E93AA}"/>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A596D46F-041B-43AC-999C-7CB9811E5AEC}"/>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11493E24-3124-A0CB-C777-ADC6C118BFDA}"/>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93125352-BF16-766C-F762-99420E2A774B}"/>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4C17FE43-916F-FF37-EBC4-DC9AB46EC124}"/>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959C2AB2-5034-E8E8-9705-8EA644A2BC01}"/>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B3A47F9E-D8C0-80A9-FE59-8DC0344A05CD}"/>
                  </a:ext>
                </a:extLst>
              </p:cNvPr>
              <p:cNvGrpSpPr/>
              <p:nvPr/>
            </p:nvGrpSpPr>
            <p:grpSpPr>
              <a:xfrm>
                <a:off x="5332078" y="1351912"/>
                <a:ext cx="2736836" cy="4232508"/>
                <a:chOff x="5332078" y="1351912"/>
                <a:chExt cx="2736836" cy="4232508"/>
              </a:xfrm>
            </p:grpSpPr>
            <p:sp>
              <p:nvSpPr>
                <p:cNvPr id="170" name="Oval 169">
                  <a:extLst>
                    <a:ext uri="{FF2B5EF4-FFF2-40B4-BE49-F238E27FC236}">
                      <a16:creationId xmlns:a16="http://schemas.microsoft.com/office/drawing/2014/main" id="{BB64554E-9926-78F7-7231-EDAB9AF8F326}"/>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B6B25FCC-BDE9-BB1D-C0AC-628479F5B3F8}"/>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2" name="Oval 171">
                  <a:extLst>
                    <a:ext uri="{FF2B5EF4-FFF2-40B4-BE49-F238E27FC236}">
                      <a16:creationId xmlns:a16="http://schemas.microsoft.com/office/drawing/2014/main" id="{345DD8BD-FD83-FF31-37C8-976658E22BAB}"/>
                    </a:ext>
                  </a:extLst>
                </p:cNvPr>
                <p:cNvSpPr>
                  <a:spLocks noChangeAspect="1"/>
                </p:cNvSpPr>
                <p:nvPr/>
              </p:nvSpPr>
              <p:spPr>
                <a:xfrm>
                  <a:off x="6240850" y="2518067"/>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B11C4B35-6493-0993-E7FE-DBC108F8FB2F}"/>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AE433BFA-9AFB-F357-B975-90D242119B60}"/>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13DABB2A-B21F-AED9-BA36-291E14264158}"/>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2CECC280-D5E6-E70D-4561-DC36FC16C646}"/>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CBF1A037-E13C-9D96-BE20-63C70A021110}"/>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83919298-986D-65AA-63E3-9802D4FE4DEE}"/>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5402817D-370E-9BE4-2803-3E8E5046444D}"/>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82A339CE-702E-144F-49AE-38E9BAA4B099}"/>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6280D74B-49BD-ED2A-1E8F-E2856CA05F10}"/>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04FBED8A-7973-55C4-402A-1FF8B7149DE4}"/>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153A1A4C-D637-28AB-B7A2-A2F70E62E517}"/>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4AC9E5DE-DC63-41BD-BD8C-1FC53B63094A}"/>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8F89F664-7700-7E14-2023-F79C213E0223}"/>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8A7CD874-A6AE-433A-B7BA-DF0BCB5F3F87}"/>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7582545E-6105-C973-5F11-A538C7F4D909}"/>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30C87DC5-C9A1-2855-2DB4-C8BF9B2A2B6A}"/>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8EC21FA5-AEDA-BEBD-035E-09D385AA5624}"/>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915E6026-8CC8-3F66-0F8C-060CB2255433}"/>
              </a:ext>
            </a:extLst>
          </p:cNvPr>
          <p:cNvSpPr txBox="1"/>
          <p:nvPr/>
        </p:nvSpPr>
        <p:spPr>
          <a:xfrm>
            <a:off x="5943310" y="1107763"/>
            <a:ext cx="1168590"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Customized/manual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4EABA70E-E9A0-5F92-3790-0DDCD8BCC804}"/>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1" name="TextBox 130">
            <a:extLst>
              <a:ext uri="{FF2B5EF4-FFF2-40B4-BE49-F238E27FC236}">
                <a16:creationId xmlns:a16="http://schemas.microsoft.com/office/drawing/2014/main" id="{FB9D6797-CAEF-E121-74F8-F7E42CB25CD2}"/>
              </a:ext>
            </a:extLst>
          </p:cNvPr>
          <p:cNvSpPr txBox="1"/>
          <p:nvPr/>
        </p:nvSpPr>
        <p:spPr>
          <a:xfrm>
            <a:off x="4471284" y="2102902"/>
            <a:ext cx="2118676" cy="461665"/>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Post-migration services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support (including +5 days Hypercare)</a:t>
            </a:r>
          </a:p>
        </p:txBody>
      </p:sp>
      <p:sp>
        <p:nvSpPr>
          <p:cNvPr id="132" name="TextBox 131">
            <a:extLst>
              <a:ext uri="{FF2B5EF4-FFF2-40B4-BE49-F238E27FC236}">
                <a16:creationId xmlns:a16="http://schemas.microsoft.com/office/drawing/2014/main" id="{C47FA2F3-5E02-812C-9B64-533EA2A54C80}"/>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7568D913-C7AD-F9E4-EECF-BCF05344EEA6}"/>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5" name="Rectangle 134" descr="Customer ">
            <a:extLst>
              <a:ext uri="{FF2B5EF4-FFF2-40B4-BE49-F238E27FC236}">
                <a16:creationId xmlns:a16="http://schemas.microsoft.com/office/drawing/2014/main" id="{74BC37FA-4F8D-75C9-3B8E-4910A39BECCD}"/>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6" name="TextBox 135">
            <a:extLst>
              <a:ext uri="{FF2B5EF4-FFF2-40B4-BE49-F238E27FC236}">
                <a16:creationId xmlns:a16="http://schemas.microsoft.com/office/drawing/2014/main" id="{DB7ADC2C-B0CF-EBC8-6EE8-89759B4B4AA2}"/>
              </a:ext>
            </a:extLst>
          </p:cNvPr>
          <p:cNvSpPr txBox="1"/>
          <p:nvPr/>
        </p:nvSpPr>
        <p:spPr>
          <a:xfrm>
            <a:off x="4878310" y="2864494"/>
            <a:ext cx="121026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 of applications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for migration</a:t>
            </a:r>
          </a:p>
        </p:txBody>
      </p:sp>
      <p:sp>
        <p:nvSpPr>
          <p:cNvPr id="137" name="TextBox 136">
            <a:extLst>
              <a:ext uri="{FF2B5EF4-FFF2-40B4-BE49-F238E27FC236}">
                <a16:creationId xmlns:a16="http://schemas.microsoft.com/office/drawing/2014/main" id="{DC3C620B-4555-BB11-4243-024360937E35}"/>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6FED8716-FF82-D16F-1108-7581E13F4B13}"/>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31254C36-4C2B-84B7-E8E7-CD46A2EC03E4}"/>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F13B1D6C-C688-1FA0-C47F-D994CF3BF160}"/>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FB6DBBD6-9D91-F5DA-FFE6-752A13ABD92F}"/>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63309DDD-0D04-39E9-5362-7716DFBE8967}"/>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62DF47D6-E0DA-84E4-C2BD-AF0704EEFA42}"/>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DFCB2CB3-2037-74A5-640D-DC3B3A11A7FB}"/>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C3885BB6-777F-9816-5ADD-2108FAF98516}"/>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4FBCFFA5-B864-26EF-EE30-0798F53A1547}"/>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226B7A62-BD44-0F87-74A6-A264F1B95AE5}"/>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033C9BDF-615D-AC73-FA89-BC47E7D62488}"/>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68B22610-6D1E-ECA9-C28A-F8276176048D}"/>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57" name="TextBox 156">
            <a:extLst>
              <a:ext uri="{FF2B5EF4-FFF2-40B4-BE49-F238E27FC236}">
                <a16:creationId xmlns:a16="http://schemas.microsoft.com/office/drawing/2014/main" id="{011128EF-469C-21CA-CB11-5275BFF7D637}"/>
              </a:ext>
            </a:extLst>
          </p:cNvPr>
          <p:cNvSpPr txBox="1"/>
          <p:nvPr/>
        </p:nvSpPr>
        <p:spPr>
          <a:xfrm>
            <a:off x="9227319" y="5273144"/>
            <a:ext cx="1532471"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UI"/>
              </a:rPr>
              <a:t>ALZ deployment/validation</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81" name="TextBox 180">
            <a:extLst>
              <a:ext uri="{FF2B5EF4-FFF2-40B4-BE49-F238E27FC236}">
                <a16:creationId xmlns:a16="http://schemas.microsoft.com/office/drawing/2014/main" id="{ACAA672B-FB9A-763C-2397-05F0DFA5853D}"/>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860C2108-4A17-18ED-57E5-300F0A57A8EB}"/>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99F35B74-A596-E0B2-F5B0-DA63B6AC3726}"/>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7" name="TextBox 6">
            <a:extLst>
              <a:ext uri="{FF2B5EF4-FFF2-40B4-BE49-F238E27FC236}">
                <a16:creationId xmlns:a16="http://schemas.microsoft.com/office/drawing/2014/main" id="{4123E1D7-F508-03FB-F304-CC96CF365E81}"/>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8" name="Oval 7">
            <a:extLst>
              <a:ext uri="{FF2B5EF4-FFF2-40B4-BE49-F238E27FC236}">
                <a16:creationId xmlns:a16="http://schemas.microsoft.com/office/drawing/2014/main" id="{CE5E6163-ABFA-E305-A0F5-BFF2381E1B6C}"/>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CC1AD186-70D5-63A9-F7D3-221ABBD18B49}"/>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8FA1BAB4-A804-0214-4E75-1F3DB8F0690B}"/>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0087C2E5-1F3F-9D8A-EE4F-3719986100AF}"/>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90B978EC-A130-B6FF-1C59-A604F1F655C4}"/>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C2D9952A-6081-AC29-DC0F-8EB4F029DCA1}"/>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FF256FAB-2931-7307-E59C-6FC62046D5B5}"/>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9FD684CE-06A7-E9A4-98D4-53CB31D4239A}"/>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4" name="TextBox 23">
            <a:extLst>
              <a:ext uri="{FF2B5EF4-FFF2-40B4-BE49-F238E27FC236}">
                <a16:creationId xmlns:a16="http://schemas.microsoft.com/office/drawing/2014/main" id="{F5ACD463-D1A3-A7D7-762A-007774D4F997}"/>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27" name="TextBox 26">
            <a:extLst>
              <a:ext uri="{FF2B5EF4-FFF2-40B4-BE49-F238E27FC236}">
                <a16:creationId xmlns:a16="http://schemas.microsoft.com/office/drawing/2014/main" id="{7B08CC33-956D-7BB5-912F-EDBD755A8171}"/>
              </a:ext>
            </a:extLst>
          </p:cNvPr>
          <p:cNvSpPr txBox="1"/>
          <p:nvPr/>
        </p:nvSpPr>
        <p:spPr>
          <a:xfrm>
            <a:off x="8055347" y="5306695"/>
            <a:ext cx="805638"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Server rehost to Azure Native</a:t>
            </a:r>
          </a:p>
        </p:txBody>
      </p:sp>
    </p:spTree>
    <p:extLst>
      <p:ext uri="{BB962C8B-B14F-4D97-AF65-F5344CB8AC3E}">
        <p14:creationId xmlns:p14="http://schemas.microsoft.com/office/powerpoint/2010/main" val="266910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6B29C-3700-363B-122E-939F9064785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B8FC18B-4128-E22C-DA31-E0ADF69A87CE}"/>
              </a:ext>
            </a:extLst>
          </p:cNvPr>
          <p:cNvSpPr>
            <a:spLocks noGrp="1"/>
          </p:cNvSpPr>
          <p:nvPr>
            <p:ph type="title"/>
          </p:nvPr>
        </p:nvSpPr>
        <p:spPr>
          <a:xfrm>
            <a:off x="585788" y="2300715"/>
            <a:ext cx="9144000" cy="1231106"/>
          </a:xfrm>
        </p:spPr>
        <p:txBody>
          <a:bodyPr/>
          <a:lstStyle/>
          <a:p>
            <a:r>
              <a:rPr lang="en-US" sz="4400"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12" name="TextBox 11">
            <a:extLst>
              <a:ext uri="{FF2B5EF4-FFF2-40B4-BE49-F238E27FC236}">
                <a16:creationId xmlns:a16="http://schemas.microsoft.com/office/drawing/2014/main" id="{E0AD81B7-1C15-F1D4-10C4-5D0C67FE2D7B}"/>
              </a:ext>
            </a:extLst>
          </p:cNvPr>
          <p:cNvSpPr txBox="1"/>
          <p:nvPr/>
        </p:nvSpPr>
        <p:spPr>
          <a:xfrm>
            <a:off x="584200" y="4099770"/>
            <a:ext cx="924169"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defRPr sz="1200">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800" b="1" noProof="0" dirty="0"/>
              <a:t>AVS</a:t>
            </a:r>
          </a:p>
        </p:txBody>
      </p:sp>
      <p:sp>
        <p:nvSpPr>
          <p:cNvPr id="3" name="TextBox 2">
            <a:extLst>
              <a:ext uri="{FF2B5EF4-FFF2-40B4-BE49-F238E27FC236}">
                <a16:creationId xmlns:a16="http://schemas.microsoft.com/office/drawing/2014/main" id="{9BD2BF33-6194-2E0B-69B2-61858A9FA09F}"/>
              </a:ext>
            </a:extLst>
          </p:cNvPr>
          <p:cNvSpPr txBox="1"/>
          <p:nvPr/>
        </p:nvSpPr>
        <p:spPr>
          <a:xfrm>
            <a:off x="9193695"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4" name="Image 10" descr="Home (outlined)">
            <a:hlinkClick r:id="rId3" action="ppaction://hlinksldjump" tooltip="Home"/>
            <a:extLst>
              <a:ext uri="{FF2B5EF4-FFF2-40B4-BE49-F238E27FC236}">
                <a16:creationId xmlns:a16="http://schemas.microsoft.com/office/drawing/2014/main" id="{E4AD6FE6-7016-BC3A-EFDB-BCE4A5949F38}"/>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748108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 presetClass="emph" presetSubtype="0" fill="hold" grpId="1" nodeType="withEffect">
                                  <p:stCondLst>
                                    <p:cond delay="0"/>
                                  </p:stCondLst>
                                  <p:childTnLst>
                                    <p:animScale>
                                      <p:cBhvr>
                                        <p:cTn id="9" dur="100" fill="hold"/>
                                        <p:tgtEl>
                                          <p:spTgt spid="1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2"/>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6" presetClass="emph" presetSubtype="0" fill="hold" grpId="1" nodeType="withEffect">
                                  <p:stCondLst>
                                    <p:cond delay="0"/>
                                  </p:stCondLst>
                                  <p:childTnLst>
                                    <p:animScale>
                                      <p:cBhvr>
                                        <p:cTn id="16" dur="100" fill="hold"/>
                                        <p:tgtEl>
                                          <p:spTgt spid="3"/>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animBg="1"/>
      <p:bldP spid="3" grpId="0" animBg="1"/>
      <p:bldP spid="3" grpId="1" animBg="1"/>
      <p:bldP spid="3" grpId="2"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A81B-625A-A926-01D8-9ACB8E4FAE61}"/>
            </a:ext>
          </a:extLst>
        </p:cNvPr>
        <p:cNvGrpSpPr/>
        <p:nvPr/>
      </p:nvGrpSpPr>
      <p:grpSpPr>
        <a:xfrm>
          <a:off x="0" y="0"/>
          <a:ext cx="0" cy="0"/>
          <a:chOff x="0" y="0"/>
          <a:chExt cx="0" cy="0"/>
        </a:xfrm>
      </p:grpSpPr>
      <p:sp>
        <p:nvSpPr>
          <p:cNvPr id="10" name="Rounded Rectangle 55">
            <a:extLst>
              <a:ext uri="{FF2B5EF4-FFF2-40B4-BE49-F238E27FC236}">
                <a16:creationId xmlns:a16="http://schemas.microsoft.com/office/drawing/2014/main" id="{C311D22C-22C1-0D56-67FE-ED96DBC6B6EF}"/>
              </a:ext>
              <a:ext uri="{C183D7F6-B498-43B3-948B-1728B52AA6E4}">
                <adec:decorative xmlns:adec="http://schemas.microsoft.com/office/drawing/2017/decorative" val="1"/>
              </a:ext>
            </a:extLst>
          </p:cNvPr>
          <p:cNvSpPr/>
          <p:nvPr/>
        </p:nvSpPr>
        <p:spPr bwMode="auto">
          <a:xfrm>
            <a:off x="9138311" y="1303655"/>
            <a:ext cx="2525065" cy="5427345"/>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483FF975-BC20-5751-1B94-281796AE202C}"/>
              </a:ext>
              <a:ext uri="{C183D7F6-B498-43B3-948B-1728B52AA6E4}">
                <adec:decorative xmlns:adec="http://schemas.microsoft.com/office/drawing/2017/decorative" val="1"/>
              </a:ext>
            </a:extLst>
          </p:cNvPr>
          <p:cNvSpPr/>
          <p:nvPr/>
        </p:nvSpPr>
        <p:spPr bwMode="auto">
          <a:xfrm>
            <a:off x="566717" y="1303655"/>
            <a:ext cx="8481737" cy="5427345"/>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18199B11-8471-523A-6FA6-76539971BD42}"/>
              </a:ext>
            </a:extLst>
          </p:cNvPr>
          <p:cNvSpPr>
            <a:spLocks noGrp="1"/>
          </p:cNvSpPr>
          <p:nvPr>
            <p:ph type="title"/>
          </p:nvPr>
        </p:nvSpPr>
        <p:spPr>
          <a:xfrm>
            <a:off x="588963" y="315692"/>
            <a:ext cx="8437245" cy="430887"/>
          </a:xfrm>
        </p:spPr>
        <p:txBody>
          <a:bodyPr/>
          <a:lstStyle/>
          <a:p>
            <a:r>
              <a:rPr lang="en-US" sz="2800" noProof="0" dirty="0"/>
              <a:t>Azure VMware Solution</a:t>
            </a:r>
          </a:p>
        </p:txBody>
      </p:sp>
      <p:sp>
        <p:nvSpPr>
          <p:cNvPr id="18" name="Content Placeholder 4">
            <a:extLst>
              <a:ext uri="{FF2B5EF4-FFF2-40B4-BE49-F238E27FC236}">
                <a16:creationId xmlns:a16="http://schemas.microsoft.com/office/drawing/2014/main" id="{E5E3D3F4-4E8A-0B39-D514-8129DD005134}"/>
              </a:ext>
            </a:extLst>
          </p:cNvPr>
          <p:cNvSpPr txBox="1">
            <a:spLocks/>
          </p:cNvSpPr>
          <p:nvPr/>
        </p:nvSpPr>
        <p:spPr>
          <a:xfrm>
            <a:off x="9154160" y="1706880"/>
            <a:ext cx="2448877" cy="4834657"/>
          </a:xfrm>
          <a:prstGeom prst="rect">
            <a:avLst/>
          </a:prstGeom>
        </p:spPr>
        <p:txBody>
          <a:bodyPr vert="horz" wrap="square" lIns="91440" tIns="91440" rIns="73152" bIns="4572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r>
              <a:rPr lang="en-US" sz="1200" noProof="0" dirty="0">
                <a:latin typeface="+mj-lt"/>
                <a:ea typeface="+mj-ea"/>
                <a:cs typeface="+mj-cs"/>
              </a:rPr>
              <a:t>Requirements to leveraging </a:t>
            </a:r>
            <a:br>
              <a:rPr lang="en-US" sz="1200" noProof="0" dirty="0">
                <a:latin typeface="+mj-lt"/>
                <a:ea typeface="+mj-ea"/>
                <a:cs typeface="+mj-cs"/>
              </a:rPr>
            </a:br>
            <a:r>
              <a:rPr lang="en-US" sz="1200" noProof="0" dirty="0">
                <a:latin typeface="+mj-lt"/>
                <a:ea typeface="+mj-ea"/>
                <a:cs typeface="+mj-cs"/>
              </a:rPr>
              <a:t>this service:</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Customer must have at least one Azure Subscription and one Resource Group</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Customer must participate in a migration assessment to define in-scope servers. If an assessment has been run in the last 4 weeks those results can be leveraged</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The customer needs to allocate the appropriate number of IP addresses to complete the HCX appliance configuration. For a single management network, four IP addresses must be allocated. For all other scenarios only two IP addresses must be allocated per network segment.</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On-premises vSphere version must be 7.0 of higher</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For Bulk migrations VMtools/hardware versions must be 7 or higher</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For RAV migrations vMotion version must be 9 or higher</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For network extension a Virtual Distributed Switch (VDS) must be available</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Customers must activate Express Route for connectivity between on-premises and AVS</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cs typeface="+mn-cs"/>
              </a:rPr>
              <a:t>Internet bandwidth availability must meet minimum Factory requirements</a:t>
            </a:r>
          </a:p>
        </p:txBody>
      </p:sp>
      <p:sp>
        <p:nvSpPr>
          <p:cNvPr id="20" name="TextBox 19">
            <a:extLst>
              <a:ext uri="{FF2B5EF4-FFF2-40B4-BE49-F238E27FC236}">
                <a16:creationId xmlns:a16="http://schemas.microsoft.com/office/drawing/2014/main" id="{95BA7737-F521-0EA5-B921-047DCFD81D0C}"/>
              </a:ext>
            </a:extLst>
          </p:cNvPr>
          <p:cNvSpPr txBox="1"/>
          <p:nvPr/>
        </p:nvSpPr>
        <p:spPr>
          <a:xfrm>
            <a:off x="582929" y="1429325"/>
            <a:ext cx="8437245"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0D79F63A-A815-AD9A-2159-6E66F787AEAF}"/>
              </a:ext>
            </a:extLst>
          </p:cNvPr>
          <p:cNvSpPr/>
          <p:nvPr/>
        </p:nvSpPr>
        <p:spPr>
          <a:xfrm>
            <a:off x="3834447" y="1478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7A89546D-BAF5-B790-39FE-B0954C921B64}"/>
              </a:ext>
            </a:extLst>
          </p:cNvPr>
          <p:cNvSpPr txBox="1"/>
          <p:nvPr/>
        </p:nvSpPr>
        <p:spPr>
          <a:xfrm>
            <a:off x="9176406" y="1429325"/>
            <a:ext cx="2448877"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51D82B69-972F-2058-B711-F6E92C603771}"/>
              </a:ext>
            </a:extLst>
          </p:cNvPr>
          <p:cNvSpPr/>
          <p:nvPr/>
        </p:nvSpPr>
        <p:spPr>
          <a:xfrm>
            <a:off x="9852025" y="1485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24" name="TextBox 23">
            <a:extLst>
              <a:ext uri="{FF2B5EF4-FFF2-40B4-BE49-F238E27FC236}">
                <a16:creationId xmlns:a16="http://schemas.microsoft.com/office/drawing/2014/main" id="{590FFC27-5068-F48D-4CB5-B1989AC13AD3}"/>
              </a:ext>
            </a:extLst>
          </p:cNvPr>
          <p:cNvSpPr txBox="1"/>
          <p:nvPr/>
        </p:nvSpPr>
        <p:spPr>
          <a:xfrm>
            <a:off x="588963" y="759280"/>
            <a:ext cx="3983037" cy="276999"/>
          </a:xfrm>
          <a:prstGeom prst="rect">
            <a:avLst/>
          </a:prstGeom>
          <a:noFill/>
        </p:spPr>
        <p:txBody>
          <a:bodyPr wrap="square" lIns="0" tIns="0" rIns="0" bIns="0" rtlCol="0">
            <a:spAutoFit/>
          </a:bodyPr>
          <a:lstStyle/>
          <a:p>
            <a:r>
              <a:rPr lang="en-US" noProof="0" dirty="0">
                <a:latin typeface="+mj-lt"/>
              </a:rPr>
              <a:t>AVS Migration</a:t>
            </a:r>
          </a:p>
        </p:txBody>
      </p:sp>
      <p:graphicFrame>
        <p:nvGraphicFramePr>
          <p:cNvPr id="29" name="Table 28" title="Exchange Online Technet Guidance">
            <a:extLst>
              <a:ext uri="{FF2B5EF4-FFF2-40B4-BE49-F238E27FC236}">
                <a16:creationId xmlns:a16="http://schemas.microsoft.com/office/drawing/2014/main" id="{F58B5DC6-7389-9C85-E21C-888135A897FC}"/>
              </a:ext>
            </a:extLst>
          </p:cNvPr>
          <p:cNvGraphicFramePr>
            <a:graphicFrameLocks noGrp="1"/>
          </p:cNvGraphicFramePr>
          <p:nvPr>
            <p:extLst>
              <p:ext uri="{D42A27DB-BD31-4B8C-83A1-F6EECF244321}">
                <p14:modId xmlns:p14="http://schemas.microsoft.com/office/powerpoint/2010/main" val="2112232497"/>
              </p:ext>
            </p:extLst>
          </p:nvPr>
        </p:nvGraphicFramePr>
        <p:xfrm>
          <a:off x="582929" y="1781680"/>
          <a:ext cx="8443279" cy="3578860"/>
        </p:xfrm>
        <a:graphic>
          <a:graphicData uri="http://schemas.openxmlformats.org/drawingml/2006/table">
            <a:tbl>
              <a:tblPr firstRow="1" bandRow="1">
                <a:tableStyleId>{5C22544A-7EE6-4342-B048-85BDC9FD1C3A}</a:tableStyleId>
              </a:tblPr>
              <a:tblGrid>
                <a:gridCol w="276938">
                  <a:extLst>
                    <a:ext uri="{9D8B030D-6E8A-4147-A177-3AD203B41FA5}">
                      <a16:colId xmlns:a16="http://schemas.microsoft.com/office/drawing/2014/main" val="920430407"/>
                    </a:ext>
                  </a:extLst>
                </a:gridCol>
                <a:gridCol w="8166341">
                  <a:extLst>
                    <a:ext uri="{9D8B030D-6E8A-4147-A177-3AD203B41FA5}">
                      <a16:colId xmlns:a16="http://schemas.microsoft.com/office/drawing/2014/main" val="125040094"/>
                    </a:ext>
                  </a:extLst>
                </a:gridCol>
              </a:tblGrid>
              <a:tr h="302820">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rgbClr val="000000"/>
                          </a:solidFill>
                          <a:effectLst/>
                          <a:uLnTx/>
                          <a:uFillTx/>
                          <a:latin typeface="+mn-lt"/>
                          <a:ea typeface="+mn-ea"/>
                          <a:cs typeface="+mn-cs"/>
                        </a:rPr>
                        <a:t>rehost to VMs on Azure VMware Solutions (AVS for single-tenant hosting). For migrations from Azure VMware Solution to native Azure VMs please refer to the Infrastructure Migration section of this document.</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551603">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noProof="0" dirty="0">
                          <a:solidFill>
                            <a:srgbClr val="000000"/>
                          </a:solidFill>
                          <a:latin typeface="+mj-lt"/>
                        </a:rPr>
                        <a:t>Determine an IP addressing strategy for Azure: </a:t>
                      </a:r>
                      <a:r>
                        <a:rPr lang="en-US" sz="1000" noProof="0" dirty="0">
                          <a:solidFill>
                            <a:srgbClr val="000000"/>
                          </a:solidFill>
                          <a:latin typeface="+mn-lt"/>
                        </a:rPr>
                        <a:t>A critical decision to make early-on is an IP addressing strategy for migrated workloads. This comes down to a binary decision between two scenarios:</a:t>
                      </a:r>
                    </a:p>
                    <a:p>
                      <a:pPr marL="171450" marR="0" lvl="0" indent="-1143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rgbClr val="000000"/>
                          </a:solidFill>
                          <a:latin typeface="+mn-lt"/>
                        </a:rPr>
                        <a:t>Scenario 1: Workloads change their IP addresses</a:t>
                      </a:r>
                    </a:p>
                    <a:p>
                      <a:pPr marL="171450" marR="0" lvl="0" indent="-1143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rgbClr val="000000"/>
                          </a:solidFill>
                          <a:latin typeface="+mn-lt"/>
                        </a:rPr>
                        <a:t>Scenario 2: Workloads keep their existing IP addresses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302807">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0"/>
                        </a:spcAft>
                        <a:buFontTx/>
                        <a:buNone/>
                      </a:pPr>
                      <a:r>
                        <a:rPr lang="en-US" sz="1000" b="0" i="0" u="none" strike="noStrike" kern="1200" noProof="0" dirty="0">
                          <a:solidFill>
                            <a:schemeClr val="dk1"/>
                          </a:solidFill>
                          <a:effectLst/>
                          <a:latin typeface="+mj-lt"/>
                          <a:ea typeface="+mn-ea"/>
                          <a:cs typeface="+mn-cs"/>
                        </a:rPr>
                        <a:t>Deploy Azure VMware Solution (AVS) and Hybrid Cloud Extension (HCX) appliance</a:t>
                      </a:r>
                      <a:r>
                        <a:rPr lang="en-US" sz="1000" b="0" i="0" u="none" strike="noStrike" kern="1200" noProof="0" dirty="0">
                          <a:solidFill>
                            <a:schemeClr val="dk1"/>
                          </a:solidFill>
                          <a:effectLst/>
                          <a:latin typeface="+mn-lt"/>
                          <a:ea typeface="+mn-ea"/>
                          <a:cs typeface="+mn-cs"/>
                        </a:rPr>
                        <a:t> and will execute assessments as needed (Azure Migrate, RvTools)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201525">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0"/>
                        </a:spcAft>
                        <a:buFontTx/>
                        <a:buNone/>
                      </a:pPr>
                      <a:r>
                        <a:rPr lang="en-US" sz="1000" b="0" i="0" u="none" strike="noStrike" kern="1200" noProof="0" dirty="0">
                          <a:solidFill>
                            <a:schemeClr val="dk1"/>
                          </a:solidFill>
                          <a:effectLst/>
                          <a:latin typeface="+mj-lt"/>
                          <a:ea typeface="+mn-ea"/>
                          <a:cs typeface="+mn-cs"/>
                        </a:rPr>
                        <a:t>Determine the in-scope migration plan </a:t>
                      </a:r>
                      <a:r>
                        <a:rPr lang="en-US" sz="1000" b="0" i="0" u="none" strike="noStrike" kern="1200" noProof="0" dirty="0">
                          <a:solidFill>
                            <a:schemeClr val="dk1"/>
                          </a:solidFill>
                          <a:effectLst/>
                          <a:latin typeface="+mn-lt"/>
                          <a:ea typeface="+mn-ea"/>
                          <a:cs typeface="+mn-cs"/>
                        </a:rPr>
                        <a:t>with the customer and partner, in order to finalize the broader migration plan</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201525">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0"/>
                        </a:spcAft>
                        <a:buFontTx/>
                        <a:buNone/>
                      </a:pPr>
                      <a:r>
                        <a:rPr lang="en-US" sz="1000" b="0" i="0" u="none" strike="noStrike" kern="1200" noProof="0" dirty="0">
                          <a:solidFill>
                            <a:schemeClr val="dk1"/>
                          </a:solidFill>
                          <a:effectLst/>
                          <a:latin typeface="+mj-lt"/>
                          <a:ea typeface="+mn-ea"/>
                          <a:cs typeface="+mn-cs"/>
                        </a:rPr>
                        <a:t>Provide the needed port and firewall rules </a:t>
                      </a:r>
                      <a:r>
                        <a:rPr lang="en-US" sz="1000" b="0" i="0" u="none" strike="noStrike" kern="1200" noProof="0" dirty="0">
                          <a:solidFill>
                            <a:schemeClr val="dk1"/>
                          </a:solidFill>
                          <a:effectLst/>
                          <a:latin typeface="+mn-lt"/>
                          <a:ea typeface="+mn-ea"/>
                          <a:cs typeface="+mn-cs"/>
                        </a:rPr>
                        <a:t>to proceed with the migration plan</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302807">
                <a:tc>
                  <a:txBody>
                    <a:bodyPr/>
                    <a:lstStyle/>
                    <a:p>
                      <a:pPr algn="ctr"/>
                      <a:r>
                        <a:rPr lang="en-US" sz="1050" b="0" noProof="0" dirty="0">
                          <a:solidFill>
                            <a:schemeClr val="tx2"/>
                          </a:solidFill>
                          <a:latin typeface="+mj-lt"/>
                        </a:rPr>
                        <a:t>5</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dk1"/>
                          </a:solidFill>
                          <a:effectLst/>
                          <a:latin typeface="+mj-lt"/>
                          <a:ea typeface="+mn-ea"/>
                          <a:cs typeface="+mn-cs"/>
                        </a:rPr>
                        <a:t>Migrate virtual machines </a:t>
                      </a:r>
                      <a:r>
                        <a:rPr lang="en-US" sz="1000" b="0" i="0" u="none" strike="noStrike" kern="1200" noProof="0" dirty="0">
                          <a:solidFill>
                            <a:schemeClr val="dk1"/>
                          </a:solidFill>
                          <a:effectLst/>
                          <a:latin typeface="+mn-lt"/>
                          <a:ea typeface="+mn-ea"/>
                          <a:cs typeface="+mn-cs"/>
                        </a:rPr>
                        <a:t>from on-premise vSphere to Azure VMware Solution using the agreed upon </a:t>
                      </a:r>
                      <a:br>
                        <a:rPr lang="en-US" sz="1000" b="0" i="0" u="none" strike="noStrike" kern="1200" noProof="0" dirty="0">
                          <a:solidFill>
                            <a:schemeClr val="dk1"/>
                          </a:solidFill>
                          <a:effectLst/>
                          <a:latin typeface="+mn-lt"/>
                          <a:ea typeface="+mn-ea"/>
                          <a:cs typeface="+mn-cs"/>
                        </a:rPr>
                      </a:br>
                      <a:r>
                        <a:rPr lang="en-US" sz="1000" b="0" i="0" u="none" strike="noStrike" kern="1200" noProof="0" dirty="0">
                          <a:solidFill>
                            <a:schemeClr val="dk1"/>
                          </a:solidFill>
                          <a:effectLst/>
                          <a:latin typeface="+mn-lt"/>
                          <a:ea typeface="+mn-ea"/>
                          <a:cs typeface="+mn-cs"/>
                        </a:rPr>
                        <a:t>migration approach</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996170"/>
                  </a:ext>
                </a:extLst>
              </a:tr>
              <a:tr h="201525">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6</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b="0" i="0" u="none" strike="noStrike" kern="1200" noProof="0" dirty="0">
                          <a:solidFill>
                            <a:schemeClr val="dk1"/>
                          </a:solidFill>
                          <a:effectLst/>
                          <a:latin typeface="+mj-lt"/>
                          <a:ea typeface="+mn-ea"/>
                          <a:cs typeface="+mn-cs"/>
                        </a:rPr>
                        <a:t>Hand over </a:t>
                      </a:r>
                      <a:r>
                        <a:rPr lang="en-US" sz="1000" b="0" i="0" u="none" strike="noStrike" kern="1200" noProof="0" dirty="0">
                          <a:solidFill>
                            <a:schemeClr val="dk1"/>
                          </a:solidFill>
                          <a:effectLst/>
                          <a:latin typeface="+mn-lt"/>
                          <a:ea typeface="+mn-ea"/>
                          <a:cs typeface="+mn-cs"/>
                        </a:rPr>
                        <a:t>to customer/ISD/Partner for post 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61545"/>
                  </a:ext>
                </a:extLst>
              </a:tr>
              <a:tr h="37745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rgbClr val="282828"/>
                          </a:solidFill>
                          <a:effectLst/>
                          <a:uLnTx/>
                          <a:uFillTx/>
                          <a:latin typeface="+mn-lt"/>
                          <a:ea typeface="+mn-ea"/>
                          <a:cs typeface="Segoe Sans Text" pitchFamily="2" charset="0"/>
                        </a:rPr>
                        <a:t>attending checkpoint meetings; and implementing user communications, documentation, training, and change management. </a:t>
                      </a:r>
                      <a:endParaRPr kumimoji="0" lang="en-US" sz="900" b="0" i="0" u="none" strike="noStrike" kern="1200" cap="none" spc="0" normalizeH="0" baseline="0" noProof="0" dirty="0">
                        <a:ln>
                          <a:noFill/>
                        </a:ln>
                        <a:solidFill>
                          <a:srgbClr val="000000"/>
                        </a:solidFill>
                        <a:effectLst/>
                        <a:uLnTx/>
                        <a:uFillTx/>
                        <a:latin typeface="+mn-lt"/>
                        <a:ea typeface="+mn-ea"/>
                        <a:cs typeface="+mn-cs"/>
                      </a:endParaRP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588116728"/>
                  </a:ext>
                </a:extLst>
              </a:tr>
              <a:tr h="281495">
                <a:tc gridSpan="2">
                  <a:txBody>
                    <a:bodyPr/>
                    <a:lstStyle/>
                    <a:p>
                      <a:pPr lvl="0" algn="l">
                        <a:lnSpc>
                          <a:spcPct val="100000"/>
                        </a:lnSpc>
                        <a:spcBef>
                          <a:spcPts val="0"/>
                        </a:spcBef>
                        <a:spcAft>
                          <a:spcPts val="0"/>
                        </a:spcAft>
                        <a:buNone/>
                      </a:pPr>
                      <a:r>
                        <a:rPr lang="en-US" sz="900" b="0" i="0" u="none" strike="noStrike" kern="1200" cap="none" spc="0" normalizeH="0" baseline="0" noProof="0" dirty="0">
                          <a:ln>
                            <a:noFill/>
                          </a:ln>
                          <a:solidFill>
                            <a:srgbClr val="000000"/>
                          </a:solidFill>
                          <a:effectLst/>
                          <a:uLnTx/>
                          <a:uFillTx/>
                          <a:latin typeface="+mn-lt"/>
                        </a:rPr>
                        <a:t>Estimated duration for completing all activities, listed above, is usually around four weeks when all the requirements are met. For future waves, the typical replication takes two weeks per wave (average 200 servers per wave).</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2" name="TextBox 1">
            <a:extLst>
              <a:ext uri="{FF2B5EF4-FFF2-40B4-BE49-F238E27FC236}">
                <a16:creationId xmlns:a16="http://schemas.microsoft.com/office/drawing/2014/main" id="{A85CF6CB-266E-657A-AD4A-AEE8BDA64CD5}"/>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161885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5DF97-D27B-3A85-D979-EDEEA7ED6A96}"/>
            </a:ext>
          </a:extLst>
        </p:cNvPr>
        <p:cNvGrpSpPr/>
        <p:nvPr/>
      </p:nvGrpSpPr>
      <p:grpSpPr>
        <a:xfrm>
          <a:off x="0" y="0"/>
          <a:ext cx="0" cy="0"/>
          <a:chOff x="0" y="0"/>
          <a:chExt cx="0" cy="0"/>
        </a:xfrm>
      </p:grpSpPr>
      <p:sp>
        <p:nvSpPr>
          <p:cNvPr id="10" name="Rounded Rectangle 55">
            <a:extLst>
              <a:ext uri="{FF2B5EF4-FFF2-40B4-BE49-F238E27FC236}">
                <a16:creationId xmlns:a16="http://schemas.microsoft.com/office/drawing/2014/main" id="{DFF6FE25-747E-A2FC-F1FF-91C4BEE47EDB}"/>
              </a:ext>
              <a:ext uri="{C183D7F6-B498-43B3-948B-1728B52AA6E4}">
                <adec:decorative xmlns:adec="http://schemas.microsoft.com/office/drawing/2017/decorative" val="1"/>
              </a:ext>
            </a:extLst>
          </p:cNvPr>
          <p:cNvSpPr/>
          <p:nvPr/>
        </p:nvSpPr>
        <p:spPr bwMode="auto">
          <a:xfrm>
            <a:off x="9098604" y="1168657"/>
            <a:ext cx="2555132" cy="5368287"/>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FBCD4DFA-463C-90EC-95D3-7279EF659B98}"/>
              </a:ext>
              <a:ext uri="{C183D7F6-B498-43B3-948B-1728B52AA6E4}">
                <adec:decorative xmlns:adec="http://schemas.microsoft.com/office/drawing/2017/decorative" val="1"/>
              </a:ext>
            </a:extLst>
          </p:cNvPr>
          <p:cNvSpPr/>
          <p:nvPr/>
        </p:nvSpPr>
        <p:spPr bwMode="auto">
          <a:xfrm>
            <a:off x="582929" y="1168657"/>
            <a:ext cx="8364221" cy="5368287"/>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A89C5499-196E-5ADC-B72C-FF74A3BB7B85}"/>
              </a:ext>
            </a:extLst>
          </p:cNvPr>
          <p:cNvSpPr>
            <a:spLocks noGrp="1"/>
          </p:cNvSpPr>
          <p:nvPr>
            <p:ph type="title"/>
          </p:nvPr>
        </p:nvSpPr>
        <p:spPr>
          <a:xfrm>
            <a:off x="588963" y="315692"/>
            <a:ext cx="8999537" cy="430887"/>
          </a:xfrm>
        </p:spPr>
        <p:txBody>
          <a:bodyPr/>
          <a:lstStyle/>
          <a:p>
            <a:r>
              <a:rPr lang="en-US" sz="2800" noProof="0" dirty="0"/>
              <a:t>Azure VMware Solution</a:t>
            </a:r>
          </a:p>
        </p:txBody>
      </p:sp>
      <p:sp>
        <p:nvSpPr>
          <p:cNvPr id="28" name="Content Placeholder 4">
            <a:extLst>
              <a:ext uri="{FF2B5EF4-FFF2-40B4-BE49-F238E27FC236}">
                <a16:creationId xmlns:a16="http://schemas.microsoft.com/office/drawing/2014/main" id="{7CF701C4-D17B-7A3E-00AC-B12DF31570A6}"/>
              </a:ext>
            </a:extLst>
          </p:cNvPr>
          <p:cNvSpPr txBox="1">
            <a:spLocks/>
          </p:cNvSpPr>
          <p:nvPr/>
        </p:nvSpPr>
        <p:spPr>
          <a:xfrm>
            <a:off x="9154160" y="1579880"/>
            <a:ext cx="2448877" cy="4547399"/>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300"/>
              </a:spcAft>
              <a:defRPr/>
            </a:pPr>
            <a:r>
              <a:rPr lang="en-US" sz="1200" noProof="0" dirty="0">
                <a:latin typeface="+mj-lt"/>
                <a:ea typeface="+mj-ea"/>
                <a:cs typeface="+mj-cs"/>
              </a:rPr>
              <a:t>Requirements to leverage this service:</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latin typeface="+mj-lt"/>
              </a:rPr>
              <a:t>Customer Alignment/Approval:</a:t>
            </a:r>
            <a:r>
              <a:rPr lang="en-US" sz="1000" noProof="0" dirty="0"/>
              <a:t> Migration plan must be aligned with a customer-approved scope and timeline.</a:t>
            </a:r>
            <a:endParaRPr lang="en-US" sz="1000" noProof="0" dirty="0">
              <a:latin typeface="+mj-lt"/>
            </a:endParaRPr>
          </a:p>
          <a:p>
            <a:pPr marL="203200" indent="-146050">
              <a:lnSpc>
                <a:spcPct val="100000"/>
              </a:lnSpc>
              <a:spcBef>
                <a:spcPts val="0"/>
              </a:spcBef>
              <a:spcAft>
                <a:spcPts val="600"/>
              </a:spcAft>
              <a:buSzPct val="100000"/>
              <a:buFont typeface="Arial" panose="020B0604020202020204" pitchFamily="34" charset="0"/>
              <a:buChar char="•"/>
            </a:pPr>
            <a:r>
              <a:rPr lang="en-US" sz="1000" noProof="0" dirty="0">
                <a:latin typeface="+mj-lt"/>
              </a:rPr>
              <a:t>Nomination Submission:</a:t>
            </a:r>
            <a:r>
              <a:rPr lang="en-US" sz="1000" noProof="0" dirty="0"/>
              <a:t> Field team must submit a Factory nomination via </a:t>
            </a:r>
            <a:r>
              <a:rPr lang="en-US" sz="1000" noProof="0" dirty="0">
                <a:solidFill>
                  <a:schemeClr val="tx2"/>
                </a:solidFill>
                <a:latin typeface="+mj-lt"/>
                <a:hlinkClick r:id="rId3">
                  <a:extLst>
                    <a:ext uri="{A12FA001-AC4F-418D-AE19-62706E023703}">
                      <ahyp:hlinkClr xmlns:ahyp="http://schemas.microsoft.com/office/drawing/2018/hyperlinkcolor" val="tx"/>
                    </a:ext>
                  </a:extLst>
                </a:hlinkClick>
              </a:rPr>
              <a:t>Azure Offer Navigator</a:t>
            </a:r>
            <a:r>
              <a:rPr lang="en-US" sz="1000" noProof="0" dirty="0">
                <a:solidFill>
                  <a:schemeClr val="tx2"/>
                </a:solidFill>
                <a:latin typeface="+mj-lt"/>
              </a:rPr>
              <a:t> </a:t>
            </a:r>
            <a:r>
              <a:rPr lang="en-US" sz="1000" noProof="0" dirty="0"/>
              <a:t>using the ”VMware to AVS” use case.</a:t>
            </a:r>
            <a:endParaRPr lang="en-US" sz="1000" noProof="0" dirty="0">
              <a:latin typeface="+mj-lt"/>
            </a:endParaRPr>
          </a:p>
          <a:p>
            <a:pPr marL="203200" indent="-146050">
              <a:lnSpc>
                <a:spcPct val="100000"/>
              </a:lnSpc>
              <a:spcBef>
                <a:spcPts val="0"/>
              </a:spcBef>
              <a:spcAft>
                <a:spcPts val="600"/>
              </a:spcAft>
              <a:buSzPct val="100000"/>
              <a:buFont typeface="Arial" panose="020B0604020202020204" pitchFamily="34" charset="0"/>
              <a:buChar char="•"/>
            </a:pPr>
            <a:r>
              <a:rPr lang="en-US" sz="1000" noProof="0" dirty="0">
                <a:latin typeface="+mj-lt"/>
              </a:rPr>
              <a:t>Migration Scope Eligibility:</a:t>
            </a:r>
            <a:r>
              <a:rPr lang="en-US" sz="1000" noProof="0" dirty="0"/>
              <a:t> Migration must fall within Factory-supported scenarios.</a:t>
            </a:r>
            <a:endParaRPr lang="en-US" sz="1000" noProof="0" dirty="0">
              <a:latin typeface="+mj-lt"/>
            </a:endParaRPr>
          </a:p>
          <a:p>
            <a:pPr marL="203200" indent="-146050">
              <a:lnSpc>
                <a:spcPct val="100000"/>
              </a:lnSpc>
              <a:spcBef>
                <a:spcPts val="0"/>
              </a:spcBef>
              <a:spcAft>
                <a:spcPts val="600"/>
              </a:spcAft>
              <a:buSzPct val="100000"/>
              <a:buFont typeface="Arial" panose="020B0604020202020204" pitchFamily="34" charset="0"/>
              <a:buChar char="•"/>
            </a:pPr>
            <a:r>
              <a:rPr lang="en-US" sz="1000" noProof="0" dirty="0">
                <a:latin typeface="+mj-lt"/>
              </a:rPr>
              <a:t>Account Team Alignment:</a:t>
            </a:r>
            <a:r>
              <a:rPr lang="en-US" sz="1000" noProof="0" dirty="0"/>
              <a:t> Account team must confirm understanding of Scope 1: Factory - Led (e.g., governance, Day 2 ops are out-of-scope).</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latin typeface="+mj-lt"/>
              </a:rPr>
              <a:t>Estimated duration for completing all activities: </a:t>
            </a:r>
            <a:r>
              <a:rPr lang="en-US" sz="1000" noProof="0" dirty="0"/>
              <a:t>Time is required for identing the destinate SKU, checking and securing capacity, planning and execution of the migration, etc.. (The typical replication takes two weeks per wave with an average of 200 servers per wave)</a:t>
            </a:r>
            <a:endParaRPr lang="en-US" sz="900" noProof="0" dirty="0"/>
          </a:p>
        </p:txBody>
      </p:sp>
      <p:sp>
        <p:nvSpPr>
          <p:cNvPr id="20" name="TextBox 19">
            <a:extLst>
              <a:ext uri="{FF2B5EF4-FFF2-40B4-BE49-F238E27FC236}">
                <a16:creationId xmlns:a16="http://schemas.microsoft.com/office/drawing/2014/main" id="{201C457C-260E-68E2-1AB7-F22D5F6D560E}"/>
              </a:ext>
            </a:extLst>
          </p:cNvPr>
          <p:cNvSpPr txBox="1"/>
          <p:nvPr/>
        </p:nvSpPr>
        <p:spPr>
          <a:xfrm>
            <a:off x="628489" y="1302325"/>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D4543D03-F5DD-DD87-2FC9-49FC281AD6E0}"/>
              </a:ext>
            </a:extLst>
          </p:cNvPr>
          <p:cNvSpPr/>
          <p:nvPr/>
        </p:nvSpPr>
        <p:spPr>
          <a:xfrm>
            <a:off x="3834447"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826B5C60-0EC1-01FF-CF5E-9F1B53E1B2E5}"/>
              </a:ext>
            </a:extLst>
          </p:cNvPr>
          <p:cNvSpPr txBox="1"/>
          <p:nvPr/>
        </p:nvSpPr>
        <p:spPr>
          <a:xfrm>
            <a:off x="9154160" y="1302325"/>
            <a:ext cx="2448877"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F1095754-23B5-D3B8-31B1-22201A8BEA5A}"/>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24" name="TextBox 23">
            <a:extLst>
              <a:ext uri="{FF2B5EF4-FFF2-40B4-BE49-F238E27FC236}">
                <a16:creationId xmlns:a16="http://schemas.microsoft.com/office/drawing/2014/main" id="{94D2F408-9A6B-89A4-BC91-EB4D229F0B10}"/>
              </a:ext>
            </a:extLst>
          </p:cNvPr>
          <p:cNvSpPr txBox="1"/>
          <p:nvPr/>
        </p:nvSpPr>
        <p:spPr>
          <a:xfrm>
            <a:off x="588963" y="802758"/>
            <a:ext cx="4595779" cy="276999"/>
          </a:xfrm>
          <a:prstGeom prst="rect">
            <a:avLst/>
          </a:prstGeom>
          <a:noFill/>
        </p:spPr>
        <p:txBody>
          <a:bodyPr wrap="square" lIns="0" tIns="0" rIns="0" bIns="0" rtlCol="0">
            <a:spAutoFit/>
          </a:bodyPr>
          <a:lstStyle/>
          <a:p>
            <a:r>
              <a:rPr lang="en-US" noProof="0" dirty="0">
                <a:latin typeface="+mj-lt"/>
              </a:rPr>
              <a:t>AV36/AV36P/AV52 EOS Migration Support</a:t>
            </a:r>
          </a:p>
        </p:txBody>
      </p:sp>
      <p:graphicFrame>
        <p:nvGraphicFramePr>
          <p:cNvPr id="27" name="Table 26" title="Exchange Online Technet Guidance">
            <a:extLst>
              <a:ext uri="{FF2B5EF4-FFF2-40B4-BE49-F238E27FC236}">
                <a16:creationId xmlns:a16="http://schemas.microsoft.com/office/drawing/2014/main" id="{8A18E4F5-A133-9411-0563-F07ABBEFD5BE}"/>
              </a:ext>
            </a:extLst>
          </p:cNvPr>
          <p:cNvGraphicFramePr>
            <a:graphicFrameLocks noGrp="1"/>
          </p:cNvGraphicFramePr>
          <p:nvPr>
            <p:extLst>
              <p:ext uri="{D42A27DB-BD31-4B8C-83A1-F6EECF244321}">
                <p14:modId xmlns:p14="http://schemas.microsoft.com/office/powerpoint/2010/main" val="474125315"/>
              </p:ext>
            </p:extLst>
          </p:nvPr>
        </p:nvGraphicFramePr>
        <p:xfrm>
          <a:off x="607377" y="1665213"/>
          <a:ext cx="8273100" cy="4329634"/>
        </p:xfrm>
        <a:graphic>
          <a:graphicData uri="http://schemas.openxmlformats.org/drawingml/2006/table">
            <a:tbl>
              <a:tblPr firstRow="1" bandRow="1">
                <a:tableStyleId>{5C22544A-7EE6-4342-B048-85BDC9FD1C3A}</a:tableStyleId>
              </a:tblPr>
              <a:tblGrid>
                <a:gridCol w="271356">
                  <a:extLst>
                    <a:ext uri="{9D8B030D-6E8A-4147-A177-3AD203B41FA5}">
                      <a16:colId xmlns:a16="http://schemas.microsoft.com/office/drawing/2014/main" val="920430407"/>
                    </a:ext>
                  </a:extLst>
                </a:gridCol>
                <a:gridCol w="8001744">
                  <a:extLst>
                    <a:ext uri="{9D8B030D-6E8A-4147-A177-3AD203B41FA5}">
                      <a16:colId xmlns:a16="http://schemas.microsoft.com/office/drawing/2014/main" val="125040094"/>
                    </a:ext>
                  </a:extLst>
                </a:gridCol>
              </a:tblGrid>
              <a:tr h="306070">
                <a:tc gridSpan="2">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0" kern="1200" baseline="0" noProof="0" dirty="0">
                          <a:solidFill>
                            <a:schemeClr val="tx1"/>
                          </a:solidFill>
                          <a:latin typeface="+mj-lt"/>
                          <a:ea typeface="+mn-ea"/>
                          <a:cs typeface="+mn-cs"/>
                        </a:rPr>
                        <a:t>Cloud Acceleration Factory (CAF) is now actively supporting customers in migrating from AV36 to other Azure VMware Solution nodes. </a:t>
                      </a:r>
                    </a:p>
                  </a:txBody>
                  <a:tcPr marT="82296" marB="82296">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766007">
                <a:tc>
                  <a:txBody>
                    <a:bodyPr/>
                    <a:lstStyle/>
                    <a:p>
                      <a:pPr algn="ctr"/>
                      <a:r>
                        <a:rPr lang="en-US" sz="1050" b="0" noProof="0" dirty="0">
                          <a:solidFill>
                            <a:schemeClr val="tx2"/>
                          </a:solidFill>
                          <a:latin typeface="+mj-lt"/>
                        </a:rPr>
                        <a:t>1</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kern="1200" noProof="0" dirty="0">
                          <a:solidFill>
                            <a:schemeClr val="tx1"/>
                          </a:solidFill>
                          <a:latin typeface="+mj-lt"/>
                          <a:ea typeface="+mn-ea"/>
                          <a:cs typeface="+mn-cs"/>
                        </a:rPr>
                        <a:t>Supported migration paths</a:t>
                      </a:r>
                      <a:r>
                        <a:rPr lang="en-US" sz="1000" b="0" noProof="0" dirty="0">
                          <a:solidFill>
                            <a:schemeClr val="tx1"/>
                          </a:solidFill>
                          <a:latin typeface="+mj-lt"/>
                        </a:rPr>
                        <a:t>: </a:t>
                      </a:r>
                      <a:r>
                        <a:rPr lang="en-US" sz="1000" noProof="0" dirty="0">
                          <a:solidFill>
                            <a:schemeClr val="tx1"/>
                          </a:solidFill>
                          <a:latin typeface="+mn-lt"/>
                        </a:rPr>
                        <a:t>A critical decision to make early-on is an IP addressing strategy for migrated workloads. This comes down to a binary decision between two scenarios:</a:t>
                      </a:r>
                    </a:p>
                    <a:p>
                      <a:pPr marL="171450" marR="0" lvl="0" indent="-114300" algn="l" defTabSz="914367"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lang="en-US" sz="1000" b="0" noProof="0" dirty="0">
                          <a:solidFill>
                            <a:schemeClr val="tx1"/>
                          </a:solidFill>
                          <a:latin typeface="+mj-lt"/>
                        </a:rPr>
                        <a:t>AV36/AV36P/AV52 → To applicable SKUs in Gen1/Gen2</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550832">
                <a:tc>
                  <a:txBody>
                    <a:bodyPr/>
                    <a:lstStyle/>
                    <a:p>
                      <a:pPr algn="ctr"/>
                      <a:r>
                        <a:rPr lang="en-US" sz="1050" b="0" noProof="0" dirty="0">
                          <a:solidFill>
                            <a:schemeClr val="tx2"/>
                          </a:solidFill>
                          <a:latin typeface="+mj-lt"/>
                        </a:rPr>
                        <a:t>2</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200"/>
                        </a:spcAft>
                        <a:buClrTx/>
                        <a:buSzTx/>
                        <a:buFontTx/>
                        <a:buNone/>
                      </a:pPr>
                      <a:r>
                        <a:rPr lang="en-US" sz="1000" b="0" i="0" u="none" strike="noStrike" kern="1200" noProof="0" dirty="0">
                          <a:solidFill>
                            <a:schemeClr val="tx1"/>
                          </a:solidFill>
                          <a:effectLst/>
                          <a:latin typeface="+mj-lt"/>
                          <a:ea typeface="+mn-ea"/>
                          <a:cs typeface="+mn-cs"/>
                        </a:rPr>
                        <a:t>Deploy Azure VMware Solution (AVS) and Hybrid Cloud Extension (HCX) appliance</a:t>
                      </a:r>
                      <a:r>
                        <a:rPr lang="en-US" sz="1000" b="0" i="0" u="none" strike="noStrike" kern="1200" noProof="0" dirty="0">
                          <a:solidFill>
                            <a:schemeClr val="tx1"/>
                          </a:solidFill>
                          <a:effectLst/>
                          <a:latin typeface="+mn-lt"/>
                          <a:ea typeface="+mn-ea"/>
                          <a:cs typeface="+mn-cs"/>
                        </a:rPr>
                        <a:t>: </a:t>
                      </a:r>
                      <a:r>
                        <a:rPr lang="en-US" sz="1000" noProof="0" dirty="0">
                          <a:solidFill>
                            <a:schemeClr val="tx1"/>
                          </a:solidFill>
                          <a:latin typeface="+mn-lt"/>
                        </a:rPr>
                        <a:t>Factory assists in standing up the target AVS cluster, connecting the two private clouds via AVS interconnect/EXPRESSROUTE Global reach, and using </a:t>
                      </a:r>
                      <a:r>
                        <a:rPr lang="en-US" sz="1000" b="0" noProof="0" dirty="0">
                          <a:solidFill>
                            <a:schemeClr val="tx1"/>
                          </a:solidFill>
                          <a:latin typeface="+mj-lt"/>
                        </a:rPr>
                        <a:t>VMware HCX</a:t>
                      </a:r>
                      <a:r>
                        <a:rPr lang="en-US" sz="1000" noProof="0" dirty="0">
                          <a:solidFill>
                            <a:schemeClr val="tx1"/>
                          </a:solidFill>
                          <a:latin typeface="+mn-lt"/>
                        </a:rPr>
                        <a:t> to migrate workloads to target private cloud. </a:t>
                      </a:r>
                      <a:endParaRPr lang="en-US" sz="1000" b="0" i="0" u="none" strike="noStrike" kern="1200" noProof="0" dirty="0">
                        <a:solidFill>
                          <a:schemeClr val="tx1"/>
                        </a:solidFill>
                        <a:effectLst/>
                        <a:latin typeface="+mn-lt"/>
                        <a:ea typeface="+mn-ea"/>
                        <a:cs typeface="+mn-cs"/>
                      </a:endParaRP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694282">
                <a:tc>
                  <a:txBody>
                    <a:bodyPr/>
                    <a:lstStyle/>
                    <a:p>
                      <a:pPr algn="ctr"/>
                      <a:r>
                        <a:rPr lang="en-US" sz="1050" b="0" noProof="0" dirty="0">
                          <a:solidFill>
                            <a:schemeClr val="tx2"/>
                          </a:solidFill>
                          <a:latin typeface="+mj-lt"/>
                        </a:rPr>
                        <a:t>3</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200"/>
                        </a:spcAft>
                        <a:buFontTx/>
                        <a:buNone/>
                      </a:pPr>
                      <a:r>
                        <a:rPr lang="en-US" sz="1000" b="0" i="0" u="none" strike="noStrike" kern="1200" noProof="0" dirty="0">
                          <a:solidFill>
                            <a:schemeClr val="tx1"/>
                          </a:solidFill>
                          <a:effectLst/>
                          <a:latin typeface="+mj-lt"/>
                          <a:ea typeface="+mn-ea"/>
                          <a:cs typeface="+mn-cs"/>
                        </a:rPr>
                        <a:t>Determine the in-scope migration plan </a:t>
                      </a:r>
                      <a:r>
                        <a:rPr lang="en-US" sz="1000" b="0" i="0" u="none" strike="noStrike" kern="1200" noProof="0" dirty="0">
                          <a:solidFill>
                            <a:schemeClr val="tx1"/>
                          </a:solidFill>
                          <a:effectLst/>
                          <a:latin typeface="+mn-lt"/>
                          <a:ea typeface="+mn-ea"/>
                          <a:cs typeface="+mn-cs"/>
                        </a:rPr>
                        <a:t>with the customer for the broader migration plan</a:t>
                      </a:r>
                    </a:p>
                    <a:p>
                      <a:pPr marL="0" marR="0" lvl="0" indent="0" algn="just" rtl="0" eaLnBrk="1" fontAlgn="auto" latinLnBrk="0" hangingPunct="1">
                        <a:lnSpc>
                          <a:spcPct val="100000"/>
                        </a:lnSpc>
                        <a:spcBef>
                          <a:spcPts val="0"/>
                        </a:spcBef>
                        <a:spcAft>
                          <a:spcPts val="200"/>
                        </a:spcAft>
                        <a:buFontTx/>
                        <a:buNone/>
                      </a:pPr>
                      <a:r>
                        <a:rPr lang="en-US" sz="1000" b="0" i="0" u="none" strike="noStrike" kern="1200" noProof="0" dirty="0">
                          <a:solidFill>
                            <a:schemeClr val="tx1"/>
                          </a:solidFill>
                          <a:effectLst/>
                          <a:latin typeface="+mj-lt"/>
                          <a:ea typeface="+mn-ea"/>
                          <a:cs typeface="+mn-cs"/>
                        </a:rPr>
                        <a:t>In-scope: </a:t>
                      </a:r>
                      <a:r>
                        <a:rPr lang="en-US" sz="1000" noProof="0" dirty="0">
                          <a:solidFill>
                            <a:schemeClr val="tx1"/>
                          </a:solidFill>
                          <a:latin typeface="+mn-lt"/>
                        </a:rPr>
                        <a:t>Lift &amp; Shift Only</a:t>
                      </a:r>
                    </a:p>
                    <a:p>
                      <a:pPr marL="0" marR="0" lvl="0" indent="0" algn="just" rtl="0" eaLnBrk="1" fontAlgn="auto" latinLnBrk="0" hangingPunct="1">
                        <a:lnSpc>
                          <a:spcPct val="100000"/>
                        </a:lnSpc>
                        <a:spcBef>
                          <a:spcPts val="0"/>
                        </a:spcBef>
                        <a:spcAft>
                          <a:spcPts val="200"/>
                        </a:spcAft>
                        <a:buFontTx/>
                        <a:buNone/>
                      </a:pPr>
                      <a:r>
                        <a:rPr lang="en-US" sz="1000" b="0" i="0" u="none" strike="noStrike" kern="1200" noProof="0" dirty="0">
                          <a:solidFill>
                            <a:schemeClr val="tx1"/>
                          </a:solidFill>
                          <a:effectLst/>
                          <a:latin typeface="+mj-lt"/>
                          <a:ea typeface="+mn-ea"/>
                          <a:cs typeface="+mn-cs"/>
                        </a:rPr>
                        <a:t>Out of Scope</a:t>
                      </a:r>
                      <a:r>
                        <a:rPr lang="en-US" sz="1000" b="0" i="0" u="none" strike="noStrike" kern="1200" noProof="0" dirty="0">
                          <a:solidFill>
                            <a:schemeClr val="tx1"/>
                          </a:solidFill>
                          <a:effectLst/>
                          <a:latin typeface="+mn-lt"/>
                          <a:ea typeface="+mn-ea"/>
                          <a:cs typeface="+mn-cs"/>
                        </a:rPr>
                        <a:t>: </a:t>
                      </a:r>
                      <a:r>
                        <a:rPr lang="en-US" sz="1000" noProof="0" dirty="0">
                          <a:solidFill>
                            <a:schemeClr val="tx1"/>
                          </a:solidFill>
                          <a:latin typeface="+mn-lt"/>
                        </a:rPr>
                        <a:t>Public IP at NSX Edge, Stretched Clusters, no optimization, no architecture or networking changes.</a:t>
                      </a:r>
                    </a:p>
                    <a:p>
                      <a:pPr marL="0" marR="0" lvl="0" indent="0" algn="just" rtl="0" eaLnBrk="1" fontAlgn="auto" latinLnBrk="0" hangingPunct="1">
                        <a:lnSpc>
                          <a:spcPct val="100000"/>
                        </a:lnSpc>
                        <a:spcBef>
                          <a:spcPts val="0"/>
                        </a:spcBef>
                        <a:spcAft>
                          <a:spcPts val="200"/>
                        </a:spcAft>
                        <a:buFontTx/>
                        <a:buNone/>
                      </a:pPr>
                      <a:r>
                        <a:rPr lang="en-US" sz="1000" b="0" i="0" u="none" strike="noStrike" kern="1200" noProof="0" dirty="0">
                          <a:solidFill>
                            <a:schemeClr val="tx1"/>
                          </a:solidFill>
                          <a:effectLst/>
                          <a:latin typeface="+mn-lt"/>
                          <a:ea typeface="+mn-ea"/>
                          <a:cs typeface="+mn-cs"/>
                        </a:rPr>
                        <a:t>Program management and governance to me managed by customer.</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271121">
                <a:tc>
                  <a:txBody>
                    <a:bodyPr/>
                    <a:lstStyle/>
                    <a:p>
                      <a:pPr algn="ctr"/>
                      <a:r>
                        <a:rPr lang="en-US" sz="1050" b="0" noProof="0" dirty="0">
                          <a:solidFill>
                            <a:schemeClr val="tx2"/>
                          </a:solidFill>
                          <a:latin typeface="+mj-lt"/>
                        </a:rPr>
                        <a:t>4</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Customer to provide the needed support </a:t>
                      </a:r>
                      <a:r>
                        <a:rPr lang="en-US" sz="1000" b="0" i="0" u="none" strike="noStrike" kern="1200" noProof="0" dirty="0">
                          <a:solidFill>
                            <a:schemeClr val="tx1"/>
                          </a:solidFill>
                          <a:effectLst/>
                          <a:latin typeface="+mn-lt"/>
                          <a:ea typeface="+mn-ea"/>
                          <a:cs typeface="+mn-cs"/>
                        </a:rPr>
                        <a:t>to setup any prerequisites to proceed with the migration plan</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335795">
                <a:tc>
                  <a:txBody>
                    <a:bodyPr/>
                    <a:lstStyle/>
                    <a:p>
                      <a:pPr algn="ctr"/>
                      <a:r>
                        <a:rPr lang="en-US" sz="1050" b="0" noProof="0" dirty="0">
                          <a:solidFill>
                            <a:schemeClr val="tx2"/>
                          </a:solidFill>
                          <a:latin typeface="+mj-lt"/>
                        </a:rPr>
                        <a:t>5</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Factory to migrate virtual machines </a:t>
                      </a:r>
                      <a:r>
                        <a:rPr lang="en-US" sz="1000" b="0" i="0" u="none" strike="noStrike" kern="1200" noProof="0" dirty="0">
                          <a:solidFill>
                            <a:schemeClr val="tx1"/>
                          </a:solidFill>
                          <a:effectLst/>
                          <a:latin typeface="+mn-lt"/>
                          <a:ea typeface="+mn-ea"/>
                          <a:cs typeface="+mn-cs"/>
                        </a:rPr>
                        <a:t>from AV36/AV36P/AV52 using HXC and the agreed upon migration approach.</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996170"/>
                  </a:ext>
                </a:extLst>
              </a:tr>
              <a:tr h="271121">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6</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b="0" i="0" u="none" strike="noStrike" kern="1200" noProof="0" dirty="0">
                          <a:solidFill>
                            <a:schemeClr val="tx1"/>
                          </a:solidFill>
                          <a:effectLst/>
                          <a:latin typeface="+mj-lt"/>
                          <a:ea typeface="+mn-ea"/>
                          <a:cs typeface="+mn-cs"/>
                        </a:rPr>
                        <a:t>Hand over </a:t>
                      </a:r>
                      <a:r>
                        <a:rPr lang="en-US" sz="1000" b="0" i="0" u="none" strike="noStrike" kern="1200" noProof="0" dirty="0">
                          <a:solidFill>
                            <a:schemeClr val="tx1"/>
                          </a:solidFill>
                          <a:effectLst/>
                          <a:latin typeface="+mn-lt"/>
                          <a:ea typeface="+mn-ea"/>
                          <a:cs typeface="+mn-cs"/>
                        </a:rPr>
                        <a:t>to customer for post migration activities (i.e. testing and business validation)</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61545"/>
                  </a:ext>
                </a:extLst>
              </a:tr>
              <a:tr h="55084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latin typeface="+mn-lt"/>
                        </a:rPr>
                        <a:t>Microsoft is providing up to </a:t>
                      </a:r>
                      <a:r>
                        <a:rPr lang="en-US" sz="1000" b="0" noProof="0" dirty="0">
                          <a:solidFill>
                            <a:schemeClr val="tx1"/>
                          </a:solidFill>
                          <a:latin typeface="+mj-lt"/>
                        </a:rPr>
                        <a:t>60 days of dual-run cost avoidance</a:t>
                      </a:r>
                      <a:r>
                        <a:rPr lang="en-US" sz="1000" noProof="0" dirty="0">
                          <a:solidFill>
                            <a:schemeClr val="tx1"/>
                          </a:solidFill>
                          <a:latin typeface="+mn-lt"/>
                        </a:rPr>
                        <a:t> for customers who purchased/exchanged new AVS RIs to replace AV36 eliminating double-cost during the migration period. </a:t>
                      </a:r>
                      <a:r>
                        <a:rPr lang="en-US" sz="1000" noProof="0" dirty="0"/>
                        <a:t>This incentive, combined with Factory’s technical support, helps customers transition off retiring SKUs at no extra cost. To access the benefit, please review and submit the </a:t>
                      </a:r>
                      <a:r>
                        <a:rPr lang="en-US" sz="1000" noProof="0" dirty="0">
                          <a:hlinkClick r:id="rId4"/>
                        </a:rPr>
                        <a:t>Dual-Run Cost Avoidance Request Form </a:t>
                      </a: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marT="82296" marB="82296">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588116728"/>
                  </a:ext>
                </a:extLst>
              </a:tr>
            </a:tbl>
          </a:graphicData>
        </a:graphic>
      </p:graphicFrame>
      <p:sp>
        <p:nvSpPr>
          <p:cNvPr id="2" name="TextBox 1">
            <a:extLst>
              <a:ext uri="{FF2B5EF4-FFF2-40B4-BE49-F238E27FC236}">
                <a16:creationId xmlns:a16="http://schemas.microsoft.com/office/drawing/2014/main" id="{B458AB10-220A-1520-A443-49288CE3C43C}"/>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8873146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ounded Rectangle 55">
            <a:extLst>
              <a:ext uri="{FF2B5EF4-FFF2-40B4-BE49-F238E27FC236}">
                <a16:creationId xmlns:a16="http://schemas.microsoft.com/office/drawing/2014/main" id="{115C7035-B4C8-1055-8BB1-7BD3682AA0D3}"/>
              </a:ext>
              <a:ext uri="{C183D7F6-B498-43B3-948B-1728B52AA6E4}">
                <adec:decorative xmlns:adec="http://schemas.microsoft.com/office/drawing/2017/decorative" val="1"/>
              </a:ext>
            </a:extLst>
          </p:cNvPr>
          <p:cNvSpPr>
            <a:spLocks/>
          </p:cNvSpPr>
          <p:nvPr/>
        </p:nvSpPr>
        <p:spPr bwMode="auto">
          <a:xfrm>
            <a:off x="531779" y="1209040"/>
            <a:ext cx="5517524"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6" name="Rounded Rectangle 55">
            <a:extLst>
              <a:ext uri="{FF2B5EF4-FFF2-40B4-BE49-F238E27FC236}">
                <a16:creationId xmlns:a16="http://schemas.microsoft.com/office/drawing/2014/main" id="{D8F58554-69C4-5915-DD74-5FDCB8E15C49}"/>
              </a:ext>
              <a:ext uri="{C183D7F6-B498-43B3-948B-1728B52AA6E4}">
                <adec:decorative xmlns:adec="http://schemas.microsoft.com/office/drawing/2017/decorative" val="1"/>
              </a:ext>
            </a:extLst>
          </p:cNvPr>
          <p:cNvSpPr>
            <a:spLocks/>
          </p:cNvSpPr>
          <p:nvPr/>
        </p:nvSpPr>
        <p:spPr bwMode="auto">
          <a:xfrm>
            <a:off x="6096000" y="1209040"/>
            <a:ext cx="5564221"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2" name="Title 101">
            <a:extLst>
              <a:ext uri="{FF2B5EF4-FFF2-40B4-BE49-F238E27FC236}">
                <a16:creationId xmlns:a16="http://schemas.microsoft.com/office/drawing/2014/main" id="{46B5A782-CB46-B6B1-95F2-014329F918D5}"/>
              </a:ext>
            </a:extLst>
          </p:cNvPr>
          <p:cNvSpPr>
            <a:spLocks noGrp="1"/>
          </p:cNvSpPr>
          <p:nvPr>
            <p:ph type="title"/>
          </p:nvPr>
        </p:nvSpPr>
        <p:spPr>
          <a:xfrm>
            <a:off x="588963" y="279722"/>
            <a:ext cx="8388470" cy="497636"/>
          </a:xfrm>
        </p:spPr>
        <p:txBody>
          <a:bodyPr>
            <a:noAutofit/>
          </a:bodyPr>
          <a:lstStyle/>
          <a:p>
            <a:r>
              <a:rPr lang="en-US" sz="3000" noProof="0" dirty="0"/>
              <a:t>Azure VMware Solution</a:t>
            </a:r>
          </a:p>
        </p:txBody>
      </p:sp>
      <p:sp>
        <p:nvSpPr>
          <p:cNvPr id="124" name="TextBox 123">
            <a:extLst>
              <a:ext uri="{FF2B5EF4-FFF2-40B4-BE49-F238E27FC236}">
                <a16:creationId xmlns:a16="http://schemas.microsoft.com/office/drawing/2014/main" id="{FB43B720-6AB9-3EC6-4A3A-534A46DA0C8A}"/>
              </a:ext>
            </a:extLst>
          </p:cNvPr>
          <p:cNvSpPr txBox="1"/>
          <p:nvPr/>
        </p:nvSpPr>
        <p:spPr>
          <a:xfrm>
            <a:off x="1044951" y="1762178"/>
            <a:ext cx="4906333" cy="353943"/>
          </a:xfrm>
          <a:prstGeom prst="rect">
            <a:avLst/>
          </a:prstGeom>
          <a:noFill/>
        </p:spPr>
        <p:txBody>
          <a:bodyPr wrap="square" lIns="0" tIns="0" rIns="0" bIns="0" anchor="t">
            <a:noAutofit/>
          </a:bodyPr>
          <a:lstStyle/>
          <a:p>
            <a:pPr marR="0" lvl="0" indent="0" fontAlgn="auto">
              <a:spcBef>
                <a:spcPts val="0"/>
              </a:spcBef>
              <a:spcAft>
                <a:spcPts val="300"/>
              </a:spcAft>
              <a:buClrTx/>
              <a:buSzTx/>
              <a:buFontTx/>
              <a:buNone/>
              <a:tabLst/>
              <a:defRPr/>
            </a:pPr>
            <a:r>
              <a:rPr lang="en-US" sz="1050" noProof="0" dirty="0">
                <a:latin typeface="+mj-lt"/>
                <a:ea typeface="+mj-ea"/>
                <a:cs typeface="+mj-cs"/>
              </a:rPr>
              <a:t>Scenarios:</a:t>
            </a:r>
          </a:p>
          <a:p>
            <a:pPr marL="168275" lvl="1" indent="-114300">
              <a:spcAft>
                <a:spcPts val="400"/>
              </a:spcAft>
              <a:buFont typeface="Arial" panose="020B0604020202020204" pitchFamily="34" charset="0"/>
              <a:buChar char="•"/>
              <a:defRPr/>
            </a:pPr>
            <a:r>
              <a:rPr lang="en-US" sz="1000" kern="0" noProof="0" dirty="0"/>
              <a:t>AVS (Gen 1 &amp; Gen 2) deployment and HCX setup with migrations of VMs</a:t>
            </a:r>
          </a:p>
        </p:txBody>
      </p:sp>
      <p:sp>
        <p:nvSpPr>
          <p:cNvPr id="23" name="TextBox 22">
            <a:extLst>
              <a:ext uri="{FF2B5EF4-FFF2-40B4-BE49-F238E27FC236}">
                <a16:creationId xmlns:a16="http://schemas.microsoft.com/office/drawing/2014/main" id="{BFE467F7-ED59-9F8A-A019-42D04E21DA37}"/>
              </a:ext>
            </a:extLst>
          </p:cNvPr>
          <p:cNvSpPr txBox="1"/>
          <p:nvPr/>
        </p:nvSpPr>
        <p:spPr>
          <a:xfrm>
            <a:off x="588963" y="796868"/>
            <a:ext cx="3690937" cy="276999"/>
          </a:xfrm>
          <a:prstGeom prst="rect">
            <a:avLst/>
          </a:prstGeom>
          <a:noFill/>
        </p:spPr>
        <p:txBody>
          <a:bodyPr wrap="square" lIns="0" tIns="0" rIns="0" bIns="0" rtlCol="0">
            <a:spAutoFit/>
          </a:bodyPr>
          <a:lstStyle/>
          <a:p>
            <a:r>
              <a:rPr lang="en-US" noProof="0" dirty="0">
                <a:latin typeface="+mj-lt"/>
              </a:rPr>
              <a:t>AVS Migration Scope</a:t>
            </a:r>
          </a:p>
        </p:txBody>
      </p:sp>
      <p:sp>
        <p:nvSpPr>
          <p:cNvPr id="30" name="Oval 29">
            <a:extLst>
              <a:ext uri="{FF2B5EF4-FFF2-40B4-BE49-F238E27FC236}">
                <a16:creationId xmlns:a16="http://schemas.microsoft.com/office/drawing/2014/main" id="{5BA56CB0-F916-D1F4-9CD6-F445DC44254E}"/>
              </a:ext>
            </a:extLst>
          </p:cNvPr>
          <p:cNvSpPr/>
          <p:nvPr/>
        </p:nvSpPr>
        <p:spPr bwMode="auto">
          <a:xfrm>
            <a:off x="6320111" y="185139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2" name="Oval 31">
            <a:extLst>
              <a:ext uri="{FF2B5EF4-FFF2-40B4-BE49-F238E27FC236}">
                <a16:creationId xmlns:a16="http://schemas.microsoft.com/office/drawing/2014/main" id="{ED4EC8D0-4C88-4389-F0E0-41113D89D649}"/>
              </a:ext>
            </a:extLst>
          </p:cNvPr>
          <p:cNvSpPr/>
          <p:nvPr/>
        </p:nvSpPr>
        <p:spPr bwMode="auto">
          <a:xfrm>
            <a:off x="6320111" y="246608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0E56431B-D0DF-A7B2-09FB-0247929DD49F}"/>
              </a:ext>
            </a:extLst>
          </p:cNvPr>
          <p:cNvSpPr/>
          <p:nvPr/>
        </p:nvSpPr>
        <p:spPr bwMode="auto">
          <a:xfrm>
            <a:off x="6320111" y="416243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8" name="Oval 37">
            <a:extLst>
              <a:ext uri="{FF2B5EF4-FFF2-40B4-BE49-F238E27FC236}">
                <a16:creationId xmlns:a16="http://schemas.microsoft.com/office/drawing/2014/main" id="{51CAEDF7-7817-792F-2E1B-4B99CBE2371A}"/>
              </a:ext>
            </a:extLst>
          </p:cNvPr>
          <p:cNvSpPr/>
          <p:nvPr/>
        </p:nvSpPr>
        <p:spPr bwMode="auto">
          <a:xfrm>
            <a:off x="6320111" y="46270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9" name="Oval 38">
            <a:extLst>
              <a:ext uri="{FF2B5EF4-FFF2-40B4-BE49-F238E27FC236}">
                <a16:creationId xmlns:a16="http://schemas.microsoft.com/office/drawing/2014/main" id="{6D947E8E-E0D0-C7E6-6ABB-31FDC49EF037}"/>
              </a:ext>
            </a:extLst>
          </p:cNvPr>
          <p:cNvSpPr/>
          <p:nvPr/>
        </p:nvSpPr>
        <p:spPr bwMode="auto">
          <a:xfrm>
            <a:off x="6320111" y="524562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0" name="Oval 39">
            <a:extLst>
              <a:ext uri="{FF2B5EF4-FFF2-40B4-BE49-F238E27FC236}">
                <a16:creationId xmlns:a16="http://schemas.microsoft.com/office/drawing/2014/main" id="{1670996A-C469-21A6-633F-22030D65F846}"/>
              </a:ext>
            </a:extLst>
          </p:cNvPr>
          <p:cNvSpPr/>
          <p:nvPr/>
        </p:nvSpPr>
        <p:spPr bwMode="auto">
          <a:xfrm>
            <a:off x="775653" y="17621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8" name="Oval 57">
            <a:extLst>
              <a:ext uri="{FF2B5EF4-FFF2-40B4-BE49-F238E27FC236}">
                <a16:creationId xmlns:a16="http://schemas.microsoft.com/office/drawing/2014/main" id="{388F63E9-95B7-5F39-6C07-34129AE1AC75}"/>
              </a:ext>
            </a:extLst>
          </p:cNvPr>
          <p:cNvSpPr/>
          <p:nvPr/>
        </p:nvSpPr>
        <p:spPr bwMode="auto">
          <a:xfrm>
            <a:off x="6320111" y="586415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5" name="Oval 74">
            <a:extLst>
              <a:ext uri="{FF2B5EF4-FFF2-40B4-BE49-F238E27FC236}">
                <a16:creationId xmlns:a16="http://schemas.microsoft.com/office/drawing/2014/main" id="{3F47658E-CF92-8CB3-D1B4-AF8626C0EA44}"/>
              </a:ext>
            </a:extLst>
          </p:cNvPr>
          <p:cNvSpPr/>
          <p:nvPr/>
        </p:nvSpPr>
        <p:spPr bwMode="auto">
          <a:xfrm>
            <a:off x="775653" y="21866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80" name="Straight Connector 79">
            <a:extLst>
              <a:ext uri="{FF2B5EF4-FFF2-40B4-BE49-F238E27FC236}">
                <a16:creationId xmlns:a16="http://schemas.microsoft.com/office/drawing/2014/main" id="{351B59B6-B461-58CE-6EC9-4F1268066980}"/>
              </a:ext>
            </a:extLst>
          </p:cNvPr>
          <p:cNvCxnSpPr/>
          <p:nvPr/>
        </p:nvCxnSpPr>
        <p:spPr>
          <a:xfrm>
            <a:off x="1044951" y="216608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09F41986-82C7-ADCF-3591-B5430B7CC2C0}"/>
              </a:ext>
            </a:extLst>
          </p:cNvPr>
          <p:cNvSpPr/>
          <p:nvPr/>
        </p:nvSpPr>
        <p:spPr bwMode="auto">
          <a:xfrm>
            <a:off x="775653" y="549259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5" name="Oval 94">
            <a:extLst>
              <a:ext uri="{FF2B5EF4-FFF2-40B4-BE49-F238E27FC236}">
                <a16:creationId xmlns:a16="http://schemas.microsoft.com/office/drawing/2014/main" id="{D41E4172-5161-A9E1-8446-0ADDE1B2F3DF}"/>
              </a:ext>
            </a:extLst>
          </p:cNvPr>
          <p:cNvSpPr/>
          <p:nvPr/>
        </p:nvSpPr>
        <p:spPr bwMode="auto">
          <a:xfrm>
            <a:off x="775653" y="575561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6" name="Oval 95">
            <a:extLst>
              <a:ext uri="{FF2B5EF4-FFF2-40B4-BE49-F238E27FC236}">
                <a16:creationId xmlns:a16="http://schemas.microsoft.com/office/drawing/2014/main" id="{0B049563-7354-F320-BCE8-3FFC989CBE04}"/>
              </a:ext>
            </a:extLst>
          </p:cNvPr>
          <p:cNvSpPr/>
          <p:nvPr/>
        </p:nvSpPr>
        <p:spPr bwMode="auto">
          <a:xfrm>
            <a:off x="775653" y="600492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7" name="TextBox 126">
            <a:extLst>
              <a:ext uri="{FF2B5EF4-FFF2-40B4-BE49-F238E27FC236}">
                <a16:creationId xmlns:a16="http://schemas.microsoft.com/office/drawing/2014/main" id="{44832970-80C6-7033-D479-198C36C0AD95}"/>
              </a:ext>
            </a:extLst>
          </p:cNvPr>
          <p:cNvSpPr txBox="1"/>
          <p:nvPr/>
        </p:nvSpPr>
        <p:spPr>
          <a:xfrm>
            <a:off x="1044951" y="2216051"/>
            <a:ext cx="4906333" cy="353943"/>
          </a:xfrm>
          <a:prstGeom prst="rect">
            <a:avLst/>
          </a:prstGeom>
          <a:noFill/>
        </p:spPr>
        <p:txBody>
          <a:bodyPr wrap="square" lIns="0" tIns="0" rIns="0" bIns="0">
            <a:noAutofit/>
          </a:bodyPr>
          <a:lstStyle/>
          <a:p>
            <a:pPr marR="0" lvl="0" indent="0" fontAlgn="auto">
              <a:spcBef>
                <a:spcPts val="0"/>
              </a:spcBef>
              <a:spcAft>
                <a:spcPts val="300"/>
              </a:spcAft>
              <a:buClrTx/>
              <a:buSzTx/>
              <a:buFontTx/>
              <a:buNone/>
              <a:tabLst/>
              <a:defRPr/>
            </a:pPr>
            <a:r>
              <a:rPr lang="en-US" sz="1050" noProof="0" dirty="0">
                <a:latin typeface="+mj-lt"/>
                <a:ea typeface="+mj-ea"/>
                <a:cs typeface="+mj-cs"/>
              </a:rPr>
              <a:t>Networking:</a:t>
            </a: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AVS + Express route scenario (Express route setup/availability is a prerequisite)</a:t>
            </a:r>
          </a:p>
        </p:txBody>
      </p:sp>
      <p:sp>
        <p:nvSpPr>
          <p:cNvPr id="148" name="TextBox 147">
            <a:extLst>
              <a:ext uri="{FF2B5EF4-FFF2-40B4-BE49-F238E27FC236}">
                <a16:creationId xmlns:a16="http://schemas.microsoft.com/office/drawing/2014/main" id="{9C233A3D-A40A-4E40-CBA1-37B8430E89EA}"/>
              </a:ext>
            </a:extLst>
          </p:cNvPr>
          <p:cNvSpPr txBox="1"/>
          <p:nvPr/>
        </p:nvSpPr>
        <p:spPr>
          <a:xfrm>
            <a:off x="1044951" y="2669924"/>
            <a:ext cx="4906333" cy="559127"/>
          </a:xfrm>
          <a:prstGeom prst="rect">
            <a:avLst/>
          </a:prstGeom>
          <a:noFill/>
        </p:spPr>
        <p:txBody>
          <a:bodyPr wrap="square" lIns="0" tIns="0" rIns="0" bIns="0">
            <a:noAutofit/>
          </a:bodyPr>
          <a:lstStyle/>
          <a:p>
            <a:pPr marR="0" lvl="0" indent="0" fontAlgn="auto">
              <a:spcBef>
                <a:spcPts val="0"/>
              </a:spcBef>
              <a:spcAft>
                <a:spcPts val="300"/>
              </a:spcAft>
              <a:buClrTx/>
              <a:buSzTx/>
              <a:buFontTx/>
              <a:buNone/>
              <a:tabLst/>
              <a:defRPr/>
            </a:pPr>
            <a:r>
              <a:rPr lang="en-US" sz="1050" noProof="0" dirty="0">
                <a:latin typeface="+mj-lt"/>
                <a:ea typeface="+mj-ea"/>
                <a:cs typeface="+mj-cs"/>
              </a:rPr>
              <a:t>Images:</a:t>
            </a: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Lift and shift of customers ‘Windows and Linux images, including files &amp; shares</a:t>
            </a: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Applications installed as part of existing image will be migrated as part of lift &amp; Shift</a:t>
            </a:r>
          </a:p>
        </p:txBody>
      </p:sp>
      <p:sp>
        <p:nvSpPr>
          <p:cNvPr id="160" name="TextBox 159">
            <a:extLst>
              <a:ext uri="{FF2B5EF4-FFF2-40B4-BE49-F238E27FC236}">
                <a16:creationId xmlns:a16="http://schemas.microsoft.com/office/drawing/2014/main" id="{36C6EE7F-FAC1-B5E9-7BD6-E880AF2AD906}"/>
              </a:ext>
            </a:extLst>
          </p:cNvPr>
          <p:cNvSpPr txBox="1"/>
          <p:nvPr/>
        </p:nvSpPr>
        <p:spPr>
          <a:xfrm>
            <a:off x="1044951" y="3328981"/>
            <a:ext cx="4906333" cy="161583"/>
          </a:xfrm>
          <a:prstGeom prst="rect">
            <a:avLst/>
          </a:prstGeom>
          <a:noFill/>
        </p:spPr>
        <p:txBody>
          <a:bodyPr wrap="square" lIns="0" tIns="0" rIns="0" bIns="0">
            <a:noAutofit/>
          </a:bodyPr>
          <a:lstStyle/>
          <a:p>
            <a:pPr marR="0" lvl="0" indent="0" fontAlgn="auto">
              <a:spcBef>
                <a:spcPts val="0"/>
              </a:spcBef>
              <a:spcAft>
                <a:spcPts val="300"/>
              </a:spcAft>
              <a:buClrTx/>
              <a:buSzTx/>
              <a:buFontTx/>
              <a:buNone/>
              <a:tabLst/>
              <a:defRPr/>
            </a:pPr>
            <a:r>
              <a:rPr lang="en-US" sz="1050" noProof="0" dirty="0">
                <a:latin typeface="+mj-lt"/>
                <a:ea typeface="+mj-ea"/>
                <a:cs typeface="+mj-cs"/>
              </a:rPr>
              <a:t>Supported VMware </a:t>
            </a:r>
            <a:r>
              <a:rPr lang="en-US" sz="1050" noProof="0" dirty="0">
                <a:ea typeface="+mj-ea"/>
                <a:cs typeface="+mj-cs"/>
              </a:rPr>
              <a:t>versions outlined </a:t>
            </a:r>
            <a:r>
              <a:rPr lang="en-US" sz="1050" noProof="0" dirty="0">
                <a:solidFill>
                  <a:schemeClr val="tx2"/>
                </a:solidFill>
                <a:ea typeface="+mj-ea"/>
                <a:cs typeface="+mj-cs"/>
                <a:hlinkClick r:id="rId3">
                  <a:extLst>
                    <a:ext uri="{A12FA001-AC4F-418D-AE19-62706E023703}">
                      <ahyp:hlinkClr xmlns:ahyp="http://schemas.microsoft.com/office/drawing/2018/hyperlinkcolor" val="tx"/>
                    </a:ext>
                  </a:extLst>
                </a:hlinkClick>
              </a:rPr>
              <a:t>here</a:t>
            </a:r>
            <a:endParaRPr lang="en-US" sz="1050" noProof="0" dirty="0">
              <a:solidFill>
                <a:schemeClr val="tx2"/>
              </a:solidFill>
              <a:ea typeface="+mj-ea"/>
              <a:cs typeface="+mj-cs"/>
            </a:endParaRPr>
          </a:p>
        </p:txBody>
      </p:sp>
      <p:sp>
        <p:nvSpPr>
          <p:cNvPr id="179" name="TextBox 178">
            <a:extLst>
              <a:ext uri="{FF2B5EF4-FFF2-40B4-BE49-F238E27FC236}">
                <a16:creationId xmlns:a16="http://schemas.microsoft.com/office/drawing/2014/main" id="{F90F3C8F-66A1-1219-6ED9-610AA06C19CC}"/>
              </a:ext>
            </a:extLst>
          </p:cNvPr>
          <p:cNvSpPr txBox="1"/>
          <p:nvPr/>
        </p:nvSpPr>
        <p:spPr>
          <a:xfrm>
            <a:off x="1044951" y="3590494"/>
            <a:ext cx="4906333" cy="559127"/>
          </a:xfrm>
          <a:prstGeom prst="rect">
            <a:avLst/>
          </a:prstGeom>
          <a:noFill/>
        </p:spPr>
        <p:txBody>
          <a:bodyPr wrap="square" lIns="0" tIns="0" rIns="0" bIns="0" anchor="t">
            <a:noAutofit/>
          </a:bodyPr>
          <a:lstStyle/>
          <a:p>
            <a:pPr marR="0" lvl="0" indent="0" fontAlgn="auto">
              <a:spcBef>
                <a:spcPts val="0"/>
              </a:spcBef>
              <a:spcAft>
                <a:spcPts val="300"/>
              </a:spcAft>
              <a:buClrTx/>
              <a:buSzTx/>
              <a:buFontTx/>
              <a:buNone/>
              <a:tabLst/>
              <a:defRPr/>
            </a:pPr>
            <a:r>
              <a:rPr lang="en-US" sz="1050" noProof="0" dirty="0">
                <a:latin typeface="+mj-lt"/>
                <a:ea typeface="+mj-ea"/>
                <a:cs typeface="+mj-cs"/>
              </a:rPr>
              <a:t>Supported Storage options (configuration only):</a:t>
            </a: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Azure NetApp files</a:t>
            </a: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Elastic SAN</a:t>
            </a:r>
          </a:p>
        </p:txBody>
      </p:sp>
      <p:sp>
        <p:nvSpPr>
          <p:cNvPr id="5" name="TextBox 4">
            <a:extLst>
              <a:ext uri="{FF2B5EF4-FFF2-40B4-BE49-F238E27FC236}">
                <a16:creationId xmlns:a16="http://schemas.microsoft.com/office/drawing/2014/main" id="{461CE324-72F5-722E-810F-3F79B7BF59B6}"/>
              </a:ext>
            </a:extLst>
          </p:cNvPr>
          <p:cNvSpPr txBox="1"/>
          <p:nvPr/>
        </p:nvSpPr>
        <p:spPr>
          <a:xfrm>
            <a:off x="1044951" y="5980505"/>
            <a:ext cx="4906333" cy="323165"/>
          </a:xfrm>
          <a:prstGeom prst="rect">
            <a:avLst/>
          </a:prstGeom>
          <a:noFill/>
        </p:spPr>
        <p:txBody>
          <a:bodyPr wrap="square" lIns="0" tIns="0" rIns="0" bIns="0">
            <a:noAutofit/>
          </a:bodyPr>
          <a:lstStyle/>
          <a:p>
            <a:pPr indent="-4762">
              <a:spcAft>
                <a:spcPts val="300"/>
              </a:spcAft>
              <a:defRPr/>
            </a:pPr>
            <a:r>
              <a:rPr lang="en-US" sz="1050" noProof="0" dirty="0">
                <a:latin typeface="+mj-lt"/>
                <a:ea typeface="+mj-ea"/>
                <a:cs typeface="+mj-cs"/>
              </a:rPr>
              <a:t>Platform Landing Zone: </a:t>
            </a:r>
            <a:r>
              <a:rPr lang="en-US" sz="1050" noProof="0" dirty="0">
                <a:ea typeface="+mj-ea"/>
                <a:cs typeface="+mj-cs"/>
              </a:rPr>
              <a:t>LZ deployment using Azure Landing Zone portal accelerator</a:t>
            </a:r>
          </a:p>
        </p:txBody>
      </p:sp>
      <p:sp>
        <p:nvSpPr>
          <p:cNvPr id="3" name="TextBox 2">
            <a:extLst>
              <a:ext uri="{FF2B5EF4-FFF2-40B4-BE49-F238E27FC236}">
                <a16:creationId xmlns:a16="http://schemas.microsoft.com/office/drawing/2014/main" id="{FF179347-C005-729A-064C-382EA60E9980}"/>
              </a:ext>
            </a:extLst>
          </p:cNvPr>
          <p:cNvSpPr txBox="1"/>
          <p:nvPr/>
        </p:nvSpPr>
        <p:spPr>
          <a:xfrm>
            <a:off x="1044951" y="4249555"/>
            <a:ext cx="4906333" cy="1123384"/>
          </a:xfrm>
          <a:prstGeom prst="rect">
            <a:avLst/>
          </a:prstGeom>
          <a:noFill/>
        </p:spPr>
        <p:txBody>
          <a:bodyPr wrap="square" lIns="0" tIns="0" rIns="0" bIns="0" anchor="t">
            <a:noAutofit/>
          </a:bodyPr>
          <a:lstStyle/>
          <a:p>
            <a:pPr marR="0" lvl="0" indent="0" fontAlgn="auto">
              <a:spcBef>
                <a:spcPts val="0"/>
              </a:spcBef>
              <a:spcAft>
                <a:spcPts val="300"/>
              </a:spcAft>
              <a:buClrTx/>
              <a:buSzTx/>
              <a:buFontTx/>
              <a:buNone/>
              <a:tabLst/>
              <a:defRPr/>
            </a:pPr>
            <a:r>
              <a:rPr lang="en-US" sz="1050" noProof="0" dirty="0">
                <a:latin typeface="+mj-lt"/>
                <a:ea typeface="+mj-ea"/>
                <a:cs typeface="+mj-cs"/>
              </a:rPr>
              <a:t>Supported Storage Migration Paths:</a:t>
            </a: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On-premises to AVS</a:t>
            </a: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AWS VMC to AVS</a:t>
            </a:r>
          </a:p>
          <a:p>
            <a:pPr marL="168275" lvl="1" indent="-114300">
              <a:spcAft>
                <a:spcPts val="400"/>
              </a:spcAft>
              <a:buFont typeface="Arial" panose="020B0604020202020204" pitchFamily="34" charset="0"/>
              <a:buChar char="•"/>
              <a:defRPr/>
            </a:pPr>
            <a:r>
              <a:rPr lang="en-US" sz="1000" kern="0" noProof="0" dirty="0"/>
              <a:t>AV36/AV36P/AV52 EOS migration to other SKUs (Gen1 or Gen2) (</a:t>
            </a:r>
            <a:r>
              <a:rPr lang="en-US" sz="1000" noProof="0" dirty="0">
                <a:solidFill>
                  <a:schemeClr val="tx2"/>
                </a:solidFill>
                <a:ea typeface="+mj-ea"/>
                <a:cs typeface="+mj-cs"/>
                <a:hlinkClick r:id="rId4" action="ppaction://hlinksldjump">
                  <a:extLst>
                    <a:ext uri="{A12FA001-AC4F-418D-AE19-62706E023703}">
                      <ahyp:hlinkClr xmlns:ahyp="http://schemas.microsoft.com/office/drawing/2018/hyperlinkcolor" val="tx"/>
                    </a:ext>
                  </a:extLst>
                </a:hlinkClick>
              </a:rPr>
              <a:t>details here</a:t>
            </a:r>
            <a:r>
              <a:rPr lang="en-US" sz="1000" kern="0" noProof="0" dirty="0"/>
              <a:t>)</a:t>
            </a:r>
            <a:endParaRPr lang="en-US" sz="1000" kern="0" noProof="0" dirty="0">
              <a:cs typeface="Segoe Sans Text"/>
            </a:endParaRPr>
          </a:p>
          <a:p>
            <a:pPr marL="168275" marR="0" lvl="1" indent="-114300" fontAlgn="auto">
              <a:spcBef>
                <a:spcPts val="0"/>
              </a:spcBef>
              <a:spcAft>
                <a:spcPts val="400"/>
              </a:spcAft>
              <a:buClrTx/>
              <a:buSzTx/>
              <a:buFont typeface="Arial" panose="020B0604020202020204" pitchFamily="34" charset="0"/>
              <a:buChar char="•"/>
              <a:tabLst/>
              <a:defRPr/>
            </a:pPr>
            <a:r>
              <a:rPr lang="en-US" sz="1000" kern="0" noProof="0" dirty="0"/>
              <a:t>AVS to Azure IaaS (refer Infrastructure Migration section of this document for details)</a:t>
            </a:r>
          </a:p>
        </p:txBody>
      </p:sp>
      <p:sp>
        <p:nvSpPr>
          <p:cNvPr id="9" name="TextBox 8">
            <a:extLst>
              <a:ext uri="{FF2B5EF4-FFF2-40B4-BE49-F238E27FC236}">
                <a16:creationId xmlns:a16="http://schemas.microsoft.com/office/drawing/2014/main" id="{E09F1AD8-1694-AEB2-440E-7836A754EF92}"/>
              </a:ext>
            </a:extLst>
          </p:cNvPr>
          <p:cNvSpPr txBox="1"/>
          <p:nvPr/>
        </p:nvSpPr>
        <p:spPr>
          <a:xfrm>
            <a:off x="1044951" y="5472865"/>
            <a:ext cx="4906333" cy="153888"/>
          </a:xfrm>
          <a:prstGeom prst="rect">
            <a:avLst/>
          </a:prstGeom>
          <a:noFill/>
        </p:spPr>
        <p:txBody>
          <a:bodyPr wrap="square" lIns="0" tIns="0" rIns="0" bIns="0">
            <a:noAutofit/>
          </a:bodyPr>
          <a:lstStyle/>
          <a:p>
            <a:pPr indent="-4762">
              <a:spcAft>
                <a:spcPts val="300"/>
              </a:spcAft>
              <a:defRPr/>
            </a:pPr>
            <a:r>
              <a:rPr lang="en-US" sz="1050" noProof="0" dirty="0">
                <a:latin typeface="+mj-lt"/>
                <a:ea typeface="+mj-ea"/>
                <a:cs typeface="+mj-cs"/>
              </a:rPr>
              <a:t>Azure Arc Integration: </a:t>
            </a:r>
            <a:r>
              <a:rPr lang="en-US" sz="1050" noProof="0" dirty="0">
                <a:ea typeface="+mj-ea"/>
                <a:cs typeface="+mj-cs"/>
              </a:rPr>
              <a:t>Enable Azure Arc for AVS</a:t>
            </a:r>
          </a:p>
        </p:txBody>
      </p:sp>
      <p:sp>
        <p:nvSpPr>
          <p:cNvPr id="10" name="TextBox 9">
            <a:extLst>
              <a:ext uri="{FF2B5EF4-FFF2-40B4-BE49-F238E27FC236}">
                <a16:creationId xmlns:a16="http://schemas.microsoft.com/office/drawing/2014/main" id="{752054EE-9454-82D5-64E0-896A57C65EAB}"/>
              </a:ext>
            </a:extLst>
          </p:cNvPr>
          <p:cNvSpPr txBox="1"/>
          <p:nvPr/>
        </p:nvSpPr>
        <p:spPr>
          <a:xfrm>
            <a:off x="1044951" y="5726689"/>
            <a:ext cx="4906333" cy="153888"/>
          </a:xfrm>
          <a:prstGeom prst="rect">
            <a:avLst/>
          </a:prstGeom>
          <a:noFill/>
        </p:spPr>
        <p:txBody>
          <a:bodyPr wrap="square" lIns="0" tIns="0" rIns="0" bIns="0">
            <a:noAutofit/>
          </a:bodyPr>
          <a:lstStyle/>
          <a:p>
            <a:pPr indent="-4762">
              <a:spcAft>
                <a:spcPts val="300"/>
              </a:spcAft>
              <a:defRPr/>
            </a:pPr>
            <a:r>
              <a:rPr lang="en-US" sz="1050" noProof="0" dirty="0">
                <a:latin typeface="+mj-lt"/>
                <a:ea typeface="+mj-ea"/>
                <a:cs typeface="+mj-cs"/>
              </a:rPr>
              <a:t>Security Integration: </a:t>
            </a:r>
            <a:r>
              <a:rPr lang="en-US" sz="1050" noProof="0" dirty="0">
                <a:ea typeface="+mj-ea"/>
                <a:cs typeface="+mj-cs"/>
              </a:rPr>
              <a:t>Enable Defender for Cloud &amp; Integration of Sentinel</a:t>
            </a:r>
          </a:p>
        </p:txBody>
      </p:sp>
      <p:cxnSp>
        <p:nvCxnSpPr>
          <p:cNvPr id="107" name="Straight Connector 106">
            <a:extLst>
              <a:ext uri="{FF2B5EF4-FFF2-40B4-BE49-F238E27FC236}">
                <a16:creationId xmlns:a16="http://schemas.microsoft.com/office/drawing/2014/main" id="{35509239-D4E8-0728-0B46-BC24D44BA75D}"/>
              </a:ext>
            </a:extLst>
          </p:cNvPr>
          <p:cNvCxnSpPr/>
          <p:nvPr/>
        </p:nvCxnSpPr>
        <p:spPr>
          <a:xfrm>
            <a:off x="1044951" y="261995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6CF63D0-1D8A-B7DA-0CE9-51D8ED7177D2}"/>
              </a:ext>
            </a:extLst>
          </p:cNvPr>
          <p:cNvCxnSpPr/>
          <p:nvPr/>
        </p:nvCxnSpPr>
        <p:spPr>
          <a:xfrm>
            <a:off x="1044951" y="327901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194A449-0E13-87AD-A2A2-5D3FC20BA3EB}"/>
              </a:ext>
            </a:extLst>
          </p:cNvPr>
          <p:cNvCxnSpPr/>
          <p:nvPr/>
        </p:nvCxnSpPr>
        <p:spPr>
          <a:xfrm>
            <a:off x="1044951" y="354052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7C9ED0AE-E4F4-3E12-BCA6-385A1E0FD2EC}"/>
              </a:ext>
            </a:extLst>
          </p:cNvPr>
          <p:cNvCxnSpPr/>
          <p:nvPr/>
        </p:nvCxnSpPr>
        <p:spPr>
          <a:xfrm>
            <a:off x="1044951" y="419958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C5F6104-9C89-38CE-B3D3-7C4E24C666B3}"/>
              </a:ext>
            </a:extLst>
          </p:cNvPr>
          <p:cNvCxnSpPr/>
          <p:nvPr/>
        </p:nvCxnSpPr>
        <p:spPr>
          <a:xfrm>
            <a:off x="1044951" y="5422900"/>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FE03C45A-691A-B62D-3DF1-2318843CA00E}"/>
              </a:ext>
            </a:extLst>
          </p:cNvPr>
          <p:cNvCxnSpPr/>
          <p:nvPr/>
        </p:nvCxnSpPr>
        <p:spPr>
          <a:xfrm>
            <a:off x="1044951" y="567671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AB1925E6-32C4-EDBC-A26E-946DF57C100C}"/>
              </a:ext>
            </a:extLst>
          </p:cNvPr>
          <p:cNvCxnSpPr/>
          <p:nvPr/>
        </p:nvCxnSpPr>
        <p:spPr>
          <a:xfrm>
            <a:off x="1044951" y="593053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699FA2-92A2-7A5C-159A-F859F2608948}"/>
              </a:ext>
            </a:extLst>
          </p:cNvPr>
          <p:cNvSpPr txBox="1"/>
          <p:nvPr/>
        </p:nvSpPr>
        <p:spPr>
          <a:xfrm>
            <a:off x="9467850" y="5242627"/>
            <a:ext cx="2041525" cy="307777"/>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Configuration of NSX-T DFW, NVA, LB, Firewall.​</a:t>
            </a:r>
          </a:p>
        </p:txBody>
      </p:sp>
      <p:sp>
        <p:nvSpPr>
          <p:cNvPr id="76" name="TextBox 75">
            <a:extLst>
              <a:ext uri="{FF2B5EF4-FFF2-40B4-BE49-F238E27FC236}">
                <a16:creationId xmlns:a16="http://schemas.microsoft.com/office/drawing/2014/main" id="{F92900CD-8AA0-34D7-B317-D321E612221E}"/>
              </a:ext>
            </a:extLst>
          </p:cNvPr>
          <p:cNvSpPr txBox="1"/>
          <p:nvPr/>
        </p:nvSpPr>
        <p:spPr>
          <a:xfrm>
            <a:off x="6648686" y="1839181"/>
            <a:ext cx="2328747" cy="461665"/>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Configuration changes to customer‘s existing network, Azure Active Directory, AD, firewall &amp; Security</a:t>
            </a:r>
          </a:p>
        </p:txBody>
      </p:sp>
      <p:sp>
        <p:nvSpPr>
          <p:cNvPr id="191" name="TextBox 190">
            <a:extLst>
              <a:ext uri="{FF2B5EF4-FFF2-40B4-BE49-F238E27FC236}">
                <a16:creationId xmlns:a16="http://schemas.microsoft.com/office/drawing/2014/main" id="{34A59A71-4341-6E3F-5C5E-0AF8B9C2DC21}"/>
              </a:ext>
            </a:extLst>
          </p:cNvPr>
          <p:cNvSpPr txBox="1"/>
          <p:nvPr/>
        </p:nvSpPr>
        <p:spPr>
          <a:xfrm>
            <a:off x="6648686" y="2457720"/>
            <a:ext cx="2328747" cy="153888"/>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Third-party tools integration into AVS</a:t>
            </a:r>
          </a:p>
        </p:txBody>
      </p:sp>
      <p:sp>
        <p:nvSpPr>
          <p:cNvPr id="193" name="TextBox 192">
            <a:extLst>
              <a:ext uri="{FF2B5EF4-FFF2-40B4-BE49-F238E27FC236}">
                <a16:creationId xmlns:a16="http://schemas.microsoft.com/office/drawing/2014/main" id="{B3E8C9A5-112B-E47C-FC0A-CD18FFE84CD1}"/>
              </a:ext>
            </a:extLst>
          </p:cNvPr>
          <p:cNvSpPr txBox="1"/>
          <p:nvPr/>
        </p:nvSpPr>
        <p:spPr>
          <a:xfrm>
            <a:off x="6648686" y="2768482"/>
            <a:ext cx="2328747" cy="461665"/>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VMware Image Customization and SOE Application installations (In case of Marketplace image)</a:t>
            </a:r>
          </a:p>
        </p:txBody>
      </p:sp>
      <p:sp>
        <p:nvSpPr>
          <p:cNvPr id="195" name="TextBox 194">
            <a:extLst>
              <a:ext uri="{FF2B5EF4-FFF2-40B4-BE49-F238E27FC236}">
                <a16:creationId xmlns:a16="http://schemas.microsoft.com/office/drawing/2014/main" id="{5F361D9B-4357-4E3E-6CDB-96C2B6D4236E}"/>
              </a:ext>
            </a:extLst>
          </p:cNvPr>
          <p:cNvSpPr txBox="1"/>
          <p:nvPr/>
        </p:nvSpPr>
        <p:spPr>
          <a:xfrm>
            <a:off x="6648686" y="3387021"/>
            <a:ext cx="2328747" cy="307777"/>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Application configuration, certification of existing image and packaging/testing</a:t>
            </a:r>
          </a:p>
        </p:txBody>
      </p:sp>
      <p:sp>
        <p:nvSpPr>
          <p:cNvPr id="197" name="TextBox 196">
            <a:extLst>
              <a:ext uri="{FF2B5EF4-FFF2-40B4-BE49-F238E27FC236}">
                <a16:creationId xmlns:a16="http://schemas.microsoft.com/office/drawing/2014/main" id="{268E180F-959A-37EB-B12F-DE76C7F14FA4}"/>
              </a:ext>
            </a:extLst>
          </p:cNvPr>
          <p:cNvSpPr txBox="1"/>
          <p:nvPr/>
        </p:nvSpPr>
        <p:spPr>
          <a:xfrm>
            <a:off x="6648686" y="3851672"/>
            <a:ext cx="2328747" cy="153888"/>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User/application performance analysis</a:t>
            </a:r>
          </a:p>
        </p:txBody>
      </p:sp>
      <p:sp>
        <p:nvSpPr>
          <p:cNvPr id="199" name="TextBox 198">
            <a:extLst>
              <a:ext uri="{FF2B5EF4-FFF2-40B4-BE49-F238E27FC236}">
                <a16:creationId xmlns:a16="http://schemas.microsoft.com/office/drawing/2014/main" id="{E16B2687-2475-409B-A49A-F582C2D4AD74}"/>
              </a:ext>
            </a:extLst>
          </p:cNvPr>
          <p:cNvSpPr txBox="1"/>
          <p:nvPr/>
        </p:nvSpPr>
        <p:spPr>
          <a:xfrm>
            <a:off x="6648686" y="4162434"/>
            <a:ext cx="2328747" cy="307777"/>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lang="en-US" sz="1000" kern="0" noProof="0" dirty="0"/>
              <a:t>U</a:t>
            </a:r>
            <a:r>
              <a:rPr kumimoji="0" lang="en-US" sz="1000" b="0" i="0" u="none" strike="noStrike" kern="0" cap="none" spc="0" normalizeH="0" baseline="0" noProof="0" dirty="0">
                <a:ln>
                  <a:noFill/>
                </a:ln>
                <a:effectLst/>
                <a:uLnTx/>
                <a:uFillTx/>
              </a:rPr>
              <a:t>ser profile data migration</a:t>
            </a:r>
          </a:p>
        </p:txBody>
      </p:sp>
      <p:sp>
        <p:nvSpPr>
          <p:cNvPr id="201" name="TextBox 200">
            <a:extLst>
              <a:ext uri="{FF2B5EF4-FFF2-40B4-BE49-F238E27FC236}">
                <a16:creationId xmlns:a16="http://schemas.microsoft.com/office/drawing/2014/main" id="{A27542A4-14BE-E013-3040-955358F8CFD4}"/>
              </a:ext>
            </a:extLst>
          </p:cNvPr>
          <p:cNvSpPr txBox="1"/>
          <p:nvPr/>
        </p:nvSpPr>
        <p:spPr>
          <a:xfrm>
            <a:off x="6648686" y="4627085"/>
            <a:ext cx="2328747" cy="461665"/>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Change request process, including internal communication, end user training, endpoint readiness </a:t>
            </a:r>
          </a:p>
        </p:txBody>
      </p:sp>
      <p:sp>
        <p:nvSpPr>
          <p:cNvPr id="211" name="TextBox 210">
            <a:extLst>
              <a:ext uri="{FF2B5EF4-FFF2-40B4-BE49-F238E27FC236}">
                <a16:creationId xmlns:a16="http://schemas.microsoft.com/office/drawing/2014/main" id="{9B682181-22A9-1E2F-C824-01110A114989}"/>
              </a:ext>
            </a:extLst>
          </p:cNvPr>
          <p:cNvSpPr txBox="1"/>
          <p:nvPr/>
        </p:nvSpPr>
        <p:spPr>
          <a:xfrm>
            <a:off x="6648686" y="5245624"/>
            <a:ext cx="2328747" cy="461665"/>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Testing of dependencies (e.g., applications, mapped databases) and source system changes</a:t>
            </a:r>
          </a:p>
        </p:txBody>
      </p:sp>
      <p:sp>
        <p:nvSpPr>
          <p:cNvPr id="214" name="TextBox 213">
            <a:extLst>
              <a:ext uri="{FF2B5EF4-FFF2-40B4-BE49-F238E27FC236}">
                <a16:creationId xmlns:a16="http://schemas.microsoft.com/office/drawing/2014/main" id="{78C6DB06-BC2B-0DE5-EB68-E00CA338666A}"/>
              </a:ext>
            </a:extLst>
          </p:cNvPr>
          <p:cNvSpPr txBox="1"/>
          <p:nvPr/>
        </p:nvSpPr>
        <p:spPr>
          <a:xfrm>
            <a:off x="6648686" y="5864155"/>
            <a:ext cx="2328747" cy="461665"/>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Advisory and consulting services. Troubleshooting unrelated to migration</a:t>
            </a:r>
          </a:p>
        </p:txBody>
      </p:sp>
      <p:sp>
        <p:nvSpPr>
          <p:cNvPr id="106" name="TextBox 105">
            <a:extLst>
              <a:ext uri="{FF2B5EF4-FFF2-40B4-BE49-F238E27FC236}">
                <a16:creationId xmlns:a16="http://schemas.microsoft.com/office/drawing/2014/main" id="{86D635FF-0CC4-BA82-367D-E380D0F16EB5}"/>
              </a:ext>
            </a:extLst>
          </p:cNvPr>
          <p:cNvSpPr txBox="1"/>
          <p:nvPr/>
        </p:nvSpPr>
        <p:spPr>
          <a:xfrm>
            <a:off x="9467850" y="1839181"/>
            <a:ext cx="2041525" cy="461665"/>
          </a:xfrm>
          <a:prstGeom prst="rect">
            <a:avLst/>
          </a:prstGeom>
          <a:noFill/>
        </p:spPr>
        <p:txBody>
          <a:bodyPr wrap="square" lIns="0" tIns="0" rIns="0" bIns="0">
            <a:no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Any changes in the source (any time) and target environments (after handover)</a:t>
            </a:r>
          </a:p>
        </p:txBody>
      </p:sp>
      <p:sp>
        <p:nvSpPr>
          <p:cNvPr id="109" name="TextBox 108">
            <a:extLst>
              <a:ext uri="{FF2B5EF4-FFF2-40B4-BE49-F238E27FC236}">
                <a16:creationId xmlns:a16="http://schemas.microsoft.com/office/drawing/2014/main" id="{D247250A-7E0A-D500-2AB0-4EA992B62AE3}"/>
              </a:ext>
            </a:extLst>
          </p:cNvPr>
          <p:cNvSpPr txBox="1"/>
          <p:nvPr/>
        </p:nvSpPr>
        <p:spPr>
          <a:xfrm>
            <a:off x="9467850" y="2457718"/>
            <a:ext cx="2041525" cy="461665"/>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Any application/services related configurations and testing (pre- and post‑migration)</a:t>
            </a:r>
          </a:p>
        </p:txBody>
      </p:sp>
      <p:sp>
        <p:nvSpPr>
          <p:cNvPr id="113" name="TextBox 112">
            <a:extLst>
              <a:ext uri="{FF2B5EF4-FFF2-40B4-BE49-F238E27FC236}">
                <a16:creationId xmlns:a16="http://schemas.microsoft.com/office/drawing/2014/main" id="{998D79EB-D409-6A58-C7B0-9D4152244594}"/>
              </a:ext>
            </a:extLst>
          </p:cNvPr>
          <p:cNvSpPr txBox="1"/>
          <p:nvPr/>
        </p:nvSpPr>
        <p:spPr>
          <a:xfrm>
            <a:off x="9467850" y="3076255"/>
            <a:ext cx="2041525" cy="461665"/>
          </a:xfrm>
          <a:prstGeom prst="rect">
            <a:avLst/>
          </a:prstGeom>
          <a:noFill/>
        </p:spPr>
        <p:txBody>
          <a:bodyPr wrap="square" lIns="0" tIns="0" rIns="0" bIns="0" anchor="t">
            <a:sp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Performing and configuring backups, monitoring</a:t>
            </a:r>
            <a:r>
              <a:rPr lang="en-US" sz="1000" kern="0" noProof="0" dirty="0"/>
              <a:t>,</a:t>
            </a:r>
            <a:r>
              <a:rPr kumimoji="0" lang="en-US" sz="1000" b="0" i="0" u="none" strike="noStrike" kern="0" cap="none" spc="0" normalizeH="0" baseline="0" noProof="0" dirty="0">
                <a:ln>
                  <a:noFill/>
                </a:ln>
                <a:effectLst/>
                <a:uLnTx/>
                <a:uFillTx/>
              </a:rPr>
              <a:t> and alerts (pre- and post‑migration)</a:t>
            </a:r>
          </a:p>
        </p:txBody>
      </p:sp>
      <p:sp>
        <p:nvSpPr>
          <p:cNvPr id="116" name="TextBox 115">
            <a:extLst>
              <a:ext uri="{FF2B5EF4-FFF2-40B4-BE49-F238E27FC236}">
                <a16:creationId xmlns:a16="http://schemas.microsoft.com/office/drawing/2014/main" id="{08905A8F-3710-D3E3-B0DA-F16D5303F97F}"/>
              </a:ext>
            </a:extLst>
          </p:cNvPr>
          <p:cNvSpPr txBox="1"/>
          <p:nvPr/>
        </p:nvSpPr>
        <p:spPr>
          <a:xfrm>
            <a:off x="9468708" y="3694792"/>
            <a:ext cx="2069241" cy="307777"/>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Disaster recovery setup, configuration for On premise to AVS </a:t>
            </a:r>
          </a:p>
        </p:txBody>
      </p:sp>
      <p:sp>
        <p:nvSpPr>
          <p:cNvPr id="119" name="TextBox 118">
            <a:extLst>
              <a:ext uri="{FF2B5EF4-FFF2-40B4-BE49-F238E27FC236}">
                <a16:creationId xmlns:a16="http://schemas.microsoft.com/office/drawing/2014/main" id="{881D7A76-8CC2-52F5-0401-F5E36D000711}"/>
              </a:ext>
            </a:extLst>
          </p:cNvPr>
          <p:cNvSpPr txBox="1"/>
          <p:nvPr/>
        </p:nvSpPr>
        <p:spPr>
          <a:xfrm>
            <a:off x="9467850" y="4159441"/>
            <a:ext cx="2041525" cy="307777"/>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Any target environment setup &amp; configuration</a:t>
            </a:r>
          </a:p>
        </p:txBody>
      </p:sp>
      <p:sp>
        <p:nvSpPr>
          <p:cNvPr id="225" name="TextBox 224">
            <a:extLst>
              <a:ext uri="{FF2B5EF4-FFF2-40B4-BE49-F238E27FC236}">
                <a16:creationId xmlns:a16="http://schemas.microsoft.com/office/drawing/2014/main" id="{2BCCE2AE-1EB1-381D-AF69-97ED791B9B5C}"/>
              </a:ext>
            </a:extLst>
          </p:cNvPr>
          <p:cNvSpPr txBox="1"/>
          <p:nvPr/>
        </p:nvSpPr>
        <p:spPr>
          <a:xfrm>
            <a:off x="9467850" y="4624090"/>
            <a:ext cx="2041525" cy="461665"/>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en-US" sz="1000" b="0" i="0" u="none" strike="noStrike" kern="0" cap="none" spc="0" normalizeH="0" baseline="0" noProof="0" dirty="0">
                <a:ln>
                  <a:noFill/>
                </a:ln>
                <a:effectLst/>
                <a:uLnTx/>
                <a:uFillTx/>
              </a:rPr>
              <a:t>Any other migration path [ex: Zerto, Jetstream, etc..) not listed in the scope</a:t>
            </a:r>
          </a:p>
        </p:txBody>
      </p:sp>
      <p:sp>
        <p:nvSpPr>
          <p:cNvPr id="18" name="TextBox 17">
            <a:extLst>
              <a:ext uri="{FF2B5EF4-FFF2-40B4-BE49-F238E27FC236}">
                <a16:creationId xmlns:a16="http://schemas.microsoft.com/office/drawing/2014/main" id="{6137811B-EBE9-6AAA-C9FA-CF06D661074B}"/>
              </a:ext>
            </a:extLst>
          </p:cNvPr>
          <p:cNvSpPr txBox="1"/>
          <p:nvPr/>
        </p:nvSpPr>
        <p:spPr>
          <a:xfrm>
            <a:off x="9482137" y="5707276"/>
            <a:ext cx="2041525" cy="153888"/>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lang="en-US" sz="1000" kern="0" noProof="0" dirty="0"/>
              <a:t>Database cluster configuration</a:t>
            </a:r>
            <a:endParaRPr kumimoji="0" lang="en-US" sz="1000" b="0" i="0" u="none" strike="noStrike" kern="0" cap="none" spc="0" normalizeH="0" baseline="0" noProof="0" dirty="0">
              <a:ln>
                <a:noFill/>
              </a:ln>
              <a:effectLst/>
              <a:uLnTx/>
              <a:uFillTx/>
            </a:endParaRPr>
          </a:p>
        </p:txBody>
      </p:sp>
      <p:sp>
        <p:nvSpPr>
          <p:cNvPr id="19" name="TextBox 18">
            <a:extLst>
              <a:ext uri="{FF2B5EF4-FFF2-40B4-BE49-F238E27FC236}">
                <a16:creationId xmlns:a16="http://schemas.microsoft.com/office/drawing/2014/main" id="{3915FE00-37E0-35DD-DDC8-8C6E7A1B40E4}"/>
              </a:ext>
            </a:extLst>
          </p:cNvPr>
          <p:cNvSpPr txBox="1"/>
          <p:nvPr/>
        </p:nvSpPr>
        <p:spPr>
          <a:xfrm>
            <a:off x="9482137" y="6018043"/>
            <a:ext cx="2041525" cy="307777"/>
          </a:xfrm>
          <a:prstGeom prst="rect">
            <a:avLst/>
          </a:prstGeom>
          <a:noFill/>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lang="en-US" sz="1000" kern="0" noProof="0" dirty="0"/>
              <a:t>Existing Landing Zone customization</a:t>
            </a:r>
            <a:endParaRPr kumimoji="0" lang="en-US" sz="1000" b="0" i="0" u="none" strike="noStrike" kern="0" cap="none" spc="0" normalizeH="0" baseline="0" noProof="0" dirty="0">
              <a:ln>
                <a:noFill/>
              </a:ln>
              <a:effectLst/>
              <a:uLnTx/>
              <a:uFillTx/>
            </a:endParaRPr>
          </a:p>
        </p:txBody>
      </p:sp>
      <p:cxnSp>
        <p:nvCxnSpPr>
          <p:cNvPr id="129" name="Straight Connector 128">
            <a:extLst>
              <a:ext uri="{FF2B5EF4-FFF2-40B4-BE49-F238E27FC236}">
                <a16:creationId xmlns:a16="http://schemas.microsoft.com/office/drawing/2014/main" id="{845B117A-2AEF-33DE-4E7D-FEF40505573C}"/>
              </a:ext>
            </a:extLst>
          </p:cNvPr>
          <p:cNvCxnSpPr/>
          <p:nvPr/>
        </p:nvCxnSpPr>
        <p:spPr>
          <a:xfrm>
            <a:off x="6648686" y="4083997"/>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F74D082-AAE5-9BFA-684E-61E9D0BD7E6B}"/>
              </a:ext>
            </a:extLst>
          </p:cNvPr>
          <p:cNvCxnSpPr/>
          <p:nvPr/>
        </p:nvCxnSpPr>
        <p:spPr>
          <a:xfrm>
            <a:off x="6648686" y="3773235"/>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EB52391-8317-41E5-1390-6EFD7593F35F}"/>
              </a:ext>
            </a:extLst>
          </p:cNvPr>
          <p:cNvCxnSpPr/>
          <p:nvPr/>
        </p:nvCxnSpPr>
        <p:spPr>
          <a:xfrm>
            <a:off x="6648686" y="3308584"/>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B7E1A9B-A658-7DF1-B7FD-1A983B1BF49B}"/>
              </a:ext>
            </a:extLst>
          </p:cNvPr>
          <p:cNvCxnSpPr/>
          <p:nvPr/>
        </p:nvCxnSpPr>
        <p:spPr>
          <a:xfrm>
            <a:off x="6648686" y="2690045"/>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E56B9B5-D93A-8F28-A617-5E6EF338027D}"/>
              </a:ext>
            </a:extLst>
          </p:cNvPr>
          <p:cNvCxnSpPr/>
          <p:nvPr/>
        </p:nvCxnSpPr>
        <p:spPr>
          <a:xfrm>
            <a:off x="6648686" y="2379283"/>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2FC9374-5BE3-D575-858B-AD3E2547A115}"/>
              </a:ext>
            </a:extLst>
          </p:cNvPr>
          <p:cNvCxnSpPr/>
          <p:nvPr/>
        </p:nvCxnSpPr>
        <p:spPr>
          <a:xfrm>
            <a:off x="6648686" y="5167187"/>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442B85B3-5F65-D683-B6AA-ECBD0AD9965C}"/>
              </a:ext>
            </a:extLst>
          </p:cNvPr>
          <p:cNvCxnSpPr/>
          <p:nvPr/>
        </p:nvCxnSpPr>
        <p:spPr>
          <a:xfrm>
            <a:off x="6648686" y="4548648"/>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AACFFA8-6AA8-8B44-2C7D-38D08F778FF3}"/>
              </a:ext>
            </a:extLst>
          </p:cNvPr>
          <p:cNvCxnSpPr/>
          <p:nvPr/>
        </p:nvCxnSpPr>
        <p:spPr>
          <a:xfrm>
            <a:off x="6648686" y="5785726"/>
            <a:ext cx="2328747"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6B9797F8-3CB9-A531-C894-DC98C9A990EB}"/>
              </a:ext>
            </a:extLst>
          </p:cNvPr>
          <p:cNvSpPr/>
          <p:nvPr/>
        </p:nvSpPr>
        <p:spPr bwMode="auto">
          <a:xfrm>
            <a:off x="6320111" y="386003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8" name="Oval 137">
            <a:extLst>
              <a:ext uri="{FF2B5EF4-FFF2-40B4-BE49-F238E27FC236}">
                <a16:creationId xmlns:a16="http://schemas.microsoft.com/office/drawing/2014/main" id="{EF1936FC-D354-52B3-BCFE-F36204210515}"/>
              </a:ext>
            </a:extLst>
          </p:cNvPr>
          <p:cNvSpPr/>
          <p:nvPr/>
        </p:nvSpPr>
        <p:spPr bwMode="auto">
          <a:xfrm>
            <a:off x="6320111" y="338702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9" name="Oval 138">
            <a:extLst>
              <a:ext uri="{FF2B5EF4-FFF2-40B4-BE49-F238E27FC236}">
                <a16:creationId xmlns:a16="http://schemas.microsoft.com/office/drawing/2014/main" id="{509085A1-5309-57D3-5DEA-FF5995E3C45A}"/>
              </a:ext>
            </a:extLst>
          </p:cNvPr>
          <p:cNvSpPr/>
          <p:nvPr/>
        </p:nvSpPr>
        <p:spPr bwMode="auto">
          <a:xfrm>
            <a:off x="6320111" y="276848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1" name="Oval 140">
            <a:extLst>
              <a:ext uri="{FF2B5EF4-FFF2-40B4-BE49-F238E27FC236}">
                <a16:creationId xmlns:a16="http://schemas.microsoft.com/office/drawing/2014/main" id="{B6C56C38-4C37-94FE-5BCF-AC1FC5DA9966}"/>
              </a:ext>
            </a:extLst>
          </p:cNvPr>
          <p:cNvSpPr/>
          <p:nvPr/>
        </p:nvSpPr>
        <p:spPr bwMode="auto">
          <a:xfrm>
            <a:off x="9206531" y="185139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2" name="Oval 141">
            <a:extLst>
              <a:ext uri="{FF2B5EF4-FFF2-40B4-BE49-F238E27FC236}">
                <a16:creationId xmlns:a16="http://schemas.microsoft.com/office/drawing/2014/main" id="{20CE93E2-2265-E11D-1B03-24449B32F158}"/>
              </a:ext>
            </a:extLst>
          </p:cNvPr>
          <p:cNvSpPr/>
          <p:nvPr/>
        </p:nvSpPr>
        <p:spPr bwMode="auto">
          <a:xfrm>
            <a:off x="9206531" y="245771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3" name="Oval 142">
            <a:extLst>
              <a:ext uri="{FF2B5EF4-FFF2-40B4-BE49-F238E27FC236}">
                <a16:creationId xmlns:a16="http://schemas.microsoft.com/office/drawing/2014/main" id="{16DE98C0-5DFE-111D-5939-CD4FDB45D48E}"/>
              </a:ext>
            </a:extLst>
          </p:cNvPr>
          <p:cNvSpPr/>
          <p:nvPr/>
        </p:nvSpPr>
        <p:spPr bwMode="auto">
          <a:xfrm>
            <a:off x="9206531" y="462409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4" name="Oval 143">
            <a:extLst>
              <a:ext uri="{FF2B5EF4-FFF2-40B4-BE49-F238E27FC236}">
                <a16:creationId xmlns:a16="http://schemas.microsoft.com/office/drawing/2014/main" id="{A1E58DA0-C724-6582-DE05-F53483A0AFD9}"/>
              </a:ext>
            </a:extLst>
          </p:cNvPr>
          <p:cNvSpPr/>
          <p:nvPr/>
        </p:nvSpPr>
        <p:spPr bwMode="auto">
          <a:xfrm>
            <a:off x="9206531" y="524262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5" name="Oval 144">
            <a:extLst>
              <a:ext uri="{FF2B5EF4-FFF2-40B4-BE49-F238E27FC236}">
                <a16:creationId xmlns:a16="http://schemas.microsoft.com/office/drawing/2014/main" id="{7B4BE644-35B4-D021-29C7-5D8D727D35C1}"/>
              </a:ext>
            </a:extLst>
          </p:cNvPr>
          <p:cNvSpPr/>
          <p:nvPr/>
        </p:nvSpPr>
        <p:spPr bwMode="auto">
          <a:xfrm>
            <a:off x="9206531" y="571564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6" name="Oval 145">
            <a:extLst>
              <a:ext uri="{FF2B5EF4-FFF2-40B4-BE49-F238E27FC236}">
                <a16:creationId xmlns:a16="http://schemas.microsoft.com/office/drawing/2014/main" id="{EAB897B4-B0E6-6DCB-C5DF-D7D4D801B37B}"/>
              </a:ext>
            </a:extLst>
          </p:cNvPr>
          <p:cNvSpPr/>
          <p:nvPr/>
        </p:nvSpPr>
        <p:spPr bwMode="auto">
          <a:xfrm>
            <a:off x="9206531" y="601804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9" name="Oval 148">
            <a:extLst>
              <a:ext uri="{FF2B5EF4-FFF2-40B4-BE49-F238E27FC236}">
                <a16:creationId xmlns:a16="http://schemas.microsoft.com/office/drawing/2014/main" id="{04C5A799-1E27-C026-DE75-CD0633CA2AF0}"/>
              </a:ext>
            </a:extLst>
          </p:cNvPr>
          <p:cNvSpPr/>
          <p:nvPr/>
        </p:nvSpPr>
        <p:spPr bwMode="auto">
          <a:xfrm>
            <a:off x="9206531" y="415944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0" name="Oval 149">
            <a:extLst>
              <a:ext uri="{FF2B5EF4-FFF2-40B4-BE49-F238E27FC236}">
                <a16:creationId xmlns:a16="http://schemas.microsoft.com/office/drawing/2014/main" id="{C1991D6C-F71F-4030-4F16-DDE1D9F5C914}"/>
              </a:ext>
            </a:extLst>
          </p:cNvPr>
          <p:cNvSpPr/>
          <p:nvPr/>
        </p:nvSpPr>
        <p:spPr bwMode="auto">
          <a:xfrm>
            <a:off x="9206531" y="369479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1" name="Oval 150">
            <a:extLst>
              <a:ext uri="{FF2B5EF4-FFF2-40B4-BE49-F238E27FC236}">
                <a16:creationId xmlns:a16="http://schemas.microsoft.com/office/drawing/2014/main" id="{0EA2670A-3E53-13C7-258A-FEBAB7E65FFE}"/>
              </a:ext>
            </a:extLst>
          </p:cNvPr>
          <p:cNvSpPr/>
          <p:nvPr/>
        </p:nvSpPr>
        <p:spPr bwMode="auto">
          <a:xfrm>
            <a:off x="9206531" y="307625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52" name="Straight Connector 151">
            <a:extLst>
              <a:ext uri="{FF2B5EF4-FFF2-40B4-BE49-F238E27FC236}">
                <a16:creationId xmlns:a16="http://schemas.microsoft.com/office/drawing/2014/main" id="{5CBB82DD-4610-448D-B672-4540DD8556F8}"/>
              </a:ext>
            </a:extLst>
          </p:cNvPr>
          <p:cNvCxnSpPr/>
          <p:nvPr/>
        </p:nvCxnSpPr>
        <p:spPr>
          <a:xfrm>
            <a:off x="9467850" y="2379282"/>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EBD4BF09-E87F-943F-D070-A388A4258BF8}"/>
              </a:ext>
            </a:extLst>
          </p:cNvPr>
          <p:cNvCxnSpPr/>
          <p:nvPr/>
        </p:nvCxnSpPr>
        <p:spPr>
          <a:xfrm>
            <a:off x="9467850" y="2997819"/>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ACA971DC-D3E5-B090-BB1D-2F48CAA8CCE3}"/>
              </a:ext>
            </a:extLst>
          </p:cNvPr>
          <p:cNvCxnSpPr/>
          <p:nvPr/>
        </p:nvCxnSpPr>
        <p:spPr>
          <a:xfrm>
            <a:off x="9467850" y="3616356"/>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4CEE9F66-D446-E35D-CCC6-A9AB435A0C26}"/>
              </a:ext>
            </a:extLst>
          </p:cNvPr>
          <p:cNvCxnSpPr/>
          <p:nvPr/>
        </p:nvCxnSpPr>
        <p:spPr>
          <a:xfrm>
            <a:off x="9467850" y="4081005"/>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C8AFF5A0-BAE8-086B-BD1F-14EED1C930A7}"/>
              </a:ext>
            </a:extLst>
          </p:cNvPr>
          <p:cNvCxnSpPr/>
          <p:nvPr/>
        </p:nvCxnSpPr>
        <p:spPr>
          <a:xfrm>
            <a:off x="9467850" y="4545654"/>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B5C49A0D-0DAB-F697-FDDA-5BD4CA2A9269}"/>
              </a:ext>
            </a:extLst>
          </p:cNvPr>
          <p:cNvCxnSpPr/>
          <p:nvPr/>
        </p:nvCxnSpPr>
        <p:spPr>
          <a:xfrm>
            <a:off x="9467850" y="5164191"/>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A19FCA33-A134-D4EF-ACF1-05E01C86646B}"/>
              </a:ext>
            </a:extLst>
          </p:cNvPr>
          <p:cNvCxnSpPr/>
          <p:nvPr/>
        </p:nvCxnSpPr>
        <p:spPr>
          <a:xfrm>
            <a:off x="9467850" y="5628840"/>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A50E3553-EE76-062D-F50A-2640A94CF942}"/>
              </a:ext>
            </a:extLst>
          </p:cNvPr>
          <p:cNvCxnSpPr/>
          <p:nvPr/>
        </p:nvCxnSpPr>
        <p:spPr>
          <a:xfrm>
            <a:off x="9467850" y="5939600"/>
            <a:ext cx="2041525"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02B697C7-FB7D-FD61-8868-6CD4CBA99064}"/>
              </a:ext>
            </a:extLst>
          </p:cNvPr>
          <p:cNvSpPr/>
          <p:nvPr/>
        </p:nvSpPr>
        <p:spPr bwMode="auto">
          <a:xfrm>
            <a:off x="775653" y="26881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 name="Oval 5">
            <a:extLst>
              <a:ext uri="{FF2B5EF4-FFF2-40B4-BE49-F238E27FC236}">
                <a16:creationId xmlns:a16="http://schemas.microsoft.com/office/drawing/2014/main" id="{FDDBA5D0-535B-2320-A428-1D7D585604AE}"/>
              </a:ext>
            </a:extLst>
          </p:cNvPr>
          <p:cNvSpPr/>
          <p:nvPr/>
        </p:nvSpPr>
        <p:spPr bwMode="auto">
          <a:xfrm>
            <a:off x="775653" y="334535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 name="Oval 6">
            <a:extLst>
              <a:ext uri="{FF2B5EF4-FFF2-40B4-BE49-F238E27FC236}">
                <a16:creationId xmlns:a16="http://schemas.microsoft.com/office/drawing/2014/main" id="{0B2D2163-E8CF-B7D7-D147-E577B71B1EB4}"/>
              </a:ext>
            </a:extLst>
          </p:cNvPr>
          <p:cNvSpPr/>
          <p:nvPr/>
        </p:nvSpPr>
        <p:spPr bwMode="auto">
          <a:xfrm>
            <a:off x="775653" y="360271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 name="Oval 7">
            <a:extLst>
              <a:ext uri="{FF2B5EF4-FFF2-40B4-BE49-F238E27FC236}">
                <a16:creationId xmlns:a16="http://schemas.microsoft.com/office/drawing/2014/main" id="{9F48988B-5564-E68B-9BE7-ECB4A1BA05DE}"/>
              </a:ext>
            </a:extLst>
          </p:cNvPr>
          <p:cNvSpPr/>
          <p:nvPr/>
        </p:nvSpPr>
        <p:spPr bwMode="auto">
          <a:xfrm>
            <a:off x="775653" y="425223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FE4AC0CA-C795-8EF7-727C-9640A02A8BB2}"/>
              </a:ext>
            </a:extLst>
          </p:cNvPr>
          <p:cNvSpPr txBox="1">
            <a:spLocks/>
          </p:cNvSpPr>
          <p:nvPr/>
        </p:nvSpPr>
        <p:spPr>
          <a:xfrm>
            <a:off x="594107" y="1310989"/>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15" name="TextBox 14">
            <a:extLst>
              <a:ext uri="{FF2B5EF4-FFF2-40B4-BE49-F238E27FC236}">
                <a16:creationId xmlns:a16="http://schemas.microsoft.com/office/drawing/2014/main" id="{8CBC172E-7D9F-4969-1C05-CCC15108CCE3}"/>
              </a:ext>
            </a:extLst>
          </p:cNvPr>
          <p:cNvSpPr txBox="1">
            <a:spLocks/>
          </p:cNvSpPr>
          <p:nvPr/>
        </p:nvSpPr>
        <p:spPr>
          <a:xfrm>
            <a:off x="6161811" y="1298474"/>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12" name="TextBox 11">
            <a:extLst>
              <a:ext uri="{FF2B5EF4-FFF2-40B4-BE49-F238E27FC236}">
                <a16:creationId xmlns:a16="http://schemas.microsoft.com/office/drawing/2014/main" id="{009A9E80-79D2-D1F0-3C1E-AEDE8DB33040}"/>
              </a:ext>
            </a:extLst>
          </p:cNvPr>
          <p:cNvSpPr txBox="1"/>
          <p:nvPr/>
        </p:nvSpPr>
        <p:spPr>
          <a:xfrm>
            <a:off x="6293177" y="1640253"/>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4" name="TextBox 13">
            <a:extLst>
              <a:ext uri="{FF2B5EF4-FFF2-40B4-BE49-F238E27FC236}">
                <a16:creationId xmlns:a16="http://schemas.microsoft.com/office/drawing/2014/main" id="{05F4F067-1801-CDD6-B300-47EBFBD00454}"/>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C9B2A9E2-F993-5FC6-7467-10FC66AC72C1}"/>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1320021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391E5-1295-BFDB-AF96-3F8D17E0EA5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933B39F-941B-422B-8C55-DD0AD385FCCB}"/>
              </a:ext>
            </a:extLst>
          </p:cNvPr>
          <p:cNvSpPr>
            <a:spLocks noGrp="1"/>
          </p:cNvSpPr>
          <p:nvPr>
            <p:ph type="title"/>
          </p:nvPr>
        </p:nvSpPr>
        <p:spPr>
          <a:xfrm>
            <a:off x="588624" y="369517"/>
            <a:ext cx="9024937" cy="646331"/>
          </a:xfrm>
        </p:spPr>
        <p:txBody>
          <a:bodyPr/>
          <a:lstStyle/>
          <a:p>
            <a:r>
              <a:rPr lang="en-US" sz="2400" noProof="0" dirty="0"/>
              <a:t>Key Deliverables</a:t>
            </a:r>
            <a:br>
              <a:rPr lang="en-US" sz="2400" noProof="0" dirty="0"/>
            </a:br>
            <a:r>
              <a:rPr lang="en-US" sz="1800" noProof="0" dirty="0">
                <a:solidFill>
                  <a:schemeClr val="tx1"/>
                </a:solidFill>
              </a:rPr>
              <a:t>Azure VMware Solution (AVS) migration</a:t>
            </a:r>
          </a:p>
        </p:txBody>
      </p:sp>
      <p:sp>
        <p:nvSpPr>
          <p:cNvPr id="8" name="Rounded Rectangle 55">
            <a:extLst>
              <a:ext uri="{FF2B5EF4-FFF2-40B4-BE49-F238E27FC236}">
                <a16:creationId xmlns:a16="http://schemas.microsoft.com/office/drawing/2014/main" id="{4E5FEDB1-F24E-EA48-579C-DA52F2CD7235}"/>
              </a:ext>
              <a:ext uri="{C183D7F6-B498-43B3-948B-1728B52AA6E4}">
                <adec:decorative xmlns:adec="http://schemas.microsoft.com/office/drawing/2017/decorative" val="1"/>
              </a:ext>
            </a:extLst>
          </p:cNvPr>
          <p:cNvSpPr/>
          <p:nvPr/>
        </p:nvSpPr>
        <p:spPr bwMode="auto">
          <a:xfrm>
            <a:off x="588624" y="1587815"/>
            <a:ext cx="2448877" cy="4709179"/>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 name="Content Placeholder 4">
            <a:extLst>
              <a:ext uri="{FF2B5EF4-FFF2-40B4-BE49-F238E27FC236}">
                <a16:creationId xmlns:a16="http://schemas.microsoft.com/office/drawing/2014/main" id="{E557FB3E-5CFA-B323-03AE-E7E97FA7CC85}"/>
              </a:ext>
            </a:extLst>
          </p:cNvPr>
          <p:cNvSpPr txBox="1">
            <a:spLocks/>
          </p:cNvSpPr>
          <p:nvPr/>
        </p:nvSpPr>
        <p:spPr>
          <a:xfrm>
            <a:off x="588624" y="1980879"/>
            <a:ext cx="2448877" cy="1846659"/>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100000"/>
              </a:lnSpc>
              <a:buFont typeface="Wingdings" panose="05000000000000000000" pitchFamily="2" charset="2"/>
              <a:buChar char="ü"/>
              <a:defRPr/>
            </a:pPr>
            <a:r>
              <a:rPr lang="en-US" sz="1200" noProof="0" dirty="0"/>
              <a:t>Enterprise Scale Platform Landing Zone deployment for AVS</a:t>
            </a:r>
          </a:p>
          <a:p>
            <a:pPr lvl="0">
              <a:lnSpc>
                <a:spcPct val="100000"/>
              </a:lnSpc>
              <a:buFont typeface="Wingdings" panose="05000000000000000000" pitchFamily="2" charset="2"/>
              <a:buChar char="ü"/>
              <a:defRPr/>
            </a:pPr>
            <a:r>
              <a:rPr lang="en-US" sz="1200" noProof="0" dirty="0"/>
              <a:t>AVS deployment</a:t>
            </a:r>
          </a:p>
          <a:p>
            <a:pPr lvl="0">
              <a:lnSpc>
                <a:spcPct val="100000"/>
              </a:lnSpc>
              <a:buFont typeface="Wingdings" panose="05000000000000000000" pitchFamily="2" charset="2"/>
              <a:buChar char="ü"/>
              <a:defRPr/>
            </a:pPr>
            <a:r>
              <a:rPr lang="en-US" sz="1200" noProof="0" dirty="0"/>
              <a:t>Migration setup with VMware HCX</a:t>
            </a:r>
          </a:p>
          <a:p>
            <a:pPr lvl="0">
              <a:lnSpc>
                <a:spcPct val="100000"/>
              </a:lnSpc>
              <a:buFont typeface="Wingdings" panose="05000000000000000000" pitchFamily="2" charset="2"/>
              <a:buChar char="ü"/>
              <a:defRPr/>
            </a:pPr>
            <a:r>
              <a:rPr lang="en-US" sz="1200" noProof="0" dirty="0"/>
              <a:t>Workload migration to AVS using VMware HCX</a:t>
            </a:r>
          </a:p>
        </p:txBody>
      </p:sp>
      <p:sp>
        <p:nvSpPr>
          <p:cNvPr id="12" name="TextBox 11">
            <a:extLst>
              <a:ext uri="{FF2B5EF4-FFF2-40B4-BE49-F238E27FC236}">
                <a16:creationId xmlns:a16="http://schemas.microsoft.com/office/drawing/2014/main" id="{92F0D521-DDFE-0501-414D-CCE4308E8FD9}"/>
              </a:ext>
            </a:extLst>
          </p:cNvPr>
          <p:cNvSpPr txBox="1"/>
          <p:nvPr/>
        </p:nvSpPr>
        <p:spPr>
          <a:xfrm>
            <a:off x="3276301" y="1693498"/>
            <a:ext cx="8471176" cy="4498667"/>
          </a:xfrm>
          <a:prstGeom prst="rect">
            <a:avLst/>
          </a:prstGeom>
          <a:noFill/>
        </p:spPr>
        <p:txBody>
          <a:bodyPr wrap="square">
            <a:spAutoFit/>
          </a:bodyPr>
          <a:lstStyle/>
          <a:p>
            <a:pPr marL="231775" lvl="1" indent="-231775">
              <a:spcAft>
                <a:spcPts val="200"/>
              </a:spcAft>
              <a:buFont typeface="+mj-lt"/>
              <a:buAutoNum type="arabicPeriod"/>
              <a:defRPr/>
            </a:pPr>
            <a:r>
              <a:rPr lang="en-US" sz="1400" kern="0" noProof="0" dirty="0">
                <a:solidFill>
                  <a:schemeClr val="tx2"/>
                </a:solidFill>
                <a:latin typeface="+mj-lt"/>
              </a:rPr>
              <a:t>Enterprise scale platform landing zone for AVS</a:t>
            </a:r>
          </a:p>
          <a:p>
            <a:pPr marL="465138" lvl="1" indent="-152400">
              <a:spcAft>
                <a:spcPts val="200"/>
              </a:spcAft>
              <a:buFont typeface="Arial" panose="020B0604020202020204" pitchFamily="34" charset="0"/>
              <a:buChar char="•"/>
              <a:defRPr/>
            </a:pPr>
            <a:r>
              <a:rPr lang="en-US" sz="1100" kern="0" noProof="0" dirty="0"/>
              <a:t>LZ deployment using Azure Landing Zone Portal Accelerator</a:t>
            </a:r>
          </a:p>
          <a:p>
            <a:pPr marL="465138" lvl="1" indent="-152400">
              <a:spcAft>
                <a:spcPts val="200"/>
              </a:spcAft>
              <a:buFont typeface="Arial" panose="020B0604020202020204" pitchFamily="34" charset="0"/>
              <a:buChar char="•"/>
              <a:defRPr/>
            </a:pPr>
            <a:r>
              <a:rPr lang="en-US" sz="1100" kern="0" noProof="0" dirty="0"/>
              <a:t>Scalable management group hierarchy</a:t>
            </a:r>
          </a:p>
          <a:p>
            <a:pPr marL="465138" lvl="1" indent="-152400">
              <a:spcAft>
                <a:spcPts val="200"/>
              </a:spcAft>
              <a:buFont typeface="Arial" panose="020B0604020202020204" pitchFamily="34" charset="0"/>
              <a:buChar char="•"/>
              <a:defRPr/>
            </a:pPr>
            <a:r>
              <a:rPr lang="en-US" sz="1100" kern="0" noProof="0" dirty="0"/>
              <a:t>Dedicated platform subscriptions</a:t>
            </a:r>
          </a:p>
          <a:p>
            <a:pPr marL="465138" lvl="1" indent="-152400">
              <a:spcAft>
                <a:spcPts val="200"/>
              </a:spcAft>
              <a:buFont typeface="Arial" panose="020B0604020202020204" pitchFamily="34" charset="0"/>
              <a:buChar char="•"/>
              <a:defRPr/>
            </a:pPr>
            <a:r>
              <a:rPr lang="en-US" sz="1100" kern="0" noProof="0" dirty="0"/>
              <a:t>Hub and spoke network topology</a:t>
            </a:r>
          </a:p>
          <a:p>
            <a:pPr marL="225425" lvl="1" indent="-225425">
              <a:spcBef>
                <a:spcPts val="600"/>
              </a:spcBef>
              <a:buFont typeface="+mj-lt"/>
              <a:buAutoNum type="arabicPeriod" startAt="2"/>
              <a:defRPr/>
            </a:pPr>
            <a:r>
              <a:rPr lang="en-US" sz="1400" kern="0" noProof="0" dirty="0">
                <a:solidFill>
                  <a:schemeClr val="tx2"/>
                </a:solidFill>
                <a:latin typeface="+mj-lt"/>
              </a:rPr>
              <a:t>AVS deployment</a:t>
            </a:r>
          </a:p>
          <a:p>
            <a:pPr marL="473075" lvl="1" indent="-152400">
              <a:spcAft>
                <a:spcPts val="200"/>
              </a:spcAft>
              <a:buFont typeface="Arial" panose="020B0604020202020204" pitchFamily="34" charset="0"/>
              <a:buChar char="•"/>
              <a:defRPr/>
            </a:pPr>
            <a:r>
              <a:rPr lang="en-US" sz="1100" kern="0" noProof="0" dirty="0"/>
              <a:t>Create an Azure VMware Solution private cloud using the AVS Landing Zone Accelerator</a:t>
            </a:r>
          </a:p>
          <a:p>
            <a:pPr marL="473075" lvl="1" indent="-152400">
              <a:spcAft>
                <a:spcPts val="200"/>
              </a:spcAft>
              <a:buFont typeface="Arial" panose="020B0604020202020204" pitchFamily="34" charset="0"/>
              <a:buChar char="•"/>
              <a:defRPr/>
            </a:pPr>
            <a:r>
              <a:rPr lang="en-US" sz="1100" kern="0" noProof="0" dirty="0"/>
              <a:t>Connect the AVS private cloud to a new Azure virtual network</a:t>
            </a:r>
          </a:p>
          <a:p>
            <a:pPr marL="473075" lvl="1" indent="-152400">
              <a:spcAft>
                <a:spcPts val="200"/>
              </a:spcAft>
              <a:buFont typeface="Arial" panose="020B0604020202020204" pitchFamily="34" charset="0"/>
              <a:buChar char="•"/>
              <a:defRPr/>
            </a:pPr>
            <a:r>
              <a:rPr lang="en-US" sz="1100" kern="0" noProof="0" dirty="0"/>
              <a:t>Deploy Azure Bastion and a Windows 10 VM to use as an administrative jump box</a:t>
            </a:r>
          </a:p>
          <a:p>
            <a:pPr marL="473075" lvl="1" indent="-152400">
              <a:spcAft>
                <a:spcPts val="200"/>
              </a:spcAft>
              <a:buFont typeface="Arial" panose="020B0604020202020204" pitchFamily="34" charset="0"/>
              <a:buChar char="•"/>
              <a:defRPr/>
            </a:pPr>
            <a:r>
              <a:rPr lang="en-US" sz="1100" kern="0" noProof="0" dirty="0"/>
              <a:t>Connect an on-premises data center to the AVS private cloud using existing ExpressRoute and Global Reach</a:t>
            </a:r>
          </a:p>
          <a:p>
            <a:pPr marL="225425" lvl="1" indent="-225425">
              <a:spcBef>
                <a:spcPts val="600"/>
              </a:spcBef>
              <a:buFont typeface="+mj-lt"/>
              <a:buAutoNum type="arabicPeriod" startAt="3"/>
              <a:defRPr/>
            </a:pPr>
            <a:r>
              <a:rPr lang="en-US" sz="1400" kern="0" noProof="0" dirty="0">
                <a:solidFill>
                  <a:schemeClr val="tx2"/>
                </a:solidFill>
                <a:latin typeface="+mj-lt"/>
              </a:rPr>
              <a:t>Migration setup with VMware HCX</a:t>
            </a:r>
          </a:p>
          <a:p>
            <a:pPr marL="473075" lvl="1" indent="-152400">
              <a:spcAft>
                <a:spcPts val="200"/>
              </a:spcAft>
              <a:buFont typeface="Arial" panose="020B0604020202020204" pitchFamily="34" charset="0"/>
              <a:buChar char="•"/>
              <a:defRPr/>
            </a:pPr>
            <a:r>
              <a:rPr lang="en-US" sz="1100" kern="0" noProof="0" dirty="0"/>
              <a:t>Deploy and configure HCX Manager on AVS and HCX connector at on-premises data center</a:t>
            </a:r>
          </a:p>
          <a:p>
            <a:pPr marL="473075" lvl="1" indent="-152400">
              <a:spcAft>
                <a:spcPts val="200"/>
              </a:spcAft>
              <a:buFont typeface="Arial" panose="020B0604020202020204" pitchFamily="34" charset="0"/>
              <a:buChar char="•"/>
              <a:defRPr/>
            </a:pPr>
            <a:r>
              <a:rPr lang="en-US" sz="1100" kern="0" noProof="0" dirty="0"/>
              <a:t>Add a site pairing</a:t>
            </a:r>
          </a:p>
          <a:p>
            <a:pPr marL="473075" lvl="1" indent="-152400">
              <a:spcAft>
                <a:spcPts val="200"/>
              </a:spcAft>
              <a:buFont typeface="Arial" panose="020B0604020202020204" pitchFamily="34" charset="0"/>
              <a:buChar char="•"/>
              <a:defRPr/>
            </a:pPr>
            <a:r>
              <a:rPr lang="en-US" sz="1100" kern="0" noProof="0" dirty="0"/>
              <a:t>Create network and compute profile</a:t>
            </a:r>
          </a:p>
          <a:p>
            <a:pPr marL="473075" lvl="1" indent="-152400">
              <a:spcAft>
                <a:spcPts val="200"/>
              </a:spcAft>
              <a:buFont typeface="Arial" panose="020B0604020202020204" pitchFamily="34" charset="0"/>
              <a:buChar char="•"/>
              <a:defRPr/>
            </a:pPr>
            <a:r>
              <a:rPr lang="en-US" sz="1100" kern="0" noProof="0" dirty="0"/>
              <a:t>Create a service mesh and network extension</a:t>
            </a:r>
          </a:p>
          <a:p>
            <a:pPr marL="473075" lvl="1" indent="-152400">
              <a:spcAft>
                <a:spcPts val="200"/>
              </a:spcAft>
              <a:buFont typeface="Arial" panose="020B0604020202020204" pitchFamily="34" charset="0"/>
              <a:buChar char="•"/>
              <a:defRPr/>
            </a:pPr>
            <a:r>
              <a:rPr lang="en-US" sz="1100" kern="0" noProof="0" dirty="0"/>
              <a:t>Perform test migration to confirm the setup is working between on premises to AVS SDDC</a:t>
            </a:r>
          </a:p>
          <a:p>
            <a:pPr marL="225425" lvl="1" indent="-225425">
              <a:spcBef>
                <a:spcPts val="600"/>
              </a:spcBef>
              <a:buFont typeface="+mj-lt"/>
              <a:buAutoNum type="arabicPeriod" startAt="4"/>
              <a:defRPr/>
            </a:pPr>
            <a:r>
              <a:rPr lang="en-US" sz="1400" kern="0" noProof="0" dirty="0">
                <a:solidFill>
                  <a:schemeClr val="tx2"/>
                </a:solidFill>
                <a:latin typeface="+mj-lt"/>
              </a:rPr>
              <a:t>Workload migration to AVS using VMware HCX</a:t>
            </a:r>
          </a:p>
          <a:p>
            <a:pPr marL="479425" lvl="1" indent="-166688">
              <a:spcAft>
                <a:spcPts val="200"/>
              </a:spcAft>
              <a:buFont typeface="Arial" panose="020B0604020202020204" pitchFamily="34" charset="0"/>
              <a:buChar char="•"/>
              <a:defRPr/>
            </a:pPr>
            <a:r>
              <a:rPr lang="en-US" sz="1100" kern="0" noProof="0" dirty="0"/>
              <a:t>Deploy and configure HCX Manager on AVS and HCX connector at on-premises data center</a:t>
            </a:r>
          </a:p>
          <a:p>
            <a:pPr marL="479425" lvl="1" indent="-166688">
              <a:spcAft>
                <a:spcPts val="200"/>
              </a:spcAft>
              <a:buFont typeface="Arial" panose="020B0604020202020204" pitchFamily="34" charset="0"/>
              <a:buChar char="•"/>
              <a:defRPr/>
            </a:pPr>
            <a:r>
              <a:rPr lang="en-US" sz="1100" kern="0" noProof="0" dirty="0"/>
              <a:t>Add site pairing, network, and compute profiles</a:t>
            </a:r>
          </a:p>
          <a:p>
            <a:pPr marL="479425" lvl="1" indent="-166688">
              <a:spcAft>
                <a:spcPts val="200"/>
              </a:spcAft>
              <a:buFont typeface="Arial" panose="020B0604020202020204" pitchFamily="34" charset="0"/>
              <a:buChar char="•"/>
              <a:defRPr/>
            </a:pPr>
            <a:r>
              <a:rPr lang="en-US" sz="1100" kern="0" noProof="0" dirty="0"/>
              <a:t>Create service mesh and network extension </a:t>
            </a:r>
          </a:p>
          <a:p>
            <a:pPr marL="479425" lvl="1" indent="-166688">
              <a:spcAft>
                <a:spcPts val="200"/>
              </a:spcAft>
              <a:buFont typeface="Arial" panose="020B0604020202020204" pitchFamily="34" charset="0"/>
              <a:buChar char="•"/>
              <a:defRPr/>
            </a:pPr>
            <a:r>
              <a:rPr lang="en-US" sz="1100" kern="0" noProof="0" dirty="0"/>
              <a:t>Migration of VMware VMs from on-premises data center to AVS</a:t>
            </a:r>
            <a:endParaRPr lang="en-US" sz="1200" kern="0" noProof="0" dirty="0"/>
          </a:p>
        </p:txBody>
      </p:sp>
      <p:sp>
        <p:nvSpPr>
          <p:cNvPr id="4" name="Graphic 23">
            <a:extLst>
              <a:ext uri="{FF2B5EF4-FFF2-40B4-BE49-F238E27FC236}">
                <a16:creationId xmlns:a16="http://schemas.microsoft.com/office/drawing/2014/main" id="{2B29DCD4-2CC2-7E8E-BB6B-A8700EEB7AA9}"/>
              </a:ext>
              <a:ext uri="{C183D7F6-B498-43B3-948B-1728B52AA6E4}">
                <adec:decorative xmlns:adec="http://schemas.microsoft.com/office/drawing/2017/decorative" val="1"/>
              </a:ext>
            </a:extLst>
          </p:cNvPr>
          <p:cNvSpPr/>
          <p:nvPr/>
        </p:nvSpPr>
        <p:spPr>
          <a:xfrm>
            <a:off x="639362" y="2095040"/>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5" name="Group 4">
            <a:extLst>
              <a:ext uri="{FF2B5EF4-FFF2-40B4-BE49-F238E27FC236}">
                <a16:creationId xmlns:a16="http://schemas.microsoft.com/office/drawing/2014/main" id="{05D17EE9-5E2D-0908-1F60-7C1B491700B9}"/>
              </a:ext>
              <a:ext uri="{C183D7F6-B498-43B3-948B-1728B52AA6E4}">
                <adec:decorative xmlns:adec="http://schemas.microsoft.com/office/drawing/2017/decorative" val="1"/>
              </a:ext>
            </a:extLst>
          </p:cNvPr>
          <p:cNvGrpSpPr/>
          <p:nvPr/>
        </p:nvGrpSpPr>
        <p:grpSpPr>
          <a:xfrm>
            <a:off x="3088239" y="1587815"/>
            <a:ext cx="7981838" cy="4709179"/>
            <a:chOff x="455996" y="1206500"/>
            <a:chExt cx="11306470" cy="5062538"/>
          </a:xfrm>
        </p:grpSpPr>
        <p:sp>
          <p:nvSpPr>
            <p:cNvPr id="7" name="Rectangle: Rounded Corners 6">
              <a:extLst>
                <a:ext uri="{FF2B5EF4-FFF2-40B4-BE49-F238E27FC236}">
                  <a16:creationId xmlns:a16="http://schemas.microsoft.com/office/drawing/2014/main" id="{048310AE-D915-DDDA-A05B-7CF38DEE7FF9}"/>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1" name="Rectangle: Rounded Corners 10">
              <a:extLst>
                <a:ext uri="{FF2B5EF4-FFF2-40B4-BE49-F238E27FC236}">
                  <a16:creationId xmlns:a16="http://schemas.microsoft.com/office/drawing/2014/main" id="{2BAFE3AF-BB94-3349-733D-3B0564EC86FD}"/>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15" name="Graphic 23">
            <a:extLst>
              <a:ext uri="{FF2B5EF4-FFF2-40B4-BE49-F238E27FC236}">
                <a16:creationId xmlns:a16="http://schemas.microsoft.com/office/drawing/2014/main" id="{6674D2AC-2EFE-3D0A-D540-D144FA0019F0}"/>
              </a:ext>
              <a:ext uri="{C183D7F6-B498-43B3-948B-1728B52AA6E4}">
                <adec:decorative xmlns:adec="http://schemas.microsoft.com/office/drawing/2017/decorative" val="1"/>
              </a:ext>
            </a:extLst>
          </p:cNvPr>
          <p:cNvSpPr/>
          <p:nvPr/>
        </p:nvSpPr>
        <p:spPr>
          <a:xfrm>
            <a:off x="639362" y="2713708"/>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Graphic 23">
            <a:extLst>
              <a:ext uri="{FF2B5EF4-FFF2-40B4-BE49-F238E27FC236}">
                <a16:creationId xmlns:a16="http://schemas.microsoft.com/office/drawing/2014/main" id="{BA6900FB-D21D-EDC0-BD43-1EAD74199AAE}"/>
              </a:ext>
              <a:ext uri="{C183D7F6-B498-43B3-948B-1728B52AA6E4}">
                <adec:decorative xmlns:adec="http://schemas.microsoft.com/office/drawing/2017/decorative" val="1"/>
              </a:ext>
            </a:extLst>
          </p:cNvPr>
          <p:cNvSpPr/>
          <p:nvPr/>
        </p:nvSpPr>
        <p:spPr>
          <a:xfrm>
            <a:off x="639362" y="2990203"/>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Graphic 23">
            <a:extLst>
              <a:ext uri="{FF2B5EF4-FFF2-40B4-BE49-F238E27FC236}">
                <a16:creationId xmlns:a16="http://schemas.microsoft.com/office/drawing/2014/main" id="{FF806962-D4A5-0C75-3E44-A772CF17F046}"/>
              </a:ext>
              <a:ext uri="{C183D7F6-B498-43B3-948B-1728B52AA6E4}">
                <adec:decorative xmlns:adec="http://schemas.microsoft.com/office/drawing/2017/decorative" val="1"/>
              </a:ext>
            </a:extLst>
          </p:cNvPr>
          <p:cNvSpPr/>
          <p:nvPr/>
        </p:nvSpPr>
        <p:spPr>
          <a:xfrm>
            <a:off x="639362" y="3408870"/>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 name="TextBox 21">
            <a:extLst>
              <a:ext uri="{FF2B5EF4-FFF2-40B4-BE49-F238E27FC236}">
                <a16:creationId xmlns:a16="http://schemas.microsoft.com/office/drawing/2014/main" id="{AD533328-54C9-1E60-F901-3C69F3EC8D78}"/>
              </a:ext>
            </a:extLst>
          </p:cNvPr>
          <p:cNvSpPr txBox="1"/>
          <p:nvPr/>
        </p:nvSpPr>
        <p:spPr>
          <a:xfrm>
            <a:off x="658541" y="1633900"/>
            <a:ext cx="2309042" cy="33902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5" name="Arrow: Bent 24">
            <a:extLst>
              <a:ext uri="{FF2B5EF4-FFF2-40B4-BE49-F238E27FC236}">
                <a16:creationId xmlns:a16="http://schemas.microsoft.com/office/drawing/2014/main" id="{EA81AB13-5758-F6A5-C300-1F51A72DD6E2}"/>
              </a:ext>
              <a:ext uri="{C183D7F6-B498-43B3-948B-1728B52AA6E4}">
                <adec:decorative xmlns:adec="http://schemas.microsoft.com/office/drawing/2017/decorative" val="1"/>
              </a:ext>
            </a:extLst>
          </p:cNvPr>
          <p:cNvSpPr>
            <a:spLocks/>
          </p:cNvSpPr>
          <p:nvPr/>
        </p:nvSpPr>
        <p:spPr bwMode="auto">
          <a:xfrm flipH="1">
            <a:off x="9127642" y="1587815"/>
            <a:ext cx="1942435" cy="2291830"/>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sp>
        <p:nvSpPr>
          <p:cNvPr id="2" name="TextBox 1">
            <a:extLst>
              <a:ext uri="{FF2B5EF4-FFF2-40B4-BE49-F238E27FC236}">
                <a16:creationId xmlns:a16="http://schemas.microsoft.com/office/drawing/2014/main" id="{F6156384-B668-8FAD-87F2-EEFE0568BE5C}"/>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1730417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C534A-43A0-479B-817C-BF88AE7B7ABC}"/>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51349B8C-826B-F95E-0C01-B241162F3E2E}"/>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324F0627-3302-1CBE-6A82-2CCA011C0BD2}"/>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92A5DBCA-97AB-BB04-3A48-19CF202D84A9}"/>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75874F72-9380-813E-6D00-A42C725337C2}"/>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D4060674-DC12-C947-DB1A-E60AEDC9B8FD}"/>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D8AF8BFA-07D3-EDA3-218D-5C3B5AED1E16}"/>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5E2FB504-B127-83DC-ACD9-3682CD1FE576}"/>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3A6E89A2-5268-46B3-6DED-AF665723AFAB}"/>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5D21DE51-8136-14B7-FF9A-4BF8DE73E4F6}"/>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B2C98D91-AFB5-2877-1F09-FA4E0098A959}"/>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D3B8137B-AEF5-CFDB-6E97-E133EE32206C}"/>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98D46B87-A4E6-6128-E102-48B09E923EAD}"/>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FD02AC63-EF18-C789-B127-F2C3D3048821}"/>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0727A901-7916-6B82-2900-CB9C5A1E24AF}"/>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55774AFF-3375-BE0A-A685-E67B8C239340}"/>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2" name="Oval 171">
                  <a:extLst>
                    <a:ext uri="{FF2B5EF4-FFF2-40B4-BE49-F238E27FC236}">
                      <a16:creationId xmlns:a16="http://schemas.microsoft.com/office/drawing/2014/main" id="{DEA128C5-36D6-3964-90D5-6D2C4AA42829}"/>
                    </a:ext>
                  </a:extLst>
                </p:cNvPr>
                <p:cNvSpPr>
                  <a:spLocks noChangeAspect="1"/>
                </p:cNvSpPr>
                <p:nvPr/>
              </p:nvSpPr>
              <p:spPr>
                <a:xfrm>
                  <a:off x="6240850" y="2518067"/>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278372B1-1202-580D-4A50-302C8C39CC9B}"/>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1E6AD7A0-363D-3852-AA5B-15C7A70DE6C5}"/>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C85A378B-8D61-1194-4F54-4B9133E038FB}"/>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DBBD4A88-9F29-3058-DEBD-3CE4C2C80AB0}"/>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98057A07-6BE0-5AAE-A1BE-A10FEBA4A8F2}"/>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A6E3AD81-BBFA-6334-BEB0-9138298DA98E}"/>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04E90CB4-32CE-EE53-317F-9DCD89BB03F8}"/>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090192CA-719E-8006-0BA0-0237A04C01D2}"/>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DECE3E2C-CDFA-F2EA-AAA5-016FF4E48D9E}"/>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6F3F2906-4D6A-4A8C-CD12-6AC80F5CBE62}"/>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A729CA10-1983-833B-1F73-DE41EC9830B1}"/>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4A31099D-304F-F9F7-AA7B-D0C06FEBD946}"/>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43BCC7F7-4E06-DF1B-BB31-DCAABC8FAFD5}"/>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2BC680A3-BC8E-5267-2FD5-56266297D289}"/>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088D8DFD-8F53-81EA-AD27-EAC9552B03E8}"/>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65C3A936-B9F1-19DD-90BA-D15DF0FE2566}"/>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51047ACD-807A-A8C4-DDB7-A1469C84643A}"/>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D8937252-3E0C-F0A2-297C-44B26DF34E6C}"/>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315AB0FE-8B2D-A005-C612-A7E7205BB6F2}"/>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8108E97C-5FD6-6DD5-A36D-854CC0FEF26C}"/>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1" name="TextBox 130">
            <a:extLst>
              <a:ext uri="{FF2B5EF4-FFF2-40B4-BE49-F238E27FC236}">
                <a16:creationId xmlns:a16="http://schemas.microsoft.com/office/drawing/2014/main" id="{AC9AC4F2-B7C6-86AC-FB2D-7D7064D2DB4A}"/>
              </a:ext>
            </a:extLst>
          </p:cNvPr>
          <p:cNvSpPr txBox="1"/>
          <p:nvPr/>
        </p:nvSpPr>
        <p:spPr>
          <a:xfrm>
            <a:off x="4471284" y="2102902"/>
            <a:ext cx="2118676" cy="461665"/>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Post-migration services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support (including +5 days Hypercare)</a:t>
            </a:r>
          </a:p>
        </p:txBody>
      </p:sp>
      <p:sp>
        <p:nvSpPr>
          <p:cNvPr id="132" name="TextBox 131">
            <a:extLst>
              <a:ext uri="{FF2B5EF4-FFF2-40B4-BE49-F238E27FC236}">
                <a16:creationId xmlns:a16="http://schemas.microsoft.com/office/drawing/2014/main" id="{E1A1A64F-D509-214D-9613-33E908B9AFC3}"/>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65457090-5CE1-2641-4EBE-7065356DA16D}"/>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E313DBEE-6E35-F716-0A62-7B8075EB7DBB}"/>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6D8330D2-2FAA-4BCE-17A7-38A2B543F469}"/>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6" name="TextBox 135">
            <a:extLst>
              <a:ext uri="{FF2B5EF4-FFF2-40B4-BE49-F238E27FC236}">
                <a16:creationId xmlns:a16="http://schemas.microsoft.com/office/drawing/2014/main" id="{75A3020C-3A6D-EC5D-6FA6-87DE4AAEC742}"/>
              </a:ext>
            </a:extLst>
          </p:cNvPr>
          <p:cNvSpPr txBox="1"/>
          <p:nvPr/>
        </p:nvSpPr>
        <p:spPr>
          <a:xfrm>
            <a:off x="4878310" y="2864494"/>
            <a:ext cx="121026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 of applications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for migration</a:t>
            </a:r>
          </a:p>
        </p:txBody>
      </p:sp>
      <p:sp>
        <p:nvSpPr>
          <p:cNvPr id="137" name="TextBox 136">
            <a:extLst>
              <a:ext uri="{FF2B5EF4-FFF2-40B4-BE49-F238E27FC236}">
                <a16:creationId xmlns:a16="http://schemas.microsoft.com/office/drawing/2014/main" id="{454B593F-D515-E86B-DF1B-509CC06E4B7E}"/>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16E7A111-B689-A7AA-4124-5742E7DD40B6}"/>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FDEAFCE7-9F73-0C78-ABAD-40A97C006325}"/>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A285A222-4C49-54CF-92C1-86F31299F809}"/>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038FFAF7-4792-7DE6-1836-1E1A7C73866D}"/>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C971A559-2A96-CBE5-74EE-29C1CDF446ED}"/>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0AABD388-A40F-95EC-F952-6B25666A8477}"/>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17A1C27B-2D1F-137F-F241-909B48735741}"/>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6A4E3F04-F90F-A44D-69FF-B2F9CD28617B}"/>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C8A27D6E-D753-9649-D86C-01B08B8FCBF3}"/>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ACF15104-8B07-9A34-6558-4CF56B9800CB}"/>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603BFE6F-BA0E-C450-F181-28C78DEA0EBA}"/>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7CE5F0FE-2845-C7DC-30FC-4D536E3D4E24}"/>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57" name="TextBox 156">
            <a:extLst>
              <a:ext uri="{FF2B5EF4-FFF2-40B4-BE49-F238E27FC236}">
                <a16:creationId xmlns:a16="http://schemas.microsoft.com/office/drawing/2014/main" id="{E3220FC5-7178-BFB2-7E96-E94FF2573E9D}"/>
              </a:ext>
            </a:extLst>
          </p:cNvPr>
          <p:cNvSpPr txBox="1"/>
          <p:nvPr/>
        </p:nvSpPr>
        <p:spPr>
          <a:xfrm>
            <a:off x="9003580" y="5476819"/>
            <a:ext cx="71503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UI"/>
              </a:rPr>
              <a:t>ALZ deployment/validation</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81" name="TextBox 180">
            <a:extLst>
              <a:ext uri="{FF2B5EF4-FFF2-40B4-BE49-F238E27FC236}">
                <a16:creationId xmlns:a16="http://schemas.microsoft.com/office/drawing/2014/main" id="{61392D66-5093-0C05-F324-0D70B962E16D}"/>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9462C55D-4934-EEBF-D107-3761494E28FD}"/>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B3F2C89A-8809-FA1C-ADBE-A0CC94A192C3}"/>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7" name="TextBox 6">
            <a:extLst>
              <a:ext uri="{FF2B5EF4-FFF2-40B4-BE49-F238E27FC236}">
                <a16:creationId xmlns:a16="http://schemas.microsoft.com/office/drawing/2014/main" id="{777B759B-3FE1-588A-B8C8-564C0AE1726E}"/>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8" name="Oval 7">
            <a:extLst>
              <a:ext uri="{FF2B5EF4-FFF2-40B4-BE49-F238E27FC236}">
                <a16:creationId xmlns:a16="http://schemas.microsoft.com/office/drawing/2014/main" id="{4DAEF728-9994-B58B-3730-BED98F13AE9C}"/>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E190EE0C-ECEB-93D1-BF64-A01B6A4BCF56}"/>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B56A73ED-4A1F-59C6-4A9A-77C69E95CBAF}"/>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3E9F25BB-ACA8-2D77-A0CB-566EE2869D66}"/>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CB39AA93-3A7B-32D9-48DB-8C3E59549448}"/>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033CF15F-C745-7D5F-7B01-A50769A12457}"/>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7A5CE7A3-26FC-58E0-39D9-455C1A3F4BFE}"/>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78AE9693-1659-0998-0690-74F7C1CA2966}"/>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FD34B57C-840C-B130-5CA8-DE44720A123F}"/>
              </a:ext>
            </a:extLst>
          </p:cNvPr>
          <p:cNvSpPr txBox="1"/>
          <p:nvPr/>
        </p:nvSpPr>
        <p:spPr>
          <a:xfrm>
            <a:off x="9868915" y="5340898"/>
            <a:ext cx="1292020" cy="307777"/>
          </a:xfrm>
          <a:prstGeom prst="rect">
            <a:avLst/>
          </a:prstGeom>
          <a:noFill/>
        </p:spPr>
        <p:txBody>
          <a:bodyPr wrap="non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Network/Infrastructure</a:t>
            </a:r>
            <a:br>
              <a:rPr kumimoji="0" lang="en-US" sz="1000" b="0" i="0" u="none" strike="noStrike" kern="1200" cap="none" spc="0" normalizeH="0" baseline="0" noProof="0" dirty="0">
                <a:ln>
                  <a:noFill/>
                </a:ln>
                <a:effectLst/>
                <a:uLnTx/>
                <a:uFillTx/>
              </a:rPr>
            </a:br>
            <a:r>
              <a:rPr kumimoji="0" lang="en-US" sz="1000" b="0" i="0" u="none" strike="noStrike" kern="1200" cap="none" spc="0" normalizeH="0" baseline="0" noProof="0" dirty="0">
                <a:ln>
                  <a:noFill/>
                </a:ln>
                <a:effectLst/>
                <a:uLnTx/>
                <a:uFillTx/>
              </a:rPr>
              <a:t>services (IP extensions)</a:t>
            </a:r>
          </a:p>
        </p:txBody>
      </p:sp>
      <p:sp>
        <p:nvSpPr>
          <p:cNvPr id="9" name="Oval 8">
            <a:extLst>
              <a:ext uri="{FF2B5EF4-FFF2-40B4-BE49-F238E27FC236}">
                <a16:creationId xmlns:a16="http://schemas.microsoft.com/office/drawing/2014/main" id="{C702E616-09FD-29F6-5CD1-88B933F6320D}"/>
              </a:ext>
              <a:ext uri="{C183D7F6-B498-43B3-948B-1728B52AA6E4}">
                <adec:decorative xmlns:adec="http://schemas.microsoft.com/office/drawing/2017/decorative" val="1"/>
              </a:ext>
            </a:extLst>
          </p:cNvPr>
          <p:cNvSpPr>
            <a:spLocks noChangeAspect="1"/>
          </p:cNvSpPr>
          <p:nvPr/>
        </p:nvSpPr>
        <p:spPr>
          <a:xfrm>
            <a:off x="9574720" y="507107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 name="Title 61">
            <a:extLst>
              <a:ext uri="{FF2B5EF4-FFF2-40B4-BE49-F238E27FC236}">
                <a16:creationId xmlns:a16="http://schemas.microsoft.com/office/drawing/2014/main" id="{3642DA7A-F08A-E6CB-D142-72634004ECE7}"/>
              </a:ext>
            </a:extLst>
          </p:cNvPr>
          <p:cNvSpPr txBox="1">
            <a:spLocks/>
          </p:cNvSpPr>
          <p:nvPr/>
        </p:nvSpPr>
        <p:spPr>
          <a:xfrm>
            <a:off x="419100" y="419100"/>
            <a:ext cx="3162300" cy="1938992"/>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Azure VMware Solution (AVS) Migration</a:t>
            </a:r>
          </a:p>
        </p:txBody>
      </p:sp>
      <p:sp>
        <p:nvSpPr>
          <p:cNvPr id="21" name="TextBox 20">
            <a:extLst>
              <a:ext uri="{FF2B5EF4-FFF2-40B4-BE49-F238E27FC236}">
                <a16:creationId xmlns:a16="http://schemas.microsoft.com/office/drawing/2014/main" id="{C4418212-2F8F-57CA-90C6-3F1A05E387B1}"/>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24" name="TextBox 23">
            <a:extLst>
              <a:ext uri="{FF2B5EF4-FFF2-40B4-BE49-F238E27FC236}">
                <a16:creationId xmlns:a16="http://schemas.microsoft.com/office/drawing/2014/main" id="{92916224-D21B-4F3C-5FB4-BD6A6F2046C6}"/>
              </a:ext>
            </a:extLst>
          </p:cNvPr>
          <p:cNvSpPr txBox="1"/>
          <p:nvPr/>
        </p:nvSpPr>
        <p:spPr>
          <a:xfrm>
            <a:off x="7889577" y="5363500"/>
            <a:ext cx="855941"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Server rehost to </a:t>
            </a:r>
            <a:r>
              <a:rPr lang="en-US" sz="1000" dirty="0"/>
              <a:t>AVS</a:t>
            </a:r>
            <a:endParaRPr kumimoji="0" lang="en-US" sz="1000" b="0" i="0" u="none" strike="noStrike" kern="1200" cap="none" spc="0" normalizeH="0" baseline="0" noProof="0" dirty="0">
              <a:ln>
                <a:noFill/>
              </a:ln>
              <a:effectLst/>
              <a:uLnTx/>
              <a:uFillTx/>
            </a:endParaRPr>
          </a:p>
        </p:txBody>
      </p:sp>
    </p:spTree>
    <p:extLst>
      <p:ext uri="{BB962C8B-B14F-4D97-AF65-F5344CB8AC3E}">
        <p14:creationId xmlns:p14="http://schemas.microsoft.com/office/powerpoint/2010/main" val="442736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888F0-41DA-9771-4C42-A122E3E194F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9284D6-1D4E-A657-17C5-C87276D3B209}"/>
              </a:ext>
            </a:extLst>
          </p:cNvPr>
          <p:cNvSpPr txBox="1"/>
          <p:nvPr/>
        </p:nvSpPr>
        <p:spPr>
          <a:xfrm>
            <a:off x="444499" y="3759201"/>
            <a:ext cx="8609495" cy="806314"/>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defRPr sz="1600" b="1">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App Modernization with AI Agents</a:t>
            </a:r>
          </a:p>
          <a:p>
            <a:pPr marL="285750" indent="-285750">
              <a:buFont typeface="Arial" panose="020B0604020202020204" pitchFamily="34" charset="0"/>
              <a:buChar char="•"/>
            </a:pPr>
            <a:r>
              <a:rPr lang="en-US" b="0" noProof="0" dirty="0"/>
              <a:t>NET and Java Application stack Modernization (inclusive of Apps, Database, Infra) </a:t>
            </a:r>
          </a:p>
          <a:p>
            <a:pPr marL="742950" lvl="1" indent="-285750">
              <a:buFont typeface="Courier New" panose="02070309020205020404" pitchFamily="49" charset="0"/>
              <a:buChar char="o"/>
            </a:pPr>
            <a:r>
              <a:rPr lang="en-US" b="0" noProof="0" dirty="0"/>
              <a:t>Container-to-Container – EKS, GKE, or on-prem Kubernetes to AKS</a:t>
            </a:r>
          </a:p>
        </p:txBody>
      </p:sp>
      <p:sp>
        <p:nvSpPr>
          <p:cNvPr id="2" name="Title 1">
            <a:extLst>
              <a:ext uri="{FF2B5EF4-FFF2-40B4-BE49-F238E27FC236}">
                <a16:creationId xmlns:a16="http://schemas.microsoft.com/office/drawing/2014/main" id="{21138511-999B-09EF-7FAE-8EEEB4F99520}"/>
              </a:ext>
            </a:extLst>
          </p:cNvPr>
          <p:cNvSpPr>
            <a:spLocks noGrp="1"/>
          </p:cNvSpPr>
          <p:nvPr>
            <p:ph type="title"/>
          </p:nvPr>
        </p:nvSpPr>
        <p:spPr>
          <a:xfrm>
            <a:off x="585216" y="2362270"/>
            <a:ext cx="9144000" cy="1169551"/>
          </a:xfrm>
        </p:spPr>
        <p:txBody>
          <a:bodyPr/>
          <a:lstStyle/>
          <a:p>
            <a:r>
              <a:rPr lang="en-US"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3" name="TextBox 2">
            <a:extLst>
              <a:ext uri="{FF2B5EF4-FFF2-40B4-BE49-F238E27FC236}">
                <a16:creationId xmlns:a16="http://schemas.microsoft.com/office/drawing/2014/main" id="{B1FAD76A-FE77-E1D7-364D-70E97E7472D6}"/>
              </a:ext>
            </a:extLst>
          </p:cNvPr>
          <p:cNvSpPr txBox="1"/>
          <p:nvPr/>
        </p:nvSpPr>
        <p:spPr>
          <a:xfrm>
            <a:off x="9193695"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6" name="Image 10" descr="Home (outlined)">
            <a:hlinkClick r:id="rId3" action="ppaction://hlinksldjump" tooltip="Home"/>
            <a:extLst>
              <a:ext uri="{FF2B5EF4-FFF2-40B4-BE49-F238E27FC236}">
                <a16:creationId xmlns:a16="http://schemas.microsoft.com/office/drawing/2014/main" id="{AF48D0E5-A6E8-7FF9-99D9-FAAC5C7E4662}"/>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766528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6" presetClass="emph" presetSubtype="0" fill="hold" grpId="1" nodeType="withEffect">
                                  <p:stCondLst>
                                    <p:cond delay="0"/>
                                  </p:stCondLst>
                                  <p:childTnLst>
                                    <p:animScale>
                                      <p:cBhvr>
                                        <p:cTn id="16" dur="100" fill="hold"/>
                                        <p:tgtEl>
                                          <p:spTgt spid="3"/>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3" grpId="0" animBg="1"/>
      <p:bldP spid="3" grpId="1" animBg="1"/>
      <p:bldP spid="3" grpId="2"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70100-AE70-1891-F2FF-F725A9B5A2A8}"/>
            </a:ext>
          </a:extLst>
        </p:cNvPr>
        <p:cNvGrpSpPr/>
        <p:nvPr/>
      </p:nvGrpSpPr>
      <p:grpSpPr>
        <a:xfrm>
          <a:off x="0" y="0"/>
          <a:ext cx="0" cy="0"/>
          <a:chOff x="0" y="0"/>
          <a:chExt cx="0" cy="0"/>
        </a:xfrm>
      </p:grpSpPr>
      <p:sp>
        <p:nvSpPr>
          <p:cNvPr id="17" name="Text Placeholder 35">
            <a:extLst>
              <a:ext uri="{FF2B5EF4-FFF2-40B4-BE49-F238E27FC236}">
                <a16:creationId xmlns:a16="http://schemas.microsoft.com/office/drawing/2014/main" id="{3A451D18-0EFA-D286-7148-57C497157B7D}"/>
              </a:ext>
            </a:extLst>
          </p:cNvPr>
          <p:cNvSpPr txBox="1">
            <a:spLocks/>
          </p:cNvSpPr>
          <p:nvPr/>
        </p:nvSpPr>
        <p:spPr>
          <a:xfrm>
            <a:off x="588963" y="1098900"/>
            <a:ext cx="11017250" cy="276999"/>
          </a:xfrm>
          <a:prstGeom prst="rect">
            <a:avLst/>
          </a:prstGeom>
        </p:spPr>
        <p:txBody>
          <a:bodyPr wrap="square" lIns="0" tIns="0" rIns="0" bIns="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sz="18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90%+ automation across the lifecycle through GitHub Copilot + Azure Copilot</a:t>
            </a:r>
          </a:p>
        </p:txBody>
      </p:sp>
      <p:sp>
        <p:nvSpPr>
          <p:cNvPr id="18" name="Rectangle: Rounded Corners 17">
            <a:extLst>
              <a:ext uri="{FF2B5EF4-FFF2-40B4-BE49-F238E27FC236}">
                <a16:creationId xmlns:a16="http://schemas.microsoft.com/office/drawing/2014/main" id="{13F6BAC1-9965-BB61-9483-CE1590947CBD}"/>
              </a:ext>
            </a:extLst>
          </p:cNvPr>
          <p:cNvSpPr>
            <a:spLocks/>
          </p:cNvSpPr>
          <p:nvPr/>
        </p:nvSpPr>
        <p:spPr bwMode="auto">
          <a:xfrm>
            <a:off x="588963" y="1649404"/>
            <a:ext cx="3580977" cy="3442225"/>
          </a:xfrm>
          <a:prstGeom prst="roundRect">
            <a:avLst>
              <a:gd name="adj" fmla="val 396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9" name="Rectangle: Rounded Corners 18">
            <a:extLst>
              <a:ext uri="{FF2B5EF4-FFF2-40B4-BE49-F238E27FC236}">
                <a16:creationId xmlns:a16="http://schemas.microsoft.com/office/drawing/2014/main" id="{F16E3F4F-28C4-DB47-558E-7AE9AF6BDACE}"/>
              </a:ext>
            </a:extLst>
          </p:cNvPr>
          <p:cNvSpPr>
            <a:spLocks/>
          </p:cNvSpPr>
          <p:nvPr/>
        </p:nvSpPr>
        <p:spPr bwMode="auto">
          <a:xfrm>
            <a:off x="4307100" y="1649404"/>
            <a:ext cx="3580977" cy="3442225"/>
          </a:xfrm>
          <a:prstGeom prst="roundRect">
            <a:avLst>
              <a:gd name="adj" fmla="val 396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0" name="Rectangle: Rounded Corners 19">
            <a:extLst>
              <a:ext uri="{FF2B5EF4-FFF2-40B4-BE49-F238E27FC236}">
                <a16:creationId xmlns:a16="http://schemas.microsoft.com/office/drawing/2014/main" id="{CBDF3F0C-39BC-6860-7EE1-5983833AD566}"/>
              </a:ext>
            </a:extLst>
          </p:cNvPr>
          <p:cNvSpPr>
            <a:spLocks/>
          </p:cNvSpPr>
          <p:nvPr/>
        </p:nvSpPr>
        <p:spPr bwMode="auto">
          <a:xfrm>
            <a:off x="8025237" y="1649404"/>
            <a:ext cx="3580977" cy="3442225"/>
          </a:xfrm>
          <a:prstGeom prst="roundRect">
            <a:avLst>
              <a:gd name="adj" fmla="val 396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1" name="Rectangle: Rounded Corners 20">
            <a:extLst>
              <a:ext uri="{FF2B5EF4-FFF2-40B4-BE49-F238E27FC236}">
                <a16:creationId xmlns:a16="http://schemas.microsoft.com/office/drawing/2014/main" id="{7B0DCF61-1AAC-D3ED-0CB0-22E7F3A814E2}"/>
              </a:ext>
            </a:extLst>
          </p:cNvPr>
          <p:cNvSpPr/>
          <p:nvPr/>
        </p:nvSpPr>
        <p:spPr bwMode="auto">
          <a:xfrm>
            <a:off x="698691" y="1759131"/>
            <a:ext cx="3361521" cy="584019"/>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kern="0" noProof="0" dirty="0">
                <a:solidFill>
                  <a:schemeClr val="bg1"/>
                </a:solidFill>
                <a:latin typeface="+mj-lt"/>
                <a:ea typeface="+mj-ea"/>
                <a:cs typeface="+mj-cs"/>
              </a:rPr>
              <a:t>Upgrade &amp; Migrate</a:t>
            </a:r>
          </a:p>
        </p:txBody>
      </p:sp>
      <p:sp>
        <p:nvSpPr>
          <p:cNvPr id="22" name="Rectangle: Rounded Corners 21">
            <a:extLst>
              <a:ext uri="{FF2B5EF4-FFF2-40B4-BE49-F238E27FC236}">
                <a16:creationId xmlns:a16="http://schemas.microsoft.com/office/drawing/2014/main" id="{634D4571-3374-B323-AD02-9C4F6ED45BDB}"/>
              </a:ext>
            </a:extLst>
          </p:cNvPr>
          <p:cNvSpPr/>
          <p:nvPr/>
        </p:nvSpPr>
        <p:spPr bwMode="auto">
          <a:xfrm>
            <a:off x="4416828" y="1759131"/>
            <a:ext cx="3361521" cy="584019"/>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kern="0" noProof="0" dirty="0">
                <a:solidFill>
                  <a:schemeClr val="bg1"/>
                </a:solidFill>
                <a:latin typeface="+mj-lt"/>
                <a:ea typeface="+mj-ea"/>
                <a:cs typeface="+mj-cs"/>
              </a:rPr>
              <a:t>Automate Deployments</a:t>
            </a:r>
          </a:p>
        </p:txBody>
      </p:sp>
      <p:sp>
        <p:nvSpPr>
          <p:cNvPr id="23" name="Rectangle: Rounded Corners 22">
            <a:extLst>
              <a:ext uri="{FF2B5EF4-FFF2-40B4-BE49-F238E27FC236}">
                <a16:creationId xmlns:a16="http://schemas.microsoft.com/office/drawing/2014/main" id="{569E9A70-3150-F79F-51C2-42832191AEE5}"/>
              </a:ext>
            </a:extLst>
          </p:cNvPr>
          <p:cNvSpPr/>
          <p:nvPr/>
        </p:nvSpPr>
        <p:spPr bwMode="auto">
          <a:xfrm>
            <a:off x="8134964" y="1759131"/>
            <a:ext cx="3361521" cy="584019"/>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kern="0" noProof="0" dirty="0">
                <a:solidFill>
                  <a:schemeClr val="bg1"/>
                </a:solidFill>
                <a:latin typeface="+mj-lt"/>
                <a:ea typeface="+mj-ea"/>
                <a:cs typeface="+mj-cs"/>
              </a:rPr>
              <a:t>Refresh Out-of-date Drivers</a:t>
            </a:r>
          </a:p>
        </p:txBody>
      </p:sp>
      <p:sp>
        <p:nvSpPr>
          <p:cNvPr id="24" name="TextBox 23">
            <a:extLst>
              <a:ext uri="{FF2B5EF4-FFF2-40B4-BE49-F238E27FC236}">
                <a16:creationId xmlns:a16="http://schemas.microsoft.com/office/drawing/2014/main" id="{4315BE1F-9903-90F7-0796-5E4D7D92AB50}"/>
              </a:ext>
              <a:ext uri="{C183D7F6-B498-43B3-948B-1728B52AA6E4}">
                <adec:decorative xmlns:adec="http://schemas.microsoft.com/office/drawing/2017/decorative" val="0"/>
              </a:ext>
            </a:extLst>
          </p:cNvPr>
          <p:cNvSpPr txBox="1"/>
          <p:nvPr/>
        </p:nvSpPr>
        <p:spPr>
          <a:xfrm>
            <a:off x="698691" y="2578072"/>
            <a:ext cx="3361521" cy="492443"/>
          </a:xfrm>
          <a:prstGeom prst="rect">
            <a:avLst/>
          </a:prstGeom>
          <a:noFill/>
        </p:spPr>
        <p:txBody>
          <a:bodyPr wrap="square" lIns="0" tIns="0" rIns="0" bIns="0" rtlCol="0">
            <a:noAutofit/>
          </a:bodyPr>
          <a:lstStyle/>
          <a:p>
            <a:pPr marL="0" marR="0" lvl="0" indent="0" algn="ctr" defTabSz="932449" rtl="0" eaLnBrk="1" fontAlgn="base"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Sans Text"/>
                <a:ea typeface="+mn-ea"/>
                <a:cs typeface="+mn-cs"/>
              </a:rPr>
              <a:t>.NET, Java stack to AKS/App Service with PGSQL, Cosmos DB, SQL MI</a:t>
            </a:r>
          </a:p>
        </p:txBody>
      </p:sp>
      <p:sp>
        <p:nvSpPr>
          <p:cNvPr id="25" name="TextBox 24">
            <a:extLst>
              <a:ext uri="{FF2B5EF4-FFF2-40B4-BE49-F238E27FC236}">
                <a16:creationId xmlns:a16="http://schemas.microsoft.com/office/drawing/2014/main" id="{D40677F0-D958-F0FB-4A83-D335AD15E81B}"/>
              </a:ext>
              <a:ext uri="{C183D7F6-B498-43B3-948B-1728B52AA6E4}">
                <adec:decorative xmlns:adec="http://schemas.microsoft.com/office/drawing/2017/decorative" val="0"/>
              </a:ext>
            </a:extLst>
          </p:cNvPr>
          <p:cNvSpPr txBox="1"/>
          <p:nvPr/>
        </p:nvSpPr>
        <p:spPr>
          <a:xfrm>
            <a:off x="4416828" y="2578072"/>
            <a:ext cx="3361521" cy="492443"/>
          </a:xfrm>
          <a:prstGeom prst="rect">
            <a:avLst/>
          </a:prstGeom>
          <a:noFill/>
        </p:spPr>
        <p:txBody>
          <a:bodyPr wrap="square" lIns="0" tIns="0" rIns="0" bIns="0" rtlCol="0">
            <a:noAutofit/>
          </a:bodyPr>
          <a:lstStyle/>
          <a:p>
            <a:pPr marL="0" marR="0" lvl="0" indent="0" algn="ctr" defTabSz="932449" rtl="0" eaLnBrk="1" fontAlgn="base"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Sans Text"/>
                <a:ea typeface="+mn-ea"/>
                <a:cs typeface="+mn-cs"/>
              </a:rPr>
              <a:t>Infrastructure-as-code: </a:t>
            </a:r>
            <a:br>
              <a:rPr kumimoji="0" lang="en-US" sz="1600" b="0" i="0" u="none" strike="noStrike" kern="1200" cap="none" spc="0" normalizeH="0" baseline="0" noProof="0" dirty="0">
                <a:ln>
                  <a:noFill/>
                </a:ln>
                <a:solidFill>
                  <a:srgbClr val="000000"/>
                </a:solidFill>
                <a:effectLst/>
                <a:uLnTx/>
                <a:uFillTx/>
                <a:latin typeface="Segoe Sans Text"/>
                <a:ea typeface="+mn-ea"/>
                <a:cs typeface="+mn-cs"/>
              </a:rPr>
            </a:br>
            <a:r>
              <a:rPr kumimoji="0" lang="en-US" sz="1600" b="0" i="0" u="none" strike="noStrike" kern="1200" cap="none" spc="0" normalizeH="0" baseline="0" noProof="0" dirty="0">
                <a:ln>
                  <a:noFill/>
                </a:ln>
                <a:solidFill>
                  <a:srgbClr val="000000"/>
                </a:solidFill>
                <a:effectLst/>
                <a:uLnTx/>
                <a:uFillTx/>
                <a:latin typeface="Segoe Sans Text"/>
                <a:ea typeface="+mn-ea"/>
                <a:cs typeface="+mn-cs"/>
              </a:rPr>
              <a:t>Bicep, Terraform</a:t>
            </a:r>
          </a:p>
        </p:txBody>
      </p:sp>
      <p:sp>
        <p:nvSpPr>
          <p:cNvPr id="26" name="TextBox 25">
            <a:extLst>
              <a:ext uri="{FF2B5EF4-FFF2-40B4-BE49-F238E27FC236}">
                <a16:creationId xmlns:a16="http://schemas.microsoft.com/office/drawing/2014/main" id="{5303E75C-2E36-1969-908F-0DE1A8A59F39}"/>
              </a:ext>
              <a:ext uri="{C183D7F6-B498-43B3-948B-1728B52AA6E4}">
                <adec:decorative xmlns:adec="http://schemas.microsoft.com/office/drawing/2017/decorative" val="0"/>
              </a:ext>
            </a:extLst>
          </p:cNvPr>
          <p:cNvSpPr txBox="1"/>
          <p:nvPr/>
        </p:nvSpPr>
        <p:spPr>
          <a:xfrm>
            <a:off x="8134965" y="2578072"/>
            <a:ext cx="3361521" cy="246221"/>
          </a:xfrm>
          <a:prstGeom prst="rect">
            <a:avLst/>
          </a:prstGeom>
          <a:noFill/>
        </p:spPr>
        <p:txBody>
          <a:bodyPr wrap="square" lIns="0" tIns="0" rIns="0" bIns="0" rtlCol="0">
            <a:noAutofit/>
          </a:bodyPr>
          <a:lstStyle/>
          <a:p>
            <a:pPr marL="0" marR="0" lvl="0" indent="0" algn="ctr" defTabSz="932449" rtl="0" eaLnBrk="1" fontAlgn="base"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Sans Text"/>
                <a:ea typeface="+mn-ea"/>
                <a:cs typeface="+mn-cs"/>
              </a:rPr>
              <a:t>Mongo, Kafka, Azure SQL, Postgres</a:t>
            </a:r>
          </a:p>
        </p:txBody>
      </p:sp>
      <p:sp>
        <p:nvSpPr>
          <p:cNvPr id="29" name="TextBox 28">
            <a:extLst>
              <a:ext uri="{FF2B5EF4-FFF2-40B4-BE49-F238E27FC236}">
                <a16:creationId xmlns:a16="http://schemas.microsoft.com/office/drawing/2014/main" id="{895F5A92-957E-235B-B8AA-7B8E6300F4D9}"/>
              </a:ext>
              <a:ext uri="{C183D7F6-B498-43B3-948B-1728B52AA6E4}">
                <adec:decorative xmlns:adec="http://schemas.microsoft.com/office/drawing/2017/decorative" val="0"/>
              </a:ext>
            </a:extLst>
          </p:cNvPr>
          <p:cNvSpPr txBox="1"/>
          <p:nvPr/>
        </p:nvSpPr>
        <p:spPr>
          <a:xfrm>
            <a:off x="698691" y="3300539"/>
            <a:ext cx="3361521" cy="492443"/>
          </a:xfrm>
          <a:prstGeom prst="rect">
            <a:avLst/>
          </a:prstGeom>
          <a:noFill/>
        </p:spPr>
        <p:txBody>
          <a:bodyPr wrap="square" lIns="0" tIns="0" rIns="0" bIns="0" rtlCol="0">
            <a:noAutofit/>
          </a:bodyPr>
          <a:lstStyle/>
          <a:p>
            <a:pPr marL="0" marR="0" lvl="0" indent="0" algn="ctr" defTabSz="932449" rtl="0" eaLnBrk="1" fontAlgn="base"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Sans Text Semibold"/>
                <a:ea typeface="+mn-ea"/>
                <a:cs typeface="+mn-cs"/>
              </a:rPr>
              <a:t>Up to 97% productivity improvement</a:t>
            </a:r>
          </a:p>
        </p:txBody>
      </p:sp>
      <p:sp>
        <p:nvSpPr>
          <p:cNvPr id="31" name="TextBox 30">
            <a:extLst>
              <a:ext uri="{FF2B5EF4-FFF2-40B4-BE49-F238E27FC236}">
                <a16:creationId xmlns:a16="http://schemas.microsoft.com/office/drawing/2014/main" id="{38B5C635-C2AD-B870-A535-FCE09C3A9441}"/>
              </a:ext>
              <a:ext uri="{C183D7F6-B498-43B3-948B-1728B52AA6E4}">
                <adec:decorative xmlns:adec="http://schemas.microsoft.com/office/drawing/2017/decorative" val="0"/>
              </a:ext>
            </a:extLst>
          </p:cNvPr>
          <p:cNvSpPr txBox="1"/>
          <p:nvPr/>
        </p:nvSpPr>
        <p:spPr>
          <a:xfrm>
            <a:off x="4416828" y="3300539"/>
            <a:ext cx="3361521" cy="492443"/>
          </a:xfrm>
          <a:prstGeom prst="rect">
            <a:avLst/>
          </a:prstGeom>
          <a:noFill/>
        </p:spPr>
        <p:txBody>
          <a:bodyPr wrap="square" lIns="0" tIns="0" rIns="0" bIns="0" rtlCol="0">
            <a:noAutofit/>
          </a:bodyPr>
          <a:lstStyle/>
          <a:p>
            <a:pPr marL="0" marR="0" lvl="0" indent="0" algn="ctr" defTabSz="932449" rtl="0" eaLnBrk="1" fontAlgn="base"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Sans Text Semibold"/>
                <a:ea typeface="+mn-ea"/>
                <a:cs typeface="+mn-cs"/>
              </a:rPr>
              <a:t>Enterprise standards </a:t>
            </a:r>
            <a:br>
              <a:rPr kumimoji="0" lang="en-US" sz="1600" b="0" i="0" u="none" strike="noStrike" kern="1200" cap="none" spc="0" normalizeH="0" baseline="0" noProof="0" dirty="0">
                <a:ln>
                  <a:noFill/>
                </a:ln>
                <a:solidFill>
                  <a:srgbClr val="0078D4"/>
                </a:solidFill>
                <a:effectLst/>
                <a:uLnTx/>
                <a:uFillTx/>
                <a:latin typeface="Segoe Sans Text Semibold"/>
                <a:ea typeface="+mn-ea"/>
                <a:cs typeface="+mn-cs"/>
              </a:rPr>
            </a:br>
            <a:r>
              <a:rPr kumimoji="0" lang="en-US" sz="1600" b="0" i="0" u="none" strike="noStrike" kern="1200" cap="none" spc="0" normalizeH="0" baseline="0" noProof="0" dirty="0">
                <a:ln>
                  <a:noFill/>
                </a:ln>
                <a:solidFill>
                  <a:srgbClr val="0078D4"/>
                </a:solidFill>
                <a:effectLst/>
                <a:uLnTx/>
                <a:uFillTx/>
                <a:latin typeface="Segoe Sans Text Semibold"/>
                <a:ea typeface="+mn-ea"/>
                <a:cs typeface="+mn-cs"/>
              </a:rPr>
              <a:t>enforced at-scale</a:t>
            </a:r>
          </a:p>
        </p:txBody>
      </p:sp>
      <p:sp>
        <p:nvSpPr>
          <p:cNvPr id="32" name="TextBox 31">
            <a:extLst>
              <a:ext uri="{FF2B5EF4-FFF2-40B4-BE49-F238E27FC236}">
                <a16:creationId xmlns:a16="http://schemas.microsoft.com/office/drawing/2014/main" id="{C5A7B3EC-0314-F79D-6913-0261988EB0AE}"/>
              </a:ext>
              <a:ext uri="{C183D7F6-B498-43B3-948B-1728B52AA6E4}">
                <adec:decorative xmlns:adec="http://schemas.microsoft.com/office/drawing/2017/decorative" val="0"/>
              </a:ext>
            </a:extLst>
          </p:cNvPr>
          <p:cNvSpPr txBox="1"/>
          <p:nvPr/>
        </p:nvSpPr>
        <p:spPr>
          <a:xfrm>
            <a:off x="8134965" y="3300539"/>
            <a:ext cx="3361521" cy="246221"/>
          </a:xfrm>
          <a:prstGeom prst="rect">
            <a:avLst/>
          </a:prstGeom>
          <a:noFill/>
        </p:spPr>
        <p:txBody>
          <a:bodyPr wrap="square" lIns="0" tIns="0" rIns="0" bIns="0" rtlCol="0">
            <a:noAutofit/>
          </a:bodyPr>
          <a:lstStyle/>
          <a:p>
            <a:pPr marL="0" marR="0" lvl="0" indent="0" algn="ctr" defTabSz="932449" rtl="0" eaLnBrk="1" fontAlgn="base"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Sans Text Semibold"/>
                <a:ea typeface="+mn-ea"/>
                <a:cs typeface="+mn-cs"/>
              </a:rPr>
              <a:t>70% to 90% efficiency gains</a:t>
            </a:r>
          </a:p>
        </p:txBody>
      </p:sp>
      <p:sp>
        <p:nvSpPr>
          <p:cNvPr id="33" name="Rectangle: Rounded Corners 32">
            <a:extLst>
              <a:ext uri="{FF2B5EF4-FFF2-40B4-BE49-F238E27FC236}">
                <a16:creationId xmlns:a16="http://schemas.microsoft.com/office/drawing/2014/main" id="{AB9FDE9F-73F5-13A1-883D-8A974F29D2BE}"/>
              </a:ext>
            </a:extLst>
          </p:cNvPr>
          <p:cNvSpPr/>
          <p:nvPr/>
        </p:nvSpPr>
        <p:spPr bwMode="auto">
          <a:xfrm>
            <a:off x="698691" y="3979463"/>
            <a:ext cx="3361520" cy="991317"/>
          </a:xfrm>
          <a:prstGeom prst="roundRect">
            <a:avLst>
              <a:gd name="adj" fmla="val 8241"/>
            </a:avLst>
          </a:prstGeom>
          <a:solidFill>
            <a:schemeClr val="bg1">
              <a:lumMod val="95000"/>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34" name="Rectangle: Rounded Corners 33">
            <a:extLst>
              <a:ext uri="{FF2B5EF4-FFF2-40B4-BE49-F238E27FC236}">
                <a16:creationId xmlns:a16="http://schemas.microsoft.com/office/drawing/2014/main" id="{100967C9-D93A-D0BD-D0D8-CDF796F50147}"/>
              </a:ext>
            </a:extLst>
          </p:cNvPr>
          <p:cNvSpPr/>
          <p:nvPr/>
        </p:nvSpPr>
        <p:spPr bwMode="auto">
          <a:xfrm>
            <a:off x="4416828" y="3979463"/>
            <a:ext cx="3361520" cy="991317"/>
          </a:xfrm>
          <a:prstGeom prst="roundRect">
            <a:avLst>
              <a:gd name="adj" fmla="val 8241"/>
            </a:avLst>
          </a:prstGeom>
          <a:solidFill>
            <a:schemeClr val="bg1">
              <a:lumMod val="95000"/>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35" name="Rectangle: Rounded Corners 34">
            <a:extLst>
              <a:ext uri="{FF2B5EF4-FFF2-40B4-BE49-F238E27FC236}">
                <a16:creationId xmlns:a16="http://schemas.microsoft.com/office/drawing/2014/main" id="{7469DFE6-00E5-8E05-F20F-13923BA20523}"/>
              </a:ext>
            </a:extLst>
          </p:cNvPr>
          <p:cNvSpPr/>
          <p:nvPr/>
        </p:nvSpPr>
        <p:spPr bwMode="auto">
          <a:xfrm>
            <a:off x="8134965" y="3979463"/>
            <a:ext cx="3361520" cy="991317"/>
          </a:xfrm>
          <a:prstGeom prst="roundRect">
            <a:avLst>
              <a:gd name="adj" fmla="val 8241"/>
            </a:avLst>
          </a:prstGeom>
          <a:solidFill>
            <a:schemeClr val="bg1">
              <a:lumMod val="95000"/>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325" name="TextBox 324">
            <a:extLst>
              <a:ext uri="{FF2B5EF4-FFF2-40B4-BE49-F238E27FC236}">
                <a16:creationId xmlns:a16="http://schemas.microsoft.com/office/drawing/2014/main" id="{F246A599-52D1-D47F-ADE3-511925B23B07}"/>
              </a:ext>
            </a:extLst>
          </p:cNvPr>
          <p:cNvSpPr txBox="1"/>
          <p:nvPr/>
        </p:nvSpPr>
        <p:spPr>
          <a:xfrm>
            <a:off x="792060" y="4206198"/>
            <a:ext cx="3174782" cy="430887"/>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HOW: </a:t>
            </a:r>
            <a:r>
              <a:rPr kumimoji="0" lang="en-US" sz="1400" b="0" i="0" u="none" strike="noStrike" kern="1200" cap="none" spc="0" normalizeH="0" baseline="0" noProof="0" dirty="0">
                <a:ln>
                  <a:noFill/>
                </a:ln>
                <a:solidFill>
                  <a:srgbClr val="0078D4"/>
                </a:solidFill>
                <a:effectLst/>
                <a:uLnTx/>
                <a:uFillTx/>
                <a:latin typeface="Segoe Sans Text Semibold"/>
                <a:ea typeface="+mn-ea"/>
                <a:cs typeface="+mn-cs"/>
                <a:hlinkClick r:id="rId3">
                  <a:extLst>
                    <a:ext uri="{A12FA001-AC4F-418D-AE19-62706E023703}">
                      <ahyp:hlinkClr xmlns:ahyp="http://schemas.microsoft.com/office/drawing/2018/hyperlinkcolor" val="tx"/>
                    </a:ext>
                  </a:extLst>
                </a:hlinkClick>
              </a:rPr>
              <a:t>GHCP App Modernization – Upgrade for Java, .NET</a:t>
            </a:r>
            <a:endParaRPr kumimoji="0" lang="en-US" sz="14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26" name="TextBox 325">
            <a:extLst>
              <a:ext uri="{FF2B5EF4-FFF2-40B4-BE49-F238E27FC236}">
                <a16:creationId xmlns:a16="http://schemas.microsoft.com/office/drawing/2014/main" id="{56BCFCB8-D647-253E-D6DD-53307AF0307C}"/>
              </a:ext>
            </a:extLst>
          </p:cNvPr>
          <p:cNvSpPr txBox="1"/>
          <p:nvPr/>
        </p:nvSpPr>
        <p:spPr>
          <a:xfrm>
            <a:off x="4510197" y="4206198"/>
            <a:ext cx="3174782" cy="430887"/>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HOW: </a:t>
            </a:r>
            <a:r>
              <a:rPr kumimoji="0" lang="en-US" sz="1400" b="0" i="0" u="none" strike="noStrike" kern="1200" cap="none" spc="0" normalizeH="0" baseline="0" noProof="0" dirty="0">
                <a:ln>
                  <a:noFill/>
                </a:ln>
                <a:solidFill>
                  <a:srgbClr val="0078D4"/>
                </a:solidFill>
                <a:effectLst/>
                <a:uLnTx/>
                <a:uFillTx/>
                <a:latin typeface="Segoe Sans Text Semibold"/>
                <a:ea typeface="+mn-ea"/>
                <a:cs typeface="+mn-cs"/>
                <a:hlinkClick r:id="rId4">
                  <a:extLst>
                    <a:ext uri="{A12FA001-AC4F-418D-AE19-62706E023703}">
                      <ahyp:hlinkClr xmlns:ahyp="http://schemas.microsoft.com/office/drawing/2018/hyperlinkcolor" val="tx"/>
                    </a:ext>
                  </a:extLst>
                </a:hlinkClick>
              </a:rPr>
              <a:t>Redeploy servers to Azure using Infrastructure as Code (IaC)</a:t>
            </a:r>
            <a:endParaRPr kumimoji="0" lang="en-US" sz="14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27" name="TextBox 326">
            <a:extLst>
              <a:ext uri="{FF2B5EF4-FFF2-40B4-BE49-F238E27FC236}">
                <a16:creationId xmlns:a16="http://schemas.microsoft.com/office/drawing/2014/main" id="{0CFAC1DC-656D-FFE0-8E71-9DC38F22A142}"/>
              </a:ext>
            </a:extLst>
          </p:cNvPr>
          <p:cNvSpPr txBox="1"/>
          <p:nvPr/>
        </p:nvSpPr>
        <p:spPr>
          <a:xfrm>
            <a:off x="8228334" y="4313919"/>
            <a:ext cx="3174782" cy="21544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HOW: </a:t>
            </a:r>
            <a:r>
              <a:rPr kumimoji="0" lang="en-US" sz="1400" b="0" i="0" u="none" strike="noStrike" kern="1200" cap="none" spc="0" normalizeH="0" baseline="0" noProof="0" dirty="0">
                <a:ln>
                  <a:noFill/>
                </a:ln>
                <a:solidFill>
                  <a:srgbClr val="0078D4"/>
                </a:solidFill>
                <a:effectLst/>
                <a:uLnTx/>
                <a:uFillTx/>
                <a:latin typeface="Segoe Sans Text Semibold"/>
                <a:ea typeface="+mn-ea"/>
                <a:cs typeface="+mn-cs"/>
                <a:hlinkClick r:id="rId5">
                  <a:extLst>
                    <a:ext uri="{A12FA001-AC4F-418D-AE19-62706E023703}">
                      <ahyp:hlinkClr xmlns:ahyp="http://schemas.microsoft.com/office/drawing/2018/hyperlinkcolor" val="tx"/>
                    </a:ext>
                  </a:extLst>
                </a:hlinkClick>
              </a:rPr>
              <a:t>Custom Instructions</a:t>
            </a:r>
            <a:r>
              <a:rPr kumimoji="0" lang="en-US" sz="1400" b="0" i="0" u="none" strike="noStrike" kern="1200" cap="none" spc="0" normalizeH="0" baseline="0" noProof="0" dirty="0">
                <a:ln>
                  <a:noFill/>
                </a:ln>
                <a:solidFill>
                  <a:srgbClr val="0078D4"/>
                </a:solidFill>
                <a:effectLst/>
                <a:uLnTx/>
                <a:uFillTx/>
                <a:latin typeface="Segoe Sans Text Semibold"/>
                <a:ea typeface="+mn-ea"/>
                <a:cs typeface="+mn-cs"/>
              </a:rPr>
              <a:t>, </a:t>
            </a:r>
            <a:r>
              <a:rPr kumimoji="0" lang="en-US" sz="1400" b="0" i="0" u="none" strike="noStrike" kern="1200" cap="none" spc="0" normalizeH="0" baseline="0" noProof="0" dirty="0">
                <a:ln>
                  <a:noFill/>
                </a:ln>
                <a:solidFill>
                  <a:srgbClr val="0078D4"/>
                </a:solidFill>
                <a:effectLst/>
                <a:uLnTx/>
                <a:uFillTx/>
                <a:latin typeface="Segoe Sans Text Semibold"/>
                <a:ea typeface="+mn-ea"/>
                <a:cs typeface="+mn-cs"/>
                <a:hlinkClick r:id="rId6">
                  <a:extLst>
                    <a:ext uri="{A12FA001-AC4F-418D-AE19-62706E023703}">
                      <ahyp:hlinkClr xmlns:ahyp="http://schemas.microsoft.com/office/drawing/2018/hyperlinkcolor" val="tx"/>
                    </a:ext>
                  </a:extLst>
                </a:hlinkClick>
              </a:rPr>
              <a:t>Prompts</a:t>
            </a:r>
            <a:endParaRPr kumimoji="0" lang="en-US" sz="14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7" name="Rectangle: Rounded Corners 36">
            <a:extLst>
              <a:ext uri="{FF2B5EF4-FFF2-40B4-BE49-F238E27FC236}">
                <a16:creationId xmlns:a16="http://schemas.microsoft.com/office/drawing/2014/main" id="{8B8E73C0-F896-2596-9647-A59607B6B4D3}"/>
              </a:ext>
            </a:extLst>
          </p:cNvPr>
          <p:cNvSpPr>
            <a:spLocks/>
          </p:cNvSpPr>
          <p:nvPr/>
        </p:nvSpPr>
        <p:spPr bwMode="auto">
          <a:xfrm>
            <a:off x="588963" y="5239373"/>
            <a:ext cx="11017250" cy="1256677"/>
          </a:xfrm>
          <a:prstGeom prst="roundRect">
            <a:avLst>
              <a:gd name="adj" fmla="val 12550"/>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cxnSp>
        <p:nvCxnSpPr>
          <p:cNvPr id="40" name="Straight Connector 39">
            <a:extLst>
              <a:ext uri="{FF2B5EF4-FFF2-40B4-BE49-F238E27FC236}">
                <a16:creationId xmlns:a16="http://schemas.microsoft.com/office/drawing/2014/main" id="{5A17A9A8-E6E7-D605-2FC1-FF7A9DE4067E}"/>
              </a:ext>
            </a:extLst>
          </p:cNvPr>
          <p:cNvCxnSpPr/>
          <p:nvPr/>
        </p:nvCxnSpPr>
        <p:spPr>
          <a:xfrm>
            <a:off x="1112782" y="5508172"/>
            <a:ext cx="10332720" cy="0"/>
          </a:xfrm>
          <a:prstGeom prst="lin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3E729EF-B5AF-80B6-D172-9F40C697DEDF}"/>
              </a:ext>
            </a:extLst>
          </p:cNvPr>
          <p:cNvSpPr txBox="1"/>
          <p:nvPr/>
        </p:nvSpPr>
        <p:spPr>
          <a:xfrm>
            <a:off x="1112782" y="5659869"/>
            <a:ext cx="10332720" cy="769441"/>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Sans Text"/>
                <a:ea typeface="+mn-ea"/>
                <a:cs typeface="+mn-cs"/>
              </a:rPr>
              <a:t>Development and deployments that </a:t>
            </a:r>
            <a:r>
              <a:rPr kumimoji="0" lang="en-US" sz="1600" b="0" i="0" u="none" strike="noStrike" kern="1200" cap="none" spc="0" normalizeH="0" baseline="0" noProof="0" dirty="0">
                <a:ln>
                  <a:noFill/>
                </a:ln>
                <a:solidFill>
                  <a:srgbClr val="000000"/>
                </a:solidFill>
                <a:effectLst/>
                <a:uLnTx/>
                <a:uFillTx/>
                <a:latin typeface="Segoe Sans Text Semibold"/>
                <a:ea typeface="+mn-ea"/>
                <a:cs typeface="+mn-cs"/>
              </a:rPr>
              <a:t>used to take six months </a:t>
            </a:r>
            <a:r>
              <a:rPr kumimoji="0" lang="en-US" sz="1600" b="0" i="0" u="none" strike="noStrike" kern="1200" cap="none" spc="0" normalizeH="0" baseline="0" noProof="0" dirty="0">
                <a:ln>
                  <a:noFill/>
                </a:ln>
                <a:solidFill>
                  <a:srgbClr val="000000"/>
                </a:solidFill>
                <a:effectLst/>
                <a:uLnTx/>
                <a:uFillTx/>
                <a:latin typeface="Segoe Sans Text"/>
                <a:ea typeface="+mn-ea"/>
                <a:cs typeface="+mn-cs"/>
              </a:rPr>
              <a:t>. . . mainly code and infrastructure as code are </a:t>
            </a:r>
            <a:r>
              <a:rPr kumimoji="0" lang="en-US" sz="1600" b="0" i="0" u="none" strike="noStrike" kern="1200" cap="none" spc="0" normalizeH="0" baseline="0" noProof="0" dirty="0">
                <a:ln>
                  <a:noFill/>
                </a:ln>
                <a:solidFill>
                  <a:srgbClr val="000000"/>
                </a:solidFill>
                <a:effectLst/>
                <a:uLnTx/>
                <a:uFillTx/>
                <a:latin typeface="Segoe Sans Text Semibold"/>
                <a:ea typeface="+mn-ea"/>
                <a:cs typeface="+mn-cs"/>
              </a:rPr>
              <a:t>now completed in under four hours</a:t>
            </a:r>
            <a:r>
              <a:rPr kumimoji="0" lang="en-US" sz="1600" b="0" i="0" u="none" strike="noStrike" kern="1200" cap="none" spc="0" normalizeH="0" baseline="0" noProof="0" dirty="0">
                <a:ln>
                  <a:noFill/>
                </a:ln>
                <a:solidFill>
                  <a:srgbClr val="000000"/>
                </a:solidFill>
                <a:effectLst/>
                <a:uLnTx/>
                <a:uFillTx/>
                <a:latin typeface="Segoe Sans Text"/>
                <a:ea typeface="+mn-ea"/>
                <a:cs typeface="+mn-cs"/>
              </a:rPr>
              <a: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mn-cs"/>
              </a:rPr>
              <a:t>— Global bank</a:t>
            </a:r>
          </a:p>
        </p:txBody>
      </p:sp>
      <p:sp>
        <p:nvSpPr>
          <p:cNvPr id="41" name="Title 40">
            <a:extLst>
              <a:ext uri="{FF2B5EF4-FFF2-40B4-BE49-F238E27FC236}">
                <a16:creationId xmlns:a16="http://schemas.microsoft.com/office/drawing/2014/main" id="{848E980D-ACFE-E338-0E62-BFD3A263A35F}"/>
              </a:ext>
            </a:extLst>
          </p:cNvPr>
          <p:cNvSpPr>
            <a:spLocks noGrp="1"/>
          </p:cNvSpPr>
          <p:nvPr>
            <p:ph type="title"/>
          </p:nvPr>
        </p:nvSpPr>
        <p:spPr/>
        <p:txBody>
          <a:bodyPr/>
          <a:lstStyle/>
          <a:p>
            <a:r>
              <a:rPr lang="en-US" noProof="0" dirty="0"/>
              <a:t>Agentic modernization in action</a:t>
            </a:r>
          </a:p>
        </p:txBody>
      </p:sp>
      <p:sp>
        <p:nvSpPr>
          <p:cNvPr id="2" name="Graphic 21" descr="Open quotation">
            <a:extLst>
              <a:ext uri="{FF2B5EF4-FFF2-40B4-BE49-F238E27FC236}">
                <a16:creationId xmlns:a16="http://schemas.microsoft.com/office/drawing/2014/main" id="{24FD7321-CAC2-2401-2A36-D7079F916241}"/>
              </a:ext>
            </a:extLst>
          </p:cNvPr>
          <p:cNvSpPr/>
          <p:nvPr/>
        </p:nvSpPr>
        <p:spPr>
          <a:xfrm>
            <a:off x="746498" y="5421421"/>
            <a:ext cx="262095" cy="213021"/>
          </a:xfrm>
          <a:custGeom>
            <a:avLst/>
            <a:gdLst>
              <a:gd name="f0" fmla="val 10800000"/>
              <a:gd name="f1" fmla="val 5400000"/>
              <a:gd name="f2" fmla="val 180"/>
              <a:gd name="f3" fmla="val w"/>
              <a:gd name="f4" fmla="val h"/>
              <a:gd name="f5" fmla="val 0"/>
              <a:gd name="f6" fmla="val 428008"/>
              <a:gd name="f7" fmla="val 347874"/>
              <a:gd name="f8" fmla="val 23465"/>
              <a:gd name="f9" fmla="val 303701"/>
              <a:gd name="f10" fmla="val 7802"/>
              <a:gd name="f11" fmla="val 278828"/>
              <a:gd name="f12" fmla="val 248499"/>
              <a:gd name="f13" fmla="val 212597"/>
              <a:gd name="f14" fmla="val 166604"/>
              <a:gd name="f15" fmla="val 11733"/>
              <a:gd name="f16" fmla="val 125188"/>
              <a:gd name="f17" fmla="val 35198"/>
              <a:gd name="f18" fmla="val 88347"/>
              <a:gd name="f19" fmla="val 58664"/>
              <a:gd name="f20" fmla="val 51565"/>
              <a:gd name="f21" fmla="val 94331"/>
              <a:gd name="f22" fmla="val 22057"/>
              <a:gd name="f23" fmla="val 142200"/>
              <a:gd name="f24" fmla="val 154637"/>
              <a:gd name="f25" fmla="val 24873"/>
              <a:gd name="f26" fmla="val 126127"/>
              <a:gd name="f27" fmla="val 36841"/>
              <a:gd name="f28" fmla="val 101488"/>
              <a:gd name="f29" fmla="val 55730"/>
              <a:gd name="f30" fmla="val 80780"/>
              <a:gd name="f31" fmla="val 81484"/>
              <a:gd name="f32" fmla="val 60071"/>
              <a:gd name="f33" fmla="val 107237"/>
              <a:gd name="f34" fmla="val 49747"/>
              <a:gd name="f35" fmla="val 133518"/>
              <a:gd name="f36" fmla="val 160151"/>
              <a:gd name="f37" fmla="val 171180"/>
              <a:gd name="f38" fmla="val 51155"/>
              <a:gd name="f39" fmla="val 180860"/>
              <a:gd name="f40" fmla="val 53912"/>
              <a:gd name="f41" fmla="val 189131"/>
              <a:gd name="f42" fmla="val 68636"/>
              <a:gd name="f43" fmla="val 177164"/>
              <a:gd name="f44" fmla="val 85649"/>
              <a:gd name="f45" fmla="val 105008"/>
              <a:gd name="f46" fmla="val 129881"/>
              <a:gd name="f47" fmla="val 150765"/>
              <a:gd name="f48" fmla="val 179276"/>
              <a:gd name="f49" fmla="val 167836"/>
              <a:gd name="f50" fmla="val 195350"/>
              <a:gd name="f51" fmla="val 184849"/>
              <a:gd name="f52" fmla="val 211482"/>
              <a:gd name="f53" fmla="val 193355"/>
              <a:gd name="f54" fmla="val 232894"/>
              <a:gd name="f55" fmla="val 259527"/>
              <a:gd name="f56" fmla="val 284401"/>
              <a:gd name="f57" fmla="val 305344"/>
              <a:gd name="f58" fmla="val 322356"/>
              <a:gd name="f59" fmla="val 339369"/>
              <a:gd name="f60" fmla="val 347875"/>
              <a:gd name="f61" fmla="val 69047"/>
              <a:gd name="f62" fmla="val 41886"/>
              <a:gd name="f63" fmla="val 333209"/>
              <a:gd name="f64" fmla="val 258178"/>
              <a:gd name="f65" fmla="val 242515"/>
              <a:gd name="f66" fmla="val 234713"/>
              <a:gd name="f67" fmla="val 246445"/>
              <a:gd name="f68" fmla="val 269911"/>
              <a:gd name="f69" fmla="val 293376"/>
              <a:gd name="f70" fmla="val 329044"/>
              <a:gd name="f71" fmla="val 376913"/>
              <a:gd name="f72" fmla="val 389350"/>
              <a:gd name="f73" fmla="val 360839"/>
              <a:gd name="f74" fmla="val 336201"/>
              <a:gd name="f75" fmla="val 315492"/>
              <a:gd name="f76" fmla="val 294784"/>
              <a:gd name="f77" fmla="val 107178"/>
              <a:gd name="f78" fmla="val 133460"/>
              <a:gd name="f79" fmla="val 285809"/>
              <a:gd name="f80" fmla="val 288566"/>
              <a:gd name="f81" fmla="val 303290"/>
              <a:gd name="f82" fmla="val 320303"/>
              <a:gd name="f83" fmla="val 339662"/>
              <a:gd name="f84" fmla="val 364535"/>
              <a:gd name="f85" fmla="val 385419"/>
              <a:gd name="f86" fmla="val 402490"/>
              <a:gd name="f87" fmla="val 419503"/>
              <a:gd name="f88" fmla="val 428009"/>
              <a:gd name="f89" fmla="val 303760"/>
              <a:gd name="f90" fmla="val 276598"/>
              <a:gd name="f91" fmla="+- 0 0 -90"/>
              <a:gd name="f92" fmla="*/ f3 1 428008"/>
              <a:gd name="f93" fmla="*/ f4 1 347874"/>
              <a:gd name="f94" fmla="val f5"/>
              <a:gd name="f95" fmla="val f6"/>
              <a:gd name="f96" fmla="val f7"/>
              <a:gd name="f97" fmla="*/ f91 f0 1"/>
              <a:gd name="f98" fmla="+- f96 0 f94"/>
              <a:gd name="f99" fmla="+- f95 0 f94"/>
              <a:gd name="f100" fmla="*/ f97 1 f2"/>
              <a:gd name="f101" fmla="*/ f99 1 428008"/>
              <a:gd name="f102" fmla="*/ f98 1 347874"/>
              <a:gd name="f103" fmla="*/ 23465 f99 1"/>
              <a:gd name="f104" fmla="*/ 303701 f98 1"/>
              <a:gd name="f105" fmla="*/ 0 f99 1"/>
              <a:gd name="f106" fmla="*/ 212597 f98 1"/>
              <a:gd name="f107" fmla="*/ 35198 f99 1"/>
              <a:gd name="f108" fmla="*/ 88347 f98 1"/>
              <a:gd name="f109" fmla="*/ 142200 f99 1"/>
              <a:gd name="f110" fmla="*/ 0 f98 1"/>
              <a:gd name="f111" fmla="*/ 154637 f99 1"/>
              <a:gd name="f112" fmla="*/ 24873 f98 1"/>
              <a:gd name="f113" fmla="*/ 80780 f99 1"/>
              <a:gd name="f114" fmla="*/ 81484 f98 1"/>
              <a:gd name="f115" fmla="*/ 49747 f99 1"/>
              <a:gd name="f116" fmla="*/ 160151 f98 1"/>
              <a:gd name="f117" fmla="*/ 53912 f99 1"/>
              <a:gd name="f118" fmla="*/ 189131 f98 1"/>
              <a:gd name="f119" fmla="*/ 105008 f99 1"/>
              <a:gd name="f120" fmla="*/ 171180 f98 1"/>
              <a:gd name="f121" fmla="*/ 167836 f99 1"/>
              <a:gd name="f122" fmla="*/ 195350 f98 1"/>
              <a:gd name="f123" fmla="*/ 193355 f99 1"/>
              <a:gd name="f124" fmla="*/ 259527 f98 1"/>
              <a:gd name="f125" fmla="*/ 322356 f98 1"/>
              <a:gd name="f126" fmla="*/ 347875 f98 1"/>
              <a:gd name="f127" fmla="*/ 258178 f99 1"/>
              <a:gd name="f128" fmla="*/ 234713 f99 1"/>
              <a:gd name="f129" fmla="*/ 269911 f99 1"/>
              <a:gd name="f130" fmla="*/ 376913 f99 1"/>
              <a:gd name="f131" fmla="*/ 389350 f99 1"/>
              <a:gd name="f132" fmla="*/ 315492 f99 1"/>
              <a:gd name="f133" fmla="*/ 284401 f99 1"/>
              <a:gd name="f134" fmla="*/ 288566 f99 1"/>
              <a:gd name="f135" fmla="*/ 339662 f99 1"/>
              <a:gd name="f136" fmla="*/ 402490 f99 1"/>
              <a:gd name="f137" fmla="*/ 428009 f99 1"/>
              <a:gd name="f138" fmla="+- f100 0 f1"/>
              <a:gd name="f139" fmla="*/ f103 1 428008"/>
              <a:gd name="f140" fmla="*/ f104 1 347874"/>
              <a:gd name="f141" fmla="*/ f105 1 428008"/>
              <a:gd name="f142" fmla="*/ f106 1 347874"/>
              <a:gd name="f143" fmla="*/ f107 1 428008"/>
              <a:gd name="f144" fmla="*/ f108 1 347874"/>
              <a:gd name="f145" fmla="*/ f109 1 428008"/>
              <a:gd name="f146" fmla="*/ f110 1 347874"/>
              <a:gd name="f147" fmla="*/ f111 1 428008"/>
              <a:gd name="f148" fmla="*/ f112 1 347874"/>
              <a:gd name="f149" fmla="*/ f113 1 428008"/>
              <a:gd name="f150" fmla="*/ f114 1 347874"/>
              <a:gd name="f151" fmla="*/ f115 1 428008"/>
              <a:gd name="f152" fmla="*/ f116 1 347874"/>
              <a:gd name="f153" fmla="*/ f117 1 428008"/>
              <a:gd name="f154" fmla="*/ f118 1 347874"/>
              <a:gd name="f155" fmla="*/ f119 1 428008"/>
              <a:gd name="f156" fmla="*/ f120 1 347874"/>
              <a:gd name="f157" fmla="*/ f121 1 428008"/>
              <a:gd name="f158" fmla="*/ f122 1 347874"/>
              <a:gd name="f159" fmla="*/ f123 1 428008"/>
              <a:gd name="f160" fmla="*/ f124 1 347874"/>
              <a:gd name="f161" fmla="*/ f125 1 347874"/>
              <a:gd name="f162" fmla="*/ f126 1 347874"/>
              <a:gd name="f163" fmla="*/ f127 1 428008"/>
              <a:gd name="f164" fmla="*/ f128 1 428008"/>
              <a:gd name="f165" fmla="*/ f129 1 428008"/>
              <a:gd name="f166" fmla="*/ f130 1 428008"/>
              <a:gd name="f167" fmla="*/ f131 1 428008"/>
              <a:gd name="f168" fmla="*/ f132 1 428008"/>
              <a:gd name="f169" fmla="*/ f133 1 428008"/>
              <a:gd name="f170" fmla="*/ f134 1 428008"/>
              <a:gd name="f171" fmla="*/ f135 1 428008"/>
              <a:gd name="f172" fmla="*/ f136 1 428008"/>
              <a:gd name="f173" fmla="*/ f137 1 428008"/>
              <a:gd name="f174" fmla="*/ f94 1 f101"/>
              <a:gd name="f175" fmla="*/ f95 1 f101"/>
              <a:gd name="f176" fmla="*/ f94 1 f102"/>
              <a:gd name="f177" fmla="*/ f96 1 f102"/>
              <a:gd name="f178" fmla="*/ f139 1 f101"/>
              <a:gd name="f179" fmla="*/ f140 1 f102"/>
              <a:gd name="f180" fmla="*/ f141 1 f101"/>
              <a:gd name="f181" fmla="*/ f142 1 f102"/>
              <a:gd name="f182" fmla="*/ f143 1 f101"/>
              <a:gd name="f183" fmla="*/ f144 1 f102"/>
              <a:gd name="f184" fmla="*/ f145 1 f101"/>
              <a:gd name="f185" fmla="*/ f146 1 f102"/>
              <a:gd name="f186" fmla="*/ f147 1 f101"/>
              <a:gd name="f187" fmla="*/ f148 1 f102"/>
              <a:gd name="f188" fmla="*/ f149 1 f101"/>
              <a:gd name="f189" fmla="*/ f150 1 f102"/>
              <a:gd name="f190" fmla="*/ f151 1 f101"/>
              <a:gd name="f191" fmla="*/ f152 1 f102"/>
              <a:gd name="f192" fmla="*/ f153 1 f101"/>
              <a:gd name="f193" fmla="*/ f154 1 f102"/>
              <a:gd name="f194" fmla="*/ f155 1 f101"/>
              <a:gd name="f195" fmla="*/ f156 1 f102"/>
              <a:gd name="f196" fmla="*/ f157 1 f101"/>
              <a:gd name="f197" fmla="*/ f158 1 f102"/>
              <a:gd name="f198" fmla="*/ f159 1 f101"/>
              <a:gd name="f199" fmla="*/ f160 1 f102"/>
              <a:gd name="f200" fmla="*/ f161 1 f102"/>
              <a:gd name="f201" fmla="*/ f162 1 f102"/>
              <a:gd name="f202" fmla="*/ f163 1 f101"/>
              <a:gd name="f203" fmla="*/ f164 1 f101"/>
              <a:gd name="f204" fmla="*/ f165 1 f101"/>
              <a:gd name="f205" fmla="*/ f166 1 f101"/>
              <a:gd name="f206" fmla="*/ f167 1 f101"/>
              <a:gd name="f207" fmla="*/ f168 1 f101"/>
              <a:gd name="f208" fmla="*/ f169 1 f101"/>
              <a:gd name="f209" fmla="*/ f170 1 f101"/>
              <a:gd name="f210" fmla="*/ f171 1 f101"/>
              <a:gd name="f211" fmla="*/ f172 1 f101"/>
              <a:gd name="f212" fmla="*/ f173 1 f101"/>
              <a:gd name="f213" fmla="*/ f174 f92 1"/>
              <a:gd name="f214" fmla="*/ f175 f92 1"/>
              <a:gd name="f215" fmla="*/ f177 f93 1"/>
              <a:gd name="f216" fmla="*/ f176 f93 1"/>
              <a:gd name="f217" fmla="*/ f178 f92 1"/>
              <a:gd name="f218" fmla="*/ f179 f93 1"/>
              <a:gd name="f219" fmla="*/ f180 f92 1"/>
              <a:gd name="f220" fmla="*/ f181 f93 1"/>
              <a:gd name="f221" fmla="*/ f182 f92 1"/>
              <a:gd name="f222" fmla="*/ f183 f93 1"/>
              <a:gd name="f223" fmla="*/ f184 f92 1"/>
              <a:gd name="f224" fmla="*/ f185 f93 1"/>
              <a:gd name="f225" fmla="*/ f186 f92 1"/>
              <a:gd name="f226" fmla="*/ f187 f93 1"/>
              <a:gd name="f227" fmla="*/ f188 f92 1"/>
              <a:gd name="f228" fmla="*/ f189 f93 1"/>
              <a:gd name="f229" fmla="*/ f190 f92 1"/>
              <a:gd name="f230" fmla="*/ f191 f93 1"/>
              <a:gd name="f231" fmla="*/ f192 f92 1"/>
              <a:gd name="f232" fmla="*/ f193 f93 1"/>
              <a:gd name="f233" fmla="*/ f194 f92 1"/>
              <a:gd name="f234" fmla="*/ f195 f93 1"/>
              <a:gd name="f235" fmla="*/ f196 f92 1"/>
              <a:gd name="f236" fmla="*/ f197 f93 1"/>
              <a:gd name="f237" fmla="*/ f198 f92 1"/>
              <a:gd name="f238" fmla="*/ f199 f93 1"/>
              <a:gd name="f239" fmla="*/ f200 f93 1"/>
              <a:gd name="f240" fmla="*/ f201 f93 1"/>
              <a:gd name="f241" fmla="*/ f202 f92 1"/>
              <a:gd name="f242" fmla="*/ f203 f92 1"/>
              <a:gd name="f243" fmla="*/ f204 f92 1"/>
              <a:gd name="f244" fmla="*/ f205 f92 1"/>
              <a:gd name="f245" fmla="*/ f206 f92 1"/>
              <a:gd name="f246" fmla="*/ f207 f92 1"/>
              <a:gd name="f247" fmla="*/ f208 f92 1"/>
              <a:gd name="f248" fmla="*/ f209 f92 1"/>
              <a:gd name="f249" fmla="*/ f210 f92 1"/>
              <a:gd name="f250" fmla="*/ f211 f92 1"/>
              <a:gd name="f251" fmla="*/ f212 f92 1"/>
            </a:gdLst>
            <a:ahLst/>
            <a:cxnLst>
              <a:cxn ang="3cd4">
                <a:pos x="hc" y="t"/>
              </a:cxn>
              <a:cxn ang="0">
                <a:pos x="r" y="vc"/>
              </a:cxn>
              <a:cxn ang="cd4">
                <a:pos x="hc" y="b"/>
              </a:cxn>
              <a:cxn ang="cd2">
                <a:pos x="l" y="vc"/>
              </a:cxn>
              <a:cxn ang="f138">
                <a:pos x="f217" y="f218"/>
              </a:cxn>
              <a:cxn ang="f138">
                <a:pos x="f219" y="f220"/>
              </a:cxn>
              <a:cxn ang="f138">
                <a:pos x="f221" y="f222"/>
              </a:cxn>
              <a:cxn ang="f138">
                <a:pos x="f223" y="f224"/>
              </a:cxn>
              <a:cxn ang="f138">
                <a:pos x="f225" y="f226"/>
              </a:cxn>
              <a:cxn ang="f138">
                <a:pos x="f227" y="f228"/>
              </a:cxn>
              <a:cxn ang="f138">
                <a:pos x="f229" y="f230"/>
              </a:cxn>
              <a:cxn ang="f138">
                <a:pos x="f231" y="f232"/>
              </a:cxn>
              <a:cxn ang="f138">
                <a:pos x="f233" y="f234"/>
              </a:cxn>
              <a:cxn ang="f138">
                <a:pos x="f235" y="f236"/>
              </a:cxn>
              <a:cxn ang="f138">
                <a:pos x="f237" y="f238"/>
              </a:cxn>
              <a:cxn ang="f138">
                <a:pos x="f235" y="f239"/>
              </a:cxn>
              <a:cxn ang="f138">
                <a:pos x="f233" y="f240"/>
              </a:cxn>
              <a:cxn ang="f138">
                <a:pos x="f217" y="f218"/>
              </a:cxn>
              <a:cxn ang="f138">
                <a:pos x="f241" y="f218"/>
              </a:cxn>
              <a:cxn ang="f138">
                <a:pos x="f242" y="f220"/>
              </a:cxn>
              <a:cxn ang="f138">
                <a:pos x="f243" y="f222"/>
              </a:cxn>
              <a:cxn ang="f138">
                <a:pos x="f244" y="f224"/>
              </a:cxn>
              <a:cxn ang="f138">
                <a:pos x="f245" y="f226"/>
              </a:cxn>
              <a:cxn ang="f138">
                <a:pos x="f246" y="f228"/>
              </a:cxn>
              <a:cxn ang="f138">
                <a:pos x="f247" y="f230"/>
              </a:cxn>
              <a:cxn ang="f138">
                <a:pos x="f248" y="f232"/>
              </a:cxn>
              <a:cxn ang="f138">
                <a:pos x="f249" y="f234"/>
              </a:cxn>
              <a:cxn ang="f138">
                <a:pos x="f250" y="f236"/>
              </a:cxn>
              <a:cxn ang="f138">
                <a:pos x="f251" y="f238"/>
              </a:cxn>
              <a:cxn ang="f138">
                <a:pos x="f250" y="f239"/>
              </a:cxn>
              <a:cxn ang="f138">
                <a:pos x="f249" y="f240"/>
              </a:cxn>
              <a:cxn ang="f138">
                <a:pos x="f241" y="f218"/>
              </a:cxn>
            </a:cxnLst>
            <a:rect l="f213" t="f216" r="f214" b="f215"/>
            <a:pathLst>
              <a:path w="428008" h="347874">
                <a:moveTo>
                  <a:pt x="f8" y="f9"/>
                </a:moveTo>
                <a:cubicBezTo>
                  <a:pt x="f10" y="f11"/>
                  <a:pt x="f5" y="f12"/>
                  <a:pt x="f5" y="f13"/>
                </a:cubicBezTo>
                <a:cubicBezTo>
                  <a:pt x="f5" y="f14"/>
                  <a:pt x="f15" y="f16"/>
                  <a:pt x="f17" y="f18"/>
                </a:cubicBezTo>
                <a:cubicBezTo>
                  <a:pt x="f19" y="f20"/>
                  <a:pt x="f21" y="f22"/>
                  <a:pt x="f23" y="f5"/>
                </a:cubicBezTo>
                <a:lnTo>
                  <a:pt x="f24" y="f25"/>
                </a:lnTo>
                <a:cubicBezTo>
                  <a:pt x="f26" y="f27"/>
                  <a:pt x="f28" y="f29"/>
                  <a:pt x="f30" y="f31"/>
                </a:cubicBezTo>
                <a:cubicBezTo>
                  <a:pt x="f32" y="f33"/>
                  <a:pt x="f34" y="f35"/>
                  <a:pt x="f34" y="f36"/>
                </a:cubicBezTo>
                <a:cubicBezTo>
                  <a:pt x="f34" y="f37"/>
                  <a:pt x="f38" y="f39"/>
                  <a:pt x="f40" y="f41"/>
                </a:cubicBezTo>
                <a:cubicBezTo>
                  <a:pt x="f42" y="f43"/>
                  <a:pt x="f44" y="f37"/>
                  <a:pt x="f45" y="f37"/>
                </a:cubicBezTo>
                <a:cubicBezTo>
                  <a:pt x="f46" y="f37"/>
                  <a:pt x="f47" y="f48"/>
                  <a:pt x="f49" y="f50"/>
                </a:cubicBezTo>
                <a:cubicBezTo>
                  <a:pt x="f51" y="f52"/>
                  <a:pt x="f53" y="f54"/>
                  <a:pt x="f53" y="f55"/>
                </a:cubicBezTo>
                <a:cubicBezTo>
                  <a:pt x="f53" y="f56"/>
                  <a:pt x="f51" y="f57"/>
                  <a:pt x="f49" y="f58"/>
                </a:cubicBezTo>
                <a:cubicBezTo>
                  <a:pt x="f47" y="f59"/>
                  <a:pt x="f46" y="f60"/>
                  <a:pt x="f45" y="f60"/>
                </a:cubicBezTo>
                <a:cubicBezTo>
                  <a:pt x="f61" y="f60"/>
                  <a:pt x="f62" y="f63"/>
                  <a:pt x="f8" y="f9"/>
                </a:cubicBezTo>
                <a:close/>
                <a:moveTo>
                  <a:pt x="f64" y="f9"/>
                </a:moveTo>
                <a:cubicBezTo>
                  <a:pt x="f65" y="f11"/>
                  <a:pt x="f66" y="f12"/>
                  <a:pt x="f66" y="f13"/>
                </a:cubicBezTo>
                <a:cubicBezTo>
                  <a:pt x="f66" y="f14"/>
                  <a:pt x="f67" y="f16"/>
                  <a:pt x="f68" y="f18"/>
                </a:cubicBezTo>
                <a:cubicBezTo>
                  <a:pt x="f69" y="f20"/>
                  <a:pt x="f70" y="f22"/>
                  <a:pt x="f71" y="f5"/>
                </a:cubicBezTo>
                <a:lnTo>
                  <a:pt x="f72" y="f25"/>
                </a:lnTo>
                <a:cubicBezTo>
                  <a:pt x="f73" y="f27"/>
                  <a:pt x="f74" y="f29"/>
                  <a:pt x="f75" y="f31"/>
                </a:cubicBezTo>
                <a:cubicBezTo>
                  <a:pt x="f76" y="f77"/>
                  <a:pt x="f56" y="f78"/>
                  <a:pt x="f56" y="f36"/>
                </a:cubicBezTo>
                <a:cubicBezTo>
                  <a:pt x="f56" y="f37"/>
                  <a:pt x="f79" y="f39"/>
                  <a:pt x="f80" y="f41"/>
                </a:cubicBezTo>
                <a:cubicBezTo>
                  <a:pt x="f81" y="f43"/>
                  <a:pt x="f82" y="f37"/>
                  <a:pt x="f83" y="f37"/>
                </a:cubicBezTo>
                <a:cubicBezTo>
                  <a:pt x="f84" y="f37"/>
                  <a:pt x="f85" y="f48"/>
                  <a:pt x="f86" y="f50"/>
                </a:cubicBezTo>
                <a:cubicBezTo>
                  <a:pt x="f87" y="f52"/>
                  <a:pt x="f88" y="f54"/>
                  <a:pt x="f88" y="f55"/>
                </a:cubicBezTo>
                <a:cubicBezTo>
                  <a:pt x="f88" y="f56"/>
                  <a:pt x="f87" y="f57"/>
                  <a:pt x="f86" y="f58"/>
                </a:cubicBezTo>
                <a:cubicBezTo>
                  <a:pt x="f85" y="f59"/>
                  <a:pt x="f84" y="f60"/>
                  <a:pt x="f83" y="f60"/>
                </a:cubicBezTo>
                <a:cubicBezTo>
                  <a:pt x="f89" y="f60"/>
                  <a:pt x="f90" y="f63"/>
                  <a:pt x="f64" y="f9"/>
                </a:cubicBezTo>
                <a:close/>
              </a:path>
            </a:pathLst>
          </a:custGeom>
          <a:gradFill>
            <a:gsLst>
              <a:gs pos="0">
                <a:srgbClr val="0078D4"/>
              </a:gs>
              <a:gs pos="72000">
                <a:srgbClr val="3C8A94"/>
              </a:gs>
              <a:gs pos="100000">
                <a:srgbClr val="40BCB5"/>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Segoe Sans Display Semibold"/>
              <a:ea typeface="+mn-ea"/>
              <a:cs typeface="+mn-cs"/>
            </a:endParaRPr>
          </a:p>
        </p:txBody>
      </p:sp>
      <p:sp>
        <p:nvSpPr>
          <p:cNvPr id="3" name="TextBox 2">
            <a:extLst>
              <a:ext uri="{FF2B5EF4-FFF2-40B4-BE49-F238E27FC236}">
                <a16:creationId xmlns:a16="http://schemas.microsoft.com/office/drawing/2014/main" id="{7EC0638E-DE3F-0B1E-ACDE-BCBF92B6BA2B}"/>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8092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500" fill="hold"/>
                                        <p:tgtEl>
                                          <p:spTgt spid="18"/>
                                        </p:tgtEl>
                                        <p:attrNameLst>
                                          <p:attrName>ppt_x</p:attrName>
                                          <p:attrName>ppt_y</p:attrName>
                                        </p:attrNameLst>
                                      </p:cBhvr>
                                      <p:rCtr x="0" y="-1944"/>
                                    </p:animMotion>
                                  </p:childTnLst>
                                </p:cTn>
                              </p:par>
                              <p:par>
                                <p:cTn id="10" presetID="10" presetClass="entr" presetSubtype="0" fill="hold" grpId="0" nodeType="withEffect">
                                  <p:stCondLst>
                                    <p:cond delay="25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250"/>
                                        <p:tgtEl>
                                          <p:spTgt spid="19"/>
                                        </p:tgtEl>
                                      </p:cBhvr>
                                    </p:animEffect>
                                  </p:childTnLst>
                                </p:cTn>
                              </p:par>
                              <p:par>
                                <p:cTn id="13" presetID="42" presetClass="path" presetSubtype="0" decel="100000" fill="hold" grpId="1" nodeType="withEffect">
                                  <p:stCondLst>
                                    <p:cond delay="250"/>
                                  </p:stCondLst>
                                  <p:childTnLst>
                                    <p:animMotion origin="layout" path="M 1.25E-6 0.03889 L 1.25E-6 1.85185E-6 " pathEditMode="relative" rAng="0" ptsTypes="AA">
                                      <p:cBhvr>
                                        <p:cTn id="14" dur="500" fill="hold"/>
                                        <p:tgtEl>
                                          <p:spTgt spid="19"/>
                                        </p:tgtEl>
                                        <p:attrNameLst>
                                          <p:attrName>ppt_x</p:attrName>
                                          <p:attrName>ppt_y</p:attrName>
                                        </p:attrNameLst>
                                      </p:cBhvr>
                                      <p:rCtr x="0" y="-1944"/>
                                    </p:animMotion>
                                  </p:childTnLst>
                                </p:cTn>
                              </p:par>
                              <p:par>
                                <p:cTn id="15" presetID="10" presetClass="entr" presetSubtype="0" fill="hold" grpId="0" nodeType="withEffect">
                                  <p:stCondLst>
                                    <p:cond delay="50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250"/>
                                        <p:tgtEl>
                                          <p:spTgt spid="20"/>
                                        </p:tgtEl>
                                      </p:cBhvr>
                                    </p:animEffect>
                                  </p:childTnLst>
                                </p:cTn>
                              </p:par>
                              <p:par>
                                <p:cTn id="18" presetID="42" presetClass="path" presetSubtype="0" decel="100000" fill="hold" grpId="1" nodeType="withEffect">
                                  <p:stCondLst>
                                    <p:cond delay="500"/>
                                  </p:stCondLst>
                                  <p:childTnLst>
                                    <p:animMotion origin="layout" path="M 1.25E-6 0.03889 L 1.25E-6 1.85185E-6 " pathEditMode="relative" rAng="0" ptsTypes="AA">
                                      <p:cBhvr>
                                        <p:cTn id="19" dur="500" fill="hold"/>
                                        <p:tgtEl>
                                          <p:spTgt spid="20"/>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par>
                                <p:cTn id="23" presetID="42" presetClass="path" presetSubtype="0" decel="100000" fill="hold" grpId="1" nodeType="withEffect">
                                  <p:stCondLst>
                                    <p:cond delay="0"/>
                                  </p:stCondLst>
                                  <p:childTnLst>
                                    <p:animMotion origin="layout" path="M 1.25E-6 0.03889 L 1.25E-6 1.85185E-6 " pathEditMode="relative" rAng="0" ptsTypes="AA">
                                      <p:cBhvr>
                                        <p:cTn id="24" dur="500" fill="hold"/>
                                        <p:tgtEl>
                                          <p:spTgt spid="21"/>
                                        </p:tgtEl>
                                        <p:attrNameLst>
                                          <p:attrName>ppt_x</p:attrName>
                                          <p:attrName>ppt_y</p:attrName>
                                        </p:attrNameLst>
                                      </p:cBhvr>
                                      <p:rCtr x="0" y="-1944"/>
                                    </p:animMotion>
                                  </p:childTnLst>
                                </p:cTn>
                              </p:par>
                              <p:par>
                                <p:cTn id="25" presetID="10" presetClass="entr" presetSubtype="0" fill="hold" grpId="0" nodeType="withEffect">
                                  <p:stCondLst>
                                    <p:cond delay="25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250"/>
                                        <p:tgtEl>
                                          <p:spTgt spid="22"/>
                                        </p:tgtEl>
                                      </p:cBhvr>
                                    </p:animEffect>
                                  </p:childTnLst>
                                </p:cTn>
                              </p:par>
                              <p:par>
                                <p:cTn id="28" presetID="42" presetClass="path" presetSubtype="0" decel="100000" fill="hold" grpId="1" nodeType="withEffect">
                                  <p:stCondLst>
                                    <p:cond delay="250"/>
                                  </p:stCondLst>
                                  <p:childTnLst>
                                    <p:animMotion origin="layout" path="M 1.25E-6 0.03889 L 1.25E-6 1.85185E-6 " pathEditMode="relative" rAng="0" ptsTypes="AA">
                                      <p:cBhvr>
                                        <p:cTn id="29" dur="500" fill="hold"/>
                                        <p:tgtEl>
                                          <p:spTgt spid="22"/>
                                        </p:tgtEl>
                                        <p:attrNameLst>
                                          <p:attrName>ppt_x</p:attrName>
                                          <p:attrName>ppt_y</p:attrName>
                                        </p:attrNameLst>
                                      </p:cBhvr>
                                      <p:rCtr x="0" y="-1944"/>
                                    </p:animMotion>
                                  </p:childTnLst>
                                </p:cTn>
                              </p:par>
                              <p:par>
                                <p:cTn id="30" presetID="10" presetClass="entr" presetSubtype="0" fill="hold" grpId="0" nodeType="withEffect">
                                  <p:stCondLst>
                                    <p:cond delay="50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250"/>
                                        <p:tgtEl>
                                          <p:spTgt spid="23"/>
                                        </p:tgtEl>
                                      </p:cBhvr>
                                    </p:animEffect>
                                  </p:childTnLst>
                                </p:cTn>
                              </p:par>
                              <p:par>
                                <p:cTn id="33" presetID="42" presetClass="path" presetSubtype="0" decel="100000" fill="hold" grpId="1" nodeType="withEffect">
                                  <p:stCondLst>
                                    <p:cond delay="500"/>
                                  </p:stCondLst>
                                  <p:childTnLst>
                                    <p:animMotion origin="layout" path="M 1.25E-6 0.03889 L 1.25E-6 1.85185E-6 " pathEditMode="relative" rAng="0" ptsTypes="AA">
                                      <p:cBhvr>
                                        <p:cTn id="34" dur="500" fill="hold"/>
                                        <p:tgtEl>
                                          <p:spTgt spid="23"/>
                                        </p:tgtEl>
                                        <p:attrNameLst>
                                          <p:attrName>ppt_x</p:attrName>
                                          <p:attrName>ppt_y</p:attrName>
                                        </p:attrNameLst>
                                      </p:cBhvr>
                                      <p:rCtr x="0" y="-1944"/>
                                    </p:animMotion>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250"/>
                                        <p:tgtEl>
                                          <p:spTgt spid="24"/>
                                        </p:tgtEl>
                                      </p:cBhvr>
                                    </p:animEffect>
                                  </p:childTnLst>
                                </p:cTn>
                              </p:par>
                              <p:par>
                                <p:cTn id="38" presetID="42" presetClass="path" presetSubtype="0" decel="100000" fill="hold" grpId="1" nodeType="withEffect">
                                  <p:stCondLst>
                                    <p:cond delay="0"/>
                                  </p:stCondLst>
                                  <p:childTnLst>
                                    <p:animMotion origin="layout" path="M 1.25E-6 0.03889 L 1.25E-6 1.85185E-6 " pathEditMode="relative" rAng="0" ptsTypes="AA">
                                      <p:cBhvr>
                                        <p:cTn id="39" dur="500" fill="hold"/>
                                        <p:tgtEl>
                                          <p:spTgt spid="24"/>
                                        </p:tgtEl>
                                        <p:attrNameLst>
                                          <p:attrName>ppt_x</p:attrName>
                                          <p:attrName>ppt_y</p:attrName>
                                        </p:attrNameLst>
                                      </p:cBhvr>
                                      <p:rCtr x="0" y="-1944"/>
                                    </p:animMotion>
                                  </p:childTnLst>
                                </p:cTn>
                              </p:par>
                              <p:par>
                                <p:cTn id="40" presetID="10" presetClass="entr" presetSubtype="0" fill="hold" grpId="0" nodeType="withEffect">
                                  <p:stCondLst>
                                    <p:cond delay="25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250"/>
                                        <p:tgtEl>
                                          <p:spTgt spid="25"/>
                                        </p:tgtEl>
                                      </p:cBhvr>
                                    </p:animEffect>
                                  </p:childTnLst>
                                </p:cTn>
                              </p:par>
                              <p:par>
                                <p:cTn id="43" presetID="42" presetClass="path" presetSubtype="0" decel="100000" fill="hold" grpId="1" nodeType="withEffect">
                                  <p:stCondLst>
                                    <p:cond delay="250"/>
                                  </p:stCondLst>
                                  <p:childTnLst>
                                    <p:animMotion origin="layout" path="M 1.25E-6 0.03889 L 1.25E-6 1.85185E-6 " pathEditMode="relative" rAng="0" ptsTypes="AA">
                                      <p:cBhvr>
                                        <p:cTn id="44" dur="500" fill="hold"/>
                                        <p:tgtEl>
                                          <p:spTgt spid="25"/>
                                        </p:tgtEl>
                                        <p:attrNameLst>
                                          <p:attrName>ppt_x</p:attrName>
                                          <p:attrName>ppt_y</p:attrName>
                                        </p:attrNameLst>
                                      </p:cBhvr>
                                      <p:rCtr x="0" y="-1944"/>
                                    </p:animMotion>
                                  </p:childTnLst>
                                </p:cTn>
                              </p:par>
                              <p:par>
                                <p:cTn id="45" presetID="10" presetClass="entr" presetSubtype="0" fill="hold" grpId="0" nodeType="withEffect">
                                  <p:stCondLst>
                                    <p:cond delay="50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250"/>
                                        <p:tgtEl>
                                          <p:spTgt spid="26"/>
                                        </p:tgtEl>
                                      </p:cBhvr>
                                    </p:animEffect>
                                  </p:childTnLst>
                                </p:cTn>
                              </p:par>
                              <p:par>
                                <p:cTn id="48" presetID="42" presetClass="path" presetSubtype="0" decel="100000" fill="hold" grpId="1" nodeType="withEffect">
                                  <p:stCondLst>
                                    <p:cond delay="500"/>
                                  </p:stCondLst>
                                  <p:childTnLst>
                                    <p:animMotion origin="layout" path="M 1.25E-6 0.03889 L 1.25E-6 1.85185E-6 " pathEditMode="relative" rAng="0" ptsTypes="AA">
                                      <p:cBhvr>
                                        <p:cTn id="49" dur="500" fill="hold"/>
                                        <p:tgtEl>
                                          <p:spTgt spid="26"/>
                                        </p:tgtEl>
                                        <p:attrNameLst>
                                          <p:attrName>ppt_x</p:attrName>
                                          <p:attrName>ppt_y</p:attrName>
                                        </p:attrNameLst>
                                      </p:cBhvr>
                                      <p:rCtr x="0" y="-1944"/>
                                    </p:animMotion>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250"/>
                                        <p:tgtEl>
                                          <p:spTgt spid="29"/>
                                        </p:tgtEl>
                                      </p:cBhvr>
                                    </p:animEffect>
                                  </p:childTnLst>
                                </p:cTn>
                              </p:par>
                              <p:par>
                                <p:cTn id="53" presetID="42" presetClass="path" presetSubtype="0" decel="100000" fill="hold" grpId="1" nodeType="withEffect">
                                  <p:stCondLst>
                                    <p:cond delay="0"/>
                                  </p:stCondLst>
                                  <p:childTnLst>
                                    <p:animMotion origin="layout" path="M 1.25E-6 0.03889 L 1.25E-6 1.85185E-6 " pathEditMode="relative" rAng="0" ptsTypes="AA">
                                      <p:cBhvr>
                                        <p:cTn id="54" dur="500" fill="hold"/>
                                        <p:tgtEl>
                                          <p:spTgt spid="29"/>
                                        </p:tgtEl>
                                        <p:attrNameLst>
                                          <p:attrName>ppt_x</p:attrName>
                                          <p:attrName>ppt_y</p:attrName>
                                        </p:attrNameLst>
                                      </p:cBhvr>
                                      <p:rCtr x="0" y="-1944"/>
                                    </p:animMotion>
                                  </p:childTnLst>
                                </p:cTn>
                              </p:par>
                              <p:par>
                                <p:cTn id="55" presetID="10" presetClass="entr" presetSubtype="0" fill="hold" grpId="0" nodeType="withEffect">
                                  <p:stCondLst>
                                    <p:cond delay="25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250"/>
                                        <p:tgtEl>
                                          <p:spTgt spid="31"/>
                                        </p:tgtEl>
                                      </p:cBhvr>
                                    </p:animEffect>
                                  </p:childTnLst>
                                </p:cTn>
                              </p:par>
                              <p:par>
                                <p:cTn id="58" presetID="42" presetClass="path" presetSubtype="0" decel="100000" fill="hold" grpId="1" nodeType="withEffect">
                                  <p:stCondLst>
                                    <p:cond delay="250"/>
                                  </p:stCondLst>
                                  <p:childTnLst>
                                    <p:animMotion origin="layout" path="M 1.25E-6 0.03889 L 1.25E-6 1.85185E-6 " pathEditMode="relative" rAng="0" ptsTypes="AA">
                                      <p:cBhvr>
                                        <p:cTn id="59" dur="500" fill="hold"/>
                                        <p:tgtEl>
                                          <p:spTgt spid="31"/>
                                        </p:tgtEl>
                                        <p:attrNameLst>
                                          <p:attrName>ppt_x</p:attrName>
                                          <p:attrName>ppt_y</p:attrName>
                                        </p:attrNameLst>
                                      </p:cBhvr>
                                      <p:rCtr x="0" y="-1944"/>
                                    </p:animMotion>
                                  </p:childTnLst>
                                </p:cTn>
                              </p:par>
                              <p:par>
                                <p:cTn id="60" presetID="10" presetClass="entr" presetSubtype="0" fill="hold" grpId="0" nodeType="withEffect">
                                  <p:stCondLst>
                                    <p:cond delay="50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250"/>
                                        <p:tgtEl>
                                          <p:spTgt spid="32"/>
                                        </p:tgtEl>
                                      </p:cBhvr>
                                    </p:animEffect>
                                  </p:childTnLst>
                                </p:cTn>
                              </p:par>
                              <p:par>
                                <p:cTn id="63" presetID="42" presetClass="path" presetSubtype="0" decel="100000" fill="hold" grpId="1" nodeType="withEffect">
                                  <p:stCondLst>
                                    <p:cond delay="500"/>
                                  </p:stCondLst>
                                  <p:childTnLst>
                                    <p:animMotion origin="layout" path="M 1.25E-6 0.03889 L 1.25E-6 1.85185E-6 " pathEditMode="relative" rAng="0" ptsTypes="AA">
                                      <p:cBhvr>
                                        <p:cTn id="64" dur="500" fill="hold"/>
                                        <p:tgtEl>
                                          <p:spTgt spid="32"/>
                                        </p:tgtEl>
                                        <p:attrNameLst>
                                          <p:attrName>ppt_x</p:attrName>
                                          <p:attrName>ppt_y</p:attrName>
                                        </p:attrNameLst>
                                      </p:cBhvr>
                                      <p:rCtr x="0" y="-1944"/>
                                    </p:animMotion>
                                  </p:childTnLst>
                                </p:cTn>
                              </p:par>
                              <p:par>
                                <p:cTn id="65" presetID="10"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250"/>
                                        <p:tgtEl>
                                          <p:spTgt spid="33"/>
                                        </p:tgtEl>
                                      </p:cBhvr>
                                    </p:animEffect>
                                  </p:childTnLst>
                                </p:cTn>
                              </p:par>
                              <p:par>
                                <p:cTn id="68" presetID="42" presetClass="path" presetSubtype="0" decel="100000" fill="hold" grpId="1" nodeType="withEffect">
                                  <p:stCondLst>
                                    <p:cond delay="0"/>
                                  </p:stCondLst>
                                  <p:childTnLst>
                                    <p:animMotion origin="layout" path="M 1.25E-6 0.03889 L 1.25E-6 1.85185E-6 " pathEditMode="relative" rAng="0" ptsTypes="AA">
                                      <p:cBhvr>
                                        <p:cTn id="69" dur="500" fill="hold"/>
                                        <p:tgtEl>
                                          <p:spTgt spid="33"/>
                                        </p:tgtEl>
                                        <p:attrNameLst>
                                          <p:attrName>ppt_x</p:attrName>
                                          <p:attrName>ppt_y</p:attrName>
                                        </p:attrNameLst>
                                      </p:cBhvr>
                                      <p:rCtr x="0" y="-1944"/>
                                    </p:animMotion>
                                  </p:childTnLst>
                                </p:cTn>
                              </p:par>
                              <p:par>
                                <p:cTn id="70" presetID="10" presetClass="entr" presetSubtype="0" fill="hold" grpId="0" nodeType="withEffect">
                                  <p:stCondLst>
                                    <p:cond delay="25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250"/>
                                        <p:tgtEl>
                                          <p:spTgt spid="34"/>
                                        </p:tgtEl>
                                      </p:cBhvr>
                                    </p:animEffect>
                                  </p:childTnLst>
                                </p:cTn>
                              </p:par>
                              <p:par>
                                <p:cTn id="73" presetID="42" presetClass="path" presetSubtype="0" decel="100000" fill="hold" grpId="1" nodeType="withEffect">
                                  <p:stCondLst>
                                    <p:cond delay="250"/>
                                  </p:stCondLst>
                                  <p:childTnLst>
                                    <p:animMotion origin="layout" path="M 1.25E-6 0.03889 L 1.25E-6 1.85185E-6 " pathEditMode="relative" rAng="0" ptsTypes="AA">
                                      <p:cBhvr>
                                        <p:cTn id="74" dur="500" fill="hold"/>
                                        <p:tgtEl>
                                          <p:spTgt spid="34"/>
                                        </p:tgtEl>
                                        <p:attrNameLst>
                                          <p:attrName>ppt_x</p:attrName>
                                          <p:attrName>ppt_y</p:attrName>
                                        </p:attrNameLst>
                                      </p:cBhvr>
                                      <p:rCtr x="0" y="-1944"/>
                                    </p:animMotion>
                                  </p:childTnLst>
                                </p:cTn>
                              </p:par>
                              <p:par>
                                <p:cTn id="75" presetID="10" presetClass="entr" presetSubtype="0" fill="hold" grpId="0" nodeType="withEffect">
                                  <p:stCondLst>
                                    <p:cond delay="50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250"/>
                                        <p:tgtEl>
                                          <p:spTgt spid="35"/>
                                        </p:tgtEl>
                                      </p:cBhvr>
                                    </p:animEffect>
                                  </p:childTnLst>
                                </p:cTn>
                              </p:par>
                              <p:par>
                                <p:cTn id="78" presetID="42" presetClass="path" presetSubtype="0" decel="100000" fill="hold" grpId="1" nodeType="withEffect">
                                  <p:stCondLst>
                                    <p:cond delay="500"/>
                                  </p:stCondLst>
                                  <p:childTnLst>
                                    <p:animMotion origin="layout" path="M 1.25E-6 0.03889 L 1.25E-6 1.85185E-6 " pathEditMode="relative" rAng="0" ptsTypes="AA">
                                      <p:cBhvr>
                                        <p:cTn id="79" dur="500" fill="hold"/>
                                        <p:tgtEl>
                                          <p:spTgt spid="35"/>
                                        </p:tgtEl>
                                        <p:attrNameLst>
                                          <p:attrName>ppt_x</p:attrName>
                                          <p:attrName>ppt_y</p:attrName>
                                        </p:attrNameLst>
                                      </p:cBhvr>
                                      <p:rCtr x="0" y="-1944"/>
                                    </p:animMotion>
                                  </p:childTnLst>
                                </p:cTn>
                              </p:par>
                              <p:par>
                                <p:cTn id="80" presetID="10" presetClass="entr" presetSubtype="0" fill="hold" grpId="0" nodeType="withEffect">
                                  <p:stCondLst>
                                    <p:cond delay="0"/>
                                  </p:stCondLst>
                                  <p:childTnLst>
                                    <p:set>
                                      <p:cBhvr>
                                        <p:cTn id="81" dur="1" fill="hold">
                                          <p:stCondLst>
                                            <p:cond delay="0"/>
                                          </p:stCondLst>
                                        </p:cTn>
                                        <p:tgtEl>
                                          <p:spTgt spid="325"/>
                                        </p:tgtEl>
                                        <p:attrNameLst>
                                          <p:attrName>style.visibility</p:attrName>
                                        </p:attrNameLst>
                                      </p:cBhvr>
                                      <p:to>
                                        <p:strVal val="visible"/>
                                      </p:to>
                                    </p:set>
                                    <p:animEffect transition="in" filter="fade">
                                      <p:cBhvr>
                                        <p:cTn id="82" dur="250"/>
                                        <p:tgtEl>
                                          <p:spTgt spid="325"/>
                                        </p:tgtEl>
                                      </p:cBhvr>
                                    </p:animEffect>
                                  </p:childTnLst>
                                </p:cTn>
                              </p:par>
                              <p:par>
                                <p:cTn id="83" presetID="42" presetClass="path" presetSubtype="0" decel="100000" fill="hold" grpId="1" nodeType="withEffect">
                                  <p:stCondLst>
                                    <p:cond delay="0"/>
                                  </p:stCondLst>
                                  <p:childTnLst>
                                    <p:animMotion origin="layout" path="M 1.25E-6 0.03889 L 1.25E-6 1.85185E-6 " pathEditMode="relative" rAng="0" ptsTypes="AA">
                                      <p:cBhvr>
                                        <p:cTn id="84" dur="500" fill="hold"/>
                                        <p:tgtEl>
                                          <p:spTgt spid="325"/>
                                        </p:tgtEl>
                                        <p:attrNameLst>
                                          <p:attrName>ppt_x</p:attrName>
                                          <p:attrName>ppt_y</p:attrName>
                                        </p:attrNameLst>
                                      </p:cBhvr>
                                      <p:rCtr x="0" y="-1944"/>
                                    </p:animMotion>
                                  </p:childTnLst>
                                </p:cTn>
                              </p:par>
                              <p:par>
                                <p:cTn id="85" presetID="10" presetClass="entr" presetSubtype="0" fill="hold" grpId="0" nodeType="withEffect">
                                  <p:stCondLst>
                                    <p:cond delay="250"/>
                                  </p:stCondLst>
                                  <p:childTnLst>
                                    <p:set>
                                      <p:cBhvr>
                                        <p:cTn id="86" dur="1" fill="hold">
                                          <p:stCondLst>
                                            <p:cond delay="0"/>
                                          </p:stCondLst>
                                        </p:cTn>
                                        <p:tgtEl>
                                          <p:spTgt spid="326"/>
                                        </p:tgtEl>
                                        <p:attrNameLst>
                                          <p:attrName>style.visibility</p:attrName>
                                        </p:attrNameLst>
                                      </p:cBhvr>
                                      <p:to>
                                        <p:strVal val="visible"/>
                                      </p:to>
                                    </p:set>
                                    <p:animEffect transition="in" filter="fade">
                                      <p:cBhvr>
                                        <p:cTn id="87" dur="250"/>
                                        <p:tgtEl>
                                          <p:spTgt spid="326"/>
                                        </p:tgtEl>
                                      </p:cBhvr>
                                    </p:animEffect>
                                  </p:childTnLst>
                                </p:cTn>
                              </p:par>
                              <p:par>
                                <p:cTn id="88" presetID="42" presetClass="path" presetSubtype="0" decel="100000" fill="hold" grpId="1" nodeType="withEffect">
                                  <p:stCondLst>
                                    <p:cond delay="250"/>
                                  </p:stCondLst>
                                  <p:childTnLst>
                                    <p:animMotion origin="layout" path="M 1.25E-6 0.03889 L 1.25E-6 1.85185E-6 " pathEditMode="relative" rAng="0" ptsTypes="AA">
                                      <p:cBhvr>
                                        <p:cTn id="89" dur="500" fill="hold"/>
                                        <p:tgtEl>
                                          <p:spTgt spid="326"/>
                                        </p:tgtEl>
                                        <p:attrNameLst>
                                          <p:attrName>ppt_x</p:attrName>
                                          <p:attrName>ppt_y</p:attrName>
                                        </p:attrNameLst>
                                      </p:cBhvr>
                                      <p:rCtr x="0" y="-1944"/>
                                    </p:animMotion>
                                  </p:childTnLst>
                                </p:cTn>
                              </p:par>
                              <p:par>
                                <p:cTn id="90" presetID="10" presetClass="entr" presetSubtype="0" fill="hold" grpId="0" nodeType="withEffect">
                                  <p:stCondLst>
                                    <p:cond delay="500"/>
                                  </p:stCondLst>
                                  <p:childTnLst>
                                    <p:set>
                                      <p:cBhvr>
                                        <p:cTn id="91" dur="1" fill="hold">
                                          <p:stCondLst>
                                            <p:cond delay="0"/>
                                          </p:stCondLst>
                                        </p:cTn>
                                        <p:tgtEl>
                                          <p:spTgt spid="327"/>
                                        </p:tgtEl>
                                        <p:attrNameLst>
                                          <p:attrName>style.visibility</p:attrName>
                                        </p:attrNameLst>
                                      </p:cBhvr>
                                      <p:to>
                                        <p:strVal val="visible"/>
                                      </p:to>
                                    </p:set>
                                    <p:animEffect transition="in" filter="fade">
                                      <p:cBhvr>
                                        <p:cTn id="92" dur="250"/>
                                        <p:tgtEl>
                                          <p:spTgt spid="327"/>
                                        </p:tgtEl>
                                      </p:cBhvr>
                                    </p:animEffect>
                                  </p:childTnLst>
                                </p:cTn>
                              </p:par>
                              <p:par>
                                <p:cTn id="93" presetID="42" presetClass="path" presetSubtype="0" decel="100000" fill="hold" grpId="1" nodeType="withEffect">
                                  <p:stCondLst>
                                    <p:cond delay="500"/>
                                  </p:stCondLst>
                                  <p:childTnLst>
                                    <p:animMotion origin="layout" path="M 1.25E-6 0.03889 L 1.25E-6 1.85185E-6 " pathEditMode="relative" rAng="0" ptsTypes="AA">
                                      <p:cBhvr>
                                        <p:cTn id="94" dur="500" fill="hold"/>
                                        <p:tgtEl>
                                          <p:spTgt spid="327"/>
                                        </p:tgtEl>
                                        <p:attrNameLst>
                                          <p:attrName>ppt_x</p:attrName>
                                          <p:attrName>ppt_y</p:attrName>
                                        </p:attrNameLst>
                                      </p:cBhvr>
                                      <p:rCtr x="0" y="-1944"/>
                                    </p:animMotion>
                                  </p:childTnLst>
                                </p:cTn>
                              </p:par>
                            </p:childTnLst>
                          </p:cTn>
                        </p:par>
                        <p:par>
                          <p:cTn id="95" fill="hold">
                            <p:stCondLst>
                              <p:cond delay="1000"/>
                            </p:stCondLst>
                            <p:childTnLst>
                              <p:par>
                                <p:cTn id="96" presetID="10" presetClass="entr" presetSubtype="0" fill="hold" grpId="0" nodeType="after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500"/>
                                        <p:tgtEl>
                                          <p:spTgt spid="37"/>
                                        </p:tgtEl>
                                      </p:cBhvr>
                                    </p:animEffect>
                                  </p:childTnLst>
                                </p:cTn>
                              </p:par>
                              <p:par>
                                <p:cTn id="99" presetID="10" presetClass="entr" presetSubtype="0" fill="hold"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500"/>
                                        <p:tgtEl>
                                          <p:spTgt spid="4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6"/>
                                        </p:tgtEl>
                                        <p:attrNameLst>
                                          <p:attrName>style.visibility</p:attrName>
                                        </p:attrNameLst>
                                      </p:cBhvr>
                                      <p:to>
                                        <p:strVal val="visible"/>
                                      </p:to>
                                    </p:set>
                                    <p:animEffect transition="in" filter="fade">
                                      <p:cBhvr>
                                        <p:cTn id="104" dur="500"/>
                                        <p:tgtEl>
                                          <p:spTgt spid="56"/>
                                        </p:tgtEl>
                                      </p:cBhvr>
                                    </p:animEffect>
                                  </p:childTnLst>
                                </p:cTn>
                              </p:par>
                              <p:par>
                                <p:cTn id="105" presetID="10" presetClass="entr" presetSubtype="0" fill="hold" grpId="0" nodeType="withEffect">
                                  <p:stCondLst>
                                    <p:cond delay="750"/>
                                  </p:stCondLst>
                                  <p:childTnLst>
                                    <p:set>
                                      <p:cBhvr>
                                        <p:cTn id="106" dur="1" fill="hold">
                                          <p:stCondLst>
                                            <p:cond delay="0"/>
                                          </p:stCondLst>
                                        </p:cTn>
                                        <p:tgtEl>
                                          <p:spTgt spid="2"/>
                                        </p:tgtEl>
                                        <p:attrNameLst>
                                          <p:attrName>style.visibility</p:attrName>
                                        </p:attrNameLst>
                                      </p:cBhvr>
                                      <p:to>
                                        <p:strVal val="visible"/>
                                      </p:to>
                                    </p:set>
                                    <p:animEffect transition="in" filter="fade">
                                      <p:cBhvr>
                                        <p:cTn id="107" dur="250"/>
                                        <p:tgtEl>
                                          <p:spTgt spid="2"/>
                                        </p:tgtEl>
                                      </p:cBhvr>
                                    </p:animEffect>
                                  </p:childTnLst>
                                </p:cTn>
                              </p:par>
                              <p:par>
                                <p:cTn id="108" presetID="42" presetClass="path" presetSubtype="0" decel="100000" fill="hold" grpId="1" nodeType="withEffect">
                                  <p:stCondLst>
                                    <p:cond delay="750"/>
                                  </p:stCondLst>
                                  <p:childTnLst>
                                    <p:animMotion origin="layout" path="M 1.25E-6 0.03889 L 1.25E-6 1.85185E-6 " pathEditMode="relative" rAng="0" ptsTypes="AA">
                                      <p:cBhvr>
                                        <p:cTn id="109" dur="500" fill="hold"/>
                                        <p:tgtEl>
                                          <p:spTgt spid="2"/>
                                        </p:tgtEl>
                                        <p:attrNameLst>
                                          <p:attrName>ppt_x</p:attrName>
                                          <p:attrName>ppt_y</p:attrName>
                                        </p:attrNameLst>
                                      </p:cBhvr>
                                      <p:rCtr x="0" y="-1944"/>
                                    </p:animMotion>
                                  </p:childTnLst>
                                </p:cTn>
                              </p:par>
                              <p:par>
                                <p:cTn id="110" presetID="10" presetClass="entr" presetSubtype="0" fill="hold" grpId="0" nodeType="withEffect">
                                  <p:stCondLst>
                                    <p:cond delay="200"/>
                                  </p:stCondLst>
                                  <p:childTnLst>
                                    <p:set>
                                      <p:cBhvr>
                                        <p:cTn id="111" dur="1" fill="hold">
                                          <p:stCondLst>
                                            <p:cond delay="0"/>
                                          </p:stCondLst>
                                        </p:cTn>
                                        <p:tgtEl>
                                          <p:spTgt spid="3"/>
                                        </p:tgtEl>
                                        <p:attrNameLst>
                                          <p:attrName>style.visibility</p:attrName>
                                        </p:attrNameLst>
                                      </p:cBhvr>
                                      <p:to>
                                        <p:strVal val="visible"/>
                                      </p:to>
                                    </p:set>
                                    <p:animEffect transition="in" filter="fade">
                                      <p:cBhvr>
                                        <p:cTn id="112" dur="500"/>
                                        <p:tgtEl>
                                          <p:spTgt spid="3"/>
                                        </p:tgtEl>
                                      </p:cBhvr>
                                    </p:animEffect>
                                  </p:childTnLst>
                                </p:cTn>
                              </p:par>
                              <p:par>
                                <p:cTn id="113" presetID="6" presetClass="emph" presetSubtype="0" fill="hold" grpId="1" nodeType="withEffect">
                                  <p:stCondLst>
                                    <p:cond delay="0"/>
                                  </p:stCondLst>
                                  <p:childTnLst>
                                    <p:animScale>
                                      <p:cBhvr>
                                        <p:cTn id="114" dur="100" fill="hold"/>
                                        <p:tgtEl>
                                          <p:spTgt spid="3"/>
                                        </p:tgtEl>
                                      </p:cBhvr>
                                      <p:by x="25000" y="25000"/>
                                    </p:animScale>
                                  </p:childTnLst>
                                </p:cTn>
                              </p:par>
                              <p:par>
                                <p:cTn id="115" presetID="6" presetClass="emph" presetSubtype="0" decel="100000" fill="hold" grpId="2" nodeType="withEffect">
                                  <p:stCondLst>
                                    <p:cond delay="200"/>
                                  </p:stCondLst>
                                  <p:childTnLst>
                                    <p:animScale>
                                      <p:cBhvr>
                                        <p:cTn id="116"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p:bldP spid="24" grpId="1"/>
      <p:bldP spid="25" grpId="0"/>
      <p:bldP spid="25" grpId="1"/>
      <p:bldP spid="26" grpId="0"/>
      <p:bldP spid="26" grpId="1"/>
      <p:bldP spid="29" grpId="0"/>
      <p:bldP spid="29" grpId="1"/>
      <p:bldP spid="31" grpId="0"/>
      <p:bldP spid="31" grpId="1"/>
      <p:bldP spid="32" grpId="0"/>
      <p:bldP spid="32" grpId="1"/>
      <p:bldP spid="33" grpId="0" animBg="1"/>
      <p:bldP spid="33" grpId="1" animBg="1"/>
      <p:bldP spid="34" grpId="0" animBg="1"/>
      <p:bldP spid="34" grpId="1" animBg="1"/>
      <p:bldP spid="35" grpId="0" animBg="1"/>
      <p:bldP spid="35" grpId="1" animBg="1"/>
      <p:bldP spid="325" grpId="0"/>
      <p:bldP spid="325" grpId="1"/>
      <p:bldP spid="326" grpId="0"/>
      <p:bldP spid="326" grpId="1"/>
      <p:bldP spid="327" grpId="0"/>
      <p:bldP spid="327" grpId="1"/>
      <p:bldP spid="37" grpId="0" animBg="1"/>
      <p:bldP spid="56" grpId="0"/>
      <p:bldP spid="2" grpId="0" animBg="1"/>
      <p:bldP spid="2" grpId="1" animBg="1"/>
      <p:bldP spid="3" grpId="0" animBg="1"/>
      <p:bldP spid="3" grpId="1" animBg="1"/>
      <p:bldP spid="3" grpId="2"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2F9D7-37FE-846D-C88A-5B04960300C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3377CDBC-31F0-1411-E9B7-DB152E4DDB37}"/>
              </a:ext>
            </a:extLst>
          </p:cNvPr>
          <p:cNvSpPr>
            <a:spLocks noGrp="1"/>
          </p:cNvSpPr>
          <p:nvPr>
            <p:ph type="title"/>
          </p:nvPr>
        </p:nvSpPr>
        <p:spPr>
          <a:xfrm>
            <a:off x="588263" y="457200"/>
            <a:ext cx="11018520" cy="492443"/>
          </a:xfrm>
        </p:spPr>
        <p:txBody>
          <a:bodyPr/>
          <a:lstStyle/>
          <a:p>
            <a:r>
              <a:rPr lang="en-US" noProof="0" dirty="0"/>
              <a:t>App modernization with GitHub Copilot</a:t>
            </a:r>
          </a:p>
        </p:txBody>
      </p:sp>
      <p:sp>
        <p:nvSpPr>
          <p:cNvPr id="16" name="Text Placeholder 35">
            <a:extLst>
              <a:ext uri="{FF2B5EF4-FFF2-40B4-BE49-F238E27FC236}">
                <a16:creationId xmlns:a16="http://schemas.microsoft.com/office/drawing/2014/main" id="{888447EA-622F-667C-8667-6B7B4B691E9A}"/>
              </a:ext>
            </a:extLst>
          </p:cNvPr>
          <p:cNvSpPr txBox="1">
            <a:spLocks/>
          </p:cNvSpPr>
          <p:nvPr/>
        </p:nvSpPr>
        <p:spPr>
          <a:xfrm>
            <a:off x="588963" y="1098900"/>
            <a:ext cx="11017250" cy="276999"/>
          </a:xfrm>
          <a:prstGeom prst="rect">
            <a:avLst/>
          </a:prstGeom>
        </p:spPr>
        <p:txBody>
          <a:bodyPr wrap="square" lIns="0" tIns="0" rIns="0" bIns="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sz="18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Seamless handoff from Portfolio Assessment </a:t>
            </a:r>
            <a:r>
              <a:rPr kumimoji="0" lang="en-US" sz="18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sym typeface="Wingdings" panose="05000000000000000000" pitchFamily="2" charset="2"/>
              </a:rPr>
              <a:t> </a:t>
            </a:r>
            <a:r>
              <a:rPr kumimoji="0" lang="en-US" sz="18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GitHub Issues </a:t>
            </a:r>
            <a:r>
              <a:rPr kumimoji="0" lang="en-US" sz="18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sym typeface="Wingdings" panose="05000000000000000000" pitchFamily="2" charset="2"/>
              </a:rPr>
              <a:t> </a:t>
            </a:r>
            <a:r>
              <a:rPr kumimoji="0" lang="en-US" sz="18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GitHub Copilot</a:t>
            </a:r>
          </a:p>
        </p:txBody>
      </p:sp>
      <p:cxnSp>
        <p:nvCxnSpPr>
          <p:cNvPr id="17" name="Straight Arrow Connector 16">
            <a:extLst>
              <a:ext uri="{FF2B5EF4-FFF2-40B4-BE49-F238E27FC236}">
                <a16:creationId xmlns:a16="http://schemas.microsoft.com/office/drawing/2014/main" id="{3DA55620-6C6A-3D66-987A-A360173401F7}"/>
              </a:ext>
            </a:extLst>
          </p:cNvPr>
          <p:cNvCxnSpPr>
            <a:cxnSpLocks/>
            <a:stCxn id="46" idx="0"/>
            <a:endCxn id="24" idx="2"/>
          </p:cNvCxnSpPr>
          <p:nvPr/>
        </p:nvCxnSpPr>
        <p:spPr>
          <a:xfrm flipV="1">
            <a:off x="1522598" y="3444335"/>
            <a:ext cx="0" cy="1240235"/>
          </a:xfrm>
          <a:prstGeom prst="straightConnector1">
            <a:avLst/>
          </a:prstGeom>
          <a:ln w="9525" cap="rnd">
            <a:solidFill>
              <a:srgbClr val="3CB8B7"/>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Connector: Elbow 38">
            <a:extLst>
              <a:ext uri="{FF2B5EF4-FFF2-40B4-BE49-F238E27FC236}">
                <a16:creationId xmlns:a16="http://schemas.microsoft.com/office/drawing/2014/main" id="{CF9DABFA-92A7-C773-4119-20CCEE9A30FB}"/>
              </a:ext>
            </a:extLst>
          </p:cNvPr>
          <p:cNvCxnSpPr>
            <a:cxnSpLocks/>
            <a:stCxn id="24" idx="0"/>
            <a:endCxn id="25" idx="2"/>
          </p:cNvCxnSpPr>
          <p:nvPr/>
        </p:nvCxnSpPr>
        <p:spPr>
          <a:xfrm flipV="1">
            <a:off x="1522598" y="2639549"/>
            <a:ext cx="0" cy="316816"/>
          </a:xfrm>
          <a:prstGeom prst="straightConnector1">
            <a:avLst/>
          </a:prstGeom>
          <a:ln w="9525" cap="rnd">
            <a:solidFill>
              <a:srgbClr val="3CB8B7"/>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C4C728CE-3BC5-4AD5-7E22-6008881EA4BC}"/>
              </a:ext>
            </a:extLst>
          </p:cNvPr>
          <p:cNvCxnSpPr>
            <a:cxnSpLocks/>
            <a:stCxn id="33" idx="2"/>
            <a:endCxn id="34" idx="3"/>
          </p:cNvCxnSpPr>
          <p:nvPr/>
        </p:nvCxnSpPr>
        <p:spPr>
          <a:xfrm rot="5400000">
            <a:off x="9593190" y="4506722"/>
            <a:ext cx="831555" cy="925127"/>
          </a:xfrm>
          <a:prstGeom prst="bentConnector2">
            <a:avLst/>
          </a:prstGeom>
          <a:ln w="9525" cap="rnd">
            <a:solidFill>
              <a:srgbClr val="3CB8B7"/>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9B455AB4-7DF7-F1BC-EB94-B9CCE305A6A7}"/>
              </a:ext>
              <a:ext uri="{C183D7F6-B498-43B3-948B-1728B52AA6E4}">
                <adec:decorative xmlns:adec="http://schemas.microsoft.com/office/drawing/2017/decorative" val="1"/>
              </a:ext>
            </a:extLst>
          </p:cNvPr>
          <p:cNvSpPr>
            <a:spLocks/>
          </p:cNvSpPr>
          <p:nvPr/>
        </p:nvSpPr>
        <p:spPr bwMode="auto">
          <a:xfrm>
            <a:off x="3575721" y="2157999"/>
            <a:ext cx="8004639" cy="3761478"/>
          </a:xfrm>
          <a:prstGeom prst="roundRect">
            <a:avLst>
              <a:gd name="adj" fmla="val 3749"/>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4" name="Rounded Rectangle 15">
            <a:extLst>
              <a:ext uri="{FF2B5EF4-FFF2-40B4-BE49-F238E27FC236}">
                <a16:creationId xmlns:a16="http://schemas.microsoft.com/office/drawing/2014/main" id="{7357F16F-8842-6E8F-1D8D-52B903D86C5C}"/>
              </a:ext>
            </a:extLst>
          </p:cNvPr>
          <p:cNvSpPr/>
          <p:nvPr/>
        </p:nvSpPr>
        <p:spPr bwMode="auto">
          <a:xfrm>
            <a:off x="622598" y="2956365"/>
            <a:ext cx="1800000" cy="487970"/>
          </a:xfrm>
          <a:prstGeom prst="roundRect">
            <a:avLst>
              <a:gd name="adj" fmla="val 16344"/>
            </a:avLst>
          </a:prstGeom>
          <a:solidFill>
            <a:schemeClr val="tx2"/>
          </a:solidFill>
          <a:ln w="6350">
            <a:no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Segoe Sans Text"/>
                <a:ea typeface="+mn-ea"/>
                <a:cs typeface="+mn-cs"/>
              </a:rPr>
              <a:t>Portfolio assessment tools</a:t>
            </a:r>
          </a:p>
        </p:txBody>
      </p:sp>
      <p:sp>
        <p:nvSpPr>
          <p:cNvPr id="25" name="Rounded Rectangle 15">
            <a:extLst>
              <a:ext uri="{FF2B5EF4-FFF2-40B4-BE49-F238E27FC236}">
                <a16:creationId xmlns:a16="http://schemas.microsoft.com/office/drawing/2014/main" id="{92B69FA7-1BEF-6EC2-F5E7-F76A3E7BF20F}"/>
              </a:ext>
            </a:extLst>
          </p:cNvPr>
          <p:cNvSpPr/>
          <p:nvPr/>
        </p:nvSpPr>
        <p:spPr bwMode="auto">
          <a:xfrm>
            <a:off x="622598" y="2099549"/>
            <a:ext cx="1800000" cy="540000"/>
          </a:xfrm>
          <a:prstGeom prst="roundRect">
            <a:avLst>
              <a:gd name="adj" fmla="val 14769"/>
            </a:avLst>
          </a:prstGeom>
          <a:solidFill>
            <a:schemeClr val="tx2"/>
          </a:solidFill>
          <a:ln w="6350">
            <a:no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Segoe Sans Text"/>
                <a:ea typeface="+mn-ea"/>
                <a:cs typeface="+mn-cs"/>
              </a:rPr>
              <a:t>Customer’s </a:t>
            </a:r>
            <a:br>
              <a:rPr kumimoji="0" lang="en-US" sz="1100" b="0" i="0" u="none" strike="noStrike" kern="1200" cap="none" spc="0" normalizeH="0" baseline="0" noProof="0" dirty="0">
                <a:ln>
                  <a:noFill/>
                </a:ln>
                <a:solidFill>
                  <a:srgbClr val="FFFFFF"/>
                </a:solidFill>
                <a:effectLst/>
                <a:uLnTx/>
                <a:uFillTx/>
                <a:latin typeface="Segoe Sans Text"/>
                <a:ea typeface="+mn-ea"/>
                <a:cs typeface="+mn-cs"/>
              </a:rPr>
            </a:br>
            <a:r>
              <a:rPr kumimoji="0" lang="en-US" sz="1100" b="0" i="0" u="none" strike="noStrike" kern="1200" cap="none" spc="0" normalizeH="0" baseline="0" noProof="0" dirty="0">
                <a:ln>
                  <a:noFill/>
                </a:ln>
                <a:solidFill>
                  <a:srgbClr val="FFFFFF"/>
                </a:solidFill>
                <a:effectLst/>
                <a:uLnTx/>
                <a:uFillTx/>
                <a:latin typeface="Segoe Sans Text"/>
                <a:ea typeface="+mn-ea"/>
                <a:cs typeface="+mn-cs"/>
              </a:rPr>
              <a:t>On-prem Infrastructure</a:t>
            </a:r>
          </a:p>
        </p:txBody>
      </p:sp>
      <p:cxnSp>
        <p:nvCxnSpPr>
          <p:cNvPr id="26" name="Straight Arrow Connector 25">
            <a:extLst>
              <a:ext uri="{FF2B5EF4-FFF2-40B4-BE49-F238E27FC236}">
                <a16:creationId xmlns:a16="http://schemas.microsoft.com/office/drawing/2014/main" id="{73FC97C1-2061-3A3B-011E-3FE8DB1F6159}"/>
              </a:ext>
            </a:extLst>
          </p:cNvPr>
          <p:cNvCxnSpPr>
            <a:cxnSpLocks/>
            <a:stCxn id="29" idx="3"/>
            <a:endCxn id="30" idx="1"/>
          </p:cNvCxnSpPr>
          <p:nvPr/>
        </p:nvCxnSpPr>
        <p:spPr>
          <a:xfrm>
            <a:off x="7062128" y="3537803"/>
            <a:ext cx="1044275" cy="1973"/>
          </a:xfrm>
          <a:prstGeom prst="straightConnector1">
            <a:avLst/>
          </a:prstGeom>
          <a:ln w="9525" cap="rnd">
            <a:solidFill>
              <a:srgbClr val="3CB8B7"/>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28" name="Rounded Rectangle 5">
            <a:extLst>
              <a:ext uri="{FF2B5EF4-FFF2-40B4-BE49-F238E27FC236}">
                <a16:creationId xmlns:a16="http://schemas.microsoft.com/office/drawing/2014/main" id="{E872D242-02D9-14ED-40E2-4FD3C4FDE75F}"/>
              </a:ext>
            </a:extLst>
          </p:cNvPr>
          <p:cNvSpPr/>
          <p:nvPr/>
        </p:nvSpPr>
        <p:spPr bwMode="auto">
          <a:xfrm>
            <a:off x="4193334" y="4061209"/>
            <a:ext cx="1440000" cy="548859"/>
          </a:xfrm>
          <a:prstGeom prst="roundRect">
            <a:avLst/>
          </a:prstGeom>
          <a:solidFill>
            <a:srgbClr val="3C8A94"/>
          </a:solidFill>
        </p:spPr>
        <p:txBody>
          <a:bodyPr vert="horz" wrap="square" lIns="91440" tIns="45720" rIns="91440" bIns="45720" rtlCol="0" anchor="ctr" anchorCtr="0">
            <a:noAutofit/>
          </a:bodyPr>
          <a:lstStyle/>
          <a:p>
            <a:pPr marL="0" marR="0" lvl="0" indent="0" algn="ctr" defTabSz="914400" rtl="0" eaLnBrk="1" fontAlgn="auto" latinLnBrk="0" hangingPunct="1">
              <a:lnSpc>
                <a:spcPct val="100000"/>
              </a:lnSpc>
              <a:spcBef>
                <a:spcPts val="600"/>
              </a:spcBef>
              <a:spcAft>
                <a:spcPts val="300"/>
              </a:spcAft>
              <a:buClrTx/>
              <a:buSzTx/>
              <a:buFontTx/>
              <a:buNone/>
              <a:tabLst/>
              <a:defRPr/>
            </a:pPr>
            <a:r>
              <a:rPr kumimoji="0" lang="en-US" sz="1200" b="0" i="0" u="none" strike="noStrike" kern="1200" cap="none" spc="0" normalizeH="0" baseline="0" noProof="0" dirty="0">
                <a:ln w="3175">
                  <a:noFill/>
                </a:ln>
                <a:solidFill>
                  <a:srgbClr val="FFFFFF"/>
                </a:solidFill>
                <a:effectLst/>
                <a:uLnTx/>
                <a:uFillTx/>
                <a:latin typeface="Segoe Sans Text"/>
                <a:ea typeface="+mn-ea"/>
                <a:cs typeface="+mn-cs"/>
              </a:rPr>
              <a:t>Assess</a:t>
            </a:r>
          </a:p>
        </p:txBody>
      </p:sp>
      <p:sp>
        <p:nvSpPr>
          <p:cNvPr id="29" name="Rounded Rectangle 6">
            <a:extLst>
              <a:ext uri="{FF2B5EF4-FFF2-40B4-BE49-F238E27FC236}">
                <a16:creationId xmlns:a16="http://schemas.microsoft.com/office/drawing/2014/main" id="{CB06E9FB-22D5-544D-C26D-1766FF7D4070}"/>
              </a:ext>
            </a:extLst>
          </p:cNvPr>
          <p:cNvSpPr/>
          <p:nvPr/>
        </p:nvSpPr>
        <p:spPr bwMode="auto">
          <a:xfrm>
            <a:off x="5622128" y="3263373"/>
            <a:ext cx="1440000" cy="548859"/>
          </a:xfrm>
          <a:prstGeom prst="roundRect">
            <a:avLst/>
          </a:prstGeom>
          <a:solidFill>
            <a:srgbClr val="3C8A94"/>
          </a:solidFill>
        </p:spPr>
        <p:txBody>
          <a:bodyPr vert="horz" wrap="square" lIns="91440" tIns="45720" rIns="91440" bIns="45720" rtlCol="0" anchor="ctr" anchorCtr="0">
            <a:noAutofit/>
          </a:bodyPr>
          <a:lstStyle/>
          <a:p>
            <a:pPr marL="0" marR="0" lvl="0" indent="0" algn="ctr" defTabSz="914400" rtl="0" eaLnBrk="1" fontAlgn="auto" latinLnBrk="0" hangingPunct="1">
              <a:lnSpc>
                <a:spcPct val="100000"/>
              </a:lnSpc>
              <a:spcBef>
                <a:spcPts val="600"/>
              </a:spcBef>
              <a:spcAft>
                <a:spcPts val="300"/>
              </a:spcAft>
              <a:buClrTx/>
              <a:buSzTx/>
              <a:buFontTx/>
              <a:buNone/>
              <a:tabLst/>
              <a:defRPr/>
            </a:pPr>
            <a:r>
              <a:rPr kumimoji="0" lang="en-US" sz="1200" b="0" i="0" u="none" strike="noStrike" kern="1200" cap="none" spc="0" normalizeH="0" baseline="0" noProof="0" dirty="0">
                <a:ln w="3175">
                  <a:noFill/>
                </a:ln>
                <a:solidFill>
                  <a:srgbClr val="FFFFFF"/>
                </a:solidFill>
                <a:effectLst/>
                <a:uLnTx/>
                <a:uFillTx/>
                <a:latin typeface="Segoe Sans Text"/>
                <a:ea typeface="+mn-ea"/>
                <a:cs typeface="+mn-cs"/>
              </a:rPr>
              <a:t>Upgrade</a:t>
            </a:r>
          </a:p>
        </p:txBody>
      </p:sp>
      <p:sp>
        <p:nvSpPr>
          <p:cNvPr id="30" name="Rounded Rectangle 5">
            <a:extLst>
              <a:ext uri="{FF2B5EF4-FFF2-40B4-BE49-F238E27FC236}">
                <a16:creationId xmlns:a16="http://schemas.microsoft.com/office/drawing/2014/main" id="{59B1ED2D-0D80-ABC6-7F34-696FDB041D8A}"/>
              </a:ext>
            </a:extLst>
          </p:cNvPr>
          <p:cNvSpPr/>
          <p:nvPr/>
        </p:nvSpPr>
        <p:spPr bwMode="auto">
          <a:xfrm>
            <a:off x="8106403" y="3265346"/>
            <a:ext cx="1440000" cy="548859"/>
          </a:xfrm>
          <a:prstGeom prst="roundRect">
            <a:avLst/>
          </a:prstGeom>
          <a:solidFill>
            <a:srgbClr val="3C8A94"/>
          </a:solidFill>
        </p:spPr>
        <p:txBody>
          <a:bodyPr vert="horz" wrap="square" lIns="91440" tIns="45720" rIns="91440" bIns="45720" rtlCol="0" anchor="ctr" anchorCtr="0">
            <a:noAutofit/>
          </a:bodyPr>
          <a:lstStyle/>
          <a:p>
            <a:pPr marL="0" marR="0" lvl="0" indent="0" algn="ctr" defTabSz="914400" rtl="0" eaLnBrk="1" fontAlgn="auto" latinLnBrk="0" hangingPunct="1">
              <a:lnSpc>
                <a:spcPct val="100000"/>
              </a:lnSpc>
              <a:spcBef>
                <a:spcPts val="600"/>
              </a:spcBef>
              <a:spcAft>
                <a:spcPts val="300"/>
              </a:spcAft>
              <a:buClrTx/>
              <a:buSzTx/>
              <a:buFontTx/>
              <a:buNone/>
              <a:tabLst/>
              <a:defRPr/>
            </a:pPr>
            <a:r>
              <a:rPr kumimoji="0" lang="en-US" sz="1200" b="0" i="0" u="none" strike="noStrike" kern="1200" cap="none" spc="0" normalizeH="0" baseline="0" noProof="0" dirty="0">
                <a:ln w="3175">
                  <a:noFill/>
                </a:ln>
                <a:solidFill>
                  <a:srgbClr val="FFFFFF"/>
                </a:solidFill>
                <a:effectLst/>
                <a:uLnTx/>
                <a:uFillTx/>
                <a:latin typeface="Segoe Sans Text"/>
                <a:ea typeface="+mn-ea"/>
                <a:cs typeface="+mn-cs"/>
              </a:rPr>
              <a:t>Migrate</a:t>
            </a:r>
          </a:p>
        </p:txBody>
      </p:sp>
      <p:sp>
        <p:nvSpPr>
          <p:cNvPr id="32" name="Rounded Rectangle 6">
            <a:extLst>
              <a:ext uri="{FF2B5EF4-FFF2-40B4-BE49-F238E27FC236}">
                <a16:creationId xmlns:a16="http://schemas.microsoft.com/office/drawing/2014/main" id="{30045401-69D0-0055-444C-FD373F36C1D4}"/>
              </a:ext>
            </a:extLst>
          </p:cNvPr>
          <p:cNvSpPr/>
          <p:nvPr/>
        </p:nvSpPr>
        <p:spPr bwMode="auto">
          <a:xfrm>
            <a:off x="5622128" y="5117080"/>
            <a:ext cx="1440000" cy="548859"/>
          </a:xfrm>
          <a:prstGeom prst="roundRect">
            <a:avLst/>
          </a:prstGeom>
          <a:solidFill>
            <a:srgbClr val="3C8A94"/>
          </a:solidFill>
        </p:spPr>
        <p:txBody>
          <a:bodyPr vert="horz" wrap="square" lIns="91440" tIns="45720" rIns="91440" bIns="45720" rtlCol="0" anchor="ctr" anchorCtr="0">
            <a:noAutofit/>
          </a:bodyPr>
          <a:lstStyle/>
          <a:p>
            <a:pPr marL="0" marR="0" lvl="0" indent="0" algn="ctr" defTabSz="914400" rtl="0" eaLnBrk="1" fontAlgn="auto" latinLnBrk="0" hangingPunct="1">
              <a:lnSpc>
                <a:spcPct val="100000"/>
              </a:lnSpc>
              <a:spcBef>
                <a:spcPts val="600"/>
              </a:spcBef>
              <a:spcAft>
                <a:spcPts val="300"/>
              </a:spcAft>
              <a:buClrTx/>
              <a:buSzTx/>
              <a:buFontTx/>
              <a:buNone/>
              <a:tabLst/>
              <a:defRPr/>
            </a:pPr>
            <a:r>
              <a:rPr kumimoji="0" lang="en-US" sz="1200" b="0" i="0" u="none" strike="noStrike" kern="1200" cap="none" spc="0" normalizeH="0" baseline="0" noProof="0" dirty="0">
                <a:ln w="3175">
                  <a:noFill/>
                </a:ln>
                <a:solidFill>
                  <a:srgbClr val="FFFFFF"/>
                </a:solidFill>
                <a:effectLst/>
                <a:uLnTx/>
                <a:uFillTx/>
                <a:latin typeface="Segoe Sans Text"/>
                <a:ea typeface="+mn-ea"/>
                <a:cs typeface="+mn-cs"/>
              </a:rPr>
              <a:t>Deploy</a:t>
            </a:r>
          </a:p>
        </p:txBody>
      </p:sp>
      <p:sp>
        <p:nvSpPr>
          <p:cNvPr id="33" name="Rounded Rectangle 5">
            <a:extLst>
              <a:ext uri="{FF2B5EF4-FFF2-40B4-BE49-F238E27FC236}">
                <a16:creationId xmlns:a16="http://schemas.microsoft.com/office/drawing/2014/main" id="{51AB74F8-04B9-0164-913D-41792D4FD0E9}"/>
              </a:ext>
            </a:extLst>
          </p:cNvPr>
          <p:cNvSpPr/>
          <p:nvPr/>
        </p:nvSpPr>
        <p:spPr bwMode="auto">
          <a:xfrm>
            <a:off x="9751530" y="4004649"/>
            <a:ext cx="1440000" cy="548859"/>
          </a:xfrm>
          <a:prstGeom prst="roundRect">
            <a:avLst/>
          </a:prstGeom>
          <a:solidFill>
            <a:srgbClr val="3C8A94"/>
          </a:solidFill>
        </p:spPr>
        <p:txBody>
          <a:bodyPr vert="horz" wrap="square" lIns="91440" tIns="45720" rIns="91440" bIns="45720" rtlCol="0" anchor="ctr" anchorCtr="0">
            <a:noAutofit/>
          </a:bodyPr>
          <a:lstStyle/>
          <a:p>
            <a:pPr marL="0" marR="0" lvl="0" indent="0" algn="ctr" defTabSz="914400" rtl="0" eaLnBrk="1" fontAlgn="auto" latinLnBrk="0" hangingPunct="1">
              <a:lnSpc>
                <a:spcPct val="100000"/>
              </a:lnSpc>
              <a:spcBef>
                <a:spcPts val="600"/>
              </a:spcBef>
              <a:spcAft>
                <a:spcPts val="300"/>
              </a:spcAft>
              <a:buClrTx/>
              <a:buSzTx/>
              <a:buFontTx/>
              <a:buNone/>
              <a:tabLst/>
              <a:defRPr/>
            </a:pPr>
            <a:r>
              <a:rPr kumimoji="0" lang="en-US" sz="1200" b="0" i="0" u="none" strike="noStrike" kern="1200" cap="none" spc="0" normalizeH="0" baseline="0" noProof="0" dirty="0">
                <a:ln w="3175">
                  <a:noFill/>
                </a:ln>
                <a:solidFill>
                  <a:srgbClr val="FFFFFF"/>
                </a:solidFill>
                <a:effectLst/>
                <a:uLnTx/>
                <a:uFillTx/>
                <a:latin typeface="Segoe Sans Text"/>
                <a:ea typeface="+mn-ea"/>
                <a:cs typeface="+mn-cs"/>
              </a:rPr>
              <a:t>CVE, Build Fix, Unit Test</a:t>
            </a:r>
          </a:p>
        </p:txBody>
      </p:sp>
      <p:sp>
        <p:nvSpPr>
          <p:cNvPr id="34" name="Rounded Rectangle 6">
            <a:extLst>
              <a:ext uri="{FF2B5EF4-FFF2-40B4-BE49-F238E27FC236}">
                <a16:creationId xmlns:a16="http://schemas.microsoft.com/office/drawing/2014/main" id="{EA16529C-0C01-312D-5032-483BB90AEB60}"/>
              </a:ext>
            </a:extLst>
          </p:cNvPr>
          <p:cNvSpPr/>
          <p:nvPr/>
        </p:nvSpPr>
        <p:spPr bwMode="auto">
          <a:xfrm>
            <a:off x="8106403" y="5110633"/>
            <a:ext cx="1440000" cy="548859"/>
          </a:xfrm>
          <a:prstGeom prst="roundRect">
            <a:avLst/>
          </a:prstGeom>
          <a:solidFill>
            <a:srgbClr val="3C8A94"/>
          </a:solidFill>
        </p:spPr>
        <p:txBody>
          <a:bodyPr vert="horz" wrap="square" lIns="91440" tIns="45720" rIns="91440" bIns="45720" rtlCol="0" anchor="ctr" anchorCtr="0">
            <a:noAutofit/>
          </a:bodyPr>
          <a:lstStyle/>
          <a:p>
            <a:pPr marL="0" marR="0" lvl="0" indent="0" algn="ctr" defTabSz="914400" rtl="0" eaLnBrk="1" fontAlgn="auto" latinLnBrk="0" hangingPunct="1">
              <a:lnSpc>
                <a:spcPct val="100000"/>
              </a:lnSpc>
              <a:spcBef>
                <a:spcPts val="600"/>
              </a:spcBef>
              <a:spcAft>
                <a:spcPts val="300"/>
              </a:spcAft>
              <a:buClrTx/>
              <a:buSzTx/>
              <a:buFontTx/>
              <a:buNone/>
              <a:tabLst/>
              <a:defRPr/>
            </a:pPr>
            <a:r>
              <a:rPr kumimoji="0" lang="en-US" sz="1200" b="0" i="0" u="none" strike="noStrike" kern="1200" cap="none" spc="0" normalizeH="0" baseline="0" noProof="0" dirty="0">
                <a:ln w="3175">
                  <a:noFill/>
                </a:ln>
                <a:solidFill>
                  <a:srgbClr val="FFFFFF"/>
                </a:solidFill>
                <a:effectLst/>
                <a:uLnTx/>
                <a:uFillTx/>
                <a:latin typeface="Segoe Sans Text"/>
                <a:ea typeface="+mn-ea"/>
                <a:cs typeface="+mn-cs"/>
              </a:rPr>
              <a:t>Containerize</a:t>
            </a:r>
          </a:p>
        </p:txBody>
      </p:sp>
      <p:cxnSp>
        <p:nvCxnSpPr>
          <p:cNvPr id="35" name="Straight Arrow Connector 34">
            <a:extLst>
              <a:ext uri="{FF2B5EF4-FFF2-40B4-BE49-F238E27FC236}">
                <a16:creationId xmlns:a16="http://schemas.microsoft.com/office/drawing/2014/main" id="{CA67EF07-A5C5-3262-5B37-0E7C8E6155D9}"/>
              </a:ext>
            </a:extLst>
          </p:cNvPr>
          <p:cNvCxnSpPr>
            <a:cxnSpLocks/>
            <a:stCxn id="34" idx="1"/>
            <a:endCxn id="32" idx="3"/>
          </p:cNvCxnSpPr>
          <p:nvPr/>
        </p:nvCxnSpPr>
        <p:spPr>
          <a:xfrm flipH="1">
            <a:off x="7062128" y="5385063"/>
            <a:ext cx="1044275" cy="6447"/>
          </a:xfrm>
          <a:prstGeom prst="straightConnector1">
            <a:avLst/>
          </a:prstGeom>
          <a:ln w="9525" cap="rnd">
            <a:solidFill>
              <a:srgbClr val="3CB8B7"/>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6408D3DA-EEC9-F878-79FA-DA136FE1CB40}"/>
              </a:ext>
            </a:extLst>
          </p:cNvPr>
          <p:cNvCxnSpPr>
            <a:cxnSpLocks/>
            <a:stCxn id="28" idx="0"/>
            <a:endCxn id="29" idx="1"/>
          </p:cNvCxnSpPr>
          <p:nvPr/>
        </p:nvCxnSpPr>
        <p:spPr>
          <a:xfrm rot="5400000" flipH="1" flipV="1">
            <a:off x="5006028" y="3445109"/>
            <a:ext cx="523406" cy="708794"/>
          </a:xfrm>
          <a:prstGeom prst="bentConnector2">
            <a:avLst/>
          </a:prstGeom>
          <a:ln w="9525" cap="rnd">
            <a:solidFill>
              <a:srgbClr val="3CB8B7"/>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12F22251-3849-01E9-259F-6AFAF73EAA3E}"/>
              </a:ext>
            </a:extLst>
          </p:cNvPr>
          <p:cNvCxnSpPr>
            <a:cxnSpLocks/>
            <a:stCxn id="30" idx="3"/>
            <a:endCxn id="33" idx="0"/>
          </p:cNvCxnSpPr>
          <p:nvPr/>
        </p:nvCxnSpPr>
        <p:spPr>
          <a:xfrm>
            <a:off x="9546403" y="3539776"/>
            <a:ext cx="925127" cy="464873"/>
          </a:xfrm>
          <a:prstGeom prst="bentConnector2">
            <a:avLst/>
          </a:prstGeom>
          <a:ln w="9525" cap="rnd">
            <a:solidFill>
              <a:srgbClr val="3CB8B7"/>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85E9A0F5-5C3A-359C-4767-E02A7A81885B}"/>
              </a:ext>
            </a:extLst>
          </p:cNvPr>
          <p:cNvCxnSpPr>
            <a:cxnSpLocks/>
            <a:stCxn id="32" idx="1"/>
            <a:endCxn id="28" idx="2"/>
          </p:cNvCxnSpPr>
          <p:nvPr/>
        </p:nvCxnSpPr>
        <p:spPr>
          <a:xfrm rot="10800000">
            <a:off x="4913334" y="4610068"/>
            <a:ext cx="708794" cy="781442"/>
          </a:xfrm>
          <a:prstGeom prst="bentConnector2">
            <a:avLst/>
          </a:prstGeom>
          <a:ln w="9525" cap="rnd">
            <a:solidFill>
              <a:srgbClr val="3CB8B7"/>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3893E43-828F-DDB2-F7B8-6911EC311611}"/>
              </a:ext>
            </a:extLst>
          </p:cNvPr>
          <p:cNvSpPr txBox="1"/>
          <p:nvPr/>
        </p:nvSpPr>
        <p:spPr>
          <a:xfrm>
            <a:off x="3691610" y="2273776"/>
            <a:ext cx="7772862" cy="715168"/>
          </a:xfrm>
          <a:prstGeom prst="roundRect">
            <a:avLst>
              <a:gd name="adj" fmla="val 50000"/>
            </a:avLst>
          </a:prstGeom>
          <a:gradFill>
            <a:gsLst>
              <a:gs pos="66000">
                <a:srgbClr val="3C8A94"/>
              </a:gs>
              <a:gs pos="0">
                <a:srgbClr val="0078D4"/>
              </a:gs>
              <a:gs pos="100000">
                <a:srgbClr val="3CB8B7"/>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kern="0">
                <a:solidFill>
                  <a:schemeClr val="bg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Segoe Sans Text Semibold"/>
                <a:ea typeface="+mn-ea"/>
                <a:cs typeface="+mn-cs"/>
              </a:rPr>
              <a:t> GitHub Copilot app modernization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w="3175">
                  <a:noFill/>
                </a:ln>
                <a:solidFill>
                  <a:srgbClr val="FFFFFF"/>
                </a:solidFill>
                <a:effectLst/>
                <a:uLnTx/>
                <a:uFillTx/>
                <a:latin typeface="Segoe Sans Text"/>
                <a:ea typeface="+mn-ea"/>
                <a:cs typeface="+mn-cs"/>
              </a:rPr>
              <a:t>AI-assisted capabilities to accelerate upgrades and modernizations for .NET and Java apps</a:t>
            </a:r>
          </a:p>
        </p:txBody>
      </p:sp>
      <p:pic>
        <p:nvPicPr>
          <p:cNvPr id="43" name="Picture 2">
            <a:extLst>
              <a:ext uri="{FF2B5EF4-FFF2-40B4-BE49-F238E27FC236}">
                <a16:creationId xmlns:a16="http://schemas.microsoft.com/office/drawing/2014/main" id="{847AEFDA-DFA0-472B-F8A9-9DC00E533561}"/>
              </a:ext>
              <a:ext uri="{C183D7F6-B498-43B3-948B-1728B52AA6E4}">
                <adec:decorative xmlns:adec="http://schemas.microsoft.com/office/drawing/2017/decorative" val="1"/>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3893862" y="2441809"/>
            <a:ext cx="432416" cy="379102"/>
          </a:xfrm>
          <a:prstGeom prst="rect">
            <a:avLst/>
          </a:prstGeom>
        </p:spPr>
      </p:pic>
      <p:sp>
        <p:nvSpPr>
          <p:cNvPr id="45" name="Rounded Rectangle 15">
            <a:extLst>
              <a:ext uri="{FF2B5EF4-FFF2-40B4-BE49-F238E27FC236}">
                <a16:creationId xmlns:a16="http://schemas.microsoft.com/office/drawing/2014/main" id="{A33FDB7B-3FB4-0539-429F-A85A343CEA73}"/>
              </a:ext>
            </a:extLst>
          </p:cNvPr>
          <p:cNvSpPr/>
          <p:nvPr/>
        </p:nvSpPr>
        <p:spPr bwMode="auto">
          <a:xfrm>
            <a:off x="622598" y="3869042"/>
            <a:ext cx="1800000" cy="360000"/>
          </a:xfrm>
          <a:prstGeom prst="roundRect">
            <a:avLst>
              <a:gd name="adj" fmla="val 22153"/>
            </a:avLst>
          </a:prstGeom>
          <a:solidFill>
            <a:schemeClr val="tx2"/>
          </a:solidFill>
          <a:ln w="6350">
            <a:no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Segoe Sans Text"/>
                <a:ea typeface="+mn-ea"/>
                <a:cs typeface="+mn-cs"/>
              </a:rPr>
              <a:t>GitHub</a:t>
            </a:r>
          </a:p>
        </p:txBody>
      </p:sp>
      <p:sp>
        <p:nvSpPr>
          <p:cNvPr id="46" name="Rounded Rectangle 15">
            <a:extLst>
              <a:ext uri="{FF2B5EF4-FFF2-40B4-BE49-F238E27FC236}">
                <a16:creationId xmlns:a16="http://schemas.microsoft.com/office/drawing/2014/main" id="{AD7B7B9A-483B-34B0-D980-6BFC6F6CA60D}"/>
              </a:ext>
            </a:extLst>
          </p:cNvPr>
          <p:cNvSpPr/>
          <p:nvPr/>
        </p:nvSpPr>
        <p:spPr bwMode="auto">
          <a:xfrm>
            <a:off x="622598" y="4684570"/>
            <a:ext cx="1800000" cy="630000"/>
          </a:xfrm>
          <a:prstGeom prst="roundRect">
            <a:avLst>
              <a:gd name="adj" fmla="val 12659"/>
            </a:avLst>
          </a:prstGeom>
          <a:solidFill>
            <a:schemeClr val="tx2"/>
          </a:solidFill>
          <a:ln w="6350">
            <a:no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Segoe Sans Text"/>
                <a:ea typeface="+mn-ea"/>
                <a:cs typeface="+mn-cs"/>
              </a:rPr>
              <a:t>Visual Studio </a:t>
            </a:r>
            <a:br>
              <a:rPr kumimoji="0" lang="en-US" sz="1100" b="0" i="0" u="none" strike="noStrike" kern="1200" cap="none" spc="0" normalizeH="0" baseline="0" noProof="0" dirty="0">
                <a:ln>
                  <a:noFill/>
                </a:ln>
                <a:solidFill>
                  <a:srgbClr val="FFFFFF"/>
                </a:solidFill>
                <a:effectLst/>
                <a:uLnTx/>
                <a:uFillTx/>
                <a:latin typeface="Segoe Sans Text"/>
                <a:ea typeface="+mn-ea"/>
                <a:cs typeface="+mn-cs"/>
              </a:rPr>
            </a:br>
            <a:r>
              <a:rPr kumimoji="0" lang="en-US" sz="1100" b="0" i="0" u="none" strike="noStrike" kern="1200" cap="none" spc="0" normalizeH="0" baseline="0" noProof="0" dirty="0">
                <a:ln>
                  <a:noFill/>
                </a:ln>
                <a:solidFill>
                  <a:srgbClr val="FFFFFF"/>
                </a:solidFill>
                <a:effectLst/>
                <a:uLnTx/>
                <a:uFillTx/>
                <a:latin typeface="Segoe Sans Text"/>
                <a:ea typeface="+mn-ea"/>
                <a:cs typeface="+mn-cs"/>
              </a:rPr>
              <a:t>Visual Studio Code</a:t>
            </a:r>
            <a:br>
              <a:rPr kumimoji="0" lang="en-US" sz="1100" b="0" i="0" u="none" strike="noStrike" kern="1200" cap="none" spc="0" normalizeH="0" baseline="0" noProof="0" dirty="0">
                <a:ln>
                  <a:noFill/>
                </a:ln>
                <a:solidFill>
                  <a:srgbClr val="FFFFFF"/>
                </a:solidFill>
                <a:effectLst/>
                <a:uLnTx/>
                <a:uFillTx/>
                <a:latin typeface="Segoe Sans Text"/>
                <a:ea typeface="+mn-ea"/>
                <a:cs typeface="+mn-cs"/>
              </a:rPr>
            </a:br>
            <a:r>
              <a:rPr kumimoji="0" lang="en-US" sz="1100" b="0" i="0" u="none" strike="noStrike" kern="1200" cap="none" spc="0" normalizeH="0" baseline="0" noProof="0" dirty="0">
                <a:ln>
                  <a:noFill/>
                </a:ln>
                <a:solidFill>
                  <a:srgbClr val="FFFFFF"/>
                </a:solidFill>
                <a:effectLst/>
                <a:uLnTx/>
                <a:uFillTx/>
                <a:latin typeface="Segoe Sans Text"/>
                <a:ea typeface="+mn-ea"/>
                <a:cs typeface="+mn-cs"/>
              </a:rPr>
              <a:t>Other IDEs</a:t>
            </a:r>
          </a:p>
        </p:txBody>
      </p:sp>
      <p:cxnSp>
        <p:nvCxnSpPr>
          <p:cNvPr id="49" name="Connector: Elbow 48">
            <a:extLst>
              <a:ext uri="{FF2B5EF4-FFF2-40B4-BE49-F238E27FC236}">
                <a16:creationId xmlns:a16="http://schemas.microsoft.com/office/drawing/2014/main" id="{70467460-BDCD-D805-472F-2ED779149720}"/>
              </a:ext>
            </a:extLst>
          </p:cNvPr>
          <p:cNvCxnSpPr>
            <a:cxnSpLocks/>
            <a:stCxn id="46" idx="2"/>
            <a:endCxn id="28" idx="1"/>
          </p:cNvCxnSpPr>
          <p:nvPr/>
        </p:nvCxnSpPr>
        <p:spPr>
          <a:xfrm rot="5400000" flipH="1" flipV="1">
            <a:off x="2368500" y="3489737"/>
            <a:ext cx="978931" cy="2670736"/>
          </a:xfrm>
          <a:prstGeom prst="bentConnector4">
            <a:avLst>
              <a:gd name="adj1" fmla="val -23352"/>
              <a:gd name="adj2" fmla="val 66849"/>
            </a:avLst>
          </a:prstGeom>
          <a:ln w="9525" cap="rnd">
            <a:solidFill>
              <a:srgbClr val="3CB8B7"/>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pic>
        <p:nvPicPr>
          <p:cNvPr id="54" name="Picture 2" descr="Github Logo - Free social media icons">
            <a:extLst>
              <a:ext uri="{FF2B5EF4-FFF2-40B4-BE49-F238E27FC236}">
                <a16:creationId xmlns:a16="http://schemas.microsoft.com/office/drawing/2014/main" id="{E00AE10A-D050-B446-0497-CCAF12EE432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719383" y="3920957"/>
            <a:ext cx="256170" cy="2561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22EAE7A-CAEA-1841-AED5-6F3CEB0ADDAA}"/>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89304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par>
                                <p:cTn id="8" presetID="42" presetClass="path" presetSubtype="0" decel="100000" fill="hold" nodeType="withEffect">
                                  <p:stCondLst>
                                    <p:cond delay="0"/>
                                  </p:stCondLst>
                                  <p:childTnLst>
                                    <p:animMotion origin="layout" path="M 2.08333E-7 -0.03472 L 2.08333E-7 -2.59259E-6 " pathEditMode="relative" rAng="0" ptsTypes="AA">
                                      <p:cBhvr>
                                        <p:cTn id="9" dur="500" fill="hold"/>
                                        <p:tgtEl>
                                          <p:spTgt spid="17"/>
                                        </p:tgtEl>
                                        <p:attrNameLst>
                                          <p:attrName>ppt_x</p:attrName>
                                          <p:attrName>ppt_y</p:attrName>
                                        </p:attrNameLst>
                                      </p:cBhvr>
                                      <p:rCtr x="0" y="1736"/>
                                    </p:animMotion>
                                  </p:childTnLst>
                                </p:cTn>
                              </p:par>
                              <p:par>
                                <p:cTn id="10" presetID="10"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250"/>
                                        <p:tgtEl>
                                          <p:spTgt spid="18"/>
                                        </p:tgtEl>
                                      </p:cBhvr>
                                    </p:animEffect>
                                  </p:childTnLst>
                                </p:cTn>
                              </p:par>
                              <p:par>
                                <p:cTn id="13" presetID="42" presetClass="path" presetSubtype="0" decel="100000" fill="hold" nodeType="withEffect">
                                  <p:stCondLst>
                                    <p:cond delay="0"/>
                                  </p:stCondLst>
                                  <p:childTnLst>
                                    <p:animMotion origin="layout" path="M 2.08333E-7 -0.03472 L 2.08333E-7 -3.7037E-7 " pathEditMode="relative" rAng="0" ptsTypes="AA">
                                      <p:cBhvr>
                                        <p:cTn id="14" dur="500" fill="hold"/>
                                        <p:tgtEl>
                                          <p:spTgt spid="18"/>
                                        </p:tgtEl>
                                        <p:attrNameLst>
                                          <p:attrName>ppt_x</p:attrName>
                                          <p:attrName>ppt_y</p:attrName>
                                        </p:attrNameLst>
                                      </p:cBhvr>
                                      <p:rCtr x="0" y="1736"/>
                                    </p:animMotion>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250"/>
                                        <p:tgtEl>
                                          <p:spTgt spid="24"/>
                                        </p:tgtEl>
                                      </p:cBhvr>
                                    </p:animEffect>
                                  </p:childTnLst>
                                </p:cTn>
                              </p:par>
                              <p:par>
                                <p:cTn id="18" presetID="42" presetClass="path" presetSubtype="0" decel="100000" fill="hold" grpId="1" nodeType="withEffect">
                                  <p:stCondLst>
                                    <p:cond delay="0"/>
                                  </p:stCondLst>
                                  <p:childTnLst>
                                    <p:animMotion origin="layout" path="M 2.08333E-7 -0.03473 L 2.08333E-7 3.33333E-6 " pathEditMode="relative" rAng="0" ptsTypes="AA">
                                      <p:cBhvr>
                                        <p:cTn id="19" dur="500" fill="hold"/>
                                        <p:tgtEl>
                                          <p:spTgt spid="24"/>
                                        </p:tgtEl>
                                        <p:attrNameLst>
                                          <p:attrName>ppt_x</p:attrName>
                                          <p:attrName>ppt_y</p:attrName>
                                        </p:attrNameLst>
                                      </p:cBhvr>
                                      <p:rCtr x="0" y="1736"/>
                                    </p:animMotion>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250"/>
                                        <p:tgtEl>
                                          <p:spTgt spid="25"/>
                                        </p:tgtEl>
                                      </p:cBhvr>
                                    </p:animEffect>
                                  </p:childTnLst>
                                </p:cTn>
                              </p:par>
                              <p:par>
                                <p:cTn id="23" presetID="42" presetClass="path" presetSubtype="0" decel="100000" fill="hold" grpId="1" nodeType="withEffect">
                                  <p:stCondLst>
                                    <p:cond delay="0"/>
                                  </p:stCondLst>
                                  <p:childTnLst>
                                    <p:animMotion origin="layout" path="M 2.08333E-7 -0.03472 L 2.08333E-7 -1.85185E-6 " pathEditMode="relative" rAng="0" ptsTypes="AA">
                                      <p:cBhvr>
                                        <p:cTn id="24" dur="500" fill="hold"/>
                                        <p:tgtEl>
                                          <p:spTgt spid="25"/>
                                        </p:tgtEl>
                                        <p:attrNameLst>
                                          <p:attrName>ppt_x</p:attrName>
                                          <p:attrName>ppt_y</p:attrName>
                                        </p:attrNameLst>
                                      </p:cBhvr>
                                      <p:rCtr x="0" y="1736"/>
                                    </p:animMotion>
                                  </p:childTnLst>
                                </p:cTn>
                              </p:par>
                              <p:par>
                                <p:cTn id="25" presetID="10"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250"/>
                                        <p:tgtEl>
                                          <p:spTgt spid="45"/>
                                        </p:tgtEl>
                                      </p:cBhvr>
                                    </p:animEffect>
                                  </p:childTnLst>
                                </p:cTn>
                              </p:par>
                              <p:par>
                                <p:cTn id="28" presetID="42" presetClass="path" presetSubtype="0" decel="100000" fill="hold" grpId="1" nodeType="withEffect">
                                  <p:stCondLst>
                                    <p:cond delay="0"/>
                                  </p:stCondLst>
                                  <p:childTnLst>
                                    <p:animMotion origin="layout" path="M 2.08333E-7 -0.03472 L 2.08333E-7 2.22222E-6 " pathEditMode="relative" rAng="0" ptsTypes="AA">
                                      <p:cBhvr>
                                        <p:cTn id="29" dur="500" fill="hold"/>
                                        <p:tgtEl>
                                          <p:spTgt spid="45"/>
                                        </p:tgtEl>
                                        <p:attrNameLst>
                                          <p:attrName>ppt_x</p:attrName>
                                          <p:attrName>ppt_y</p:attrName>
                                        </p:attrNameLst>
                                      </p:cBhvr>
                                      <p:rCtr x="0" y="1736"/>
                                    </p:animMotion>
                                  </p:childTnLst>
                                </p:cTn>
                              </p:par>
                              <p:par>
                                <p:cTn id="30" presetID="10" presetClass="entr" presetSubtype="0"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250"/>
                                        <p:tgtEl>
                                          <p:spTgt spid="46"/>
                                        </p:tgtEl>
                                      </p:cBhvr>
                                    </p:animEffect>
                                  </p:childTnLst>
                                </p:cTn>
                              </p:par>
                              <p:par>
                                <p:cTn id="33" presetID="42" presetClass="path" presetSubtype="0" decel="100000" fill="hold" grpId="1" nodeType="withEffect">
                                  <p:stCondLst>
                                    <p:cond delay="0"/>
                                  </p:stCondLst>
                                  <p:childTnLst>
                                    <p:animMotion origin="layout" path="M 2.08333E-7 -0.03473 L 2.08333E-7 4.81481E-6 " pathEditMode="relative" rAng="0" ptsTypes="AA">
                                      <p:cBhvr>
                                        <p:cTn id="34" dur="500" fill="hold"/>
                                        <p:tgtEl>
                                          <p:spTgt spid="46"/>
                                        </p:tgtEl>
                                        <p:attrNameLst>
                                          <p:attrName>ppt_x</p:attrName>
                                          <p:attrName>ppt_y</p:attrName>
                                        </p:attrNameLst>
                                      </p:cBhvr>
                                      <p:rCtr x="0" y="1736"/>
                                    </p:animMotion>
                                  </p:childTnLst>
                                </p:cTn>
                              </p:par>
                              <p:par>
                                <p:cTn id="35" presetID="10"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250"/>
                                        <p:tgtEl>
                                          <p:spTgt spid="54"/>
                                        </p:tgtEl>
                                      </p:cBhvr>
                                    </p:animEffect>
                                  </p:childTnLst>
                                </p:cTn>
                              </p:par>
                              <p:par>
                                <p:cTn id="38" presetID="42" presetClass="path" presetSubtype="0" decel="100000" fill="hold" nodeType="withEffect">
                                  <p:stCondLst>
                                    <p:cond delay="0"/>
                                  </p:stCondLst>
                                  <p:childTnLst>
                                    <p:animMotion origin="layout" path="M -1.25E-6 -0.03472 L -1.25E-6 2.22222E-6 " pathEditMode="relative" rAng="0" ptsTypes="AA">
                                      <p:cBhvr>
                                        <p:cTn id="39" dur="500" fill="hold"/>
                                        <p:tgtEl>
                                          <p:spTgt spid="54"/>
                                        </p:tgtEl>
                                        <p:attrNameLst>
                                          <p:attrName>ppt_x</p:attrName>
                                          <p:attrName>ppt_y</p:attrName>
                                        </p:attrNameLst>
                                      </p:cBhvr>
                                      <p:rCtr x="0" y="1736"/>
                                    </p:animMotion>
                                  </p:childTnLst>
                                </p:cTn>
                              </p:par>
                              <p:par>
                                <p:cTn id="40" presetID="10" presetClass="entr" presetSubtype="0" fill="hold" nodeType="withEffect">
                                  <p:stCondLst>
                                    <p:cond delay="5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250"/>
                                        <p:tgtEl>
                                          <p:spTgt spid="22"/>
                                        </p:tgtEl>
                                      </p:cBhvr>
                                    </p:animEffect>
                                  </p:childTnLst>
                                </p:cTn>
                              </p:par>
                              <p:par>
                                <p:cTn id="43" presetID="42" presetClass="path" presetSubtype="0" decel="100000" fill="hold" nodeType="withEffect">
                                  <p:stCondLst>
                                    <p:cond delay="500"/>
                                  </p:stCondLst>
                                  <p:childTnLst>
                                    <p:animMotion origin="layout" path="M -0.01718 -0.00023 L -3.54167E-6 2.96296E-6 " pathEditMode="relative" rAng="0" ptsTypes="AA">
                                      <p:cBhvr>
                                        <p:cTn id="44" dur="500" fill="hold"/>
                                        <p:tgtEl>
                                          <p:spTgt spid="22"/>
                                        </p:tgtEl>
                                        <p:attrNameLst>
                                          <p:attrName>ppt_x</p:attrName>
                                          <p:attrName>ppt_y</p:attrName>
                                        </p:attrNameLst>
                                      </p:cBhvr>
                                      <p:rCtr x="859" y="0"/>
                                    </p:animMotion>
                                  </p:childTnLst>
                                </p:cTn>
                              </p:par>
                              <p:par>
                                <p:cTn id="45" presetID="10" presetClass="entr" presetSubtype="0" fill="hold" grpId="0" nodeType="withEffect">
                                  <p:stCondLst>
                                    <p:cond delay="50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250"/>
                                        <p:tgtEl>
                                          <p:spTgt spid="23"/>
                                        </p:tgtEl>
                                      </p:cBhvr>
                                    </p:animEffect>
                                  </p:childTnLst>
                                </p:cTn>
                              </p:par>
                              <p:par>
                                <p:cTn id="48" presetID="42" presetClass="path" presetSubtype="0" decel="100000" fill="hold" grpId="1" nodeType="withEffect">
                                  <p:stCondLst>
                                    <p:cond delay="500"/>
                                  </p:stCondLst>
                                  <p:childTnLst>
                                    <p:animMotion origin="layout" path="M -0.01718 -0.00023 L -4.375E-6 1.11111E-6 " pathEditMode="relative" rAng="0" ptsTypes="AA">
                                      <p:cBhvr>
                                        <p:cTn id="49" dur="500" fill="hold"/>
                                        <p:tgtEl>
                                          <p:spTgt spid="23"/>
                                        </p:tgtEl>
                                        <p:attrNameLst>
                                          <p:attrName>ppt_x</p:attrName>
                                          <p:attrName>ppt_y</p:attrName>
                                        </p:attrNameLst>
                                      </p:cBhvr>
                                      <p:rCtr x="859" y="0"/>
                                    </p:animMotion>
                                  </p:childTnLst>
                                </p:cTn>
                              </p:par>
                              <p:par>
                                <p:cTn id="50" presetID="10" presetClass="entr" presetSubtype="0" fill="hold" nodeType="withEffect">
                                  <p:stCondLst>
                                    <p:cond delay="50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250"/>
                                        <p:tgtEl>
                                          <p:spTgt spid="26"/>
                                        </p:tgtEl>
                                      </p:cBhvr>
                                    </p:animEffect>
                                  </p:childTnLst>
                                </p:cTn>
                              </p:par>
                              <p:par>
                                <p:cTn id="53" presetID="42" presetClass="path" presetSubtype="0" decel="100000" fill="hold" nodeType="withEffect">
                                  <p:stCondLst>
                                    <p:cond delay="500"/>
                                  </p:stCondLst>
                                  <p:childTnLst>
                                    <p:animMotion origin="layout" path="M -0.01719 -0.00023 L 4.79167E-6 -2.22222E-6 " pathEditMode="relative" rAng="0" ptsTypes="AA">
                                      <p:cBhvr>
                                        <p:cTn id="54" dur="500" fill="hold"/>
                                        <p:tgtEl>
                                          <p:spTgt spid="26"/>
                                        </p:tgtEl>
                                        <p:attrNameLst>
                                          <p:attrName>ppt_x</p:attrName>
                                          <p:attrName>ppt_y</p:attrName>
                                        </p:attrNameLst>
                                      </p:cBhvr>
                                      <p:rCtr x="859" y="0"/>
                                    </p:animMotion>
                                  </p:childTnLst>
                                </p:cTn>
                              </p:par>
                              <p:par>
                                <p:cTn id="55" presetID="10" presetClass="entr" presetSubtype="0" fill="hold" grpId="0" nodeType="withEffect">
                                  <p:stCondLst>
                                    <p:cond delay="50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250"/>
                                        <p:tgtEl>
                                          <p:spTgt spid="28"/>
                                        </p:tgtEl>
                                      </p:cBhvr>
                                    </p:animEffect>
                                  </p:childTnLst>
                                </p:cTn>
                              </p:par>
                              <p:par>
                                <p:cTn id="58" presetID="42" presetClass="path" presetSubtype="0" decel="100000" fill="hold" grpId="1" nodeType="withEffect">
                                  <p:stCondLst>
                                    <p:cond delay="500"/>
                                  </p:stCondLst>
                                  <p:childTnLst>
                                    <p:animMotion origin="layout" path="M -0.01718 -0.00024 L -4.79167E-6 4.07407E-6 " pathEditMode="relative" rAng="0" ptsTypes="AA">
                                      <p:cBhvr>
                                        <p:cTn id="59" dur="500" fill="hold"/>
                                        <p:tgtEl>
                                          <p:spTgt spid="28"/>
                                        </p:tgtEl>
                                        <p:attrNameLst>
                                          <p:attrName>ppt_x</p:attrName>
                                          <p:attrName>ppt_y</p:attrName>
                                        </p:attrNameLst>
                                      </p:cBhvr>
                                      <p:rCtr x="859" y="0"/>
                                    </p:animMotion>
                                  </p:childTnLst>
                                </p:cTn>
                              </p:par>
                              <p:par>
                                <p:cTn id="60" presetID="10" presetClass="entr" presetSubtype="0" fill="hold" grpId="0" nodeType="withEffect">
                                  <p:stCondLst>
                                    <p:cond delay="50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250"/>
                                        <p:tgtEl>
                                          <p:spTgt spid="29"/>
                                        </p:tgtEl>
                                      </p:cBhvr>
                                    </p:animEffect>
                                  </p:childTnLst>
                                </p:cTn>
                              </p:par>
                              <p:par>
                                <p:cTn id="63" presetID="42" presetClass="path" presetSubtype="0" decel="100000" fill="hold" grpId="1" nodeType="withEffect">
                                  <p:stCondLst>
                                    <p:cond delay="500"/>
                                  </p:stCondLst>
                                  <p:childTnLst>
                                    <p:animMotion origin="layout" path="M -0.01719 -0.00023 L -2.29167E-6 -7.40741E-7 " pathEditMode="relative" rAng="0" ptsTypes="AA">
                                      <p:cBhvr>
                                        <p:cTn id="64" dur="500" fill="hold"/>
                                        <p:tgtEl>
                                          <p:spTgt spid="29"/>
                                        </p:tgtEl>
                                        <p:attrNameLst>
                                          <p:attrName>ppt_x</p:attrName>
                                          <p:attrName>ppt_y</p:attrName>
                                        </p:attrNameLst>
                                      </p:cBhvr>
                                      <p:rCtr x="859" y="0"/>
                                    </p:animMotion>
                                  </p:childTnLst>
                                </p:cTn>
                              </p:par>
                              <p:par>
                                <p:cTn id="65" presetID="10" presetClass="entr" presetSubtype="0" fill="hold" grpId="0" nodeType="withEffect">
                                  <p:stCondLst>
                                    <p:cond delay="5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250"/>
                                        <p:tgtEl>
                                          <p:spTgt spid="30"/>
                                        </p:tgtEl>
                                      </p:cBhvr>
                                    </p:animEffect>
                                  </p:childTnLst>
                                </p:cTn>
                              </p:par>
                              <p:par>
                                <p:cTn id="68" presetID="42" presetClass="path" presetSubtype="0" decel="100000" fill="hold" grpId="1" nodeType="withEffect">
                                  <p:stCondLst>
                                    <p:cond delay="500"/>
                                  </p:stCondLst>
                                  <p:childTnLst>
                                    <p:animMotion origin="layout" path="M -0.01719 -0.00023 L 1.875E-6 -3.7037E-6 " pathEditMode="relative" rAng="0" ptsTypes="AA">
                                      <p:cBhvr>
                                        <p:cTn id="69" dur="500" fill="hold"/>
                                        <p:tgtEl>
                                          <p:spTgt spid="30"/>
                                        </p:tgtEl>
                                        <p:attrNameLst>
                                          <p:attrName>ppt_x</p:attrName>
                                          <p:attrName>ppt_y</p:attrName>
                                        </p:attrNameLst>
                                      </p:cBhvr>
                                      <p:rCtr x="859" y="0"/>
                                    </p:animMotion>
                                  </p:childTnLst>
                                </p:cTn>
                              </p:par>
                              <p:par>
                                <p:cTn id="70" presetID="10" presetClass="entr" presetSubtype="0" fill="hold" grpId="0" nodeType="withEffect">
                                  <p:stCondLst>
                                    <p:cond delay="50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250"/>
                                        <p:tgtEl>
                                          <p:spTgt spid="32"/>
                                        </p:tgtEl>
                                      </p:cBhvr>
                                    </p:animEffect>
                                  </p:childTnLst>
                                </p:cTn>
                              </p:par>
                              <p:par>
                                <p:cTn id="73" presetID="42" presetClass="path" presetSubtype="0" decel="100000" fill="hold" grpId="1" nodeType="withEffect">
                                  <p:stCondLst>
                                    <p:cond delay="500"/>
                                  </p:stCondLst>
                                  <p:childTnLst>
                                    <p:animMotion origin="layout" path="M -0.01719 -0.00023 L -2.29167E-6 -1.11111E-6 " pathEditMode="relative" rAng="0" ptsTypes="AA">
                                      <p:cBhvr>
                                        <p:cTn id="74" dur="500" fill="hold"/>
                                        <p:tgtEl>
                                          <p:spTgt spid="32"/>
                                        </p:tgtEl>
                                        <p:attrNameLst>
                                          <p:attrName>ppt_x</p:attrName>
                                          <p:attrName>ppt_y</p:attrName>
                                        </p:attrNameLst>
                                      </p:cBhvr>
                                      <p:rCtr x="859" y="0"/>
                                    </p:animMotion>
                                  </p:childTnLst>
                                </p:cTn>
                              </p:par>
                              <p:par>
                                <p:cTn id="75" presetID="10" presetClass="entr" presetSubtype="0" fill="hold" grpId="0" nodeType="withEffect">
                                  <p:stCondLst>
                                    <p:cond delay="50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250"/>
                                        <p:tgtEl>
                                          <p:spTgt spid="33"/>
                                        </p:tgtEl>
                                      </p:cBhvr>
                                    </p:animEffect>
                                  </p:childTnLst>
                                </p:cTn>
                              </p:par>
                              <p:par>
                                <p:cTn id="78" presetID="42" presetClass="path" presetSubtype="0" decel="100000" fill="hold" grpId="1" nodeType="withEffect">
                                  <p:stCondLst>
                                    <p:cond delay="500"/>
                                  </p:stCondLst>
                                  <p:childTnLst>
                                    <p:animMotion origin="layout" path="M -0.01718 -0.00023 L -4.16667E-6 -2.59259E-6 " pathEditMode="relative" rAng="0" ptsTypes="AA">
                                      <p:cBhvr>
                                        <p:cTn id="79" dur="500" fill="hold"/>
                                        <p:tgtEl>
                                          <p:spTgt spid="33"/>
                                        </p:tgtEl>
                                        <p:attrNameLst>
                                          <p:attrName>ppt_x</p:attrName>
                                          <p:attrName>ppt_y</p:attrName>
                                        </p:attrNameLst>
                                      </p:cBhvr>
                                      <p:rCtr x="859" y="0"/>
                                    </p:animMotion>
                                  </p:childTnLst>
                                </p:cTn>
                              </p:par>
                              <p:par>
                                <p:cTn id="80" presetID="10" presetClass="entr" presetSubtype="0" fill="hold" grpId="0" nodeType="withEffect">
                                  <p:stCondLst>
                                    <p:cond delay="50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250"/>
                                        <p:tgtEl>
                                          <p:spTgt spid="34"/>
                                        </p:tgtEl>
                                      </p:cBhvr>
                                    </p:animEffect>
                                  </p:childTnLst>
                                </p:cTn>
                              </p:par>
                              <p:par>
                                <p:cTn id="83" presetID="42" presetClass="path" presetSubtype="0" decel="100000" fill="hold" grpId="1" nodeType="withEffect">
                                  <p:stCondLst>
                                    <p:cond delay="500"/>
                                  </p:stCondLst>
                                  <p:childTnLst>
                                    <p:animMotion origin="layout" path="M -0.01719 -0.00024 L 1.875E-6 4.81481E-6 " pathEditMode="relative" rAng="0" ptsTypes="AA">
                                      <p:cBhvr>
                                        <p:cTn id="84" dur="500" fill="hold"/>
                                        <p:tgtEl>
                                          <p:spTgt spid="34"/>
                                        </p:tgtEl>
                                        <p:attrNameLst>
                                          <p:attrName>ppt_x</p:attrName>
                                          <p:attrName>ppt_y</p:attrName>
                                        </p:attrNameLst>
                                      </p:cBhvr>
                                      <p:rCtr x="859" y="0"/>
                                    </p:animMotion>
                                  </p:childTnLst>
                                </p:cTn>
                              </p:par>
                              <p:par>
                                <p:cTn id="85" presetID="10" presetClass="entr" presetSubtype="0" fill="hold" nodeType="withEffect">
                                  <p:stCondLst>
                                    <p:cond delay="50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250"/>
                                        <p:tgtEl>
                                          <p:spTgt spid="35"/>
                                        </p:tgtEl>
                                      </p:cBhvr>
                                    </p:animEffect>
                                  </p:childTnLst>
                                </p:cTn>
                              </p:par>
                              <p:par>
                                <p:cTn id="88" presetID="42" presetClass="path" presetSubtype="0" decel="100000" fill="hold" nodeType="withEffect">
                                  <p:stCondLst>
                                    <p:cond delay="500"/>
                                  </p:stCondLst>
                                  <p:childTnLst>
                                    <p:animMotion origin="layout" path="M -0.01719 -0.00023 L 4.79167E-6 1.85185E-6 " pathEditMode="relative" rAng="0" ptsTypes="AA">
                                      <p:cBhvr>
                                        <p:cTn id="89" dur="500" fill="hold"/>
                                        <p:tgtEl>
                                          <p:spTgt spid="35"/>
                                        </p:tgtEl>
                                        <p:attrNameLst>
                                          <p:attrName>ppt_x</p:attrName>
                                          <p:attrName>ppt_y</p:attrName>
                                        </p:attrNameLst>
                                      </p:cBhvr>
                                      <p:rCtr x="859" y="0"/>
                                    </p:animMotion>
                                  </p:childTnLst>
                                </p:cTn>
                              </p:par>
                              <p:par>
                                <p:cTn id="90" presetID="10" presetClass="entr" presetSubtype="0" fill="hold" nodeType="withEffect">
                                  <p:stCondLst>
                                    <p:cond delay="50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250"/>
                                        <p:tgtEl>
                                          <p:spTgt spid="37"/>
                                        </p:tgtEl>
                                      </p:cBhvr>
                                    </p:animEffect>
                                  </p:childTnLst>
                                </p:cTn>
                              </p:par>
                              <p:par>
                                <p:cTn id="93" presetID="42" presetClass="path" presetSubtype="0" decel="100000" fill="hold" nodeType="withEffect">
                                  <p:stCondLst>
                                    <p:cond delay="500"/>
                                  </p:stCondLst>
                                  <p:childTnLst>
                                    <p:animMotion origin="layout" path="M -0.01719 -0.00024 L -1.25E-6 4.81481E-6 " pathEditMode="relative" rAng="0" ptsTypes="AA">
                                      <p:cBhvr>
                                        <p:cTn id="94" dur="500" fill="hold"/>
                                        <p:tgtEl>
                                          <p:spTgt spid="37"/>
                                        </p:tgtEl>
                                        <p:attrNameLst>
                                          <p:attrName>ppt_x</p:attrName>
                                          <p:attrName>ppt_y</p:attrName>
                                        </p:attrNameLst>
                                      </p:cBhvr>
                                      <p:rCtr x="859" y="0"/>
                                    </p:animMotion>
                                  </p:childTnLst>
                                </p:cTn>
                              </p:par>
                              <p:par>
                                <p:cTn id="95" presetID="10" presetClass="entr" presetSubtype="0" fill="hold" nodeType="withEffect">
                                  <p:stCondLst>
                                    <p:cond delay="500"/>
                                  </p:stCondLst>
                                  <p:childTnLst>
                                    <p:set>
                                      <p:cBhvr>
                                        <p:cTn id="96" dur="1" fill="hold">
                                          <p:stCondLst>
                                            <p:cond delay="0"/>
                                          </p:stCondLst>
                                        </p:cTn>
                                        <p:tgtEl>
                                          <p:spTgt spid="39"/>
                                        </p:tgtEl>
                                        <p:attrNameLst>
                                          <p:attrName>style.visibility</p:attrName>
                                        </p:attrNameLst>
                                      </p:cBhvr>
                                      <p:to>
                                        <p:strVal val="visible"/>
                                      </p:to>
                                    </p:set>
                                    <p:animEffect transition="in" filter="fade">
                                      <p:cBhvr>
                                        <p:cTn id="97" dur="250"/>
                                        <p:tgtEl>
                                          <p:spTgt spid="39"/>
                                        </p:tgtEl>
                                      </p:cBhvr>
                                    </p:animEffect>
                                  </p:childTnLst>
                                </p:cTn>
                              </p:par>
                              <p:par>
                                <p:cTn id="98" presetID="42" presetClass="path" presetSubtype="0" decel="100000" fill="hold" nodeType="withEffect">
                                  <p:stCondLst>
                                    <p:cond delay="500"/>
                                  </p:stCondLst>
                                  <p:childTnLst>
                                    <p:animMotion origin="layout" path="M -0.01718 -0.00023 L -3.33333E-6 0 " pathEditMode="relative" rAng="0" ptsTypes="AA">
                                      <p:cBhvr>
                                        <p:cTn id="99" dur="500" fill="hold"/>
                                        <p:tgtEl>
                                          <p:spTgt spid="39"/>
                                        </p:tgtEl>
                                        <p:attrNameLst>
                                          <p:attrName>ppt_x</p:attrName>
                                          <p:attrName>ppt_y</p:attrName>
                                        </p:attrNameLst>
                                      </p:cBhvr>
                                      <p:rCtr x="859" y="0"/>
                                    </p:animMotion>
                                  </p:childTnLst>
                                </p:cTn>
                              </p:par>
                              <p:par>
                                <p:cTn id="100" presetID="10" presetClass="entr" presetSubtype="0" fill="hold" nodeType="withEffect">
                                  <p:stCondLst>
                                    <p:cond delay="50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250"/>
                                        <p:tgtEl>
                                          <p:spTgt spid="40"/>
                                        </p:tgtEl>
                                      </p:cBhvr>
                                    </p:animEffect>
                                  </p:childTnLst>
                                </p:cTn>
                              </p:par>
                              <p:par>
                                <p:cTn id="103" presetID="42" presetClass="path" presetSubtype="0" decel="100000" fill="hold" nodeType="withEffect">
                                  <p:stCondLst>
                                    <p:cond delay="500"/>
                                  </p:stCondLst>
                                  <p:childTnLst>
                                    <p:animMotion origin="layout" path="M -0.01719 -0.00023 L -1.25E-6 3.33333E-6 " pathEditMode="relative" rAng="0" ptsTypes="AA">
                                      <p:cBhvr>
                                        <p:cTn id="104" dur="500" fill="hold"/>
                                        <p:tgtEl>
                                          <p:spTgt spid="40"/>
                                        </p:tgtEl>
                                        <p:attrNameLst>
                                          <p:attrName>ppt_x</p:attrName>
                                          <p:attrName>ppt_y</p:attrName>
                                        </p:attrNameLst>
                                      </p:cBhvr>
                                      <p:rCtr x="859" y="0"/>
                                    </p:animMotion>
                                  </p:childTnLst>
                                </p:cTn>
                              </p:par>
                              <p:par>
                                <p:cTn id="105" presetID="10" presetClass="entr" presetSubtype="0" fill="hold" grpId="0" nodeType="withEffect">
                                  <p:stCondLst>
                                    <p:cond delay="50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7" dur="250"/>
                                        <p:tgtEl>
                                          <p:spTgt spid="42"/>
                                        </p:tgtEl>
                                      </p:cBhvr>
                                    </p:animEffect>
                                  </p:childTnLst>
                                </p:cTn>
                              </p:par>
                              <p:par>
                                <p:cTn id="108" presetID="42" presetClass="path" presetSubtype="0" decel="100000" fill="hold" grpId="1" nodeType="withEffect">
                                  <p:stCondLst>
                                    <p:cond delay="500"/>
                                  </p:stCondLst>
                                  <p:childTnLst>
                                    <p:animMotion origin="layout" path="M -0.01718 -0.00023 L -4.375E-6 -4.81481E-6 " pathEditMode="relative" rAng="0" ptsTypes="AA">
                                      <p:cBhvr>
                                        <p:cTn id="109" dur="500" fill="hold"/>
                                        <p:tgtEl>
                                          <p:spTgt spid="42"/>
                                        </p:tgtEl>
                                        <p:attrNameLst>
                                          <p:attrName>ppt_x</p:attrName>
                                          <p:attrName>ppt_y</p:attrName>
                                        </p:attrNameLst>
                                      </p:cBhvr>
                                      <p:rCtr x="859" y="0"/>
                                    </p:animMotion>
                                  </p:childTnLst>
                                </p:cTn>
                              </p:par>
                              <p:par>
                                <p:cTn id="110" presetID="10" presetClass="entr" presetSubtype="0" fill="hold" nodeType="withEffect">
                                  <p:stCondLst>
                                    <p:cond delay="50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250"/>
                                        <p:tgtEl>
                                          <p:spTgt spid="43"/>
                                        </p:tgtEl>
                                      </p:cBhvr>
                                    </p:animEffect>
                                  </p:childTnLst>
                                </p:cTn>
                              </p:par>
                              <p:par>
                                <p:cTn id="113" presetID="42" presetClass="path" presetSubtype="0" decel="100000" fill="hold" nodeType="withEffect">
                                  <p:stCondLst>
                                    <p:cond delay="500"/>
                                  </p:stCondLst>
                                  <p:childTnLst>
                                    <p:animMotion origin="layout" path="M -0.01719 -0.00023 L 6.25E-7 -4.81481E-6 " pathEditMode="relative" rAng="0" ptsTypes="AA">
                                      <p:cBhvr>
                                        <p:cTn id="114" dur="500" fill="hold"/>
                                        <p:tgtEl>
                                          <p:spTgt spid="43"/>
                                        </p:tgtEl>
                                        <p:attrNameLst>
                                          <p:attrName>ppt_x</p:attrName>
                                          <p:attrName>ppt_y</p:attrName>
                                        </p:attrNameLst>
                                      </p:cBhvr>
                                      <p:rCtr x="859" y="0"/>
                                    </p:animMotion>
                                  </p:childTnLst>
                                </p:cTn>
                              </p:par>
                              <p:par>
                                <p:cTn id="115" presetID="10" presetClass="entr" presetSubtype="0" fill="hold" nodeType="withEffect">
                                  <p:stCondLst>
                                    <p:cond delay="50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250"/>
                                        <p:tgtEl>
                                          <p:spTgt spid="49"/>
                                        </p:tgtEl>
                                      </p:cBhvr>
                                    </p:animEffect>
                                  </p:childTnLst>
                                </p:cTn>
                              </p:par>
                              <p:par>
                                <p:cTn id="118" presetID="42" presetClass="path" presetSubtype="0" decel="100000" fill="hold" nodeType="withEffect">
                                  <p:stCondLst>
                                    <p:cond delay="500"/>
                                  </p:stCondLst>
                                  <p:childTnLst>
                                    <p:animMotion origin="layout" path="M -0.01719 -0.00023 L 5E-6 -2.22222E-6 " pathEditMode="relative" rAng="0" ptsTypes="AA">
                                      <p:cBhvr>
                                        <p:cTn id="119" dur="500" fill="hold"/>
                                        <p:tgtEl>
                                          <p:spTgt spid="49"/>
                                        </p:tgtEl>
                                        <p:attrNameLst>
                                          <p:attrName>ppt_x</p:attrName>
                                          <p:attrName>ppt_y</p:attrName>
                                        </p:attrNameLst>
                                      </p:cBhvr>
                                      <p:rCtr x="859" y="0"/>
                                    </p:animMotion>
                                  </p:childTnLst>
                                </p:cTn>
                              </p:par>
                              <p:par>
                                <p:cTn id="120" presetID="10" presetClass="entr" presetSubtype="0" fill="hold" grpId="0" nodeType="withEffect">
                                  <p:stCondLst>
                                    <p:cond delay="200"/>
                                  </p:stCondLst>
                                  <p:childTnLst>
                                    <p:set>
                                      <p:cBhvr>
                                        <p:cTn id="121" dur="1" fill="hold">
                                          <p:stCondLst>
                                            <p:cond delay="0"/>
                                          </p:stCondLst>
                                        </p:cTn>
                                        <p:tgtEl>
                                          <p:spTgt spid="2"/>
                                        </p:tgtEl>
                                        <p:attrNameLst>
                                          <p:attrName>style.visibility</p:attrName>
                                        </p:attrNameLst>
                                      </p:cBhvr>
                                      <p:to>
                                        <p:strVal val="visible"/>
                                      </p:to>
                                    </p:set>
                                    <p:animEffect transition="in" filter="fade">
                                      <p:cBhvr>
                                        <p:cTn id="122" dur="500"/>
                                        <p:tgtEl>
                                          <p:spTgt spid="2"/>
                                        </p:tgtEl>
                                      </p:cBhvr>
                                    </p:animEffect>
                                  </p:childTnLst>
                                </p:cTn>
                              </p:par>
                              <p:par>
                                <p:cTn id="123" presetID="6" presetClass="emph" presetSubtype="0" fill="hold" grpId="1" nodeType="withEffect">
                                  <p:stCondLst>
                                    <p:cond delay="0"/>
                                  </p:stCondLst>
                                  <p:childTnLst>
                                    <p:animScale>
                                      <p:cBhvr>
                                        <p:cTn id="124" dur="100" fill="hold"/>
                                        <p:tgtEl>
                                          <p:spTgt spid="2"/>
                                        </p:tgtEl>
                                      </p:cBhvr>
                                      <p:by x="25000" y="25000"/>
                                    </p:animScale>
                                  </p:childTnLst>
                                </p:cTn>
                              </p:par>
                              <p:par>
                                <p:cTn id="125" presetID="6" presetClass="emph" presetSubtype="0" decel="100000" fill="hold" grpId="2" nodeType="withEffect">
                                  <p:stCondLst>
                                    <p:cond delay="200"/>
                                  </p:stCondLst>
                                  <p:childTnLst>
                                    <p:animScale>
                                      <p:cBhvr>
                                        <p:cTn id="126"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animBg="1"/>
      <p:bldP spid="24" grpId="1" animBg="1"/>
      <p:bldP spid="25" grpId="0" animBg="1"/>
      <p:bldP spid="25" grpId="1" animBg="1"/>
      <p:bldP spid="28" grpId="0" animBg="1"/>
      <p:bldP spid="28" grpId="1" animBg="1"/>
      <p:bldP spid="29" grpId="0" animBg="1"/>
      <p:bldP spid="29" grpId="1" animBg="1"/>
      <p:bldP spid="30" grpId="0" animBg="1"/>
      <p:bldP spid="30" grpId="1" animBg="1"/>
      <p:bldP spid="32" grpId="0" animBg="1"/>
      <p:bldP spid="32" grpId="1" animBg="1"/>
      <p:bldP spid="33" grpId="0" animBg="1"/>
      <p:bldP spid="33" grpId="1" animBg="1"/>
      <p:bldP spid="34" grpId="0" animBg="1"/>
      <p:bldP spid="34" grpId="1" animBg="1"/>
      <p:bldP spid="42" grpId="0" animBg="1"/>
      <p:bldP spid="42" grpId="1" animBg="1"/>
      <p:bldP spid="45" grpId="0" animBg="1"/>
      <p:bldP spid="45" grpId="1" animBg="1"/>
      <p:bldP spid="46" grpId="0" animBg="1"/>
      <p:bldP spid="46" grpId="1" animBg="1"/>
      <p:bldP spid="2" grpId="0" animBg="1"/>
      <p:bldP spid="2" grpId="1" animBg="1"/>
      <p:bldP spid="2" grpId="2"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E31A9-A04C-82E8-1E52-658A940935A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335D3AE-2B4D-1CB5-B97B-02AD7A56DA47}"/>
              </a:ext>
            </a:extLst>
          </p:cNvPr>
          <p:cNvPicPr>
            <a:picLocks noChangeAspect="1"/>
          </p:cNvPicPr>
          <p:nvPr/>
        </p:nvPicPr>
        <p:blipFill>
          <a:blip r:embed="rId3"/>
          <a:stretch>
            <a:fillRect/>
          </a:stretch>
        </p:blipFill>
        <p:spPr>
          <a:xfrm>
            <a:off x="253501" y="927371"/>
            <a:ext cx="8216048" cy="5727430"/>
          </a:xfrm>
          <a:prstGeom prst="rect">
            <a:avLst/>
          </a:prstGeom>
        </p:spPr>
      </p:pic>
      <p:pic>
        <p:nvPicPr>
          <p:cNvPr id="18" name="Picture 17">
            <a:extLst>
              <a:ext uri="{FF2B5EF4-FFF2-40B4-BE49-F238E27FC236}">
                <a16:creationId xmlns:a16="http://schemas.microsoft.com/office/drawing/2014/main" id="{B59FCE72-0337-9D65-0C20-0A75E72509A1}"/>
              </a:ext>
            </a:extLst>
          </p:cNvPr>
          <p:cNvPicPr>
            <a:picLocks noChangeAspect="1"/>
          </p:cNvPicPr>
          <p:nvPr/>
        </p:nvPicPr>
        <p:blipFill>
          <a:blip r:embed="rId3"/>
          <a:stretch>
            <a:fillRect/>
          </a:stretch>
        </p:blipFill>
        <p:spPr>
          <a:xfrm>
            <a:off x="8735437" y="927370"/>
            <a:ext cx="3249039" cy="5727430"/>
          </a:xfrm>
          <a:prstGeom prst="rect">
            <a:avLst/>
          </a:prstGeom>
        </p:spPr>
      </p:pic>
      <p:sp>
        <p:nvSpPr>
          <p:cNvPr id="2" name="Title 1">
            <a:extLst>
              <a:ext uri="{FF2B5EF4-FFF2-40B4-BE49-F238E27FC236}">
                <a16:creationId xmlns:a16="http://schemas.microsoft.com/office/drawing/2014/main" id="{5C60FE82-C43D-E47D-B43A-69535247527A}"/>
              </a:ext>
            </a:extLst>
          </p:cNvPr>
          <p:cNvSpPr>
            <a:spLocks noGrp="1"/>
          </p:cNvSpPr>
          <p:nvPr>
            <p:ph type="title" idx="4294967295"/>
          </p:nvPr>
        </p:nvSpPr>
        <p:spPr>
          <a:xfrm>
            <a:off x="309838" y="216079"/>
            <a:ext cx="11017250" cy="1723549"/>
          </a:xfrm>
        </p:spPr>
        <p:txBody>
          <a:bodyPr/>
          <a:lstStyle/>
          <a:p>
            <a:r>
              <a:rPr lang="en-US" sz="2400" noProof="0" dirty="0"/>
              <a:t>App Modernization</a:t>
            </a:r>
            <a:br>
              <a:rPr lang="en-US" sz="2400" noProof="0" dirty="0"/>
            </a:br>
            <a:r>
              <a:rPr lang="en-US" sz="2000" b="1" noProof="0" dirty="0">
                <a:solidFill>
                  <a:schemeClr val="tx1"/>
                </a:solidFill>
              </a:rPr>
              <a:t>Scale App Modernization with AI Agents</a:t>
            </a:r>
            <a:br>
              <a:rPr lang="en-US" sz="2000" b="1" noProof="0" dirty="0"/>
            </a:br>
            <a:br>
              <a:rPr lang="en-US" sz="2000" b="1" kern="0" spc="0" noProof="0" dirty="0">
                <a:ln>
                  <a:noFill/>
                </a:ln>
                <a:solidFill>
                  <a:srgbClr val="000000"/>
                </a:solidFill>
                <a:latin typeface="Segoe UI" panose="020B0502040204020203" pitchFamily="34" charset="0"/>
                <a:cs typeface="Segoe UI" panose="020B0502040204020203" pitchFamily="34" charset="0"/>
              </a:rPr>
            </a:br>
            <a:br>
              <a:rPr lang="en-US" sz="2400" noProof="0" dirty="0">
                <a:solidFill>
                  <a:schemeClr val="tx1"/>
                </a:solidFill>
              </a:rPr>
            </a:br>
            <a:endParaRPr lang="en-US" sz="2400" noProof="0" dirty="0">
              <a:solidFill>
                <a:schemeClr val="tx1"/>
              </a:solidFill>
            </a:endParaRPr>
          </a:p>
        </p:txBody>
      </p:sp>
      <p:sp>
        <p:nvSpPr>
          <p:cNvPr id="5" name="Content Placeholder 4">
            <a:extLst>
              <a:ext uri="{FF2B5EF4-FFF2-40B4-BE49-F238E27FC236}">
                <a16:creationId xmlns:a16="http://schemas.microsoft.com/office/drawing/2014/main" id="{0D9226E6-43F6-F760-1846-CEC4579C4605}"/>
              </a:ext>
            </a:extLst>
          </p:cNvPr>
          <p:cNvSpPr>
            <a:spLocks noGrp="1"/>
          </p:cNvSpPr>
          <p:nvPr>
            <p:ph sz="quarter" idx="4294967295"/>
          </p:nvPr>
        </p:nvSpPr>
        <p:spPr>
          <a:xfrm>
            <a:off x="8879274" y="1403350"/>
            <a:ext cx="2860675" cy="4568825"/>
          </a:xfrm>
        </p:spPr>
        <p:txBody>
          <a:bodyPr vert="horz" wrap="square" lIns="91440" tIns="0" rIns="91440" bIns="0" rtlCol="0" anchor="t">
            <a:noAutofit/>
          </a:bodyPr>
          <a:lstStyle/>
          <a:p>
            <a:pPr marL="0" lvl="3" indent="0">
              <a:spcBef>
                <a:spcPts val="600"/>
              </a:spcBef>
              <a:spcAft>
                <a:spcPts val="600"/>
              </a:spcAft>
              <a:buNone/>
              <a:defRPr/>
            </a:pPr>
            <a:r>
              <a:rPr lang="en-US" b="1" noProof="0" dirty="0">
                <a:solidFill>
                  <a:schemeClr val="dk1"/>
                </a:solidFill>
              </a:rPr>
              <a:t>Requirements to leveraging </a:t>
            </a:r>
            <a:br>
              <a:rPr lang="en-US" b="1" noProof="0" dirty="0"/>
            </a:br>
            <a:r>
              <a:rPr lang="en-US" b="1" noProof="0" dirty="0">
                <a:solidFill>
                  <a:schemeClr val="dk1"/>
                </a:solidFill>
              </a:rPr>
              <a:t>this service:</a:t>
            </a:r>
          </a:p>
          <a:p>
            <a:pPr marL="171450" indent="-171450">
              <a:spcBef>
                <a:spcPts val="600"/>
              </a:spcBef>
              <a:spcAft>
                <a:spcPts val="600"/>
              </a:spcAft>
              <a:buFont typeface="Arial" panose="020B0604020202020204" pitchFamily="34" charset="0"/>
              <a:buChar char="•"/>
              <a:defRPr/>
            </a:pPr>
            <a:r>
              <a:rPr lang="en-US" sz="900" noProof="0" dirty="0">
                <a:ln w="3175">
                  <a:noFill/>
                </a:ln>
                <a:solidFill>
                  <a:prstClr val="black"/>
                </a:solidFill>
                <a:ea typeface="+mn-lt"/>
                <a:cs typeface="+mn-lt"/>
              </a:rPr>
              <a:t>To participate in this engagement the </a:t>
            </a:r>
            <a:br>
              <a:rPr lang="en-US" sz="900" noProof="0" dirty="0">
                <a:ln w="3175">
                  <a:noFill/>
                </a:ln>
                <a:ea typeface="+mn-lt"/>
                <a:cs typeface="+mn-lt"/>
              </a:rPr>
            </a:br>
            <a:r>
              <a:rPr lang="en-US" sz="900" noProof="0" dirty="0">
                <a:ln w="3175">
                  <a:noFill/>
                </a:ln>
                <a:solidFill>
                  <a:prstClr val="black"/>
                </a:solidFill>
                <a:ea typeface="+mn-lt"/>
                <a:cs typeface="+mn-lt"/>
              </a:rPr>
              <a:t>customer must have an enterprise grade Azure Landing Zone. If not, the Cloud Factory team will first need to establish one in the customer’s environment</a:t>
            </a:r>
          </a:p>
          <a:p>
            <a:pPr marL="171450" indent="-171450">
              <a:spcBef>
                <a:spcPts val="600"/>
              </a:spcBef>
              <a:spcAft>
                <a:spcPts val="600"/>
              </a:spcAft>
              <a:buFont typeface="Arial" panose="020B0604020202020204" pitchFamily="34" charset="0"/>
              <a:buChar char="•"/>
              <a:defRPr/>
            </a:pPr>
            <a:r>
              <a:rPr lang="en-US" sz="900" noProof="0" dirty="0">
                <a:ln w="3175">
                  <a:noFill/>
                </a:ln>
                <a:solidFill>
                  <a:prstClr val="black"/>
                </a:solidFill>
                <a:ea typeface="+mn-lt"/>
                <a:cs typeface="+mn-lt"/>
              </a:rPr>
              <a:t>Customer to provide a list of their app-portfolio flagging the applications in scope to be migrated</a:t>
            </a:r>
          </a:p>
          <a:p>
            <a:pPr marL="171450" indent="-171450">
              <a:spcBef>
                <a:spcPts val="600"/>
              </a:spcBef>
              <a:spcAft>
                <a:spcPts val="600"/>
              </a:spcAft>
              <a:buFont typeface="Arial" panose="020B0604020202020204" pitchFamily="34" charset="0"/>
              <a:buChar char="•"/>
              <a:defRPr/>
            </a:pPr>
            <a:r>
              <a:rPr lang="en-US" sz="900" noProof="0" dirty="0">
                <a:ln w="3175">
                  <a:noFill/>
                </a:ln>
                <a:solidFill>
                  <a:prstClr val="black"/>
                </a:solidFill>
                <a:ea typeface="+mn-lt"/>
                <a:cs typeface="+mn-lt"/>
              </a:rPr>
              <a:t>Customer is required to acquire necessary GHCP licenses, as needed.</a:t>
            </a:r>
          </a:p>
          <a:p>
            <a:pPr marL="171450" indent="-171450">
              <a:spcBef>
                <a:spcPts val="600"/>
              </a:spcBef>
              <a:spcAft>
                <a:spcPts val="600"/>
              </a:spcAft>
              <a:buFont typeface="Arial" panose="020B0604020202020204" pitchFamily="34" charset="0"/>
              <a:buChar char="•"/>
              <a:defRPr/>
            </a:pPr>
            <a:r>
              <a:rPr lang="en-US" sz="900" noProof="0" dirty="0">
                <a:ln w="3175">
                  <a:noFill/>
                </a:ln>
                <a:solidFill>
                  <a:prstClr val="black"/>
                </a:solidFill>
                <a:ea typeface="+mn-lt"/>
                <a:cs typeface="+mn-lt"/>
              </a:rPr>
              <a:t>For DevOps, Customer must provide the Cloud Factory  team access to their AzDO/GitHub/Gitlab tenants for configuration</a:t>
            </a:r>
          </a:p>
          <a:p>
            <a:pPr marL="171450" indent="-171450">
              <a:spcBef>
                <a:spcPts val="600"/>
              </a:spcBef>
              <a:spcAft>
                <a:spcPts val="600"/>
              </a:spcAft>
              <a:buFont typeface="Arial" panose="020B0604020202020204" pitchFamily="34" charset="0"/>
              <a:buChar char="•"/>
              <a:defRPr/>
            </a:pPr>
            <a:r>
              <a:rPr lang="en-US" sz="900" noProof="0" dirty="0">
                <a:ln w="3175">
                  <a:noFill/>
                </a:ln>
                <a:solidFill>
                  <a:prstClr val="black"/>
                </a:solidFill>
                <a:ea typeface="+mn-lt"/>
                <a:cs typeface="+mn-lt"/>
              </a:rPr>
              <a:t>Customer/partner must have source code access and permission for modification</a:t>
            </a:r>
          </a:p>
          <a:p>
            <a:pPr marL="171450" indent="-171450">
              <a:spcBef>
                <a:spcPts val="600"/>
              </a:spcBef>
              <a:spcAft>
                <a:spcPts val="600"/>
              </a:spcAft>
              <a:buFont typeface="Arial" panose="020B0604020202020204" pitchFamily="34" charset="0"/>
              <a:buChar char="•"/>
              <a:defRPr/>
            </a:pPr>
            <a:r>
              <a:rPr lang="en-US" sz="900" noProof="0" dirty="0"/>
              <a:t>Customer/partner owns code validation and testing</a:t>
            </a:r>
            <a:endParaRPr lang="en-US" sz="900" noProof="0" dirty="0">
              <a:ln w="3175">
                <a:noFill/>
              </a:ln>
              <a:solidFill>
                <a:prstClr val="black"/>
              </a:solidFill>
              <a:ea typeface="+mn-lt"/>
              <a:cs typeface="+mn-lt"/>
            </a:endParaRPr>
          </a:p>
          <a:p>
            <a:pPr marL="171450" indent="-171450">
              <a:spcBef>
                <a:spcPts val="600"/>
              </a:spcBef>
              <a:spcAft>
                <a:spcPts val="600"/>
              </a:spcAft>
              <a:buFont typeface="Arial" panose="020B0604020202020204" pitchFamily="34" charset="0"/>
              <a:buChar char="•"/>
              <a:defRPr/>
            </a:pPr>
            <a:r>
              <a:rPr lang="en-US" sz="900" noProof="0" dirty="0">
                <a:ln w="3175">
                  <a:noFill/>
                </a:ln>
                <a:solidFill>
                  <a:prstClr val="black"/>
                </a:solidFill>
                <a:ea typeface="+mn-lt"/>
                <a:cs typeface="+mn-lt"/>
              </a:rPr>
              <a:t>Internet bandwidth availability must meet minimum Factory requirements</a:t>
            </a:r>
          </a:p>
        </p:txBody>
      </p:sp>
      <p:sp>
        <p:nvSpPr>
          <p:cNvPr id="8" name="TextBox 7">
            <a:extLst>
              <a:ext uri="{FF2B5EF4-FFF2-40B4-BE49-F238E27FC236}">
                <a16:creationId xmlns:a16="http://schemas.microsoft.com/office/drawing/2014/main" id="{7599E6E8-4FFE-E8D2-7D61-F2A1FB2E01D2}"/>
              </a:ext>
            </a:extLst>
          </p:cNvPr>
          <p:cNvSpPr txBox="1"/>
          <p:nvPr/>
        </p:nvSpPr>
        <p:spPr>
          <a:xfrm>
            <a:off x="306156" y="993229"/>
            <a:ext cx="8113944"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12" name="TextBox 11">
            <a:extLst>
              <a:ext uri="{FF2B5EF4-FFF2-40B4-BE49-F238E27FC236}">
                <a16:creationId xmlns:a16="http://schemas.microsoft.com/office/drawing/2014/main" id="{CD016587-0F76-0154-2BA9-8865D30788B4}"/>
              </a:ext>
            </a:extLst>
          </p:cNvPr>
          <p:cNvSpPr txBox="1"/>
          <p:nvPr/>
        </p:nvSpPr>
        <p:spPr>
          <a:xfrm>
            <a:off x="8786042" y="980529"/>
            <a:ext cx="3152458"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pic>
        <p:nvPicPr>
          <p:cNvPr id="13" name="Picture 12">
            <a:extLst>
              <a:ext uri="{FF2B5EF4-FFF2-40B4-BE49-F238E27FC236}">
                <a16:creationId xmlns:a16="http://schemas.microsoft.com/office/drawing/2014/main" id="{A4AEF9B2-83F7-19FD-772C-967003A3EE61}"/>
              </a:ext>
            </a:extLst>
          </p:cNvPr>
          <p:cNvPicPr>
            <a:picLocks noChangeAspect="1"/>
          </p:cNvPicPr>
          <p:nvPr/>
        </p:nvPicPr>
        <p:blipFill>
          <a:blip r:embed="rId4"/>
          <a:stretch>
            <a:fillRect/>
          </a:stretch>
        </p:blipFill>
        <p:spPr>
          <a:xfrm>
            <a:off x="306156" y="1387282"/>
            <a:ext cx="7896225" cy="5219700"/>
          </a:xfrm>
          <a:prstGeom prst="rect">
            <a:avLst/>
          </a:prstGeom>
        </p:spPr>
      </p:pic>
      <p:sp>
        <p:nvSpPr>
          <p:cNvPr id="7" name="Graphic 22">
            <a:extLst>
              <a:ext uri="{FF2B5EF4-FFF2-40B4-BE49-F238E27FC236}">
                <a16:creationId xmlns:a16="http://schemas.microsoft.com/office/drawing/2014/main" id="{A15A8994-C563-D7C3-B911-27D739413A9B}"/>
              </a:ext>
            </a:extLst>
          </p:cNvPr>
          <p:cNvSpPr/>
          <p:nvPr/>
        </p:nvSpPr>
        <p:spPr>
          <a:xfrm>
            <a:off x="3463272" y="1051569"/>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15" name="Graphic 25">
            <a:extLst>
              <a:ext uri="{FF2B5EF4-FFF2-40B4-BE49-F238E27FC236}">
                <a16:creationId xmlns:a16="http://schemas.microsoft.com/office/drawing/2014/main" id="{93F596D4-93F5-F2ED-79F6-72B3AC40E989}"/>
              </a:ext>
            </a:extLst>
          </p:cNvPr>
          <p:cNvSpPr/>
          <p:nvPr/>
        </p:nvSpPr>
        <p:spPr>
          <a:xfrm>
            <a:off x="9884451" y="106522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4" name="TextBox 3">
            <a:extLst>
              <a:ext uri="{FF2B5EF4-FFF2-40B4-BE49-F238E27FC236}">
                <a16:creationId xmlns:a16="http://schemas.microsoft.com/office/drawing/2014/main" id="{A9DDD7F9-23AF-7B08-7177-6DE9CD67DE78}"/>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896052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ADA2-D086-44EE-D09E-4E3E1704D3BB}"/>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7F695C0D-61F0-C8CB-979A-DC581D4AC6F6}"/>
              </a:ext>
            </a:extLst>
          </p:cNvPr>
          <p:cNvSpPr>
            <a:spLocks noGrp="1"/>
          </p:cNvSpPr>
          <p:nvPr>
            <p:ph type="title" idx="4294967295"/>
          </p:nvPr>
        </p:nvSpPr>
        <p:spPr>
          <a:xfrm>
            <a:off x="539750" y="104412"/>
            <a:ext cx="8083550" cy="787774"/>
          </a:xfrm>
        </p:spPr>
        <p:txBody>
          <a:bodyPr>
            <a:noAutofit/>
          </a:bodyPr>
          <a:lstStyle/>
          <a:p>
            <a:r>
              <a:rPr lang="en-US" sz="2400" noProof="0" dirty="0"/>
              <a:t>App Modernization</a:t>
            </a:r>
            <a:br>
              <a:rPr lang="en-US" sz="2400" noProof="0" dirty="0"/>
            </a:br>
            <a:r>
              <a:rPr lang="en-US" sz="2400" noProof="0" dirty="0">
                <a:solidFill>
                  <a:schemeClr val="tx1"/>
                </a:solidFill>
              </a:rPr>
              <a:t>App Modernization </a:t>
            </a:r>
            <a:r>
              <a:rPr lang="en-US" sz="2400" noProof="0" dirty="0">
                <a:solidFill>
                  <a:srgbClr val="000000"/>
                </a:solidFill>
              </a:rPr>
              <a:t>– Scope &amp; Responsibilities</a:t>
            </a:r>
            <a:endParaRPr lang="en-US" sz="2400" noProof="0" dirty="0">
              <a:solidFill>
                <a:schemeClr val="tx1"/>
              </a:solidFill>
            </a:endParaRPr>
          </a:p>
        </p:txBody>
      </p:sp>
      <p:sp>
        <p:nvSpPr>
          <p:cNvPr id="25" name="TextBox 24">
            <a:extLst>
              <a:ext uri="{FF2B5EF4-FFF2-40B4-BE49-F238E27FC236}">
                <a16:creationId xmlns:a16="http://schemas.microsoft.com/office/drawing/2014/main" id="{0FEC403B-176A-D2EF-7576-F06499528020}"/>
              </a:ext>
            </a:extLst>
          </p:cNvPr>
          <p:cNvSpPr txBox="1">
            <a:spLocks/>
          </p:cNvSpPr>
          <p:nvPr/>
        </p:nvSpPr>
        <p:spPr>
          <a:xfrm>
            <a:off x="522287" y="1083265"/>
            <a:ext cx="5489483"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6" name="TextBox 25">
            <a:extLst>
              <a:ext uri="{FF2B5EF4-FFF2-40B4-BE49-F238E27FC236}">
                <a16:creationId xmlns:a16="http://schemas.microsoft.com/office/drawing/2014/main" id="{F7DDFD3C-E52C-39BF-6B3C-D353C17E6414}"/>
              </a:ext>
            </a:extLst>
          </p:cNvPr>
          <p:cNvSpPr txBox="1">
            <a:spLocks/>
          </p:cNvSpPr>
          <p:nvPr/>
        </p:nvSpPr>
        <p:spPr>
          <a:xfrm>
            <a:off x="6173707" y="1072552"/>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cxnSp>
        <p:nvCxnSpPr>
          <p:cNvPr id="9" name="Straight Connector 8">
            <a:extLst>
              <a:ext uri="{FF2B5EF4-FFF2-40B4-BE49-F238E27FC236}">
                <a16:creationId xmlns:a16="http://schemas.microsoft.com/office/drawing/2014/main" id="{27AC7412-AD2D-5ECE-AB38-074AA42805C3}"/>
              </a:ext>
              <a:ext uri="{C183D7F6-B498-43B3-948B-1728B52AA6E4}">
                <adec:decorative xmlns:adec="http://schemas.microsoft.com/office/drawing/2017/decorative" val="1"/>
              </a:ext>
            </a:extLst>
          </p:cNvPr>
          <p:cNvCxnSpPr>
            <a:cxnSpLocks/>
          </p:cNvCxnSpPr>
          <p:nvPr/>
        </p:nvCxnSpPr>
        <p:spPr>
          <a:xfrm>
            <a:off x="901467" y="3947503"/>
            <a:ext cx="4937760"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0A096BA-18B3-E9DA-AD22-88196CE7EE47}"/>
              </a:ext>
            </a:extLst>
          </p:cNvPr>
          <p:cNvSpPr txBox="1"/>
          <p:nvPr/>
        </p:nvSpPr>
        <p:spPr>
          <a:xfrm>
            <a:off x="901467" y="1623095"/>
            <a:ext cx="4937760" cy="230319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Segoe Sans Text Semibold" pitchFamily="2" charset="0"/>
                <a:ea typeface="+mn-ea"/>
                <a:cs typeface="+mn-cs"/>
              </a:rPr>
              <a:t>Application Modernization </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Target Platforms</a:t>
            </a:r>
          </a:p>
          <a:p>
            <a:pPr marL="460375" lvl="2" indent="-133350">
              <a:spcAft>
                <a:spcPts val="200"/>
              </a:spcAft>
              <a:buFont typeface="Arial" panose="020B0604020202020204" pitchFamily="34" charset="0"/>
              <a:buChar char="•"/>
              <a:defRPr/>
            </a:pPr>
            <a:r>
              <a:rPr lang="en-US" sz="900" kern="0" noProof="0" dirty="0">
                <a:solidFill>
                  <a:srgbClr val="000000"/>
                </a:solidFill>
                <a:latin typeface="Segoe Sans Text"/>
              </a:rPr>
              <a:t>Azure App Service</a:t>
            </a:r>
          </a:p>
          <a:p>
            <a:pPr marL="460375" marR="0" lvl="2" indent="-133350" fontAlgn="auto">
              <a:lnSpc>
                <a:spcPct val="100000"/>
              </a:lnSpc>
              <a:spcBef>
                <a:spcPts val="0"/>
              </a:spcBef>
              <a:spcAft>
                <a:spcPts val="200"/>
              </a:spcAft>
              <a:buClrTx/>
              <a:buSzTx/>
              <a:buFont typeface="Arial" panose="020B0604020202020204" pitchFamily="34" charset="0"/>
              <a:buChar char="•"/>
              <a:tabLst/>
              <a:defRPr/>
            </a:pPr>
            <a:r>
              <a:rPr lang="en-US" sz="900" kern="0" noProof="0" dirty="0">
                <a:solidFill>
                  <a:srgbClr val="000000"/>
                </a:solidFill>
                <a:latin typeface="Segoe Sans Text"/>
              </a:rPr>
              <a:t>Azure Kubernetes Service (AKS) – Linux and Windows containers</a:t>
            </a:r>
          </a:p>
          <a:p>
            <a:pPr marL="460375" marR="0" lvl="2" indent="-133350" fontAlgn="auto">
              <a:lnSpc>
                <a:spcPct val="100000"/>
              </a:lnSpc>
              <a:spcBef>
                <a:spcPts val="0"/>
              </a:spcBef>
              <a:spcAft>
                <a:spcPts val="200"/>
              </a:spcAft>
              <a:buClrTx/>
              <a:buSzTx/>
              <a:buFont typeface="Arial" panose="020B0604020202020204" pitchFamily="34" charset="0"/>
              <a:buChar char="•"/>
              <a:tabLst/>
              <a:defRPr/>
            </a:pPr>
            <a:r>
              <a:rPr lang="en-US" sz="900" kern="0" noProof="0" dirty="0">
                <a:solidFill>
                  <a:srgbClr val="000000"/>
                </a:solidFill>
                <a:latin typeface="Segoe Sans Text"/>
              </a:rPr>
              <a:t>Azure Container Apps (ACA) – Linux only</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NET Applications → Azure PaaS</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On-prem, Azure VMs, AWS, GCP → App Service, AKS (Windows/Linux), ACA (Linux)</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.NET Framework, .NET Core with GitHub Copilot assessment and remediation</a:t>
            </a:r>
          </a:p>
          <a:p>
            <a:pPr marL="241300" lvl="1"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Java Applications → Azure PaaS</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On-prem</a:t>
            </a:r>
            <a:r>
              <a:rPr lang="en-US" sz="900" kern="0" noProof="0" dirty="0">
                <a:solidFill>
                  <a:srgbClr val="000000"/>
                </a:solidFill>
                <a:latin typeface="Segoe Sans Text"/>
              </a:rPr>
              <a:t>,</a:t>
            </a:r>
            <a:r>
              <a:rPr lang="en-US" sz="900" kern="0" noProof="0" dirty="0">
                <a:solidFill>
                  <a:srgbClr val="000000"/>
                </a:solidFill>
                <a:ea typeface="+mn-lt"/>
                <a:cs typeface="+mn-lt"/>
              </a:rPr>
              <a:t> ASA(Azure Spring Apps)</a:t>
            </a:r>
            <a:r>
              <a:rPr lang="en-US" sz="900" kern="0" noProof="0" dirty="0">
                <a:solidFill>
                  <a:srgbClr val="000000"/>
                </a:solidFill>
                <a:latin typeface="Segoe Sans Text"/>
              </a:rPr>
              <a:t> </a:t>
            </a:r>
            <a:r>
              <a:rPr kumimoji="0" lang="en-US" sz="900" b="0" i="0" u="none" strike="noStrike" kern="0" cap="none" spc="0" normalizeH="0" baseline="0" noProof="0" dirty="0">
                <a:ln>
                  <a:noFill/>
                </a:ln>
                <a:solidFill>
                  <a:srgbClr val="000000"/>
                </a:solidFill>
                <a:effectLst/>
                <a:uLnTx/>
                <a:uFillTx/>
                <a:latin typeface="Segoe Sans Text"/>
                <a:ea typeface="+mn-ea"/>
                <a:cs typeface="+mn-cs"/>
              </a:rPr>
              <a:t>Azure VMs, AWS, GCP → App Service, AKS, ACA</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Tomcat 8.5+, JBoss EAP 7.4+, WebSphere, WebLogic with Copilot tools</a:t>
            </a:r>
          </a:p>
          <a:p>
            <a:pPr marL="241300" lvl="1" indent="-133350">
              <a:spcAft>
                <a:spcPts val="200"/>
              </a:spcAft>
              <a:buFont typeface="Arial" panose="020B0604020202020204" pitchFamily="34" charset="0"/>
              <a:buChar char="•"/>
              <a:defRPr/>
            </a:pPr>
            <a:r>
              <a:rPr lang="en-US" sz="900" kern="0" noProof="0" dirty="0">
                <a:solidFill>
                  <a:srgbClr val="000000"/>
                </a:solidFill>
                <a:latin typeface="Segoe Sans Text"/>
              </a:rPr>
              <a:t>Container Workloads → AKS/ACA</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ea typeface="+mn-lt"/>
                <a:cs typeface="+mn-lt"/>
              </a:rPr>
              <a:t>On-prem containers, AWS EKS, </a:t>
            </a:r>
            <a:r>
              <a:rPr lang="en-US" sz="900" kern="0" noProof="0" dirty="0">
                <a:solidFill>
                  <a:srgbClr val="000000"/>
                </a:solidFill>
                <a:ea typeface="+mn-lt"/>
                <a:cs typeface="+mn-lt"/>
              </a:rPr>
              <a:t>OpenShift, </a:t>
            </a:r>
            <a:r>
              <a:rPr kumimoji="0" lang="en-US" sz="900" b="0" i="0" u="none" strike="noStrike" kern="0" cap="none" spc="0" normalizeH="0" baseline="0" noProof="0" dirty="0">
                <a:ln>
                  <a:noFill/>
                </a:ln>
                <a:solidFill>
                  <a:srgbClr val="000000"/>
                </a:solidFill>
                <a:effectLst/>
                <a:uLnTx/>
                <a:uFillTx/>
                <a:ea typeface="+mn-lt"/>
                <a:cs typeface="+mn-lt"/>
              </a:rPr>
              <a:t>GCP GKE → Azure Kubernetes Service</a:t>
            </a:r>
            <a:r>
              <a:rPr lang="en-US" sz="900" kern="0" noProof="0" dirty="0">
                <a:solidFill>
                  <a:srgbClr val="000000"/>
                </a:solidFill>
                <a:ea typeface="+mn-lt"/>
                <a:cs typeface="+mn-lt"/>
              </a:rPr>
              <a:t>, ARO</a:t>
            </a:r>
            <a:r>
              <a:rPr kumimoji="0" lang="en-US" sz="900" b="0" i="0" u="none" strike="noStrike" kern="0" cap="none" spc="0" normalizeH="0" baseline="0" noProof="0" dirty="0">
                <a:ln>
                  <a:noFill/>
                </a:ln>
                <a:solidFill>
                  <a:srgbClr val="000000"/>
                </a:solidFill>
                <a:effectLst/>
                <a:uLnTx/>
                <a:uFillTx/>
                <a:ea typeface="+mn-lt"/>
                <a:cs typeface="+mn-lt"/>
              </a:rPr>
              <a:t> or Container Apps</a:t>
            </a:r>
            <a:r>
              <a:rPr lang="en-US" sz="900" kern="0" noProof="0" dirty="0">
                <a:solidFill>
                  <a:srgbClr val="000000"/>
                </a:solidFill>
                <a:ea typeface="+mn-lt"/>
                <a:cs typeface="+mn-lt"/>
              </a:rPr>
              <a:t> </a:t>
            </a:r>
            <a:endParaRPr lang="en-US" noProof="0" dirty="0">
              <a:ea typeface="+mn-ea"/>
              <a:cs typeface="+mn-cs"/>
            </a:endParaRPr>
          </a:p>
        </p:txBody>
      </p:sp>
      <p:sp>
        <p:nvSpPr>
          <p:cNvPr id="15" name="TextBox 14">
            <a:extLst>
              <a:ext uri="{FF2B5EF4-FFF2-40B4-BE49-F238E27FC236}">
                <a16:creationId xmlns:a16="http://schemas.microsoft.com/office/drawing/2014/main" id="{FA37888B-A10E-77EF-8196-4C1081361345}"/>
              </a:ext>
            </a:extLst>
          </p:cNvPr>
          <p:cNvSpPr txBox="1"/>
          <p:nvPr/>
        </p:nvSpPr>
        <p:spPr>
          <a:xfrm>
            <a:off x="833976" y="4021527"/>
            <a:ext cx="4937760" cy="259987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Segoe Sans Text Semibold" pitchFamily="2" charset="0"/>
                <a:ea typeface="+mn-ea"/>
                <a:cs typeface="+mn-cs"/>
              </a:rPr>
              <a:t>Code remediation specific to Azure Cloud Readiness</a:t>
            </a:r>
          </a:p>
          <a:p>
            <a:pPr marL="171450" indent="-171450">
              <a:lnSpc>
                <a:spcPct val="125000"/>
              </a:lnSpc>
              <a:buFont typeface="Arial" panose="020B0604020202020204" pitchFamily="34" charset="0"/>
              <a:buChar char="•"/>
              <a:defRPr/>
            </a:pPr>
            <a:r>
              <a:rPr lang="en-US" sz="900" kern="0" noProof="0" dirty="0">
                <a:solidFill>
                  <a:srgbClr val="000000"/>
                </a:solidFill>
                <a:ea typeface="+mn-lt"/>
                <a:cs typeface="+mn-lt"/>
              </a:rPr>
              <a:t>Target Application architecture design and validation based on baseline architecture</a:t>
            </a:r>
            <a:endParaRPr kumimoji="0" lang="en-US" sz="900" b="0" i="0" u="none" strike="noStrike" kern="120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Code remediation specific to Azure Cloud Readiness​</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GHCP assisted Java and .NET languages supported​​ using any customer approved language models</a:t>
            </a:r>
          </a:p>
          <a:p>
            <a:pPr marL="628650" lvl="1" indent="-171450">
              <a:lnSpc>
                <a:spcPct val="125000"/>
              </a:lnSpc>
              <a:buFont typeface="Arial" panose="020B0604020202020204" pitchFamily="34" charset="0"/>
              <a:buChar char="•"/>
              <a:defRPr/>
            </a:pPr>
            <a:r>
              <a:rPr lang="en-US" sz="900" noProof="0" dirty="0">
                <a:solidFill>
                  <a:srgbClr val="000000"/>
                </a:solidFill>
              </a:rPr>
              <a:t>Code conversion to a different language - Only for scoped scenarios (Using GHCP Custom instructions.)</a:t>
            </a:r>
          </a:p>
          <a:p>
            <a:pPr marL="628650" lvl="1" indent="-171450">
              <a:lnSpc>
                <a:spcPct val="125000"/>
              </a:lnSpc>
              <a:buFont typeface="Arial" panose="020B0604020202020204" pitchFamily="34" charset="0"/>
              <a:buChar char="•"/>
              <a:defRPr/>
            </a:pPr>
            <a:r>
              <a:rPr lang="en-US" sz="900" kern="0" noProof="0" dirty="0">
                <a:solidFill>
                  <a:srgbClr val="000000"/>
                </a:solidFill>
              </a:rPr>
              <a:t>Scoped UI remediation - using GHCP Custom Prompts</a:t>
            </a:r>
            <a:endParaRPr lang="en-US" sz="900" b="0" i="0" u="none" strike="noStrike" kern="1200" cap="none" spc="0" normalizeH="0" baseline="0" noProof="0" dirty="0">
              <a:ln>
                <a:noFill/>
              </a:ln>
              <a:solidFill>
                <a:srgbClr val="000000"/>
              </a:solidFill>
              <a:effectLst/>
              <a:uLnTx/>
              <a:uFillTx/>
              <a:latin typeface="Segoe Sans Text"/>
              <a:cs typeface="Segoe Sans Text"/>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Application configuration updates​​, configure and code changes on dependent Azure Services​​</a:t>
            </a:r>
          </a:p>
          <a:p>
            <a:pPr marL="628650" lvl="1" indent="-171450">
              <a:lnSpc>
                <a:spcPct val="125000"/>
              </a:lnSpc>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For </a:t>
            </a:r>
            <a:r>
              <a:rPr lang="en-US" sz="900" noProof="0" dirty="0">
                <a:solidFill>
                  <a:srgbClr val="000000"/>
                </a:solidFill>
                <a:latin typeface="Segoe Sans Text"/>
              </a:rPr>
              <a:t>EG</a:t>
            </a:r>
            <a:r>
              <a:rPr kumimoji="0" lang="en-US" sz="900" b="0" i="0" u="none" strike="noStrike" kern="1200" cap="none" spc="0" normalizeH="0" baseline="0" noProof="0" dirty="0">
                <a:ln>
                  <a:noFill/>
                </a:ln>
                <a:solidFill>
                  <a:srgbClr val="000000"/>
                </a:solidFill>
                <a:effectLst/>
                <a:uLnTx/>
                <a:uFillTx/>
                <a:latin typeface="Segoe Sans Text"/>
                <a:ea typeface="+mn-ea"/>
                <a:cs typeface="+mn-cs"/>
              </a:rPr>
              <a:t>: Key Vault, Redis Cache,</a:t>
            </a:r>
            <a:r>
              <a:rPr lang="en-US" sz="900" noProof="0" dirty="0">
                <a:solidFill>
                  <a:srgbClr val="000000"/>
                </a:solidFill>
                <a:ea typeface="+mn-lt"/>
                <a:cs typeface="+mn-lt"/>
              </a:rPr>
              <a:t> Storage</a:t>
            </a:r>
            <a:r>
              <a:rPr lang="en-US" sz="900" noProof="0" dirty="0">
                <a:solidFill>
                  <a:srgbClr val="000000"/>
                </a:solidFill>
                <a:latin typeface="Segoe Sans Text"/>
              </a:rPr>
              <a:t>, </a:t>
            </a:r>
            <a:r>
              <a:rPr kumimoji="0" lang="en-US" sz="900" b="0" i="0" u="none" strike="noStrike" kern="1200" cap="none" spc="0" normalizeH="0" baseline="0" noProof="0" dirty="0">
                <a:ln>
                  <a:noFill/>
                </a:ln>
                <a:solidFill>
                  <a:srgbClr val="000000"/>
                </a:solidFill>
                <a:effectLst/>
                <a:uLnTx/>
                <a:uFillTx/>
                <a:latin typeface="Segoe Sans Text"/>
                <a:ea typeface="+mn-ea"/>
                <a:cs typeface="+mn-cs"/>
              </a:rPr>
              <a:t>Entra ID authentication, managed Identities, connecting to databases etc.. </a:t>
            </a:r>
            <a:endParaRPr lang="en-US" sz="900" b="0" i="0" u="none" strike="noStrike" kern="1200" cap="none" spc="0" normalizeH="0" baseline="0" noProof="0" dirty="0">
              <a:ln>
                <a:noFill/>
              </a:ln>
              <a:solidFill>
                <a:srgbClr val="000000"/>
              </a:solidFill>
              <a:effectLst/>
              <a:uLnTx/>
              <a:uFillTx/>
              <a:latin typeface="Segoe Sans Text"/>
              <a:cs typeface="Segoe Sans Text"/>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Azure DevOps/GitHub actions– release pipelines​​</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IaC pipelines (Terraform, Bicep)​​, enable zone redundancy</a:t>
            </a:r>
            <a:endParaRPr lang="en-US" sz="900" b="0" i="0" u="none" strike="noStrike" kern="1200" cap="none" spc="0" normalizeH="0" baseline="0" noProof="0" dirty="0">
              <a:ln>
                <a:noFill/>
              </a:ln>
              <a:solidFill>
                <a:srgbClr val="000000"/>
              </a:solidFill>
              <a:effectLst/>
              <a:uLnTx/>
              <a:uFillTx/>
              <a:latin typeface="Segoe Sans Text"/>
              <a:cs typeface="Segoe Sans Text"/>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Provisioning of baseline application monitoring </a:t>
            </a:r>
            <a:r>
              <a:rPr lang="en-US" sz="900" noProof="0" dirty="0">
                <a:solidFill>
                  <a:srgbClr val="000000"/>
                </a:solidFill>
                <a:latin typeface="Segoe Sans Text"/>
              </a:rPr>
              <a:t>through AppInsights and Azure Monitor</a:t>
            </a:r>
            <a:endParaRPr kumimoji="0" lang="en-US" sz="900" b="0" i="0" u="none" strike="noStrike" kern="1200" cap="none" spc="0" normalizeH="0" baseline="0" noProof="0" dirty="0">
              <a:ln>
                <a:noFill/>
              </a:ln>
              <a:solidFill>
                <a:srgbClr val="000000"/>
              </a:solidFill>
              <a:effectLst/>
              <a:uLnTx/>
              <a:uFillTx/>
              <a:latin typeface="Segoe Sans Text"/>
              <a:ea typeface="+mn-ea"/>
              <a:cs typeface="+mn-cs"/>
            </a:endParaRPr>
          </a:p>
          <a:p>
            <a:pPr marL="628650" lvl="1" indent="-171450">
              <a:lnSpc>
                <a:spcPct val="125000"/>
              </a:lnSpc>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Default Application Insights configuration, default Log Analytics configuration</a:t>
            </a:r>
          </a:p>
        </p:txBody>
      </p:sp>
      <p:sp>
        <p:nvSpPr>
          <p:cNvPr id="20" name="TextBox 19">
            <a:extLst>
              <a:ext uri="{FF2B5EF4-FFF2-40B4-BE49-F238E27FC236}">
                <a16:creationId xmlns:a16="http://schemas.microsoft.com/office/drawing/2014/main" id="{20F55D5F-6AA5-A481-0B3E-C9A45B440D01}"/>
              </a:ext>
            </a:extLst>
          </p:cNvPr>
          <p:cNvSpPr txBox="1"/>
          <p:nvPr/>
        </p:nvSpPr>
        <p:spPr>
          <a:xfrm>
            <a:off x="6443367" y="1553799"/>
            <a:ext cx="5159072" cy="1749390"/>
          </a:xfrm>
          <a:prstGeom prst="rect">
            <a:avLst/>
          </a:prstGeom>
          <a:noFill/>
        </p:spPr>
        <p:txBody>
          <a:bodyPr wrap="square" lIns="45720" tIns="18288" rIns="45720" bIns="18288" anchor="t">
            <a:spAutoFit/>
          </a:bodyPr>
          <a:lstStyle/>
          <a:p>
            <a:pPr marL="171450" indent="-171450">
              <a:lnSpc>
                <a:spcPct val="125000"/>
              </a:lnSpc>
              <a:buFont typeface="Arial" panose="020B0604020202020204" pitchFamily="34" charset="0"/>
              <a:buChar char="•"/>
              <a:defRPr/>
            </a:pPr>
            <a:r>
              <a:rPr lang="en-US" sz="900" kern="0" noProof="0" dirty="0">
                <a:solidFill>
                  <a:srgbClr val="000000"/>
                </a:solidFill>
                <a:latin typeface="Segoe Sans Text"/>
              </a:rPr>
              <a:t>New application development and business logic code changes   </a:t>
            </a:r>
          </a:p>
          <a:p>
            <a:pPr marL="171450" indent="-171450">
              <a:lnSpc>
                <a:spcPct val="125000"/>
              </a:lnSpc>
              <a:buFont typeface="Arial" panose="020B0604020202020204" pitchFamily="34" charset="0"/>
              <a:buChar char="•"/>
              <a:defRPr/>
            </a:pPr>
            <a:r>
              <a:rPr lang="en-US" sz="900" kern="0" noProof="0" dirty="0">
                <a:solidFill>
                  <a:srgbClr val="000000"/>
                </a:solidFill>
                <a:latin typeface="Segoe Sans Text"/>
              </a:rPr>
              <a:t>Redesign, Rearchitect applications and rewrite them with new requirements or in new platform.</a:t>
            </a:r>
          </a:p>
          <a:p>
            <a:pPr marL="171450" indent="-171450">
              <a:lnSpc>
                <a:spcPct val="125000"/>
              </a:lnSpc>
              <a:buFont typeface="Arial" panose="020B0604020202020204" pitchFamily="34" charset="0"/>
              <a:buChar char="•"/>
              <a:defRPr/>
            </a:pPr>
            <a:r>
              <a:rPr lang="en-US" sz="900" noProof="0" dirty="0">
                <a:solidFill>
                  <a:srgbClr val="000000"/>
                </a:solidFill>
              </a:rPr>
              <a:t>Re-architecture (e.g., converting a large monolithic application to microservices architecture</a:t>
            </a:r>
          </a:p>
          <a:p>
            <a:pPr marL="171450" indent="-171450">
              <a:lnSpc>
                <a:spcPct val="125000"/>
              </a:lnSpc>
              <a:buFont typeface="Arial" panose="020B0604020202020204" pitchFamily="34" charset="0"/>
              <a:buChar char="•"/>
              <a:defRPr/>
            </a:pPr>
            <a:r>
              <a:rPr lang="en-US" sz="900" noProof="0" dirty="0">
                <a:solidFill>
                  <a:srgbClr val="000000"/>
                </a:solidFill>
              </a:rPr>
              <a:t>Redesign Windows Forms based application) </a:t>
            </a:r>
          </a:p>
          <a:p>
            <a:pPr marL="171450" indent="-171450">
              <a:lnSpc>
                <a:spcPct val="125000"/>
              </a:lnSpc>
              <a:buFont typeface="Arial" panose="020B0604020202020204" pitchFamily="34" charset="0"/>
              <a:buChar char="•"/>
              <a:defRPr/>
            </a:pPr>
            <a:r>
              <a:rPr lang="en-US" sz="900" kern="0" noProof="0" dirty="0">
                <a:solidFill>
                  <a:srgbClr val="000000"/>
                </a:solidFill>
                <a:latin typeface="Segoe Sans Text"/>
              </a:rPr>
              <a:t>Business validation/functional, regression, integration, performance, and user acceptance testing (UAT), along with extended hyper care.</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Own post-production defect handling and application resilience (regional)</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Implement recommended remediation that needs to be manually remediated or cannot be addressed using GHCP extensions</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900" kern="0" noProof="0" dirty="0">
                <a:solidFill>
                  <a:srgbClr val="000000"/>
                </a:solidFill>
                <a:latin typeface="Segoe Sans Text"/>
              </a:rPr>
              <a:t>Scenarios not supported by GHCP extensions or Custom instructions</a:t>
            </a:r>
            <a:endParaRPr kumimoji="0" lang="en-US" sz="900" b="0" i="0" u="none" strike="noStrike" kern="0" cap="none" spc="0" normalizeH="0" baseline="0" noProof="0" dirty="0">
              <a:ln>
                <a:noFill/>
              </a:ln>
              <a:solidFill>
                <a:srgbClr val="000000"/>
              </a:solidFill>
              <a:effectLst/>
              <a:uLnTx/>
              <a:uFillTx/>
              <a:latin typeface="Segoe Sans Text"/>
              <a:ea typeface="+mn-ea"/>
              <a:cs typeface="+mn-cs"/>
            </a:endParaRPr>
          </a:p>
        </p:txBody>
      </p:sp>
      <p:sp>
        <p:nvSpPr>
          <p:cNvPr id="17" name="TextBox 16">
            <a:extLst>
              <a:ext uri="{FF2B5EF4-FFF2-40B4-BE49-F238E27FC236}">
                <a16:creationId xmlns:a16="http://schemas.microsoft.com/office/drawing/2014/main" id="{3B71B2BF-C3DF-7D34-DEE7-0C585BA7E639}"/>
              </a:ext>
            </a:extLst>
          </p:cNvPr>
          <p:cNvSpPr txBox="1"/>
          <p:nvPr/>
        </p:nvSpPr>
        <p:spPr>
          <a:xfrm>
            <a:off x="6420021" y="4124012"/>
            <a:ext cx="5222560" cy="2487861"/>
          </a:xfrm>
          <a:prstGeom prst="rect">
            <a:avLst/>
          </a:prstGeom>
          <a:noFill/>
        </p:spPr>
        <p:txBody>
          <a:bodyPr wrap="square" lIns="91440" tIns="45720" rIns="91440" bIns="45720" anchor="t">
            <a:spAutoFit/>
          </a:bodyPr>
          <a:lstStyle/>
          <a:p>
            <a:pPr marL="171450" indent="-171450">
              <a:spcAft>
                <a:spcPts val="200"/>
              </a:spcAft>
              <a:buFont typeface="Arial" panose="020B0604020202020204" pitchFamily="34" charset="0"/>
              <a:buChar char="•"/>
              <a:defRPr/>
            </a:pPr>
            <a:r>
              <a:rPr lang="en-US" sz="900" kern="0" noProof="0" dirty="0">
                <a:solidFill>
                  <a:srgbClr val="000000"/>
                </a:solidFill>
              </a:rPr>
              <a:t>Customer owns GHCP licenses and other product licenses, application code, dependencies, libraries, packages and remediation of 3P components</a:t>
            </a:r>
            <a:endParaRPr lang="en-US" sz="900" kern="0" noProof="0" dirty="0">
              <a:solidFill>
                <a:srgbClr val="000000"/>
              </a:solidFill>
              <a:ea typeface="+mn-lt"/>
              <a:cs typeface="+mn-lt"/>
            </a:endParaRPr>
          </a:p>
          <a:p>
            <a:pPr marL="171450" indent="-171450">
              <a:spcAft>
                <a:spcPts val="200"/>
              </a:spcAft>
              <a:buFont typeface="Arial" panose="020B0604020202020204" pitchFamily="34" charset="0"/>
              <a:buChar char="•"/>
              <a:defRPr/>
            </a:pPr>
            <a:r>
              <a:rPr lang="en-US" sz="900" kern="0" noProof="0" dirty="0">
                <a:solidFill>
                  <a:srgbClr val="000000"/>
                </a:solidFill>
                <a:ea typeface="+mn-lt"/>
                <a:cs typeface="+mn-lt"/>
              </a:rPr>
              <a:t>Customer owns governance of Custom Instructions (personal, chat modes, prompt files, skills, project-specific guidance) </a:t>
            </a:r>
            <a:endParaRPr lang="en-US" sz="900" kern="0" noProof="0" dirty="0">
              <a:solidFill>
                <a:srgbClr val="000000"/>
              </a:solidFill>
            </a:endParaRPr>
          </a:p>
          <a:p>
            <a:pPr marL="171450" indent="-171450">
              <a:spcAft>
                <a:spcPts val="200"/>
              </a:spcAft>
              <a:buFont typeface="Arial" panose="020B0604020202020204" pitchFamily="34" charset="0"/>
              <a:buChar char="•"/>
              <a:defRPr/>
            </a:pPr>
            <a:r>
              <a:rPr lang="en-US" sz="900" kern="0" noProof="0" dirty="0">
                <a:solidFill>
                  <a:srgbClr val="000000"/>
                </a:solidFill>
              </a:rPr>
              <a:t>Customer to provide coding structure, standards, version control systems, access to code repository, coding standards, naming standards and project documents (dev access)​</a:t>
            </a:r>
            <a:endParaRPr lang="en-US" sz="900" noProof="0" dirty="0"/>
          </a:p>
          <a:p>
            <a:pPr marL="171450" indent="-171450">
              <a:spcAft>
                <a:spcPts val="200"/>
              </a:spcAft>
              <a:buFont typeface="Arial" panose="020B0604020202020204" pitchFamily="34" charset="0"/>
              <a:buChar char="•"/>
              <a:defRPr/>
            </a:pPr>
            <a:r>
              <a:rPr lang="en-US" sz="900" noProof="0" dirty="0"/>
              <a:t>Customers supports integrating application code into their own build pipelines, m</a:t>
            </a:r>
            <a:r>
              <a:rPr lang="en-US" sz="900" kern="0" noProof="0" dirty="0">
                <a:solidFill>
                  <a:srgbClr val="000000"/>
                </a:solidFill>
              </a:rPr>
              <a:t>anage application runtime version upgrades, provide configuration method changes (environment variables, etc..)</a:t>
            </a:r>
            <a:endParaRPr kumimoji="0" lang="en-US" sz="900" b="0" i="0" u="none" strike="noStrike" kern="120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a:lnSpc>
                <a:spcPct val="100000"/>
              </a:lnSpc>
              <a:spcBef>
                <a:spcPts val="0"/>
              </a:spcBef>
              <a:spcAft>
                <a:spcPts val="200"/>
              </a:spcAft>
              <a:buClrTx/>
              <a:buSzTx/>
              <a:buFont typeface="Arial" panose="020B0604020202020204" pitchFamily="34" charset="0"/>
              <a:buChar char="•"/>
              <a:tabLst/>
              <a:defRPr/>
            </a:pPr>
            <a:r>
              <a:rPr lang="en-US" sz="900" noProof="0" dirty="0">
                <a:solidFill>
                  <a:srgbClr val="000000"/>
                </a:solidFill>
                <a:ea typeface="+mn-lt"/>
                <a:cs typeface="+mn-lt"/>
              </a:rPr>
              <a:t>Customer to provided code branching and merging strategy. (Any coding/naming standard document available that needs to be adhered to)</a:t>
            </a:r>
            <a:endParaRPr lang="en-US" noProof="0" dirty="0">
              <a:cs typeface="Segoe Sans Text"/>
            </a:endParaRP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Customer to support with opening support tickets using their Azure subscription</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latin typeface="Segoe Sans Text"/>
                <a:ea typeface="+mn-ea"/>
                <a:cs typeface="+mn-cs"/>
              </a:rPr>
              <a:t>All changes performed by Factory are in lower environments only; production deployment is jointly owned and after complete review, testing and validation.</a:t>
            </a:r>
          </a:p>
          <a:p>
            <a:pPr marL="171450" indent="-171450">
              <a:spcAft>
                <a:spcPts val="200"/>
              </a:spcAft>
              <a:buFont typeface="Arial" panose="020B0604020202020204" pitchFamily="34" charset="0"/>
              <a:buChar char="•"/>
              <a:defRPr/>
            </a:pPr>
            <a:r>
              <a:rPr lang="en-US" sz="900" kern="0" noProof="0" dirty="0">
                <a:solidFill>
                  <a:srgbClr val="000000"/>
                </a:solidFill>
              </a:rPr>
              <a:t>For existing deployments customer owns hardening, for new deployments customer provided container image security hardening details for IaC creation </a:t>
            </a:r>
          </a:p>
        </p:txBody>
      </p:sp>
      <p:sp>
        <p:nvSpPr>
          <p:cNvPr id="6" name="Rounded Rectangle 55">
            <a:extLst>
              <a:ext uri="{FF2B5EF4-FFF2-40B4-BE49-F238E27FC236}">
                <a16:creationId xmlns:a16="http://schemas.microsoft.com/office/drawing/2014/main" id="{9638ACB5-CCAB-40AE-9A41-27BCDB0181AA}"/>
              </a:ext>
              <a:ext uri="{C183D7F6-B498-43B3-948B-1728B52AA6E4}">
                <adec:decorative xmlns:adec="http://schemas.microsoft.com/office/drawing/2017/decorative" val="1"/>
              </a:ext>
            </a:extLst>
          </p:cNvPr>
          <p:cNvSpPr/>
          <p:nvPr/>
        </p:nvSpPr>
        <p:spPr bwMode="auto">
          <a:xfrm>
            <a:off x="6119225" y="1011678"/>
            <a:ext cx="5586045" cy="2493322"/>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D75817E3-56C9-1948-36FC-9FBBAFCCB1A8}"/>
              </a:ext>
              <a:ext uri="{C183D7F6-B498-43B3-948B-1728B52AA6E4}">
                <adec:decorative xmlns:adec="http://schemas.microsoft.com/office/drawing/2017/decorative" val="1"/>
              </a:ext>
            </a:extLst>
          </p:cNvPr>
          <p:cNvSpPr/>
          <p:nvPr/>
        </p:nvSpPr>
        <p:spPr bwMode="auto">
          <a:xfrm>
            <a:off x="467806" y="1011677"/>
            <a:ext cx="5586045" cy="5609729"/>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4" name="Oval 3">
            <a:extLst>
              <a:ext uri="{FF2B5EF4-FFF2-40B4-BE49-F238E27FC236}">
                <a16:creationId xmlns:a16="http://schemas.microsoft.com/office/drawing/2014/main" id="{81EE79B9-00D3-12DD-3387-4597A96C1FAB}"/>
              </a:ext>
            </a:extLst>
          </p:cNvPr>
          <p:cNvSpPr/>
          <p:nvPr/>
        </p:nvSpPr>
        <p:spPr bwMode="auto">
          <a:xfrm>
            <a:off x="633328" y="162309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 name="Oval 6">
            <a:extLst>
              <a:ext uri="{FF2B5EF4-FFF2-40B4-BE49-F238E27FC236}">
                <a16:creationId xmlns:a16="http://schemas.microsoft.com/office/drawing/2014/main" id="{43EBFC56-4158-86D4-8F1E-061EE89E9680}"/>
              </a:ext>
            </a:extLst>
          </p:cNvPr>
          <p:cNvSpPr/>
          <p:nvPr/>
        </p:nvSpPr>
        <p:spPr bwMode="auto">
          <a:xfrm>
            <a:off x="633328" y="402909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183094B8-4D22-9AF2-17A4-B6D10332FBEF}"/>
              </a:ext>
            </a:extLst>
          </p:cNvPr>
          <p:cNvSpPr/>
          <p:nvPr/>
        </p:nvSpPr>
        <p:spPr bwMode="auto">
          <a:xfrm>
            <a:off x="6242719" y="162309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A306DCBD-F1F7-2B56-2560-9CAE47C8A23A}"/>
              </a:ext>
            </a:extLst>
          </p:cNvPr>
          <p:cNvSpPr/>
          <p:nvPr/>
        </p:nvSpPr>
        <p:spPr bwMode="auto">
          <a:xfrm>
            <a:off x="6262790" y="416625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Rounded Rectangle 22">
            <a:extLst>
              <a:ext uri="{FF2B5EF4-FFF2-40B4-BE49-F238E27FC236}">
                <a16:creationId xmlns:a16="http://schemas.microsoft.com/office/drawing/2014/main" id="{36659FAE-EDC4-9C8A-135E-129AAD45E53A}"/>
              </a:ext>
              <a:ext uri="{C183D7F6-B498-43B3-948B-1728B52AA6E4}">
                <adec:decorative xmlns:adec="http://schemas.microsoft.com/office/drawing/2017/decorative" val="1"/>
              </a:ext>
            </a:extLst>
          </p:cNvPr>
          <p:cNvSpPr>
            <a:spLocks/>
          </p:cNvSpPr>
          <p:nvPr/>
        </p:nvSpPr>
        <p:spPr bwMode="auto">
          <a:xfrm>
            <a:off x="6117339" y="3624493"/>
            <a:ext cx="5587931" cy="2996914"/>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9" name="TextBox 18">
            <a:extLst>
              <a:ext uri="{FF2B5EF4-FFF2-40B4-BE49-F238E27FC236}">
                <a16:creationId xmlns:a16="http://schemas.microsoft.com/office/drawing/2014/main" id="{C201AC29-8065-D41E-B012-EC33D2A428CB}"/>
              </a:ext>
            </a:extLst>
          </p:cNvPr>
          <p:cNvSpPr txBox="1">
            <a:spLocks/>
          </p:cNvSpPr>
          <p:nvPr/>
        </p:nvSpPr>
        <p:spPr>
          <a:xfrm>
            <a:off x="6173708" y="3730180"/>
            <a:ext cx="5455926" cy="31658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a:t>
            </a:r>
          </a:p>
        </p:txBody>
      </p:sp>
      <p:sp>
        <p:nvSpPr>
          <p:cNvPr id="5" name="TextBox 4">
            <a:extLst>
              <a:ext uri="{FF2B5EF4-FFF2-40B4-BE49-F238E27FC236}">
                <a16:creationId xmlns:a16="http://schemas.microsoft.com/office/drawing/2014/main" id="{1FD29413-3604-F044-4CA0-2BE915E7D443}"/>
              </a:ext>
            </a:extLst>
          </p:cNvPr>
          <p:cNvSpPr txBox="1"/>
          <p:nvPr/>
        </p:nvSpPr>
        <p:spPr>
          <a:xfrm>
            <a:off x="6272888" y="1395881"/>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8" name="TextBox 7">
            <a:extLst>
              <a:ext uri="{FF2B5EF4-FFF2-40B4-BE49-F238E27FC236}">
                <a16:creationId xmlns:a16="http://schemas.microsoft.com/office/drawing/2014/main" id="{D5AC0AF1-6609-F485-1240-6094445AEDC7}"/>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extBox 2">
            <a:extLst>
              <a:ext uri="{FF2B5EF4-FFF2-40B4-BE49-F238E27FC236}">
                <a16:creationId xmlns:a16="http://schemas.microsoft.com/office/drawing/2014/main" id="{03481819-A1EB-2E11-CE0D-F4EB4B950FB4}"/>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23167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C70A7-24F1-6038-BB77-D5FD3AE62CE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C78C78A9-BF3D-8E5F-C77F-BCC33DFDB0B4}"/>
              </a:ext>
            </a:extLst>
          </p:cNvPr>
          <p:cNvSpPr>
            <a:spLocks noGrp="1"/>
          </p:cNvSpPr>
          <p:nvPr>
            <p:ph type="title" idx="4294967295"/>
          </p:nvPr>
        </p:nvSpPr>
        <p:spPr>
          <a:xfrm>
            <a:off x="405164" y="267653"/>
            <a:ext cx="8149753" cy="738187"/>
          </a:xfrm>
        </p:spPr>
        <p:txBody>
          <a:bodyPr/>
          <a:lstStyle/>
          <a:p>
            <a:r>
              <a:rPr lang="en-US" sz="2400" noProof="0" dirty="0"/>
              <a:t>App Modernization</a:t>
            </a:r>
            <a:br>
              <a:rPr lang="en-US" sz="2400" noProof="0" dirty="0"/>
            </a:br>
            <a:r>
              <a:rPr lang="en-US" sz="2400" noProof="0" dirty="0">
                <a:solidFill>
                  <a:schemeClr val="tx1"/>
                </a:solidFill>
              </a:rPr>
              <a:t>App Modernization – Approach</a:t>
            </a:r>
            <a:endParaRPr lang="en-US" sz="2400" spc="0" noProof="0" dirty="0">
              <a:solidFill>
                <a:schemeClr val="tx1"/>
              </a:solidFill>
            </a:endParaRPr>
          </a:p>
        </p:txBody>
      </p:sp>
      <p:sp>
        <p:nvSpPr>
          <p:cNvPr id="84" name="Rounded Rectangle 37">
            <a:extLst>
              <a:ext uri="{FF2B5EF4-FFF2-40B4-BE49-F238E27FC236}">
                <a16:creationId xmlns:a16="http://schemas.microsoft.com/office/drawing/2014/main" id="{3253B427-0DFF-4E9C-004D-64E08D5D11E5}"/>
              </a:ext>
              <a:ext uri="{C183D7F6-B498-43B3-948B-1728B52AA6E4}">
                <adec:decorative xmlns:adec="http://schemas.microsoft.com/office/drawing/2017/decorative" val="1"/>
              </a:ext>
            </a:extLst>
          </p:cNvPr>
          <p:cNvSpPr>
            <a:spLocks/>
          </p:cNvSpPr>
          <p:nvPr/>
        </p:nvSpPr>
        <p:spPr bwMode="auto">
          <a:xfrm>
            <a:off x="223123" y="1374843"/>
            <a:ext cx="3638552" cy="5059437"/>
          </a:xfrm>
          <a:prstGeom prst="roundRect">
            <a:avLst>
              <a:gd name="adj" fmla="val 5274"/>
            </a:avLst>
          </a:prstGeom>
          <a:noFill/>
          <a:ln w="12700">
            <a:solidFill>
              <a:srgbClr val="D7D2C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85" name="TextBox 84">
            <a:extLst>
              <a:ext uri="{FF2B5EF4-FFF2-40B4-BE49-F238E27FC236}">
                <a16:creationId xmlns:a16="http://schemas.microsoft.com/office/drawing/2014/main" id="{F0A58D27-9C0D-25FD-5DDB-3D50FF28B0C9}"/>
              </a:ext>
            </a:extLst>
          </p:cNvPr>
          <p:cNvSpPr txBox="1">
            <a:spLocks/>
          </p:cNvSpPr>
          <p:nvPr/>
        </p:nvSpPr>
        <p:spPr>
          <a:xfrm>
            <a:off x="264351" y="1449715"/>
            <a:ext cx="3562126"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GHCP App Mod Extension</a:t>
            </a:r>
          </a:p>
        </p:txBody>
      </p:sp>
      <p:sp>
        <p:nvSpPr>
          <p:cNvPr id="88" name="TextBox 87">
            <a:extLst>
              <a:ext uri="{FF2B5EF4-FFF2-40B4-BE49-F238E27FC236}">
                <a16:creationId xmlns:a16="http://schemas.microsoft.com/office/drawing/2014/main" id="{5BD92509-1A7B-00E8-4F42-09C47DBAECF0}"/>
              </a:ext>
            </a:extLst>
          </p:cNvPr>
          <p:cNvSpPr txBox="1"/>
          <p:nvPr/>
        </p:nvSpPr>
        <p:spPr>
          <a:xfrm>
            <a:off x="517092" y="1964398"/>
            <a:ext cx="3193631" cy="755079"/>
          </a:xfrm>
          <a:prstGeom prst="rect">
            <a:avLst/>
          </a:prstGeom>
          <a:noFill/>
        </p:spPr>
        <p:txBody>
          <a:bodyPr wrap="square" lIns="45720" tIns="18288" rIns="45720" bIns="18288">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Segoe UI Semibold"/>
                <a:ea typeface="+mn-ea"/>
                <a:cs typeface="+mn-cs"/>
              </a:rPr>
              <a:t>Azure Supported Upgrade Paths </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Java </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.NET  </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Containerization</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Refer </a:t>
            </a:r>
            <a:r>
              <a:rPr kumimoji="0" lang="en-US" sz="900" b="0" i="0" u="none" strike="noStrike" kern="0" cap="none" spc="0" normalizeH="0" baseline="0" noProof="0" dirty="0">
                <a:ln>
                  <a:noFill/>
                </a:ln>
                <a:solidFill>
                  <a:srgbClr val="000000"/>
                </a:solidFill>
                <a:effectLst/>
                <a:uLnTx/>
                <a:uFillTx/>
                <a:latin typeface="Segoe Sans Text"/>
                <a:ea typeface="+mn-ea"/>
                <a:cs typeface="+mn-cs"/>
                <a:hlinkClick r:id="rId3"/>
              </a:rPr>
              <a:t>here</a:t>
            </a:r>
            <a:r>
              <a:rPr kumimoji="0" lang="en-US" sz="900" b="0" i="0" u="none" strike="noStrike" kern="0" cap="none" spc="0" normalizeH="0" baseline="0" noProof="0" dirty="0">
                <a:ln>
                  <a:noFill/>
                </a:ln>
                <a:solidFill>
                  <a:srgbClr val="000000"/>
                </a:solidFill>
                <a:effectLst/>
                <a:uLnTx/>
                <a:uFillTx/>
                <a:latin typeface="Segoe Sans Text"/>
                <a:ea typeface="+mn-ea"/>
                <a:cs typeface="+mn-cs"/>
              </a:rPr>
              <a:t> for Languages and frameworks supported</a:t>
            </a:r>
          </a:p>
        </p:txBody>
      </p:sp>
      <p:sp>
        <p:nvSpPr>
          <p:cNvPr id="89" name="TextBox 88">
            <a:extLst>
              <a:ext uri="{FF2B5EF4-FFF2-40B4-BE49-F238E27FC236}">
                <a16:creationId xmlns:a16="http://schemas.microsoft.com/office/drawing/2014/main" id="{36258DA2-2599-2045-5824-CB4F48B48C97}"/>
              </a:ext>
            </a:extLst>
          </p:cNvPr>
          <p:cNvSpPr txBox="1"/>
          <p:nvPr/>
        </p:nvSpPr>
        <p:spPr>
          <a:xfrm>
            <a:off x="533262" y="2943635"/>
            <a:ext cx="3193631" cy="1724575"/>
          </a:xfrm>
          <a:prstGeom prst="rect">
            <a:avLst/>
          </a:prstGeom>
          <a:noFill/>
        </p:spPr>
        <p:txBody>
          <a:bodyPr wrap="square" lIns="45720" tIns="18288" rIns="45720" bIns="18288">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Segoe UI Semibold"/>
                <a:ea typeface="+mn-ea"/>
                <a:cs typeface="+mn-cs"/>
              </a:rPr>
              <a:t>Automated Capabilities</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Open-Rewrite transformations: Applies proven migration recipes</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Syntax modernization: Updates deprecated APIs and code patterns</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Dependency resolution: Updates compatible library versions</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Build configuration: Modifies Maven/Gradle build files</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CVE detection: Identifies security vulnerabilities in dependencies</a:t>
            </a:r>
          </a:p>
          <a:p>
            <a:pPr marL="241300" marR="0" lvl="1" indent="-1333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Compilation fixes: Suggests solutions for common upgrade errors</a:t>
            </a:r>
          </a:p>
        </p:txBody>
      </p:sp>
      <p:sp>
        <p:nvSpPr>
          <p:cNvPr id="90" name="TextBox 89">
            <a:extLst>
              <a:ext uri="{FF2B5EF4-FFF2-40B4-BE49-F238E27FC236}">
                <a16:creationId xmlns:a16="http://schemas.microsoft.com/office/drawing/2014/main" id="{D5ADF3A5-86CE-904F-1811-215D4D4BAEE7}"/>
              </a:ext>
            </a:extLst>
          </p:cNvPr>
          <p:cNvSpPr txBox="1"/>
          <p:nvPr/>
        </p:nvSpPr>
        <p:spPr>
          <a:xfrm>
            <a:off x="517092" y="4993136"/>
            <a:ext cx="3193631" cy="970522"/>
          </a:xfrm>
          <a:prstGeom prst="rect">
            <a:avLst/>
          </a:prstGeom>
          <a:noFill/>
        </p:spPr>
        <p:txBody>
          <a:bodyPr wrap="square" lIns="45720" tIns="18288" rIns="45720" bIns="18288">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Segoe UI Semibold"/>
                <a:ea typeface="+mn-ea"/>
                <a:cs typeface="+mn-cs"/>
              </a:rPr>
              <a:t>Supported Project Types</a:t>
            </a:r>
            <a:endParaRPr kumimoji="0" lang="en-US" sz="900" b="0" i="0" u="none" strike="noStrike" kern="0" cap="none" spc="0" normalizeH="0" baseline="0" noProof="0" dirty="0">
              <a:ln>
                <a:noFill/>
              </a:ln>
              <a:solidFill>
                <a:srgbClr val="000000"/>
              </a:solidFill>
              <a:effectLst/>
              <a:uLnTx/>
              <a:uFillTx/>
              <a:latin typeface="Segoe UI Semibold"/>
              <a:ea typeface="+mn-ea"/>
              <a:cs typeface="+mn-cs"/>
            </a:endParaRP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Maven-based projects: Using Maven or Maven Wrapper</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Gradle-based projects: Using Gradle or Gradle Wrapper</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Spring Boot applications: Web, REST APIs, microservices</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Standard Java projects: With common dependency structures</a:t>
            </a:r>
          </a:p>
        </p:txBody>
      </p:sp>
      <p:sp>
        <p:nvSpPr>
          <p:cNvPr id="102" name="TextBox 101">
            <a:extLst>
              <a:ext uri="{FF2B5EF4-FFF2-40B4-BE49-F238E27FC236}">
                <a16:creationId xmlns:a16="http://schemas.microsoft.com/office/drawing/2014/main" id="{CA6B7146-1BFE-C53D-DD4F-D15B5B41CC04}"/>
              </a:ext>
            </a:extLst>
          </p:cNvPr>
          <p:cNvSpPr txBox="1">
            <a:spLocks/>
          </p:cNvSpPr>
          <p:nvPr/>
        </p:nvSpPr>
        <p:spPr>
          <a:xfrm>
            <a:off x="4299673" y="1449715"/>
            <a:ext cx="3562126"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GHCP Containerization </a:t>
            </a:r>
          </a:p>
        </p:txBody>
      </p:sp>
      <p:sp>
        <p:nvSpPr>
          <p:cNvPr id="105" name="TextBox 104">
            <a:extLst>
              <a:ext uri="{FF2B5EF4-FFF2-40B4-BE49-F238E27FC236}">
                <a16:creationId xmlns:a16="http://schemas.microsoft.com/office/drawing/2014/main" id="{AACDF76C-BE09-0C91-8B2C-010DDEF171D4}"/>
              </a:ext>
            </a:extLst>
          </p:cNvPr>
          <p:cNvSpPr txBox="1"/>
          <p:nvPr/>
        </p:nvSpPr>
        <p:spPr>
          <a:xfrm>
            <a:off x="4545664" y="1975026"/>
            <a:ext cx="3193631" cy="2057999"/>
          </a:xfrm>
          <a:prstGeom prst="rect">
            <a:avLst/>
          </a:prstGeom>
          <a:noFill/>
        </p:spPr>
        <p:txBody>
          <a:bodyPr wrap="square" lIns="45720" tIns="18288" rIns="45720" bIns="18288">
            <a:spAutoFit/>
          </a:bodyPr>
          <a:lstStyle/>
          <a:p>
            <a:pPr marL="0" marR="0" lvl="1" algn="l" defTabSz="914400" rtl="0" eaLnBrk="1" fontAlgn="auto" latinLnBrk="0" hangingPunct="1">
              <a:lnSpc>
                <a:spcPct val="100000"/>
              </a:lnSpc>
              <a:spcBef>
                <a:spcPts val="0"/>
              </a:spcBef>
              <a:spcAft>
                <a:spcPts val="200"/>
              </a:spcAft>
              <a:buClrTx/>
              <a:buSzTx/>
              <a:tabLst/>
              <a:defRPr/>
            </a:pPr>
            <a:r>
              <a:rPr lang="en-US" sz="1000" b="1" kern="0" noProof="0" dirty="0">
                <a:solidFill>
                  <a:srgbClr val="000000"/>
                </a:solidFill>
                <a:latin typeface="+mj-lt"/>
              </a:rPr>
              <a:t>Containerization Scope:</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Application container image build and push to Azure Container registry DevOps pipelines (ADO, GitHub, GitLab)</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Support containerization for .NET and Java Technologies. </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Support containerization process for Go &amp; Python apps and any code/config changes for these lang stack to be performed by customer/partner</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Only Docker (container-based) runtime supported</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Linux/Windows container support</a:t>
            </a:r>
          </a:p>
          <a:p>
            <a:pPr marL="460375" lvl="2"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GitHub/Azure DevOps/GitLab pipelines</a:t>
            </a:r>
          </a:p>
          <a:p>
            <a:pPr marL="628650" lvl="3"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Application container image build</a:t>
            </a:r>
          </a:p>
          <a:p>
            <a:pPr marL="628650" lvl="3" indent="-133350">
              <a:spcAft>
                <a:spcPts val="200"/>
              </a:spcAft>
              <a:buFont typeface="Arial" panose="020B0604020202020204" pitchFamily="34" charset="0"/>
              <a:buChar char="•"/>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Application container image deploy to Azure Container Registry (other registries not supported)</a:t>
            </a:r>
          </a:p>
        </p:txBody>
      </p:sp>
      <p:cxnSp>
        <p:nvCxnSpPr>
          <p:cNvPr id="87" name="Straight Connector 86">
            <a:extLst>
              <a:ext uri="{FF2B5EF4-FFF2-40B4-BE49-F238E27FC236}">
                <a16:creationId xmlns:a16="http://schemas.microsoft.com/office/drawing/2014/main" id="{719E4B83-EABE-5616-72C4-A4838716F520}"/>
              </a:ext>
              <a:ext uri="{C183D7F6-B498-43B3-948B-1728B52AA6E4}">
                <adec:decorative xmlns:adec="http://schemas.microsoft.com/office/drawing/2017/decorative" val="1"/>
              </a:ext>
            </a:extLst>
          </p:cNvPr>
          <p:cNvCxnSpPr>
            <a:cxnSpLocks/>
          </p:cNvCxnSpPr>
          <p:nvPr/>
        </p:nvCxnSpPr>
        <p:spPr>
          <a:xfrm>
            <a:off x="517092" y="4831766"/>
            <a:ext cx="3193631"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A8075EA-1AF5-7E53-0DF6-DA24FAD2C626}"/>
              </a:ext>
              <a:ext uri="{C183D7F6-B498-43B3-948B-1728B52AA6E4}">
                <adec:decorative xmlns:adec="http://schemas.microsoft.com/office/drawing/2017/decorative" val="1"/>
              </a:ext>
            </a:extLst>
          </p:cNvPr>
          <p:cNvCxnSpPr>
            <a:cxnSpLocks/>
          </p:cNvCxnSpPr>
          <p:nvPr/>
        </p:nvCxnSpPr>
        <p:spPr>
          <a:xfrm>
            <a:off x="510607" y="2870211"/>
            <a:ext cx="3193631"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0E44686-B04B-D95A-CE1E-D92FF26F9D0B}"/>
              </a:ext>
            </a:extLst>
          </p:cNvPr>
          <p:cNvSpPr txBox="1"/>
          <p:nvPr/>
        </p:nvSpPr>
        <p:spPr>
          <a:xfrm>
            <a:off x="4576423" y="4669913"/>
            <a:ext cx="3193631" cy="975652"/>
          </a:xfrm>
          <a:prstGeom prst="rect">
            <a:avLst/>
          </a:prstGeom>
          <a:noFill/>
        </p:spPr>
        <p:txBody>
          <a:bodyPr wrap="square" lIns="45720" tIns="18288" rIns="45720" bIns="18288">
            <a:spAutoFit/>
          </a:bodyPr>
          <a:lstStyle/>
          <a:p>
            <a:pPr marL="0" marR="0" lvl="1" algn="l" defTabSz="914400" rtl="0" eaLnBrk="1" fontAlgn="auto" latinLnBrk="0" hangingPunct="1">
              <a:lnSpc>
                <a:spcPct val="100000"/>
              </a:lnSpc>
              <a:spcBef>
                <a:spcPts val="0"/>
              </a:spcBef>
              <a:spcAft>
                <a:spcPts val="200"/>
              </a:spcAft>
              <a:buClrTx/>
              <a:buSzTx/>
              <a:tabLst/>
              <a:defRPr/>
            </a:pPr>
            <a:r>
              <a:rPr lang="en-US" sz="1000" b="1" kern="0" noProof="0" dirty="0">
                <a:solidFill>
                  <a:srgbClr val="000000"/>
                </a:solidFill>
                <a:latin typeface="+mj-lt"/>
              </a:rPr>
              <a:t>Migrating existing container:</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On premises, AWS – EKS, &amp; GCP – GKE workloads</a:t>
            </a:r>
          </a:p>
          <a:p>
            <a:pPr marL="460375" marR="0" lvl="2" indent="-133350" fontAlgn="auto">
              <a:lnSpc>
                <a:spcPct val="100000"/>
              </a:lnSpc>
              <a:spcBef>
                <a:spcPts val="0"/>
              </a:spcBef>
              <a:spcAft>
                <a:spcPts val="200"/>
              </a:spcAft>
              <a:buClrTx/>
              <a:buSzTx/>
              <a:buFont typeface="Arial" panose="020B0604020202020204" pitchFamily="34" charset="0"/>
              <a:buChar char="•"/>
              <a:tabLst/>
              <a:defRPr/>
            </a:pPr>
            <a:r>
              <a:rPr lang="en-US" sz="900" kern="0" noProof="0" dirty="0">
                <a:solidFill>
                  <a:srgbClr val="000000"/>
                </a:solidFill>
                <a:latin typeface="Segoe Sans Text"/>
              </a:rPr>
              <a:t>Migrate current state architecture to the targeted AKS or ACA architecture including network, storage and policies.</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p:txBody>
      </p:sp>
      <p:cxnSp>
        <p:nvCxnSpPr>
          <p:cNvPr id="4" name="Straight Connector 3">
            <a:extLst>
              <a:ext uri="{FF2B5EF4-FFF2-40B4-BE49-F238E27FC236}">
                <a16:creationId xmlns:a16="http://schemas.microsoft.com/office/drawing/2014/main" id="{047CEBC3-6D90-360F-534A-1165E1430DF6}"/>
              </a:ext>
              <a:ext uri="{C183D7F6-B498-43B3-948B-1728B52AA6E4}">
                <adec:decorative xmlns:adec="http://schemas.microsoft.com/office/drawing/2017/decorative" val="1"/>
              </a:ext>
            </a:extLst>
          </p:cNvPr>
          <p:cNvCxnSpPr>
            <a:cxnSpLocks/>
          </p:cNvCxnSpPr>
          <p:nvPr/>
        </p:nvCxnSpPr>
        <p:spPr>
          <a:xfrm>
            <a:off x="4508994" y="4551540"/>
            <a:ext cx="3193631"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F336950-754F-5777-3D9E-576D4A2BFB06}"/>
              </a:ext>
            </a:extLst>
          </p:cNvPr>
          <p:cNvSpPr txBox="1">
            <a:spLocks/>
          </p:cNvSpPr>
          <p:nvPr/>
        </p:nvSpPr>
        <p:spPr>
          <a:xfrm>
            <a:off x="8211438" y="1420271"/>
            <a:ext cx="3463603"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GHCP Custom Instructions Framework</a:t>
            </a:r>
          </a:p>
        </p:txBody>
      </p:sp>
      <p:sp>
        <p:nvSpPr>
          <p:cNvPr id="10" name="TextBox 9">
            <a:extLst>
              <a:ext uri="{FF2B5EF4-FFF2-40B4-BE49-F238E27FC236}">
                <a16:creationId xmlns:a16="http://schemas.microsoft.com/office/drawing/2014/main" id="{C8B7520E-8D1D-07DF-D3E8-E72A98127682}"/>
              </a:ext>
            </a:extLst>
          </p:cNvPr>
          <p:cNvSpPr txBox="1"/>
          <p:nvPr/>
        </p:nvSpPr>
        <p:spPr>
          <a:xfrm>
            <a:off x="8432239" y="1964398"/>
            <a:ext cx="3226499" cy="2632516"/>
          </a:xfrm>
          <a:prstGeom prst="rect">
            <a:avLst/>
          </a:prstGeom>
          <a:noFill/>
        </p:spPr>
        <p:txBody>
          <a:bodyPr wrap="square" lIns="45720" tIns="18288" rIns="45720" bIns="18288">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000" b="1" kern="0" noProof="0" dirty="0">
                <a:solidFill>
                  <a:srgbClr val="000000"/>
                </a:solidFill>
                <a:latin typeface="+mj-lt"/>
              </a:rPr>
              <a:t>Scope</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kern="0" noProof="0" dirty="0">
                <a:solidFill>
                  <a:srgbClr val="000000"/>
                </a:solidFill>
                <a:latin typeface="Segoe Sans Text"/>
              </a:rPr>
              <a:t>Repository Custom Instructions: These are stored within a repository (e.g., in a .GitHub/copilot-instructions.md file) and apply to that specific project. </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kern="0" noProof="0" dirty="0">
                <a:solidFill>
                  <a:srgbClr val="000000"/>
                </a:solidFill>
                <a:latin typeface="Segoe Sans Text"/>
              </a:rPr>
              <a:t>Repository-specific instructions: Create custom instructions for specific repositories, allowing Copilot to adapt to the requirements of each project.</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kern="0" noProof="0" dirty="0">
                <a:solidFill>
                  <a:srgbClr val="000000"/>
                </a:solidFill>
                <a:latin typeface="Segoe Sans Text"/>
              </a:rPr>
              <a:t>The Factory will only make the changes in the copilot-instructions.md based on the requirements provided: </a:t>
            </a:r>
          </a:p>
          <a:p>
            <a:pPr marL="171450" indent="-171450">
              <a:buFont typeface="Arial" panose="020B0604020202020204" pitchFamily="34" charset="0"/>
              <a:buChar char="•"/>
            </a:pPr>
            <a:r>
              <a:rPr lang="en-US" sz="900" kern="0" noProof="0" dirty="0">
                <a:solidFill>
                  <a:srgbClr val="000000"/>
                </a:solidFill>
                <a:latin typeface="Segoe Sans Text"/>
              </a:rPr>
              <a:t>Customer owns/partner owns governance of the CI. </a:t>
            </a:r>
          </a:p>
          <a:p>
            <a:pPr marL="171450" indent="-171450">
              <a:buFont typeface="Arial" panose="020B0604020202020204" pitchFamily="34" charset="0"/>
              <a:buChar char="•"/>
            </a:pPr>
            <a:r>
              <a:rPr lang="en-US" sz="900" kern="0" noProof="0" dirty="0">
                <a:solidFill>
                  <a:srgbClr val="000000"/>
                </a:solidFill>
                <a:latin typeface="Segoe Sans Text"/>
              </a:rPr>
              <a:t>Personal Custom Instructions, prompt files, project-specific guidance, customized responses, code generation, code reviews (View RACI for details)** </a:t>
            </a:r>
          </a:p>
          <a:p>
            <a:pPr marL="171450" indent="-171450">
              <a:buFont typeface="Arial" panose="020B0604020202020204" pitchFamily="34" charset="0"/>
              <a:buChar char="•"/>
            </a:pPr>
            <a:r>
              <a:rPr lang="en-US" sz="900" kern="0" noProof="0" dirty="0">
                <a:solidFill>
                  <a:srgbClr val="000000"/>
                </a:solidFill>
                <a:latin typeface="Segoe Sans Text"/>
              </a:rPr>
              <a:t>Factory team will assist with code remediation, but we will not own any functional testing. </a:t>
            </a:r>
          </a:p>
          <a:p>
            <a:pPr marL="171450" indent="-171450">
              <a:buFont typeface="Arial" panose="020B0604020202020204" pitchFamily="34" charset="0"/>
              <a:buChar char="•"/>
            </a:pPr>
            <a:r>
              <a:rPr lang="en-US" sz="900" kern="0" noProof="0" dirty="0">
                <a:solidFill>
                  <a:srgbClr val="000000"/>
                </a:solidFill>
                <a:latin typeface="Segoe Sans Text"/>
              </a:rPr>
              <a:t>We will not solve existing coding issues, but we will flag any GHCP-CI prompt related issues in the upgraded code base.</a:t>
            </a:r>
          </a:p>
        </p:txBody>
      </p:sp>
      <p:sp>
        <p:nvSpPr>
          <p:cNvPr id="11" name="TextBox 10">
            <a:extLst>
              <a:ext uri="{FF2B5EF4-FFF2-40B4-BE49-F238E27FC236}">
                <a16:creationId xmlns:a16="http://schemas.microsoft.com/office/drawing/2014/main" id="{FC431098-6033-E85F-76F3-26BCCD08AEFC}"/>
              </a:ext>
            </a:extLst>
          </p:cNvPr>
          <p:cNvSpPr txBox="1"/>
          <p:nvPr/>
        </p:nvSpPr>
        <p:spPr>
          <a:xfrm>
            <a:off x="8432239" y="4944773"/>
            <a:ext cx="3257823" cy="985911"/>
          </a:xfrm>
          <a:prstGeom prst="rect">
            <a:avLst/>
          </a:prstGeom>
          <a:noFill/>
        </p:spPr>
        <p:txBody>
          <a:bodyPr wrap="square" lIns="45720" tIns="18288" rIns="45720" bIns="18288">
            <a:spAutoFit/>
          </a:bodyPr>
          <a:lstStyle/>
          <a:p>
            <a:pPr>
              <a:spcAft>
                <a:spcPts val="200"/>
              </a:spcAft>
              <a:defRPr/>
            </a:pPr>
            <a:r>
              <a:rPr lang="en-US" sz="1000" b="1" kern="0" noProof="0" dirty="0">
                <a:solidFill>
                  <a:srgbClr val="000000"/>
                </a:solidFill>
                <a:latin typeface="+mj-lt"/>
              </a:rPr>
              <a:t>Supported Project Types</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Maven-based projects: Using Maven or Maven Wrapper</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Gradle-based projects: Using Gradle or Gradle Wrapper</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Spring Boot applications: Web, REST APIs, microservices</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latin typeface="Segoe Sans Text"/>
                <a:ea typeface="+mn-ea"/>
                <a:cs typeface="+mn-cs"/>
              </a:rPr>
              <a:t>Standard Java projects: With common dependency structures</a:t>
            </a:r>
          </a:p>
        </p:txBody>
      </p:sp>
      <p:cxnSp>
        <p:nvCxnSpPr>
          <p:cNvPr id="16" name="Straight Connector 15">
            <a:extLst>
              <a:ext uri="{FF2B5EF4-FFF2-40B4-BE49-F238E27FC236}">
                <a16:creationId xmlns:a16="http://schemas.microsoft.com/office/drawing/2014/main" id="{068D85BE-5E7C-23E9-6294-AFF39FB3E231}"/>
              </a:ext>
              <a:ext uri="{C183D7F6-B498-43B3-948B-1728B52AA6E4}">
                <adec:decorative xmlns:adec="http://schemas.microsoft.com/office/drawing/2017/decorative" val="1"/>
              </a:ext>
            </a:extLst>
          </p:cNvPr>
          <p:cNvCxnSpPr>
            <a:cxnSpLocks/>
          </p:cNvCxnSpPr>
          <p:nvPr/>
        </p:nvCxnSpPr>
        <p:spPr>
          <a:xfrm>
            <a:off x="8335154" y="4724655"/>
            <a:ext cx="325782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35DF7596-6946-39E1-AA23-9342C2A4B977}"/>
              </a:ext>
            </a:extLst>
          </p:cNvPr>
          <p:cNvSpPr/>
          <p:nvPr/>
        </p:nvSpPr>
        <p:spPr bwMode="auto">
          <a:xfrm>
            <a:off x="336584" y="197502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3" name="Oval 22">
            <a:extLst>
              <a:ext uri="{FF2B5EF4-FFF2-40B4-BE49-F238E27FC236}">
                <a16:creationId xmlns:a16="http://schemas.microsoft.com/office/drawing/2014/main" id="{67F4F2F6-84EF-924A-10C2-99E609B4665E}"/>
              </a:ext>
            </a:extLst>
          </p:cNvPr>
          <p:cNvSpPr/>
          <p:nvPr/>
        </p:nvSpPr>
        <p:spPr bwMode="auto">
          <a:xfrm>
            <a:off x="336584" y="296114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5" name="Oval 24">
            <a:extLst>
              <a:ext uri="{FF2B5EF4-FFF2-40B4-BE49-F238E27FC236}">
                <a16:creationId xmlns:a16="http://schemas.microsoft.com/office/drawing/2014/main" id="{7319CE75-AC95-98CF-33F2-D178B1DBE187}"/>
              </a:ext>
            </a:extLst>
          </p:cNvPr>
          <p:cNvSpPr/>
          <p:nvPr/>
        </p:nvSpPr>
        <p:spPr bwMode="auto">
          <a:xfrm>
            <a:off x="336584" y="50205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2" name="Oval 31">
            <a:extLst>
              <a:ext uri="{FF2B5EF4-FFF2-40B4-BE49-F238E27FC236}">
                <a16:creationId xmlns:a16="http://schemas.microsoft.com/office/drawing/2014/main" id="{97EFC157-B5DC-E524-93CA-1FD5A5E1ED09}"/>
              </a:ext>
            </a:extLst>
          </p:cNvPr>
          <p:cNvSpPr/>
          <p:nvPr/>
        </p:nvSpPr>
        <p:spPr bwMode="auto">
          <a:xfrm>
            <a:off x="4381513" y="19750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5" name="Rounded Rectangle 37">
            <a:extLst>
              <a:ext uri="{FF2B5EF4-FFF2-40B4-BE49-F238E27FC236}">
                <a16:creationId xmlns:a16="http://schemas.microsoft.com/office/drawing/2014/main" id="{9F7979B4-D503-EF4E-941F-B056A8A9B113}"/>
              </a:ext>
              <a:ext uri="{C183D7F6-B498-43B3-948B-1728B52AA6E4}">
                <adec:decorative xmlns:adec="http://schemas.microsoft.com/office/drawing/2017/decorative" val="1"/>
              </a:ext>
            </a:extLst>
          </p:cNvPr>
          <p:cNvSpPr>
            <a:spLocks/>
          </p:cNvSpPr>
          <p:nvPr/>
        </p:nvSpPr>
        <p:spPr bwMode="auto">
          <a:xfrm>
            <a:off x="4258604" y="1374843"/>
            <a:ext cx="3638552" cy="5059437"/>
          </a:xfrm>
          <a:prstGeom prst="roundRect">
            <a:avLst>
              <a:gd name="adj" fmla="val 5274"/>
            </a:avLst>
          </a:prstGeom>
          <a:noFill/>
          <a:ln w="12700">
            <a:solidFill>
              <a:srgbClr val="D7D2C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37" name="Oval 36">
            <a:extLst>
              <a:ext uri="{FF2B5EF4-FFF2-40B4-BE49-F238E27FC236}">
                <a16:creationId xmlns:a16="http://schemas.microsoft.com/office/drawing/2014/main" id="{1E2E9F0A-8BA5-6008-1F42-D5BEB912C42F}"/>
              </a:ext>
            </a:extLst>
          </p:cNvPr>
          <p:cNvSpPr/>
          <p:nvPr/>
        </p:nvSpPr>
        <p:spPr bwMode="auto">
          <a:xfrm>
            <a:off x="4377405" y="469460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9" name="Rounded Rectangle 37">
            <a:extLst>
              <a:ext uri="{FF2B5EF4-FFF2-40B4-BE49-F238E27FC236}">
                <a16:creationId xmlns:a16="http://schemas.microsoft.com/office/drawing/2014/main" id="{6871CF40-07E4-39F0-CB5D-F142E98E393E}"/>
              </a:ext>
              <a:ext uri="{C183D7F6-B498-43B3-948B-1728B52AA6E4}">
                <adec:decorative xmlns:adec="http://schemas.microsoft.com/office/drawing/2017/decorative" val="1"/>
              </a:ext>
            </a:extLst>
          </p:cNvPr>
          <p:cNvSpPr>
            <a:spLocks/>
          </p:cNvSpPr>
          <p:nvPr/>
        </p:nvSpPr>
        <p:spPr bwMode="auto">
          <a:xfrm>
            <a:off x="8123964" y="1374842"/>
            <a:ext cx="3638552" cy="5059437"/>
          </a:xfrm>
          <a:prstGeom prst="roundRect">
            <a:avLst>
              <a:gd name="adj" fmla="val 5274"/>
            </a:avLst>
          </a:prstGeom>
          <a:noFill/>
          <a:ln w="12700">
            <a:solidFill>
              <a:srgbClr val="D7D2C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41" name="Oval 40">
            <a:extLst>
              <a:ext uri="{FF2B5EF4-FFF2-40B4-BE49-F238E27FC236}">
                <a16:creationId xmlns:a16="http://schemas.microsoft.com/office/drawing/2014/main" id="{3101AE94-8586-CCF8-B3F3-F3BE14FDD59E}"/>
              </a:ext>
            </a:extLst>
          </p:cNvPr>
          <p:cNvSpPr/>
          <p:nvPr/>
        </p:nvSpPr>
        <p:spPr bwMode="auto">
          <a:xfrm>
            <a:off x="8245749" y="19750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3" name="Oval 42">
            <a:extLst>
              <a:ext uri="{FF2B5EF4-FFF2-40B4-BE49-F238E27FC236}">
                <a16:creationId xmlns:a16="http://schemas.microsoft.com/office/drawing/2014/main" id="{28666AFB-BB34-0770-337D-54AD4691C5DC}"/>
              </a:ext>
            </a:extLst>
          </p:cNvPr>
          <p:cNvSpPr/>
          <p:nvPr/>
        </p:nvSpPr>
        <p:spPr bwMode="auto">
          <a:xfrm>
            <a:off x="8245749" y="495720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648BBFE9-6115-DC59-3D43-2B36E5602612}"/>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1687257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7080-795E-4463-6F22-F2928166ED1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2C7351A-181A-CEC3-C913-A459F71B8DDF}"/>
              </a:ext>
            </a:extLst>
          </p:cNvPr>
          <p:cNvSpPr>
            <a:spLocks noGrp="1"/>
          </p:cNvSpPr>
          <p:nvPr>
            <p:ph type="title"/>
          </p:nvPr>
        </p:nvSpPr>
        <p:spPr>
          <a:xfrm>
            <a:off x="588263" y="457200"/>
            <a:ext cx="11018520" cy="646331"/>
          </a:xfrm>
        </p:spPr>
        <p:txBody>
          <a:bodyPr/>
          <a:lstStyle/>
          <a:p>
            <a:r>
              <a:rPr lang="en-US" sz="2400" noProof="0" dirty="0"/>
              <a:t>Key Deliverables</a:t>
            </a:r>
            <a:br>
              <a:rPr lang="en-US" sz="2400" noProof="0" dirty="0"/>
            </a:br>
            <a:r>
              <a:rPr lang="en-US" sz="1800" b="1" noProof="0" dirty="0">
                <a:solidFill>
                  <a:schemeClr val="tx1"/>
                </a:solidFill>
              </a:rPr>
              <a:t>Scale App Modernization with AI Agents</a:t>
            </a:r>
            <a:endParaRPr lang="en-US" sz="1800" noProof="0" dirty="0">
              <a:solidFill>
                <a:schemeClr val="tx1"/>
              </a:solidFill>
            </a:endParaRPr>
          </a:p>
        </p:txBody>
      </p:sp>
      <p:sp>
        <p:nvSpPr>
          <p:cNvPr id="21" name="Rectangle: Rounded Corners 20">
            <a:extLst>
              <a:ext uri="{FF2B5EF4-FFF2-40B4-BE49-F238E27FC236}">
                <a16:creationId xmlns:a16="http://schemas.microsoft.com/office/drawing/2014/main" id="{10930DF4-5BB9-0B46-A615-3757D8861C2C}"/>
              </a:ext>
              <a:ext uri="{C183D7F6-B498-43B3-948B-1728B52AA6E4}">
                <adec:decorative xmlns:adec="http://schemas.microsoft.com/office/drawing/2017/decorative" val="0"/>
              </a:ext>
            </a:extLst>
          </p:cNvPr>
          <p:cNvSpPr/>
          <p:nvPr/>
        </p:nvSpPr>
        <p:spPr bwMode="auto">
          <a:xfrm>
            <a:off x="273629" y="1480154"/>
            <a:ext cx="2831002" cy="4920646"/>
          </a:xfrm>
          <a:prstGeom prst="roundRect">
            <a:avLst>
              <a:gd name="adj" fmla="val 9876"/>
            </a:avLst>
          </a:prstGeom>
          <a:noFill/>
          <a:ln w="9525">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146304" rtlCol="0" anchor="t" anchorCtr="0">
            <a:noAutofit/>
          </a:bodyPr>
          <a:lstStyle/>
          <a:p>
            <a:pPr marL="228600">
              <a:spcAft>
                <a:spcPts val="600"/>
              </a:spcAft>
              <a:defRPr/>
            </a:pPr>
            <a:r>
              <a:rPr lang="en-US" sz="1200" noProof="0" dirty="0">
                <a:solidFill>
                  <a:schemeClr val="tx1"/>
                </a:solidFill>
              </a:rPr>
              <a:t>ALZ: Enterprise-Scale Platform LZ | Management Groups | Policies | Defender | Sentinel | DDoS</a:t>
            </a:r>
            <a:endParaRPr lang="en-US" sz="1200" noProof="0" dirty="0">
              <a:solidFill>
                <a:srgbClr val="000000"/>
              </a:solidFill>
            </a:endParaRPr>
          </a:p>
          <a:p>
            <a:pPr marL="228600" lvl="0">
              <a:spcAft>
                <a:spcPts val="600"/>
              </a:spcAft>
              <a:defRPr/>
            </a:pPr>
            <a:endParaRPr lang="en-US" sz="1200" noProof="0" dirty="0">
              <a:solidFill>
                <a:schemeClr val="tx1"/>
              </a:solidFill>
            </a:endParaRPr>
          </a:p>
          <a:p>
            <a:pPr marL="228600" lvl="0">
              <a:spcAft>
                <a:spcPts val="600"/>
              </a:spcAft>
              <a:defRPr/>
            </a:pPr>
            <a:r>
              <a:rPr lang="en-US" sz="1200" noProof="0" dirty="0">
                <a:solidFill>
                  <a:schemeClr val="tx1"/>
                </a:solidFill>
              </a:rPr>
              <a:t>Application Discovery &amp; Assessment using Agentic Tools</a:t>
            </a:r>
            <a:endParaRPr lang="en-US" sz="1200" noProof="0" dirty="0">
              <a:solidFill>
                <a:srgbClr val="000000"/>
              </a:solidFill>
            </a:endParaRPr>
          </a:p>
          <a:p>
            <a:pPr marL="228600" lvl="0">
              <a:spcAft>
                <a:spcPts val="600"/>
              </a:spcAft>
              <a:defRPr/>
            </a:pPr>
            <a:endParaRPr lang="en-US" sz="1200" noProof="0" dirty="0">
              <a:solidFill>
                <a:srgbClr val="000000"/>
              </a:solidFill>
            </a:endParaRPr>
          </a:p>
          <a:p>
            <a:pPr marL="228600" lvl="0">
              <a:spcAft>
                <a:spcPts val="600"/>
              </a:spcAft>
              <a:defRPr/>
            </a:pPr>
            <a:r>
              <a:rPr lang="en-US" sz="1200" noProof="0" dirty="0">
                <a:solidFill>
                  <a:schemeClr val="tx1"/>
                </a:solidFill>
              </a:rPr>
              <a:t>App Modernization to Azure using supported Application Languages and Frameworks</a:t>
            </a:r>
          </a:p>
          <a:p>
            <a:pPr marL="400050" indent="-171450">
              <a:spcAft>
                <a:spcPts val="600"/>
              </a:spcAft>
              <a:buFont typeface="Arial" panose="020B0604020202020204" pitchFamily="34" charset="0"/>
              <a:buChar char="•"/>
              <a:defRPr/>
            </a:pPr>
            <a:r>
              <a:rPr lang="en-US" sz="1200" noProof="0" dirty="0">
                <a:solidFill>
                  <a:schemeClr val="tx1"/>
                </a:solidFill>
              </a:rPr>
              <a:t>GHCP App Mod Ext</a:t>
            </a:r>
          </a:p>
          <a:p>
            <a:pPr marL="400050" lvl="0" indent="-171450">
              <a:spcAft>
                <a:spcPts val="600"/>
              </a:spcAft>
              <a:buFont typeface="Arial" panose="020B0604020202020204" pitchFamily="34" charset="0"/>
              <a:buChar char="•"/>
              <a:defRPr/>
            </a:pPr>
            <a:r>
              <a:rPr lang="en-US" sz="1200" noProof="0" dirty="0">
                <a:solidFill>
                  <a:schemeClr val="tx1"/>
                </a:solidFill>
              </a:rPr>
              <a:t>GHCP Custom Instructions</a:t>
            </a:r>
          </a:p>
          <a:p>
            <a:pPr marL="400050" lvl="0" indent="-171450">
              <a:spcAft>
                <a:spcPts val="600"/>
              </a:spcAft>
              <a:buFont typeface="Arial" panose="020B0604020202020204" pitchFamily="34" charset="0"/>
              <a:buChar char="•"/>
              <a:defRPr/>
            </a:pPr>
            <a:r>
              <a:rPr lang="en-US" sz="1200" noProof="0" dirty="0">
                <a:solidFill>
                  <a:schemeClr val="tx1"/>
                </a:solidFill>
              </a:rPr>
              <a:t>GHCP Containerization</a:t>
            </a:r>
          </a:p>
          <a:p>
            <a:pPr marL="228600" lvl="0">
              <a:spcAft>
                <a:spcPts val="600"/>
              </a:spcAft>
              <a:defRPr/>
            </a:pPr>
            <a:endParaRPr lang="en-US" sz="1200" noProof="0" dirty="0">
              <a:solidFill>
                <a:srgbClr val="000000"/>
              </a:solidFill>
            </a:endParaRPr>
          </a:p>
          <a:p>
            <a:pPr marL="228600" lvl="0">
              <a:spcAft>
                <a:spcPts val="600"/>
              </a:spcAft>
              <a:defRPr/>
            </a:pPr>
            <a:r>
              <a:rPr lang="en-US" sz="1200" noProof="0" dirty="0">
                <a:solidFill>
                  <a:srgbClr val="000000"/>
                </a:solidFill>
              </a:rPr>
              <a:t>Database assessments (for all in-scope databases to be migrated)</a:t>
            </a:r>
          </a:p>
          <a:p>
            <a:pPr marL="228600" lvl="0">
              <a:spcAft>
                <a:spcPts val="600"/>
              </a:spcAft>
              <a:defRPr/>
            </a:pPr>
            <a:endParaRPr lang="en-US" sz="1200" noProof="0" dirty="0">
              <a:solidFill>
                <a:srgbClr val="000000"/>
              </a:solidFill>
            </a:endParaRPr>
          </a:p>
          <a:p>
            <a:pPr marL="228600" lvl="0">
              <a:spcAft>
                <a:spcPts val="600"/>
              </a:spcAft>
              <a:defRPr/>
            </a:pPr>
            <a:r>
              <a:rPr lang="en-US" sz="1200" noProof="0" dirty="0">
                <a:solidFill>
                  <a:srgbClr val="000000"/>
                </a:solidFill>
              </a:rPr>
              <a:t>Database Migration &amp; Modernization</a:t>
            </a:r>
          </a:p>
          <a:p>
            <a:pPr marL="228600" lvl="0">
              <a:spcAft>
                <a:spcPts val="600"/>
              </a:spcAft>
              <a:defRPr/>
            </a:pPr>
            <a:endParaRPr lang="en-US" sz="1200" noProof="0" dirty="0">
              <a:solidFill>
                <a:schemeClr val="tx1"/>
              </a:solidFill>
            </a:endParaRPr>
          </a:p>
        </p:txBody>
      </p:sp>
      <p:sp>
        <p:nvSpPr>
          <p:cNvPr id="5" name="TextBox 9">
            <a:extLst>
              <a:ext uri="{FF2B5EF4-FFF2-40B4-BE49-F238E27FC236}">
                <a16:creationId xmlns:a16="http://schemas.microsoft.com/office/drawing/2014/main" id="{9DF773D7-D93E-3202-04C7-54EE48318E62}"/>
              </a:ext>
            </a:extLst>
          </p:cNvPr>
          <p:cNvSpPr txBox="1"/>
          <p:nvPr/>
        </p:nvSpPr>
        <p:spPr>
          <a:xfrm>
            <a:off x="3396907" y="1793830"/>
            <a:ext cx="8309317" cy="4606971"/>
          </a:xfrm>
          <a:prstGeom prst="rect">
            <a:avLst/>
          </a:prstGeom>
          <a:noFill/>
        </p:spPr>
        <p:txBody>
          <a:bodyPr wrap="square" lIns="182880" tIns="182880" rIns="182880" bIns="4572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defRPr/>
            </a:pPr>
            <a:r>
              <a:rPr lang="en-US" sz="1100" b="1" kern="0" noProof="0" dirty="0">
                <a:solidFill>
                  <a:srgbClr val="0078D4"/>
                </a:solidFill>
              </a:rPr>
              <a:t>Azure Landing Zone</a:t>
            </a:r>
          </a:p>
          <a:p>
            <a:pPr marL="463550" lvl="1" indent="-174625">
              <a:buFont typeface="Arial" panose="020B0604020202020204" pitchFamily="34" charset="0"/>
              <a:buChar char="•"/>
              <a:defRPr/>
            </a:pPr>
            <a:r>
              <a:rPr lang="en-US" sz="1100" kern="0" noProof="0" dirty="0">
                <a:solidFill>
                  <a:prstClr val="black"/>
                </a:solidFill>
              </a:rPr>
              <a:t>Enterprise scale platform Landing Zone deployment</a:t>
            </a:r>
          </a:p>
          <a:p>
            <a:pPr marL="463550" lvl="1" indent="-174625">
              <a:buFont typeface="Arial" panose="020B0604020202020204" pitchFamily="34" charset="0"/>
              <a:buChar char="•"/>
              <a:defRPr/>
            </a:pPr>
            <a:r>
              <a:rPr lang="en-US" sz="1100" kern="0" noProof="0" dirty="0">
                <a:solidFill>
                  <a:prstClr val="black"/>
                </a:solidFill>
              </a:rPr>
              <a:t>Validation of existing Landing Zone</a:t>
            </a:r>
          </a:p>
          <a:p>
            <a:pPr marL="463550" lvl="1" indent="-174625">
              <a:buFont typeface="Arial" panose="020B0604020202020204" pitchFamily="34" charset="0"/>
              <a:buChar char="•"/>
              <a:defRPr/>
            </a:pPr>
            <a:r>
              <a:rPr lang="en-US" sz="1100" kern="0" noProof="0" dirty="0">
                <a:solidFill>
                  <a:prstClr val="black"/>
                </a:solidFill>
              </a:rPr>
              <a:t>Recommended Azure policies | Scalable Management Group hierarchy</a:t>
            </a:r>
          </a:p>
          <a:p>
            <a:pPr marL="0" lvl="1">
              <a:defRPr/>
            </a:pPr>
            <a:r>
              <a:rPr lang="en-US" sz="1100" b="1" kern="0" noProof="0" dirty="0">
                <a:solidFill>
                  <a:srgbClr val="0078D4"/>
                </a:solidFill>
              </a:rPr>
              <a:t>App discovery and assessment</a:t>
            </a:r>
          </a:p>
          <a:p>
            <a:pPr marL="463550" lvl="1" indent="-174625">
              <a:buFont typeface="Arial" panose="020B0604020202020204" pitchFamily="34" charset="0"/>
              <a:buChar char="•"/>
              <a:defRPr/>
            </a:pPr>
            <a:r>
              <a:rPr lang="en-US" sz="1100" kern="0" noProof="0" dirty="0">
                <a:solidFill>
                  <a:prstClr val="black"/>
                </a:solidFill>
              </a:rPr>
              <a:t>Assesses application readiness for modernization to Azure (rehost and replatform).</a:t>
            </a:r>
            <a:endParaRPr lang="en-US" sz="1100" b="1" kern="0" noProof="0" dirty="0">
              <a:solidFill>
                <a:srgbClr val="0078D4"/>
              </a:solidFill>
            </a:endParaRPr>
          </a:p>
          <a:p>
            <a:pPr marL="0" lvl="1">
              <a:defRPr/>
            </a:pPr>
            <a:r>
              <a:rPr lang="en-US" sz="1100" b="1" kern="0" noProof="0" dirty="0">
                <a:solidFill>
                  <a:srgbClr val="0078D4"/>
                </a:solidFill>
              </a:rPr>
              <a:t>App Refactoring to Azure Services using Agentic tools</a:t>
            </a:r>
          </a:p>
          <a:p>
            <a:pPr marL="0" lvl="1">
              <a:defRPr/>
            </a:pPr>
            <a:r>
              <a:rPr lang="en-US" sz="1100" b="1" kern="0" noProof="0" dirty="0">
                <a:solidFill>
                  <a:srgbClr val="0078D4"/>
                </a:solidFill>
              </a:rPr>
              <a:t>Cloud‑native Transformation</a:t>
            </a:r>
          </a:p>
          <a:p>
            <a:pPr marL="0" lvl="1">
              <a:defRPr/>
            </a:pPr>
            <a:r>
              <a:rPr lang="en-US" sz="1100" b="1" kern="0" noProof="0" dirty="0">
                <a:solidFill>
                  <a:srgbClr val="0078D4"/>
                </a:solidFill>
              </a:rPr>
              <a:t>Containerization &amp; AKS Migration (Rehost / Refactor)</a:t>
            </a:r>
          </a:p>
          <a:p>
            <a:pPr marL="0" lvl="1">
              <a:defRPr/>
            </a:pPr>
            <a:r>
              <a:rPr lang="en-US" sz="1100" b="1" kern="0" noProof="0" dirty="0">
                <a:solidFill>
                  <a:srgbClr val="0078D4"/>
                </a:solidFill>
              </a:rPr>
              <a:t>DevOps and CI Enablement </a:t>
            </a:r>
          </a:p>
          <a:p>
            <a:pPr marL="0" lvl="1">
              <a:defRPr/>
            </a:pPr>
            <a:r>
              <a:rPr lang="en-US" sz="1100" b="1" kern="0" noProof="0" dirty="0">
                <a:solidFill>
                  <a:srgbClr val="0078D4"/>
                </a:solidFill>
              </a:rPr>
              <a:t>Database Modernization</a:t>
            </a:r>
          </a:p>
          <a:p>
            <a:pPr marL="0" lvl="1">
              <a:defRPr/>
            </a:pPr>
            <a:endParaRPr lang="en-US" sz="1100" b="1" kern="0" noProof="0" dirty="0">
              <a:solidFill>
                <a:srgbClr val="0078D4"/>
              </a:solidFill>
            </a:endParaRPr>
          </a:p>
          <a:p>
            <a:pPr marL="0" lvl="1">
              <a:defRPr/>
            </a:pPr>
            <a:endParaRPr lang="en-US" sz="1100" b="1" kern="0" noProof="0" dirty="0">
              <a:solidFill>
                <a:srgbClr val="0078D4"/>
              </a:solidFill>
            </a:endParaRPr>
          </a:p>
          <a:p>
            <a:pPr marL="0" lvl="1">
              <a:spcAft>
                <a:spcPts val="600"/>
              </a:spcAft>
              <a:defRPr/>
            </a:pPr>
            <a:r>
              <a:rPr lang="en-US" sz="1100" b="1" kern="0" noProof="0" dirty="0">
                <a:solidFill>
                  <a:schemeClr val="tx2"/>
                </a:solidFill>
              </a:rPr>
              <a:t>App Modernization to Azure using supported Application Languages and Frameworks</a:t>
            </a:r>
          </a:p>
          <a:p>
            <a:pPr lvl="0" fontAlgn="base">
              <a:defRPr/>
            </a:pPr>
            <a:endParaRPr lang="en-US" sz="1100" b="1" noProof="0" dirty="0"/>
          </a:p>
          <a:p>
            <a:pPr lvl="0" fontAlgn="base">
              <a:defRPr/>
            </a:pPr>
            <a:endParaRPr lang="en-US" sz="1100" b="1" noProof="0" dirty="0"/>
          </a:p>
          <a:p>
            <a:pPr lvl="0" fontAlgn="base">
              <a:defRPr/>
            </a:pPr>
            <a:endParaRPr lang="en-US" sz="1100" b="1" noProof="0" dirty="0"/>
          </a:p>
          <a:p>
            <a:pPr lvl="0" fontAlgn="base">
              <a:defRPr/>
            </a:pPr>
            <a:endParaRPr lang="en-US" sz="1100" b="1" noProof="0" dirty="0">
              <a:solidFill>
                <a:srgbClr val="000000"/>
              </a:solidFill>
            </a:endParaRPr>
          </a:p>
          <a:p>
            <a:pPr lvl="0" fontAlgn="base">
              <a:defRPr/>
            </a:pPr>
            <a:endParaRPr lang="en-US" sz="1100" b="1" noProof="0" dirty="0">
              <a:solidFill>
                <a:srgbClr val="000000"/>
              </a:solidFill>
            </a:endParaRPr>
          </a:p>
          <a:p>
            <a:pPr lvl="0" fontAlgn="base">
              <a:defRPr/>
            </a:pPr>
            <a:endParaRPr lang="en-US" sz="1100" b="1" noProof="0" dirty="0">
              <a:solidFill>
                <a:srgbClr val="000000"/>
              </a:solidFill>
            </a:endParaRPr>
          </a:p>
          <a:p>
            <a:pPr lvl="0" fontAlgn="base">
              <a:defRPr/>
            </a:pPr>
            <a:endParaRPr lang="en-US" sz="1000" noProof="0" dirty="0">
              <a:solidFill>
                <a:srgbClr val="000000"/>
              </a:solidFill>
            </a:endParaRPr>
          </a:p>
          <a:p>
            <a:pPr lvl="0" fontAlgn="base">
              <a:defRPr/>
            </a:pPr>
            <a:endParaRPr lang="en-US" sz="1000" noProof="0" dirty="0"/>
          </a:p>
          <a:p>
            <a:pPr lvl="0" fontAlgn="base">
              <a:defRPr/>
            </a:pPr>
            <a:endParaRPr lang="en-US" sz="1000" noProof="0" dirty="0"/>
          </a:p>
          <a:p>
            <a:pPr lvl="0" fontAlgn="base">
              <a:defRPr/>
            </a:pPr>
            <a:endParaRPr lang="en-US" sz="1000" noProof="0" dirty="0"/>
          </a:p>
          <a:p>
            <a:pPr fontAlgn="base"/>
            <a:r>
              <a:rPr lang="en-US" sz="800" i="1" noProof="0" dirty="0"/>
              <a:t> *Customer owns implementing recommended remediation and testing​</a:t>
            </a:r>
          </a:p>
          <a:p>
            <a:pPr fontAlgn="base"/>
            <a:endParaRPr lang="en-US" sz="2800" noProof="0" dirty="0"/>
          </a:p>
        </p:txBody>
      </p:sp>
      <p:sp>
        <p:nvSpPr>
          <p:cNvPr id="8" name="TextBox 7">
            <a:extLst>
              <a:ext uri="{FF2B5EF4-FFF2-40B4-BE49-F238E27FC236}">
                <a16:creationId xmlns:a16="http://schemas.microsoft.com/office/drawing/2014/main" id="{59E13707-2B9D-ADAA-67E8-C22178A6ADDD}"/>
              </a:ext>
            </a:extLst>
          </p:cNvPr>
          <p:cNvSpPr txBox="1"/>
          <p:nvPr/>
        </p:nvSpPr>
        <p:spPr>
          <a:xfrm>
            <a:off x="3593554" y="4601229"/>
            <a:ext cx="7428216" cy="1101485"/>
          </a:xfrm>
          <a:prstGeom prst="rect">
            <a:avLst/>
          </a:prstGeom>
          <a:noFill/>
        </p:spPr>
        <p:txBody>
          <a:bodyPr wrap="square" lIns="36576" tIns="18288" rIns="36576" bIns="18288" numCol="2" rtlCol="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From:</a:t>
            </a: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On-premise environments​</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IaaS workloads (VMs)​</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VMware: Apps hosted on VMware VMs​</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Compete Clouds: AWS containerized apps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100" b="1" noProof="0" dirty="0">
              <a:solidFill>
                <a:srgbClr val="000000"/>
              </a:solidFill>
              <a:latin typeface="Segoe Sans Text"/>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Segoe Sans Tex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To:</a:t>
            </a: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Azure Static Web App (TypeScript and JavaScript Frameworks)</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Azure App Service​ </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Azure Kubernetes Service (AKS)​ </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Azure Container Apps (ACA)​</a:t>
            </a:r>
          </a:p>
        </p:txBody>
      </p:sp>
      <p:sp>
        <p:nvSpPr>
          <p:cNvPr id="12" name="Graphic 23">
            <a:extLst>
              <a:ext uri="{FF2B5EF4-FFF2-40B4-BE49-F238E27FC236}">
                <a16:creationId xmlns:a16="http://schemas.microsoft.com/office/drawing/2014/main" id="{D8C459AD-68CB-671F-BE84-C62290389A16}"/>
              </a:ext>
              <a:ext uri="{C183D7F6-B498-43B3-948B-1728B52AA6E4}">
                <adec:decorative xmlns:adec="http://schemas.microsoft.com/office/drawing/2017/decorative" val="1"/>
              </a:ext>
            </a:extLst>
          </p:cNvPr>
          <p:cNvSpPr/>
          <p:nvPr/>
        </p:nvSpPr>
        <p:spPr>
          <a:xfrm>
            <a:off x="379702" y="2071205"/>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Graphic 23">
            <a:extLst>
              <a:ext uri="{FF2B5EF4-FFF2-40B4-BE49-F238E27FC236}">
                <a16:creationId xmlns:a16="http://schemas.microsoft.com/office/drawing/2014/main" id="{5079EAF2-2CB3-B51F-2991-6E97F028EAF2}"/>
              </a:ext>
              <a:ext uri="{C183D7F6-B498-43B3-948B-1728B52AA6E4}">
                <adec:decorative xmlns:adec="http://schemas.microsoft.com/office/drawing/2017/decorative" val="1"/>
              </a:ext>
            </a:extLst>
          </p:cNvPr>
          <p:cNvSpPr/>
          <p:nvPr/>
        </p:nvSpPr>
        <p:spPr>
          <a:xfrm>
            <a:off x="379702" y="293696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Graphic 23">
            <a:extLst>
              <a:ext uri="{FF2B5EF4-FFF2-40B4-BE49-F238E27FC236}">
                <a16:creationId xmlns:a16="http://schemas.microsoft.com/office/drawing/2014/main" id="{37028B25-74AB-623D-7943-832028692560}"/>
              </a:ext>
              <a:ext uri="{C183D7F6-B498-43B3-948B-1728B52AA6E4}">
                <adec:decorative xmlns:adec="http://schemas.microsoft.com/office/drawing/2017/decorative" val="1"/>
              </a:ext>
            </a:extLst>
          </p:cNvPr>
          <p:cNvSpPr/>
          <p:nvPr/>
        </p:nvSpPr>
        <p:spPr>
          <a:xfrm>
            <a:off x="379702" y="367066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Graphic 23">
            <a:extLst>
              <a:ext uri="{FF2B5EF4-FFF2-40B4-BE49-F238E27FC236}">
                <a16:creationId xmlns:a16="http://schemas.microsoft.com/office/drawing/2014/main" id="{27975A19-2E26-A80E-7B9F-E152F9B4E353}"/>
              </a:ext>
              <a:ext uri="{C183D7F6-B498-43B3-948B-1728B52AA6E4}">
                <adec:decorative xmlns:adec="http://schemas.microsoft.com/office/drawing/2017/decorative" val="1"/>
              </a:ext>
            </a:extLst>
          </p:cNvPr>
          <p:cNvSpPr/>
          <p:nvPr/>
        </p:nvSpPr>
        <p:spPr>
          <a:xfrm>
            <a:off x="379702" y="5345490"/>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 name="Graphic 23">
            <a:extLst>
              <a:ext uri="{FF2B5EF4-FFF2-40B4-BE49-F238E27FC236}">
                <a16:creationId xmlns:a16="http://schemas.microsoft.com/office/drawing/2014/main" id="{B0B6A8AD-0B98-35DE-825A-19257E46BACB}"/>
              </a:ext>
              <a:ext uri="{C183D7F6-B498-43B3-948B-1728B52AA6E4}">
                <adec:decorative xmlns:adec="http://schemas.microsoft.com/office/drawing/2017/decorative" val="1"/>
              </a:ext>
            </a:extLst>
          </p:cNvPr>
          <p:cNvSpPr/>
          <p:nvPr/>
        </p:nvSpPr>
        <p:spPr>
          <a:xfrm>
            <a:off x="379702" y="6032700"/>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23" name="Group 22">
            <a:extLst>
              <a:ext uri="{FF2B5EF4-FFF2-40B4-BE49-F238E27FC236}">
                <a16:creationId xmlns:a16="http://schemas.microsoft.com/office/drawing/2014/main" id="{E8557502-5AD2-E874-F9B2-77E9B17DAAD1}"/>
              </a:ext>
              <a:ext uri="{C183D7F6-B498-43B3-948B-1728B52AA6E4}">
                <adec:decorative xmlns:adec="http://schemas.microsoft.com/office/drawing/2017/decorative" val="1"/>
              </a:ext>
            </a:extLst>
          </p:cNvPr>
          <p:cNvGrpSpPr/>
          <p:nvPr/>
        </p:nvGrpSpPr>
        <p:grpSpPr>
          <a:xfrm>
            <a:off x="3396907" y="1480154"/>
            <a:ext cx="8521464" cy="4920647"/>
            <a:chOff x="455996" y="1206500"/>
            <a:chExt cx="11306471" cy="5062538"/>
          </a:xfrm>
        </p:grpSpPr>
        <p:sp>
          <p:nvSpPr>
            <p:cNvPr id="25" name="Rectangle: Rounded Corners 24">
              <a:extLst>
                <a:ext uri="{FF2B5EF4-FFF2-40B4-BE49-F238E27FC236}">
                  <a16:creationId xmlns:a16="http://schemas.microsoft.com/office/drawing/2014/main" id="{93B9AF82-2B78-FA05-394A-51F4BC3076CD}"/>
                </a:ext>
                <a:ext uri="{C183D7F6-B498-43B3-948B-1728B52AA6E4}">
                  <adec:decorative xmlns:adec="http://schemas.microsoft.com/office/drawing/2017/decorative" val="1"/>
                </a:ext>
              </a:extLst>
            </p:cNvPr>
            <p:cNvSpPr/>
            <p:nvPr/>
          </p:nvSpPr>
          <p:spPr bwMode="auto">
            <a:xfrm>
              <a:off x="455996" y="1206500"/>
              <a:ext cx="11306471"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6" name="Rectangle: Rounded Corners 25">
              <a:extLst>
                <a:ext uri="{FF2B5EF4-FFF2-40B4-BE49-F238E27FC236}">
                  <a16:creationId xmlns:a16="http://schemas.microsoft.com/office/drawing/2014/main" id="{4FED9A2F-968B-AD1F-0328-8D01DE7E5B38}"/>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24" name="Arrow: Bent 23">
            <a:extLst>
              <a:ext uri="{FF2B5EF4-FFF2-40B4-BE49-F238E27FC236}">
                <a16:creationId xmlns:a16="http://schemas.microsoft.com/office/drawing/2014/main" id="{7FCF813C-F3B7-0FC4-267E-C32BB971B9CD}"/>
              </a:ext>
              <a:ext uri="{C183D7F6-B498-43B3-948B-1728B52AA6E4}">
                <adec:decorative xmlns:adec="http://schemas.microsoft.com/office/drawing/2017/decorative" val="1"/>
              </a:ext>
            </a:extLst>
          </p:cNvPr>
          <p:cNvSpPr>
            <a:spLocks/>
          </p:cNvSpPr>
          <p:nvPr/>
        </p:nvSpPr>
        <p:spPr bwMode="auto">
          <a:xfrm flipH="1">
            <a:off x="9975935" y="1493483"/>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sp>
        <p:nvSpPr>
          <p:cNvPr id="30" name="TextBox 29">
            <a:extLst>
              <a:ext uri="{FF2B5EF4-FFF2-40B4-BE49-F238E27FC236}">
                <a16:creationId xmlns:a16="http://schemas.microsoft.com/office/drawing/2014/main" id="{DBB5D881-54CA-1D30-093A-03F5E10667C0}"/>
              </a:ext>
            </a:extLst>
          </p:cNvPr>
          <p:cNvSpPr txBox="1"/>
          <p:nvPr/>
        </p:nvSpPr>
        <p:spPr>
          <a:xfrm>
            <a:off x="379702" y="1601094"/>
            <a:ext cx="2614766" cy="33902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 name="TextBox 1">
            <a:extLst>
              <a:ext uri="{FF2B5EF4-FFF2-40B4-BE49-F238E27FC236}">
                <a16:creationId xmlns:a16="http://schemas.microsoft.com/office/drawing/2014/main" id="{7EC53200-E76A-A033-0083-2B66AF8A0D7B}"/>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7109910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913DD-C57F-DBB5-8C2D-E043712A993A}"/>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E2EED452-91EB-01CC-070B-7122378804D1}"/>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D347C950-41E2-3A14-CE47-9941EBB82187}"/>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4F67814D-3454-5CA3-7034-4BF362A2B7DA}"/>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D55D10AE-BEB8-C938-55A7-01AEF81B17AB}"/>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48D45F19-14F9-BEFE-71E8-8D69B07F6D4D}"/>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ISD/Partner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D83BF9DF-0887-54B0-A379-240DEC6F5F60}"/>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5A4C37A5-4975-53E8-BF2B-27CD838D6EFC}"/>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E128EF2B-BC21-E88B-3169-426AB9EC6996}"/>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27D9AFD4-07F6-C54B-9F60-2BC2DA660202}"/>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7B580713-6BC8-14C9-CB3B-BC0D2E8F8A05}"/>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FF1958D4-2F6F-87C6-7A2D-79300F9CA025}"/>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F4F159EC-9CF2-BA66-5F7F-36F7FCA3F478}"/>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98FEBE37-FACF-844F-0BE0-4B63F6D47E71}"/>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43A7C027-6175-8734-F172-B35E78CA3822}"/>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2D8CABBB-A819-E049-7E92-B33A875C968F}"/>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3207C414-5FE8-2438-AE10-261D812A1851}"/>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27C274C5-2082-5B58-B214-29BEDE177F62}"/>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D8ADFC6E-3F7D-633E-F7A3-3B7990493018}"/>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97D1098D-D29B-F752-9B87-766EE4D50A87}"/>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328F0687-3B3F-D78E-7CB4-4EFAF82755A1}"/>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98398E69-EBA3-E9DD-8209-4C732288F3D8}"/>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4BC51F71-3C1A-0327-55CC-0523873BD1D8}"/>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87EDF4B2-C7C1-031D-5420-0A1664E54D2B}"/>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8D5A3A18-F1A0-8135-EDC8-75678F10EA2C}"/>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7E549B9A-FB16-9196-35DF-8BA83AB96775}"/>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6CAD7AD6-3983-1FF7-FF7B-4215064A313E}"/>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1EF4BC96-774E-80FA-6205-8C1C687FB5CB}"/>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71292214-2681-9C96-A60C-489CAD148DF8}"/>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F5244C88-62D6-9D62-EAF6-5C11D1A5BB73}"/>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237848E7-3F9B-4B0C-CEA9-EC4A1CD72181}"/>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6B8B1276-45A7-FB55-E011-2023DB45D0FF}"/>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313BECDD-D90B-4EBC-A9C0-E8CE80BA8902}"/>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D8E2827E-2350-9E57-48C1-88A00EB404F4}"/>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CA5DF7F0-AA17-8F04-988F-987DFB85DE34}"/>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49ABAD77-0579-8C97-0924-B82B1E86619E}"/>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652AE807-CBDF-6593-6824-9EFC56B75EC5}"/>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3E2A93B4-9D03-C266-F948-FF7670A0DD97}"/>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67C8085B-6300-D0D6-BB37-33C48E71F6DC}"/>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954B4212-86F2-1D9D-8D24-E0014C08784C}"/>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6" name="TextBox 135">
            <a:extLst>
              <a:ext uri="{FF2B5EF4-FFF2-40B4-BE49-F238E27FC236}">
                <a16:creationId xmlns:a16="http://schemas.microsoft.com/office/drawing/2014/main" id="{2D632BD2-D231-1DD3-71CA-053B9FE313C2}"/>
              </a:ext>
            </a:extLst>
          </p:cNvPr>
          <p:cNvSpPr txBox="1"/>
          <p:nvPr/>
        </p:nvSpPr>
        <p:spPr>
          <a:xfrm>
            <a:off x="5285472" y="2864494"/>
            <a:ext cx="80310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 of apps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for PaaS</a:t>
            </a:r>
          </a:p>
        </p:txBody>
      </p:sp>
      <p:sp>
        <p:nvSpPr>
          <p:cNvPr id="137" name="TextBox 136">
            <a:extLst>
              <a:ext uri="{FF2B5EF4-FFF2-40B4-BE49-F238E27FC236}">
                <a16:creationId xmlns:a16="http://schemas.microsoft.com/office/drawing/2014/main" id="{5F9B59AD-F134-B9F6-0D36-AFA4219733A6}"/>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D38C14E3-56CB-497B-C35C-9B416EA8182A}"/>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1B3F1781-C492-12BB-DE6E-CAED89C22ECD}"/>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449C9795-1468-7E08-149A-944952CD7E94}"/>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90C11B68-2470-D4B7-6D54-A2B46E3A1212}"/>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4872EFD5-7F4F-A043-DAE7-084067E85AE7}"/>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02F7CB3E-C1E4-05A7-015F-D81FCFEB69DA}"/>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58B57335-2B92-8BE3-0A36-FD436547EEE5}"/>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717C56A2-9C38-FDA5-141D-F545CDEAB4EA}"/>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0F18A235-1E16-8C71-8979-B2C119B2CD45}"/>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982066D7-DED8-E36D-496C-F7EA579E915F}"/>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E12202DE-DC5F-28E1-54BC-98657E287136}"/>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891BD791-BC8F-1550-3DDA-BF91868CB95C}"/>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CD0DCD3B-7ABB-10F2-31FE-AE36079C963E}"/>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6" name="TextBox 5">
            <a:extLst>
              <a:ext uri="{FF2B5EF4-FFF2-40B4-BE49-F238E27FC236}">
                <a16:creationId xmlns:a16="http://schemas.microsoft.com/office/drawing/2014/main" id="{A302AC6F-989B-E26D-EB62-508C1FA316BA}"/>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7" name="TextBox 6">
            <a:extLst>
              <a:ext uri="{FF2B5EF4-FFF2-40B4-BE49-F238E27FC236}">
                <a16:creationId xmlns:a16="http://schemas.microsoft.com/office/drawing/2014/main" id="{C841DBF8-78E5-B663-1B37-08F3C495AC0C}"/>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8" name="Oval 7">
            <a:extLst>
              <a:ext uri="{FF2B5EF4-FFF2-40B4-BE49-F238E27FC236}">
                <a16:creationId xmlns:a16="http://schemas.microsoft.com/office/drawing/2014/main" id="{0AEFB7E1-FA17-B83C-34AA-EA6234E979B1}"/>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367C3D03-E8A2-02D7-2880-DFC7FA357ADF}"/>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FC38158C-C74A-6EFF-D27A-08D94D7D3470}"/>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09B009F3-70AF-DDF1-F2A7-6F370CB54450}"/>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568D99BF-74AE-D394-4C81-C8BF8418995C}"/>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439AA60C-2109-B78C-653A-BEB1E5772A9C}"/>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051F9105-5F38-0765-4EF5-D510718B35C7}"/>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4459EAC5-1912-190A-7BDA-DB98D880D367}"/>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9" name="Title 61">
            <a:extLst>
              <a:ext uri="{FF2B5EF4-FFF2-40B4-BE49-F238E27FC236}">
                <a16:creationId xmlns:a16="http://schemas.microsoft.com/office/drawing/2014/main" id="{8979DA7B-ADEB-EBB9-9AB5-6EF5361483C4}"/>
              </a:ext>
            </a:extLst>
          </p:cNvPr>
          <p:cNvSpPr txBox="1">
            <a:spLocks/>
          </p:cNvSpPr>
          <p:nvPr/>
        </p:nvSpPr>
        <p:spPr>
          <a:xfrm>
            <a:off x="419100" y="419100"/>
            <a:ext cx="3162300" cy="1477328"/>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App Modernization </a:t>
            </a:r>
          </a:p>
        </p:txBody>
      </p:sp>
      <p:sp>
        <p:nvSpPr>
          <p:cNvPr id="13" name="TextBox 12">
            <a:extLst>
              <a:ext uri="{FF2B5EF4-FFF2-40B4-BE49-F238E27FC236}">
                <a16:creationId xmlns:a16="http://schemas.microsoft.com/office/drawing/2014/main" id="{B490B516-F4A3-EE62-05A1-7B79B9C8013E}"/>
              </a:ext>
            </a:extLst>
          </p:cNvPr>
          <p:cNvSpPr txBox="1"/>
          <p:nvPr/>
        </p:nvSpPr>
        <p:spPr>
          <a:xfrm>
            <a:off x="413961" y="2478532"/>
            <a:ext cx="3162300" cy="677108"/>
          </a:xfrm>
          <a:prstGeom prst="rect">
            <a:avLst/>
          </a:prstGeom>
          <a:noFill/>
        </p:spPr>
        <p:txBody>
          <a:bodyPr wrap="square" lIns="0" tIns="0" rIns="0" bIns="0">
            <a:noAutofit/>
          </a:bodyPr>
          <a:lstStyle/>
          <a:p>
            <a:r>
              <a:rPr lang="en-US" sz="2200" noProof="0" dirty="0">
                <a:solidFill>
                  <a:schemeClr val="bg1"/>
                </a:solidFill>
                <a:latin typeface="+mj-lt"/>
              </a:rPr>
              <a:t>App Modernization Using Agentic AI</a:t>
            </a:r>
          </a:p>
        </p:txBody>
      </p:sp>
      <p:sp>
        <p:nvSpPr>
          <p:cNvPr id="17" name="TextBox 16">
            <a:extLst>
              <a:ext uri="{FF2B5EF4-FFF2-40B4-BE49-F238E27FC236}">
                <a16:creationId xmlns:a16="http://schemas.microsoft.com/office/drawing/2014/main" id="{2EB125A3-C0BD-48E9-522C-43A90F5F4296}"/>
              </a:ext>
            </a:extLst>
          </p:cNvPr>
          <p:cNvSpPr txBox="1"/>
          <p:nvPr/>
        </p:nvSpPr>
        <p:spPr>
          <a:xfrm>
            <a:off x="5366415" y="2187239"/>
            <a:ext cx="1319272"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Post-migration services</a:t>
            </a:r>
            <a:br>
              <a:rPr kumimoji="0" lang="en-US" sz="1000" b="0" i="0" u="none" strike="noStrike" kern="1200" cap="none" spc="0" normalizeH="0" baseline="0" noProof="0" dirty="0">
                <a:ln>
                  <a:noFill/>
                </a:ln>
                <a:effectLst/>
                <a:uLnTx/>
                <a:uFillTx/>
              </a:rPr>
            </a:br>
            <a:r>
              <a:rPr kumimoji="0" lang="en-US" sz="1000" b="0" i="0" u="none" strike="noStrike" kern="1200" cap="none" spc="0" normalizeH="0" baseline="0" noProof="0" dirty="0">
                <a:ln>
                  <a:noFill/>
                </a:ln>
                <a:effectLst/>
                <a:uLnTx/>
                <a:uFillTx/>
              </a:rPr>
              <a:t>and support</a:t>
            </a:r>
          </a:p>
        </p:txBody>
      </p:sp>
      <p:sp>
        <p:nvSpPr>
          <p:cNvPr id="21" name="Oval 20">
            <a:extLst>
              <a:ext uri="{FF2B5EF4-FFF2-40B4-BE49-F238E27FC236}">
                <a16:creationId xmlns:a16="http://schemas.microsoft.com/office/drawing/2014/main" id="{5D385B9B-8E46-D68F-336F-64C35043739E}"/>
              </a:ext>
            </a:extLst>
          </p:cNvPr>
          <p:cNvSpPr>
            <a:spLocks noChangeAspect="1"/>
          </p:cNvSpPr>
          <p:nvPr/>
        </p:nvSpPr>
        <p:spPr>
          <a:xfrm>
            <a:off x="6805037" y="2282984"/>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4" name="TextBox 23">
            <a:extLst>
              <a:ext uri="{FF2B5EF4-FFF2-40B4-BE49-F238E27FC236}">
                <a16:creationId xmlns:a16="http://schemas.microsoft.com/office/drawing/2014/main" id="{077192AA-C749-42B4-E77F-F68883B78B95}"/>
              </a:ext>
            </a:extLst>
          </p:cNvPr>
          <p:cNvSpPr txBox="1"/>
          <p:nvPr/>
        </p:nvSpPr>
        <p:spPr>
          <a:xfrm>
            <a:off x="6527603" y="620798"/>
            <a:ext cx="1508798" cy="307777"/>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Apps list and wave planning/orchestration</a:t>
            </a:r>
          </a:p>
        </p:txBody>
      </p:sp>
      <p:sp>
        <p:nvSpPr>
          <p:cNvPr id="27" name="TextBox 26">
            <a:extLst>
              <a:ext uri="{FF2B5EF4-FFF2-40B4-BE49-F238E27FC236}">
                <a16:creationId xmlns:a16="http://schemas.microsoft.com/office/drawing/2014/main" id="{93BB38B7-22BC-73AA-1455-408323698C48}"/>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29" name="TextBox 28">
            <a:extLst>
              <a:ext uri="{FF2B5EF4-FFF2-40B4-BE49-F238E27FC236}">
                <a16:creationId xmlns:a16="http://schemas.microsoft.com/office/drawing/2014/main" id="{F76FCBDF-034B-EC99-1144-AA79005A3A3F}"/>
              </a:ext>
            </a:extLst>
          </p:cNvPr>
          <p:cNvSpPr txBox="1"/>
          <p:nvPr/>
        </p:nvSpPr>
        <p:spPr>
          <a:xfrm>
            <a:off x="9081201" y="5390255"/>
            <a:ext cx="1686359"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Application migration to PaaS</a:t>
            </a:r>
          </a:p>
        </p:txBody>
      </p:sp>
      <p:sp>
        <p:nvSpPr>
          <p:cNvPr id="31" name="TextBox 30">
            <a:extLst>
              <a:ext uri="{FF2B5EF4-FFF2-40B4-BE49-F238E27FC236}">
                <a16:creationId xmlns:a16="http://schemas.microsoft.com/office/drawing/2014/main" id="{7EC21D5D-AC14-4DFD-B1AD-53ABA5E1E97B}"/>
              </a:ext>
              <a:ext uri="{C183D7F6-B498-43B3-948B-1728B52AA6E4}">
                <adec:decorative xmlns:adec="http://schemas.microsoft.com/office/drawing/2017/decorative" val="1"/>
              </a:ext>
            </a:extLst>
          </p:cNvPr>
          <p:cNvSpPr txBox="1"/>
          <p:nvPr/>
        </p:nvSpPr>
        <p:spPr>
          <a:xfrm>
            <a:off x="7822895" y="5243398"/>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lgn="l">
              <a:defRPr/>
            </a:pPr>
            <a:r>
              <a:rPr lang="en-US" sz="1000" noProof="0" dirty="0"/>
              <a:t>Dev-test-deploy</a:t>
            </a:r>
          </a:p>
          <a:p>
            <a:pPr lvl="0" algn="l">
              <a:defRPr/>
            </a:pPr>
            <a:r>
              <a:rPr lang="en-US" sz="1000" noProof="0" dirty="0"/>
              <a:t>scoped workloads</a:t>
            </a:r>
          </a:p>
        </p:txBody>
      </p:sp>
    </p:spTree>
    <p:extLst>
      <p:ext uri="{BB962C8B-B14F-4D97-AF65-F5344CB8AC3E}">
        <p14:creationId xmlns:p14="http://schemas.microsoft.com/office/powerpoint/2010/main" val="204826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6464-9AF7-EA9C-136A-D77646B7568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002107A-3351-97B8-0455-EF6AFAD5C16C}"/>
              </a:ext>
            </a:extLst>
          </p:cNvPr>
          <p:cNvSpPr>
            <a:spLocks noGrp="1"/>
          </p:cNvSpPr>
          <p:nvPr>
            <p:ph type="title"/>
          </p:nvPr>
        </p:nvSpPr>
        <p:spPr>
          <a:xfrm>
            <a:off x="585788" y="2300715"/>
            <a:ext cx="9144000" cy="1231106"/>
          </a:xfrm>
        </p:spPr>
        <p:txBody>
          <a:bodyPr/>
          <a:lstStyle/>
          <a:p>
            <a:r>
              <a:rPr lang="en-US" sz="4400"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12" name="TextBox 11">
            <a:extLst>
              <a:ext uri="{FF2B5EF4-FFF2-40B4-BE49-F238E27FC236}">
                <a16:creationId xmlns:a16="http://schemas.microsoft.com/office/drawing/2014/main" id="{2C1A8401-75E0-F7F5-29D3-EE22FA2E7112}"/>
              </a:ext>
            </a:extLst>
          </p:cNvPr>
          <p:cNvSpPr txBox="1"/>
          <p:nvPr/>
        </p:nvSpPr>
        <p:spPr>
          <a:xfrm>
            <a:off x="584198" y="4099770"/>
            <a:ext cx="10459938" cy="40757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defRPr sz="1200">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b="1" noProof="0" dirty="0"/>
              <a:t>SQL Server, PostgreSQL, MySQL, Azure DocumentDB, MongoDB ATLAS, Cassandra and MariaDB </a:t>
            </a:r>
          </a:p>
        </p:txBody>
      </p:sp>
      <p:sp>
        <p:nvSpPr>
          <p:cNvPr id="9" name="TextBox 8">
            <a:extLst>
              <a:ext uri="{FF2B5EF4-FFF2-40B4-BE49-F238E27FC236}">
                <a16:creationId xmlns:a16="http://schemas.microsoft.com/office/drawing/2014/main" id="{01B1F5D9-23C6-1ED2-DEA0-E3C50A1A67E5}"/>
              </a:ext>
            </a:extLst>
          </p:cNvPr>
          <p:cNvSpPr txBox="1"/>
          <p:nvPr/>
        </p:nvSpPr>
        <p:spPr>
          <a:xfrm>
            <a:off x="9233457" y="22919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3" name="Image 10" descr="Home (outlined)">
            <a:hlinkClick r:id="rId3" action="ppaction://hlinksldjump" tooltip="Home"/>
            <a:extLst>
              <a:ext uri="{FF2B5EF4-FFF2-40B4-BE49-F238E27FC236}">
                <a16:creationId xmlns:a16="http://schemas.microsoft.com/office/drawing/2014/main" id="{BF806867-1B63-B4B1-CC0F-273338700C79}"/>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4730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 presetClass="emph" presetSubtype="0" fill="hold" grpId="1" nodeType="withEffect">
                                  <p:stCondLst>
                                    <p:cond delay="0"/>
                                  </p:stCondLst>
                                  <p:childTnLst>
                                    <p:animScale>
                                      <p:cBhvr>
                                        <p:cTn id="9" dur="100" fill="hold"/>
                                        <p:tgtEl>
                                          <p:spTgt spid="1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2"/>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6" presetClass="emph" presetSubtype="0" fill="hold" grpId="1" nodeType="withEffect">
                                  <p:stCondLst>
                                    <p:cond delay="0"/>
                                  </p:stCondLst>
                                  <p:childTnLst>
                                    <p:animScale>
                                      <p:cBhvr>
                                        <p:cTn id="16" dur="100" fill="hold"/>
                                        <p:tgtEl>
                                          <p:spTgt spid="9"/>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9"/>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animBg="1"/>
      <p:bldP spid="9" grpId="0" animBg="1"/>
      <p:bldP spid="9" grpId="1" animBg="1"/>
      <p:bldP spid="9" grpId="2"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015AB-65E1-72EB-6F1B-A891D0110E84}"/>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33AA4F61-972D-B39B-6D6B-5E113F7EA474}"/>
              </a:ext>
            </a:extLst>
          </p:cNvPr>
          <p:cNvSpPr>
            <a:spLocks noGrp="1"/>
          </p:cNvSpPr>
          <p:nvPr>
            <p:ph type="title"/>
          </p:nvPr>
        </p:nvSpPr>
        <p:spPr>
          <a:xfrm>
            <a:off x="616900" y="140309"/>
            <a:ext cx="6714237" cy="785140"/>
          </a:xfrm>
        </p:spPr>
        <p:txBody>
          <a:bodyPr>
            <a:noAutofit/>
          </a:bodyPr>
          <a:lstStyle/>
          <a:p>
            <a:r>
              <a:rPr lang="en-US" sz="2800" noProof="0" dirty="0"/>
              <a:t>Database Migration</a:t>
            </a:r>
            <a:br>
              <a:rPr lang="en-US" sz="2400" noProof="0" dirty="0"/>
            </a:br>
            <a:r>
              <a:rPr lang="en-US" sz="1800" noProof="0" dirty="0">
                <a:solidFill>
                  <a:schemeClr val="tx1"/>
                </a:solidFill>
              </a:rPr>
              <a:t>Database Workloads</a:t>
            </a:r>
          </a:p>
        </p:txBody>
      </p:sp>
      <p:sp>
        <p:nvSpPr>
          <p:cNvPr id="25" name="TextBox 24">
            <a:extLst>
              <a:ext uri="{FF2B5EF4-FFF2-40B4-BE49-F238E27FC236}">
                <a16:creationId xmlns:a16="http://schemas.microsoft.com/office/drawing/2014/main" id="{3887F785-3A56-601F-BE84-0A165F3DD793}"/>
              </a:ext>
            </a:extLst>
          </p:cNvPr>
          <p:cNvSpPr txBox="1">
            <a:spLocks/>
          </p:cNvSpPr>
          <p:nvPr/>
        </p:nvSpPr>
        <p:spPr>
          <a:xfrm>
            <a:off x="570242" y="1143600"/>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6" name="TextBox 25">
            <a:extLst>
              <a:ext uri="{FF2B5EF4-FFF2-40B4-BE49-F238E27FC236}">
                <a16:creationId xmlns:a16="http://schemas.microsoft.com/office/drawing/2014/main" id="{349E3BBE-E39D-8A0D-3F27-2A6B4505EBB6}"/>
              </a:ext>
            </a:extLst>
          </p:cNvPr>
          <p:cNvSpPr txBox="1">
            <a:spLocks/>
          </p:cNvSpPr>
          <p:nvPr/>
        </p:nvSpPr>
        <p:spPr>
          <a:xfrm>
            <a:off x="6137946" y="1131085"/>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cxnSp>
        <p:nvCxnSpPr>
          <p:cNvPr id="9" name="Straight Connector 8">
            <a:extLst>
              <a:ext uri="{FF2B5EF4-FFF2-40B4-BE49-F238E27FC236}">
                <a16:creationId xmlns:a16="http://schemas.microsoft.com/office/drawing/2014/main" id="{B28110CE-3D77-BF83-737A-E90CE3A5918C}"/>
              </a:ext>
              <a:ext uri="{C183D7F6-B498-43B3-948B-1728B52AA6E4}">
                <adec:decorative xmlns:adec="http://schemas.microsoft.com/office/drawing/2017/decorative" val="1"/>
              </a:ext>
            </a:extLst>
          </p:cNvPr>
          <p:cNvCxnSpPr>
            <a:cxnSpLocks/>
          </p:cNvCxnSpPr>
          <p:nvPr/>
        </p:nvCxnSpPr>
        <p:spPr>
          <a:xfrm>
            <a:off x="933469" y="3534787"/>
            <a:ext cx="4937760"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0F90340-7162-825F-52E0-09C56A91931C}"/>
              </a:ext>
            </a:extLst>
          </p:cNvPr>
          <p:cNvSpPr txBox="1"/>
          <p:nvPr/>
        </p:nvSpPr>
        <p:spPr>
          <a:xfrm>
            <a:off x="933469" y="1672739"/>
            <a:ext cx="4937760" cy="186204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Semibold" pitchFamily="2" charset="0"/>
                <a:ea typeface="+mn-ea"/>
                <a:cs typeface="+mn-cs"/>
              </a:rPr>
              <a:t>Factory Scope</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Determine in-scope databases; verify source DB version; confirm compatibility list and migration path; </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Segoe Sans Text" pitchFamily="2" charset="0"/>
              </a:rPr>
              <a:t>Leverage Azure Migrate, Visual Studio Code, and Data Migration Services for assessment; conduct feasibility checks via Microsoft IP/scripts</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Segoe Sans Text" pitchFamily="2" charset="0"/>
              </a:rPr>
              <a:t>Define target environment sizing; Validate prerequisites; confirm Landing Zone details (subscription, resource group, IP segments); provision Azure resources</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Segoe Sans Text" pitchFamily="2" charset="0"/>
              </a:rPr>
              <a:t>Migrate databases from source to Azure Cloud via Azure Migrate, Visual Studio Code, and Data Migration Services | Migrations with near-zero code changes</a:t>
            </a:r>
          </a:p>
          <a:p>
            <a:pPr marL="241300" lvl="1" indent="-133350">
              <a:spcAft>
                <a:spcPts val="200"/>
              </a:spcAft>
              <a:buFont typeface="Arial" panose="020B0604020202020204" pitchFamily="34" charset="0"/>
              <a:buChar char="•"/>
              <a:defRPr/>
            </a:pPr>
            <a:r>
              <a:rPr lang="en-US" sz="800" kern="0" noProof="0" dirty="0">
                <a:solidFill>
                  <a:srgbClr val="000000"/>
                </a:solidFill>
              </a:rPr>
              <a:t>Set up target environments as per design</a:t>
            </a:r>
          </a:p>
          <a:p>
            <a:pPr marL="241300" lvl="1" indent="-133350">
              <a:spcAft>
                <a:spcPts val="200"/>
              </a:spcAft>
              <a:buFont typeface="Arial" panose="020B0604020202020204" pitchFamily="34" charset="0"/>
              <a:buChar char="•"/>
              <a:defRPr/>
            </a:pPr>
            <a:r>
              <a:rPr lang="en-US" sz="800" noProof="0" dirty="0">
                <a:solidFill>
                  <a:srgbClr val="000000"/>
                </a:solidFill>
              </a:rPr>
              <a:t>Execute database migrations using 1P tools and supported approaches</a:t>
            </a:r>
          </a:p>
          <a:p>
            <a:pPr marL="241300" lvl="1" indent="-133350">
              <a:spcAft>
                <a:spcPts val="200"/>
              </a:spcAft>
              <a:buFont typeface="Arial" panose="020B0604020202020204" pitchFamily="34" charset="0"/>
              <a:buChar char="•"/>
              <a:defRPr/>
            </a:pPr>
            <a:r>
              <a:rPr lang="en-US" sz="800" noProof="0" dirty="0">
                <a:solidFill>
                  <a:srgbClr val="000000"/>
                </a:solidFill>
              </a:rPr>
              <a:t>Database Migration validation</a:t>
            </a:r>
          </a:p>
          <a:p>
            <a:pPr marL="241300" lvl="1" indent="-133350">
              <a:spcAft>
                <a:spcPts val="200"/>
              </a:spcAft>
              <a:buFont typeface="Arial" panose="020B0604020202020204" pitchFamily="34" charset="0"/>
              <a:buChar char="•"/>
              <a:defRPr/>
            </a:pPr>
            <a:endParaRPr lang="en-US" sz="800" kern="0" noProof="0" dirty="0">
              <a:solidFill>
                <a:srgbClr val="000000"/>
              </a:solidFill>
            </a:endParaRP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800" b="0" i="0" u="none" strike="noStrike" kern="0" cap="none" spc="0" normalizeH="0" baseline="0" noProof="0" dirty="0">
              <a:ln>
                <a:noFill/>
              </a:ln>
              <a:solidFill>
                <a:srgbClr val="000000"/>
              </a:solidFill>
              <a:effectLst/>
              <a:uLnTx/>
              <a:uFillTx/>
              <a:latin typeface="Segoe Sans Text"/>
              <a:ea typeface="+mn-ea"/>
              <a:cs typeface="Segoe Sans Text" pitchFamily="2" charset="0"/>
            </a:endParaRPr>
          </a:p>
        </p:txBody>
      </p:sp>
      <p:sp>
        <p:nvSpPr>
          <p:cNvPr id="15" name="TextBox 14">
            <a:extLst>
              <a:ext uri="{FF2B5EF4-FFF2-40B4-BE49-F238E27FC236}">
                <a16:creationId xmlns:a16="http://schemas.microsoft.com/office/drawing/2014/main" id="{2423508C-15A3-6B1A-6A06-717C8447F6E1}"/>
              </a:ext>
            </a:extLst>
          </p:cNvPr>
          <p:cNvSpPr txBox="1"/>
          <p:nvPr/>
        </p:nvSpPr>
        <p:spPr>
          <a:xfrm>
            <a:off x="933469" y="3659097"/>
            <a:ext cx="4937760" cy="1912575"/>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Semibold" pitchFamily="2" charset="0"/>
                <a:ea typeface="+mn-ea"/>
                <a:cs typeface="+mn-cs"/>
              </a:rPr>
              <a:t>Supported Migration Paths: (</a:t>
            </a:r>
            <a:r>
              <a:rPr kumimoji="0" lang="en-US" sz="800" b="0" i="0" u="none" strike="noStrike" kern="0" cap="none" spc="0" normalizeH="0" baseline="0" noProof="0" dirty="0">
                <a:ln>
                  <a:noFill/>
                </a:ln>
                <a:solidFill>
                  <a:srgbClr val="000000"/>
                </a:solidFill>
                <a:effectLst/>
                <a:uLnTx/>
                <a:uFillTx/>
                <a:latin typeface="Segoe Sans Text Semibold" pitchFamily="2" charset="0"/>
                <a:ea typeface="+mn-ea"/>
                <a:cs typeface="+mn-cs"/>
              </a:rPr>
              <a:t>refer service catalog slide for details</a:t>
            </a:r>
            <a:r>
              <a:rPr kumimoji="0" lang="en-US" sz="1000" b="1" i="0" u="none" strike="noStrike" kern="0" cap="none" spc="0" normalizeH="0" baseline="0" noProof="0" dirty="0">
                <a:ln>
                  <a:noFill/>
                </a:ln>
                <a:solidFill>
                  <a:srgbClr val="000000"/>
                </a:solidFill>
                <a:effectLst/>
                <a:uLnTx/>
                <a:uFillTx/>
                <a:latin typeface="Segoe Sans Text Semibold" pitchFamily="2" charset="0"/>
                <a:ea typeface="+mn-ea"/>
                <a:cs typeface="+mn-cs"/>
              </a:rPr>
              <a:t>)</a:t>
            </a:r>
          </a:p>
          <a:p>
            <a:pPr marL="171450" indent="-171450">
              <a:lnSpc>
                <a:spcPct val="110000"/>
              </a:lnSpc>
              <a:buFont typeface="Arial" panose="020B0604020202020204" pitchFamily="34" charset="0"/>
              <a:buChar char="•"/>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On-premise SQL, AWS </a:t>
            </a:r>
            <a:r>
              <a:rPr lang="en-US" sz="800" noProof="0" dirty="0">
                <a:solidFill>
                  <a:srgbClr val="000000"/>
                </a:solidFill>
                <a:latin typeface="Segoe Sans Text"/>
              </a:rPr>
              <a:t>RDS</a:t>
            </a:r>
            <a:r>
              <a:rPr kumimoji="0" lang="en-US" sz="800" b="0" i="0" u="none" strike="noStrike" kern="1200" cap="none" spc="0" normalizeH="0" baseline="0" noProof="0" dirty="0">
                <a:ln>
                  <a:noFill/>
                </a:ln>
                <a:solidFill>
                  <a:srgbClr val="000000"/>
                </a:solidFill>
                <a:effectLst/>
                <a:uLnTx/>
                <a:uFillTx/>
                <a:latin typeface="Segoe Sans Text"/>
                <a:ea typeface="+mn-ea"/>
                <a:cs typeface="+mn-cs"/>
              </a:rPr>
              <a:t>, Cloud SQL</a:t>
            </a:r>
            <a:r>
              <a:rPr lang="en-US" sz="800" noProof="0" dirty="0">
                <a:solidFill>
                  <a:srgbClr val="000000"/>
                </a:solidFill>
                <a:latin typeface="Segoe Sans Text"/>
              </a:rPr>
              <a:t>, SQL on AWS EC2, SQL on GCP compute</a:t>
            </a:r>
            <a:r>
              <a:rPr kumimoji="0" lang="en-US" sz="800" b="0" i="0" u="none" strike="noStrike" kern="1200" cap="none" spc="0" normalizeH="0" baseline="0" noProof="0" dirty="0">
                <a:ln>
                  <a:noFill/>
                </a:ln>
                <a:solidFill>
                  <a:srgbClr val="000000"/>
                </a:solidFill>
                <a:effectLst/>
                <a:uLnTx/>
                <a:uFillTx/>
                <a:latin typeface="Segoe Sans Text"/>
                <a:ea typeface="+mn-ea"/>
                <a:cs typeface="+mn-cs"/>
              </a:rPr>
              <a:t> </a:t>
            </a:r>
            <a:r>
              <a:rPr lang="en-US" sz="800" noProof="0" dirty="0">
                <a:solidFill>
                  <a:srgbClr val="000000"/>
                </a:solidFill>
                <a:latin typeface="Segoe Sans Text"/>
              </a:rPr>
              <a:t>engine </a:t>
            </a:r>
            <a:r>
              <a:rPr kumimoji="0" lang="en-US" sz="800" b="0" i="0" u="none" strike="noStrike" kern="1200" cap="none" spc="0" normalizeH="0" baseline="0" noProof="0" dirty="0">
                <a:ln>
                  <a:noFill/>
                </a:ln>
                <a:solidFill>
                  <a:srgbClr val="000000"/>
                </a:solidFill>
                <a:effectLst/>
                <a:uLnTx/>
                <a:uFillTx/>
                <a:latin typeface="Segoe Sans Text"/>
                <a:ea typeface="+mn-ea"/>
                <a:cs typeface="+mn-cs"/>
              </a:rPr>
              <a:t>to Azure SQL VM, SQL DB, SQL MI</a:t>
            </a:r>
          </a:p>
          <a:p>
            <a:pPr marL="171450" indent="-171450">
              <a:lnSpc>
                <a:spcPct val="110000"/>
              </a:lnSpc>
              <a:buFont typeface="Arial" panose="020B0604020202020204" pitchFamily="34" charset="0"/>
              <a:buChar char="•"/>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On-premise/AWS</a:t>
            </a:r>
            <a:r>
              <a:rPr lang="en-US" sz="800" noProof="0" dirty="0">
                <a:solidFill>
                  <a:srgbClr val="000000"/>
                </a:solidFill>
                <a:latin typeface="Segoe Sans Text"/>
              </a:rPr>
              <a:t> RDS</a:t>
            </a:r>
            <a:r>
              <a:rPr kumimoji="0" lang="en-US" sz="800" b="0" i="0" u="none" strike="noStrike" kern="1200" cap="none" spc="0" normalizeH="0" baseline="0" noProof="0" dirty="0">
                <a:ln>
                  <a:noFill/>
                </a:ln>
                <a:solidFill>
                  <a:srgbClr val="000000"/>
                </a:solidFill>
                <a:effectLst/>
                <a:uLnTx/>
                <a:uFillTx/>
                <a:latin typeface="Segoe Sans Text"/>
                <a:ea typeface="+mn-ea"/>
                <a:cs typeface="+mn-cs"/>
              </a:rPr>
              <a:t>/Cloud PostgreSQL to Azure PostgreSQL</a:t>
            </a:r>
          </a:p>
          <a:p>
            <a:pPr marL="171450" indent="-171450">
              <a:lnSpc>
                <a:spcPct val="110000"/>
              </a:lnSpc>
              <a:buFont typeface="Arial" panose="020B0604020202020204" pitchFamily="34" charset="0"/>
              <a:buChar char="•"/>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On-premise/AWS</a:t>
            </a:r>
            <a:r>
              <a:rPr lang="en-US" sz="800" noProof="0" dirty="0">
                <a:solidFill>
                  <a:srgbClr val="000000"/>
                </a:solidFill>
                <a:latin typeface="Segoe Sans Text"/>
              </a:rPr>
              <a:t> RDS</a:t>
            </a:r>
            <a:r>
              <a:rPr kumimoji="0" lang="en-US" sz="800" b="0" i="0" u="none" strike="noStrike" kern="1200" cap="none" spc="0" normalizeH="0" baseline="0" noProof="0" dirty="0">
                <a:ln>
                  <a:noFill/>
                </a:ln>
                <a:solidFill>
                  <a:srgbClr val="000000"/>
                </a:solidFill>
                <a:effectLst/>
                <a:uLnTx/>
                <a:uFillTx/>
                <a:latin typeface="Segoe Sans Text"/>
                <a:ea typeface="+mn-ea"/>
                <a:cs typeface="+mn-cs"/>
              </a:rPr>
              <a:t>/Cloud MySQL, MariaDB to Azure MySQL</a:t>
            </a:r>
          </a:p>
          <a:p>
            <a:pPr marL="171450" indent="-171450">
              <a:buFont typeface="Arial" panose="020B0604020202020204" pitchFamily="34" charset="0"/>
              <a:buChar char="•"/>
              <a:defRPr/>
            </a:pPr>
            <a:r>
              <a:rPr lang="en-US" sz="800" noProof="0" dirty="0"/>
              <a:t>Cassandra to Azure Managed Instance for Apache Cassandra </a:t>
            </a:r>
            <a:endParaRPr lang="en-US" sz="800" noProof="0" dirty="0">
              <a:cs typeface="Segoe Sans Text"/>
            </a:endParaRPr>
          </a:p>
          <a:p>
            <a:pPr marL="171450" indent="-171450">
              <a:buFont typeface="Arial" panose="020B0604020202020204" pitchFamily="34" charset="0"/>
              <a:buChar char="•"/>
              <a:defRPr/>
            </a:pPr>
            <a:r>
              <a:rPr lang="en-US" sz="800" noProof="0" dirty="0"/>
              <a:t>MongoDB (EA, Community, Compete Cloud) to Azure DocumentDB / MongoDB Atlas on Azure </a:t>
            </a:r>
            <a:endParaRPr lang="en-US" sz="800" noProof="0" dirty="0">
              <a:cs typeface="Segoe Sans Text"/>
            </a:endParaRPr>
          </a:p>
          <a:p>
            <a:pPr marL="171450" indent="-171450">
              <a:buFont typeface="Arial" panose="020B0604020202020204" pitchFamily="34" charset="0"/>
              <a:buChar char="•"/>
              <a:defRPr/>
            </a:pPr>
            <a:r>
              <a:rPr lang="en-US" sz="800" noProof="0" dirty="0"/>
              <a:t>AWS DocumentDB to Azure DocumentDB</a:t>
            </a:r>
            <a:endParaRPr kumimoji="0" lang="en-US" sz="800" b="0" i="0" u="none" strike="noStrike" kern="120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Semibold" pitchFamily="2" charset="0"/>
                <a:ea typeface="+mn-ea"/>
                <a:cs typeface="+mn-cs"/>
              </a:rPr>
              <a:t>Heterogeneous Database Migrations</a:t>
            </a:r>
          </a:p>
          <a:p>
            <a:pPr marL="171450" indent="-171450">
              <a:lnSpc>
                <a:spcPct val="110000"/>
              </a:lnSpc>
              <a:buFont typeface="Arial" panose="020B0604020202020204" pitchFamily="34" charset="0"/>
              <a:buChar char="•"/>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Oracle DB (on-premise/AWS/GCP) to</a:t>
            </a:r>
            <a:r>
              <a:rPr lang="en-US" sz="800" noProof="0" dirty="0">
                <a:solidFill>
                  <a:srgbClr val="000000"/>
                </a:solidFill>
                <a:latin typeface="Segoe Sans Text"/>
              </a:rPr>
              <a:t> </a:t>
            </a:r>
            <a:r>
              <a:rPr lang="en-US" sz="800" noProof="0" dirty="0">
                <a:solidFill>
                  <a:srgbClr val="000000"/>
                </a:solidFill>
                <a:ea typeface="+mn-lt"/>
                <a:cs typeface="+mn-lt"/>
              </a:rPr>
              <a:t>Azure SQL Database/</a:t>
            </a:r>
            <a:r>
              <a:rPr kumimoji="0" lang="en-US" sz="800" b="0" i="0" u="none" strike="noStrike" kern="1200" cap="none" spc="0" normalizeH="0" baseline="0" noProof="0" dirty="0">
                <a:ln>
                  <a:noFill/>
                </a:ln>
                <a:solidFill>
                  <a:srgbClr val="000000"/>
                </a:solidFill>
                <a:effectLst/>
                <a:uLnTx/>
                <a:uFillTx/>
                <a:ea typeface="+mn-lt"/>
                <a:cs typeface="+mn-lt"/>
              </a:rPr>
              <a:t>Azure SQL </a:t>
            </a:r>
            <a:r>
              <a:rPr lang="en-US" sz="800" noProof="0" dirty="0">
                <a:solidFill>
                  <a:srgbClr val="000000"/>
                </a:solidFill>
                <a:ea typeface="+mn-lt"/>
                <a:cs typeface="+mn-lt"/>
              </a:rPr>
              <a:t>MI</a:t>
            </a:r>
            <a:r>
              <a:rPr kumimoji="0" lang="en-US" sz="800" b="0" i="0" u="none" strike="noStrike" kern="1200" cap="none" spc="0" normalizeH="0" baseline="0" noProof="0" dirty="0">
                <a:ln>
                  <a:noFill/>
                </a:ln>
                <a:solidFill>
                  <a:srgbClr val="000000"/>
                </a:solidFill>
                <a:effectLst/>
                <a:uLnTx/>
                <a:uFillTx/>
                <a:latin typeface="Segoe Sans Text"/>
                <a:ea typeface="+mn-ea"/>
                <a:cs typeface="+mn-cs"/>
              </a:rPr>
              <a: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Oracle to Azure Database for PostgreSQL (AI Assisted)</a:t>
            </a:r>
          </a:p>
          <a:p>
            <a:pPr marL="171450" indent="-171450">
              <a:lnSpc>
                <a:spcPct val="110000"/>
              </a:lnSpc>
              <a:buFont typeface="Arial" panose="020B0604020202020204" pitchFamily="34" charset="0"/>
              <a:buChar char="•"/>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SAP Sybase ASE to </a:t>
            </a:r>
            <a:r>
              <a:rPr kumimoji="0" lang="en-US" sz="800" b="0" i="0" u="none" strike="noStrike" kern="1200" cap="none" spc="0" normalizeH="0" baseline="0" noProof="0" dirty="0">
                <a:ln>
                  <a:noFill/>
                </a:ln>
                <a:solidFill>
                  <a:srgbClr val="000000"/>
                </a:solidFill>
                <a:effectLst/>
                <a:uLnTx/>
                <a:uFillTx/>
                <a:ea typeface="+mn-lt"/>
                <a:cs typeface="+mn-lt"/>
              </a:rPr>
              <a:t>Azure SQL</a:t>
            </a:r>
            <a:r>
              <a:rPr lang="en-US" sz="800" noProof="0" dirty="0">
                <a:solidFill>
                  <a:srgbClr val="000000"/>
                </a:solidFill>
                <a:ea typeface="+mn-lt"/>
                <a:cs typeface="+mn-lt"/>
              </a:rPr>
              <a:t> Database/Azure SQL MI/Azure VM</a:t>
            </a:r>
            <a:endParaRPr lang="en-US" sz="800" b="0" i="0" u="none" strike="noStrike" kern="1200" cap="none" spc="0" normalizeH="0" baseline="0" noProof="0" dirty="0">
              <a:ln>
                <a:noFill/>
              </a:ln>
              <a:solidFill>
                <a:srgbClr val="000000"/>
              </a:solidFill>
              <a:effectLst/>
              <a:uLnTx/>
              <a:uFillTx/>
              <a:ea typeface="+mn-lt"/>
              <a:cs typeface="+mn-lt"/>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20" name="TextBox 19">
            <a:extLst>
              <a:ext uri="{FF2B5EF4-FFF2-40B4-BE49-F238E27FC236}">
                <a16:creationId xmlns:a16="http://schemas.microsoft.com/office/drawing/2014/main" id="{FD3EBA72-8E00-7FA1-DE94-D62704A56F8A}"/>
              </a:ext>
            </a:extLst>
          </p:cNvPr>
          <p:cNvSpPr txBox="1"/>
          <p:nvPr/>
        </p:nvSpPr>
        <p:spPr>
          <a:xfrm>
            <a:off x="6429048" y="1672739"/>
            <a:ext cx="4937760" cy="2636363"/>
          </a:xfrm>
          <a:prstGeom prst="rect">
            <a:avLst/>
          </a:prstGeom>
          <a:noFill/>
        </p:spPr>
        <p:txBody>
          <a:bodyPr wrap="square" lIns="45720" tIns="18288" rIns="45720" bIns="18288">
            <a:spAutoFit/>
          </a:bodyPr>
          <a:lstStyle/>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Perform application dependency testing and functional validation for all database migrations</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Perform source-side upgrades and patches to supported versions before migration</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Own source system changes during engagement</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Pre-migration backups, monitoring, and alerts configuration on the source</a:t>
            </a:r>
          </a:p>
          <a:p>
            <a:pPr marL="171450" lvl="0" indent="-171450">
              <a:lnSpc>
                <a:spcPct val="125000"/>
              </a:lnSpc>
              <a:buFont typeface="Arial" panose="020B0604020202020204" pitchFamily="34" charset="0"/>
              <a:buChar char="•"/>
              <a:defRPr/>
            </a:pPr>
            <a:r>
              <a:rPr lang="en-US" sz="800" noProof="0" dirty="0">
                <a:solidFill>
                  <a:srgbClr val="000000"/>
                </a:solidFill>
              </a:rPr>
              <a:t>Redesign of database or schemas or objects</a:t>
            </a:r>
            <a:endParaRPr kumimoji="0" lang="en-US" sz="8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Perform data archival solution design and implementation</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Conduct HA/DR testing</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Manage third-party tools setup and configuration</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a:ea typeface="+mn-ea"/>
                <a:cs typeface="+mn-cs"/>
              </a:rPr>
              <a:t>Provide architectural design and discussion for HA/DR</a:t>
            </a:r>
          </a:p>
          <a:p>
            <a:pPr marL="171450" indent="-171450">
              <a:lnSpc>
                <a:spcPct val="125000"/>
              </a:lnSpc>
              <a:buFont typeface="Arial" panose="020B0604020202020204" pitchFamily="34" charset="0"/>
              <a:buChar char="•"/>
              <a:defRPr/>
            </a:pPr>
            <a:r>
              <a:rPr lang="en-US" sz="800" noProof="0" dirty="0">
                <a:solidFill>
                  <a:srgbClr val="000000"/>
                </a:solidFill>
              </a:rPr>
              <a:t>Database performance testing, tuning, and validation</a:t>
            </a:r>
          </a:p>
          <a:p>
            <a:pPr marL="171450" indent="-171450">
              <a:lnSpc>
                <a:spcPct val="125000"/>
              </a:lnSpc>
              <a:buFont typeface="Arial" panose="020B0604020202020204" pitchFamily="34" charset="0"/>
              <a:buChar char="•"/>
              <a:defRPr/>
            </a:pPr>
            <a:r>
              <a:rPr lang="en-US" sz="800" noProof="0" dirty="0">
                <a:solidFill>
                  <a:srgbClr val="000000"/>
                </a:solidFill>
              </a:rPr>
              <a:t>SQL to Synapse Analytics, Fabric, or Azure SQL Edge migrations</a:t>
            </a:r>
          </a:p>
          <a:p>
            <a:pPr marL="171450" indent="-171450">
              <a:lnSpc>
                <a:spcPct val="125000"/>
              </a:lnSpc>
              <a:buFont typeface="Arial" panose="020B0604020202020204" pitchFamily="34" charset="0"/>
              <a:buChar char="•"/>
              <a:defRPr/>
            </a:pPr>
            <a:r>
              <a:rPr lang="en-US" sz="800" noProof="0" dirty="0">
                <a:solidFill>
                  <a:srgbClr val="000000"/>
                </a:solidFill>
              </a:rPr>
              <a:t>Cosmos DB (MongoDB API) to Azure DocumentDB migrations</a:t>
            </a:r>
          </a:p>
          <a:p>
            <a:pPr marL="171450" indent="-171450">
              <a:lnSpc>
                <a:spcPct val="125000"/>
              </a:lnSpc>
              <a:buFont typeface="Arial" panose="020B0604020202020204" pitchFamily="34" charset="0"/>
              <a:buChar char="•"/>
              <a:defRPr/>
            </a:pPr>
            <a:r>
              <a:rPr lang="en-US" sz="800" noProof="0" dirty="0">
                <a:solidFill>
                  <a:srgbClr val="000000"/>
                </a:solidFill>
              </a:rPr>
              <a:t>Advisory and consulting services beyond migration execution are not included</a:t>
            </a:r>
          </a:p>
          <a:p>
            <a:pPr marL="171450" indent="-171450">
              <a:lnSpc>
                <a:spcPct val="125000"/>
              </a:lnSpc>
              <a:buFont typeface="Arial" panose="020B0604020202020204" pitchFamily="34" charset="0"/>
              <a:buChar char="•"/>
              <a:defRPr/>
            </a:pPr>
            <a:r>
              <a:rPr lang="en-US" sz="800" noProof="0" dirty="0">
                <a:solidFill>
                  <a:srgbClr val="000000"/>
                </a:solidFill>
              </a:rPr>
              <a:t>SSIS package conversion to ADF</a:t>
            </a:r>
          </a:p>
          <a:p>
            <a:pPr marL="171450" indent="-171450">
              <a:lnSpc>
                <a:spcPct val="125000"/>
              </a:lnSpc>
              <a:buFont typeface="Arial" panose="020B0604020202020204" pitchFamily="34" charset="0"/>
              <a:buChar char="•"/>
              <a:defRPr/>
            </a:pPr>
            <a:r>
              <a:rPr lang="en-US" sz="800" noProof="0" dirty="0">
                <a:solidFill>
                  <a:srgbClr val="000000"/>
                </a:solidFill>
              </a:rPr>
              <a:t>Custom object migration</a:t>
            </a:r>
          </a:p>
          <a:p>
            <a:pPr marL="171450" indent="-171450">
              <a:lnSpc>
                <a:spcPct val="125000"/>
              </a:lnSpc>
              <a:buFont typeface="Arial" panose="020B0604020202020204" pitchFamily="34" charset="0"/>
              <a:buChar char="•"/>
              <a:defRPr/>
            </a:pPr>
            <a:r>
              <a:rPr lang="en-US" sz="800" noProof="0" dirty="0"/>
              <a:t>Data cleansing and data quality fixes</a:t>
            </a:r>
          </a:p>
          <a:p>
            <a:pPr marL="171450" indent="-171450">
              <a:lnSpc>
                <a:spcPct val="125000"/>
              </a:lnSpc>
              <a:buFont typeface="Arial" panose="020B0604020202020204" pitchFamily="34" charset="0"/>
              <a:buChar char="•"/>
              <a:defRPr/>
            </a:pPr>
            <a:r>
              <a:rPr lang="en-US" sz="800" noProof="0" dirty="0"/>
              <a:t>Unsupported or deprecated feature remediation/object conversion</a:t>
            </a:r>
            <a:endParaRPr lang="en-US" sz="800" noProof="0" dirty="0">
              <a:solidFill>
                <a:srgbClr val="000000"/>
              </a:solidFill>
            </a:endParaRPr>
          </a:p>
        </p:txBody>
      </p:sp>
      <p:sp>
        <p:nvSpPr>
          <p:cNvPr id="17" name="TextBox 16">
            <a:extLst>
              <a:ext uri="{FF2B5EF4-FFF2-40B4-BE49-F238E27FC236}">
                <a16:creationId xmlns:a16="http://schemas.microsoft.com/office/drawing/2014/main" id="{953C227A-12E1-6156-1461-D15A7D1BF7B6}"/>
              </a:ext>
            </a:extLst>
          </p:cNvPr>
          <p:cNvSpPr txBox="1"/>
          <p:nvPr/>
        </p:nvSpPr>
        <p:spPr>
          <a:xfrm>
            <a:off x="6429048" y="5146120"/>
            <a:ext cx="4937760" cy="907941"/>
          </a:xfrm>
          <a:prstGeom prst="rect">
            <a:avLst/>
          </a:prstGeom>
          <a:noFill/>
        </p:spPr>
        <p:txBody>
          <a:bodyPr wrap="square" lIns="91440" tIns="45720" rIns="91440" bIns="45720" anchor="t">
            <a:spAutoFit/>
          </a:bodyPr>
          <a:lstStyle/>
          <a:p>
            <a:pPr marL="171450" lvl="0" indent="-171450">
              <a:spcAft>
                <a:spcPts val="200"/>
              </a:spcAft>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Customer provides network bandwidth sufficient for discovery, replication, and cutover operations</a:t>
            </a:r>
          </a:p>
          <a:p>
            <a:pPr marL="171450" lvl="0" indent="-171450">
              <a:spcAft>
                <a:spcPts val="200"/>
              </a:spcAft>
              <a:buFont typeface="Arial" panose="020B0604020202020204" pitchFamily="34" charset="0"/>
              <a:buChar char="•"/>
              <a:defRPr/>
            </a:pPr>
            <a:r>
              <a:rPr lang="en-US" sz="800" noProof="0" dirty="0">
                <a:solidFill>
                  <a:srgbClr val="000000"/>
                </a:solidFill>
                <a:latin typeface="Segoe UI" panose="020B0502040204020203" pitchFamily="34" charset="0"/>
                <a:cs typeface="Segoe UI" panose="020B0502040204020203" pitchFamily="34" charset="0"/>
              </a:rPr>
              <a:t>Customer provides timely access to source environments, Azure subscriptions, and necessary credentials</a:t>
            </a:r>
            <a:endParaRPr kumimoji="0" lang="en-US" sz="800" b="0" i="0" u="none" strike="noStrike" kern="120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Heterogeneous migrations (Oracle, Sybase) leverages agentic tools and requires GitHub Copilot licenses. Extensive schema and code changes will be completed using Agentic tools only. </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noProof="0" dirty="0">
                <a:solidFill>
                  <a:srgbClr val="000000"/>
                </a:solidFill>
                <a:latin typeface="Segoe Sans Text"/>
              </a:rPr>
              <a:t>Customer to provide GHCP License for any agentic migration</a:t>
            </a:r>
            <a:endParaRPr lang="en-US" sz="800" b="0" i="0" u="none" strike="noStrike" kern="1200" cap="none" spc="0" normalizeH="0" baseline="0" noProof="0" dirty="0">
              <a:ln>
                <a:noFill/>
              </a:ln>
              <a:solidFill>
                <a:srgbClr val="000000"/>
              </a:solidFill>
              <a:effectLst/>
              <a:uLnTx/>
              <a:uFillTx/>
              <a:latin typeface="Segoe Sans Text"/>
              <a:cs typeface="Segoe Sans Text"/>
            </a:endParaRPr>
          </a:p>
        </p:txBody>
      </p:sp>
      <p:cxnSp>
        <p:nvCxnSpPr>
          <p:cNvPr id="29" name="Straight Connector 28">
            <a:extLst>
              <a:ext uri="{FF2B5EF4-FFF2-40B4-BE49-F238E27FC236}">
                <a16:creationId xmlns:a16="http://schemas.microsoft.com/office/drawing/2014/main" id="{12E590EF-13FC-F5A3-63E6-1097EAC094F0}"/>
              </a:ext>
              <a:ext uri="{C183D7F6-B498-43B3-948B-1728B52AA6E4}">
                <adec:decorative xmlns:adec="http://schemas.microsoft.com/office/drawing/2017/decorative" val="1"/>
              </a:ext>
            </a:extLst>
          </p:cNvPr>
          <p:cNvCxnSpPr>
            <a:cxnSpLocks/>
          </p:cNvCxnSpPr>
          <p:nvPr/>
        </p:nvCxnSpPr>
        <p:spPr>
          <a:xfrm>
            <a:off x="933469" y="4810439"/>
            <a:ext cx="4937760"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5C4038EC-FE99-F12F-4EE1-EB5778500A0B}"/>
              </a:ext>
            </a:extLst>
          </p:cNvPr>
          <p:cNvSpPr/>
          <p:nvPr/>
        </p:nvSpPr>
        <p:spPr bwMode="auto">
          <a:xfrm>
            <a:off x="734463" y="16685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Oval 17">
            <a:extLst>
              <a:ext uri="{FF2B5EF4-FFF2-40B4-BE49-F238E27FC236}">
                <a16:creationId xmlns:a16="http://schemas.microsoft.com/office/drawing/2014/main" id="{05A26D55-B8D2-0FF8-2CFD-62BBDB36C8A1}"/>
              </a:ext>
            </a:extLst>
          </p:cNvPr>
          <p:cNvSpPr/>
          <p:nvPr/>
        </p:nvSpPr>
        <p:spPr bwMode="auto">
          <a:xfrm>
            <a:off x="734463" y="367001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 name="Oval 21">
            <a:extLst>
              <a:ext uri="{FF2B5EF4-FFF2-40B4-BE49-F238E27FC236}">
                <a16:creationId xmlns:a16="http://schemas.microsoft.com/office/drawing/2014/main" id="{46FD955D-5928-9C2C-2D03-D49275BE0962}"/>
              </a:ext>
            </a:extLst>
          </p:cNvPr>
          <p:cNvSpPr/>
          <p:nvPr/>
        </p:nvSpPr>
        <p:spPr bwMode="auto">
          <a:xfrm>
            <a:off x="728377" y="487514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 name="Rounded Rectangle 22">
            <a:extLst>
              <a:ext uri="{FF2B5EF4-FFF2-40B4-BE49-F238E27FC236}">
                <a16:creationId xmlns:a16="http://schemas.microsoft.com/office/drawing/2014/main" id="{B339C2E2-F104-A774-29DD-8A653A95F53D}"/>
              </a:ext>
              <a:ext uri="{C183D7F6-B498-43B3-948B-1728B52AA6E4}">
                <adec:decorative xmlns:adec="http://schemas.microsoft.com/office/drawing/2017/decorative" val="1"/>
              </a:ext>
            </a:extLst>
          </p:cNvPr>
          <p:cNvSpPr>
            <a:spLocks/>
          </p:cNvSpPr>
          <p:nvPr/>
        </p:nvSpPr>
        <p:spPr bwMode="auto">
          <a:xfrm>
            <a:off x="6109559" y="958658"/>
            <a:ext cx="5536615" cy="3503461"/>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 name="Rounded Rectangle 23">
            <a:extLst>
              <a:ext uri="{FF2B5EF4-FFF2-40B4-BE49-F238E27FC236}">
                <a16:creationId xmlns:a16="http://schemas.microsoft.com/office/drawing/2014/main" id="{FE28A725-2CA2-6232-2AC5-F41CE956365F}"/>
              </a:ext>
              <a:ext uri="{C183D7F6-B498-43B3-948B-1728B52AA6E4}">
                <adec:decorative xmlns:adec="http://schemas.microsoft.com/office/drawing/2017/decorative" val="1"/>
              </a:ext>
            </a:extLst>
          </p:cNvPr>
          <p:cNvSpPr>
            <a:spLocks/>
          </p:cNvSpPr>
          <p:nvPr/>
        </p:nvSpPr>
        <p:spPr bwMode="auto">
          <a:xfrm>
            <a:off x="532434" y="964461"/>
            <a:ext cx="5517143" cy="5598739"/>
          </a:xfrm>
          <a:prstGeom prst="roundRect">
            <a:avLst>
              <a:gd name="adj" fmla="val 527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4" name="Rounded Rectangle 22">
            <a:extLst>
              <a:ext uri="{FF2B5EF4-FFF2-40B4-BE49-F238E27FC236}">
                <a16:creationId xmlns:a16="http://schemas.microsoft.com/office/drawing/2014/main" id="{DFCB213A-CC29-E3CC-80A5-01F0D8D8D7F2}"/>
              </a:ext>
              <a:ext uri="{C183D7F6-B498-43B3-948B-1728B52AA6E4}">
                <adec:decorative xmlns:adec="http://schemas.microsoft.com/office/drawing/2017/decorative" val="1"/>
              </a:ext>
            </a:extLst>
          </p:cNvPr>
          <p:cNvSpPr>
            <a:spLocks/>
          </p:cNvSpPr>
          <p:nvPr/>
        </p:nvSpPr>
        <p:spPr bwMode="auto">
          <a:xfrm>
            <a:off x="6096000" y="4538230"/>
            <a:ext cx="5563566" cy="2045015"/>
          </a:xfrm>
          <a:prstGeom prst="roundRect">
            <a:avLst>
              <a:gd name="adj" fmla="val 965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1" name="TextBox 10">
            <a:extLst>
              <a:ext uri="{FF2B5EF4-FFF2-40B4-BE49-F238E27FC236}">
                <a16:creationId xmlns:a16="http://schemas.microsoft.com/office/drawing/2014/main" id="{DFCA918F-EF90-87DF-FDE9-B9D25F12F305}"/>
              </a:ext>
            </a:extLst>
          </p:cNvPr>
          <p:cNvSpPr txBox="1">
            <a:spLocks/>
          </p:cNvSpPr>
          <p:nvPr/>
        </p:nvSpPr>
        <p:spPr>
          <a:xfrm>
            <a:off x="6182266" y="4615385"/>
            <a:ext cx="5311279"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a:t>
            </a:r>
          </a:p>
        </p:txBody>
      </p:sp>
      <p:sp>
        <p:nvSpPr>
          <p:cNvPr id="16" name="TextBox 15">
            <a:extLst>
              <a:ext uri="{FF2B5EF4-FFF2-40B4-BE49-F238E27FC236}">
                <a16:creationId xmlns:a16="http://schemas.microsoft.com/office/drawing/2014/main" id="{8C36D7CE-691A-B8D8-8A33-E8520A7E5AFF}"/>
              </a:ext>
            </a:extLst>
          </p:cNvPr>
          <p:cNvSpPr txBox="1"/>
          <p:nvPr/>
        </p:nvSpPr>
        <p:spPr>
          <a:xfrm>
            <a:off x="6272264" y="1495960"/>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7" name="TextBox 6">
            <a:extLst>
              <a:ext uri="{FF2B5EF4-FFF2-40B4-BE49-F238E27FC236}">
                <a16:creationId xmlns:a16="http://schemas.microsoft.com/office/drawing/2014/main" id="{0942F54E-5ADC-19FB-B9FA-375A2965A62B}"/>
              </a:ext>
            </a:extLst>
          </p:cNvPr>
          <p:cNvSpPr txBox="1"/>
          <p:nvPr/>
        </p:nvSpPr>
        <p:spPr>
          <a:xfrm>
            <a:off x="212178" y="6680031"/>
            <a:ext cx="12101208" cy="230832"/>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a:p>
            <a:r>
              <a:rPr lang="en-US" sz="750" noProof="0" dirty="0"/>
              <a:t> </a:t>
            </a:r>
          </a:p>
        </p:txBody>
      </p:sp>
      <p:sp>
        <p:nvSpPr>
          <p:cNvPr id="3" name="TextBox 2">
            <a:extLst>
              <a:ext uri="{FF2B5EF4-FFF2-40B4-BE49-F238E27FC236}">
                <a16:creationId xmlns:a16="http://schemas.microsoft.com/office/drawing/2014/main" id="{E3C85607-94AB-9AA7-CF1C-C3E543C2839A}"/>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0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9055-1475-B69D-B7B0-8370928C2F5D}"/>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6A2F238-8383-5D6D-DF04-7FEC2984DFB6}"/>
              </a:ext>
            </a:extLst>
          </p:cNvPr>
          <p:cNvSpPr>
            <a:spLocks noGrp="1"/>
          </p:cNvSpPr>
          <p:nvPr>
            <p:ph type="title"/>
          </p:nvPr>
        </p:nvSpPr>
        <p:spPr>
          <a:xfrm>
            <a:off x="588963" y="315692"/>
            <a:ext cx="8651873" cy="461665"/>
          </a:xfrm>
        </p:spPr>
        <p:txBody>
          <a:bodyPr>
            <a:noAutofit/>
          </a:bodyPr>
          <a:lstStyle/>
          <a:p>
            <a:r>
              <a:rPr lang="en-US" sz="2400" noProof="0" dirty="0"/>
              <a:t>Database Modernization</a:t>
            </a:r>
          </a:p>
        </p:txBody>
      </p:sp>
      <p:sp>
        <p:nvSpPr>
          <p:cNvPr id="7" name="Rounded Rectangle 55">
            <a:extLst>
              <a:ext uri="{FF2B5EF4-FFF2-40B4-BE49-F238E27FC236}">
                <a16:creationId xmlns:a16="http://schemas.microsoft.com/office/drawing/2014/main" id="{C6376454-1BCD-724B-BAE3-2CA5BCE10D51}"/>
              </a:ext>
              <a:ext uri="{C183D7F6-B498-43B3-948B-1728B52AA6E4}">
                <adec:decorative xmlns:adec="http://schemas.microsoft.com/office/drawing/2017/decorative" val="1"/>
              </a:ext>
            </a:extLst>
          </p:cNvPr>
          <p:cNvSpPr>
            <a:spLocks/>
          </p:cNvSpPr>
          <p:nvPr/>
        </p:nvSpPr>
        <p:spPr bwMode="auto">
          <a:xfrm>
            <a:off x="554697" y="1272540"/>
            <a:ext cx="5483813"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8" name="Rounded Rectangle 55">
            <a:extLst>
              <a:ext uri="{FF2B5EF4-FFF2-40B4-BE49-F238E27FC236}">
                <a16:creationId xmlns:a16="http://schemas.microsoft.com/office/drawing/2014/main" id="{AD227775-E015-C17B-DD4A-0C084A49022D}"/>
              </a:ext>
              <a:ext uri="{C183D7F6-B498-43B3-948B-1728B52AA6E4}">
                <adec:decorative xmlns:adec="http://schemas.microsoft.com/office/drawing/2017/decorative" val="1"/>
              </a:ext>
            </a:extLst>
          </p:cNvPr>
          <p:cNvSpPr>
            <a:spLocks/>
          </p:cNvSpPr>
          <p:nvPr/>
        </p:nvSpPr>
        <p:spPr bwMode="auto">
          <a:xfrm>
            <a:off x="6102454" y="1272540"/>
            <a:ext cx="5583708"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 name="TextBox 4">
            <a:extLst>
              <a:ext uri="{FF2B5EF4-FFF2-40B4-BE49-F238E27FC236}">
                <a16:creationId xmlns:a16="http://schemas.microsoft.com/office/drawing/2014/main" id="{86508939-A159-1853-1090-7B108D258D90}"/>
              </a:ext>
            </a:extLst>
          </p:cNvPr>
          <p:cNvSpPr txBox="1">
            <a:spLocks/>
          </p:cNvSpPr>
          <p:nvPr/>
        </p:nvSpPr>
        <p:spPr>
          <a:xfrm>
            <a:off x="585787" y="1356831"/>
            <a:ext cx="5441528" cy="3492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15" name="TextBox 14">
            <a:extLst>
              <a:ext uri="{FF2B5EF4-FFF2-40B4-BE49-F238E27FC236}">
                <a16:creationId xmlns:a16="http://schemas.microsoft.com/office/drawing/2014/main" id="{7F1D33B6-9748-F8A9-BA55-92E782B8278A}"/>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27" name="TextBox 26">
            <a:extLst>
              <a:ext uri="{FF2B5EF4-FFF2-40B4-BE49-F238E27FC236}">
                <a16:creationId xmlns:a16="http://schemas.microsoft.com/office/drawing/2014/main" id="{053180A4-85AD-73F4-FE38-8FECCC50B6DA}"/>
              </a:ext>
            </a:extLst>
          </p:cNvPr>
          <p:cNvSpPr txBox="1"/>
          <p:nvPr/>
        </p:nvSpPr>
        <p:spPr>
          <a:xfrm>
            <a:off x="554697" y="748173"/>
            <a:ext cx="6811818" cy="276999"/>
          </a:xfrm>
          <a:prstGeom prst="rect">
            <a:avLst/>
          </a:prstGeom>
          <a:noFill/>
        </p:spPr>
        <p:txBody>
          <a:bodyPr wrap="square" lIns="0" tIns="0" rIns="0" bIns="0" rtlCol="0">
            <a:spAutoFit/>
          </a:bodyPr>
          <a:lstStyle>
            <a:defPPr>
              <a:defRPr lang="en-US"/>
            </a:defPPr>
            <a:lvl1pPr>
              <a:defRPr b="1">
                <a:latin typeface="+mj-lt"/>
              </a:defRPr>
            </a:lvl1pPr>
          </a:lstStyle>
          <a:p>
            <a:r>
              <a:rPr lang="en-US" noProof="0" dirty="0"/>
              <a:t>SQL Server Migration/Modernization</a:t>
            </a:r>
          </a:p>
        </p:txBody>
      </p:sp>
      <p:sp>
        <p:nvSpPr>
          <p:cNvPr id="2" name="Rectangle 1">
            <a:extLst>
              <a:ext uri="{FF2B5EF4-FFF2-40B4-BE49-F238E27FC236}">
                <a16:creationId xmlns:a16="http://schemas.microsoft.com/office/drawing/2014/main" id="{3C044E75-E6F5-BF98-845C-2FD1A76C9B1D}"/>
              </a:ext>
              <a:ext uri="{C183D7F6-B498-43B3-948B-1728B52AA6E4}">
                <adec:decorative xmlns:adec="http://schemas.microsoft.com/office/drawing/2017/decorative" val="1"/>
              </a:ext>
            </a:extLst>
          </p:cNvPr>
          <p:cNvSpPr>
            <a:spLocks/>
          </p:cNvSpPr>
          <p:nvPr/>
        </p:nvSpPr>
        <p:spPr bwMode="auto">
          <a:xfrm flipH="1">
            <a:off x="766615" y="2040613"/>
            <a:ext cx="45719" cy="38307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4" name="Oval 3">
            <a:extLst>
              <a:ext uri="{FF2B5EF4-FFF2-40B4-BE49-F238E27FC236}">
                <a16:creationId xmlns:a16="http://schemas.microsoft.com/office/drawing/2014/main" id="{EACFE61C-87B0-82F9-B8B9-925DFC374408}"/>
              </a:ext>
              <a:ext uri="{C183D7F6-B498-43B3-948B-1728B52AA6E4}">
                <adec:decorative xmlns:adec="http://schemas.microsoft.com/office/drawing/2017/decorative" val="1"/>
              </a:ext>
            </a:extLst>
          </p:cNvPr>
          <p:cNvSpPr/>
          <p:nvPr/>
        </p:nvSpPr>
        <p:spPr bwMode="auto">
          <a:xfrm>
            <a:off x="725014" y="1985382"/>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 name="Oval 5">
            <a:extLst>
              <a:ext uri="{FF2B5EF4-FFF2-40B4-BE49-F238E27FC236}">
                <a16:creationId xmlns:a16="http://schemas.microsoft.com/office/drawing/2014/main" id="{6A00857E-A8CA-271F-BDE5-E2D142C631C9}"/>
              </a:ext>
              <a:ext uri="{C183D7F6-B498-43B3-948B-1728B52AA6E4}">
                <adec:decorative xmlns:adec="http://schemas.microsoft.com/office/drawing/2017/decorative" val="1"/>
              </a:ext>
            </a:extLst>
          </p:cNvPr>
          <p:cNvSpPr/>
          <p:nvPr/>
        </p:nvSpPr>
        <p:spPr bwMode="auto">
          <a:xfrm>
            <a:off x="725014" y="228426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9" name="Oval 8">
            <a:extLst>
              <a:ext uri="{FF2B5EF4-FFF2-40B4-BE49-F238E27FC236}">
                <a16:creationId xmlns:a16="http://schemas.microsoft.com/office/drawing/2014/main" id="{F1D7FBD7-1C75-FA04-E626-0720C385319D}"/>
              </a:ext>
              <a:ext uri="{C183D7F6-B498-43B3-948B-1728B52AA6E4}">
                <adec:decorative xmlns:adec="http://schemas.microsoft.com/office/drawing/2017/decorative" val="1"/>
              </a:ext>
            </a:extLst>
          </p:cNvPr>
          <p:cNvSpPr/>
          <p:nvPr/>
        </p:nvSpPr>
        <p:spPr bwMode="auto">
          <a:xfrm>
            <a:off x="725015" y="5461636"/>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10" name="Straight Connector 9">
            <a:extLst>
              <a:ext uri="{FF2B5EF4-FFF2-40B4-BE49-F238E27FC236}">
                <a16:creationId xmlns:a16="http://schemas.microsoft.com/office/drawing/2014/main" id="{F8BC51D6-A42D-F215-3DF5-2250AF87BA8F}"/>
              </a:ext>
              <a:ext uri="{C183D7F6-B498-43B3-948B-1728B52AA6E4}">
                <adec:decorative xmlns:adec="http://schemas.microsoft.com/office/drawing/2017/decorative" val="1"/>
              </a:ext>
            </a:extLst>
          </p:cNvPr>
          <p:cNvCxnSpPr>
            <a:cxnSpLocks/>
          </p:cNvCxnSpPr>
          <p:nvPr/>
        </p:nvCxnSpPr>
        <p:spPr>
          <a:xfrm>
            <a:off x="1037118" y="2217211"/>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8857E6-08AA-0395-96DA-94C44ABE3F63}"/>
              </a:ext>
            </a:extLst>
          </p:cNvPr>
          <p:cNvSpPr txBox="1"/>
          <p:nvPr/>
        </p:nvSpPr>
        <p:spPr>
          <a:xfrm>
            <a:off x="1037118" y="1985382"/>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pitchFamily="2" charset="0"/>
                <a:ea typeface="+mn-ea"/>
                <a:cs typeface="+mn-cs"/>
              </a:rPr>
              <a:t>SQL</a:t>
            </a: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 </a:t>
            </a:r>
            <a:r>
              <a:rPr kumimoji="0" lang="en-US" sz="1000" b="1" i="0" u="none" strike="noStrike" kern="0" cap="none" spc="0" normalizeH="0" baseline="0" noProof="0" dirty="0">
                <a:ln>
                  <a:noFill/>
                </a:ln>
                <a:solidFill>
                  <a:srgbClr val="000000"/>
                </a:solidFill>
                <a:effectLst/>
                <a:uLnTx/>
                <a:uFillTx/>
                <a:latin typeface="Segoe Sans Text" pitchFamily="2" charset="0"/>
                <a:ea typeface="+mn-ea"/>
                <a:cs typeface="+mn-cs"/>
              </a:rPr>
              <a:t>migrations with near-zero application logic code changes</a:t>
            </a: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t>
            </a:r>
          </a:p>
        </p:txBody>
      </p:sp>
      <p:sp>
        <p:nvSpPr>
          <p:cNvPr id="12" name="TextBox 11">
            <a:extLst>
              <a:ext uri="{FF2B5EF4-FFF2-40B4-BE49-F238E27FC236}">
                <a16:creationId xmlns:a16="http://schemas.microsoft.com/office/drawing/2014/main" id="{67C7291D-4BC7-147B-1726-312A17DBD882}"/>
              </a:ext>
            </a:extLst>
          </p:cNvPr>
          <p:cNvSpPr txBox="1"/>
          <p:nvPr/>
        </p:nvSpPr>
        <p:spPr>
          <a:xfrm>
            <a:off x="1083099" y="2295599"/>
            <a:ext cx="4914576" cy="230832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pitchFamily="2" charset="0"/>
                <a:ea typeface="+mn-ea"/>
                <a:cs typeface="+mn-cs"/>
              </a:rPr>
              <a:t>Migration scenarios supported:</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 Targeting migration paths: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On-premises SQL Server to Azure SQL Database​</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On-premises SQL Server to Azure SQL Managed Instance (MI)​</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On-premises SQL Server to SQL Server on Azure VM (IaaS)​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SQL IaaS to Server to Azure SQL Managed Instance (MI)​</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SQL IaaS to Server to Azure SQL Database​</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AWS EC2 SQL Server to Azure SQL Database/Azure SQL MI/Azure VM​</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AWS RDS for SQL to Azure SQL Database/Azure SQL MI/Azure VM​</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Cloud SQL for SQL to Azure SQL Database/Azure SQL MI/Azure VM​</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GCP Compute Engine - SQL Server to Azure SQL Database/Azure SQL MI/Azure VM</a:t>
            </a: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Arc-enabled SQL Servers to Azure SQL Managed Instance (MI)</a:t>
            </a:r>
          </a:p>
          <a:p>
            <a:pPr marL="628650" lvl="1" indent="-171450">
              <a:spcAft>
                <a:spcPts val="200"/>
              </a:spcAft>
              <a:buFont typeface="Arial" panose="020B0604020202020204" pitchFamily="34" charset="0"/>
              <a:buChar char="•"/>
              <a:defRPr/>
            </a:pPr>
            <a:r>
              <a:rPr lang="en-US" sz="1000" kern="0" noProof="0" dirty="0">
                <a:solidFill>
                  <a:srgbClr val="000000"/>
                </a:solidFill>
                <a:latin typeface="Segoe Sans Text" pitchFamily="2" charset="0"/>
                <a:ea typeface="+mn-lt"/>
                <a:cs typeface="+mn-lt"/>
              </a:rPr>
              <a:t>Using </a:t>
            </a:r>
            <a:r>
              <a:rPr lang="en-US" sz="1000" kern="0" noProof="0" dirty="0">
                <a:solidFill>
                  <a:srgbClr val="0078D4"/>
                </a:solidFill>
                <a:latin typeface="Segoe Sans Text" pitchFamily="2" charset="0"/>
                <a:ea typeface="+mn-lt"/>
                <a:cs typeface="+mn-lt"/>
                <a:hlinkClick r:id="rId4">
                  <a:extLst>
                    <a:ext uri="{A12FA001-AC4F-418D-AE19-62706E023703}">
                      <ahyp:hlinkClr xmlns:ahyp="http://schemas.microsoft.com/office/drawing/2018/hyperlinkcolor" val="tx"/>
                    </a:ext>
                  </a:extLst>
                </a:hlinkClick>
              </a:rPr>
              <a:t>SQL Sever Migration in ARC</a:t>
            </a:r>
            <a:endParaRPr lang="en-US" sz="1000" kern="0" noProof="0" dirty="0">
              <a:solidFill>
                <a:srgbClr val="0078D4"/>
              </a:solidFill>
              <a:latin typeface="Segoe Sans Text" pitchFamily="2" charset="0"/>
              <a:cs typeface="Segoe Sans Text"/>
            </a:endParaRPr>
          </a:p>
        </p:txBody>
      </p:sp>
      <p:cxnSp>
        <p:nvCxnSpPr>
          <p:cNvPr id="13" name="Straight Connector 12">
            <a:extLst>
              <a:ext uri="{FF2B5EF4-FFF2-40B4-BE49-F238E27FC236}">
                <a16:creationId xmlns:a16="http://schemas.microsoft.com/office/drawing/2014/main" id="{893DBB6E-652D-EAEA-3A93-49A7B7312513}"/>
              </a:ext>
              <a:ext uri="{C183D7F6-B498-43B3-948B-1728B52AA6E4}">
                <adec:decorative xmlns:adec="http://schemas.microsoft.com/office/drawing/2017/decorative" val="1"/>
              </a:ext>
            </a:extLst>
          </p:cNvPr>
          <p:cNvCxnSpPr>
            <a:cxnSpLocks/>
          </p:cNvCxnSpPr>
          <p:nvPr/>
        </p:nvCxnSpPr>
        <p:spPr>
          <a:xfrm>
            <a:off x="1037295" y="5361412"/>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F7D701B-064D-3BBE-F1FF-1A10B6AA7CB9}"/>
              </a:ext>
            </a:extLst>
          </p:cNvPr>
          <p:cNvSpPr txBox="1"/>
          <p:nvPr/>
        </p:nvSpPr>
        <p:spPr>
          <a:xfrm>
            <a:off x="1017217" y="5445131"/>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ea typeface="+mn-ea"/>
                <a:cs typeface="+mn-cs"/>
              </a:rPr>
              <a:t>HA/DR configuration and setup for Azure SQL DB and Azure SQL MI</a:t>
            </a:r>
          </a:p>
        </p:txBody>
      </p:sp>
      <p:sp>
        <p:nvSpPr>
          <p:cNvPr id="17" name="TextBox 16">
            <a:extLst>
              <a:ext uri="{FF2B5EF4-FFF2-40B4-BE49-F238E27FC236}">
                <a16:creationId xmlns:a16="http://schemas.microsoft.com/office/drawing/2014/main" id="{017742C0-C02F-BC24-ED95-5615DDD9EC72}"/>
              </a:ext>
            </a:extLst>
          </p:cNvPr>
          <p:cNvSpPr txBox="1"/>
          <p:nvPr/>
        </p:nvSpPr>
        <p:spPr>
          <a:xfrm>
            <a:off x="1012714" y="5634302"/>
            <a:ext cx="4914576" cy="58477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pitchFamily="2" charset="0"/>
                <a:ea typeface="+mn-ea"/>
                <a:cs typeface="+mn-cs"/>
              </a:rPr>
              <a:t>Supported SQL Servers for migration: </a:t>
            </a:r>
            <a:r>
              <a:rPr kumimoji="0" lang="en-US" sz="1000" b="0" i="0" u="none" strike="noStrike" kern="0" cap="none" spc="0" normalizeH="0" baseline="0" noProof="0" dirty="0">
                <a:ln>
                  <a:noFill/>
                </a:ln>
                <a:solidFill>
                  <a:srgbClr val="000000"/>
                </a:solidFill>
                <a:effectLst/>
                <a:uLnTx/>
                <a:uFillTx/>
                <a:latin typeface="Segoe Sans Text"/>
                <a:cs typeface="Segoe Sans Text"/>
              </a:rPr>
              <a:t>SQL Server </a:t>
            </a:r>
            <a:r>
              <a:rPr lang="en-US" sz="1000" kern="0" noProof="0" dirty="0">
                <a:solidFill>
                  <a:srgbClr val="000000"/>
                </a:solidFill>
                <a:latin typeface="Segoe Sans Text"/>
                <a:cs typeface="Segoe Sans Text"/>
              </a:rPr>
              <a:t>2008</a:t>
            </a:r>
            <a:r>
              <a:rPr kumimoji="0" lang="en-US" sz="1000" b="0" i="0" u="none" strike="noStrike" kern="0" cap="none" spc="0" normalizeH="0" baseline="0" noProof="0" dirty="0">
                <a:ln>
                  <a:noFill/>
                </a:ln>
                <a:solidFill>
                  <a:srgbClr val="000000"/>
                </a:solidFill>
                <a:effectLst/>
                <a:uLnTx/>
                <a:uFillTx/>
                <a:latin typeface="Segoe Sans Text"/>
                <a:cs typeface="Segoe Sans Text"/>
              </a:rPr>
              <a:t> and above</a:t>
            </a:r>
          </a:p>
          <a:p>
            <a:pPr lvl="0">
              <a:defRPr/>
            </a:pPr>
            <a:r>
              <a:rPr lang="en-US" sz="1000" b="1" kern="0" noProof="0" dirty="0">
                <a:solidFill>
                  <a:srgbClr val="000000"/>
                </a:solidFill>
                <a:latin typeface="Segoe Sans Text" pitchFamily="2" charset="0"/>
              </a:rPr>
              <a:t>Supported SQL Servers for upgrade: </a:t>
            </a:r>
            <a:r>
              <a:rPr lang="en-US" sz="1000" kern="0" noProof="0" dirty="0">
                <a:solidFill>
                  <a:srgbClr val="000000"/>
                </a:solidFill>
                <a:cs typeface="Segoe Sans Text"/>
              </a:rPr>
              <a:t>SQL Server 2016 on Azure VM (only)</a:t>
            </a:r>
            <a:endParaRPr kumimoji="0" lang="en-US" sz="1000" b="0" i="0" u="none" strike="noStrike" kern="0" cap="none" spc="0" normalizeH="0" baseline="0" noProof="0" dirty="0">
              <a:ln>
                <a:noFill/>
              </a:ln>
              <a:solidFill>
                <a:srgbClr val="000000"/>
              </a:solidFill>
              <a:effectLst/>
              <a:uLnTx/>
              <a:uFillTx/>
              <a:latin typeface="Segoe Sans Text"/>
              <a:cs typeface="Segoe Sans Text"/>
            </a:endParaRPr>
          </a:p>
          <a:p>
            <a:pPr marL="171450" indent="-171450">
              <a:buFont typeface="Arial" panose="020B0604020202020204" pitchFamily="34" charset="0"/>
              <a:buChar char="•"/>
              <a:defRPr/>
            </a:pPr>
            <a:endParaRPr lang="en-US" sz="1000" kern="0" noProof="0" dirty="0">
              <a:solidFill>
                <a:srgbClr val="000000"/>
              </a:solidFill>
              <a:latin typeface="Segoe Sans Text"/>
              <a:cs typeface="Segoe Sans Text"/>
            </a:endParaRPr>
          </a:p>
          <a:p>
            <a:pPr>
              <a:defRPr/>
            </a:pPr>
            <a:r>
              <a:rPr lang="en-US" sz="800" kern="0" noProof="0" dirty="0">
                <a:solidFill>
                  <a:srgbClr val="000000"/>
                </a:solidFill>
                <a:latin typeface="Segoe Sans Text"/>
                <a:cs typeface="Segoe Sans Text"/>
              </a:rPr>
              <a:t>        * </a:t>
            </a:r>
            <a:r>
              <a:rPr lang="en-US" sz="800" kern="0" noProof="0" dirty="0">
                <a:solidFill>
                  <a:srgbClr val="000000"/>
                </a:solidFill>
                <a:ea typeface="+mn-lt"/>
                <a:cs typeface="+mn-lt"/>
              </a:rPr>
              <a:t>Please refer to the Heterogeneous Offering deck for comprehensive details</a:t>
            </a:r>
            <a:endParaRPr lang="en-US" sz="1000" kern="0" noProof="0" dirty="0">
              <a:solidFill>
                <a:srgbClr val="000000"/>
              </a:solidFill>
              <a:latin typeface="Segoe Sans Text"/>
              <a:cs typeface="Segoe Sans Text"/>
            </a:endParaRPr>
          </a:p>
        </p:txBody>
      </p:sp>
      <p:cxnSp>
        <p:nvCxnSpPr>
          <p:cNvPr id="18" name="Straight Connector 17">
            <a:extLst>
              <a:ext uri="{FF2B5EF4-FFF2-40B4-BE49-F238E27FC236}">
                <a16:creationId xmlns:a16="http://schemas.microsoft.com/office/drawing/2014/main" id="{1B123112-C65F-91FF-87D7-3CAC7C83CB95}"/>
              </a:ext>
              <a:ext uri="{C183D7F6-B498-43B3-948B-1728B52AA6E4}">
                <adec:decorative xmlns:adec="http://schemas.microsoft.com/office/drawing/2017/decorative" val="1"/>
              </a:ext>
            </a:extLst>
          </p:cNvPr>
          <p:cNvCxnSpPr>
            <a:cxnSpLocks/>
          </p:cNvCxnSpPr>
          <p:nvPr/>
        </p:nvCxnSpPr>
        <p:spPr>
          <a:xfrm>
            <a:off x="6612264" y="220557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D76AF5B-FA4F-BA3E-2EEC-769DCE60C3E9}"/>
              </a:ext>
              <a:ext uri="{C183D7F6-B498-43B3-948B-1728B52AA6E4}">
                <adec:decorative xmlns:adec="http://schemas.microsoft.com/office/drawing/2017/decorative" val="1"/>
              </a:ext>
            </a:extLst>
          </p:cNvPr>
          <p:cNvCxnSpPr>
            <a:cxnSpLocks/>
          </p:cNvCxnSpPr>
          <p:nvPr/>
        </p:nvCxnSpPr>
        <p:spPr>
          <a:xfrm>
            <a:off x="6612264" y="247773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1A863D6-B8E4-1528-DFE0-2611ED21A8D4}"/>
              </a:ext>
              <a:ext uri="{C183D7F6-B498-43B3-948B-1728B52AA6E4}">
                <adec:decorative xmlns:adec="http://schemas.microsoft.com/office/drawing/2017/decorative" val="1"/>
              </a:ext>
            </a:extLst>
          </p:cNvPr>
          <p:cNvCxnSpPr>
            <a:cxnSpLocks/>
          </p:cNvCxnSpPr>
          <p:nvPr/>
        </p:nvCxnSpPr>
        <p:spPr>
          <a:xfrm>
            <a:off x="6612264" y="274990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3CF67D-527D-572D-1388-A989F43681E5}"/>
              </a:ext>
              <a:ext uri="{C183D7F6-B498-43B3-948B-1728B52AA6E4}">
                <adec:decorative xmlns:adec="http://schemas.microsoft.com/office/drawing/2017/decorative" val="1"/>
              </a:ext>
            </a:extLst>
          </p:cNvPr>
          <p:cNvCxnSpPr>
            <a:cxnSpLocks/>
          </p:cNvCxnSpPr>
          <p:nvPr/>
        </p:nvCxnSpPr>
        <p:spPr>
          <a:xfrm>
            <a:off x="6612264" y="302206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05B1C57-FA4A-C7C5-1F48-3C65B4393004}"/>
              </a:ext>
              <a:ext uri="{C183D7F6-B498-43B3-948B-1728B52AA6E4}">
                <adec:decorative xmlns:adec="http://schemas.microsoft.com/office/drawing/2017/decorative" val="1"/>
              </a:ext>
            </a:extLst>
          </p:cNvPr>
          <p:cNvCxnSpPr>
            <a:cxnSpLocks/>
          </p:cNvCxnSpPr>
          <p:nvPr/>
        </p:nvCxnSpPr>
        <p:spPr>
          <a:xfrm>
            <a:off x="6612264" y="356640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4CA70A0-6D4A-BF85-9DBE-251BD5712E08}"/>
              </a:ext>
              <a:ext uri="{C183D7F6-B498-43B3-948B-1728B52AA6E4}">
                <adec:decorative xmlns:adec="http://schemas.microsoft.com/office/drawing/2017/decorative" val="1"/>
              </a:ext>
            </a:extLst>
          </p:cNvPr>
          <p:cNvCxnSpPr>
            <a:cxnSpLocks/>
          </p:cNvCxnSpPr>
          <p:nvPr/>
        </p:nvCxnSpPr>
        <p:spPr>
          <a:xfrm>
            <a:off x="6612264" y="383856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DFCD18F-A5CC-2D9A-1A4F-1B54E89C6117}"/>
              </a:ext>
              <a:ext uri="{C183D7F6-B498-43B3-948B-1728B52AA6E4}">
                <adec:decorative xmlns:adec="http://schemas.microsoft.com/office/drawing/2017/decorative" val="1"/>
              </a:ext>
            </a:extLst>
          </p:cNvPr>
          <p:cNvCxnSpPr>
            <a:cxnSpLocks/>
          </p:cNvCxnSpPr>
          <p:nvPr/>
        </p:nvCxnSpPr>
        <p:spPr>
          <a:xfrm>
            <a:off x="6612264" y="411073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E803720-D384-AEC9-DDC7-B786432EA1F2}"/>
              </a:ext>
              <a:ext uri="{C183D7F6-B498-43B3-948B-1728B52AA6E4}">
                <adec:decorative xmlns:adec="http://schemas.microsoft.com/office/drawing/2017/decorative" val="1"/>
              </a:ext>
            </a:extLst>
          </p:cNvPr>
          <p:cNvCxnSpPr>
            <a:cxnSpLocks/>
          </p:cNvCxnSpPr>
          <p:nvPr/>
        </p:nvCxnSpPr>
        <p:spPr>
          <a:xfrm>
            <a:off x="6612264" y="438289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CE60AFE-6929-94C2-D1CA-0C6C38499CEF}"/>
              </a:ext>
              <a:ext uri="{C183D7F6-B498-43B3-948B-1728B52AA6E4}">
                <adec:decorative xmlns:adec="http://schemas.microsoft.com/office/drawing/2017/decorative" val="1"/>
              </a:ext>
            </a:extLst>
          </p:cNvPr>
          <p:cNvCxnSpPr>
            <a:cxnSpLocks/>
          </p:cNvCxnSpPr>
          <p:nvPr/>
        </p:nvCxnSpPr>
        <p:spPr>
          <a:xfrm>
            <a:off x="6612264" y="465506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D2BA1FE-5E43-6CBC-CD80-2CD921BEDE19}"/>
              </a:ext>
              <a:ext uri="{C183D7F6-B498-43B3-948B-1728B52AA6E4}">
                <adec:decorative xmlns:adec="http://schemas.microsoft.com/office/drawing/2017/decorative" val="1"/>
              </a:ext>
            </a:extLst>
          </p:cNvPr>
          <p:cNvCxnSpPr>
            <a:cxnSpLocks/>
          </p:cNvCxnSpPr>
          <p:nvPr/>
        </p:nvCxnSpPr>
        <p:spPr>
          <a:xfrm>
            <a:off x="6612264" y="492723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8B78496-2339-3CB0-4BEA-1539C68F0A41}"/>
              </a:ext>
              <a:ext uri="{C183D7F6-B498-43B3-948B-1728B52AA6E4}">
                <adec:decorative xmlns:adec="http://schemas.microsoft.com/office/drawing/2017/decorative" val="1"/>
              </a:ext>
            </a:extLst>
          </p:cNvPr>
          <p:cNvCxnSpPr>
            <a:cxnSpLocks/>
          </p:cNvCxnSpPr>
          <p:nvPr/>
        </p:nvCxnSpPr>
        <p:spPr>
          <a:xfrm>
            <a:off x="6612264" y="519548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80FFB6F-A83D-C1F1-0215-19F7EE26B496}"/>
              </a:ext>
            </a:extLst>
          </p:cNvPr>
          <p:cNvSpPr txBox="1"/>
          <p:nvPr/>
        </p:nvSpPr>
        <p:spPr>
          <a:xfrm>
            <a:off x="6612264" y="1992544"/>
            <a:ext cx="4914576" cy="153888"/>
          </a:xfrm>
          <a:prstGeom prst="rect">
            <a:avLst/>
          </a:prstGeom>
          <a:noFill/>
        </p:spPr>
        <p:txBody>
          <a:bodyPr wrap="square" lIns="0" tIns="0" rIns="0" bIns="0" anchor="t">
            <a:spAutoFit/>
          </a:bodyPr>
          <a:lstStyle/>
          <a:p>
            <a:pPr>
              <a:defRPr/>
            </a:pPr>
            <a:r>
              <a:rPr kumimoji="0" lang="en-US" sz="1000" b="0" i="0" u="none" strike="noStrike" kern="0" cap="none" spc="0" normalizeH="0" baseline="0" noProof="0" dirty="0">
                <a:ln>
                  <a:noFill/>
                </a:ln>
                <a:solidFill>
                  <a:srgbClr val="000000"/>
                </a:solidFill>
                <a:effectLst/>
                <a:uLnTx/>
                <a:uFillTx/>
                <a:latin typeface="Segoe Sans Text"/>
                <a:ea typeface="+mn-lt"/>
                <a:cs typeface="Segoe Sans Text"/>
              </a:rPr>
              <a:t>Heterogeneous DB Migration (SQL to MySQL, SQL to PostgreSQL, SQL</a:t>
            </a:r>
            <a:r>
              <a:rPr lang="en-US" sz="1000" kern="0" noProof="0" dirty="0">
                <a:solidFill>
                  <a:srgbClr val="000000"/>
                </a:solidFill>
                <a:latin typeface="Segoe Sans Text"/>
                <a:ea typeface="+mn-lt"/>
                <a:cs typeface="Segoe Sans Text"/>
              </a:rPr>
              <a:t> to Oracle</a:t>
            </a:r>
            <a:r>
              <a:rPr kumimoji="0" lang="en-US" sz="1000" b="0" i="0" u="none" strike="noStrike" kern="0" cap="none" spc="0" normalizeH="0" baseline="0" noProof="0" dirty="0">
                <a:ln>
                  <a:noFill/>
                </a:ln>
                <a:solidFill>
                  <a:srgbClr val="000000"/>
                </a:solidFill>
                <a:effectLst/>
                <a:uLnTx/>
                <a:uFillTx/>
                <a:latin typeface="Segoe Sans Text"/>
                <a:ea typeface="+mn-lt"/>
                <a:cs typeface="Segoe Sans Text"/>
              </a:rPr>
              <a:t>)</a:t>
            </a: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32" name="TextBox 31">
            <a:extLst>
              <a:ext uri="{FF2B5EF4-FFF2-40B4-BE49-F238E27FC236}">
                <a16:creationId xmlns:a16="http://schemas.microsoft.com/office/drawing/2014/main" id="{633A76FE-D089-DE04-5F3F-94A2D49F1AD5}"/>
              </a:ext>
            </a:extLst>
          </p:cNvPr>
          <p:cNvSpPr txBox="1"/>
          <p:nvPr/>
        </p:nvSpPr>
        <p:spPr>
          <a:xfrm>
            <a:off x="6612264" y="2264710"/>
            <a:ext cx="4914576"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lt"/>
                <a:cs typeface="Segoe Sans Text"/>
              </a:rPr>
              <a:t>SQL to Synapse Analytics/Fabric/Azure SQL Edge</a:t>
            </a: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33" name="TextBox 32">
            <a:extLst>
              <a:ext uri="{FF2B5EF4-FFF2-40B4-BE49-F238E27FC236}">
                <a16:creationId xmlns:a16="http://schemas.microsoft.com/office/drawing/2014/main" id="{45562429-DEDC-7A40-6D61-31D19DE1E7D4}"/>
              </a:ext>
            </a:extLst>
          </p:cNvPr>
          <p:cNvSpPr txBox="1"/>
          <p:nvPr/>
        </p:nvSpPr>
        <p:spPr>
          <a:xfrm>
            <a:off x="6612264" y="2536876"/>
            <a:ext cx="4914576"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Migration of SSIS packages</a:t>
            </a:r>
          </a:p>
        </p:txBody>
      </p:sp>
      <p:sp>
        <p:nvSpPr>
          <p:cNvPr id="34" name="TextBox 33">
            <a:extLst>
              <a:ext uri="{FF2B5EF4-FFF2-40B4-BE49-F238E27FC236}">
                <a16:creationId xmlns:a16="http://schemas.microsoft.com/office/drawing/2014/main" id="{14A5ACDD-BFF8-8C43-2C31-31C5C3B04B63}"/>
              </a:ext>
            </a:extLst>
          </p:cNvPr>
          <p:cNvSpPr txBox="1"/>
          <p:nvPr/>
        </p:nvSpPr>
        <p:spPr>
          <a:xfrm>
            <a:off x="6612264" y="2809042"/>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Application dependency testing</a:t>
            </a:r>
            <a:endParaRPr kumimoji="0" lang="en-US" sz="1050" b="0" i="0" u="none" strike="noStrike" kern="0" cap="none" spc="0" normalizeH="0" baseline="0" noProof="0" dirty="0">
              <a:ln>
                <a:noFill/>
              </a:ln>
              <a:solidFill>
                <a:srgbClr val="000000"/>
              </a:solidFill>
              <a:effectLst/>
              <a:uLnTx/>
              <a:uFillTx/>
              <a:latin typeface="Segoe Sans Text"/>
              <a:ea typeface="+mn-ea"/>
              <a:cs typeface="+mn-cs"/>
            </a:endParaRPr>
          </a:p>
        </p:txBody>
      </p:sp>
      <p:sp>
        <p:nvSpPr>
          <p:cNvPr id="35" name="TextBox 34">
            <a:extLst>
              <a:ext uri="{FF2B5EF4-FFF2-40B4-BE49-F238E27FC236}">
                <a16:creationId xmlns:a16="http://schemas.microsoft.com/office/drawing/2014/main" id="{FE293FDE-3D03-4C4E-223E-386C8DDE98C0}"/>
              </a:ext>
            </a:extLst>
          </p:cNvPr>
          <p:cNvSpPr txBox="1"/>
          <p:nvPr/>
        </p:nvSpPr>
        <p:spPr>
          <a:xfrm>
            <a:off x="6612264" y="308120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Any application/services related configurations and testing (pre- and post-migration)</a:t>
            </a:r>
          </a:p>
        </p:txBody>
      </p:sp>
      <p:sp>
        <p:nvSpPr>
          <p:cNvPr id="36" name="TextBox 35">
            <a:extLst>
              <a:ext uri="{FF2B5EF4-FFF2-40B4-BE49-F238E27FC236}">
                <a16:creationId xmlns:a16="http://schemas.microsoft.com/office/drawing/2014/main" id="{22496FEA-5DA2-5144-92B5-A3E84CD1EF51}"/>
              </a:ext>
            </a:extLst>
          </p:cNvPr>
          <p:cNvSpPr txBox="1"/>
          <p:nvPr/>
        </p:nvSpPr>
        <p:spPr>
          <a:xfrm>
            <a:off x="6612264" y="3353374"/>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SQL Server upgrade (in-place) or SQL/OS patch management</a:t>
            </a:r>
          </a:p>
        </p:txBody>
      </p:sp>
      <p:sp>
        <p:nvSpPr>
          <p:cNvPr id="37" name="TextBox 36">
            <a:extLst>
              <a:ext uri="{FF2B5EF4-FFF2-40B4-BE49-F238E27FC236}">
                <a16:creationId xmlns:a16="http://schemas.microsoft.com/office/drawing/2014/main" id="{D80794AD-D68E-5D91-15E5-E91DCBECA896}"/>
              </a:ext>
            </a:extLst>
          </p:cNvPr>
          <p:cNvSpPr txBox="1"/>
          <p:nvPr/>
        </p:nvSpPr>
        <p:spPr>
          <a:xfrm>
            <a:off x="6612264" y="3625540"/>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Pre-/post-migration configuration - backups, monitoring, and alerts</a:t>
            </a:r>
          </a:p>
        </p:txBody>
      </p:sp>
      <p:sp>
        <p:nvSpPr>
          <p:cNvPr id="38" name="TextBox 37">
            <a:extLst>
              <a:ext uri="{FF2B5EF4-FFF2-40B4-BE49-F238E27FC236}">
                <a16:creationId xmlns:a16="http://schemas.microsoft.com/office/drawing/2014/main" id="{3D76444C-F94D-F033-2066-E73A6D282300}"/>
              </a:ext>
            </a:extLst>
          </p:cNvPr>
          <p:cNvSpPr txBox="1"/>
          <p:nvPr/>
        </p:nvSpPr>
        <p:spPr>
          <a:xfrm>
            <a:off x="6612264" y="3897706"/>
            <a:ext cx="4914576"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Data archival solutions/database performance testing</a:t>
            </a:r>
          </a:p>
        </p:txBody>
      </p:sp>
      <p:sp>
        <p:nvSpPr>
          <p:cNvPr id="39" name="TextBox 38">
            <a:extLst>
              <a:ext uri="{FF2B5EF4-FFF2-40B4-BE49-F238E27FC236}">
                <a16:creationId xmlns:a16="http://schemas.microsoft.com/office/drawing/2014/main" id="{274E168B-65D8-9E55-89D3-CA4AB4FF9D59}"/>
              </a:ext>
            </a:extLst>
          </p:cNvPr>
          <p:cNvSpPr txBox="1"/>
          <p:nvPr/>
        </p:nvSpPr>
        <p:spPr>
          <a:xfrm>
            <a:off x="6612264" y="4169872"/>
            <a:ext cx="4914576" cy="153888"/>
          </a:xfrm>
          <a:prstGeom prst="rect">
            <a:avLst/>
          </a:prstGeom>
          <a:noFill/>
        </p:spPr>
        <p:txBody>
          <a:bodyPr wrap="square" lIns="0" tIns="0" rIns="0" bIns="0" anchor="t">
            <a:spAutoFit/>
          </a:bodyPr>
          <a:lstStyle/>
          <a:p>
            <a:pPr lvl="0">
              <a:defRPr/>
            </a:pPr>
            <a:r>
              <a:rPr lang="en-US" sz="1000" kern="0" noProof="0" dirty="0">
                <a:solidFill>
                  <a:srgbClr val="000000"/>
                </a:solidFill>
              </a:rPr>
              <a:t>Architectural design and discussion for HA/DR</a:t>
            </a:r>
          </a:p>
        </p:txBody>
      </p:sp>
      <p:sp>
        <p:nvSpPr>
          <p:cNvPr id="40" name="TextBox 39">
            <a:extLst>
              <a:ext uri="{FF2B5EF4-FFF2-40B4-BE49-F238E27FC236}">
                <a16:creationId xmlns:a16="http://schemas.microsoft.com/office/drawing/2014/main" id="{A31A032C-5C96-F698-43C4-774E7703B585}"/>
              </a:ext>
            </a:extLst>
          </p:cNvPr>
          <p:cNvSpPr txBox="1"/>
          <p:nvPr/>
        </p:nvSpPr>
        <p:spPr>
          <a:xfrm>
            <a:off x="6612264" y="444203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HA/DR testing</a:t>
            </a:r>
          </a:p>
        </p:txBody>
      </p:sp>
      <p:sp>
        <p:nvSpPr>
          <p:cNvPr id="41" name="TextBox 40">
            <a:extLst>
              <a:ext uri="{FF2B5EF4-FFF2-40B4-BE49-F238E27FC236}">
                <a16:creationId xmlns:a16="http://schemas.microsoft.com/office/drawing/2014/main" id="{4B442BF3-93A8-DF08-3CA1-CDEF7C96EE5F}"/>
              </a:ext>
            </a:extLst>
          </p:cNvPr>
          <p:cNvSpPr txBox="1"/>
          <p:nvPr/>
        </p:nvSpPr>
        <p:spPr>
          <a:xfrm>
            <a:off x="6612264" y="4714204"/>
            <a:ext cx="4914576"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Third-party tools setup or configuration</a:t>
            </a:r>
          </a:p>
        </p:txBody>
      </p:sp>
      <p:sp>
        <p:nvSpPr>
          <p:cNvPr id="42" name="TextBox 41">
            <a:extLst>
              <a:ext uri="{FF2B5EF4-FFF2-40B4-BE49-F238E27FC236}">
                <a16:creationId xmlns:a16="http://schemas.microsoft.com/office/drawing/2014/main" id="{5BAAD818-0D85-8AE3-FE80-D65FB5B2CAB2}"/>
              </a:ext>
            </a:extLst>
          </p:cNvPr>
          <p:cNvSpPr txBox="1"/>
          <p:nvPr/>
        </p:nvSpPr>
        <p:spPr>
          <a:xfrm>
            <a:off x="6612264" y="4986370"/>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Source environment configuration changes</a:t>
            </a:r>
          </a:p>
        </p:txBody>
      </p:sp>
      <p:sp>
        <p:nvSpPr>
          <p:cNvPr id="44" name="TextBox 43">
            <a:extLst>
              <a:ext uri="{FF2B5EF4-FFF2-40B4-BE49-F238E27FC236}">
                <a16:creationId xmlns:a16="http://schemas.microsoft.com/office/drawing/2014/main" id="{41639375-445E-6172-7C67-36108AFDA432}"/>
              </a:ext>
            </a:extLst>
          </p:cNvPr>
          <p:cNvSpPr txBox="1"/>
          <p:nvPr/>
        </p:nvSpPr>
        <p:spPr>
          <a:xfrm>
            <a:off x="6612264" y="5254620"/>
            <a:ext cx="4914576" cy="16158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Any other migration path not listed in the scope</a:t>
            </a:r>
          </a:p>
        </p:txBody>
      </p:sp>
      <p:sp>
        <p:nvSpPr>
          <p:cNvPr id="45" name="TextBox 44">
            <a:extLst>
              <a:ext uri="{FF2B5EF4-FFF2-40B4-BE49-F238E27FC236}">
                <a16:creationId xmlns:a16="http://schemas.microsoft.com/office/drawing/2014/main" id="{2486A431-6FED-8976-79D0-22747C07ED7C}"/>
              </a:ext>
            </a:extLst>
          </p:cNvPr>
          <p:cNvSpPr txBox="1"/>
          <p:nvPr/>
        </p:nvSpPr>
        <p:spPr>
          <a:xfrm>
            <a:off x="6612264" y="553447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Advisory services and consulting</a:t>
            </a:r>
          </a:p>
        </p:txBody>
      </p:sp>
      <p:sp>
        <p:nvSpPr>
          <p:cNvPr id="47" name="Oval 46">
            <a:extLst>
              <a:ext uri="{FF2B5EF4-FFF2-40B4-BE49-F238E27FC236}">
                <a16:creationId xmlns:a16="http://schemas.microsoft.com/office/drawing/2014/main" id="{7F3189C4-1F2F-E6AB-98AC-E6FE9DC9457A}"/>
              </a:ext>
              <a:ext uri="{C183D7F6-B498-43B3-948B-1728B52AA6E4}">
                <adec:decorative xmlns:adec="http://schemas.microsoft.com/office/drawing/2017/decorative" val="1"/>
              </a:ext>
            </a:extLst>
          </p:cNvPr>
          <p:cNvSpPr/>
          <p:nvPr/>
        </p:nvSpPr>
        <p:spPr bwMode="auto">
          <a:xfrm>
            <a:off x="6305845" y="3515506"/>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48" name="Oval 47">
            <a:extLst>
              <a:ext uri="{FF2B5EF4-FFF2-40B4-BE49-F238E27FC236}">
                <a16:creationId xmlns:a16="http://schemas.microsoft.com/office/drawing/2014/main" id="{F231852B-F581-596B-FFC0-538B8BC7B455}"/>
              </a:ext>
              <a:ext uri="{C183D7F6-B498-43B3-948B-1728B52AA6E4}">
                <adec:decorative xmlns:adec="http://schemas.microsoft.com/office/drawing/2017/decorative" val="1"/>
              </a:ext>
            </a:extLst>
          </p:cNvPr>
          <p:cNvSpPr/>
          <p:nvPr/>
        </p:nvSpPr>
        <p:spPr bwMode="auto">
          <a:xfrm>
            <a:off x="6305845" y="1980340"/>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49" name="Oval 48">
            <a:extLst>
              <a:ext uri="{FF2B5EF4-FFF2-40B4-BE49-F238E27FC236}">
                <a16:creationId xmlns:a16="http://schemas.microsoft.com/office/drawing/2014/main" id="{F8F03137-5906-F507-7EB5-46D0B2D82B41}"/>
              </a:ext>
              <a:ext uri="{C183D7F6-B498-43B3-948B-1728B52AA6E4}">
                <adec:decorative xmlns:adec="http://schemas.microsoft.com/office/drawing/2017/decorative" val="1"/>
              </a:ext>
            </a:extLst>
          </p:cNvPr>
          <p:cNvSpPr/>
          <p:nvPr/>
        </p:nvSpPr>
        <p:spPr bwMode="auto">
          <a:xfrm>
            <a:off x="6305845" y="4027228"/>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0" name="Oval 49">
            <a:extLst>
              <a:ext uri="{FF2B5EF4-FFF2-40B4-BE49-F238E27FC236}">
                <a16:creationId xmlns:a16="http://schemas.microsoft.com/office/drawing/2014/main" id="{75B26A1F-EB4D-EE02-9F8B-FA6B8E218574}"/>
              </a:ext>
              <a:ext uri="{C183D7F6-B498-43B3-948B-1728B52AA6E4}">
                <adec:decorative xmlns:adec="http://schemas.microsoft.com/office/drawing/2017/decorative" val="1"/>
              </a:ext>
            </a:extLst>
          </p:cNvPr>
          <p:cNvSpPr/>
          <p:nvPr/>
        </p:nvSpPr>
        <p:spPr bwMode="auto">
          <a:xfrm>
            <a:off x="6305845" y="4283089"/>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1" name="Oval 50">
            <a:extLst>
              <a:ext uri="{FF2B5EF4-FFF2-40B4-BE49-F238E27FC236}">
                <a16:creationId xmlns:a16="http://schemas.microsoft.com/office/drawing/2014/main" id="{6B7E7866-8FE8-75F3-8632-8B56E6EBDE45}"/>
              </a:ext>
              <a:ext uri="{C183D7F6-B498-43B3-948B-1728B52AA6E4}">
                <adec:decorative xmlns:adec="http://schemas.microsoft.com/office/drawing/2017/decorative" val="1"/>
              </a:ext>
            </a:extLst>
          </p:cNvPr>
          <p:cNvSpPr/>
          <p:nvPr/>
        </p:nvSpPr>
        <p:spPr bwMode="auto">
          <a:xfrm>
            <a:off x="6305845" y="5050672"/>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3" name="Oval 52">
            <a:extLst>
              <a:ext uri="{FF2B5EF4-FFF2-40B4-BE49-F238E27FC236}">
                <a16:creationId xmlns:a16="http://schemas.microsoft.com/office/drawing/2014/main" id="{F7C49088-63F8-82D4-C0BC-4BF4405A332A}"/>
              </a:ext>
              <a:ext uri="{C183D7F6-B498-43B3-948B-1728B52AA6E4}">
                <adec:decorative xmlns:adec="http://schemas.microsoft.com/office/drawing/2017/decorative" val="1"/>
              </a:ext>
            </a:extLst>
          </p:cNvPr>
          <p:cNvSpPr/>
          <p:nvPr/>
        </p:nvSpPr>
        <p:spPr bwMode="auto">
          <a:xfrm>
            <a:off x="6305845" y="2492062"/>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4" name="Oval 53">
            <a:extLst>
              <a:ext uri="{FF2B5EF4-FFF2-40B4-BE49-F238E27FC236}">
                <a16:creationId xmlns:a16="http://schemas.microsoft.com/office/drawing/2014/main" id="{B13F524F-DFE6-2ED2-190C-ED6AF6A550A6}"/>
              </a:ext>
              <a:ext uri="{C183D7F6-B498-43B3-948B-1728B52AA6E4}">
                <adec:decorative xmlns:adec="http://schemas.microsoft.com/office/drawing/2017/decorative" val="1"/>
              </a:ext>
            </a:extLst>
          </p:cNvPr>
          <p:cNvSpPr/>
          <p:nvPr/>
        </p:nvSpPr>
        <p:spPr bwMode="auto">
          <a:xfrm>
            <a:off x="6305845" y="2747923"/>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5" name="Oval 54">
            <a:extLst>
              <a:ext uri="{FF2B5EF4-FFF2-40B4-BE49-F238E27FC236}">
                <a16:creationId xmlns:a16="http://schemas.microsoft.com/office/drawing/2014/main" id="{980D9CA0-8FD5-8DFB-301E-822F054CF9FC}"/>
              </a:ext>
              <a:ext uri="{C183D7F6-B498-43B3-948B-1728B52AA6E4}">
                <adec:decorative xmlns:adec="http://schemas.microsoft.com/office/drawing/2017/decorative" val="1"/>
              </a:ext>
            </a:extLst>
          </p:cNvPr>
          <p:cNvSpPr/>
          <p:nvPr/>
        </p:nvSpPr>
        <p:spPr bwMode="auto">
          <a:xfrm>
            <a:off x="6305845" y="4538950"/>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6" name="Oval 55">
            <a:extLst>
              <a:ext uri="{FF2B5EF4-FFF2-40B4-BE49-F238E27FC236}">
                <a16:creationId xmlns:a16="http://schemas.microsoft.com/office/drawing/2014/main" id="{251DB544-784A-DE10-D0C7-B6E32DCCC64C}"/>
              </a:ext>
              <a:ext uri="{C183D7F6-B498-43B3-948B-1728B52AA6E4}">
                <adec:decorative xmlns:adec="http://schemas.microsoft.com/office/drawing/2017/decorative" val="1"/>
              </a:ext>
            </a:extLst>
          </p:cNvPr>
          <p:cNvSpPr/>
          <p:nvPr/>
        </p:nvSpPr>
        <p:spPr bwMode="auto">
          <a:xfrm>
            <a:off x="6305845" y="4794811"/>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7" name="Oval 56">
            <a:extLst>
              <a:ext uri="{FF2B5EF4-FFF2-40B4-BE49-F238E27FC236}">
                <a16:creationId xmlns:a16="http://schemas.microsoft.com/office/drawing/2014/main" id="{6D45BED6-5EF9-3A94-F676-AD7BCF10A164}"/>
              </a:ext>
              <a:ext uri="{C183D7F6-B498-43B3-948B-1728B52AA6E4}">
                <adec:decorative xmlns:adec="http://schemas.microsoft.com/office/drawing/2017/decorative" val="1"/>
              </a:ext>
            </a:extLst>
          </p:cNvPr>
          <p:cNvSpPr/>
          <p:nvPr/>
        </p:nvSpPr>
        <p:spPr bwMode="auto">
          <a:xfrm>
            <a:off x="6305845" y="5278617"/>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8" name="Oval 57">
            <a:extLst>
              <a:ext uri="{FF2B5EF4-FFF2-40B4-BE49-F238E27FC236}">
                <a16:creationId xmlns:a16="http://schemas.microsoft.com/office/drawing/2014/main" id="{83CD0FE9-24D2-CFC5-2E9D-5236B0E68D1D}"/>
              </a:ext>
              <a:ext uri="{C183D7F6-B498-43B3-948B-1728B52AA6E4}">
                <adec:decorative xmlns:adec="http://schemas.microsoft.com/office/drawing/2017/decorative" val="1"/>
              </a:ext>
            </a:extLst>
          </p:cNvPr>
          <p:cNvSpPr/>
          <p:nvPr/>
        </p:nvSpPr>
        <p:spPr bwMode="auto">
          <a:xfrm>
            <a:off x="6305845" y="3003784"/>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59" name="Oval 58">
            <a:extLst>
              <a:ext uri="{FF2B5EF4-FFF2-40B4-BE49-F238E27FC236}">
                <a16:creationId xmlns:a16="http://schemas.microsoft.com/office/drawing/2014/main" id="{8ED19D38-7705-B4E0-A24B-AE7917F4F476}"/>
              </a:ext>
              <a:ext uri="{C183D7F6-B498-43B3-948B-1728B52AA6E4}">
                <adec:decorative xmlns:adec="http://schemas.microsoft.com/office/drawing/2017/decorative" val="1"/>
              </a:ext>
            </a:extLst>
          </p:cNvPr>
          <p:cNvSpPr/>
          <p:nvPr/>
        </p:nvSpPr>
        <p:spPr bwMode="auto">
          <a:xfrm>
            <a:off x="6305845" y="3259645"/>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0" name="Oval 59">
            <a:extLst>
              <a:ext uri="{FF2B5EF4-FFF2-40B4-BE49-F238E27FC236}">
                <a16:creationId xmlns:a16="http://schemas.microsoft.com/office/drawing/2014/main" id="{7DA0D7DF-7457-5F7C-F2AE-D64414A3D59C}"/>
              </a:ext>
              <a:ext uri="{C183D7F6-B498-43B3-948B-1728B52AA6E4}">
                <adec:decorative xmlns:adec="http://schemas.microsoft.com/office/drawing/2017/decorative" val="1"/>
              </a:ext>
            </a:extLst>
          </p:cNvPr>
          <p:cNvSpPr/>
          <p:nvPr/>
        </p:nvSpPr>
        <p:spPr bwMode="auto">
          <a:xfrm>
            <a:off x="6305845" y="3771367"/>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61" name="Straight Connector 60">
            <a:extLst>
              <a:ext uri="{FF2B5EF4-FFF2-40B4-BE49-F238E27FC236}">
                <a16:creationId xmlns:a16="http://schemas.microsoft.com/office/drawing/2014/main" id="{048D3FE5-90BB-B932-88A0-489DAD09F5C0}"/>
              </a:ext>
              <a:ext uri="{C183D7F6-B498-43B3-948B-1728B52AA6E4}">
                <adec:decorative xmlns:adec="http://schemas.microsoft.com/office/drawing/2017/decorative" val="1"/>
              </a:ext>
            </a:extLst>
          </p:cNvPr>
          <p:cNvCxnSpPr>
            <a:cxnSpLocks/>
          </p:cNvCxnSpPr>
          <p:nvPr/>
        </p:nvCxnSpPr>
        <p:spPr>
          <a:xfrm>
            <a:off x="1037118" y="5634302"/>
            <a:ext cx="4864301" cy="2458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FB03D144-A46D-F1F9-1CD8-30CA3C7B94BD}"/>
              </a:ext>
              <a:ext uri="{C183D7F6-B498-43B3-948B-1728B52AA6E4}">
                <adec:decorative xmlns:adec="http://schemas.microsoft.com/office/drawing/2017/decorative" val="1"/>
              </a:ext>
            </a:extLst>
          </p:cNvPr>
          <p:cNvSpPr/>
          <p:nvPr/>
        </p:nvSpPr>
        <p:spPr bwMode="auto">
          <a:xfrm>
            <a:off x="725014" y="563910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3" name="Oval 62">
            <a:extLst>
              <a:ext uri="{FF2B5EF4-FFF2-40B4-BE49-F238E27FC236}">
                <a16:creationId xmlns:a16="http://schemas.microsoft.com/office/drawing/2014/main" id="{D9F2C0CC-9873-ADCF-B730-71ACE849922A}"/>
              </a:ext>
              <a:ext uri="{C183D7F6-B498-43B3-948B-1728B52AA6E4}">
                <adec:decorative xmlns:adec="http://schemas.microsoft.com/office/drawing/2017/decorative" val="1"/>
              </a:ext>
            </a:extLst>
          </p:cNvPr>
          <p:cNvSpPr/>
          <p:nvPr/>
        </p:nvSpPr>
        <p:spPr bwMode="auto">
          <a:xfrm>
            <a:off x="6305845" y="5534476"/>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64" name="Straight Connector 63">
            <a:extLst>
              <a:ext uri="{FF2B5EF4-FFF2-40B4-BE49-F238E27FC236}">
                <a16:creationId xmlns:a16="http://schemas.microsoft.com/office/drawing/2014/main" id="{6E846EF9-79B3-9C03-DFCD-936501F93A6E}"/>
              </a:ext>
              <a:ext uri="{C183D7F6-B498-43B3-948B-1728B52AA6E4}">
                <adec:decorative xmlns:adec="http://schemas.microsoft.com/office/drawing/2017/decorative" val="1"/>
              </a:ext>
            </a:extLst>
          </p:cNvPr>
          <p:cNvCxnSpPr>
            <a:cxnSpLocks/>
          </p:cNvCxnSpPr>
          <p:nvPr/>
        </p:nvCxnSpPr>
        <p:spPr>
          <a:xfrm>
            <a:off x="6612264" y="547534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06ED3C2-5DE9-33B1-964D-C690431A7647}"/>
              </a:ext>
              <a:ext uri="{C183D7F6-B498-43B3-948B-1728B52AA6E4}">
                <adec:decorative xmlns:adec="http://schemas.microsoft.com/office/drawing/2017/decorative" val="1"/>
              </a:ext>
            </a:extLst>
          </p:cNvPr>
          <p:cNvCxnSpPr>
            <a:cxnSpLocks/>
          </p:cNvCxnSpPr>
          <p:nvPr/>
        </p:nvCxnSpPr>
        <p:spPr>
          <a:xfrm>
            <a:off x="6612264" y="329423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D9783249-D1A9-F6D8-E64C-3997CE16C012}"/>
              </a:ext>
              <a:ext uri="{C183D7F6-B498-43B3-948B-1728B52AA6E4}">
                <adec:decorative xmlns:adec="http://schemas.microsoft.com/office/drawing/2017/decorative" val="1"/>
              </a:ext>
            </a:extLst>
          </p:cNvPr>
          <p:cNvSpPr/>
          <p:nvPr/>
        </p:nvSpPr>
        <p:spPr bwMode="auto">
          <a:xfrm>
            <a:off x="6305845" y="2236201"/>
            <a:ext cx="140352" cy="140352"/>
          </a:xfrm>
          <a:prstGeom prst="ellipse">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7" name="Oval 66">
            <a:extLst>
              <a:ext uri="{FF2B5EF4-FFF2-40B4-BE49-F238E27FC236}">
                <a16:creationId xmlns:a16="http://schemas.microsoft.com/office/drawing/2014/main" id="{76644E89-B172-3E6C-1A61-575840A56154}"/>
              </a:ext>
              <a:ext uri="{C183D7F6-B498-43B3-948B-1728B52AA6E4}">
                <adec:decorative xmlns:adec="http://schemas.microsoft.com/office/drawing/2017/decorative" val="1"/>
              </a:ext>
            </a:extLst>
          </p:cNvPr>
          <p:cNvSpPr/>
          <p:nvPr/>
        </p:nvSpPr>
        <p:spPr bwMode="auto">
          <a:xfrm>
            <a:off x="725014" y="4677359"/>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8" name="TextBox 67">
            <a:extLst>
              <a:ext uri="{FF2B5EF4-FFF2-40B4-BE49-F238E27FC236}">
                <a16:creationId xmlns:a16="http://schemas.microsoft.com/office/drawing/2014/main" id="{3DEE81A8-DFB4-3D09-658F-415F2B06B624}"/>
              </a:ext>
            </a:extLst>
          </p:cNvPr>
          <p:cNvSpPr txBox="1"/>
          <p:nvPr/>
        </p:nvSpPr>
        <p:spPr>
          <a:xfrm>
            <a:off x="1025004" y="4655065"/>
            <a:ext cx="4914576" cy="692497"/>
          </a:xfrm>
          <a:prstGeom prst="rect">
            <a:avLst/>
          </a:prstGeom>
          <a:noFill/>
        </p:spPr>
        <p:txBody>
          <a:bodyPr wrap="square" lIns="0" tIns="0" rIns="0" bIns="0" anchor="t">
            <a:spAutoFit/>
          </a:bodyPr>
          <a:lstStyle/>
          <a:p>
            <a:pPr>
              <a:spcAft>
                <a:spcPts val="200"/>
              </a:spcAft>
              <a:defRPr/>
            </a:pPr>
            <a:r>
              <a:rPr lang="en-US" sz="1000" b="1" kern="0" noProof="0" dirty="0">
                <a:solidFill>
                  <a:srgbClr val="000000"/>
                </a:solidFill>
                <a:latin typeface="Segoe Sans Text"/>
                <a:cs typeface="Segoe Sans Text"/>
              </a:rPr>
              <a:t>Heterogeneous DB Migration ( to SQL Server ) </a:t>
            </a:r>
            <a:r>
              <a:rPr kumimoji="0" lang="en-US" sz="1000" b="1" i="0" u="none" strike="noStrike" kern="0" cap="none" spc="0" normalizeH="0" baseline="0" noProof="0" dirty="0">
                <a:ln>
                  <a:noFill/>
                </a:ln>
                <a:solidFill>
                  <a:srgbClr val="000000"/>
                </a:solidFill>
                <a:effectLst/>
                <a:uLnTx/>
                <a:uFillTx/>
                <a:latin typeface="Segoe Sans Text"/>
                <a:cs typeface="Segoe Sans Text"/>
              </a:rPr>
              <a:t>supported</a:t>
            </a:r>
            <a:r>
              <a:rPr lang="en-US" sz="1000" b="1" kern="0" noProof="0" dirty="0">
                <a:solidFill>
                  <a:srgbClr val="000000"/>
                </a:solidFill>
                <a:latin typeface="Segoe Sans Text"/>
                <a:cs typeface="Segoe Sans Text"/>
              </a:rPr>
              <a:t> scenarios</a:t>
            </a:r>
            <a:r>
              <a:rPr kumimoji="0" lang="en-US" sz="1000" b="1" i="0" u="none" strike="noStrike" kern="0" cap="none" spc="0" normalizeH="0" baseline="0" noProof="0" dirty="0">
                <a:ln>
                  <a:noFill/>
                </a:ln>
                <a:solidFill>
                  <a:srgbClr val="000000"/>
                </a:solidFill>
                <a:effectLst/>
                <a:uLnTx/>
                <a:uFillTx/>
                <a:latin typeface="Segoe Sans Text"/>
                <a:cs typeface="Segoe Sans Text"/>
              </a:rPr>
              <a:t>:</a:t>
            </a:r>
            <a:endParaRPr lang="en-US" noProof="0" dirty="0">
              <a:cs typeface="Segoe Sans Text"/>
            </a:endParaRPr>
          </a:p>
          <a:p>
            <a:pPr>
              <a:spcAft>
                <a:spcPts val="200"/>
              </a:spcAft>
              <a:defRPr/>
            </a:pPr>
            <a:r>
              <a:rPr lang="en-US" sz="1000" kern="0" noProof="0" dirty="0">
                <a:solidFill>
                  <a:srgbClr val="000000"/>
                </a:solidFill>
                <a:latin typeface="Segoe Sans Text"/>
                <a:cs typeface="Segoe Sans Text"/>
              </a:rPr>
              <a:t> Heterogeneous</a:t>
            </a:r>
            <a:r>
              <a:rPr kumimoji="0" lang="en-US" sz="1000" b="0" i="0" u="none" strike="noStrike" kern="0" cap="none" spc="0" normalizeH="0" baseline="0" noProof="0" dirty="0">
                <a:ln>
                  <a:noFill/>
                </a:ln>
                <a:solidFill>
                  <a:srgbClr val="000000"/>
                </a:solidFill>
                <a:effectLst/>
                <a:uLnTx/>
                <a:uFillTx/>
                <a:latin typeface="Segoe Sans Text"/>
                <a:cs typeface="Segoe Sans Text"/>
              </a:rPr>
              <a:t> migration paths:</a:t>
            </a:r>
            <a:endParaRPr lang="en-US" sz="1000" b="0" i="0" u="none" strike="noStrike" kern="0" cap="none" spc="0" normalizeH="0" baseline="0" noProof="0" dirty="0">
              <a:ln>
                <a:noFill/>
              </a:ln>
              <a:solidFill>
                <a:srgbClr val="000000"/>
              </a:solidFill>
              <a:effectLst/>
              <a:uLnTx/>
              <a:uFillTx/>
              <a:latin typeface="Segoe Sans Text"/>
              <a:cs typeface="Segoe Sans Text"/>
            </a:endParaRPr>
          </a:p>
          <a:p>
            <a:pPr marL="171450" indent="-171450">
              <a:spcAft>
                <a:spcPts val="200"/>
              </a:spcAft>
              <a:buFont typeface="Arial" panose="020B0604020202020204" pitchFamily="34" charset="0"/>
              <a:buChar char="•"/>
              <a:defRPr/>
            </a:pPr>
            <a:r>
              <a:rPr lang="en-US" sz="1000" kern="0" noProof="0" dirty="0">
                <a:solidFill>
                  <a:srgbClr val="000000"/>
                </a:solidFill>
                <a:latin typeface="Segoe Sans Text"/>
                <a:cs typeface="Segoe Sans Text"/>
              </a:rPr>
              <a:t>Oracle</a:t>
            </a:r>
            <a:r>
              <a:rPr kumimoji="0" lang="en-US" sz="1000" b="0" i="0" u="none" strike="noStrike" kern="0" cap="none" spc="0" normalizeH="0" baseline="0" noProof="0" dirty="0">
                <a:ln>
                  <a:noFill/>
                </a:ln>
                <a:solidFill>
                  <a:srgbClr val="000000"/>
                </a:solidFill>
                <a:effectLst/>
                <a:uLnTx/>
                <a:uFillTx/>
                <a:latin typeface="Segoe Sans Text"/>
                <a:cs typeface="Segoe Sans Text"/>
              </a:rPr>
              <a:t> to Azure SQL Database</a:t>
            </a:r>
            <a:r>
              <a:rPr lang="en-US" sz="1000" kern="0" noProof="0" dirty="0">
                <a:solidFill>
                  <a:srgbClr val="000000"/>
                </a:solidFill>
                <a:latin typeface="Segoe Sans Text"/>
                <a:cs typeface="Segoe Sans Text"/>
              </a:rPr>
              <a:t>/Azure SQL MI/Azure VM* </a:t>
            </a:r>
          </a:p>
          <a:p>
            <a:pPr marL="171450" indent="-171450">
              <a:spcAft>
                <a:spcPts val="200"/>
              </a:spcAft>
              <a:buFont typeface="Arial" panose="020B0604020202020204" pitchFamily="34" charset="0"/>
              <a:buChar char="•"/>
              <a:defRPr/>
            </a:pPr>
            <a:r>
              <a:rPr lang="en-US" sz="1000" kern="0" noProof="0" dirty="0">
                <a:solidFill>
                  <a:srgbClr val="000000"/>
                </a:solidFill>
                <a:latin typeface="Segoe Sans Text"/>
                <a:cs typeface="Segoe Sans Text"/>
              </a:rPr>
              <a:t>Sybase to Azure SQL Database/Azure SQL MI/Azure VM*</a:t>
            </a:r>
            <a:r>
              <a:rPr kumimoji="0" lang="en-US" sz="1000" b="0" i="0" u="none" strike="noStrike" kern="0" cap="none" spc="0" normalizeH="0" baseline="0" noProof="0" dirty="0">
                <a:ln>
                  <a:noFill/>
                </a:ln>
                <a:solidFill>
                  <a:srgbClr val="000000"/>
                </a:solidFill>
                <a:effectLst/>
                <a:uLnTx/>
                <a:uFillTx/>
                <a:latin typeface="Segoe Sans Text"/>
                <a:cs typeface="Segoe Sans Text"/>
              </a:rPr>
              <a:t>​</a:t>
            </a:r>
            <a:endParaRPr lang="en-US" noProof="0" dirty="0">
              <a:cs typeface="Segoe Sans Text"/>
            </a:endParaRPr>
          </a:p>
        </p:txBody>
      </p:sp>
      <p:cxnSp>
        <p:nvCxnSpPr>
          <p:cNvPr id="69" name="Straight Connector 68">
            <a:extLst>
              <a:ext uri="{FF2B5EF4-FFF2-40B4-BE49-F238E27FC236}">
                <a16:creationId xmlns:a16="http://schemas.microsoft.com/office/drawing/2014/main" id="{F7304988-ABA3-EB5D-104D-700F70D5D935}"/>
              </a:ext>
              <a:ext uri="{C183D7F6-B498-43B3-948B-1728B52AA6E4}">
                <adec:decorative xmlns:adec="http://schemas.microsoft.com/office/drawing/2017/decorative" val="1"/>
              </a:ext>
            </a:extLst>
          </p:cNvPr>
          <p:cNvCxnSpPr>
            <a:cxnSpLocks/>
          </p:cNvCxnSpPr>
          <p:nvPr/>
        </p:nvCxnSpPr>
        <p:spPr>
          <a:xfrm>
            <a:off x="1012714" y="4620776"/>
            <a:ext cx="4864301" cy="2458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C8F65D7A-2E47-FBA0-4FB9-F8F87518C96F}"/>
              </a:ext>
              <a:ext uri="{C183D7F6-B498-43B3-948B-1728B52AA6E4}">
                <adec:decorative xmlns:adec="http://schemas.microsoft.com/office/drawing/2017/decorative" val="1"/>
              </a:ext>
            </a:extLst>
          </p:cNvPr>
          <p:cNvSpPr/>
          <p:nvPr/>
        </p:nvSpPr>
        <p:spPr bwMode="auto">
          <a:xfrm>
            <a:off x="719289" y="580525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7" name="Oval 86">
            <a:extLst>
              <a:ext uri="{FF2B5EF4-FFF2-40B4-BE49-F238E27FC236}">
                <a16:creationId xmlns:a16="http://schemas.microsoft.com/office/drawing/2014/main" id="{DDE78E25-DDFE-3DEF-8F14-0E4294100D03}"/>
              </a:ext>
            </a:extLst>
          </p:cNvPr>
          <p:cNvSpPr/>
          <p:nvPr/>
        </p:nvSpPr>
        <p:spPr bwMode="auto">
          <a:xfrm>
            <a:off x="726922" y="58152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0" name="Oval 89">
            <a:extLst>
              <a:ext uri="{FF2B5EF4-FFF2-40B4-BE49-F238E27FC236}">
                <a16:creationId xmlns:a16="http://schemas.microsoft.com/office/drawing/2014/main" id="{91DF2C16-79E0-DEFA-8019-5C24941C89A9}"/>
              </a:ext>
            </a:extLst>
          </p:cNvPr>
          <p:cNvSpPr/>
          <p:nvPr/>
        </p:nvSpPr>
        <p:spPr bwMode="auto">
          <a:xfrm>
            <a:off x="726922" y="565613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1" name="Oval 90">
            <a:extLst>
              <a:ext uri="{FF2B5EF4-FFF2-40B4-BE49-F238E27FC236}">
                <a16:creationId xmlns:a16="http://schemas.microsoft.com/office/drawing/2014/main" id="{0B2566C4-70F3-76EB-D06C-8C59518DAC0F}"/>
              </a:ext>
            </a:extLst>
          </p:cNvPr>
          <p:cNvSpPr/>
          <p:nvPr/>
        </p:nvSpPr>
        <p:spPr bwMode="auto">
          <a:xfrm>
            <a:off x="726922" y="54794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2" name="Oval 91">
            <a:extLst>
              <a:ext uri="{FF2B5EF4-FFF2-40B4-BE49-F238E27FC236}">
                <a16:creationId xmlns:a16="http://schemas.microsoft.com/office/drawing/2014/main" id="{AB9D28CE-AF49-44D7-00C0-44C752DA3779}"/>
              </a:ext>
            </a:extLst>
          </p:cNvPr>
          <p:cNvSpPr/>
          <p:nvPr/>
        </p:nvSpPr>
        <p:spPr bwMode="auto">
          <a:xfrm>
            <a:off x="726922" y="469398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3" name="Oval 92">
            <a:extLst>
              <a:ext uri="{FF2B5EF4-FFF2-40B4-BE49-F238E27FC236}">
                <a16:creationId xmlns:a16="http://schemas.microsoft.com/office/drawing/2014/main" id="{D36D6373-D528-4C87-74BE-A76C881FEEFB}"/>
              </a:ext>
            </a:extLst>
          </p:cNvPr>
          <p:cNvSpPr/>
          <p:nvPr/>
        </p:nvSpPr>
        <p:spPr bwMode="auto">
          <a:xfrm>
            <a:off x="726922" y="227307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4" name="Oval 93">
            <a:extLst>
              <a:ext uri="{FF2B5EF4-FFF2-40B4-BE49-F238E27FC236}">
                <a16:creationId xmlns:a16="http://schemas.microsoft.com/office/drawing/2014/main" id="{9A3ADFCD-AB03-BD0F-E8AA-75302BA2CF2F}"/>
              </a:ext>
            </a:extLst>
          </p:cNvPr>
          <p:cNvSpPr/>
          <p:nvPr/>
        </p:nvSpPr>
        <p:spPr bwMode="auto">
          <a:xfrm>
            <a:off x="726922" y="198353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2" name="Oval 71">
            <a:extLst>
              <a:ext uri="{FF2B5EF4-FFF2-40B4-BE49-F238E27FC236}">
                <a16:creationId xmlns:a16="http://schemas.microsoft.com/office/drawing/2014/main" id="{4F98DF71-031C-0FBE-D0B3-41250367FE2C}"/>
              </a:ext>
            </a:extLst>
          </p:cNvPr>
          <p:cNvSpPr/>
          <p:nvPr/>
        </p:nvSpPr>
        <p:spPr bwMode="auto">
          <a:xfrm>
            <a:off x="6305845" y="19758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3" name="Oval 72">
            <a:extLst>
              <a:ext uri="{FF2B5EF4-FFF2-40B4-BE49-F238E27FC236}">
                <a16:creationId xmlns:a16="http://schemas.microsoft.com/office/drawing/2014/main" id="{0F4720E1-8000-25F3-E3D6-B4EA42AA52ED}"/>
              </a:ext>
            </a:extLst>
          </p:cNvPr>
          <p:cNvSpPr/>
          <p:nvPr/>
        </p:nvSpPr>
        <p:spPr bwMode="auto">
          <a:xfrm>
            <a:off x="6305845" y="222691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4" name="Oval 73">
            <a:extLst>
              <a:ext uri="{FF2B5EF4-FFF2-40B4-BE49-F238E27FC236}">
                <a16:creationId xmlns:a16="http://schemas.microsoft.com/office/drawing/2014/main" id="{91DDE3AE-33CE-17C7-58A0-453C057C1DC8}"/>
              </a:ext>
            </a:extLst>
          </p:cNvPr>
          <p:cNvSpPr/>
          <p:nvPr/>
        </p:nvSpPr>
        <p:spPr bwMode="auto">
          <a:xfrm>
            <a:off x="6305845" y="250295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5" name="Oval 74">
            <a:extLst>
              <a:ext uri="{FF2B5EF4-FFF2-40B4-BE49-F238E27FC236}">
                <a16:creationId xmlns:a16="http://schemas.microsoft.com/office/drawing/2014/main" id="{DF4F0516-5E50-0EBB-8658-08F801EDFB67}"/>
              </a:ext>
            </a:extLst>
          </p:cNvPr>
          <p:cNvSpPr/>
          <p:nvPr/>
        </p:nvSpPr>
        <p:spPr bwMode="auto">
          <a:xfrm>
            <a:off x="6305845" y="275562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6" name="Oval 75">
            <a:extLst>
              <a:ext uri="{FF2B5EF4-FFF2-40B4-BE49-F238E27FC236}">
                <a16:creationId xmlns:a16="http://schemas.microsoft.com/office/drawing/2014/main" id="{EE40008E-DB08-285B-CBAB-CF8F168984D5}"/>
              </a:ext>
            </a:extLst>
          </p:cNvPr>
          <p:cNvSpPr/>
          <p:nvPr/>
        </p:nvSpPr>
        <p:spPr bwMode="auto">
          <a:xfrm>
            <a:off x="6305845" y="299213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7" name="Oval 76">
            <a:extLst>
              <a:ext uri="{FF2B5EF4-FFF2-40B4-BE49-F238E27FC236}">
                <a16:creationId xmlns:a16="http://schemas.microsoft.com/office/drawing/2014/main" id="{0CDC2647-6C95-BBE2-4202-887796451800}"/>
              </a:ext>
            </a:extLst>
          </p:cNvPr>
          <p:cNvSpPr/>
          <p:nvPr/>
        </p:nvSpPr>
        <p:spPr bwMode="auto">
          <a:xfrm>
            <a:off x="6305845" y="325823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8" name="Oval 77">
            <a:extLst>
              <a:ext uri="{FF2B5EF4-FFF2-40B4-BE49-F238E27FC236}">
                <a16:creationId xmlns:a16="http://schemas.microsoft.com/office/drawing/2014/main" id="{06714958-C2D3-7AF2-DF20-A38A12523CB9}"/>
              </a:ext>
            </a:extLst>
          </p:cNvPr>
          <p:cNvSpPr/>
          <p:nvPr/>
        </p:nvSpPr>
        <p:spPr bwMode="auto">
          <a:xfrm>
            <a:off x="6305845" y="350215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9" name="Oval 78">
            <a:extLst>
              <a:ext uri="{FF2B5EF4-FFF2-40B4-BE49-F238E27FC236}">
                <a16:creationId xmlns:a16="http://schemas.microsoft.com/office/drawing/2014/main" id="{451C3EB4-8D6D-091C-0332-4A9EFD4FBDC9}"/>
              </a:ext>
            </a:extLst>
          </p:cNvPr>
          <p:cNvSpPr/>
          <p:nvPr/>
        </p:nvSpPr>
        <p:spPr bwMode="auto">
          <a:xfrm>
            <a:off x="6305845" y="377602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0" name="Oval 79">
            <a:extLst>
              <a:ext uri="{FF2B5EF4-FFF2-40B4-BE49-F238E27FC236}">
                <a16:creationId xmlns:a16="http://schemas.microsoft.com/office/drawing/2014/main" id="{6EB21971-A5F0-4747-7A28-E86B70513BC8}"/>
              </a:ext>
            </a:extLst>
          </p:cNvPr>
          <p:cNvSpPr/>
          <p:nvPr/>
        </p:nvSpPr>
        <p:spPr bwMode="auto">
          <a:xfrm>
            <a:off x="6305845" y="404215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1" name="Oval 80">
            <a:extLst>
              <a:ext uri="{FF2B5EF4-FFF2-40B4-BE49-F238E27FC236}">
                <a16:creationId xmlns:a16="http://schemas.microsoft.com/office/drawing/2014/main" id="{27F5BBF2-15C8-BB8C-DF67-8661CA07F102}"/>
              </a:ext>
            </a:extLst>
          </p:cNvPr>
          <p:cNvSpPr/>
          <p:nvPr/>
        </p:nvSpPr>
        <p:spPr bwMode="auto">
          <a:xfrm>
            <a:off x="6305845" y="426758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2" name="Oval 81">
            <a:extLst>
              <a:ext uri="{FF2B5EF4-FFF2-40B4-BE49-F238E27FC236}">
                <a16:creationId xmlns:a16="http://schemas.microsoft.com/office/drawing/2014/main" id="{82EC7A92-F65E-1D5A-A8DA-FCB3B9E2C174}"/>
              </a:ext>
            </a:extLst>
          </p:cNvPr>
          <p:cNvSpPr/>
          <p:nvPr/>
        </p:nvSpPr>
        <p:spPr bwMode="auto">
          <a:xfrm>
            <a:off x="6305845" y="454054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3" name="Oval 82">
            <a:extLst>
              <a:ext uri="{FF2B5EF4-FFF2-40B4-BE49-F238E27FC236}">
                <a16:creationId xmlns:a16="http://schemas.microsoft.com/office/drawing/2014/main" id="{16189EDA-9DF8-9DE2-1E0D-B486DC2E7C7D}"/>
              </a:ext>
            </a:extLst>
          </p:cNvPr>
          <p:cNvSpPr/>
          <p:nvPr/>
        </p:nvSpPr>
        <p:spPr bwMode="auto">
          <a:xfrm>
            <a:off x="6305845" y="478550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4" name="Oval 83">
            <a:extLst>
              <a:ext uri="{FF2B5EF4-FFF2-40B4-BE49-F238E27FC236}">
                <a16:creationId xmlns:a16="http://schemas.microsoft.com/office/drawing/2014/main" id="{FB0048B7-59E9-01B1-3B6A-0CBC750512D5}"/>
              </a:ext>
            </a:extLst>
          </p:cNvPr>
          <p:cNvSpPr/>
          <p:nvPr/>
        </p:nvSpPr>
        <p:spPr bwMode="auto">
          <a:xfrm>
            <a:off x="6305845" y="505226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6" name="Oval 85">
            <a:extLst>
              <a:ext uri="{FF2B5EF4-FFF2-40B4-BE49-F238E27FC236}">
                <a16:creationId xmlns:a16="http://schemas.microsoft.com/office/drawing/2014/main" id="{6867E2F0-90C3-98D2-033A-01F3BD5B22A2}"/>
              </a:ext>
            </a:extLst>
          </p:cNvPr>
          <p:cNvSpPr/>
          <p:nvPr/>
        </p:nvSpPr>
        <p:spPr bwMode="auto">
          <a:xfrm>
            <a:off x="6305845" y="526527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5" name="Oval 94">
            <a:extLst>
              <a:ext uri="{FF2B5EF4-FFF2-40B4-BE49-F238E27FC236}">
                <a16:creationId xmlns:a16="http://schemas.microsoft.com/office/drawing/2014/main" id="{1BFBDF53-6C72-462D-A297-84225BCAC635}"/>
              </a:ext>
            </a:extLst>
          </p:cNvPr>
          <p:cNvSpPr/>
          <p:nvPr/>
        </p:nvSpPr>
        <p:spPr bwMode="auto">
          <a:xfrm>
            <a:off x="6305845" y="554537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3" name="TextBox 42">
            <a:extLst>
              <a:ext uri="{FF2B5EF4-FFF2-40B4-BE49-F238E27FC236}">
                <a16:creationId xmlns:a16="http://schemas.microsoft.com/office/drawing/2014/main" id="{ACAEC13E-ABEC-6D52-A5E2-11B080CE1642}"/>
              </a:ext>
            </a:extLst>
          </p:cNvPr>
          <p:cNvSpPr txBox="1"/>
          <p:nvPr/>
        </p:nvSpPr>
        <p:spPr>
          <a:xfrm>
            <a:off x="6305845" y="1709673"/>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88" name="TextBox 87">
            <a:extLst>
              <a:ext uri="{FF2B5EF4-FFF2-40B4-BE49-F238E27FC236}">
                <a16:creationId xmlns:a16="http://schemas.microsoft.com/office/drawing/2014/main" id="{277634D7-7C3D-5BB5-F0B0-C44D6395B78F}"/>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9" name="TextBox 28">
            <a:extLst>
              <a:ext uri="{FF2B5EF4-FFF2-40B4-BE49-F238E27FC236}">
                <a16:creationId xmlns:a16="http://schemas.microsoft.com/office/drawing/2014/main" id="{75D60145-FC2E-D1D9-BC5D-6827A0801027}"/>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2266345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6" presetClass="emph" presetSubtype="0" fill="hold" grpId="1" nodeType="withEffect">
                                  <p:stCondLst>
                                    <p:cond delay="0"/>
                                  </p:stCondLst>
                                  <p:childTnLst>
                                    <p:animScale>
                                      <p:cBhvr>
                                        <p:cTn id="9" dur="100" fill="hold"/>
                                        <p:tgtEl>
                                          <p:spTgt spid="29"/>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9"/>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29" grpId="2"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D689E-EE8E-0E4B-BB0E-25F1F07D64D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1F562BE-1369-940F-47EE-5689E93E5E6E}"/>
              </a:ext>
            </a:extLst>
          </p:cNvPr>
          <p:cNvSpPr>
            <a:spLocks noGrp="1"/>
          </p:cNvSpPr>
          <p:nvPr>
            <p:ph type="title"/>
          </p:nvPr>
        </p:nvSpPr>
        <p:spPr>
          <a:xfrm>
            <a:off x="588963" y="315692"/>
            <a:ext cx="8651873" cy="461665"/>
          </a:xfrm>
        </p:spPr>
        <p:txBody>
          <a:bodyPr>
            <a:noAutofit/>
          </a:bodyPr>
          <a:lstStyle/>
          <a:p>
            <a:r>
              <a:rPr lang="en-US" sz="2400" noProof="0" dirty="0"/>
              <a:t>Database Modernization</a:t>
            </a:r>
          </a:p>
        </p:txBody>
      </p:sp>
      <p:sp>
        <p:nvSpPr>
          <p:cNvPr id="20" name="TextBox 19">
            <a:extLst>
              <a:ext uri="{FF2B5EF4-FFF2-40B4-BE49-F238E27FC236}">
                <a16:creationId xmlns:a16="http://schemas.microsoft.com/office/drawing/2014/main" id="{D7E1DB14-2854-74D4-490C-DDE0AD0479FF}"/>
              </a:ext>
            </a:extLst>
          </p:cNvPr>
          <p:cNvSpPr txBox="1"/>
          <p:nvPr/>
        </p:nvSpPr>
        <p:spPr>
          <a:xfrm>
            <a:off x="584517" y="753230"/>
            <a:ext cx="11018520" cy="276999"/>
          </a:xfrm>
          <a:prstGeom prst="rect">
            <a:avLst/>
          </a:prstGeom>
          <a:noFill/>
        </p:spPr>
        <p:txBody>
          <a:bodyPr wrap="square" lIns="0" tIns="0" rIns="0" bIns="0" rtlCol="0">
            <a:spAutoFit/>
          </a:bodyPr>
          <a:lstStyle/>
          <a:p>
            <a:r>
              <a:rPr lang="en-US" noProof="0" dirty="0">
                <a:latin typeface="+mj-lt"/>
              </a:rPr>
              <a:t>PostgreSQL Modernization</a:t>
            </a:r>
          </a:p>
        </p:txBody>
      </p:sp>
      <p:sp>
        <p:nvSpPr>
          <p:cNvPr id="23" name="Rounded Rectangle 55">
            <a:extLst>
              <a:ext uri="{FF2B5EF4-FFF2-40B4-BE49-F238E27FC236}">
                <a16:creationId xmlns:a16="http://schemas.microsoft.com/office/drawing/2014/main" id="{A338ACB1-C329-18EF-D699-698C92C6030B}"/>
              </a:ext>
              <a:ext uri="{C183D7F6-B498-43B3-948B-1728B52AA6E4}">
                <adec:decorative xmlns:adec="http://schemas.microsoft.com/office/drawing/2017/decorative" val="1"/>
              </a:ext>
            </a:extLst>
          </p:cNvPr>
          <p:cNvSpPr>
            <a:spLocks/>
          </p:cNvSpPr>
          <p:nvPr/>
        </p:nvSpPr>
        <p:spPr bwMode="auto">
          <a:xfrm>
            <a:off x="554697" y="1272540"/>
            <a:ext cx="5483812"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4" name="Rounded Rectangle 55">
            <a:extLst>
              <a:ext uri="{FF2B5EF4-FFF2-40B4-BE49-F238E27FC236}">
                <a16:creationId xmlns:a16="http://schemas.microsoft.com/office/drawing/2014/main" id="{8ACC654B-1C6D-3695-0FC2-D8395225E040}"/>
              </a:ext>
              <a:ext uri="{C183D7F6-B498-43B3-948B-1728B52AA6E4}">
                <adec:decorative xmlns:adec="http://schemas.microsoft.com/office/drawing/2017/decorative" val="1"/>
              </a:ext>
            </a:extLst>
          </p:cNvPr>
          <p:cNvSpPr>
            <a:spLocks/>
          </p:cNvSpPr>
          <p:nvPr/>
        </p:nvSpPr>
        <p:spPr bwMode="auto">
          <a:xfrm>
            <a:off x="6102454" y="1272540"/>
            <a:ext cx="5583708"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30" name="TextBox 29">
            <a:extLst>
              <a:ext uri="{FF2B5EF4-FFF2-40B4-BE49-F238E27FC236}">
                <a16:creationId xmlns:a16="http://schemas.microsoft.com/office/drawing/2014/main" id="{3DC56E70-6F2D-E0B5-6C79-5D5A08F3D2C6}"/>
              </a:ext>
            </a:extLst>
          </p:cNvPr>
          <p:cNvSpPr txBox="1"/>
          <p:nvPr/>
        </p:nvSpPr>
        <p:spPr>
          <a:xfrm>
            <a:off x="6547794" y="1887812"/>
            <a:ext cx="4906333" cy="323165"/>
          </a:xfrm>
          <a:prstGeom prst="rect">
            <a:avLst/>
          </a:prstGeom>
          <a:noFill/>
        </p:spPr>
        <p:txBody>
          <a:bodyPr wrap="square" lIns="0" tIns="0" rIns="0" bIns="0" anchor="t">
            <a:noAutofit/>
          </a:bodyPr>
          <a:lstStyle/>
          <a:p>
            <a:pPr lvl="0">
              <a:defRPr/>
            </a:pPr>
            <a:r>
              <a:rPr lang="en-US" sz="1050" kern="0" noProof="0" dirty="0"/>
              <a:t>Customer is responsible for testing of dependencies (e.g., applications, mapped databases) and source system changes</a:t>
            </a:r>
          </a:p>
        </p:txBody>
      </p:sp>
      <p:sp>
        <p:nvSpPr>
          <p:cNvPr id="31" name="Oval 30">
            <a:extLst>
              <a:ext uri="{FF2B5EF4-FFF2-40B4-BE49-F238E27FC236}">
                <a16:creationId xmlns:a16="http://schemas.microsoft.com/office/drawing/2014/main" id="{23C620FF-034E-BCB9-A7E8-C251FC7DD560}"/>
              </a:ext>
            </a:extLst>
          </p:cNvPr>
          <p:cNvSpPr/>
          <p:nvPr/>
        </p:nvSpPr>
        <p:spPr bwMode="auto">
          <a:xfrm>
            <a:off x="6259465" y="190002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7" name="TextBox 36">
            <a:extLst>
              <a:ext uri="{FF2B5EF4-FFF2-40B4-BE49-F238E27FC236}">
                <a16:creationId xmlns:a16="http://schemas.microsoft.com/office/drawing/2014/main" id="{A8A36D04-669F-AB67-6E9E-3E7DB1C4E74B}"/>
              </a:ext>
            </a:extLst>
          </p:cNvPr>
          <p:cNvSpPr txBox="1"/>
          <p:nvPr/>
        </p:nvSpPr>
        <p:spPr>
          <a:xfrm>
            <a:off x="6547794" y="2324053"/>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Advisory services and consulting</a:t>
            </a:r>
          </a:p>
        </p:txBody>
      </p:sp>
      <p:sp>
        <p:nvSpPr>
          <p:cNvPr id="39" name="Oval 38">
            <a:extLst>
              <a:ext uri="{FF2B5EF4-FFF2-40B4-BE49-F238E27FC236}">
                <a16:creationId xmlns:a16="http://schemas.microsoft.com/office/drawing/2014/main" id="{F64A9F07-7542-083D-6893-BDD8D066B1CA}"/>
              </a:ext>
            </a:extLst>
          </p:cNvPr>
          <p:cNvSpPr/>
          <p:nvPr/>
        </p:nvSpPr>
        <p:spPr bwMode="auto">
          <a:xfrm>
            <a:off x="6259465" y="23362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0" name="Straight Connector 39">
            <a:extLst>
              <a:ext uri="{FF2B5EF4-FFF2-40B4-BE49-F238E27FC236}">
                <a16:creationId xmlns:a16="http://schemas.microsoft.com/office/drawing/2014/main" id="{4A49E2BF-E954-1C54-6259-A102F4A65A0B}"/>
              </a:ext>
            </a:extLst>
          </p:cNvPr>
          <p:cNvCxnSpPr/>
          <p:nvPr/>
        </p:nvCxnSpPr>
        <p:spPr>
          <a:xfrm>
            <a:off x="6547794" y="2267515"/>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AAC9B35-A168-C1E4-0B4D-38221375D4C6}"/>
              </a:ext>
            </a:extLst>
          </p:cNvPr>
          <p:cNvSpPr txBox="1"/>
          <p:nvPr/>
        </p:nvSpPr>
        <p:spPr>
          <a:xfrm>
            <a:off x="6547794" y="2598712"/>
            <a:ext cx="4906333" cy="161583"/>
          </a:xfrm>
          <a:prstGeom prst="rect">
            <a:avLst/>
          </a:prstGeom>
          <a:noFill/>
        </p:spPr>
        <p:txBody>
          <a:bodyPr wrap="square" lIns="0" tIns="0" rIns="0" bIns="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PostgreSQL Server replication setup and configuration on Azure VMs</a:t>
            </a:r>
          </a:p>
        </p:txBody>
      </p:sp>
      <p:sp>
        <p:nvSpPr>
          <p:cNvPr id="44" name="Oval 43">
            <a:extLst>
              <a:ext uri="{FF2B5EF4-FFF2-40B4-BE49-F238E27FC236}">
                <a16:creationId xmlns:a16="http://schemas.microsoft.com/office/drawing/2014/main" id="{01598C79-BA9A-7A68-7AED-DA6E68040C01}"/>
              </a:ext>
            </a:extLst>
          </p:cNvPr>
          <p:cNvSpPr/>
          <p:nvPr/>
        </p:nvSpPr>
        <p:spPr bwMode="auto">
          <a:xfrm>
            <a:off x="6259465" y="261092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C84EC408-21DE-E11F-6BFE-427C4A718550}"/>
              </a:ext>
            </a:extLst>
          </p:cNvPr>
          <p:cNvSpPr txBox="1"/>
          <p:nvPr/>
        </p:nvSpPr>
        <p:spPr>
          <a:xfrm>
            <a:off x="6547794" y="2873371"/>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changes in the source (any time) and target environments (after handover)</a:t>
            </a:r>
          </a:p>
        </p:txBody>
      </p:sp>
      <p:sp>
        <p:nvSpPr>
          <p:cNvPr id="46" name="Oval 45">
            <a:extLst>
              <a:ext uri="{FF2B5EF4-FFF2-40B4-BE49-F238E27FC236}">
                <a16:creationId xmlns:a16="http://schemas.microsoft.com/office/drawing/2014/main" id="{90DEBD5D-5F17-BD24-A187-0722DDD4C42C}"/>
              </a:ext>
            </a:extLst>
          </p:cNvPr>
          <p:cNvSpPr/>
          <p:nvPr/>
        </p:nvSpPr>
        <p:spPr bwMode="auto">
          <a:xfrm>
            <a:off x="6259465" y="288558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7" name="Oval 46">
            <a:extLst>
              <a:ext uri="{FF2B5EF4-FFF2-40B4-BE49-F238E27FC236}">
                <a16:creationId xmlns:a16="http://schemas.microsoft.com/office/drawing/2014/main" id="{751E2B2A-7639-8B9D-320B-7E429AB018E3}"/>
              </a:ext>
            </a:extLst>
          </p:cNvPr>
          <p:cNvSpPr/>
          <p:nvPr/>
        </p:nvSpPr>
        <p:spPr bwMode="auto">
          <a:xfrm>
            <a:off x="6259465" y="314803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8" name="Oval 47">
            <a:extLst>
              <a:ext uri="{FF2B5EF4-FFF2-40B4-BE49-F238E27FC236}">
                <a16:creationId xmlns:a16="http://schemas.microsoft.com/office/drawing/2014/main" id="{5932B3EF-9C58-3C37-EAA9-81F6308CE736}"/>
              </a:ext>
            </a:extLst>
          </p:cNvPr>
          <p:cNvSpPr/>
          <p:nvPr/>
        </p:nvSpPr>
        <p:spPr bwMode="auto">
          <a:xfrm>
            <a:off x="775653" y="178646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0" name="TextBox 49">
            <a:extLst>
              <a:ext uri="{FF2B5EF4-FFF2-40B4-BE49-F238E27FC236}">
                <a16:creationId xmlns:a16="http://schemas.microsoft.com/office/drawing/2014/main" id="{FE28FBC8-85DA-193A-A4B1-619C49ACEC1B}"/>
              </a:ext>
            </a:extLst>
          </p:cNvPr>
          <p:cNvSpPr txBox="1"/>
          <p:nvPr/>
        </p:nvSpPr>
        <p:spPr>
          <a:xfrm>
            <a:off x="1044951" y="1786464"/>
            <a:ext cx="4906333" cy="323165"/>
          </a:xfrm>
          <a:prstGeom prst="rect">
            <a:avLst/>
          </a:prstGeom>
          <a:noFill/>
        </p:spPr>
        <p:txBody>
          <a:bodyPr wrap="square" lIns="0" tIns="0" rIns="0" bIns="0">
            <a:noAutofit/>
          </a:bodyPr>
          <a:lstStyle/>
          <a:p>
            <a:pPr>
              <a:spcAft>
                <a:spcPts val="400"/>
              </a:spcAft>
            </a:pPr>
            <a:r>
              <a:rPr lang="en-US" sz="1050" noProof="0" dirty="0">
                <a:ea typeface="+mj-ea"/>
                <a:cs typeface="+mj-cs"/>
              </a:rPr>
              <a:t>Azure Database for PostgreSQL—single server to Azure Database for PostgreSQL—flexible server migrations with near-zero code changes</a:t>
            </a:r>
          </a:p>
        </p:txBody>
      </p:sp>
      <p:sp>
        <p:nvSpPr>
          <p:cNvPr id="51" name="TextBox 50">
            <a:extLst>
              <a:ext uri="{FF2B5EF4-FFF2-40B4-BE49-F238E27FC236}">
                <a16:creationId xmlns:a16="http://schemas.microsoft.com/office/drawing/2014/main" id="{9FF6BBA8-DFD2-D728-25AE-5E75C1CA602D}"/>
              </a:ext>
            </a:extLst>
          </p:cNvPr>
          <p:cNvSpPr txBox="1"/>
          <p:nvPr/>
        </p:nvSpPr>
        <p:spPr>
          <a:xfrm>
            <a:off x="6547794" y="3148030"/>
            <a:ext cx="4906333" cy="323165"/>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application/services-related configurations and testing (pre- and post-migration)</a:t>
            </a:r>
          </a:p>
        </p:txBody>
      </p:sp>
      <p:sp>
        <p:nvSpPr>
          <p:cNvPr id="52" name="TextBox 51">
            <a:extLst>
              <a:ext uri="{FF2B5EF4-FFF2-40B4-BE49-F238E27FC236}">
                <a16:creationId xmlns:a16="http://schemas.microsoft.com/office/drawing/2014/main" id="{B36937A3-345B-84B3-9BB3-DA45EFBC896E}"/>
              </a:ext>
            </a:extLst>
          </p:cNvPr>
          <p:cNvSpPr txBox="1"/>
          <p:nvPr/>
        </p:nvSpPr>
        <p:spPr>
          <a:xfrm>
            <a:off x="6547794" y="3584271"/>
            <a:ext cx="4906333" cy="323165"/>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Performing and configuring backups, monitoring, and alerts (pre- and post-migration)</a:t>
            </a:r>
          </a:p>
        </p:txBody>
      </p:sp>
      <p:sp>
        <p:nvSpPr>
          <p:cNvPr id="53" name="TextBox 52">
            <a:extLst>
              <a:ext uri="{FF2B5EF4-FFF2-40B4-BE49-F238E27FC236}">
                <a16:creationId xmlns:a16="http://schemas.microsoft.com/office/drawing/2014/main" id="{3765D668-0B4A-96B0-970A-E700E2444539}"/>
              </a:ext>
            </a:extLst>
          </p:cNvPr>
          <p:cNvSpPr txBox="1"/>
          <p:nvPr/>
        </p:nvSpPr>
        <p:spPr>
          <a:xfrm>
            <a:off x="6547794" y="4020512"/>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 archival solutions</a:t>
            </a:r>
          </a:p>
        </p:txBody>
      </p:sp>
      <p:sp>
        <p:nvSpPr>
          <p:cNvPr id="54" name="TextBox 53">
            <a:extLst>
              <a:ext uri="{FF2B5EF4-FFF2-40B4-BE49-F238E27FC236}">
                <a16:creationId xmlns:a16="http://schemas.microsoft.com/office/drawing/2014/main" id="{766698C1-0C50-C0AB-3161-A5E67D39A429}"/>
              </a:ext>
            </a:extLst>
          </p:cNvPr>
          <p:cNvSpPr txBox="1"/>
          <p:nvPr/>
        </p:nvSpPr>
        <p:spPr>
          <a:xfrm>
            <a:off x="6547794" y="4295171"/>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Architectural design and discussion for HA/DR</a:t>
            </a:r>
          </a:p>
        </p:txBody>
      </p:sp>
      <p:sp>
        <p:nvSpPr>
          <p:cNvPr id="55" name="TextBox 54">
            <a:extLst>
              <a:ext uri="{FF2B5EF4-FFF2-40B4-BE49-F238E27FC236}">
                <a16:creationId xmlns:a16="http://schemas.microsoft.com/office/drawing/2014/main" id="{020B3F25-9D7E-E432-2A9C-0F9A9EB7F66E}"/>
              </a:ext>
            </a:extLst>
          </p:cNvPr>
          <p:cNvSpPr txBox="1"/>
          <p:nvPr/>
        </p:nvSpPr>
        <p:spPr>
          <a:xfrm>
            <a:off x="6547794" y="4844489"/>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Database performance testing and tunning</a:t>
            </a:r>
          </a:p>
        </p:txBody>
      </p:sp>
      <p:sp>
        <p:nvSpPr>
          <p:cNvPr id="56" name="TextBox 55">
            <a:extLst>
              <a:ext uri="{FF2B5EF4-FFF2-40B4-BE49-F238E27FC236}">
                <a16:creationId xmlns:a16="http://schemas.microsoft.com/office/drawing/2014/main" id="{FA6B84C7-754C-9C8A-95C1-6898250984DA}"/>
              </a:ext>
            </a:extLst>
          </p:cNvPr>
          <p:cNvSpPr txBox="1"/>
          <p:nvPr/>
        </p:nvSpPr>
        <p:spPr>
          <a:xfrm>
            <a:off x="6547794" y="5119148"/>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target environment setup</a:t>
            </a:r>
          </a:p>
        </p:txBody>
      </p:sp>
      <p:sp>
        <p:nvSpPr>
          <p:cNvPr id="57" name="TextBox 56">
            <a:extLst>
              <a:ext uri="{FF2B5EF4-FFF2-40B4-BE49-F238E27FC236}">
                <a16:creationId xmlns:a16="http://schemas.microsoft.com/office/drawing/2014/main" id="{C3EC8E74-0EC9-66A5-CFA5-1D1C6CA48A94}"/>
              </a:ext>
            </a:extLst>
          </p:cNvPr>
          <p:cNvSpPr txBox="1"/>
          <p:nvPr/>
        </p:nvSpPr>
        <p:spPr>
          <a:xfrm>
            <a:off x="6547794" y="5393807"/>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Third-party tools setup and configuration for PostgreSQL Server</a:t>
            </a:r>
          </a:p>
        </p:txBody>
      </p:sp>
      <p:cxnSp>
        <p:nvCxnSpPr>
          <p:cNvPr id="58" name="Straight Connector 57">
            <a:extLst>
              <a:ext uri="{FF2B5EF4-FFF2-40B4-BE49-F238E27FC236}">
                <a16:creationId xmlns:a16="http://schemas.microsoft.com/office/drawing/2014/main" id="{BDFC4CEE-2FC8-5716-F95F-D28E1C2161DA}"/>
              </a:ext>
            </a:extLst>
          </p:cNvPr>
          <p:cNvCxnSpPr/>
          <p:nvPr/>
        </p:nvCxnSpPr>
        <p:spPr>
          <a:xfrm>
            <a:off x="6547794" y="254217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CE1B612-1A89-DC20-F0EA-863B1CA4624E}"/>
              </a:ext>
            </a:extLst>
          </p:cNvPr>
          <p:cNvCxnSpPr/>
          <p:nvPr/>
        </p:nvCxnSpPr>
        <p:spPr>
          <a:xfrm>
            <a:off x="6547794" y="281683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0EB7C34-2C2F-029A-1F09-9DDE88A1EBB3}"/>
              </a:ext>
            </a:extLst>
          </p:cNvPr>
          <p:cNvCxnSpPr/>
          <p:nvPr/>
        </p:nvCxnSpPr>
        <p:spPr>
          <a:xfrm>
            <a:off x="6547794" y="3091492"/>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83DAAEB-66A0-5320-252A-6B5BA86F19C6}"/>
              </a:ext>
            </a:extLst>
          </p:cNvPr>
          <p:cNvCxnSpPr/>
          <p:nvPr/>
        </p:nvCxnSpPr>
        <p:spPr>
          <a:xfrm>
            <a:off x="6547794" y="352773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416AA2B-CD2B-68F3-6B66-48578274E9BB}"/>
              </a:ext>
            </a:extLst>
          </p:cNvPr>
          <p:cNvCxnSpPr/>
          <p:nvPr/>
        </p:nvCxnSpPr>
        <p:spPr>
          <a:xfrm>
            <a:off x="6547794" y="396397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8AF3899-18B1-BFB3-1E12-697489DE87CE}"/>
              </a:ext>
            </a:extLst>
          </p:cNvPr>
          <p:cNvCxnSpPr/>
          <p:nvPr/>
        </p:nvCxnSpPr>
        <p:spPr>
          <a:xfrm>
            <a:off x="6547794" y="423863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22BDE82-683B-9EA5-4535-60CC8542C7FE}"/>
              </a:ext>
            </a:extLst>
          </p:cNvPr>
          <p:cNvCxnSpPr/>
          <p:nvPr/>
        </p:nvCxnSpPr>
        <p:spPr>
          <a:xfrm>
            <a:off x="6547794" y="4787951"/>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DF0A77B-75E8-0740-CA55-E6CD62A6BE89}"/>
              </a:ext>
            </a:extLst>
          </p:cNvPr>
          <p:cNvCxnSpPr/>
          <p:nvPr/>
        </p:nvCxnSpPr>
        <p:spPr>
          <a:xfrm>
            <a:off x="6547794" y="5062610"/>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E6F49E3-7D93-C6DF-DA81-B28907AADFD3}"/>
              </a:ext>
            </a:extLst>
          </p:cNvPr>
          <p:cNvCxnSpPr/>
          <p:nvPr/>
        </p:nvCxnSpPr>
        <p:spPr>
          <a:xfrm>
            <a:off x="6547794" y="533726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24B59EAF-5058-BDA1-5EC5-558AEDA113CC}"/>
              </a:ext>
            </a:extLst>
          </p:cNvPr>
          <p:cNvSpPr/>
          <p:nvPr/>
        </p:nvSpPr>
        <p:spPr bwMode="auto">
          <a:xfrm>
            <a:off x="6259465" y="358427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3" name="Oval 102">
            <a:extLst>
              <a:ext uri="{FF2B5EF4-FFF2-40B4-BE49-F238E27FC236}">
                <a16:creationId xmlns:a16="http://schemas.microsoft.com/office/drawing/2014/main" id="{9F835326-91D5-FA38-0386-4A127D17BCBC}"/>
              </a:ext>
            </a:extLst>
          </p:cNvPr>
          <p:cNvSpPr/>
          <p:nvPr/>
        </p:nvSpPr>
        <p:spPr bwMode="auto">
          <a:xfrm>
            <a:off x="6259465" y="403272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4" name="Oval 103">
            <a:extLst>
              <a:ext uri="{FF2B5EF4-FFF2-40B4-BE49-F238E27FC236}">
                <a16:creationId xmlns:a16="http://schemas.microsoft.com/office/drawing/2014/main" id="{259D51EF-44FF-2BE6-25A2-C41149CCA6BB}"/>
              </a:ext>
            </a:extLst>
          </p:cNvPr>
          <p:cNvSpPr/>
          <p:nvPr/>
        </p:nvSpPr>
        <p:spPr bwMode="auto">
          <a:xfrm>
            <a:off x="6259465" y="458204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5" name="Oval 104">
            <a:extLst>
              <a:ext uri="{FF2B5EF4-FFF2-40B4-BE49-F238E27FC236}">
                <a16:creationId xmlns:a16="http://schemas.microsoft.com/office/drawing/2014/main" id="{25FB3171-057E-9DC4-D47F-443E150254A0}"/>
              </a:ext>
            </a:extLst>
          </p:cNvPr>
          <p:cNvSpPr/>
          <p:nvPr/>
        </p:nvSpPr>
        <p:spPr bwMode="auto">
          <a:xfrm>
            <a:off x="6259465" y="485670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6" name="Oval 105">
            <a:extLst>
              <a:ext uri="{FF2B5EF4-FFF2-40B4-BE49-F238E27FC236}">
                <a16:creationId xmlns:a16="http://schemas.microsoft.com/office/drawing/2014/main" id="{DC8DD1B1-0535-A139-CABB-79EDE2F96670}"/>
              </a:ext>
            </a:extLst>
          </p:cNvPr>
          <p:cNvSpPr/>
          <p:nvPr/>
        </p:nvSpPr>
        <p:spPr bwMode="auto">
          <a:xfrm>
            <a:off x="6259465" y="513136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7" name="Oval 106">
            <a:extLst>
              <a:ext uri="{FF2B5EF4-FFF2-40B4-BE49-F238E27FC236}">
                <a16:creationId xmlns:a16="http://schemas.microsoft.com/office/drawing/2014/main" id="{21AB455B-241E-B890-B44E-FA89A85A56AD}"/>
              </a:ext>
            </a:extLst>
          </p:cNvPr>
          <p:cNvSpPr/>
          <p:nvPr/>
        </p:nvSpPr>
        <p:spPr bwMode="auto">
          <a:xfrm>
            <a:off x="6259465" y="540601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1" name="TextBox 110">
            <a:extLst>
              <a:ext uri="{FF2B5EF4-FFF2-40B4-BE49-F238E27FC236}">
                <a16:creationId xmlns:a16="http://schemas.microsoft.com/office/drawing/2014/main" id="{C72172F4-879B-A20B-CE7F-DB9261B00E78}"/>
              </a:ext>
            </a:extLst>
          </p:cNvPr>
          <p:cNvSpPr txBox="1"/>
          <p:nvPr/>
        </p:nvSpPr>
        <p:spPr>
          <a:xfrm>
            <a:off x="6547794" y="5668466"/>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PostgreSQL Server upgrade and patch management </a:t>
            </a:r>
          </a:p>
        </p:txBody>
      </p:sp>
      <p:sp>
        <p:nvSpPr>
          <p:cNvPr id="112" name="Oval 111">
            <a:extLst>
              <a:ext uri="{FF2B5EF4-FFF2-40B4-BE49-F238E27FC236}">
                <a16:creationId xmlns:a16="http://schemas.microsoft.com/office/drawing/2014/main" id="{16064E1A-FB48-75C2-C7E1-CF434234C307}"/>
              </a:ext>
            </a:extLst>
          </p:cNvPr>
          <p:cNvSpPr/>
          <p:nvPr/>
        </p:nvSpPr>
        <p:spPr bwMode="auto">
          <a:xfrm>
            <a:off x="6259465" y="62299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13" name="Straight Connector 112">
            <a:extLst>
              <a:ext uri="{FF2B5EF4-FFF2-40B4-BE49-F238E27FC236}">
                <a16:creationId xmlns:a16="http://schemas.microsoft.com/office/drawing/2014/main" id="{D059E576-55D1-48D9-258B-C3D6698E156F}"/>
              </a:ext>
            </a:extLst>
          </p:cNvPr>
          <p:cNvCxnSpPr/>
          <p:nvPr/>
        </p:nvCxnSpPr>
        <p:spPr>
          <a:xfrm>
            <a:off x="6547794" y="561192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3329A681-8232-398D-E76A-7D60924DCA79}"/>
              </a:ext>
            </a:extLst>
          </p:cNvPr>
          <p:cNvSpPr txBox="1"/>
          <p:nvPr/>
        </p:nvSpPr>
        <p:spPr>
          <a:xfrm>
            <a:off x="6547794" y="4569830"/>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HA/DR testing </a:t>
            </a:r>
          </a:p>
        </p:txBody>
      </p:sp>
      <p:cxnSp>
        <p:nvCxnSpPr>
          <p:cNvPr id="117" name="Straight Connector 116">
            <a:extLst>
              <a:ext uri="{FF2B5EF4-FFF2-40B4-BE49-F238E27FC236}">
                <a16:creationId xmlns:a16="http://schemas.microsoft.com/office/drawing/2014/main" id="{1B77121F-EDDC-AEC6-5E7A-6B1B8971EB93}"/>
              </a:ext>
            </a:extLst>
          </p:cNvPr>
          <p:cNvCxnSpPr/>
          <p:nvPr/>
        </p:nvCxnSpPr>
        <p:spPr>
          <a:xfrm>
            <a:off x="6547794" y="4513292"/>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6704AE83-A614-8B00-0DB9-F78E6C758CB4}"/>
              </a:ext>
            </a:extLst>
          </p:cNvPr>
          <p:cNvSpPr/>
          <p:nvPr/>
        </p:nvSpPr>
        <p:spPr bwMode="auto">
          <a:xfrm>
            <a:off x="6259465" y="430738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9" name="TextBox 118">
            <a:extLst>
              <a:ext uri="{FF2B5EF4-FFF2-40B4-BE49-F238E27FC236}">
                <a16:creationId xmlns:a16="http://schemas.microsoft.com/office/drawing/2014/main" id="{8E146B84-1E62-0061-9492-1EED1F987FF4}"/>
              </a:ext>
            </a:extLst>
          </p:cNvPr>
          <p:cNvSpPr txBox="1"/>
          <p:nvPr/>
        </p:nvSpPr>
        <p:spPr>
          <a:xfrm>
            <a:off x="1044951" y="2210977"/>
            <a:ext cx="4906333" cy="2541721"/>
          </a:xfrm>
          <a:prstGeom prst="rect">
            <a:avLst/>
          </a:prstGeom>
          <a:noFill/>
        </p:spPr>
        <p:txBody>
          <a:bodyPr wrap="square" lIns="0" tIns="0" rIns="0" bIns="0">
            <a:noAutofit/>
          </a:bodyPr>
          <a:lstStyle/>
          <a:p>
            <a:pPr>
              <a:spcAft>
                <a:spcPts val="300"/>
              </a:spcAft>
            </a:pPr>
            <a:r>
              <a:rPr lang="en-US" sz="1050" noProof="0" dirty="0">
                <a:latin typeface="+mj-lt"/>
                <a:ea typeface="+mj-ea"/>
                <a:cs typeface="+mj-cs"/>
              </a:rPr>
              <a:t>On-premise/cloud provider PostgreSQL to Azure Database for PostgreSQL—flexible server migrations with near-zero code changes. </a:t>
            </a:r>
            <a:br>
              <a:rPr lang="en-US" sz="1050" noProof="0" dirty="0">
                <a:latin typeface="+mj-lt"/>
                <a:ea typeface="+mj-ea"/>
                <a:cs typeface="+mj-cs"/>
              </a:rPr>
            </a:br>
            <a:r>
              <a:rPr lang="en-US" sz="1050" noProof="0" dirty="0">
                <a:latin typeface="+mj-lt"/>
                <a:ea typeface="+mj-ea"/>
                <a:cs typeface="+mj-cs"/>
              </a:rPr>
              <a:t>Migration scenarios supported:</a:t>
            </a:r>
          </a:p>
          <a:p>
            <a:pPr marL="168275" lvl="1" indent="-114300">
              <a:spcAft>
                <a:spcPts val="400"/>
              </a:spcAft>
              <a:buFont typeface="Arial" panose="020B0604020202020204" pitchFamily="34" charset="0"/>
              <a:buChar char="•"/>
              <a:defRPr/>
            </a:pPr>
            <a:r>
              <a:rPr lang="en-US" sz="950" kern="0" noProof="0" dirty="0"/>
              <a:t>On-Premises PostgreSQL Server to Azure Database for PostgreSQL – flexible server</a:t>
            </a:r>
          </a:p>
          <a:p>
            <a:pPr marL="168275" lvl="1" indent="-114300">
              <a:spcAft>
                <a:spcPts val="400"/>
              </a:spcAft>
              <a:buFont typeface="Arial" panose="020B0604020202020204" pitchFamily="34" charset="0"/>
              <a:buChar char="•"/>
              <a:defRPr/>
            </a:pPr>
            <a:r>
              <a:rPr lang="en-US" sz="950" kern="0" noProof="0" dirty="0"/>
              <a:t>PostgreSQL server on Windows Azure VM to Azure Database for PostgreSQL – flexible server</a:t>
            </a:r>
          </a:p>
          <a:p>
            <a:pPr marL="168275" lvl="1" indent="-114300">
              <a:spcAft>
                <a:spcPts val="400"/>
              </a:spcAft>
              <a:buFont typeface="Arial" panose="020B0604020202020204" pitchFamily="34" charset="0"/>
              <a:buChar char="•"/>
              <a:defRPr/>
            </a:pPr>
            <a:r>
              <a:rPr lang="en-US" sz="950" kern="0" noProof="0" dirty="0"/>
              <a:t>PostgreSQL server on Linux Azure VM to Azure Database for PostgreSQL – flexible server</a:t>
            </a:r>
          </a:p>
          <a:p>
            <a:pPr marL="168275" lvl="1" indent="-114300">
              <a:spcAft>
                <a:spcPts val="400"/>
              </a:spcAft>
              <a:buFont typeface="Arial" panose="020B0604020202020204" pitchFamily="34" charset="0"/>
              <a:buChar char="•"/>
              <a:defRPr/>
            </a:pPr>
            <a:r>
              <a:rPr lang="en-US" sz="950" kern="0" noProof="0" dirty="0"/>
              <a:t>AWS EC2 PostgreSQL Server to Azure Database for PostgreSQL – flexible server</a:t>
            </a:r>
          </a:p>
          <a:p>
            <a:pPr marL="168275" lvl="1" indent="-114300">
              <a:spcAft>
                <a:spcPts val="400"/>
              </a:spcAft>
              <a:buFont typeface="Arial" panose="020B0604020202020204" pitchFamily="34" charset="0"/>
              <a:buChar char="•"/>
              <a:defRPr/>
            </a:pPr>
            <a:r>
              <a:rPr lang="en-US" sz="950" kern="0" noProof="0" dirty="0"/>
              <a:t>AWS RDS for PostgreSQL Server to Azure Database for PostgreSQL – flexible server</a:t>
            </a:r>
          </a:p>
          <a:p>
            <a:pPr marL="168275" lvl="1" indent="-114300">
              <a:spcAft>
                <a:spcPts val="400"/>
              </a:spcAft>
              <a:buFont typeface="Arial" panose="020B0604020202020204" pitchFamily="34" charset="0"/>
              <a:buChar char="•"/>
              <a:defRPr/>
            </a:pPr>
            <a:r>
              <a:rPr lang="en-US" sz="950" kern="0" noProof="0" dirty="0"/>
              <a:t>AWS Aurora PostgreSQL to Azure Database for PostgreSQL – flexible server</a:t>
            </a:r>
          </a:p>
          <a:p>
            <a:pPr marL="168275" lvl="1" indent="-114300">
              <a:spcAft>
                <a:spcPts val="400"/>
              </a:spcAft>
              <a:buFont typeface="Arial" panose="020B0604020202020204" pitchFamily="34" charset="0"/>
              <a:buChar char="•"/>
              <a:defRPr/>
            </a:pPr>
            <a:r>
              <a:rPr lang="en-US" sz="950" kern="0" noProof="0" dirty="0"/>
              <a:t>GCP Cloud SQL for PostgreSQL to Azure Database for PostgreSQL​ – flexible server</a:t>
            </a:r>
          </a:p>
          <a:p>
            <a:pPr marL="168275" lvl="1" indent="-114300">
              <a:spcAft>
                <a:spcPts val="400"/>
              </a:spcAft>
              <a:buFont typeface="Arial" panose="020B0604020202020204" pitchFamily="34" charset="0"/>
              <a:buChar char="•"/>
              <a:defRPr/>
            </a:pPr>
            <a:r>
              <a:rPr lang="en-US" sz="950" kern="0" noProof="0" dirty="0"/>
              <a:t>PostgreSQL on Google Compute Engine (GCE) to Azure Database for PostgreSQL –</a:t>
            </a:r>
            <a:br>
              <a:rPr lang="en-US" sz="950" kern="0" noProof="0" dirty="0"/>
            </a:br>
            <a:r>
              <a:rPr lang="en-US" sz="950" kern="0" noProof="0" dirty="0"/>
              <a:t>flexible server</a:t>
            </a:r>
          </a:p>
          <a:p>
            <a:pPr marL="168275" lvl="1" indent="-114300">
              <a:spcAft>
                <a:spcPts val="400"/>
              </a:spcAft>
              <a:buFont typeface="Arial" panose="020B0604020202020204" pitchFamily="34" charset="0"/>
              <a:buChar char="•"/>
              <a:defRPr/>
            </a:pPr>
            <a:r>
              <a:rPr lang="en-US" sz="950" kern="0" noProof="0" dirty="0"/>
              <a:t>EDB and Persona PostgreSQL (excluding EDB and Persona features)</a:t>
            </a:r>
          </a:p>
        </p:txBody>
      </p:sp>
      <p:sp>
        <p:nvSpPr>
          <p:cNvPr id="120" name="Oval 119">
            <a:extLst>
              <a:ext uri="{FF2B5EF4-FFF2-40B4-BE49-F238E27FC236}">
                <a16:creationId xmlns:a16="http://schemas.microsoft.com/office/drawing/2014/main" id="{CC924D27-DF33-44A7-D382-4B3076EA2A31}"/>
              </a:ext>
            </a:extLst>
          </p:cNvPr>
          <p:cNvSpPr/>
          <p:nvPr/>
        </p:nvSpPr>
        <p:spPr bwMode="auto">
          <a:xfrm>
            <a:off x="775653" y="221097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21" name="Straight Connector 120">
            <a:extLst>
              <a:ext uri="{FF2B5EF4-FFF2-40B4-BE49-F238E27FC236}">
                <a16:creationId xmlns:a16="http://schemas.microsoft.com/office/drawing/2014/main" id="{19C3DCDE-FDE9-B3AE-0FF9-1412A0EB8308}"/>
              </a:ext>
            </a:extLst>
          </p:cNvPr>
          <p:cNvCxnSpPr/>
          <p:nvPr/>
        </p:nvCxnSpPr>
        <p:spPr>
          <a:xfrm>
            <a:off x="1044951" y="216030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ECE61F9A-B072-A210-C866-078C87DE3949}"/>
              </a:ext>
            </a:extLst>
          </p:cNvPr>
          <p:cNvSpPr txBox="1"/>
          <p:nvPr/>
        </p:nvSpPr>
        <p:spPr>
          <a:xfrm>
            <a:off x="1044951" y="4854046"/>
            <a:ext cx="4906333" cy="720710"/>
          </a:xfrm>
          <a:prstGeom prst="rect">
            <a:avLst/>
          </a:prstGeom>
          <a:noFill/>
        </p:spPr>
        <p:txBody>
          <a:bodyPr wrap="square" lIns="0" tIns="0" rIns="0" bIns="0">
            <a:noAutofit/>
          </a:bodyPr>
          <a:lstStyle/>
          <a:p>
            <a:pPr>
              <a:spcAft>
                <a:spcPts val="300"/>
              </a:spcAft>
            </a:pPr>
            <a:r>
              <a:rPr lang="en-US" sz="1050" noProof="0" dirty="0">
                <a:latin typeface="+mj-lt"/>
                <a:ea typeface="+mj-ea"/>
                <a:cs typeface="+mj-cs"/>
              </a:rPr>
              <a:t>Heterogeneous DB Migration ( to Azure Database for PostgreSQL Server – Flexible Server) supported scenarios:</a:t>
            </a:r>
          </a:p>
          <a:p>
            <a:pPr marL="0" lvl="1">
              <a:spcAft>
                <a:spcPts val="400"/>
              </a:spcAft>
              <a:defRPr/>
            </a:pPr>
            <a:r>
              <a:rPr lang="en-US" sz="1000" kern="0" noProof="0" dirty="0"/>
              <a:t>Heterogeneous migration paths:</a:t>
            </a:r>
          </a:p>
          <a:p>
            <a:pPr marL="168275" lvl="1" indent="-114300">
              <a:spcAft>
                <a:spcPts val="400"/>
              </a:spcAft>
              <a:buFont typeface="Arial" panose="020B0604020202020204" pitchFamily="34" charset="0"/>
              <a:buChar char="•"/>
              <a:defRPr/>
            </a:pPr>
            <a:r>
              <a:rPr lang="en-US" sz="1000" kern="0" noProof="0" dirty="0"/>
              <a:t>Oracle to Azure Database for PostgreSQL – flexible server * </a:t>
            </a:r>
          </a:p>
        </p:txBody>
      </p:sp>
      <p:sp>
        <p:nvSpPr>
          <p:cNvPr id="128" name="TextBox 127">
            <a:extLst>
              <a:ext uri="{FF2B5EF4-FFF2-40B4-BE49-F238E27FC236}">
                <a16:creationId xmlns:a16="http://schemas.microsoft.com/office/drawing/2014/main" id="{EE38731D-AB7A-54D8-EF22-A3D489D97707}"/>
              </a:ext>
            </a:extLst>
          </p:cNvPr>
          <p:cNvSpPr txBox="1"/>
          <p:nvPr/>
        </p:nvSpPr>
        <p:spPr>
          <a:xfrm>
            <a:off x="1044951" y="5676104"/>
            <a:ext cx="4906333" cy="161583"/>
          </a:xfrm>
          <a:prstGeom prst="rect">
            <a:avLst/>
          </a:prstGeom>
          <a:noFill/>
        </p:spPr>
        <p:txBody>
          <a:bodyPr wrap="square" lIns="0" tIns="0" rIns="0" bIns="0">
            <a:spAutoFit/>
          </a:bodyPr>
          <a:lstStyle/>
          <a:p>
            <a:pPr>
              <a:spcAft>
                <a:spcPts val="400"/>
              </a:spcAft>
            </a:pPr>
            <a:r>
              <a:rPr lang="en-US" sz="1050" noProof="0" dirty="0">
                <a:ea typeface="+mj-ea"/>
                <a:cs typeface="+mj-cs"/>
              </a:rPr>
              <a:t>HA/DR configuration and setup for Azure PostgreSQL Flex</a:t>
            </a:r>
          </a:p>
        </p:txBody>
      </p:sp>
      <p:sp>
        <p:nvSpPr>
          <p:cNvPr id="129" name="TextBox 128">
            <a:extLst>
              <a:ext uri="{FF2B5EF4-FFF2-40B4-BE49-F238E27FC236}">
                <a16:creationId xmlns:a16="http://schemas.microsoft.com/office/drawing/2014/main" id="{1CDFEBA0-9AFE-22D0-629A-C6A7009A855A}"/>
              </a:ext>
            </a:extLst>
          </p:cNvPr>
          <p:cNvSpPr txBox="1"/>
          <p:nvPr/>
        </p:nvSpPr>
        <p:spPr>
          <a:xfrm>
            <a:off x="1044951" y="5939033"/>
            <a:ext cx="4906333" cy="353943"/>
          </a:xfrm>
          <a:prstGeom prst="rect">
            <a:avLst/>
          </a:prstGeom>
          <a:noFill/>
        </p:spPr>
        <p:txBody>
          <a:bodyPr wrap="square" lIns="0" tIns="0" rIns="0" bIns="0">
            <a:noAutofit/>
          </a:bodyPr>
          <a:lstStyle/>
          <a:p>
            <a:pPr>
              <a:spcAft>
                <a:spcPts val="300"/>
              </a:spcAft>
            </a:pPr>
            <a:r>
              <a:rPr lang="en-US" sz="1050" noProof="0" dirty="0">
                <a:latin typeface="+mj-lt"/>
                <a:ea typeface="+mj-ea"/>
                <a:cs typeface="+mj-cs"/>
              </a:rPr>
              <a:t>Supported PostgreSQL Servers for Migration:</a:t>
            </a:r>
          </a:p>
          <a:p>
            <a:pPr marL="168275" lvl="1" indent="-114300">
              <a:spcAft>
                <a:spcPts val="400"/>
              </a:spcAft>
              <a:buFont typeface="Arial" panose="020B0604020202020204" pitchFamily="34" charset="0"/>
              <a:buChar char="•"/>
              <a:defRPr/>
            </a:pPr>
            <a:r>
              <a:rPr lang="en-US" sz="1000" kern="0" noProof="0" dirty="0"/>
              <a:t>PostgreSQL 9.5 and above</a:t>
            </a:r>
          </a:p>
        </p:txBody>
      </p:sp>
      <p:cxnSp>
        <p:nvCxnSpPr>
          <p:cNvPr id="130" name="Straight Connector 129">
            <a:extLst>
              <a:ext uri="{FF2B5EF4-FFF2-40B4-BE49-F238E27FC236}">
                <a16:creationId xmlns:a16="http://schemas.microsoft.com/office/drawing/2014/main" id="{99F1FBCE-E5EF-CA99-A485-8ABD4076ED3D}"/>
              </a:ext>
            </a:extLst>
          </p:cNvPr>
          <p:cNvCxnSpPr/>
          <p:nvPr/>
        </p:nvCxnSpPr>
        <p:spPr>
          <a:xfrm>
            <a:off x="1044951" y="4803372"/>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AA8FE7A-D210-507B-DEBD-FA5C032E98F7}"/>
              </a:ext>
            </a:extLst>
          </p:cNvPr>
          <p:cNvCxnSpPr/>
          <p:nvPr/>
        </p:nvCxnSpPr>
        <p:spPr>
          <a:xfrm>
            <a:off x="1044951" y="5625430"/>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9397771-36AC-258E-A7E5-782460674E1F}"/>
              </a:ext>
            </a:extLst>
          </p:cNvPr>
          <p:cNvCxnSpPr/>
          <p:nvPr/>
        </p:nvCxnSpPr>
        <p:spPr>
          <a:xfrm>
            <a:off x="1044951" y="5888361"/>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3" name="Oval 132">
            <a:extLst>
              <a:ext uri="{FF2B5EF4-FFF2-40B4-BE49-F238E27FC236}">
                <a16:creationId xmlns:a16="http://schemas.microsoft.com/office/drawing/2014/main" id="{7118A4EE-C477-B6A1-7EBD-8F5FE5FDC48A}"/>
              </a:ext>
            </a:extLst>
          </p:cNvPr>
          <p:cNvSpPr/>
          <p:nvPr/>
        </p:nvSpPr>
        <p:spPr bwMode="auto">
          <a:xfrm>
            <a:off x="775653" y="485404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4" name="Oval 133">
            <a:extLst>
              <a:ext uri="{FF2B5EF4-FFF2-40B4-BE49-F238E27FC236}">
                <a16:creationId xmlns:a16="http://schemas.microsoft.com/office/drawing/2014/main" id="{60152429-EA94-71A4-FA0C-AED91F990ABA}"/>
              </a:ext>
            </a:extLst>
          </p:cNvPr>
          <p:cNvSpPr/>
          <p:nvPr/>
        </p:nvSpPr>
        <p:spPr bwMode="auto">
          <a:xfrm>
            <a:off x="775653" y="568831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5" name="Oval 134">
            <a:extLst>
              <a:ext uri="{FF2B5EF4-FFF2-40B4-BE49-F238E27FC236}">
                <a16:creationId xmlns:a16="http://schemas.microsoft.com/office/drawing/2014/main" id="{84DEB6B9-7355-B5FF-027B-7334F03CD0BB}"/>
              </a:ext>
            </a:extLst>
          </p:cNvPr>
          <p:cNvSpPr/>
          <p:nvPr/>
        </p:nvSpPr>
        <p:spPr bwMode="auto">
          <a:xfrm>
            <a:off x="775653" y="593903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6" name="TextBox 135">
            <a:extLst>
              <a:ext uri="{FF2B5EF4-FFF2-40B4-BE49-F238E27FC236}">
                <a16:creationId xmlns:a16="http://schemas.microsoft.com/office/drawing/2014/main" id="{BC806240-F2D0-0F8B-638F-AB10E96F0E64}"/>
              </a:ext>
            </a:extLst>
          </p:cNvPr>
          <p:cNvSpPr txBox="1"/>
          <p:nvPr/>
        </p:nvSpPr>
        <p:spPr>
          <a:xfrm>
            <a:off x="584517" y="6490338"/>
            <a:ext cx="11018520" cy="123111"/>
          </a:xfrm>
          <a:prstGeom prst="rect">
            <a:avLst/>
          </a:prstGeom>
          <a:noFill/>
        </p:spPr>
        <p:txBody>
          <a:bodyPr wrap="square" lIns="0" tIns="0" rIns="0" bIns="0" rtlCol="0" anchor="b" anchorCtr="0">
            <a:spAutoFit/>
          </a:bodyPr>
          <a:lstStyle/>
          <a:p>
            <a:pPr defTabSz="932742">
              <a:defRPr/>
            </a:pPr>
            <a:r>
              <a:rPr lang="en-US" sz="800" kern="0" noProof="0" dirty="0"/>
              <a:t>* Please refer to the Heterogeneous Offering deck for comprehensive details</a:t>
            </a:r>
          </a:p>
        </p:txBody>
      </p:sp>
      <p:sp>
        <p:nvSpPr>
          <p:cNvPr id="138" name="TextBox 137">
            <a:extLst>
              <a:ext uri="{FF2B5EF4-FFF2-40B4-BE49-F238E27FC236}">
                <a16:creationId xmlns:a16="http://schemas.microsoft.com/office/drawing/2014/main" id="{B738E4CA-C8A6-4CD5-6E94-AD5FEDC0ABA0}"/>
              </a:ext>
            </a:extLst>
          </p:cNvPr>
          <p:cNvSpPr txBox="1"/>
          <p:nvPr/>
        </p:nvSpPr>
        <p:spPr>
          <a:xfrm>
            <a:off x="6547794" y="5943125"/>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Server performance testing and tunning</a:t>
            </a:r>
          </a:p>
        </p:txBody>
      </p:sp>
      <p:sp>
        <p:nvSpPr>
          <p:cNvPr id="139" name="TextBox 138">
            <a:extLst>
              <a:ext uri="{FF2B5EF4-FFF2-40B4-BE49-F238E27FC236}">
                <a16:creationId xmlns:a16="http://schemas.microsoft.com/office/drawing/2014/main" id="{4F2A8112-BFE8-0B88-01C7-A61BDA1D36BD}"/>
              </a:ext>
            </a:extLst>
          </p:cNvPr>
          <p:cNvSpPr txBox="1"/>
          <p:nvPr/>
        </p:nvSpPr>
        <p:spPr>
          <a:xfrm>
            <a:off x="6547794" y="6217779"/>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other migration path not listed in the scope</a:t>
            </a:r>
          </a:p>
        </p:txBody>
      </p:sp>
      <p:cxnSp>
        <p:nvCxnSpPr>
          <p:cNvPr id="140" name="Straight Connector 139">
            <a:extLst>
              <a:ext uri="{FF2B5EF4-FFF2-40B4-BE49-F238E27FC236}">
                <a16:creationId xmlns:a16="http://schemas.microsoft.com/office/drawing/2014/main" id="{1A481B67-2AE7-DF3C-7592-63A892F03CC3}"/>
              </a:ext>
            </a:extLst>
          </p:cNvPr>
          <p:cNvCxnSpPr/>
          <p:nvPr/>
        </p:nvCxnSpPr>
        <p:spPr>
          <a:xfrm>
            <a:off x="6547794" y="588658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49BED57-727F-757F-A886-DBF28CF07D1F}"/>
              </a:ext>
            </a:extLst>
          </p:cNvPr>
          <p:cNvCxnSpPr/>
          <p:nvPr/>
        </p:nvCxnSpPr>
        <p:spPr>
          <a:xfrm>
            <a:off x="6547794" y="616124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2" name="Oval 141">
            <a:extLst>
              <a:ext uri="{FF2B5EF4-FFF2-40B4-BE49-F238E27FC236}">
                <a16:creationId xmlns:a16="http://schemas.microsoft.com/office/drawing/2014/main" id="{E2DA0ED9-6BDC-9EE3-4EA8-6B725CF7AA8C}"/>
              </a:ext>
            </a:extLst>
          </p:cNvPr>
          <p:cNvSpPr/>
          <p:nvPr/>
        </p:nvSpPr>
        <p:spPr bwMode="auto">
          <a:xfrm>
            <a:off x="6259465" y="56806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3" name="Oval 142">
            <a:extLst>
              <a:ext uri="{FF2B5EF4-FFF2-40B4-BE49-F238E27FC236}">
                <a16:creationId xmlns:a16="http://schemas.microsoft.com/office/drawing/2014/main" id="{651E4B98-424D-4081-A067-E729672C18C3}"/>
              </a:ext>
            </a:extLst>
          </p:cNvPr>
          <p:cNvSpPr/>
          <p:nvPr/>
        </p:nvSpPr>
        <p:spPr bwMode="auto">
          <a:xfrm>
            <a:off x="6259465" y="595533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5B11BA9-3673-3BA0-6C44-36A3E9ED4EF2}"/>
              </a:ext>
            </a:extLst>
          </p:cNvPr>
          <p:cNvSpPr txBox="1">
            <a:spLocks/>
          </p:cNvSpPr>
          <p:nvPr/>
        </p:nvSpPr>
        <p:spPr>
          <a:xfrm>
            <a:off x="585787" y="1356831"/>
            <a:ext cx="5441528" cy="349239"/>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7" name="TextBox 6">
            <a:extLst>
              <a:ext uri="{FF2B5EF4-FFF2-40B4-BE49-F238E27FC236}">
                <a16:creationId xmlns:a16="http://schemas.microsoft.com/office/drawing/2014/main" id="{9D95AE32-07BB-67DA-DC41-4FBCED88C7B5}"/>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4" name="TextBox 3">
            <a:extLst>
              <a:ext uri="{FF2B5EF4-FFF2-40B4-BE49-F238E27FC236}">
                <a16:creationId xmlns:a16="http://schemas.microsoft.com/office/drawing/2014/main" id="{535C5D67-26D0-5CB0-E1BD-52799E16066D}"/>
              </a:ext>
            </a:extLst>
          </p:cNvPr>
          <p:cNvSpPr txBox="1"/>
          <p:nvPr/>
        </p:nvSpPr>
        <p:spPr>
          <a:xfrm>
            <a:off x="6248271" y="1658935"/>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6" name="TextBox 5">
            <a:extLst>
              <a:ext uri="{FF2B5EF4-FFF2-40B4-BE49-F238E27FC236}">
                <a16:creationId xmlns:a16="http://schemas.microsoft.com/office/drawing/2014/main" id="{A903A9CB-0917-9BDD-17EA-8747AEF45CF3}"/>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3419CD42-87A9-851F-17D8-DFB11E1F2853}"/>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1639211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DF06D-91D4-6552-11FF-F483B7E7CBE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54A377F-39E7-6654-DC7E-BA01C79ED017}"/>
              </a:ext>
            </a:extLst>
          </p:cNvPr>
          <p:cNvSpPr>
            <a:spLocks noGrp="1"/>
          </p:cNvSpPr>
          <p:nvPr>
            <p:ph type="title"/>
          </p:nvPr>
        </p:nvSpPr>
        <p:spPr>
          <a:xfrm>
            <a:off x="588963" y="315692"/>
            <a:ext cx="8651873" cy="461665"/>
          </a:xfrm>
        </p:spPr>
        <p:txBody>
          <a:bodyPr>
            <a:noAutofit/>
          </a:bodyPr>
          <a:lstStyle/>
          <a:p>
            <a:r>
              <a:rPr lang="en-US" sz="2400" noProof="0" dirty="0"/>
              <a:t>Database Modernization</a:t>
            </a:r>
          </a:p>
        </p:txBody>
      </p:sp>
      <p:sp>
        <p:nvSpPr>
          <p:cNvPr id="6" name="TextBox 5">
            <a:extLst>
              <a:ext uri="{FF2B5EF4-FFF2-40B4-BE49-F238E27FC236}">
                <a16:creationId xmlns:a16="http://schemas.microsoft.com/office/drawing/2014/main" id="{40BF4469-02AB-2277-03DB-0F8AF0ECE434}"/>
              </a:ext>
            </a:extLst>
          </p:cNvPr>
          <p:cNvSpPr txBox="1"/>
          <p:nvPr/>
        </p:nvSpPr>
        <p:spPr>
          <a:xfrm>
            <a:off x="588963" y="756758"/>
            <a:ext cx="5270881" cy="276999"/>
          </a:xfrm>
          <a:prstGeom prst="rect">
            <a:avLst/>
          </a:prstGeom>
          <a:noFill/>
        </p:spPr>
        <p:txBody>
          <a:bodyPr wrap="square" lIns="0" tIns="0" rIns="0" bIns="0" rtlCol="0">
            <a:spAutoFit/>
          </a:bodyPr>
          <a:lstStyle/>
          <a:p>
            <a:r>
              <a:rPr lang="en-US" noProof="0" dirty="0">
                <a:latin typeface="+mj-lt"/>
              </a:rPr>
              <a:t>MySQL Modernization</a:t>
            </a:r>
          </a:p>
        </p:txBody>
      </p:sp>
      <p:sp>
        <p:nvSpPr>
          <p:cNvPr id="7" name="Rounded Rectangle 55">
            <a:extLst>
              <a:ext uri="{FF2B5EF4-FFF2-40B4-BE49-F238E27FC236}">
                <a16:creationId xmlns:a16="http://schemas.microsoft.com/office/drawing/2014/main" id="{583AA0A6-BAEC-54B6-8EAB-30E394A2AED3}"/>
              </a:ext>
              <a:ext uri="{C183D7F6-B498-43B3-948B-1728B52AA6E4}">
                <adec:decorative xmlns:adec="http://schemas.microsoft.com/office/drawing/2017/decorative" val="1"/>
              </a:ext>
            </a:extLst>
          </p:cNvPr>
          <p:cNvSpPr>
            <a:spLocks/>
          </p:cNvSpPr>
          <p:nvPr/>
        </p:nvSpPr>
        <p:spPr bwMode="auto">
          <a:xfrm>
            <a:off x="554697" y="1272540"/>
            <a:ext cx="5483813"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8" name="Rounded Rectangle 55">
            <a:extLst>
              <a:ext uri="{FF2B5EF4-FFF2-40B4-BE49-F238E27FC236}">
                <a16:creationId xmlns:a16="http://schemas.microsoft.com/office/drawing/2014/main" id="{CEDD3A77-6F49-5C3F-74A3-C3A5FCC4255A}"/>
              </a:ext>
              <a:ext uri="{C183D7F6-B498-43B3-948B-1728B52AA6E4}">
                <adec:decorative xmlns:adec="http://schemas.microsoft.com/office/drawing/2017/decorative" val="1"/>
              </a:ext>
            </a:extLst>
          </p:cNvPr>
          <p:cNvSpPr>
            <a:spLocks/>
          </p:cNvSpPr>
          <p:nvPr/>
        </p:nvSpPr>
        <p:spPr bwMode="auto">
          <a:xfrm>
            <a:off x="6102454" y="1272540"/>
            <a:ext cx="5583708"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1" name="TextBox 10">
            <a:extLst>
              <a:ext uri="{FF2B5EF4-FFF2-40B4-BE49-F238E27FC236}">
                <a16:creationId xmlns:a16="http://schemas.microsoft.com/office/drawing/2014/main" id="{E420AF1E-7F0E-6956-2AB8-A702E5E46B89}"/>
              </a:ext>
            </a:extLst>
          </p:cNvPr>
          <p:cNvSpPr txBox="1"/>
          <p:nvPr/>
        </p:nvSpPr>
        <p:spPr>
          <a:xfrm>
            <a:off x="6608440" y="1876437"/>
            <a:ext cx="4906333" cy="323165"/>
          </a:xfrm>
          <a:prstGeom prst="rect">
            <a:avLst/>
          </a:prstGeom>
          <a:noFill/>
        </p:spPr>
        <p:txBody>
          <a:bodyPr wrap="square" lIns="0" tIns="0" rIns="0" bIns="0" anchor="t">
            <a:noAutofit/>
          </a:bodyPr>
          <a:lstStyle/>
          <a:p>
            <a:pPr lvl="0">
              <a:defRPr/>
            </a:pPr>
            <a:r>
              <a:rPr lang="en-US" sz="1050" kern="0" noProof="0" dirty="0"/>
              <a:t>Customer is responsible for testing of dependencies (e.g., applications, mapped databases) and source system changes</a:t>
            </a:r>
          </a:p>
        </p:txBody>
      </p:sp>
      <p:sp>
        <p:nvSpPr>
          <p:cNvPr id="13" name="Oval 12">
            <a:extLst>
              <a:ext uri="{FF2B5EF4-FFF2-40B4-BE49-F238E27FC236}">
                <a16:creationId xmlns:a16="http://schemas.microsoft.com/office/drawing/2014/main" id="{3C73729C-6723-8386-3554-611D7A42B341}"/>
              </a:ext>
            </a:extLst>
          </p:cNvPr>
          <p:cNvSpPr/>
          <p:nvPr/>
        </p:nvSpPr>
        <p:spPr bwMode="auto">
          <a:xfrm>
            <a:off x="6320111" y="18886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3ED88A4-6EB6-FB7C-353E-442BA37FA288}"/>
              </a:ext>
            </a:extLst>
          </p:cNvPr>
          <p:cNvSpPr txBox="1"/>
          <p:nvPr/>
        </p:nvSpPr>
        <p:spPr>
          <a:xfrm>
            <a:off x="6608440" y="2312678"/>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Advisory services and consulting</a:t>
            </a:r>
          </a:p>
        </p:txBody>
      </p:sp>
      <p:sp>
        <p:nvSpPr>
          <p:cNvPr id="17" name="Oval 16">
            <a:extLst>
              <a:ext uri="{FF2B5EF4-FFF2-40B4-BE49-F238E27FC236}">
                <a16:creationId xmlns:a16="http://schemas.microsoft.com/office/drawing/2014/main" id="{39AFCD02-78CA-BEA3-E3A9-5378CE769E3A}"/>
              </a:ext>
            </a:extLst>
          </p:cNvPr>
          <p:cNvSpPr/>
          <p:nvPr/>
        </p:nvSpPr>
        <p:spPr bwMode="auto">
          <a:xfrm>
            <a:off x="6320111" y="232489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8" name="Straight Connector 17">
            <a:extLst>
              <a:ext uri="{FF2B5EF4-FFF2-40B4-BE49-F238E27FC236}">
                <a16:creationId xmlns:a16="http://schemas.microsoft.com/office/drawing/2014/main" id="{F9276C59-9285-C18B-8D2B-C402032F38C0}"/>
              </a:ext>
            </a:extLst>
          </p:cNvPr>
          <p:cNvCxnSpPr/>
          <p:nvPr/>
        </p:nvCxnSpPr>
        <p:spPr>
          <a:xfrm>
            <a:off x="6608440" y="2256140"/>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C418635-5C28-006C-8AB3-D1FE5E365959}"/>
              </a:ext>
            </a:extLst>
          </p:cNvPr>
          <p:cNvSpPr txBox="1"/>
          <p:nvPr/>
        </p:nvSpPr>
        <p:spPr>
          <a:xfrm>
            <a:off x="6608440" y="2587337"/>
            <a:ext cx="4906333" cy="161583"/>
          </a:xfrm>
          <a:prstGeom prst="rect">
            <a:avLst/>
          </a:prstGeom>
          <a:noFill/>
        </p:spPr>
        <p:txBody>
          <a:bodyPr wrap="square" lIns="0" tIns="0" rIns="0" bIns="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MySQL Server replication setup and configuration on Azure VMs</a:t>
            </a:r>
          </a:p>
        </p:txBody>
      </p:sp>
      <p:sp>
        <p:nvSpPr>
          <p:cNvPr id="26" name="Oval 25">
            <a:extLst>
              <a:ext uri="{FF2B5EF4-FFF2-40B4-BE49-F238E27FC236}">
                <a16:creationId xmlns:a16="http://schemas.microsoft.com/office/drawing/2014/main" id="{083472AF-E13C-EEC3-0F57-78E04BE5F73B}"/>
              </a:ext>
            </a:extLst>
          </p:cNvPr>
          <p:cNvSpPr/>
          <p:nvPr/>
        </p:nvSpPr>
        <p:spPr bwMode="auto">
          <a:xfrm>
            <a:off x="6320111" y="25995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EE90C3D2-765C-4DF2-0EB5-B41C0D722C0E}"/>
              </a:ext>
            </a:extLst>
          </p:cNvPr>
          <p:cNvSpPr txBox="1"/>
          <p:nvPr/>
        </p:nvSpPr>
        <p:spPr>
          <a:xfrm>
            <a:off x="6608440" y="2861996"/>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changes in the source (any time) and target environments (after handover)</a:t>
            </a:r>
          </a:p>
        </p:txBody>
      </p:sp>
      <p:sp>
        <p:nvSpPr>
          <p:cNvPr id="29" name="Oval 28">
            <a:extLst>
              <a:ext uri="{FF2B5EF4-FFF2-40B4-BE49-F238E27FC236}">
                <a16:creationId xmlns:a16="http://schemas.microsoft.com/office/drawing/2014/main" id="{BE81BC59-AE8D-2E7F-9593-EBAE67F51713}"/>
              </a:ext>
            </a:extLst>
          </p:cNvPr>
          <p:cNvSpPr/>
          <p:nvPr/>
        </p:nvSpPr>
        <p:spPr bwMode="auto">
          <a:xfrm>
            <a:off x="6320111" y="28742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0" name="Oval 29">
            <a:extLst>
              <a:ext uri="{FF2B5EF4-FFF2-40B4-BE49-F238E27FC236}">
                <a16:creationId xmlns:a16="http://schemas.microsoft.com/office/drawing/2014/main" id="{FB3CFC12-55CA-39D0-FC5B-2AFA841B175E}"/>
              </a:ext>
            </a:extLst>
          </p:cNvPr>
          <p:cNvSpPr/>
          <p:nvPr/>
        </p:nvSpPr>
        <p:spPr bwMode="auto">
          <a:xfrm>
            <a:off x="6320111" y="313665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1" name="Oval 30">
            <a:extLst>
              <a:ext uri="{FF2B5EF4-FFF2-40B4-BE49-F238E27FC236}">
                <a16:creationId xmlns:a16="http://schemas.microsoft.com/office/drawing/2014/main" id="{3F1D1A94-D877-0EEF-1C80-912F2569A50E}"/>
              </a:ext>
            </a:extLst>
          </p:cNvPr>
          <p:cNvSpPr/>
          <p:nvPr/>
        </p:nvSpPr>
        <p:spPr bwMode="auto">
          <a:xfrm>
            <a:off x="775653" y="178646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2" name="TextBox 31">
            <a:extLst>
              <a:ext uri="{FF2B5EF4-FFF2-40B4-BE49-F238E27FC236}">
                <a16:creationId xmlns:a16="http://schemas.microsoft.com/office/drawing/2014/main" id="{A12FBD4A-83CC-C2C1-C420-92EE946E2BC6}"/>
              </a:ext>
            </a:extLst>
          </p:cNvPr>
          <p:cNvSpPr txBox="1"/>
          <p:nvPr/>
        </p:nvSpPr>
        <p:spPr>
          <a:xfrm>
            <a:off x="1044951" y="1786464"/>
            <a:ext cx="4906333" cy="323165"/>
          </a:xfrm>
          <a:prstGeom prst="rect">
            <a:avLst/>
          </a:prstGeom>
          <a:noFill/>
        </p:spPr>
        <p:txBody>
          <a:bodyPr wrap="square" lIns="0" tIns="0" rIns="0" bIns="0">
            <a:noAutofit/>
          </a:bodyPr>
          <a:lstStyle/>
          <a:p>
            <a:pPr>
              <a:spcAft>
                <a:spcPts val="400"/>
              </a:spcAft>
            </a:pPr>
            <a:r>
              <a:rPr lang="en-US" sz="1050" noProof="0" dirty="0">
                <a:ea typeface="+mj-ea"/>
                <a:cs typeface="+mj-cs"/>
              </a:rPr>
              <a:t>Azure Database for MySQL—single server to Azure Database for MySQL—flexible server migrations with near-zero code changes</a:t>
            </a:r>
          </a:p>
        </p:txBody>
      </p:sp>
      <p:sp>
        <p:nvSpPr>
          <p:cNvPr id="33" name="TextBox 32">
            <a:extLst>
              <a:ext uri="{FF2B5EF4-FFF2-40B4-BE49-F238E27FC236}">
                <a16:creationId xmlns:a16="http://schemas.microsoft.com/office/drawing/2014/main" id="{B91BCC59-230B-C12F-9024-09BCA8689E7B}"/>
              </a:ext>
            </a:extLst>
          </p:cNvPr>
          <p:cNvSpPr txBox="1"/>
          <p:nvPr/>
        </p:nvSpPr>
        <p:spPr>
          <a:xfrm>
            <a:off x="6608440" y="3136655"/>
            <a:ext cx="4906333" cy="323165"/>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application/services-related configurations and testing (pre- and post-migration)</a:t>
            </a:r>
          </a:p>
        </p:txBody>
      </p:sp>
      <p:sp>
        <p:nvSpPr>
          <p:cNvPr id="34" name="TextBox 33">
            <a:extLst>
              <a:ext uri="{FF2B5EF4-FFF2-40B4-BE49-F238E27FC236}">
                <a16:creationId xmlns:a16="http://schemas.microsoft.com/office/drawing/2014/main" id="{829DABC1-3365-2215-B7B4-7C331D1BA5EF}"/>
              </a:ext>
            </a:extLst>
          </p:cNvPr>
          <p:cNvSpPr txBox="1"/>
          <p:nvPr/>
        </p:nvSpPr>
        <p:spPr>
          <a:xfrm>
            <a:off x="6608440" y="3572896"/>
            <a:ext cx="4906333" cy="323165"/>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Performing and configuring backups, monitoring, and alerts (pre- and post-migration)</a:t>
            </a:r>
          </a:p>
        </p:txBody>
      </p:sp>
      <p:sp>
        <p:nvSpPr>
          <p:cNvPr id="35" name="TextBox 34">
            <a:extLst>
              <a:ext uri="{FF2B5EF4-FFF2-40B4-BE49-F238E27FC236}">
                <a16:creationId xmlns:a16="http://schemas.microsoft.com/office/drawing/2014/main" id="{9DBF5230-F22E-AD4E-303D-82B1F887F036}"/>
              </a:ext>
            </a:extLst>
          </p:cNvPr>
          <p:cNvSpPr txBox="1"/>
          <p:nvPr/>
        </p:nvSpPr>
        <p:spPr>
          <a:xfrm>
            <a:off x="6608440" y="4009137"/>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 archival solutions</a:t>
            </a:r>
          </a:p>
        </p:txBody>
      </p:sp>
      <p:sp>
        <p:nvSpPr>
          <p:cNvPr id="36" name="TextBox 35">
            <a:extLst>
              <a:ext uri="{FF2B5EF4-FFF2-40B4-BE49-F238E27FC236}">
                <a16:creationId xmlns:a16="http://schemas.microsoft.com/office/drawing/2014/main" id="{08F433EA-2D31-6BB8-873B-F0CBAAEEBB2B}"/>
              </a:ext>
            </a:extLst>
          </p:cNvPr>
          <p:cNvSpPr txBox="1"/>
          <p:nvPr/>
        </p:nvSpPr>
        <p:spPr>
          <a:xfrm>
            <a:off x="6608440" y="4283796"/>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Architectural design and discussion for HA/DR</a:t>
            </a:r>
          </a:p>
        </p:txBody>
      </p:sp>
      <p:sp>
        <p:nvSpPr>
          <p:cNvPr id="37" name="TextBox 36">
            <a:extLst>
              <a:ext uri="{FF2B5EF4-FFF2-40B4-BE49-F238E27FC236}">
                <a16:creationId xmlns:a16="http://schemas.microsoft.com/office/drawing/2014/main" id="{81CD4D92-E933-5A46-76DD-50398BE95680}"/>
              </a:ext>
            </a:extLst>
          </p:cNvPr>
          <p:cNvSpPr txBox="1"/>
          <p:nvPr/>
        </p:nvSpPr>
        <p:spPr>
          <a:xfrm>
            <a:off x="6608440" y="4833114"/>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Database Performance testing and tunning</a:t>
            </a:r>
          </a:p>
        </p:txBody>
      </p:sp>
      <p:sp>
        <p:nvSpPr>
          <p:cNvPr id="39" name="TextBox 38">
            <a:extLst>
              <a:ext uri="{FF2B5EF4-FFF2-40B4-BE49-F238E27FC236}">
                <a16:creationId xmlns:a16="http://schemas.microsoft.com/office/drawing/2014/main" id="{8B6D94F6-FCB1-1828-EB4C-80E56DA8FA3A}"/>
              </a:ext>
            </a:extLst>
          </p:cNvPr>
          <p:cNvSpPr txBox="1"/>
          <p:nvPr/>
        </p:nvSpPr>
        <p:spPr>
          <a:xfrm>
            <a:off x="6608440" y="5107773"/>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target environment setup</a:t>
            </a:r>
          </a:p>
        </p:txBody>
      </p:sp>
      <p:sp>
        <p:nvSpPr>
          <p:cNvPr id="40" name="TextBox 39">
            <a:extLst>
              <a:ext uri="{FF2B5EF4-FFF2-40B4-BE49-F238E27FC236}">
                <a16:creationId xmlns:a16="http://schemas.microsoft.com/office/drawing/2014/main" id="{50A75625-6D82-2315-F993-8EC318B98BF7}"/>
              </a:ext>
            </a:extLst>
          </p:cNvPr>
          <p:cNvSpPr txBox="1"/>
          <p:nvPr/>
        </p:nvSpPr>
        <p:spPr>
          <a:xfrm>
            <a:off x="6608440" y="5382432"/>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Third-party tools setup &amp; configuration for MySQL Server</a:t>
            </a:r>
          </a:p>
        </p:txBody>
      </p:sp>
      <p:cxnSp>
        <p:nvCxnSpPr>
          <p:cNvPr id="41" name="Straight Connector 40">
            <a:extLst>
              <a:ext uri="{FF2B5EF4-FFF2-40B4-BE49-F238E27FC236}">
                <a16:creationId xmlns:a16="http://schemas.microsoft.com/office/drawing/2014/main" id="{C6290FA2-0701-DA8A-380C-FE2DD6CA2A9D}"/>
              </a:ext>
            </a:extLst>
          </p:cNvPr>
          <p:cNvCxnSpPr/>
          <p:nvPr/>
        </p:nvCxnSpPr>
        <p:spPr>
          <a:xfrm>
            <a:off x="6608440" y="253079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E6D43A7-8F97-DD16-C67A-C8BBDB24BC00}"/>
              </a:ext>
            </a:extLst>
          </p:cNvPr>
          <p:cNvCxnSpPr/>
          <p:nvPr/>
        </p:nvCxnSpPr>
        <p:spPr>
          <a:xfrm>
            <a:off x="6608440" y="280545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D59A077-9CF7-6670-774A-AC15E4F68B7B}"/>
              </a:ext>
            </a:extLst>
          </p:cNvPr>
          <p:cNvCxnSpPr/>
          <p:nvPr/>
        </p:nvCxnSpPr>
        <p:spPr>
          <a:xfrm>
            <a:off x="6608440" y="308011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3443C47-CBF5-BE95-89A9-2116831F923C}"/>
              </a:ext>
            </a:extLst>
          </p:cNvPr>
          <p:cNvCxnSpPr/>
          <p:nvPr/>
        </p:nvCxnSpPr>
        <p:spPr>
          <a:xfrm>
            <a:off x="6608440" y="351635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03FD06B-EB97-57D9-492B-E6E69D077856}"/>
              </a:ext>
            </a:extLst>
          </p:cNvPr>
          <p:cNvCxnSpPr/>
          <p:nvPr/>
        </p:nvCxnSpPr>
        <p:spPr>
          <a:xfrm>
            <a:off x="6608440" y="395259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1384CFB-0EE1-499B-AF02-3C911685DB4F}"/>
              </a:ext>
            </a:extLst>
          </p:cNvPr>
          <p:cNvCxnSpPr/>
          <p:nvPr/>
        </p:nvCxnSpPr>
        <p:spPr>
          <a:xfrm>
            <a:off x="6608440" y="422725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653F65-B611-F677-EE18-2F150F6D5C8F}"/>
              </a:ext>
            </a:extLst>
          </p:cNvPr>
          <p:cNvCxnSpPr/>
          <p:nvPr/>
        </p:nvCxnSpPr>
        <p:spPr>
          <a:xfrm>
            <a:off x="6608440" y="477657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5953948-21DC-7E84-B6A1-C525F9840675}"/>
              </a:ext>
            </a:extLst>
          </p:cNvPr>
          <p:cNvCxnSpPr/>
          <p:nvPr/>
        </p:nvCxnSpPr>
        <p:spPr>
          <a:xfrm>
            <a:off x="6608440" y="5051235"/>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795FDA-D5B5-3BE2-55E0-C84748CDF0C2}"/>
              </a:ext>
            </a:extLst>
          </p:cNvPr>
          <p:cNvCxnSpPr/>
          <p:nvPr/>
        </p:nvCxnSpPr>
        <p:spPr>
          <a:xfrm>
            <a:off x="6608440" y="532589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65DAECF2-8DC2-8945-9FE7-8EC330CBC94D}"/>
              </a:ext>
            </a:extLst>
          </p:cNvPr>
          <p:cNvSpPr/>
          <p:nvPr/>
        </p:nvSpPr>
        <p:spPr bwMode="auto">
          <a:xfrm>
            <a:off x="6320111" y="357289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1" name="Oval 50">
            <a:extLst>
              <a:ext uri="{FF2B5EF4-FFF2-40B4-BE49-F238E27FC236}">
                <a16:creationId xmlns:a16="http://schemas.microsoft.com/office/drawing/2014/main" id="{FFCDAC14-D979-5312-AC49-AB49784671EB}"/>
              </a:ext>
            </a:extLst>
          </p:cNvPr>
          <p:cNvSpPr/>
          <p:nvPr/>
        </p:nvSpPr>
        <p:spPr bwMode="auto">
          <a:xfrm>
            <a:off x="6320111" y="40213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2" name="Oval 51">
            <a:extLst>
              <a:ext uri="{FF2B5EF4-FFF2-40B4-BE49-F238E27FC236}">
                <a16:creationId xmlns:a16="http://schemas.microsoft.com/office/drawing/2014/main" id="{E9DF154A-F35F-D6C8-4495-C86D62950280}"/>
              </a:ext>
            </a:extLst>
          </p:cNvPr>
          <p:cNvSpPr/>
          <p:nvPr/>
        </p:nvSpPr>
        <p:spPr bwMode="auto">
          <a:xfrm>
            <a:off x="6320111" y="457066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3" name="Oval 52">
            <a:extLst>
              <a:ext uri="{FF2B5EF4-FFF2-40B4-BE49-F238E27FC236}">
                <a16:creationId xmlns:a16="http://schemas.microsoft.com/office/drawing/2014/main" id="{2DD4D670-7821-3E92-B42C-5FBF1884F1FF}"/>
              </a:ext>
            </a:extLst>
          </p:cNvPr>
          <p:cNvSpPr/>
          <p:nvPr/>
        </p:nvSpPr>
        <p:spPr bwMode="auto">
          <a:xfrm>
            <a:off x="6320111" y="48453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Oval 53">
            <a:extLst>
              <a:ext uri="{FF2B5EF4-FFF2-40B4-BE49-F238E27FC236}">
                <a16:creationId xmlns:a16="http://schemas.microsoft.com/office/drawing/2014/main" id="{10F1620E-E8E2-2DD6-96E9-C14E9D9365EA}"/>
              </a:ext>
            </a:extLst>
          </p:cNvPr>
          <p:cNvSpPr/>
          <p:nvPr/>
        </p:nvSpPr>
        <p:spPr bwMode="auto">
          <a:xfrm>
            <a:off x="6320111" y="51199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5" name="Oval 54">
            <a:extLst>
              <a:ext uri="{FF2B5EF4-FFF2-40B4-BE49-F238E27FC236}">
                <a16:creationId xmlns:a16="http://schemas.microsoft.com/office/drawing/2014/main" id="{682CF99D-98B8-7615-110B-AF25FB6ACC60}"/>
              </a:ext>
            </a:extLst>
          </p:cNvPr>
          <p:cNvSpPr/>
          <p:nvPr/>
        </p:nvSpPr>
        <p:spPr bwMode="auto">
          <a:xfrm>
            <a:off x="6320111" y="53946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6" name="TextBox 55">
            <a:extLst>
              <a:ext uri="{FF2B5EF4-FFF2-40B4-BE49-F238E27FC236}">
                <a16:creationId xmlns:a16="http://schemas.microsoft.com/office/drawing/2014/main" id="{12C833D0-D4A5-446C-744D-901B4537F830}"/>
              </a:ext>
            </a:extLst>
          </p:cNvPr>
          <p:cNvSpPr txBox="1"/>
          <p:nvPr/>
        </p:nvSpPr>
        <p:spPr>
          <a:xfrm>
            <a:off x="6608440" y="5657091"/>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PostgreSQL Server upgrade and patch management </a:t>
            </a:r>
          </a:p>
        </p:txBody>
      </p:sp>
      <p:sp>
        <p:nvSpPr>
          <p:cNvPr id="57" name="Oval 56">
            <a:extLst>
              <a:ext uri="{FF2B5EF4-FFF2-40B4-BE49-F238E27FC236}">
                <a16:creationId xmlns:a16="http://schemas.microsoft.com/office/drawing/2014/main" id="{88C58186-1F35-42BB-0DE3-7217A72B6EBA}"/>
              </a:ext>
            </a:extLst>
          </p:cNvPr>
          <p:cNvSpPr/>
          <p:nvPr/>
        </p:nvSpPr>
        <p:spPr bwMode="auto">
          <a:xfrm>
            <a:off x="6320111" y="621861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58" name="Straight Connector 57">
            <a:extLst>
              <a:ext uri="{FF2B5EF4-FFF2-40B4-BE49-F238E27FC236}">
                <a16:creationId xmlns:a16="http://schemas.microsoft.com/office/drawing/2014/main" id="{08F8DA3C-5F60-9993-A80D-A14A815B5C3C}"/>
              </a:ext>
            </a:extLst>
          </p:cNvPr>
          <p:cNvCxnSpPr/>
          <p:nvPr/>
        </p:nvCxnSpPr>
        <p:spPr>
          <a:xfrm>
            <a:off x="6608440" y="560055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56C20B27-E6E0-0318-1B31-909405A75882}"/>
              </a:ext>
            </a:extLst>
          </p:cNvPr>
          <p:cNvSpPr txBox="1"/>
          <p:nvPr/>
        </p:nvSpPr>
        <p:spPr>
          <a:xfrm>
            <a:off x="6608440" y="4558455"/>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HA/DR testing </a:t>
            </a:r>
          </a:p>
        </p:txBody>
      </p:sp>
      <p:cxnSp>
        <p:nvCxnSpPr>
          <p:cNvPr id="62" name="Straight Connector 61">
            <a:extLst>
              <a:ext uri="{FF2B5EF4-FFF2-40B4-BE49-F238E27FC236}">
                <a16:creationId xmlns:a16="http://schemas.microsoft.com/office/drawing/2014/main" id="{F42D3268-889D-FB1A-E874-F235AACFE1E9}"/>
              </a:ext>
            </a:extLst>
          </p:cNvPr>
          <p:cNvCxnSpPr/>
          <p:nvPr/>
        </p:nvCxnSpPr>
        <p:spPr>
          <a:xfrm>
            <a:off x="6608440" y="450191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8D2A211E-2493-8B9C-3625-CF97B853938C}"/>
              </a:ext>
            </a:extLst>
          </p:cNvPr>
          <p:cNvSpPr/>
          <p:nvPr/>
        </p:nvSpPr>
        <p:spPr bwMode="auto">
          <a:xfrm>
            <a:off x="6320111" y="42960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4" name="TextBox 63">
            <a:extLst>
              <a:ext uri="{FF2B5EF4-FFF2-40B4-BE49-F238E27FC236}">
                <a16:creationId xmlns:a16="http://schemas.microsoft.com/office/drawing/2014/main" id="{4A7FABB1-1AFE-5D6D-A602-0356F91C73E6}"/>
              </a:ext>
            </a:extLst>
          </p:cNvPr>
          <p:cNvSpPr txBox="1"/>
          <p:nvPr/>
        </p:nvSpPr>
        <p:spPr>
          <a:xfrm>
            <a:off x="1044951" y="2268385"/>
            <a:ext cx="4906333" cy="2105705"/>
          </a:xfrm>
          <a:prstGeom prst="rect">
            <a:avLst/>
          </a:prstGeom>
          <a:noFill/>
        </p:spPr>
        <p:txBody>
          <a:bodyPr wrap="square" lIns="0" tIns="0" rIns="0" bIns="0">
            <a:noAutofit/>
          </a:bodyPr>
          <a:lstStyle/>
          <a:p>
            <a:pPr>
              <a:spcAft>
                <a:spcPts val="300"/>
              </a:spcAft>
            </a:pPr>
            <a:r>
              <a:rPr lang="en-US" sz="1050" noProof="0" dirty="0">
                <a:latin typeface="+mj-lt"/>
                <a:ea typeface="+mj-ea"/>
                <a:cs typeface="+mj-cs"/>
              </a:rPr>
              <a:t>On-premise MySQL to Azure Database for MySQL—Flexible server migrations with near-zero code changes Migration scenario‘s supported:</a:t>
            </a:r>
          </a:p>
          <a:p>
            <a:pPr marL="168275" lvl="1" indent="-114300">
              <a:spcAft>
                <a:spcPts val="400"/>
              </a:spcAft>
              <a:buFont typeface="Arial" panose="020B0604020202020204" pitchFamily="34" charset="0"/>
              <a:buChar char="•"/>
              <a:defRPr/>
            </a:pPr>
            <a:r>
              <a:rPr lang="en-US" sz="1000" kern="0" noProof="0" dirty="0"/>
              <a:t>On-Premises MySQL Server to Azure Database for MySQL—flexible server</a:t>
            </a:r>
          </a:p>
          <a:p>
            <a:pPr marL="168275" lvl="1" indent="-114300">
              <a:spcAft>
                <a:spcPts val="400"/>
              </a:spcAft>
              <a:buFont typeface="Arial" panose="020B0604020202020204" pitchFamily="34" charset="0"/>
              <a:buChar char="•"/>
              <a:defRPr/>
            </a:pPr>
            <a:r>
              <a:rPr lang="en-US" sz="1000" kern="0" noProof="0" dirty="0"/>
              <a:t>MySQL server on Windows Azure VM to Azure Database for MySQL—flexible server</a:t>
            </a:r>
          </a:p>
          <a:p>
            <a:pPr marL="168275" lvl="1" indent="-114300">
              <a:spcAft>
                <a:spcPts val="400"/>
              </a:spcAft>
              <a:buFont typeface="Arial" panose="020B0604020202020204" pitchFamily="34" charset="0"/>
              <a:buChar char="•"/>
              <a:defRPr/>
            </a:pPr>
            <a:r>
              <a:rPr lang="en-US" sz="1000" kern="0" noProof="0" dirty="0"/>
              <a:t>MySQL server on Linux Azure VM to Azure Database for MySQL—flexible server</a:t>
            </a:r>
          </a:p>
          <a:p>
            <a:pPr marL="168275" lvl="1" indent="-114300">
              <a:spcAft>
                <a:spcPts val="400"/>
              </a:spcAft>
              <a:buFont typeface="Arial" panose="020B0604020202020204" pitchFamily="34" charset="0"/>
              <a:buChar char="•"/>
              <a:defRPr/>
            </a:pPr>
            <a:r>
              <a:rPr lang="en-US" sz="1000" kern="0" noProof="0" dirty="0"/>
              <a:t>AWS EC2 MySQL Server to Azure Database for MySQL—flexible server</a:t>
            </a:r>
          </a:p>
          <a:p>
            <a:pPr marL="168275" lvl="1" indent="-114300">
              <a:spcAft>
                <a:spcPts val="400"/>
              </a:spcAft>
              <a:buFont typeface="Arial" panose="020B0604020202020204" pitchFamily="34" charset="0"/>
              <a:buChar char="•"/>
              <a:defRPr/>
            </a:pPr>
            <a:r>
              <a:rPr lang="en-US" sz="1000" kern="0" noProof="0" dirty="0"/>
              <a:t>AWS RDS for MySQL Server to Azure Database for MySQL—flexible server</a:t>
            </a:r>
          </a:p>
          <a:p>
            <a:pPr marL="168275" lvl="1" indent="-114300">
              <a:spcAft>
                <a:spcPts val="400"/>
              </a:spcAft>
              <a:buFont typeface="Arial" panose="020B0604020202020204" pitchFamily="34" charset="0"/>
              <a:buChar char="•"/>
              <a:defRPr/>
            </a:pPr>
            <a:r>
              <a:rPr lang="en-US" sz="1000" kern="0" noProof="0" dirty="0"/>
              <a:t>AWS Aurora MySQL to Azure Database for MySQL—flexible server ​</a:t>
            </a:r>
          </a:p>
          <a:p>
            <a:pPr marL="168275" lvl="1" indent="-114300">
              <a:spcAft>
                <a:spcPts val="400"/>
              </a:spcAft>
              <a:buFont typeface="Arial" panose="020B0604020202020204" pitchFamily="34" charset="0"/>
              <a:buChar char="•"/>
              <a:defRPr/>
            </a:pPr>
            <a:r>
              <a:rPr lang="en-US" sz="1000" kern="0" noProof="0" dirty="0"/>
              <a:t>GCP Cloud SQL for MySQL to Azure Database for MySQL—flexible server ​</a:t>
            </a:r>
          </a:p>
          <a:p>
            <a:pPr marL="168275" lvl="1" indent="-114300">
              <a:spcAft>
                <a:spcPts val="400"/>
              </a:spcAft>
              <a:buFont typeface="Arial" panose="020B0604020202020204" pitchFamily="34" charset="0"/>
              <a:buChar char="•"/>
              <a:defRPr/>
            </a:pPr>
            <a:r>
              <a:rPr lang="en-US" sz="1000" kern="0" noProof="0" dirty="0"/>
              <a:t>MySQL on Google Compute Engine (GCE) to Azure Database for MySQL—flexible server Persona MySQL (excluding Persona features)</a:t>
            </a:r>
          </a:p>
        </p:txBody>
      </p:sp>
      <p:sp>
        <p:nvSpPr>
          <p:cNvPr id="65" name="Oval 64">
            <a:extLst>
              <a:ext uri="{FF2B5EF4-FFF2-40B4-BE49-F238E27FC236}">
                <a16:creationId xmlns:a16="http://schemas.microsoft.com/office/drawing/2014/main" id="{3654B2AB-F83B-540A-00E3-14C779BEBCD6}"/>
              </a:ext>
            </a:extLst>
          </p:cNvPr>
          <p:cNvSpPr/>
          <p:nvPr/>
        </p:nvSpPr>
        <p:spPr bwMode="auto">
          <a:xfrm>
            <a:off x="775653" y="22683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66" name="Straight Connector 65">
            <a:extLst>
              <a:ext uri="{FF2B5EF4-FFF2-40B4-BE49-F238E27FC236}">
                <a16:creationId xmlns:a16="http://schemas.microsoft.com/office/drawing/2014/main" id="{3A730B62-1AC2-A155-FF17-221F86BD5D1B}"/>
              </a:ext>
            </a:extLst>
          </p:cNvPr>
          <p:cNvCxnSpPr/>
          <p:nvPr/>
        </p:nvCxnSpPr>
        <p:spPr>
          <a:xfrm>
            <a:off x="1044951" y="218900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9EABA28-6BD3-7045-3F57-8B9B9517C048}"/>
              </a:ext>
            </a:extLst>
          </p:cNvPr>
          <p:cNvSpPr txBox="1"/>
          <p:nvPr/>
        </p:nvSpPr>
        <p:spPr>
          <a:xfrm>
            <a:off x="1044951" y="4532846"/>
            <a:ext cx="4906333" cy="161583"/>
          </a:xfrm>
          <a:prstGeom prst="rect">
            <a:avLst/>
          </a:prstGeom>
          <a:noFill/>
        </p:spPr>
        <p:txBody>
          <a:bodyPr wrap="square" lIns="0" tIns="0" rIns="0" bIns="0">
            <a:spAutoFit/>
          </a:bodyPr>
          <a:lstStyle/>
          <a:p>
            <a:pPr>
              <a:spcAft>
                <a:spcPts val="400"/>
              </a:spcAft>
            </a:pPr>
            <a:r>
              <a:rPr lang="en-US" sz="1050" noProof="0" dirty="0">
                <a:ea typeface="+mj-ea"/>
                <a:cs typeface="+mj-cs"/>
              </a:rPr>
              <a:t>HA/DR configuration &amp; setup for Azure MySQL Flex</a:t>
            </a:r>
          </a:p>
        </p:txBody>
      </p:sp>
      <p:sp>
        <p:nvSpPr>
          <p:cNvPr id="69" name="TextBox 68">
            <a:extLst>
              <a:ext uri="{FF2B5EF4-FFF2-40B4-BE49-F238E27FC236}">
                <a16:creationId xmlns:a16="http://schemas.microsoft.com/office/drawing/2014/main" id="{A783AF74-F19B-04D6-8189-6BAC2213FFBF}"/>
              </a:ext>
            </a:extLst>
          </p:cNvPr>
          <p:cNvSpPr txBox="1"/>
          <p:nvPr/>
        </p:nvSpPr>
        <p:spPr>
          <a:xfrm>
            <a:off x="1044951" y="4853183"/>
            <a:ext cx="4906333" cy="353943"/>
          </a:xfrm>
          <a:prstGeom prst="rect">
            <a:avLst/>
          </a:prstGeom>
          <a:noFill/>
        </p:spPr>
        <p:txBody>
          <a:bodyPr wrap="square" lIns="0" tIns="0" rIns="0" bIns="0">
            <a:noAutofit/>
          </a:bodyPr>
          <a:lstStyle/>
          <a:p>
            <a:pPr>
              <a:spcAft>
                <a:spcPts val="300"/>
              </a:spcAft>
            </a:pPr>
            <a:r>
              <a:rPr lang="en-US" sz="1050" noProof="0" dirty="0">
                <a:latin typeface="+mj-lt"/>
                <a:ea typeface="+mj-ea"/>
                <a:cs typeface="+mj-cs"/>
              </a:rPr>
              <a:t>Supported MySQL Servers for Migration:</a:t>
            </a:r>
          </a:p>
          <a:p>
            <a:pPr marL="168275" lvl="1" indent="-114300">
              <a:spcAft>
                <a:spcPts val="400"/>
              </a:spcAft>
              <a:buFont typeface="Arial" panose="020B0604020202020204" pitchFamily="34" charset="0"/>
              <a:buChar char="•"/>
              <a:defRPr/>
            </a:pPr>
            <a:r>
              <a:rPr lang="en-US" sz="1000" kern="0" noProof="0" dirty="0"/>
              <a:t>MySQL 5.6 and above</a:t>
            </a:r>
          </a:p>
        </p:txBody>
      </p:sp>
      <p:cxnSp>
        <p:nvCxnSpPr>
          <p:cNvPr id="71" name="Straight Connector 70">
            <a:extLst>
              <a:ext uri="{FF2B5EF4-FFF2-40B4-BE49-F238E27FC236}">
                <a16:creationId xmlns:a16="http://schemas.microsoft.com/office/drawing/2014/main" id="{D8C9DF3F-E59C-B2AD-1533-2131752BB394}"/>
              </a:ext>
            </a:extLst>
          </p:cNvPr>
          <p:cNvCxnSpPr/>
          <p:nvPr/>
        </p:nvCxnSpPr>
        <p:spPr>
          <a:xfrm>
            <a:off x="1044951" y="445346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30399DCA-2C9C-3107-32DA-9270ADA7C807}"/>
              </a:ext>
            </a:extLst>
          </p:cNvPr>
          <p:cNvCxnSpPr/>
          <p:nvPr/>
        </p:nvCxnSpPr>
        <p:spPr>
          <a:xfrm>
            <a:off x="1044951" y="477380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1302EA1C-879A-354C-8E66-62B387E7C2F0}"/>
              </a:ext>
            </a:extLst>
          </p:cNvPr>
          <p:cNvSpPr/>
          <p:nvPr/>
        </p:nvSpPr>
        <p:spPr bwMode="auto">
          <a:xfrm>
            <a:off x="775653" y="454505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7" name="Oval 76">
            <a:extLst>
              <a:ext uri="{FF2B5EF4-FFF2-40B4-BE49-F238E27FC236}">
                <a16:creationId xmlns:a16="http://schemas.microsoft.com/office/drawing/2014/main" id="{65C0255F-96E8-E828-D399-BCD35DED7DB5}"/>
              </a:ext>
            </a:extLst>
          </p:cNvPr>
          <p:cNvSpPr/>
          <p:nvPr/>
        </p:nvSpPr>
        <p:spPr bwMode="auto">
          <a:xfrm>
            <a:off x="775653" y="485318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9" name="TextBox 78">
            <a:extLst>
              <a:ext uri="{FF2B5EF4-FFF2-40B4-BE49-F238E27FC236}">
                <a16:creationId xmlns:a16="http://schemas.microsoft.com/office/drawing/2014/main" id="{A226C974-E54B-7A26-15AB-75263CF09DBA}"/>
              </a:ext>
            </a:extLst>
          </p:cNvPr>
          <p:cNvSpPr txBox="1"/>
          <p:nvPr/>
        </p:nvSpPr>
        <p:spPr>
          <a:xfrm>
            <a:off x="6608440" y="5931750"/>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Server performance testing and tunning</a:t>
            </a:r>
          </a:p>
        </p:txBody>
      </p:sp>
      <p:sp>
        <p:nvSpPr>
          <p:cNvPr id="80" name="TextBox 79">
            <a:extLst>
              <a:ext uri="{FF2B5EF4-FFF2-40B4-BE49-F238E27FC236}">
                <a16:creationId xmlns:a16="http://schemas.microsoft.com/office/drawing/2014/main" id="{C16E3874-B067-1496-D33F-C309D585DC69}"/>
              </a:ext>
            </a:extLst>
          </p:cNvPr>
          <p:cNvSpPr txBox="1"/>
          <p:nvPr/>
        </p:nvSpPr>
        <p:spPr>
          <a:xfrm>
            <a:off x="6608440" y="6206404"/>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other migration path not listed in the scope</a:t>
            </a:r>
          </a:p>
        </p:txBody>
      </p:sp>
      <p:cxnSp>
        <p:nvCxnSpPr>
          <p:cNvPr id="81" name="Straight Connector 80">
            <a:extLst>
              <a:ext uri="{FF2B5EF4-FFF2-40B4-BE49-F238E27FC236}">
                <a16:creationId xmlns:a16="http://schemas.microsoft.com/office/drawing/2014/main" id="{310C7FDB-9F06-2B31-09A7-A8C298F2A327}"/>
              </a:ext>
            </a:extLst>
          </p:cNvPr>
          <p:cNvCxnSpPr/>
          <p:nvPr/>
        </p:nvCxnSpPr>
        <p:spPr>
          <a:xfrm>
            <a:off x="6608440" y="5875212"/>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4FBC53A-FF1C-2904-02C4-9E59659C83C0}"/>
              </a:ext>
            </a:extLst>
          </p:cNvPr>
          <p:cNvCxnSpPr/>
          <p:nvPr/>
        </p:nvCxnSpPr>
        <p:spPr>
          <a:xfrm>
            <a:off x="6608440" y="6149871"/>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1BAE3B12-BED5-4057-958D-2F79BDBA6182}"/>
              </a:ext>
            </a:extLst>
          </p:cNvPr>
          <p:cNvSpPr/>
          <p:nvPr/>
        </p:nvSpPr>
        <p:spPr bwMode="auto">
          <a:xfrm>
            <a:off x="6320111" y="566930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4" name="Oval 83">
            <a:extLst>
              <a:ext uri="{FF2B5EF4-FFF2-40B4-BE49-F238E27FC236}">
                <a16:creationId xmlns:a16="http://schemas.microsoft.com/office/drawing/2014/main" id="{AD97E414-81A7-C9DE-EFCF-0C9216902716}"/>
              </a:ext>
            </a:extLst>
          </p:cNvPr>
          <p:cNvSpPr/>
          <p:nvPr/>
        </p:nvSpPr>
        <p:spPr bwMode="auto">
          <a:xfrm>
            <a:off x="6320111" y="594396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E8CC86C-46C8-1498-740F-2F87EA2185C7}"/>
              </a:ext>
            </a:extLst>
          </p:cNvPr>
          <p:cNvSpPr txBox="1">
            <a:spLocks/>
          </p:cNvSpPr>
          <p:nvPr/>
        </p:nvSpPr>
        <p:spPr>
          <a:xfrm>
            <a:off x="585787" y="1356831"/>
            <a:ext cx="5441528" cy="3492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15" name="TextBox 14">
            <a:extLst>
              <a:ext uri="{FF2B5EF4-FFF2-40B4-BE49-F238E27FC236}">
                <a16:creationId xmlns:a16="http://schemas.microsoft.com/office/drawing/2014/main" id="{A4E010AF-A7FD-535C-5775-FEBC97DBA6CF}"/>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4" name="TextBox 3">
            <a:extLst>
              <a:ext uri="{FF2B5EF4-FFF2-40B4-BE49-F238E27FC236}">
                <a16:creationId xmlns:a16="http://schemas.microsoft.com/office/drawing/2014/main" id="{DD38C482-B9B6-BCBE-EAC1-4E9DD6A7D723}"/>
              </a:ext>
            </a:extLst>
          </p:cNvPr>
          <p:cNvSpPr txBox="1"/>
          <p:nvPr/>
        </p:nvSpPr>
        <p:spPr>
          <a:xfrm>
            <a:off x="6320111" y="1670126"/>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9" name="TextBox 8">
            <a:extLst>
              <a:ext uri="{FF2B5EF4-FFF2-40B4-BE49-F238E27FC236}">
                <a16:creationId xmlns:a16="http://schemas.microsoft.com/office/drawing/2014/main" id="{2411D813-C907-8016-88C4-BA2C44CA9EF0}"/>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3E7D5112-4905-6548-4AB5-61BD5D234EF2}"/>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920256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34A86-B170-E212-3BDA-FC6B0909A02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26320CD8-A35A-37B0-7FB3-F5A6533872B3}"/>
              </a:ext>
            </a:extLst>
          </p:cNvPr>
          <p:cNvSpPr>
            <a:spLocks noGrp="1"/>
          </p:cNvSpPr>
          <p:nvPr>
            <p:ph type="title"/>
          </p:nvPr>
        </p:nvSpPr>
        <p:spPr>
          <a:xfrm>
            <a:off x="588963" y="315692"/>
            <a:ext cx="8651873" cy="461665"/>
          </a:xfrm>
        </p:spPr>
        <p:txBody>
          <a:bodyPr>
            <a:noAutofit/>
          </a:bodyPr>
          <a:lstStyle/>
          <a:p>
            <a:r>
              <a:rPr lang="en-US" sz="2400" noProof="0" dirty="0"/>
              <a:t>Database Modernization</a:t>
            </a:r>
          </a:p>
        </p:txBody>
      </p:sp>
      <p:sp>
        <p:nvSpPr>
          <p:cNvPr id="7" name="Rounded Rectangle 55">
            <a:extLst>
              <a:ext uri="{FF2B5EF4-FFF2-40B4-BE49-F238E27FC236}">
                <a16:creationId xmlns:a16="http://schemas.microsoft.com/office/drawing/2014/main" id="{1AF179CF-EFE5-3A79-300D-C7C69B78E014}"/>
              </a:ext>
              <a:ext uri="{C183D7F6-B498-43B3-948B-1728B52AA6E4}">
                <adec:decorative xmlns:adec="http://schemas.microsoft.com/office/drawing/2017/decorative" val="1"/>
              </a:ext>
            </a:extLst>
          </p:cNvPr>
          <p:cNvSpPr>
            <a:spLocks/>
          </p:cNvSpPr>
          <p:nvPr/>
        </p:nvSpPr>
        <p:spPr bwMode="auto">
          <a:xfrm>
            <a:off x="554697" y="1272540"/>
            <a:ext cx="5483813"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8" name="Rounded Rectangle 55">
            <a:extLst>
              <a:ext uri="{FF2B5EF4-FFF2-40B4-BE49-F238E27FC236}">
                <a16:creationId xmlns:a16="http://schemas.microsoft.com/office/drawing/2014/main" id="{E6B40B29-0DD4-70CB-3608-D447519F8373}"/>
              </a:ext>
              <a:ext uri="{C183D7F6-B498-43B3-948B-1728B52AA6E4}">
                <adec:decorative xmlns:adec="http://schemas.microsoft.com/office/drawing/2017/decorative" val="1"/>
              </a:ext>
            </a:extLst>
          </p:cNvPr>
          <p:cNvSpPr>
            <a:spLocks/>
          </p:cNvSpPr>
          <p:nvPr/>
        </p:nvSpPr>
        <p:spPr bwMode="auto">
          <a:xfrm>
            <a:off x="6102454" y="1272540"/>
            <a:ext cx="5583708"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 name="TextBox 4">
            <a:extLst>
              <a:ext uri="{FF2B5EF4-FFF2-40B4-BE49-F238E27FC236}">
                <a16:creationId xmlns:a16="http://schemas.microsoft.com/office/drawing/2014/main" id="{366A2803-5F7C-6D46-C386-5812DC2AA74F}"/>
              </a:ext>
            </a:extLst>
          </p:cNvPr>
          <p:cNvSpPr txBox="1">
            <a:spLocks/>
          </p:cNvSpPr>
          <p:nvPr/>
        </p:nvSpPr>
        <p:spPr>
          <a:xfrm>
            <a:off x="585787" y="1356831"/>
            <a:ext cx="5441528" cy="3492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15" name="TextBox 14">
            <a:extLst>
              <a:ext uri="{FF2B5EF4-FFF2-40B4-BE49-F238E27FC236}">
                <a16:creationId xmlns:a16="http://schemas.microsoft.com/office/drawing/2014/main" id="{D9AF5BC1-746F-645E-4336-0BC0B7FA1F78}"/>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27" name="TextBox 26">
            <a:extLst>
              <a:ext uri="{FF2B5EF4-FFF2-40B4-BE49-F238E27FC236}">
                <a16:creationId xmlns:a16="http://schemas.microsoft.com/office/drawing/2014/main" id="{871D2B96-4A1D-6E7C-DDCB-07FEAD561260}"/>
              </a:ext>
            </a:extLst>
          </p:cNvPr>
          <p:cNvSpPr txBox="1"/>
          <p:nvPr/>
        </p:nvSpPr>
        <p:spPr>
          <a:xfrm>
            <a:off x="554697" y="794821"/>
            <a:ext cx="6811818" cy="369332"/>
          </a:xfrm>
          <a:prstGeom prst="rect">
            <a:avLst/>
          </a:prstGeom>
          <a:noFill/>
        </p:spPr>
        <p:txBody>
          <a:bodyPr wrap="square">
            <a:spAutoFit/>
          </a:bodyPr>
          <a:lstStyle/>
          <a:p>
            <a:r>
              <a:rPr lang="en-US" noProof="0" dirty="0">
                <a:latin typeface="+mj-lt"/>
              </a:rPr>
              <a:t>Azure DocumentDB</a:t>
            </a:r>
          </a:p>
        </p:txBody>
      </p:sp>
      <p:sp>
        <p:nvSpPr>
          <p:cNvPr id="62" name="Rectangle 61">
            <a:extLst>
              <a:ext uri="{FF2B5EF4-FFF2-40B4-BE49-F238E27FC236}">
                <a16:creationId xmlns:a16="http://schemas.microsoft.com/office/drawing/2014/main" id="{DAE3DA2B-0ECF-BD3F-345F-60AB0634E02F}"/>
              </a:ext>
              <a:ext uri="{C183D7F6-B498-43B3-948B-1728B52AA6E4}">
                <adec:decorative xmlns:adec="http://schemas.microsoft.com/office/drawing/2017/decorative" val="1"/>
              </a:ext>
            </a:extLst>
          </p:cNvPr>
          <p:cNvSpPr>
            <a:spLocks/>
          </p:cNvSpPr>
          <p:nvPr/>
        </p:nvSpPr>
        <p:spPr bwMode="auto">
          <a:xfrm>
            <a:off x="813683" y="2038275"/>
            <a:ext cx="46181" cy="254195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63" name="Oval 62">
            <a:extLst>
              <a:ext uri="{FF2B5EF4-FFF2-40B4-BE49-F238E27FC236}">
                <a16:creationId xmlns:a16="http://schemas.microsoft.com/office/drawing/2014/main" id="{4140E962-0514-F8BD-055B-B1FB1942C6E8}"/>
              </a:ext>
              <a:ext uri="{C183D7F6-B498-43B3-948B-1728B52AA6E4}">
                <adec:decorative xmlns:adec="http://schemas.microsoft.com/office/drawing/2017/decorative" val="1"/>
              </a:ext>
            </a:extLst>
          </p:cNvPr>
          <p:cNvSpPr/>
          <p:nvPr/>
        </p:nvSpPr>
        <p:spPr bwMode="auto">
          <a:xfrm>
            <a:off x="766598" y="200807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4" name="Oval 63">
            <a:extLst>
              <a:ext uri="{FF2B5EF4-FFF2-40B4-BE49-F238E27FC236}">
                <a16:creationId xmlns:a16="http://schemas.microsoft.com/office/drawing/2014/main" id="{8DE2D6B3-9A4C-DDDD-8762-B9F247161E08}"/>
              </a:ext>
              <a:ext uri="{C183D7F6-B498-43B3-948B-1728B52AA6E4}">
                <adec:decorative xmlns:adec="http://schemas.microsoft.com/office/drawing/2017/decorative" val="1"/>
              </a:ext>
            </a:extLst>
          </p:cNvPr>
          <p:cNvSpPr/>
          <p:nvPr/>
        </p:nvSpPr>
        <p:spPr bwMode="auto">
          <a:xfrm>
            <a:off x="766598" y="254130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5" name="Oval 64">
            <a:extLst>
              <a:ext uri="{FF2B5EF4-FFF2-40B4-BE49-F238E27FC236}">
                <a16:creationId xmlns:a16="http://schemas.microsoft.com/office/drawing/2014/main" id="{D5027A88-0CBA-5A47-62F9-C2ED73E500BE}"/>
              </a:ext>
              <a:ext uri="{C183D7F6-B498-43B3-948B-1728B52AA6E4}">
                <adec:decorative xmlns:adec="http://schemas.microsoft.com/office/drawing/2017/decorative" val="1"/>
              </a:ext>
            </a:extLst>
          </p:cNvPr>
          <p:cNvSpPr/>
          <p:nvPr/>
        </p:nvSpPr>
        <p:spPr bwMode="auto">
          <a:xfrm>
            <a:off x="766598" y="412084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6" name="Oval 65">
            <a:extLst>
              <a:ext uri="{FF2B5EF4-FFF2-40B4-BE49-F238E27FC236}">
                <a16:creationId xmlns:a16="http://schemas.microsoft.com/office/drawing/2014/main" id="{EA2E58FF-324B-9720-434B-66F1B9624954}"/>
              </a:ext>
              <a:ext uri="{C183D7F6-B498-43B3-948B-1728B52AA6E4}">
                <adec:decorative xmlns:adec="http://schemas.microsoft.com/office/drawing/2017/decorative" val="1"/>
              </a:ext>
            </a:extLst>
          </p:cNvPr>
          <p:cNvSpPr/>
          <p:nvPr/>
        </p:nvSpPr>
        <p:spPr bwMode="auto">
          <a:xfrm>
            <a:off x="766598" y="446631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7" name="Oval 66">
            <a:extLst>
              <a:ext uri="{FF2B5EF4-FFF2-40B4-BE49-F238E27FC236}">
                <a16:creationId xmlns:a16="http://schemas.microsoft.com/office/drawing/2014/main" id="{2777EA2A-B329-9937-F5BB-7D50C00AAF9E}"/>
              </a:ext>
              <a:ext uri="{C183D7F6-B498-43B3-948B-1728B52AA6E4}">
                <adec:decorative xmlns:adec="http://schemas.microsoft.com/office/drawing/2017/decorative" val="1"/>
              </a:ext>
            </a:extLst>
          </p:cNvPr>
          <p:cNvSpPr/>
          <p:nvPr/>
        </p:nvSpPr>
        <p:spPr bwMode="auto">
          <a:xfrm>
            <a:off x="766598" y="344961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8" name="TextBox 67">
            <a:extLst>
              <a:ext uri="{FF2B5EF4-FFF2-40B4-BE49-F238E27FC236}">
                <a16:creationId xmlns:a16="http://schemas.microsoft.com/office/drawing/2014/main" id="{36D07EB1-4CB5-67FE-3016-571411DFD5CA}"/>
              </a:ext>
            </a:extLst>
          </p:cNvPr>
          <p:cNvSpPr txBox="1"/>
          <p:nvPr/>
        </p:nvSpPr>
        <p:spPr>
          <a:xfrm>
            <a:off x="1074319" y="2019670"/>
            <a:ext cx="4914576" cy="3231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ea typeface="+mn-ea"/>
                <a:cs typeface="+mn-cs"/>
              </a:rPr>
              <a:t>On-premise MongoDB/Atlas to Azure DocumentDB migrations with near-zero code changes </a:t>
            </a:r>
            <a:endParaRPr kumimoji="0" lang="en-US" sz="1050" b="0" i="0" u="none" strike="noStrike" kern="1200" cap="none" spc="0" normalizeH="0" baseline="0" noProof="0" dirty="0">
              <a:ln>
                <a:noFill/>
              </a:ln>
              <a:solidFill>
                <a:srgbClr val="000000"/>
              </a:solidFill>
              <a:effectLst/>
              <a:uLnTx/>
              <a:uFillTx/>
              <a:ea typeface="+mn-ea"/>
              <a:cs typeface="+mn-cs"/>
            </a:endParaRPr>
          </a:p>
        </p:txBody>
      </p:sp>
      <p:sp>
        <p:nvSpPr>
          <p:cNvPr id="69" name="TextBox 68">
            <a:extLst>
              <a:ext uri="{FF2B5EF4-FFF2-40B4-BE49-F238E27FC236}">
                <a16:creationId xmlns:a16="http://schemas.microsoft.com/office/drawing/2014/main" id="{00F8B6C3-9FD9-3C5C-2FBE-BCE88E3F9827}"/>
              </a:ext>
            </a:extLst>
          </p:cNvPr>
          <p:cNvSpPr txBox="1"/>
          <p:nvPr/>
        </p:nvSpPr>
        <p:spPr>
          <a:xfrm>
            <a:off x="1074319" y="2537474"/>
            <a:ext cx="4914576" cy="700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migration sources:</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MongoDB/Atlas clusters on Linux or Windows VM in other clouds (GCP, AWS) </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MongoDB clusters on Linux or Windows VM on-premises</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lt"/>
                <a:cs typeface="Segoe Sans Text" pitchFamily="2" charset="0"/>
              </a:rPr>
              <a:t>AWS Document DB</a:t>
            </a:r>
          </a:p>
        </p:txBody>
      </p:sp>
      <p:sp>
        <p:nvSpPr>
          <p:cNvPr id="70" name="TextBox 69">
            <a:extLst>
              <a:ext uri="{FF2B5EF4-FFF2-40B4-BE49-F238E27FC236}">
                <a16:creationId xmlns:a16="http://schemas.microsoft.com/office/drawing/2014/main" id="{941D25DF-077B-73C2-0807-3AE44C29EA6F}"/>
              </a:ext>
            </a:extLst>
          </p:cNvPr>
          <p:cNvSpPr txBox="1"/>
          <p:nvPr/>
        </p:nvSpPr>
        <p:spPr>
          <a:xfrm>
            <a:off x="1074319" y="3432306"/>
            <a:ext cx="4914576" cy="49500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migration approaches:</a:t>
            </a:r>
          </a:p>
          <a:p>
            <a:pPr marL="139700" indent="-139700">
              <a:buFont typeface="Arial"/>
              <a:buChar char="•"/>
              <a:defRPr/>
            </a:pPr>
            <a:r>
              <a:rPr kumimoji="0" lang="en-US" sz="1000" b="0" i="0" u="none" strike="noStrike" kern="0" cap="none" spc="0" normalizeH="0" baseline="0" noProof="0" dirty="0">
                <a:ln>
                  <a:noFill/>
                </a:ln>
                <a:solidFill>
                  <a:srgbClr val="000000"/>
                </a:solidFill>
                <a:effectLst/>
                <a:uLnTx/>
                <a:uFillTx/>
                <a:ea typeface="+mn-lt"/>
                <a:cs typeface="Segoe Sans Text"/>
              </a:rPr>
              <a:t>Online migration using </a:t>
            </a:r>
            <a:r>
              <a:rPr kumimoji="0" lang="en-US" sz="1000" b="0" i="0" u="none" strike="noStrike" kern="0" cap="none" spc="0" normalizeH="0" baseline="0" noProof="0" dirty="0">
                <a:ln>
                  <a:noFill/>
                </a:ln>
                <a:solidFill>
                  <a:schemeClr val="accent1"/>
                </a:solidFill>
                <a:effectLst/>
                <a:uLnTx/>
                <a:uFillTx/>
                <a:ea typeface="+mn-lt"/>
                <a:cs typeface="Segoe Sans Text"/>
              </a:rPr>
              <a:t>Spark Utility</a:t>
            </a:r>
            <a:r>
              <a:rPr kumimoji="0" lang="en-US" sz="1000" b="0" i="0" u="none" strike="noStrike" kern="0" cap="none" spc="0" normalizeH="0" baseline="0" noProof="0" dirty="0">
                <a:ln>
                  <a:noFill/>
                </a:ln>
                <a:solidFill>
                  <a:srgbClr val="000000"/>
                </a:solidFill>
                <a:effectLst/>
                <a:uLnTx/>
                <a:uFillTx/>
                <a:ea typeface="+mn-lt"/>
                <a:cs typeface="Segoe Sans Text"/>
              </a:rPr>
              <a:t>/</a:t>
            </a:r>
            <a:r>
              <a:rPr lang="en-US" sz="1000" kern="0" noProof="0" dirty="0">
                <a:solidFill>
                  <a:schemeClr val="accent1"/>
                </a:solidFill>
                <a:ea typeface="+mn-lt"/>
                <a:cs typeface="Segoe Sans Text"/>
                <a:hlinkClick r:id="rId4">
                  <a:extLst>
                    <a:ext uri="{A12FA001-AC4F-418D-AE19-62706E023703}">
                      <ahyp:hlinkClr xmlns:ahyp="http://schemas.microsoft.com/office/drawing/2018/hyperlinkcolor" val="tx"/>
                    </a:ext>
                  </a:extLst>
                </a:hlinkClick>
              </a:rPr>
              <a:t>Visual </a:t>
            </a:r>
            <a:r>
              <a:rPr kumimoji="0" lang="en-US" sz="1000" b="0" i="0" u="none" strike="noStrike" kern="0" cap="none" spc="0" normalizeH="0" baseline="0" noProof="0" dirty="0">
                <a:ln>
                  <a:noFill/>
                </a:ln>
                <a:solidFill>
                  <a:schemeClr val="accent1"/>
                </a:solidFill>
                <a:effectLst/>
                <a:uLnTx/>
                <a:uFillTx/>
                <a:ea typeface="+mn-lt"/>
                <a:cs typeface="Segoe Sans Text"/>
                <a:hlinkClick r:id="rId4">
                  <a:extLst>
                    <a:ext uri="{A12FA001-AC4F-418D-AE19-62706E023703}">
                      <ahyp:hlinkClr xmlns:ahyp="http://schemas.microsoft.com/office/drawing/2018/hyperlinkcolor" val="tx"/>
                    </a:ext>
                  </a:extLst>
                </a:hlinkClick>
              </a:rPr>
              <a:t>Studio</a:t>
            </a:r>
            <a:r>
              <a:rPr lang="en-US" sz="1000" kern="0" noProof="0" dirty="0">
                <a:solidFill>
                  <a:schemeClr val="accent1"/>
                </a:solidFill>
                <a:ea typeface="+mn-lt"/>
                <a:cs typeface="Segoe Sans Text"/>
                <a:hlinkClick r:id="rId4">
                  <a:extLst>
                    <a:ext uri="{A12FA001-AC4F-418D-AE19-62706E023703}">
                      <ahyp:hlinkClr xmlns:ahyp="http://schemas.microsoft.com/office/drawing/2018/hyperlinkcolor" val="tx"/>
                    </a:ext>
                  </a:extLst>
                </a:hlinkClick>
              </a:rPr>
              <a:t> Code Extension</a:t>
            </a:r>
            <a:r>
              <a:rPr kumimoji="0" lang="en-US" sz="1000" b="0" i="0" u="none" strike="noStrike" kern="0" cap="none" spc="0" normalizeH="0" baseline="0" noProof="0" dirty="0">
                <a:ln>
                  <a:noFill/>
                </a:ln>
                <a:solidFill>
                  <a:schemeClr val="accent1"/>
                </a:solidFill>
                <a:effectLst/>
                <a:uLnTx/>
                <a:uFillTx/>
                <a:ea typeface="+mn-lt"/>
                <a:cs typeface="Segoe Sans Text"/>
              </a:rPr>
              <a:t> </a:t>
            </a:r>
            <a:endParaRPr lang="en-US" sz="1000" b="0" i="0" u="none" strike="noStrike" kern="0" cap="none" spc="0" normalizeH="0" baseline="0" noProof="0" dirty="0">
              <a:ln>
                <a:noFill/>
              </a:ln>
              <a:solidFill>
                <a:schemeClr val="accent1"/>
              </a:solidFill>
              <a:effectLst/>
              <a:uLnTx/>
              <a:uFillTx/>
              <a:ea typeface="+mn-lt"/>
              <a:cs typeface="Segoe Sans Text"/>
            </a:endParaRPr>
          </a:p>
          <a:p>
            <a:pPr marL="139700" indent="-139700">
              <a:buFont typeface="Arial"/>
              <a:buChar char="•"/>
              <a:defRPr/>
            </a:pPr>
            <a:r>
              <a:rPr kumimoji="0" lang="en-US" sz="1000" b="0" i="0" u="none" strike="noStrike" kern="0" cap="none" spc="0" normalizeH="0" baseline="0" noProof="0" dirty="0">
                <a:ln>
                  <a:noFill/>
                </a:ln>
                <a:solidFill>
                  <a:srgbClr val="000000"/>
                </a:solidFill>
                <a:effectLst/>
                <a:uLnTx/>
                <a:uFillTx/>
                <a:ea typeface="+mn-lt"/>
                <a:cs typeface="Segoe Sans Text"/>
              </a:rPr>
              <a:t>Offline migration using </a:t>
            </a:r>
            <a:r>
              <a:rPr kumimoji="0" lang="en-US" sz="1000" b="0" i="0" u="none" strike="noStrike" kern="0" cap="none" spc="0" normalizeH="0" baseline="0" noProof="0" dirty="0">
                <a:ln>
                  <a:noFill/>
                </a:ln>
                <a:solidFill>
                  <a:schemeClr val="accent1"/>
                </a:solidFill>
                <a:effectLst/>
                <a:uLnTx/>
                <a:uFillTx/>
                <a:ea typeface="+mn-lt"/>
                <a:cs typeface="Segoe Sans Text"/>
                <a:hlinkClick r:id="rId5">
                  <a:extLst>
                    <a:ext uri="{A12FA001-AC4F-418D-AE19-62706E023703}">
                      <ahyp:hlinkClr xmlns:ahyp="http://schemas.microsoft.com/office/drawing/2018/hyperlinkcolor" val="tx"/>
                    </a:ext>
                  </a:extLst>
                </a:hlinkClick>
              </a:rPr>
              <a:t>Native Tools</a:t>
            </a:r>
            <a:r>
              <a:rPr kumimoji="0" lang="en-US" sz="1000" b="0" i="0" u="none" strike="noStrike" kern="0" cap="none" spc="0" normalizeH="0" baseline="0" noProof="0" dirty="0">
                <a:ln>
                  <a:noFill/>
                </a:ln>
                <a:solidFill>
                  <a:srgbClr val="000000"/>
                </a:solidFill>
                <a:effectLst/>
                <a:uLnTx/>
                <a:uFillTx/>
                <a:ea typeface="+mn-lt"/>
                <a:cs typeface="Segoe Sans Text"/>
              </a:rPr>
              <a:t>/</a:t>
            </a:r>
            <a:r>
              <a:rPr lang="en-US" sz="1000" kern="0" noProof="0" dirty="0">
                <a:solidFill>
                  <a:schemeClr val="accent1"/>
                </a:solidFill>
                <a:ea typeface="+mn-lt"/>
                <a:cs typeface="Segoe Sans Text"/>
                <a:hlinkClick r:id="rId4">
                  <a:extLst>
                    <a:ext uri="{A12FA001-AC4F-418D-AE19-62706E023703}">
                      <ahyp:hlinkClr xmlns:ahyp="http://schemas.microsoft.com/office/drawing/2018/hyperlinkcolor" val="tx"/>
                    </a:ext>
                  </a:extLst>
                </a:hlinkClick>
              </a:rPr>
              <a:t>Visual </a:t>
            </a:r>
            <a:r>
              <a:rPr kumimoji="0" lang="en-US" sz="1000" b="0" i="0" u="none" strike="noStrike" kern="0" cap="none" spc="0" normalizeH="0" baseline="0" noProof="0" dirty="0">
                <a:ln>
                  <a:noFill/>
                </a:ln>
                <a:solidFill>
                  <a:schemeClr val="accent1"/>
                </a:solidFill>
                <a:effectLst/>
                <a:uLnTx/>
                <a:uFillTx/>
                <a:ea typeface="+mn-lt"/>
                <a:cs typeface="Segoe Sans Text"/>
                <a:hlinkClick r:id="rId4">
                  <a:extLst>
                    <a:ext uri="{A12FA001-AC4F-418D-AE19-62706E023703}">
                      <ahyp:hlinkClr xmlns:ahyp="http://schemas.microsoft.com/office/drawing/2018/hyperlinkcolor" val="tx"/>
                    </a:ext>
                  </a:extLst>
                </a:hlinkClick>
              </a:rPr>
              <a:t>Studio</a:t>
            </a:r>
            <a:r>
              <a:rPr lang="en-US" sz="1000" kern="0" noProof="0" dirty="0">
                <a:solidFill>
                  <a:schemeClr val="accent1"/>
                </a:solidFill>
                <a:ea typeface="+mn-lt"/>
                <a:cs typeface="Segoe Sans Text"/>
                <a:hlinkClick r:id="rId4">
                  <a:extLst>
                    <a:ext uri="{A12FA001-AC4F-418D-AE19-62706E023703}">
                      <ahyp:hlinkClr xmlns:ahyp="http://schemas.microsoft.com/office/drawing/2018/hyperlinkcolor" val="tx"/>
                    </a:ext>
                  </a:extLst>
                </a:hlinkClick>
              </a:rPr>
              <a:t> Code Extension</a:t>
            </a:r>
            <a:r>
              <a:rPr kumimoji="0" lang="en-US" sz="1000" b="0" i="0" u="none" strike="noStrike" kern="0" cap="none" spc="0" normalizeH="0" baseline="0" noProof="0" dirty="0">
                <a:ln>
                  <a:noFill/>
                </a:ln>
                <a:solidFill>
                  <a:srgbClr val="000000"/>
                </a:solidFill>
                <a:effectLst/>
                <a:uLnTx/>
                <a:uFillTx/>
                <a:ea typeface="+mn-lt"/>
                <a:cs typeface="Segoe Sans Text"/>
              </a:rPr>
              <a:t>/</a:t>
            </a:r>
            <a:r>
              <a:rPr kumimoji="0" lang="en-US" sz="1000" b="0" i="0" u="none" strike="noStrike" kern="0" cap="none" spc="0" normalizeH="0" baseline="0" noProof="0" dirty="0">
                <a:ln>
                  <a:noFill/>
                </a:ln>
                <a:solidFill>
                  <a:schemeClr val="accent1"/>
                </a:solidFill>
                <a:effectLst/>
                <a:uLnTx/>
                <a:uFillTx/>
                <a:ea typeface="+mn-lt"/>
                <a:cs typeface="Segoe Sans Text"/>
              </a:rPr>
              <a:t>Spark Utility</a:t>
            </a:r>
            <a:endParaRPr lang="en-US" sz="1000" b="0" i="0" u="none" strike="noStrike" kern="0" cap="none" spc="0" normalizeH="0" baseline="0" noProof="0" dirty="0">
              <a:ln>
                <a:noFill/>
              </a:ln>
              <a:solidFill>
                <a:schemeClr val="accent1"/>
              </a:solidFill>
              <a:effectLst/>
              <a:uLnTx/>
              <a:uFillTx/>
              <a:ea typeface="+mn-lt"/>
              <a:cs typeface="Segoe Sans Text"/>
            </a:endParaRPr>
          </a:p>
        </p:txBody>
      </p:sp>
      <p:sp>
        <p:nvSpPr>
          <p:cNvPr id="71" name="TextBox 70">
            <a:extLst>
              <a:ext uri="{FF2B5EF4-FFF2-40B4-BE49-F238E27FC236}">
                <a16:creationId xmlns:a16="http://schemas.microsoft.com/office/drawing/2014/main" id="{AE8C9F8B-FCA6-9C1C-98E1-BE5B55973254}"/>
              </a:ext>
            </a:extLst>
          </p:cNvPr>
          <p:cNvSpPr txBox="1"/>
          <p:nvPr/>
        </p:nvSpPr>
        <p:spPr>
          <a:xfrm>
            <a:off x="1074319" y="4121953"/>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HA/DR configuration and setup for Azure DocumentDB</a:t>
            </a:r>
          </a:p>
        </p:txBody>
      </p:sp>
      <p:sp>
        <p:nvSpPr>
          <p:cNvPr id="72" name="TextBox 71">
            <a:extLst>
              <a:ext uri="{FF2B5EF4-FFF2-40B4-BE49-F238E27FC236}">
                <a16:creationId xmlns:a16="http://schemas.microsoft.com/office/drawing/2014/main" id="{7AB5CC91-8AC6-7ED2-6DD5-9B854390F15A}"/>
              </a:ext>
            </a:extLst>
          </p:cNvPr>
          <p:cNvSpPr txBox="1"/>
          <p:nvPr/>
        </p:nvSpPr>
        <p:spPr>
          <a:xfrm>
            <a:off x="1074319" y="4470478"/>
            <a:ext cx="4914576" cy="34111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MongoDB Servers for Migration:</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MongoDB 3.6 and above</a:t>
            </a:r>
          </a:p>
        </p:txBody>
      </p:sp>
      <p:cxnSp>
        <p:nvCxnSpPr>
          <p:cNvPr id="73" name="Straight Connector 72">
            <a:extLst>
              <a:ext uri="{FF2B5EF4-FFF2-40B4-BE49-F238E27FC236}">
                <a16:creationId xmlns:a16="http://schemas.microsoft.com/office/drawing/2014/main" id="{A43FCC7D-99A6-EBD2-777D-BC82A128355C}"/>
              </a:ext>
              <a:ext uri="{C183D7F6-B498-43B3-948B-1728B52AA6E4}">
                <adec:decorative xmlns:adec="http://schemas.microsoft.com/office/drawing/2017/decorative" val="1"/>
              </a:ext>
            </a:extLst>
          </p:cNvPr>
          <p:cNvCxnSpPr>
            <a:cxnSpLocks/>
          </p:cNvCxnSpPr>
          <p:nvPr/>
        </p:nvCxnSpPr>
        <p:spPr>
          <a:xfrm>
            <a:off x="1020125" y="2440155"/>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61F3A98-6451-6FBE-9C0E-B86DBB63FB12}"/>
              </a:ext>
              <a:ext uri="{C183D7F6-B498-43B3-948B-1728B52AA6E4}">
                <adec:decorative xmlns:adec="http://schemas.microsoft.com/office/drawing/2017/decorative" val="1"/>
              </a:ext>
            </a:extLst>
          </p:cNvPr>
          <p:cNvCxnSpPr>
            <a:cxnSpLocks/>
          </p:cNvCxnSpPr>
          <p:nvPr/>
        </p:nvCxnSpPr>
        <p:spPr>
          <a:xfrm>
            <a:off x="1020125" y="4024633"/>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DA887A0-4F3B-2FCF-DD10-C58A43EBA599}"/>
              </a:ext>
              <a:ext uri="{C183D7F6-B498-43B3-948B-1728B52AA6E4}">
                <adec:decorative xmlns:adec="http://schemas.microsoft.com/office/drawing/2017/decorative" val="1"/>
              </a:ext>
            </a:extLst>
          </p:cNvPr>
          <p:cNvCxnSpPr>
            <a:cxnSpLocks/>
          </p:cNvCxnSpPr>
          <p:nvPr/>
        </p:nvCxnSpPr>
        <p:spPr>
          <a:xfrm>
            <a:off x="1020125" y="4373161"/>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43BB1DD-31BE-9EE5-4CA4-FFC0D875C3BB}"/>
              </a:ext>
              <a:ext uri="{C183D7F6-B498-43B3-948B-1728B52AA6E4}">
                <adec:decorative xmlns:adec="http://schemas.microsoft.com/office/drawing/2017/decorative" val="1"/>
              </a:ext>
            </a:extLst>
          </p:cNvPr>
          <p:cNvCxnSpPr>
            <a:cxnSpLocks/>
          </p:cNvCxnSpPr>
          <p:nvPr/>
        </p:nvCxnSpPr>
        <p:spPr>
          <a:xfrm>
            <a:off x="1020125" y="3334986"/>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D75C45FA-EE1B-9AC0-2539-3C871A779A0E}"/>
              </a:ext>
              <a:ext uri="{C183D7F6-B498-43B3-948B-1728B52AA6E4}">
                <adec:decorative xmlns:adec="http://schemas.microsoft.com/office/drawing/2017/decorative" val="1"/>
              </a:ext>
            </a:extLst>
          </p:cNvPr>
          <p:cNvSpPr>
            <a:spLocks/>
          </p:cNvSpPr>
          <p:nvPr/>
        </p:nvSpPr>
        <p:spPr bwMode="auto">
          <a:xfrm flipH="1">
            <a:off x="6393443" y="2002007"/>
            <a:ext cx="45719" cy="382879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78" name="Oval 77">
            <a:extLst>
              <a:ext uri="{FF2B5EF4-FFF2-40B4-BE49-F238E27FC236}">
                <a16:creationId xmlns:a16="http://schemas.microsoft.com/office/drawing/2014/main" id="{04A35BC6-FA63-6D27-3A72-63FE080C22A1}"/>
              </a:ext>
              <a:ext uri="{C183D7F6-B498-43B3-948B-1728B52AA6E4}">
                <adec:decorative xmlns:adec="http://schemas.microsoft.com/office/drawing/2017/decorative" val="1"/>
              </a:ext>
            </a:extLst>
          </p:cNvPr>
          <p:cNvSpPr/>
          <p:nvPr/>
        </p:nvSpPr>
        <p:spPr bwMode="auto">
          <a:xfrm>
            <a:off x="6346127" y="3660598"/>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79" name="Oval 78">
            <a:extLst>
              <a:ext uri="{FF2B5EF4-FFF2-40B4-BE49-F238E27FC236}">
                <a16:creationId xmlns:a16="http://schemas.microsoft.com/office/drawing/2014/main" id="{62422CBB-AB84-8D31-902E-5DCAB8EE0C7F}"/>
              </a:ext>
              <a:ext uri="{C183D7F6-B498-43B3-948B-1728B52AA6E4}">
                <adec:decorative xmlns:adec="http://schemas.microsoft.com/office/drawing/2017/decorative" val="1"/>
              </a:ext>
            </a:extLst>
          </p:cNvPr>
          <p:cNvSpPr/>
          <p:nvPr/>
        </p:nvSpPr>
        <p:spPr bwMode="auto">
          <a:xfrm>
            <a:off x="6350889" y="200303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0" name="Oval 79">
            <a:extLst>
              <a:ext uri="{FF2B5EF4-FFF2-40B4-BE49-F238E27FC236}">
                <a16:creationId xmlns:a16="http://schemas.microsoft.com/office/drawing/2014/main" id="{AD0ACFFD-23E5-2772-9B5E-D78731761A78}"/>
              </a:ext>
              <a:ext uri="{C183D7F6-B498-43B3-948B-1728B52AA6E4}">
                <adec:decorative xmlns:adec="http://schemas.microsoft.com/office/drawing/2017/decorative" val="1"/>
              </a:ext>
            </a:extLst>
          </p:cNvPr>
          <p:cNvSpPr/>
          <p:nvPr/>
        </p:nvSpPr>
        <p:spPr bwMode="auto">
          <a:xfrm>
            <a:off x="6350889" y="4252520"/>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1" name="Oval 80">
            <a:extLst>
              <a:ext uri="{FF2B5EF4-FFF2-40B4-BE49-F238E27FC236}">
                <a16:creationId xmlns:a16="http://schemas.microsoft.com/office/drawing/2014/main" id="{936A7C7C-4964-98FA-66B6-78A2BFE2D95F}"/>
              </a:ext>
              <a:ext uri="{C183D7F6-B498-43B3-948B-1728B52AA6E4}">
                <adec:decorative xmlns:adec="http://schemas.microsoft.com/office/drawing/2017/decorative" val="1"/>
              </a:ext>
            </a:extLst>
          </p:cNvPr>
          <p:cNvSpPr/>
          <p:nvPr/>
        </p:nvSpPr>
        <p:spPr bwMode="auto">
          <a:xfrm>
            <a:off x="6350889" y="454848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2" name="Oval 81">
            <a:extLst>
              <a:ext uri="{FF2B5EF4-FFF2-40B4-BE49-F238E27FC236}">
                <a16:creationId xmlns:a16="http://schemas.microsoft.com/office/drawing/2014/main" id="{CB051429-C00A-01DC-C133-D5C07E01425D}"/>
              </a:ext>
              <a:ext uri="{C183D7F6-B498-43B3-948B-1728B52AA6E4}">
                <adec:decorative xmlns:adec="http://schemas.microsoft.com/office/drawing/2017/decorative" val="1"/>
              </a:ext>
            </a:extLst>
          </p:cNvPr>
          <p:cNvSpPr/>
          <p:nvPr/>
        </p:nvSpPr>
        <p:spPr bwMode="auto">
          <a:xfrm>
            <a:off x="6350889" y="5436364"/>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3" name="Oval 82">
            <a:extLst>
              <a:ext uri="{FF2B5EF4-FFF2-40B4-BE49-F238E27FC236}">
                <a16:creationId xmlns:a16="http://schemas.microsoft.com/office/drawing/2014/main" id="{8F7F8F75-0B73-F740-BACD-0C4396A056C4}"/>
              </a:ext>
              <a:ext uri="{C183D7F6-B498-43B3-948B-1728B52AA6E4}">
                <adec:decorative xmlns:adec="http://schemas.microsoft.com/office/drawing/2017/decorative" val="1"/>
              </a:ext>
            </a:extLst>
          </p:cNvPr>
          <p:cNvSpPr/>
          <p:nvPr/>
        </p:nvSpPr>
        <p:spPr bwMode="auto">
          <a:xfrm>
            <a:off x="6350889" y="573232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4" name="Oval 83">
            <a:extLst>
              <a:ext uri="{FF2B5EF4-FFF2-40B4-BE49-F238E27FC236}">
                <a16:creationId xmlns:a16="http://schemas.microsoft.com/office/drawing/2014/main" id="{AC58CA9E-CB78-CDEE-D3FA-55B25D151B45}"/>
              </a:ext>
              <a:ext uri="{C183D7F6-B498-43B3-948B-1728B52AA6E4}">
                <adec:decorative xmlns:adec="http://schemas.microsoft.com/office/drawing/2017/decorative" val="1"/>
              </a:ext>
            </a:extLst>
          </p:cNvPr>
          <p:cNvSpPr/>
          <p:nvPr/>
        </p:nvSpPr>
        <p:spPr bwMode="auto">
          <a:xfrm>
            <a:off x="6350889" y="2476754"/>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5" name="Oval 84">
            <a:extLst>
              <a:ext uri="{FF2B5EF4-FFF2-40B4-BE49-F238E27FC236}">
                <a16:creationId xmlns:a16="http://schemas.microsoft.com/office/drawing/2014/main" id="{6F37A9B6-FBE7-1E3C-781A-94AF92907E4A}"/>
              </a:ext>
              <a:ext uri="{C183D7F6-B498-43B3-948B-1728B52AA6E4}">
                <adec:decorative xmlns:adec="http://schemas.microsoft.com/office/drawing/2017/decorative" val="1"/>
              </a:ext>
            </a:extLst>
          </p:cNvPr>
          <p:cNvSpPr/>
          <p:nvPr/>
        </p:nvSpPr>
        <p:spPr bwMode="auto">
          <a:xfrm>
            <a:off x="6350889" y="277271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6" name="Oval 85">
            <a:extLst>
              <a:ext uri="{FF2B5EF4-FFF2-40B4-BE49-F238E27FC236}">
                <a16:creationId xmlns:a16="http://schemas.microsoft.com/office/drawing/2014/main" id="{CD2F4EB6-5A5A-731B-F214-548D7D232D88}"/>
              </a:ext>
              <a:ext uri="{C183D7F6-B498-43B3-948B-1728B52AA6E4}">
                <adec:decorative xmlns:adec="http://schemas.microsoft.com/office/drawing/2017/decorative" val="1"/>
              </a:ext>
            </a:extLst>
          </p:cNvPr>
          <p:cNvSpPr/>
          <p:nvPr/>
        </p:nvSpPr>
        <p:spPr bwMode="auto">
          <a:xfrm>
            <a:off x="6350889" y="4844442"/>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7" name="Oval 86">
            <a:extLst>
              <a:ext uri="{FF2B5EF4-FFF2-40B4-BE49-F238E27FC236}">
                <a16:creationId xmlns:a16="http://schemas.microsoft.com/office/drawing/2014/main" id="{EEFF00C1-D2A2-D4EA-EB69-B7C47DDFAF53}"/>
              </a:ext>
              <a:ext uri="{C183D7F6-B498-43B3-948B-1728B52AA6E4}">
                <adec:decorative xmlns:adec="http://schemas.microsoft.com/office/drawing/2017/decorative" val="1"/>
              </a:ext>
            </a:extLst>
          </p:cNvPr>
          <p:cNvSpPr/>
          <p:nvPr/>
        </p:nvSpPr>
        <p:spPr bwMode="auto">
          <a:xfrm>
            <a:off x="6350889" y="514040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8" name="Oval 87">
            <a:extLst>
              <a:ext uri="{FF2B5EF4-FFF2-40B4-BE49-F238E27FC236}">
                <a16:creationId xmlns:a16="http://schemas.microsoft.com/office/drawing/2014/main" id="{DBA420B0-ED33-F002-37F4-199E295780EA}"/>
              </a:ext>
              <a:ext uri="{C183D7F6-B498-43B3-948B-1728B52AA6E4}">
                <adec:decorative xmlns:adec="http://schemas.microsoft.com/office/drawing/2017/decorative" val="1"/>
              </a:ext>
            </a:extLst>
          </p:cNvPr>
          <p:cNvSpPr/>
          <p:nvPr/>
        </p:nvSpPr>
        <p:spPr bwMode="auto">
          <a:xfrm>
            <a:off x="6350889" y="3068676"/>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89" name="Oval 88">
            <a:extLst>
              <a:ext uri="{FF2B5EF4-FFF2-40B4-BE49-F238E27FC236}">
                <a16:creationId xmlns:a16="http://schemas.microsoft.com/office/drawing/2014/main" id="{0B7B620E-0BB2-C62C-DAD8-7DA5B59057C2}"/>
              </a:ext>
              <a:ext uri="{C183D7F6-B498-43B3-948B-1728B52AA6E4}">
                <adec:decorative xmlns:adec="http://schemas.microsoft.com/office/drawing/2017/decorative" val="1"/>
              </a:ext>
            </a:extLst>
          </p:cNvPr>
          <p:cNvSpPr/>
          <p:nvPr/>
        </p:nvSpPr>
        <p:spPr bwMode="auto">
          <a:xfrm>
            <a:off x="6350889" y="336463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90" name="Oval 89">
            <a:extLst>
              <a:ext uri="{FF2B5EF4-FFF2-40B4-BE49-F238E27FC236}">
                <a16:creationId xmlns:a16="http://schemas.microsoft.com/office/drawing/2014/main" id="{F5502393-8C43-9DC7-A21C-12EEFD04E870}"/>
              </a:ext>
              <a:ext uri="{C183D7F6-B498-43B3-948B-1728B52AA6E4}">
                <adec:decorative xmlns:adec="http://schemas.microsoft.com/office/drawing/2017/decorative" val="1"/>
              </a:ext>
            </a:extLst>
          </p:cNvPr>
          <p:cNvSpPr/>
          <p:nvPr/>
        </p:nvSpPr>
        <p:spPr bwMode="auto">
          <a:xfrm>
            <a:off x="6350889" y="3956559"/>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91" name="Straight Connector 90">
            <a:extLst>
              <a:ext uri="{FF2B5EF4-FFF2-40B4-BE49-F238E27FC236}">
                <a16:creationId xmlns:a16="http://schemas.microsoft.com/office/drawing/2014/main" id="{383259C9-6002-98BD-4E19-4D711FBA1327}"/>
              </a:ext>
              <a:ext uri="{C183D7F6-B498-43B3-948B-1728B52AA6E4}">
                <adec:decorative xmlns:adec="http://schemas.microsoft.com/office/drawing/2017/decorative" val="1"/>
              </a:ext>
            </a:extLst>
          </p:cNvPr>
          <p:cNvCxnSpPr>
            <a:cxnSpLocks/>
          </p:cNvCxnSpPr>
          <p:nvPr/>
        </p:nvCxnSpPr>
        <p:spPr>
          <a:xfrm>
            <a:off x="6653848" y="241026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52F6ABD-A4AA-23D0-8E42-491B080A2B07}"/>
              </a:ext>
              <a:ext uri="{C183D7F6-B498-43B3-948B-1728B52AA6E4}">
                <adec:decorative xmlns:adec="http://schemas.microsoft.com/office/drawing/2017/decorative" val="1"/>
              </a:ext>
            </a:extLst>
          </p:cNvPr>
          <p:cNvCxnSpPr>
            <a:cxnSpLocks/>
          </p:cNvCxnSpPr>
          <p:nvPr/>
        </p:nvCxnSpPr>
        <p:spPr>
          <a:xfrm>
            <a:off x="6653848" y="270483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B6A1427-7310-939A-ABCF-AB07B489D9E3}"/>
              </a:ext>
              <a:ext uri="{C183D7F6-B498-43B3-948B-1728B52AA6E4}">
                <adec:decorative xmlns:adec="http://schemas.microsoft.com/office/drawing/2017/decorative" val="1"/>
              </a:ext>
            </a:extLst>
          </p:cNvPr>
          <p:cNvCxnSpPr>
            <a:cxnSpLocks/>
          </p:cNvCxnSpPr>
          <p:nvPr/>
        </p:nvCxnSpPr>
        <p:spPr>
          <a:xfrm>
            <a:off x="6653848" y="299940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4923951-6429-B5C9-ED20-60FEF56FFA64}"/>
              </a:ext>
              <a:ext uri="{C183D7F6-B498-43B3-948B-1728B52AA6E4}">
                <adec:decorative xmlns:adec="http://schemas.microsoft.com/office/drawing/2017/decorative" val="1"/>
              </a:ext>
            </a:extLst>
          </p:cNvPr>
          <p:cNvCxnSpPr>
            <a:cxnSpLocks/>
          </p:cNvCxnSpPr>
          <p:nvPr/>
        </p:nvCxnSpPr>
        <p:spPr>
          <a:xfrm>
            <a:off x="6653848" y="330925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B3AEDFD0-4EBD-BC91-AC4C-47E52F6C87AF}"/>
              </a:ext>
              <a:ext uri="{C183D7F6-B498-43B3-948B-1728B52AA6E4}">
                <adec:decorative xmlns:adec="http://schemas.microsoft.com/office/drawing/2017/decorative" val="1"/>
              </a:ext>
            </a:extLst>
          </p:cNvPr>
          <p:cNvCxnSpPr>
            <a:cxnSpLocks/>
          </p:cNvCxnSpPr>
          <p:nvPr/>
        </p:nvCxnSpPr>
        <p:spPr>
          <a:xfrm>
            <a:off x="6653848" y="360382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2083755-6EFE-D338-BA6C-8F756D9AB489}"/>
              </a:ext>
              <a:ext uri="{C183D7F6-B498-43B3-948B-1728B52AA6E4}">
                <adec:decorative xmlns:adec="http://schemas.microsoft.com/office/drawing/2017/decorative" val="1"/>
              </a:ext>
            </a:extLst>
          </p:cNvPr>
          <p:cNvCxnSpPr>
            <a:cxnSpLocks/>
          </p:cNvCxnSpPr>
          <p:nvPr/>
        </p:nvCxnSpPr>
        <p:spPr>
          <a:xfrm>
            <a:off x="6653848" y="389839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7A86803B-8A02-67F8-96BB-B518A89FC3A0}"/>
              </a:ext>
              <a:ext uri="{C183D7F6-B498-43B3-948B-1728B52AA6E4}">
                <adec:decorative xmlns:adec="http://schemas.microsoft.com/office/drawing/2017/decorative" val="1"/>
              </a:ext>
            </a:extLst>
          </p:cNvPr>
          <p:cNvCxnSpPr>
            <a:cxnSpLocks/>
          </p:cNvCxnSpPr>
          <p:nvPr/>
        </p:nvCxnSpPr>
        <p:spPr>
          <a:xfrm>
            <a:off x="6653848" y="4192964"/>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8234C20A-E161-D3BD-8BA4-198B2CAEBE0D}"/>
              </a:ext>
              <a:ext uri="{C183D7F6-B498-43B3-948B-1728B52AA6E4}">
                <adec:decorative xmlns:adec="http://schemas.microsoft.com/office/drawing/2017/decorative" val="1"/>
              </a:ext>
            </a:extLst>
          </p:cNvPr>
          <p:cNvCxnSpPr>
            <a:cxnSpLocks/>
          </p:cNvCxnSpPr>
          <p:nvPr/>
        </p:nvCxnSpPr>
        <p:spPr>
          <a:xfrm>
            <a:off x="6653848" y="448753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ED33E49-C770-3230-4B96-FA34EB524D01}"/>
              </a:ext>
              <a:ext uri="{C183D7F6-B498-43B3-948B-1728B52AA6E4}">
                <adec:decorative xmlns:adec="http://schemas.microsoft.com/office/drawing/2017/decorative" val="1"/>
              </a:ext>
            </a:extLst>
          </p:cNvPr>
          <p:cNvCxnSpPr>
            <a:cxnSpLocks/>
          </p:cNvCxnSpPr>
          <p:nvPr/>
        </p:nvCxnSpPr>
        <p:spPr>
          <a:xfrm>
            <a:off x="6653848" y="478210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53B670A-4980-4FD7-35D4-82CFFF11A030}"/>
              </a:ext>
              <a:ext uri="{C183D7F6-B498-43B3-948B-1728B52AA6E4}">
                <adec:decorative xmlns:adec="http://schemas.microsoft.com/office/drawing/2017/decorative" val="1"/>
              </a:ext>
            </a:extLst>
          </p:cNvPr>
          <p:cNvCxnSpPr>
            <a:cxnSpLocks/>
          </p:cNvCxnSpPr>
          <p:nvPr/>
        </p:nvCxnSpPr>
        <p:spPr>
          <a:xfrm>
            <a:off x="6653848" y="507667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360AFEE-52C5-BCAB-9530-26C25213C34E}"/>
              </a:ext>
              <a:ext uri="{C183D7F6-B498-43B3-948B-1728B52AA6E4}">
                <adec:decorative xmlns:adec="http://schemas.microsoft.com/office/drawing/2017/decorative" val="1"/>
              </a:ext>
            </a:extLst>
          </p:cNvPr>
          <p:cNvCxnSpPr>
            <a:cxnSpLocks/>
          </p:cNvCxnSpPr>
          <p:nvPr/>
        </p:nvCxnSpPr>
        <p:spPr>
          <a:xfrm>
            <a:off x="6653848" y="537124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3B7CDF-6190-C497-7DE7-EE3D80AA0BC3}"/>
              </a:ext>
              <a:ext uri="{C183D7F6-B498-43B3-948B-1728B52AA6E4}">
                <adec:decorative xmlns:adec="http://schemas.microsoft.com/office/drawing/2017/decorative" val="1"/>
              </a:ext>
            </a:extLst>
          </p:cNvPr>
          <p:cNvCxnSpPr>
            <a:cxnSpLocks/>
          </p:cNvCxnSpPr>
          <p:nvPr/>
        </p:nvCxnSpPr>
        <p:spPr>
          <a:xfrm>
            <a:off x="6653848" y="566581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86C8AB0E-8CA5-E932-F908-C535B4EB1C33}"/>
              </a:ext>
            </a:extLst>
          </p:cNvPr>
          <p:cNvSpPr txBox="1"/>
          <p:nvPr/>
        </p:nvSpPr>
        <p:spPr>
          <a:xfrm>
            <a:off x="6653848" y="2020601"/>
            <a:ext cx="4914576"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Customer is responsible for testing of dependencies (e.g., applications, </a:t>
            </a:r>
            <a:br>
              <a:rPr kumimoji="0" lang="en-US" sz="1000" b="0" i="0" u="none" strike="noStrike" kern="0" cap="none" spc="0" normalizeH="0" baseline="0" noProof="0" dirty="0">
                <a:ln>
                  <a:noFill/>
                </a:ln>
                <a:solidFill>
                  <a:srgbClr val="000000"/>
                </a:solidFill>
                <a:effectLst/>
                <a:uLnTx/>
                <a:uFillTx/>
                <a:ea typeface="+mn-ea"/>
                <a:cs typeface="+mn-cs"/>
              </a:rPr>
            </a:br>
            <a:r>
              <a:rPr kumimoji="0" lang="en-US" sz="1000" b="0" i="0" u="none" strike="noStrike" kern="0" cap="none" spc="0" normalizeH="0" baseline="0" noProof="0" dirty="0">
                <a:ln>
                  <a:noFill/>
                </a:ln>
                <a:solidFill>
                  <a:srgbClr val="000000"/>
                </a:solidFill>
                <a:effectLst/>
                <a:uLnTx/>
                <a:uFillTx/>
                <a:ea typeface="+mn-ea"/>
                <a:cs typeface="+mn-cs"/>
              </a:rPr>
              <a:t>mapped databases)</a:t>
            </a:r>
          </a:p>
        </p:txBody>
      </p:sp>
      <p:sp>
        <p:nvSpPr>
          <p:cNvPr id="104" name="TextBox 103">
            <a:extLst>
              <a:ext uri="{FF2B5EF4-FFF2-40B4-BE49-F238E27FC236}">
                <a16:creationId xmlns:a16="http://schemas.microsoft.com/office/drawing/2014/main" id="{21947A06-F5DB-574B-42DE-F2126B4ACA35}"/>
              </a:ext>
            </a:extLst>
          </p:cNvPr>
          <p:cNvSpPr txBox="1"/>
          <p:nvPr/>
        </p:nvSpPr>
        <p:spPr>
          <a:xfrm>
            <a:off x="6653848" y="2476754"/>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Advisory services and consulting</a:t>
            </a:r>
          </a:p>
        </p:txBody>
      </p:sp>
      <p:sp>
        <p:nvSpPr>
          <p:cNvPr id="105" name="TextBox 104">
            <a:extLst>
              <a:ext uri="{FF2B5EF4-FFF2-40B4-BE49-F238E27FC236}">
                <a16:creationId xmlns:a16="http://schemas.microsoft.com/office/drawing/2014/main" id="{BBB49D90-4A92-C3D5-FD1F-13E41B1A9E6B}"/>
              </a:ext>
            </a:extLst>
          </p:cNvPr>
          <p:cNvSpPr txBox="1"/>
          <p:nvPr/>
        </p:nvSpPr>
        <p:spPr>
          <a:xfrm>
            <a:off x="6653848" y="2771325"/>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changes in the source (any time) and target environments (after handover)</a:t>
            </a:r>
          </a:p>
        </p:txBody>
      </p:sp>
      <p:sp>
        <p:nvSpPr>
          <p:cNvPr id="106" name="TextBox 105">
            <a:extLst>
              <a:ext uri="{FF2B5EF4-FFF2-40B4-BE49-F238E27FC236}">
                <a16:creationId xmlns:a16="http://schemas.microsoft.com/office/drawing/2014/main" id="{B8E351D1-C728-9C39-9DAA-E05AA7B674A3}"/>
              </a:ext>
            </a:extLst>
          </p:cNvPr>
          <p:cNvSpPr txBox="1"/>
          <p:nvPr/>
        </p:nvSpPr>
        <p:spPr>
          <a:xfrm>
            <a:off x="6653848" y="306589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application/services related configurations and testing (pre- and post-migration)</a:t>
            </a:r>
          </a:p>
        </p:txBody>
      </p:sp>
      <p:sp>
        <p:nvSpPr>
          <p:cNvPr id="107" name="TextBox 106">
            <a:extLst>
              <a:ext uri="{FF2B5EF4-FFF2-40B4-BE49-F238E27FC236}">
                <a16:creationId xmlns:a16="http://schemas.microsoft.com/office/drawing/2014/main" id="{230161B5-E22D-89D4-670A-EEE1CC16304D}"/>
              </a:ext>
            </a:extLst>
          </p:cNvPr>
          <p:cNvSpPr txBox="1"/>
          <p:nvPr/>
        </p:nvSpPr>
        <p:spPr>
          <a:xfrm>
            <a:off x="6653848" y="3375745"/>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Performing and configuring backups, monitoring, and alerts (pre- and post-migration)</a:t>
            </a:r>
          </a:p>
        </p:txBody>
      </p:sp>
      <p:sp>
        <p:nvSpPr>
          <p:cNvPr id="108" name="TextBox 107">
            <a:extLst>
              <a:ext uri="{FF2B5EF4-FFF2-40B4-BE49-F238E27FC236}">
                <a16:creationId xmlns:a16="http://schemas.microsoft.com/office/drawing/2014/main" id="{09831F83-34D1-CCCA-608A-4A645B6A3240}"/>
              </a:ext>
            </a:extLst>
          </p:cNvPr>
          <p:cNvSpPr txBox="1"/>
          <p:nvPr/>
        </p:nvSpPr>
        <p:spPr>
          <a:xfrm>
            <a:off x="6653848" y="367031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Data archival solutions and database performance testing</a:t>
            </a:r>
          </a:p>
        </p:txBody>
      </p:sp>
      <p:sp>
        <p:nvSpPr>
          <p:cNvPr id="109" name="TextBox 108">
            <a:extLst>
              <a:ext uri="{FF2B5EF4-FFF2-40B4-BE49-F238E27FC236}">
                <a16:creationId xmlns:a16="http://schemas.microsoft.com/office/drawing/2014/main" id="{FA2CE2EA-3012-7CFC-1105-7E264CFAA419}"/>
              </a:ext>
            </a:extLst>
          </p:cNvPr>
          <p:cNvSpPr txBox="1"/>
          <p:nvPr/>
        </p:nvSpPr>
        <p:spPr>
          <a:xfrm>
            <a:off x="6653848" y="425945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HA/DR testing</a:t>
            </a:r>
          </a:p>
        </p:txBody>
      </p:sp>
      <p:sp>
        <p:nvSpPr>
          <p:cNvPr id="110" name="TextBox 109">
            <a:extLst>
              <a:ext uri="{FF2B5EF4-FFF2-40B4-BE49-F238E27FC236}">
                <a16:creationId xmlns:a16="http://schemas.microsoft.com/office/drawing/2014/main" id="{C161AA7A-9325-1DC7-6787-07C1CD3920BF}"/>
              </a:ext>
            </a:extLst>
          </p:cNvPr>
          <p:cNvSpPr txBox="1"/>
          <p:nvPr/>
        </p:nvSpPr>
        <p:spPr>
          <a:xfrm>
            <a:off x="6653848" y="4554029"/>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target environment setup</a:t>
            </a:r>
          </a:p>
        </p:txBody>
      </p:sp>
      <p:sp>
        <p:nvSpPr>
          <p:cNvPr id="111" name="TextBox 110">
            <a:extLst>
              <a:ext uri="{FF2B5EF4-FFF2-40B4-BE49-F238E27FC236}">
                <a16:creationId xmlns:a16="http://schemas.microsoft.com/office/drawing/2014/main" id="{522BCFE8-C2CF-A83B-57E2-E7D77CD7B133}"/>
              </a:ext>
            </a:extLst>
          </p:cNvPr>
          <p:cNvSpPr txBox="1"/>
          <p:nvPr/>
        </p:nvSpPr>
        <p:spPr>
          <a:xfrm>
            <a:off x="6653848" y="4848600"/>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Third-party tools setup and configuration for MongoDB Server</a:t>
            </a:r>
          </a:p>
        </p:txBody>
      </p:sp>
      <p:sp>
        <p:nvSpPr>
          <p:cNvPr id="112" name="TextBox 111">
            <a:extLst>
              <a:ext uri="{FF2B5EF4-FFF2-40B4-BE49-F238E27FC236}">
                <a16:creationId xmlns:a16="http://schemas.microsoft.com/office/drawing/2014/main" id="{44B6A60F-C914-C317-C46C-34086276B152}"/>
              </a:ext>
            </a:extLst>
          </p:cNvPr>
          <p:cNvSpPr txBox="1"/>
          <p:nvPr/>
        </p:nvSpPr>
        <p:spPr>
          <a:xfrm>
            <a:off x="6653848" y="5143171"/>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MongoDB Server upgrade and patch management</a:t>
            </a:r>
          </a:p>
        </p:txBody>
      </p:sp>
      <p:sp>
        <p:nvSpPr>
          <p:cNvPr id="113" name="TextBox 112">
            <a:extLst>
              <a:ext uri="{FF2B5EF4-FFF2-40B4-BE49-F238E27FC236}">
                <a16:creationId xmlns:a16="http://schemas.microsoft.com/office/drawing/2014/main" id="{C0662534-6E41-0411-3F3E-0ED2F181BA6C}"/>
              </a:ext>
            </a:extLst>
          </p:cNvPr>
          <p:cNvSpPr txBox="1"/>
          <p:nvPr/>
        </p:nvSpPr>
        <p:spPr>
          <a:xfrm>
            <a:off x="6653848" y="5437742"/>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Cosmos DB Mongo DB API to Azure DocumentDB</a:t>
            </a:r>
          </a:p>
        </p:txBody>
      </p:sp>
      <p:sp>
        <p:nvSpPr>
          <p:cNvPr id="114" name="TextBox 113">
            <a:extLst>
              <a:ext uri="{FF2B5EF4-FFF2-40B4-BE49-F238E27FC236}">
                <a16:creationId xmlns:a16="http://schemas.microsoft.com/office/drawing/2014/main" id="{58E958E7-BBED-93DA-C2AF-FDF1FC4ACEFC}"/>
              </a:ext>
            </a:extLst>
          </p:cNvPr>
          <p:cNvSpPr txBox="1"/>
          <p:nvPr/>
        </p:nvSpPr>
        <p:spPr>
          <a:xfrm>
            <a:off x="6653848" y="5732321"/>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other migration path not listed in the scope</a:t>
            </a:r>
          </a:p>
        </p:txBody>
      </p:sp>
      <p:sp>
        <p:nvSpPr>
          <p:cNvPr id="116" name="TextBox 115">
            <a:extLst>
              <a:ext uri="{FF2B5EF4-FFF2-40B4-BE49-F238E27FC236}">
                <a16:creationId xmlns:a16="http://schemas.microsoft.com/office/drawing/2014/main" id="{8E108D1B-749D-FBA7-9820-D28C4E16753F}"/>
              </a:ext>
            </a:extLst>
          </p:cNvPr>
          <p:cNvSpPr txBox="1"/>
          <p:nvPr/>
        </p:nvSpPr>
        <p:spPr>
          <a:xfrm>
            <a:off x="6653848" y="3964888"/>
            <a:ext cx="5171059"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Architectural design and discussion for HA/DR</a:t>
            </a:r>
          </a:p>
        </p:txBody>
      </p:sp>
      <p:sp>
        <p:nvSpPr>
          <p:cNvPr id="4" name="Oval 3">
            <a:extLst>
              <a:ext uri="{FF2B5EF4-FFF2-40B4-BE49-F238E27FC236}">
                <a16:creationId xmlns:a16="http://schemas.microsoft.com/office/drawing/2014/main" id="{FCA64BAC-5E14-CAD8-4DB7-92358CB14C21}"/>
              </a:ext>
            </a:extLst>
          </p:cNvPr>
          <p:cNvSpPr/>
          <p:nvPr/>
        </p:nvSpPr>
        <p:spPr bwMode="auto">
          <a:xfrm>
            <a:off x="6358211" y="201121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 name="Oval 5">
            <a:extLst>
              <a:ext uri="{FF2B5EF4-FFF2-40B4-BE49-F238E27FC236}">
                <a16:creationId xmlns:a16="http://schemas.microsoft.com/office/drawing/2014/main" id="{21EA70D1-193F-4A71-A307-7175FB74EF10}"/>
              </a:ext>
            </a:extLst>
          </p:cNvPr>
          <p:cNvSpPr/>
          <p:nvPr/>
        </p:nvSpPr>
        <p:spPr bwMode="auto">
          <a:xfrm>
            <a:off x="6358211" y="24695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Oval 8">
            <a:extLst>
              <a:ext uri="{FF2B5EF4-FFF2-40B4-BE49-F238E27FC236}">
                <a16:creationId xmlns:a16="http://schemas.microsoft.com/office/drawing/2014/main" id="{9BE24850-2030-E07C-9136-964A6BDC1CA4}"/>
              </a:ext>
            </a:extLst>
          </p:cNvPr>
          <p:cNvSpPr/>
          <p:nvPr/>
        </p:nvSpPr>
        <p:spPr bwMode="auto">
          <a:xfrm>
            <a:off x="6358211" y="277431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2AF885EC-ECFE-DAD7-FE35-F61D98476138}"/>
              </a:ext>
            </a:extLst>
          </p:cNvPr>
          <p:cNvSpPr/>
          <p:nvPr/>
        </p:nvSpPr>
        <p:spPr bwMode="auto">
          <a:xfrm>
            <a:off x="6358211" y="30639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Oval 10">
            <a:extLst>
              <a:ext uri="{FF2B5EF4-FFF2-40B4-BE49-F238E27FC236}">
                <a16:creationId xmlns:a16="http://schemas.microsoft.com/office/drawing/2014/main" id="{2DF21D84-77FD-1496-E6CB-C3F230671A4F}"/>
              </a:ext>
            </a:extLst>
          </p:cNvPr>
          <p:cNvSpPr/>
          <p:nvPr/>
        </p:nvSpPr>
        <p:spPr bwMode="auto">
          <a:xfrm>
            <a:off x="6358211" y="336042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C1396565-630F-391E-3223-604AD15BBE65}"/>
              </a:ext>
            </a:extLst>
          </p:cNvPr>
          <p:cNvSpPr/>
          <p:nvPr/>
        </p:nvSpPr>
        <p:spPr bwMode="auto">
          <a:xfrm>
            <a:off x="6358211" y="364897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AD00882E-0AA0-DB09-F97D-B0228BAAC98B}"/>
              </a:ext>
            </a:extLst>
          </p:cNvPr>
          <p:cNvSpPr/>
          <p:nvPr/>
        </p:nvSpPr>
        <p:spPr bwMode="auto">
          <a:xfrm>
            <a:off x="6358211" y="39607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FD431EB0-4B55-E062-801C-28D445129466}"/>
              </a:ext>
            </a:extLst>
          </p:cNvPr>
          <p:cNvSpPr/>
          <p:nvPr/>
        </p:nvSpPr>
        <p:spPr bwMode="auto">
          <a:xfrm>
            <a:off x="6358211" y="424327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Oval 16">
            <a:extLst>
              <a:ext uri="{FF2B5EF4-FFF2-40B4-BE49-F238E27FC236}">
                <a16:creationId xmlns:a16="http://schemas.microsoft.com/office/drawing/2014/main" id="{CE2E579B-21F0-CEE9-7992-1B00D06179D0}"/>
              </a:ext>
            </a:extLst>
          </p:cNvPr>
          <p:cNvSpPr/>
          <p:nvPr/>
        </p:nvSpPr>
        <p:spPr bwMode="auto">
          <a:xfrm>
            <a:off x="6358211" y="454107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Oval 17">
            <a:extLst>
              <a:ext uri="{FF2B5EF4-FFF2-40B4-BE49-F238E27FC236}">
                <a16:creationId xmlns:a16="http://schemas.microsoft.com/office/drawing/2014/main" id="{449F3807-DA34-A9E8-BF17-461F33135923}"/>
              </a:ext>
            </a:extLst>
          </p:cNvPr>
          <p:cNvSpPr/>
          <p:nvPr/>
        </p:nvSpPr>
        <p:spPr bwMode="auto">
          <a:xfrm>
            <a:off x="6358211" y="513850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8030ABD2-9F78-F028-0D32-9E9C838E21F0}"/>
              </a:ext>
            </a:extLst>
          </p:cNvPr>
          <p:cNvSpPr/>
          <p:nvPr/>
        </p:nvSpPr>
        <p:spPr bwMode="auto">
          <a:xfrm>
            <a:off x="6358211" y="541115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 name="Oval 21">
            <a:extLst>
              <a:ext uri="{FF2B5EF4-FFF2-40B4-BE49-F238E27FC236}">
                <a16:creationId xmlns:a16="http://schemas.microsoft.com/office/drawing/2014/main" id="{E849ACE3-B42E-BA22-3038-C918E1540C2D}"/>
              </a:ext>
            </a:extLst>
          </p:cNvPr>
          <p:cNvSpPr/>
          <p:nvPr/>
        </p:nvSpPr>
        <p:spPr bwMode="auto">
          <a:xfrm>
            <a:off x="6358211" y="48474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4" name="Oval 23">
            <a:extLst>
              <a:ext uri="{FF2B5EF4-FFF2-40B4-BE49-F238E27FC236}">
                <a16:creationId xmlns:a16="http://schemas.microsoft.com/office/drawing/2014/main" id="{C93C23A2-FB44-864B-6CEC-0C1E5D880F82}"/>
              </a:ext>
            </a:extLst>
          </p:cNvPr>
          <p:cNvSpPr/>
          <p:nvPr/>
        </p:nvSpPr>
        <p:spPr bwMode="auto">
          <a:xfrm>
            <a:off x="762468" y="255585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5" name="Oval 24">
            <a:extLst>
              <a:ext uri="{FF2B5EF4-FFF2-40B4-BE49-F238E27FC236}">
                <a16:creationId xmlns:a16="http://schemas.microsoft.com/office/drawing/2014/main" id="{30F051E4-6529-C973-2137-1045B72A5DEC}"/>
              </a:ext>
            </a:extLst>
          </p:cNvPr>
          <p:cNvSpPr/>
          <p:nvPr/>
        </p:nvSpPr>
        <p:spPr bwMode="auto">
          <a:xfrm>
            <a:off x="762468" y="200622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6" name="Oval 25">
            <a:extLst>
              <a:ext uri="{FF2B5EF4-FFF2-40B4-BE49-F238E27FC236}">
                <a16:creationId xmlns:a16="http://schemas.microsoft.com/office/drawing/2014/main" id="{D831DE22-48C3-A35A-A8E9-DDE5B6FE0BB8}"/>
              </a:ext>
            </a:extLst>
          </p:cNvPr>
          <p:cNvSpPr/>
          <p:nvPr/>
        </p:nvSpPr>
        <p:spPr bwMode="auto">
          <a:xfrm>
            <a:off x="762468" y="34364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8" name="Oval 27">
            <a:extLst>
              <a:ext uri="{FF2B5EF4-FFF2-40B4-BE49-F238E27FC236}">
                <a16:creationId xmlns:a16="http://schemas.microsoft.com/office/drawing/2014/main" id="{BC04FCB2-7EB2-C14D-715C-3CA00810BAAD}"/>
              </a:ext>
            </a:extLst>
          </p:cNvPr>
          <p:cNvSpPr/>
          <p:nvPr/>
        </p:nvSpPr>
        <p:spPr bwMode="auto">
          <a:xfrm>
            <a:off x="762468" y="411536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9" name="Oval 28">
            <a:extLst>
              <a:ext uri="{FF2B5EF4-FFF2-40B4-BE49-F238E27FC236}">
                <a16:creationId xmlns:a16="http://schemas.microsoft.com/office/drawing/2014/main" id="{506B93FE-210E-720C-B9E1-9CBA7E6AC7B4}"/>
              </a:ext>
            </a:extLst>
          </p:cNvPr>
          <p:cNvSpPr/>
          <p:nvPr/>
        </p:nvSpPr>
        <p:spPr bwMode="auto">
          <a:xfrm>
            <a:off x="762468" y="447449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0" name="Oval 29">
            <a:extLst>
              <a:ext uri="{FF2B5EF4-FFF2-40B4-BE49-F238E27FC236}">
                <a16:creationId xmlns:a16="http://schemas.microsoft.com/office/drawing/2014/main" id="{3716B1F0-53FB-CB7B-0251-B49350788CEB}"/>
              </a:ext>
            </a:extLst>
          </p:cNvPr>
          <p:cNvSpPr/>
          <p:nvPr/>
        </p:nvSpPr>
        <p:spPr bwMode="auto">
          <a:xfrm>
            <a:off x="6358211" y="573232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TextBox 18">
            <a:extLst>
              <a:ext uri="{FF2B5EF4-FFF2-40B4-BE49-F238E27FC236}">
                <a16:creationId xmlns:a16="http://schemas.microsoft.com/office/drawing/2014/main" id="{1956DA29-5B29-1A5C-C40F-4ABC107B5AFC}"/>
              </a:ext>
            </a:extLst>
          </p:cNvPr>
          <p:cNvSpPr txBox="1"/>
          <p:nvPr/>
        </p:nvSpPr>
        <p:spPr>
          <a:xfrm>
            <a:off x="6259293" y="1710262"/>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0" name="TextBox 19">
            <a:extLst>
              <a:ext uri="{FF2B5EF4-FFF2-40B4-BE49-F238E27FC236}">
                <a16:creationId xmlns:a16="http://schemas.microsoft.com/office/drawing/2014/main" id="{A6D06B4D-1331-91B4-B1B6-C4C9938ABDDB}"/>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4FB4D22C-2CA3-3896-02F8-126061EE79A7}"/>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38754993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9D1CD-BFAA-A4D4-877B-304A05B8143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FCD92129-AB93-9DF1-5CEF-23906D59FDDD}"/>
              </a:ext>
            </a:extLst>
          </p:cNvPr>
          <p:cNvSpPr>
            <a:spLocks noGrp="1"/>
          </p:cNvSpPr>
          <p:nvPr>
            <p:ph type="title"/>
          </p:nvPr>
        </p:nvSpPr>
        <p:spPr>
          <a:xfrm>
            <a:off x="588963" y="315692"/>
            <a:ext cx="8651873" cy="461665"/>
          </a:xfrm>
        </p:spPr>
        <p:txBody>
          <a:bodyPr>
            <a:noAutofit/>
          </a:bodyPr>
          <a:lstStyle/>
          <a:p>
            <a:r>
              <a:rPr lang="en-US" sz="2400" noProof="0" dirty="0"/>
              <a:t>Database Modernization</a:t>
            </a:r>
          </a:p>
        </p:txBody>
      </p:sp>
      <p:sp>
        <p:nvSpPr>
          <p:cNvPr id="7" name="Rounded Rectangle 55">
            <a:extLst>
              <a:ext uri="{FF2B5EF4-FFF2-40B4-BE49-F238E27FC236}">
                <a16:creationId xmlns:a16="http://schemas.microsoft.com/office/drawing/2014/main" id="{E6E289F2-555A-60A4-0123-926376566C5D}"/>
              </a:ext>
              <a:ext uri="{C183D7F6-B498-43B3-948B-1728B52AA6E4}">
                <adec:decorative xmlns:adec="http://schemas.microsoft.com/office/drawing/2017/decorative" val="1"/>
              </a:ext>
            </a:extLst>
          </p:cNvPr>
          <p:cNvSpPr>
            <a:spLocks/>
          </p:cNvSpPr>
          <p:nvPr/>
        </p:nvSpPr>
        <p:spPr bwMode="auto">
          <a:xfrm>
            <a:off x="554697" y="1272540"/>
            <a:ext cx="5483813"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8" name="Rounded Rectangle 55">
            <a:extLst>
              <a:ext uri="{FF2B5EF4-FFF2-40B4-BE49-F238E27FC236}">
                <a16:creationId xmlns:a16="http://schemas.microsoft.com/office/drawing/2014/main" id="{301C7B0F-61E7-927B-4AE0-4E38A0FF2F99}"/>
              </a:ext>
              <a:ext uri="{C183D7F6-B498-43B3-948B-1728B52AA6E4}">
                <adec:decorative xmlns:adec="http://schemas.microsoft.com/office/drawing/2017/decorative" val="1"/>
              </a:ext>
            </a:extLst>
          </p:cNvPr>
          <p:cNvSpPr>
            <a:spLocks/>
          </p:cNvSpPr>
          <p:nvPr/>
        </p:nvSpPr>
        <p:spPr bwMode="auto">
          <a:xfrm>
            <a:off x="6102454" y="1272540"/>
            <a:ext cx="5583708"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 name="TextBox 4">
            <a:extLst>
              <a:ext uri="{FF2B5EF4-FFF2-40B4-BE49-F238E27FC236}">
                <a16:creationId xmlns:a16="http://schemas.microsoft.com/office/drawing/2014/main" id="{E4B3858A-B2ED-08F7-FD90-65DBA37F2198}"/>
              </a:ext>
            </a:extLst>
          </p:cNvPr>
          <p:cNvSpPr txBox="1">
            <a:spLocks/>
          </p:cNvSpPr>
          <p:nvPr/>
        </p:nvSpPr>
        <p:spPr>
          <a:xfrm>
            <a:off x="585787" y="1356831"/>
            <a:ext cx="5441528" cy="3492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15" name="TextBox 14">
            <a:extLst>
              <a:ext uri="{FF2B5EF4-FFF2-40B4-BE49-F238E27FC236}">
                <a16:creationId xmlns:a16="http://schemas.microsoft.com/office/drawing/2014/main" id="{C2CA8D70-5965-677E-4986-CF436CA71B46}"/>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27" name="TextBox 26">
            <a:extLst>
              <a:ext uri="{FF2B5EF4-FFF2-40B4-BE49-F238E27FC236}">
                <a16:creationId xmlns:a16="http://schemas.microsoft.com/office/drawing/2014/main" id="{FF5219FF-8FA9-8536-F4ED-C92790015BE6}"/>
              </a:ext>
            </a:extLst>
          </p:cNvPr>
          <p:cNvSpPr txBox="1"/>
          <p:nvPr/>
        </p:nvSpPr>
        <p:spPr>
          <a:xfrm>
            <a:off x="554697" y="794821"/>
            <a:ext cx="6811818" cy="369332"/>
          </a:xfrm>
          <a:prstGeom prst="rect">
            <a:avLst/>
          </a:prstGeom>
          <a:noFill/>
        </p:spPr>
        <p:txBody>
          <a:bodyPr wrap="square">
            <a:spAutoFit/>
          </a:bodyPr>
          <a:lstStyle/>
          <a:p>
            <a:r>
              <a:rPr lang="en-US" noProof="0" dirty="0">
                <a:latin typeface="+mj-lt"/>
              </a:rPr>
              <a:t>MongoDB Atlas on Azure Migration</a:t>
            </a:r>
          </a:p>
        </p:txBody>
      </p:sp>
      <p:sp>
        <p:nvSpPr>
          <p:cNvPr id="2" name="Rectangle 1">
            <a:extLst>
              <a:ext uri="{FF2B5EF4-FFF2-40B4-BE49-F238E27FC236}">
                <a16:creationId xmlns:a16="http://schemas.microsoft.com/office/drawing/2014/main" id="{CDD196B1-0919-FF7B-150E-DAA4610FADFD}"/>
              </a:ext>
              <a:ext uri="{C183D7F6-B498-43B3-948B-1728B52AA6E4}">
                <adec:decorative xmlns:adec="http://schemas.microsoft.com/office/drawing/2017/decorative" val="1"/>
              </a:ext>
            </a:extLst>
          </p:cNvPr>
          <p:cNvSpPr>
            <a:spLocks/>
          </p:cNvSpPr>
          <p:nvPr/>
        </p:nvSpPr>
        <p:spPr bwMode="auto">
          <a:xfrm>
            <a:off x="789196" y="2111859"/>
            <a:ext cx="45719" cy="254195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4" name="Oval 3">
            <a:extLst>
              <a:ext uri="{FF2B5EF4-FFF2-40B4-BE49-F238E27FC236}">
                <a16:creationId xmlns:a16="http://schemas.microsoft.com/office/drawing/2014/main" id="{63179612-37CB-A311-BC39-90096635BD60}"/>
              </a:ext>
              <a:ext uri="{C183D7F6-B498-43B3-948B-1728B52AA6E4}">
                <adec:decorative xmlns:adec="http://schemas.microsoft.com/office/drawing/2017/decorative" val="1"/>
              </a:ext>
            </a:extLst>
          </p:cNvPr>
          <p:cNvSpPr/>
          <p:nvPr/>
        </p:nvSpPr>
        <p:spPr bwMode="auto">
          <a:xfrm>
            <a:off x="766598" y="200807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 name="Oval 5">
            <a:extLst>
              <a:ext uri="{FF2B5EF4-FFF2-40B4-BE49-F238E27FC236}">
                <a16:creationId xmlns:a16="http://schemas.microsoft.com/office/drawing/2014/main" id="{094BFF0A-D4A6-D91E-6B7C-3D43BBF5EC09}"/>
              </a:ext>
              <a:ext uri="{C183D7F6-B498-43B3-948B-1728B52AA6E4}">
                <adec:decorative xmlns:adec="http://schemas.microsoft.com/office/drawing/2017/decorative" val="1"/>
              </a:ext>
            </a:extLst>
          </p:cNvPr>
          <p:cNvSpPr/>
          <p:nvPr/>
        </p:nvSpPr>
        <p:spPr bwMode="auto">
          <a:xfrm>
            <a:off x="766598" y="254130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9" name="Oval 8">
            <a:extLst>
              <a:ext uri="{FF2B5EF4-FFF2-40B4-BE49-F238E27FC236}">
                <a16:creationId xmlns:a16="http://schemas.microsoft.com/office/drawing/2014/main" id="{F2876D60-DD82-D7E4-DDE2-1EBA47BF040D}"/>
              </a:ext>
              <a:ext uri="{C183D7F6-B498-43B3-948B-1728B52AA6E4}">
                <adec:decorative xmlns:adec="http://schemas.microsoft.com/office/drawing/2017/decorative" val="1"/>
              </a:ext>
            </a:extLst>
          </p:cNvPr>
          <p:cNvSpPr/>
          <p:nvPr/>
        </p:nvSpPr>
        <p:spPr bwMode="auto">
          <a:xfrm>
            <a:off x="766598" y="412084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10" name="Oval 9">
            <a:extLst>
              <a:ext uri="{FF2B5EF4-FFF2-40B4-BE49-F238E27FC236}">
                <a16:creationId xmlns:a16="http://schemas.microsoft.com/office/drawing/2014/main" id="{9E6CCFC1-D703-A2E4-7611-3E3FC10C67BA}"/>
              </a:ext>
              <a:ext uri="{C183D7F6-B498-43B3-948B-1728B52AA6E4}">
                <adec:decorative xmlns:adec="http://schemas.microsoft.com/office/drawing/2017/decorative" val="1"/>
              </a:ext>
            </a:extLst>
          </p:cNvPr>
          <p:cNvSpPr/>
          <p:nvPr/>
        </p:nvSpPr>
        <p:spPr bwMode="auto">
          <a:xfrm>
            <a:off x="766598" y="446631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11" name="Oval 10">
            <a:extLst>
              <a:ext uri="{FF2B5EF4-FFF2-40B4-BE49-F238E27FC236}">
                <a16:creationId xmlns:a16="http://schemas.microsoft.com/office/drawing/2014/main" id="{2DA6453E-6EAD-8C78-0C6F-1B0F7A32B0CE}"/>
              </a:ext>
              <a:ext uri="{C183D7F6-B498-43B3-948B-1728B52AA6E4}">
                <adec:decorative xmlns:adec="http://schemas.microsoft.com/office/drawing/2017/decorative" val="1"/>
              </a:ext>
            </a:extLst>
          </p:cNvPr>
          <p:cNvSpPr/>
          <p:nvPr/>
        </p:nvSpPr>
        <p:spPr bwMode="auto">
          <a:xfrm>
            <a:off x="766598" y="344961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12" name="Straight Connector 11">
            <a:extLst>
              <a:ext uri="{FF2B5EF4-FFF2-40B4-BE49-F238E27FC236}">
                <a16:creationId xmlns:a16="http://schemas.microsoft.com/office/drawing/2014/main" id="{D14A904B-9EC3-7412-62E5-4B9DF4832D93}"/>
              </a:ext>
              <a:ext uri="{C183D7F6-B498-43B3-948B-1728B52AA6E4}">
                <adec:decorative xmlns:adec="http://schemas.microsoft.com/office/drawing/2017/decorative" val="1"/>
              </a:ext>
            </a:extLst>
          </p:cNvPr>
          <p:cNvCxnSpPr>
            <a:cxnSpLocks/>
          </p:cNvCxnSpPr>
          <p:nvPr/>
        </p:nvCxnSpPr>
        <p:spPr>
          <a:xfrm>
            <a:off x="1020125" y="2440155"/>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6E90A19-B4E6-81DE-9434-D8C2EB08B78B}"/>
              </a:ext>
              <a:ext uri="{C183D7F6-B498-43B3-948B-1728B52AA6E4}">
                <adec:decorative xmlns:adec="http://schemas.microsoft.com/office/drawing/2017/decorative" val="1"/>
              </a:ext>
            </a:extLst>
          </p:cNvPr>
          <p:cNvCxnSpPr>
            <a:cxnSpLocks/>
          </p:cNvCxnSpPr>
          <p:nvPr/>
        </p:nvCxnSpPr>
        <p:spPr>
          <a:xfrm>
            <a:off x="1020125" y="4024633"/>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666BCA6-0027-54D1-31C2-1287F870F760}"/>
              </a:ext>
              <a:ext uri="{C183D7F6-B498-43B3-948B-1728B52AA6E4}">
                <adec:decorative xmlns:adec="http://schemas.microsoft.com/office/drawing/2017/decorative" val="1"/>
              </a:ext>
            </a:extLst>
          </p:cNvPr>
          <p:cNvCxnSpPr>
            <a:cxnSpLocks/>
          </p:cNvCxnSpPr>
          <p:nvPr/>
        </p:nvCxnSpPr>
        <p:spPr>
          <a:xfrm>
            <a:off x="1020125" y="4373161"/>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84C0757-B77D-9936-3D7A-44F14107B137}"/>
              </a:ext>
              <a:ext uri="{C183D7F6-B498-43B3-948B-1728B52AA6E4}">
                <adec:decorative xmlns:adec="http://schemas.microsoft.com/office/drawing/2017/decorative" val="1"/>
              </a:ext>
            </a:extLst>
          </p:cNvPr>
          <p:cNvCxnSpPr>
            <a:cxnSpLocks/>
          </p:cNvCxnSpPr>
          <p:nvPr/>
        </p:nvCxnSpPr>
        <p:spPr>
          <a:xfrm>
            <a:off x="1020125" y="3334986"/>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5F09A5B-DB28-05BD-1969-6C0319908C32}"/>
              </a:ext>
            </a:extLst>
          </p:cNvPr>
          <p:cNvSpPr txBox="1"/>
          <p:nvPr/>
        </p:nvSpPr>
        <p:spPr>
          <a:xfrm>
            <a:off x="1074319" y="2019670"/>
            <a:ext cx="4914576" cy="3231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ea typeface="+mn-ea"/>
                <a:cs typeface="+mn-cs"/>
              </a:rPr>
              <a:t>On-premise MongoDB/Atlas(GCP, AWS) to </a:t>
            </a:r>
            <a:r>
              <a:rPr kumimoji="0" lang="en-US" sz="1050" b="1" i="0" u="none" strike="noStrike" kern="0" cap="none" spc="0" normalizeH="0" baseline="0" noProof="0" dirty="0">
                <a:ln>
                  <a:noFill/>
                </a:ln>
                <a:solidFill>
                  <a:srgbClr val="000000"/>
                </a:solidFill>
                <a:effectLst/>
                <a:uLnTx/>
                <a:uFillTx/>
                <a:ea typeface="+mn-ea"/>
                <a:cs typeface="+mn-cs"/>
              </a:rPr>
              <a:t>MongoDB Atlas on Azure </a:t>
            </a:r>
            <a:r>
              <a:rPr kumimoji="0" lang="en-US" sz="1050" b="0" i="0" u="none" strike="noStrike" kern="0" cap="none" spc="0" normalizeH="0" baseline="0" noProof="0" dirty="0">
                <a:ln>
                  <a:noFill/>
                </a:ln>
                <a:solidFill>
                  <a:srgbClr val="000000"/>
                </a:solidFill>
                <a:effectLst/>
                <a:uLnTx/>
                <a:uFillTx/>
                <a:ea typeface="+mn-ea"/>
                <a:cs typeface="+mn-cs"/>
              </a:rPr>
              <a:t>migrations with zero code changes </a:t>
            </a:r>
            <a:endParaRPr kumimoji="0" lang="en-US" sz="1050" b="0" i="0" u="none" strike="noStrike" kern="1200" cap="none" spc="0" normalizeH="0" baseline="0" noProof="0" dirty="0">
              <a:ln>
                <a:noFill/>
              </a:ln>
              <a:solidFill>
                <a:srgbClr val="000000"/>
              </a:solidFill>
              <a:effectLst/>
              <a:uLnTx/>
              <a:uFillTx/>
              <a:ea typeface="+mn-ea"/>
              <a:cs typeface="+mn-cs"/>
            </a:endParaRPr>
          </a:p>
        </p:txBody>
      </p:sp>
      <p:sp>
        <p:nvSpPr>
          <p:cNvPr id="19" name="TextBox 18">
            <a:extLst>
              <a:ext uri="{FF2B5EF4-FFF2-40B4-BE49-F238E27FC236}">
                <a16:creationId xmlns:a16="http://schemas.microsoft.com/office/drawing/2014/main" id="{7154CF10-1852-63AF-8131-6D4D0BED778F}"/>
              </a:ext>
            </a:extLst>
          </p:cNvPr>
          <p:cNvSpPr txBox="1"/>
          <p:nvPr/>
        </p:nvSpPr>
        <p:spPr>
          <a:xfrm>
            <a:off x="1074319" y="2537474"/>
            <a:ext cx="5305525" cy="700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migration sources:</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MongoDB Community on-premise server migrations </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MongoDB Enterprise Advanced (EA) on-premise server migrations</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MongoDB Community or EA Servers self-managed or Atlas on GCP or AWS</a:t>
            </a:r>
            <a:endParaRPr kumimoji="0" lang="en-US" sz="1000" b="0" i="0" u="none" strike="noStrike" kern="0" cap="none" spc="0" normalizeH="0" baseline="0" noProof="0" dirty="0">
              <a:ln>
                <a:noFill/>
              </a:ln>
              <a:solidFill>
                <a:srgbClr val="000000"/>
              </a:solidFill>
              <a:effectLst/>
              <a:uLnTx/>
              <a:uFillTx/>
              <a:ea typeface="+mn-lt"/>
              <a:cs typeface="Segoe Sans Text" pitchFamily="2" charset="0"/>
            </a:endParaRPr>
          </a:p>
        </p:txBody>
      </p:sp>
      <p:sp>
        <p:nvSpPr>
          <p:cNvPr id="20" name="TextBox 19">
            <a:extLst>
              <a:ext uri="{FF2B5EF4-FFF2-40B4-BE49-F238E27FC236}">
                <a16:creationId xmlns:a16="http://schemas.microsoft.com/office/drawing/2014/main" id="{3A7C4C62-FF1E-55E2-3D4D-055F53F61D31}"/>
              </a:ext>
            </a:extLst>
          </p:cNvPr>
          <p:cNvSpPr txBox="1"/>
          <p:nvPr/>
        </p:nvSpPr>
        <p:spPr>
          <a:xfrm>
            <a:off x="1074319" y="3432306"/>
            <a:ext cx="4914576" cy="50270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migration approaches:</a:t>
            </a:r>
          </a:p>
          <a:p>
            <a:pPr marL="133350" marR="0" lvl="0" indent="-1333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0" cap="none" spc="0" normalizeH="0" baseline="0" noProof="0" dirty="0">
                <a:ln>
                  <a:noFill/>
                </a:ln>
                <a:solidFill>
                  <a:srgbClr val="000000"/>
                </a:solidFill>
                <a:effectLst/>
                <a:uLnTx/>
                <a:uFillTx/>
                <a:ea typeface="+mn-lt"/>
                <a:cs typeface="Segoe Sans Text" pitchFamily="2" charset="0"/>
              </a:rPr>
              <a:t>Online migration using </a:t>
            </a:r>
            <a:r>
              <a:rPr kumimoji="0" lang="en-US" sz="1050" i="0" u="none" strike="noStrike" kern="0" cap="none" spc="0" normalizeH="0" baseline="0" noProof="0" dirty="0">
                <a:ln>
                  <a:noFill/>
                </a:ln>
                <a:solidFill>
                  <a:schemeClr val="accent1"/>
                </a:solidFill>
                <a:effectLst/>
                <a:uLnTx/>
                <a:uFillTx/>
                <a:ea typeface="+mn-ea"/>
                <a:cs typeface="+mn-cs"/>
                <a:hlinkClick r:id="rId4">
                  <a:extLst>
                    <a:ext uri="{A12FA001-AC4F-418D-AE19-62706E023703}">
                      <ahyp:hlinkClr xmlns:ahyp="http://schemas.microsoft.com/office/drawing/2018/hyperlinkcolor" val="tx"/>
                    </a:ext>
                  </a:extLst>
                </a:hlinkClick>
              </a:rPr>
              <a:t>mongosync</a:t>
            </a:r>
            <a:r>
              <a:rPr kumimoji="0" lang="en-US" sz="1050" i="0" u="none" strike="noStrike" kern="0" cap="none" spc="0" normalizeH="0" baseline="0" noProof="0" dirty="0">
                <a:ln>
                  <a:noFill/>
                </a:ln>
                <a:solidFill>
                  <a:schemeClr val="accent1"/>
                </a:solidFill>
                <a:effectLst/>
                <a:uLnTx/>
                <a:uFillTx/>
                <a:ea typeface="+mn-ea"/>
                <a:cs typeface="+mn-cs"/>
              </a:rPr>
              <a:t>​, </a:t>
            </a:r>
            <a:r>
              <a:rPr kumimoji="0" lang="en-US" sz="1050" i="0" u="none" strike="noStrike" kern="0" cap="none" spc="0" normalizeH="0" baseline="0" noProof="0" dirty="0">
                <a:ln>
                  <a:noFill/>
                </a:ln>
                <a:solidFill>
                  <a:schemeClr val="accent1"/>
                </a:solidFill>
                <a:effectLst/>
                <a:uLnTx/>
                <a:uFillTx/>
                <a:ea typeface="+mn-ea"/>
                <a:cs typeface="+mn-cs"/>
                <a:hlinkClick r:id="rId5">
                  <a:extLst>
                    <a:ext uri="{A12FA001-AC4F-418D-AE19-62706E023703}">
                      <ahyp:hlinkClr xmlns:ahyp="http://schemas.microsoft.com/office/drawing/2018/hyperlinkcolor" val="tx"/>
                    </a:ext>
                  </a:extLst>
                </a:hlinkClick>
              </a:rPr>
              <a:t>Live Migrate: Pull</a:t>
            </a:r>
            <a:r>
              <a:rPr kumimoji="0" lang="en-US" sz="1050" i="0" u="none" strike="noStrike" kern="0" cap="none" spc="0" normalizeH="0" baseline="0" noProof="0" dirty="0">
                <a:ln>
                  <a:noFill/>
                </a:ln>
                <a:solidFill>
                  <a:schemeClr val="accent1"/>
                </a:solidFill>
                <a:effectLst/>
                <a:uLnTx/>
                <a:uFillTx/>
                <a:ea typeface="+mn-ea"/>
                <a:cs typeface="+mn-cs"/>
              </a:rPr>
              <a:t>, </a:t>
            </a:r>
            <a:r>
              <a:rPr kumimoji="0" lang="en-US" sz="1050" i="0" u="none" strike="noStrike" kern="0" cap="none" spc="0" normalizeH="0" baseline="0" noProof="0" dirty="0">
                <a:ln>
                  <a:noFill/>
                </a:ln>
                <a:solidFill>
                  <a:schemeClr val="accent1"/>
                </a:solidFill>
                <a:effectLst/>
                <a:uLnTx/>
                <a:uFillTx/>
                <a:ea typeface="+mn-ea"/>
                <a:cs typeface="+mn-cs"/>
                <a:hlinkClick r:id="rId6">
                  <a:extLst>
                    <a:ext uri="{A12FA001-AC4F-418D-AE19-62706E023703}">
                      <ahyp:hlinkClr xmlns:ahyp="http://schemas.microsoft.com/office/drawing/2018/hyperlinkcolor" val="tx"/>
                    </a:ext>
                  </a:extLst>
                </a:hlinkClick>
              </a:rPr>
              <a:t>Live Migrate: Push</a:t>
            </a:r>
            <a:endParaRPr kumimoji="0" lang="en-US" sz="1000" i="0" u="none" strike="noStrike" kern="0" cap="none" spc="0" normalizeH="0" baseline="0" noProof="0" dirty="0">
              <a:ln>
                <a:noFill/>
              </a:ln>
              <a:solidFill>
                <a:schemeClr val="accent1"/>
              </a:solidFill>
              <a:effectLst/>
              <a:uLnTx/>
              <a:uFillTx/>
              <a:ea typeface="+mn-lt"/>
              <a:cs typeface="Segoe Sans Text" pitchFamily="2" charset="0"/>
            </a:endParaRPr>
          </a:p>
          <a:p>
            <a:pPr marL="133350" marR="0" lvl="0" indent="-1333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0" cap="none" spc="0" normalizeH="0" baseline="0" noProof="0" dirty="0">
                <a:ln>
                  <a:noFill/>
                </a:ln>
                <a:solidFill>
                  <a:srgbClr val="000000"/>
                </a:solidFill>
                <a:effectLst/>
                <a:uLnTx/>
                <a:uFillTx/>
                <a:ea typeface="+mn-lt"/>
                <a:cs typeface="Segoe Sans Text" pitchFamily="2" charset="0"/>
              </a:rPr>
              <a:t>Offline migration using </a:t>
            </a:r>
            <a:r>
              <a:rPr kumimoji="0" lang="en-US" sz="1000" b="0" i="0" u="none" strike="noStrike" kern="0" cap="none" spc="0" normalizeH="0" baseline="0" noProof="0" dirty="0">
                <a:ln>
                  <a:noFill/>
                </a:ln>
                <a:solidFill>
                  <a:schemeClr val="accent1"/>
                </a:solidFill>
                <a:effectLst/>
                <a:uLnTx/>
                <a:uFillTx/>
                <a:ea typeface="+mn-lt"/>
                <a:cs typeface="Segoe Sans Text" pitchFamily="2" charset="0"/>
                <a:hlinkClick r:id="rId7">
                  <a:extLst>
                    <a:ext uri="{A12FA001-AC4F-418D-AE19-62706E023703}">
                      <ahyp:hlinkClr xmlns:ahyp="http://schemas.microsoft.com/office/drawing/2018/hyperlinkcolor" val="tx"/>
                    </a:ext>
                  </a:extLst>
                </a:hlinkClick>
              </a:rPr>
              <a:t>Native Tools</a:t>
            </a:r>
            <a:r>
              <a:rPr kumimoji="0" lang="en-US" sz="1000" b="0" i="0" u="none" strike="noStrike" kern="0" cap="none" spc="0" normalizeH="0" baseline="0" noProof="0" dirty="0">
                <a:ln>
                  <a:noFill/>
                </a:ln>
                <a:solidFill>
                  <a:schemeClr val="accent1"/>
                </a:solidFill>
                <a:effectLst/>
                <a:uLnTx/>
                <a:uFillTx/>
                <a:ea typeface="+mn-lt"/>
                <a:cs typeface="Segoe Sans Text" pitchFamily="2" charset="0"/>
              </a:rPr>
              <a:t> </a:t>
            </a:r>
          </a:p>
        </p:txBody>
      </p:sp>
      <p:sp>
        <p:nvSpPr>
          <p:cNvPr id="21" name="TextBox 20">
            <a:extLst>
              <a:ext uri="{FF2B5EF4-FFF2-40B4-BE49-F238E27FC236}">
                <a16:creationId xmlns:a16="http://schemas.microsoft.com/office/drawing/2014/main" id="{9B59C473-2E20-0BE6-888A-91EB6A2EF39E}"/>
              </a:ext>
            </a:extLst>
          </p:cNvPr>
          <p:cNvSpPr txBox="1"/>
          <p:nvPr/>
        </p:nvSpPr>
        <p:spPr>
          <a:xfrm>
            <a:off x="1074319" y="4121425"/>
            <a:ext cx="4914576" cy="16158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spc="0" normalizeH="0" baseline="0" noProof="0" dirty="0">
                <a:ln>
                  <a:noFill/>
                </a:ln>
                <a:solidFill>
                  <a:srgbClr val="000000"/>
                </a:solidFill>
                <a:effectLst/>
                <a:uLnTx/>
                <a:uFillTx/>
                <a:ea typeface="+mn-ea"/>
                <a:cs typeface="+mn-cs"/>
              </a:rPr>
              <a:t>HA/DR configuration and setup for MongoDB Atlas on Azure</a:t>
            </a:r>
          </a:p>
        </p:txBody>
      </p:sp>
      <p:sp>
        <p:nvSpPr>
          <p:cNvPr id="22" name="TextBox 21">
            <a:extLst>
              <a:ext uri="{FF2B5EF4-FFF2-40B4-BE49-F238E27FC236}">
                <a16:creationId xmlns:a16="http://schemas.microsoft.com/office/drawing/2014/main" id="{67A82AE3-C610-52D8-7BA7-ADC442365D9E}"/>
              </a:ext>
            </a:extLst>
          </p:cNvPr>
          <p:cNvSpPr txBox="1"/>
          <p:nvPr/>
        </p:nvSpPr>
        <p:spPr>
          <a:xfrm>
            <a:off x="1074319" y="4470478"/>
            <a:ext cx="5109580" cy="135678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Minimum Supported MongoDB Versions for Migration:</a:t>
            </a:r>
            <a:endParaRPr kumimoji="0" lang="en-US" sz="1800" b="0" i="0" u="none" strike="noStrike" kern="1200" cap="none" spc="0" normalizeH="0" baseline="0" noProof="0" dirty="0">
              <a:ln>
                <a:noFill/>
              </a:ln>
              <a:solidFill>
                <a:prstClr val="black"/>
              </a:solidFill>
              <a:effectLst/>
              <a:uLnTx/>
              <a:uFillTx/>
              <a:ea typeface="+mn-ea"/>
              <a:cs typeface="+mn-cs"/>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i="0" u="none" strike="noStrike" kern="0" cap="none" spc="0" normalizeH="0" baseline="0" noProof="0" dirty="0">
                <a:ln>
                  <a:noFill/>
                </a:ln>
                <a:solidFill>
                  <a:srgbClr val="000000"/>
                </a:solidFill>
                <a:effectLst/>
                <a:uLnTx/>
                <a:uFillTx/>
                <a:ea typeface="+mn-ea"/>
                <a:cs typeface="+mn-cs"/>
              </a:rPr>
              <a:t>MongoDB 6.0.17 &amp; </a:t>
            </a:r>
            <a:r>
              <a:rPr kumimoji="0" lang="en-US" sz="1000" b="0" i="0" u="none" strike="noStrike" kern="0" cap="none" spc="0" normalizeH="0" baseline="0" noProof="0" dirty="0">
                <a:ln>
                  <a:noFill/>
                </a:ln>
                <a:solidFill>
                  <a:srgbClr val="000000"/>
                </a:solidFill>
                <a:effectLst/>
                <a:uLnTx/>
                <a:uFillTx/>
                <a:ea typeface="+mn-ea"/>
                <a:cs typeface="+mn-cs"/>
              </a:rPr>
              <a:t>above for online*</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Segoe Sans Text" pitchFamily="2" charset="0"/>
              </a:rPr>
              <a:t>MongoDB 4.2, 4.4 &amp; 5.0 for legacy online**</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MongoDB 4.2 &amp; above for offline</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0" marR="0" lvl="1" algn="l" defTabSz="914400" rtl="0" eaLnBrk="1" fontAlgn="auto" latinLnBrk="0" hangingPunct="1">
              <a:lnSpc>
                <a:spcPct val="100000"/>
              </a:lnSpc>
              <a:spcBef>
                <a:spcPts val="0"/>
              </a:spcBef>
              <a:spcAft>
                <a:spcPts val="200"/>
              </a:spcAft>
              <a:buClrTx/>
              <a:buSzTx/>
              <a:buFontTx/>
              <a:buNone/>
              <a:tabLst/>
              <a:defRPr/>
            </a:pPr>
            <a:r>
              <a:rPr kumimoji="0" lang="en-US" sz="800" b="0" i="0" u="none" strike="noStrike" kern="0" cap="none" spc="0" normalizeH="0" baseline="0" noProof="0" dirty="0">
                <a:ln>
                  <a:noFill/>
                </a:ln>
                <a:solidFill>
                  <a:srgbClr val="000000"/>
                </a:solidFill>
                <a:effectLst/>
                <a:uLnTx/>
                <a:uFillTx/>
                <a:ea typeface="+mn-ea"/>
                <a:cs typeface="Segoe Sans Text" pitchFamily="2" charset="0"/>
              </a:rPr>
              <a:t>* Source replica-set supported and source sharded cluster supported for online</a:t>
            </a:r>
          </a:p>
          <a:p>
            <a:pPr marL="0" marR="0" lvl="1" algn="l" defTabSz="914400" rtl="0" eaLnBrk="1" fontAlgn="auto" latinLnBrk="0" hangingPunct="1">
              <a:lnSpc>
                <a:spcPct val="100000"/>
              </a:lnSpc>
              <a:spcBef>
                <a:spcPts val="0"/>
              </a:spcBef>
              <a:spcAft>
                <a:spcPts val="200"/>
              </a:spcAft>
              <a:buClrTx/>
              <a:buSzTx/>
              <a:buFontTx/>
              <a:buNone/>
              <a:tabLst/>
              <a:defRPr/>
            </a:pPr>
            <a:r>
              <a:rPr kumimoji="0" lang="en-US" sz="800" b="0" i="0" u="none" strike="noStrike" kern="0" cap="none" spc="0" normalizeH="0" baseline="0" noProof="0" dirty="0">
                <a:ln>
                  <a:noFill/>
                </a:ln>
                <a:solidFill>
                  <a:srgbClr val="000000"/>
                </a:solidFill>
                <a:effectLst/>
                <a:uLnTx/>
                <a:uFillTx/>
                <a:ea typeface="+mn-ea"/>
                <a:cs typeface="Segoe Sans Text" pitchFamily="2" charset="0"/>
              </a:rPr>
              <a:t>** Source replica-set supported, </a:t>
            </a:r>
            <a:r>
              <a:rPr kumimoji="0" lang="en-US" sz="800" b="1" i="0" u="none" strike="noStrike" kern="0" cap="none" spc="0" normalizeH="0" baseline="0" noProof="0" dirty="0">
                <a:ln>
                  <a:noFill/>
                </a:ln>
                <a:solidFill>
                  <a:srgbClr val="000000"/>
                </a:solidFill>
                <a:effectLst/>
                <a:uLnTx/>
                <a:uFillTx/>
                <a:ea typeface="+mn-ea"/>
                <a:cs typeface="Segoe Sans Text" pitchFamily="2" charset="0"/>
              </a:rPr>
              <a:t>No</a:t>
            </a:r>
            <a:r>
              <a:rPr kumimoji="0" lang="en-US" sz="800" b="0" i="0" u="none" strike="noStrike" kern="0" cap="none" spc="0" normalizeH="0" baseline="0" noProof="0" dirty="0">
                <a:ln>
                  <a:noFill/>
                </a:ln>
                <a:solidFill>
                  <a:srgbClr val="000000"/>
                </a:solidFill>
                <a:effectLst/>
                <a:uLnTx/>
                <a:uFillTx/>
                <a:ea typeface="+mn-ea"/>
                <a:cs typeface="Segoe Sans Text" pitchFamily="2" charset="0"/>
              </a:rPr>
              <a:t> legacy support for source </a:t>
            </a:r>
            <a:r>
              <a:rPr kumimoji="0" lang="en-US" sz="800" b="0" i="0" u="none" strike="noStrike" kern="0" cap="none" spc="0" normalizeH="0" baseline="0" noProof="0" dirty="0">
                <a:ln>
                  <a:noFill/>
                </a:ln>
                <a:solidFill>
                  <a:schemeClr val="accent1"/>
                </a:solidFill>
                <a:effectLst/>
                <a:uLnTx/>
                <a:uFillTx/>
                <a:ea typeface="+mn-ea"/>
                <a:cs typeface="Segoe Sans Text" pitchFamily="2" charset="0"/>
                <a:hlinkClick r:id="rId8">
                  <a:extLst>
                    <a:ext uri="{A12FA001-AC4F-418D-AE19-62706E023703}">
                      <ahyp:hlinkClr xmlns:ahyp="http://schemas.microsoft.com/office/drawing/2018/hyperlinkcolor" val="tx"/>
                    </a:ext>
                  </a:extLst>
                </a:hlinkClick>
              </a:rPr>
              <a:t>sharded cluster</a:t>
            </a:r>
            <a:r>
              <a:rPr kumimoji="0" lang="en-US" sz="800" b="0" i="0" u="none" strike="noStrike" kern="0" cap="none" spc="0" normalizeH="0" baseline="0" noProof="0" dirty="0">
                <a:ln>
                  <a:noFill/>
                </a:ln>
                <a:solidFill>
                  <a:schemeClr val="accent1"/>
                </a:solidFill>
                <a:effectLst/>
                <a:uLnTx/>
                <a:uFillTx/>
                <a:ea typeface="+mn-ea"/>
                <a:cs typeface="Segoe Sans Text" pitchFamily="2" charset="0"/>
              </a:rPr>
              <a:t> </a:t>
            </a:r>
            <a:r>
              <a:rPr kumimoji="0" lang="en-US" sz="800" b="0" i="0" u="none" strike="noStrike" kern="0" cap="none" spc="0" normalizeH="0" baseline="0" noProof="0" dirty="0">
                <a:ln>
                  <a:noFill/>
                </a:ln>
                <a:solidFill>
                  <a:srgbClr val="000000"/>
                </a:solidFill>
                <a:effectLst/>
                <a:uLnTx/>
                <a:uFillTx/>
                <a:ea typeface="+mn-ea"/>
                <a:cs typeface="Segoe Sans Text" pitchFamily="2" charset="0"/>
              </a:rPr>
              <a:t>for online</a:t>
            </a:r>
            <a:r>
              <a:rPr kumimoji="0" lang="en-US" sz="800" b="0" i="0" u="none" strike="noStrike" kern="0" cap="none" spc="0" normalizeH="0" baseline="0" noProof="0" dirty="0">
                <a:ln>
                  <a:noFill/>
                </a:ln>
                <a:solidFill>
                  <a:srgbClr val="000000"/>
                </a:solidFill>
                <a:effectLst/>
                <a:uLnTx/>
                <a:uFillTx/>
                <a:ea typeface="+mn-ea"/>
                <a:cs typeface="Segoe Sans Text" pitchFamily="2" charset="0"/>
                <a:hlinkClick r:id="rId8"/>
              </a:rPr>
              <a:t> </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p:txBody>
      </p:sp>
      <p:sp>
        <p:nvSpPr>
          <p:cNvPr id="23" name="Rectangle 22">
            <a:extLst>
              <a:ext uri="{FF2B5EF4-FFF2-40B4-BE49-F238E27FC236}">
                <a16:creationId xmlns:a16="http://schemas.microsoft.com/office/drawing/2014/main" id="{881B4E69-8A45-387B-4972-20148DD08111}"/>
              </a:ext>
              <a:ext uri="{C183D7F6-B498-43B3-948B-1728B52AA6E4}">
                <adec:decorative xmlns:adec="http://schemas.microsoft.com/office/drawing/2017/decorative" val="1"/>
              </a:ext>
            </a:extLst>
          </p:cNvPr>
          <p:cNvSpPr>
            <a:spLocks/>
          </p:cNvSpPr>
          <p:nvPr/>
        </p:nvSpPr>
        <p:spPr bwMode="auto">
          <a:xfrm flipH="1">
            <a:off x="6390646" y="1984139"/>
            <a:ext cx="45719" cy="4080252"/>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24" name="Oval 23">
            <a:extLst>
              <a:ext uri="{FF2B5EF4-FFF2-40B4-BE49-F238E27FC236}">
                <a16:creationId xmlns:a16="http://schemas.microsoft.com/office/drawing/2014/main" id="{62873863-77A1-E0AC-F010-09F4C9025AE2}"/>
              </a:ext>
              <a:ext uri="{C183D7F6-B498-43B3-948B-1728B52AA6E4}">
                <adec:decorative xmlns:adec="http://schemas.microsoft.com/office/drawing/2017/decorative" val="1"/>
              </a:ext>
            </a:extLst>
          </p:cNvPr>
          <p:cNvSpPr/>
          <p:nvPr/>
        </p:nvSpPr>
        <p:spPr bwMode="auto">
          <a:xfrm>
            <a:off x="6346127" y="3751480"/>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5" name="Oval 24">
            <a:extLst>
              <a:ext uri="{FF2B5EF4-FFF2-40B4-BE49-F238E27FC236}">
                <a16:creationId xmlns:a16="http://schemas.microsoft.com/office/drawing/2014/main" id="{4F1C47D9-E054-546B-40FB-F87CFECB534E}"/>
              </a:ext>
              <a:ext uri="{C183D7F6-B498-43B3-948B-1728B52AA6E4}">
                <adec:decorative xmlns:adec="http://schemas.microsoft.com/office/drawing/2017/decorative" val="1"/>
              </a:ext>
            </a:extLst>
          </p:cNvPr>
          <p:cNvSpPr/>
          <p:nvPr/>
        </p:nvSpPr>
        <p:spPr bwMode="auto">
          <a:xfrm>
            <a:off x="6350889" y="200303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6" name="Oval 25">
            <a:extLst>
              <a:ext uri="{FF2B5EF4-FFF2-40B4-BE49-F238E27FC236}">
                <a16:creationId xmlns:a16="http://schemas.microsoft.com/office/drawing/2014/main" id="{E9DADE3B-1539-5FB4-F20A-8D72ED8FC028}"/>
              </a:ext>
              <a:ext uri="{C183D7F6-B498-43B3-948B-1728B52AA6E4}">
                <adec:decorative xmlns:adec="http://schemas.microsoft.com/office/drawing/2017/decorative" val="1"/>
              </a:ext>
            </a:extLst>
          </p:cNvPr>
          <p:cNvSpPr/>
          <p:nvPr/>
        </p:nvSpPr>
        <p:spPr bwMode="auto">
          <a:xfrm>
            <a:off x="6350889" y="430027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8" name="Oval 27">
            <a:extLst>
              <a:ext uri="{FF2B5EF4-FFF2-40B4-BE49-F238E27FC236}">
                <a16:creationId xmlns:a16="http://schemas.microsoft.com/office/drawing/2014/main" id="{71089066-FCB2-6725-69D0-D40FA9D6DD80}"/>
              </a:ext>
              <a:ext uri="{C183D7F6-B498-43B3-948B-1728B52AA6E4}">
                <adec:decorative xmlns:adec="http://schemas.microsoft.com/office/drawing/2017/decorative" val="1"/>
              </a:ext>
            </a:extLst>
          </p:cNvPr>
          <p:cNvSpPr/>
          <p:nvPr/>
        </p:nvSpPr>
        <p:spPr bwMode="auto">
          <a:xfrm>
            <a:off x="6350889" y="4581304"/>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9" name="Oval 28">
            <a:extLst>
              <a:ext uri="{FF2B5EF4-FFF2-40B4-BE49-F238E27FC236}">
                <a16:creationId xmlns:a16="http://schemas.microsoft.com/office/drawing/2014/main" id="{C6F383F9-FCDB-3125-A1CC-74652B18E420}"/>
              </a:ext>
              <a:ext uri="{C183D7F6-B498-43B3-948B-1728B52AA6E4}">
                <adec:decorative xmlns:adec="http://schemas.microsoft.com/office/drawing/2017/decorative" val="1"/>
              </a:ext>
            </a:extLst>
          </p:cNvPr>
          <p:cNvSpPr/>
          <p:nvPr/>
        </p:nvSpPr>
        <p:spPr bwMode="auto">
          <a:xfrm>
            <a:off x="6350889" y="542387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0" name="Oval 29">
            <a:extLst>
              <a:ext uri="{FF2B5EF4-FFF2-40B4-BE49-F238E27FC236}">
                <a16:creationId xmlns:a16="http://schemas.microsoft.com/office/drawing/2014/main" id="{3C8739B3-09BB-0CDB-5C21-9B6D67DAA949}"/>
              </a:ext>
              <a:ext uri="{C183D7F6-B498-43B3-948B-1728B52AA6E4}">
                <adec:decorative xmlns:adec="http://schemas.microsoft.com/office/drawing/2017/decorative" val="1"/>
              </a:ext>
            </a:extLst>
          </p:cNvPr>
          <p:cNvSpPr/>
          <p:nvPr/>
        </p:nvSpPr>
        <p:spPr bwMode="auto">
          <a:xfrm>
            <a:off x="6350889" y="598053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1" name="Oval 30">
            <a:extLst>
              <a:ext uri="{FF2B5EF4-FFF2-40B4-BE49-F238E27FC236}">
                <a16:creationId xmlns:a16="http://schemas.microsoft.com/office/drawing/2014/main" id="{86014524-527F-97B3-C5B3-0273830DEB0D}"/>
              </a:ext>
              <a:ext uri="{C183D7F6-B498-43B3-948B-1728B52AA6E4}">
                <adec:decorative xmlns:adec="http://schemas.microsoft.com/office/drawing/2017/decorative" val="1"/>
              </a:ext>
            </a:extLst>
          </p:cNvPr>
          <p:cNvSpPr/>
          <p:nvPr/>
        </p:nvSpPr>
        <p:spPr bwMode="auto">
          <a:xfrm>
            <a:off x="6350889" y="2468716"/>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2" name="Oval 31">
            <a:extLst>
              <a:ext uri="{FF2B5EF4-FFF2-40B4-BE49-F238E27FC236}">
                <a16:creationId xmlns:a16="http://schemas.microsoft.com/office/drawing/2014/main" id="{111ABA5F-D948-438F-06AF-ADE59146B411}"/>
              </a:ext>
              <a:ext uri="{C183D7F6-B498-43B3-948B-1728B52AA6E4}">
                <adec:decorative xmlns:adec="http://schemas.microsoft.com/office/drawing/2017/decorative" val="1"/>
              </a:ext>
            </a:extLst>
          </p:cNvPr>
          <p:cNvSpPr/>
          <p:nvPr/>
        </p:nvSpPr>
        <p:spPr bwMode="auto">
          <a:xfrm>
            <a:off x="6350889" y="274293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3" name="Oval 32">
            <a:extLst>
              <a:ext uri="{FF2B5EF4-FFF2-40B4-BE49-F238E27FC236}">
                <a16:creationId xmlns:a16="http://schemas.microsoft.com/office/drawing/2014/main" id="{006DA5D6-5E05-2A7B-7577-458CAF5E6825}"/>
              </a:ext>
              <a:ext uri="{C183D7F6-B498-43B3-948B-1728B52AA6E4}">
                <adec:decorative xmlns:adec="http://schemas.microsoft.com/office/drawing/2017/decorative" val="1"/>
              </a:ext>
            </a:extLst>
          </p:cNvPr>
          <p:cNvSpPr/>
          <p:nvPr/>
        </p:nvSpPr>
        <p:spPr bwMode="auto">
          <a:xfrm>
            <a:off x="6350889" y="487386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4" name="Oval 33">
            <a:extLst>
              <a:ext uri="{FF2B5EF4-FFF2-40B4-BE49-F238E27FC236}">
                <a16:creationId xmlns:a16="http://schemas.microsoft.com/office/drawing/2014/main" id="{D4D5684B-ACA4-9AC5-505A-489A48599C5F}"/>
              </a:ext>
              <a:ext uri="{C183D7F6-B498-43B3-948B-1728B52AA6E4}">
                <adec:decorative xmlns:adec="http://schemas.microsoft.com/office/drawing/2017/decorative" val="1"/>
              </a:ext>
            </a:extLst>
          </p:cNvPr>
          <p:cNvSpPr/>
          <p:nvPr/>
        </p:nvSpPr>
        <p:spPr bwMode="auto">
          <a:xfrm>
            <a:off x="6350889" y="5148869"/>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5" name="Oval 34">
            <a:extLst>
              <a:ext uri="{FF2B5EF4-FFF2-40B4-BE49-F238E27FC236}">
                <a16:creationId xmlns:a16="http://schemas.microsoft.com/office/drawing/2014/main" id="{DA545FAC-7A8F-9D97-B9A4-4B62E023C67D}"/>
              </a:ext>
              <a:ext uri="{C183D7F6-B498-43B3-948B-1728B52AA6E4}">
                <adec:decorative xmlns:adec="http://schemas.microsoft.com/office/drawing/2017/decorative" val="1"/>
              </a:ext>
            </a:extLst>
          </p:cNvPr>
          <p:cNvSpPr/>
          <p:nvPr/>
        </p:nvSpPr>
        <p:spPr bwMode="auto">
          <a:xfrm>
            <a:off x="6350889" y="3023066"/>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6" name="Oval 35">
            <a:extLst>
              <a:ext uri="{FF2B5EF4-FFF2-40B4-BE49-F238E27FC236}">
                <a16:creationId xmlns:a16="http://schemas.microsoft.com/office/drawing/2014/main" id="{35E02730-78FC-F770-D6EB-FCC815BF92D4}"/>
              </a:ext>
              <a:ext uri="{C183D7F6-B498-43B3-948B-1728B52AA6E4}">
                <adec:decorative xmlns:adec="http://schemas.microsoft.com/office/drawing/2017/decorative" val="1"/>
              </a:ext>
            </a:extLst>
          </p:cNvPr>
          <p:cNvSpPr/>
          <p:nvPr/>
        </p:nvSpPr>
        <p:spPr bwMode="auto">
          <a:xfrm>
            <a:off x="6350889" y="346677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7" name="Oval 36">
            <a:extLst>
              <a:ext uri="{FF2B5EF4-FFF2-40B4-BE49-F238E27FC236}">
                <a16:creationId xmlns:a16="http://schemas.microsoft.com/office/drawing/2014/main" id="{7980A3A9-0D86-01D3-1D82-A9B52FD72785}"/>
              </a:ext>
              <a:ext uri="{C183D7F6-B498-43B3-948B-1728B52AA6E4}">
                <adec:decorative xmlns:adec="http://schemas.microsoft.com/office/drawing/2017/decorative" val="1"/>
              </a:ext>
            </a:extLst>
          </p:cNvPr>
          <p:cNvSpPr/>
          <p:nvPr/>
        </p:nvSpPr>
        <p:spPr bwMode="auto">
          <a:xfrm>
            <a:off x="6350889" y="4012908"/>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38" name="Straight Connector 37">
            <a:extLst>
              <a:ext uri="{FF2B5EF4-FFF2-40B4-BE49-F238E27FC236}">
                <a16:creationId xmlns:a16="http://schemas.microsoft.com/office/drawing/2014/main" id="{CE5CA44C-BFF7-08E7-2899-886AD073ED4D}"/>
              </a:ext>
              <a:ext uri="{C183D7F6-B498-43B3-948B-1728B52AA6E4}">
                <adec:decorative xmlns:adec="http://schemas.microsoft.com/office/drawing/2017/decorative" val="1"/>
              </a:ext>
            </a:extLst>
          </p:cNvPr>
          <p:cNvCxnSpPr>
            <a:cxnSpLocks/>
          </p:cNvCxnSpPr>
          <p:nvPr/>
        </p:nvCxnSpPr>
        <p:spPr>
          <a:xfrm>
            <a:off x="6653469" y="239761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8C89F9A-3427-676D-6473-A4BBF3C26DAA}"/>
              </a:ext>
              <a:ext uri="{C183D7F6-B498-43B3-948B-1728B52AA6E4}">
                <adec:decorative xmlns:adec="http://schemas.microsoft.com/office/drawing/2017/decorative" val="1"/>
              </a:ext>
            </a:extLst>
          </p:cNvPr>
          <p:cNvCxnSpPr>
            <a:cxnSpLocks/>
          </p:cNvCxnSpPr>
          <p:nvPr/>
        </p:nvCxnSpPr>
        <p:spPr>
          <a:xfrm>
            <a:off x="6653469" y="267901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6FE372B-8BB2-5C6D-342F-38FB886FE490}"/>
              </a:ext>
              <a:ext uri="{C183D7F6-B498-43B3-948B-1728B52AA6E4}">
                <adec:decorative xmlns:adec="http://schemas.microsoft.com/office/drawing/2017/decorative" val="1"/>
              </a:ext>
            </a:extLst>
          </p:cNvPr>
          <p:cNvCxnSpPr>
            <a:cxnSpLocks/>
          </p:cNvCxnSpPr>
          <p:nvPr/>
        </p:nvCxnSpPr>
        <p:spPr>
          <a:xfrm>
            <a:off x="6653469" y="296041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D5D9980-C775-C1DE-FCD4-207BC8584379}"/>
              </a:ext>
              <a:ext uri="{C183D7F6-B498-43B3-948B-1728B52AA6E4}">
                <adec:decorative xmlns:adec="http://schemas.microsoft.com/office/drawing/2017/decorative" val="1"/>
              </a:ext>
            </a:extLst>
          </p:cNvPr>
          <p:cNvCxnSpPr>
            <a:cxnSpLocks/>
          </p:cNvCxnSpPr>
          <p:nvPr/>
        </p:nvCxnSpPr>
        <p:spPr>
          <a:xfrm>
            <a:off x="6653469" y="340340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01403A5-C323-933B-2F3B-D21B0DA3CD12}"/>
              </a:ext>
              <a:ext uri="{C183D7F6-B498-43B3-948B-1728B52AA6E4}">
                <adec:decorative xmlns:adec="http://schemas.microsoft.com/office/drawing/2017/decorative" val="1"/>
              </a:ext>
            </a:extLst>
          </p:cNvPr>
          <p:cNvCxnSpPr>
            <a:cxnSpLocks/>
          </p:cNvCxnSpPr>
          <p:nvPr/>
        </p:nvCxnSpPr>
        <p:spPr>
          <a:xfrm>
            <a:off x="6653469" y="368480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8E38F6F-1DC1-C085-E2D0-F8F95B30407F}"/>
              </a:ext>
              <a:ext uri="{C183D7F6-B498-43B3-948B-1728B52AA6E4}">
                <adec:decorative xmlns:adec="http://schemas.microsoft.com/office/drawing/2017/decorative" val="1"/>
              </a:ext>
            </a:extLst>
          </p:cNvPr>
          <p:cNvCxnSpPr>
            <a:cxnSpLocks/>
          </p:cNvCxnSpPr>
          <p:nvPr/>
        </p:nvCxnSpPr>
        <p:spPr>
          <a:xfrm>
            <a:off x="6653468" y="453648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D11EAF6-5798-0D57-9AAF-97C9994E99F4}"/>
              </a:ext>
              <a:ext uri="{C183D7F6-B498-43B3-948B-1728B52AA6E4}">
                <adec:decorative xmlns:adec="http://schemas.microsoft.com/office/drawing/2017/decorative" val="1"/>
              </a:ext>
            </a:extLst>
          </p:cNvPr>
          <p:cNvCxnSpPr>
            <a:cxnSpLocks/>
          </p:cNvCxnSpPr>
          <p:nvPr/>
        </p:nvCxnSpPr>
        <p:spPr>
          <a:xfrm>
            <a:off x="6653469" y="479501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4F1C510-641A-BA43-90B8-955553BB0B2D}"/>
              </a:ext>
              <a:ext uri="{C183D7F6-B498-43B3-948B-1728B52AA6E4}">
                <adec:decorative xmlns:adec="http://schemas.microsoft.com/office/drawing/2017/decorative" val="1"/>
              </a:ext>
            </a:extLst>
          </p:cNvPr>
          <p:cNvCxnSpPr>
            <a:cxnSpLocks/>
          </p:cNvCxnSpPr>
          <p:nvPr/>
        </p:nvCxnSpPr>
        <p:spPr>
          <a:xfrm>
            <a:off x="6653469" y="507641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F3DA428-7168-71C8-9635-A0DDA7C520BA}"/>
              </a:ext>
              <a:ext uri="{C183D7F6-B498-43B3-948B-1728B52AA6E4}">
                <adec:decorative xmlns:adec="http://schemas.microsoft.com/office/drawing/2017/decorative" val="1"/>
              </a:ext>
            </a:extLst>
          </p:cNvPr>
          <p:cNvCxnSpPr>
            <a:cxnSpLocks/>
          </p:cNvCxnSpPr>
          <p:nvPr/>
        </p:nvCxnSpPr>
        <p:spPr>
          <a:xfrm>
            <a:off x="6653469" y="535781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3376EB8-5013-C531-1AE0-E871F9EF48EB}"/>
              </a:ext>
              <a:ext uri="{C183D7F6-B498-43B3-948B-1728B52AA6E4}">
                <adec:decorative xmlns:adec="http://schemas.microsoft.com/office/drawing/2017/decorative" val="1"/>
              </a:ext>
            </a:extLst>
          </p:cNvPr>
          <p:cNvCxnSpPr>
            <a:cxnSpLocks/>
          </p:cNvCxnSpPr>
          <p:nvPr/>
        </p:nvCxnSpPr>
        <p:spPr>
          <a:xfrm>
            <a:off x="6653469" y="563922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2F4C5BE-37B3-3C66-93E5-07002F4ECBF1}"/>
              </a:ext>
              <a:ext uri="{C183D7F6-B498-43B3-948B-1728B52AA6E4}">
                <adec:decorative xmlns:adec="http://schemas.microsoft.com/office/drawing/2017/decorative" val="1"/>
              </a:ext>
            </a:extLst>
          </p:cNvPr>
          <p:cNvCxnSpPr>
            <a:cxnSpLocks/>
          </p:cNvCxnSpPr>
          <p:nvPr/>
        </p:nvCxnSpPr>
        <p:spPr>
          <a:xfrm>
            <a:off x="6653469" y="592062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7729682-F157-610E-37A0-A92707E657B5}"/>
              </a:ext>
              <a:ext uri="{C183D7F6-B498-43B3-948B-1728B52AA6E4}">
                <adec:decorative xmlns:adec="http://schemas.microsoft.com/office/drawing/2017/decorative" val="1"/>
              </a:ext>
            </a:extLst>
          </p:cNvPr>
          <p:cNvCxnSpPr>
            <a:cxnSpLocks/>
          </p:cNvCxnSpPr>
          <p:nvPr/>
        </p:nvCxnSpPr>
        <p:spPr>
          <a:xfrm>
            <a:off x="6653469" y="395850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189109E9-8AC3-6886-E0FB-C6D11E9E1D0E}"/>
              </a:ext>
            </a:extLst>
          </p:cNvPr>
          <p:cNvSpPr txBox="1"/>
          <p:nvPr/>
        </p:nvSpPr>
        <p:spPr>
          <a:xfrm>
            <a:off x="6653469" y="2014543"/>
            <a:ext cx="4914576"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Customer is responsible for testing of dependencies, apps performance testing </a:t>
            </a:r>
            <a:b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b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&amp; functional testing (e.g., applications, mapped databases).</a:t>
            </a:r>
          </a:p>
        </p:txBody>
      </p:sp>
      <p:sp>
        <p:nvSpPr>
          <p:cNvPr id="51" name="TextBox 50">
            <a:extLst>
              <a:ext uri="{FF2B5EF4-FFF2-40B4-BE49-F238E27FC236}">
                <a16:creationId xmlns:a16="http://schemas.microsoft.com/office/drawing/2014/main" id="{EB09C1E9-0490-AEA7-EE16-25A544D03896}"/>
              </a:ext>
            </a:extLst>
          </p:cNvPr>
          <p:cNvSpPr txBox="1"/>
          <p:nvPr/>
        </p:nvSpPr>
        <p:spPr>
          <a:xfrm>
            <a:off x="6653469" y="245752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Advisory services and consulting</a:t>
            </a:r>
          </a:p>
        </p:txBody>
      </p:sp>
      <p:sp>
        <p:nvSpPr>
          <p:cNvPr id="52" name="TextBox 51">
            <a:extLst>
              <a:ext uri="{FF2B5EF4-FFF2-40B4-BE49-F238E27FC236}">
                <a16:creationId xmlns:a16="http://schemas.microsoft.com/office/drawing/2014/main" id="{F6BDF61F-4788-529A-64C6-F1B52D378059}"/>
              </a:ext>
            </a:extLst>
          </p:cNvPr>
          <p:cNvSpPr txBox="1"/>
          <p:nvPr/>
        </p:nvSpPr>
        <p:spPr>
          <a:xfrm>
            <a:off x="6653469" y="2738927"/>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Any changes in the source (any time) and target environments (after handover)</a:t>
            </a:r>
          </a:p>
        </p:txBody>
      </p:sp>
      <p:sp>
        <p:nvSpPr>
          <p:cNvPr id="53" name="TextBox 52">
            <a:extLst>
              <a:ext uri="{FF2B5EF4-FFF2-40B4-BE49-F238E27FC236}">
                <a16:creationId xmlns:a16="http://schemas.microsoft.com/office/drawing/2014/main" id="{9A951CD5-F8F0-C712-662A-38AFAD24EC9D}"/>
              </a:ext>
            </a:extLst>
          </p:cNvPr>
          <p:cNvSpPr txBox="1"/>
          <p:nvPr/>
        </p:nvSpPr>
        <p:spPr>
          <a:xfrm>
            <a:off x="6653469" y="3020328"/>
            <a:ext cx="4914576"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Any application/services related configurations and testing </a:t>
            </a:r>
            <a:b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b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(pre- and post-migration)</a:t>
            </a:r>
          </a:p>
        </p:txBody>
      </p:sp>
      <p:sp>
        <p:nvSpPr>
          <p:cNvPr id="54" name="TextBox 53">
            <a:extLst>
              <a:ext uri="{FF2B5EF4-FFF2-40B4-BE49-F238E27FC236}">
                <a16:creationId xmlns:a16="http://schemas.microsoft.com/office/drawing/2014/main" id="{6B6CF2EA-BE8F-8A46-BB4D-EFFC5BFDE0C7}"/>
              </a:ext>
            </a:extLst>
          </p:cNvPr>
          <p:cNvSpPr txBox="1"/>
          <p:nvPr/>
        </p:nvSpPr>
        <p:spPr>
          <a:xfrm>
            <a:off x="6653469" y="3463311"/>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Performing and configuring backups, monitoring and alerts (pre- and post-migration)</a:t>
            </a:r>
          </a:p>
        </p:txBody>
      </p:sp>
      <p:sp>
        <p:nvSpPr>
          <p:cNvPr id="55" name="TextBox 54">
            <a:extLst>
              <a:ext uri="{FF2B5EF4-FFF2-40B4-BE49-F238E27FC236}">
                <a16:creationId xmlns:a16="http://schemas.microsoft.com/office/drawing/2014/main" id="{9ED02B90-24D2-44B4-1260-5115AA33F2C1}"/>
              </a:ext>
            </a:extLst>
          </p:cNvPr>
          <p:cNvSpPr txBox="1"/>
          <p:nvPr/>
        </p:nvSpPr>
        <p:spPr>
          <a:xfrm>
            <a:off x="6653469" y="3744712"/>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Architectural design and discussion for HA/DR</a:t>
            </a:r>
          </a:p>
        </p:txBody>
      </p:sp>
      <p:sp>
        <p:nvSpPr>
          <p:cNvPr id="56" name="TextBox 55">
            <a:extLst>
              <a:ext uri="{FF2B5EF4-FFF2-40B4-BE49-F238E27FC236}">
                <a16:creationId xmlns:a16="http://schemas.microsoft.com/office/drawing/2014/main" id="{9F7FFD3E-8F01-2868-B186-E00F7BE58433}"/>
              </a:ext>
            </a:extLst>
          </p:cNvPr>
          <p:cNvSpPr txBox="1"/>
          <p:nvPr/>
        </p:nvSpPr>
        <p:spPr>
          <a:xfrm>
            <a:off x="6653469" y="401841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HA/DR testing </a:t>
            </a:r>
          </a:p>
        </p:txBody>
      </p:sp>
      <p:sp>
        <p:nvSpPr>
          <p:cNvPr id="57" name="TextBox 56">
            <a:extLst>
              <a:ext uri="{FF2B5EF4-FFF2-40B4-BE49-F238E27FC236}">
                <a16:creationId xmlns:a16="http://schemas.microsoft.com/office/drawing/2014/main" id="{85B958FA-CA9A-7173-72B2-ACDAE855735F}"/>
              </a:ext>
            </a:extLst>
          </p:cNvPr>
          <p:cNvSpPr txBox="1"/>
          <p:nvPr/>
        </p:nvSpPr>
        <p:spPr>
          <a:xfrm>
            <a:off x="6653469" y="4292124"/>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Data archival solutions</a:t>
            </a:r>
          </a:p>
        </p:txBody>
      </p:sp>
      <p:sp>
        <p:nvSpPr>
          <p:cNvPr id="58" name="TextBox 57">
            <a:extLst>
              <a:ext uri="{FF2B5EF4-FFF2-40B4-BE49-F238E27FC236}">
                <a16:creationId xmlns:a16="http://schemas.microsoft.com/office/drawing/2014/main" id="{FDE349B0-D4F8-A0B5-06CF-5F1B2C39FE18}"/>
              </a:ext>
            </a:extLst>
          </p:cNvPr>
          <p:cNvSpPr txBox="1"/>
          <p:nvPr/>
        </p:nvSpPr>
        <p:spPr>
          <a:xfrm>
            <a:off x="6653469" y="4573525"/>
            <a:ext cx="4914576"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Multi-cloud setup and configuration</a:t>
            </a:r>
            <a:endPar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sp>
        <p:nvSpPr>
          <p:cNvPr id="59" name="TextBox 58">
            <a:extLst>
              <a:ext uri="{FF2B5EF4-FFF2-40B4-BE49-F238E27FC236}">
                <a16:creationId xmlns:a16="http://schemas.microsoft.com/office/drawing/2014/main" id="{8BD90A28-3BAA-A526-C1FE-31A08526032A}"/>
              </a:ext>
            </a:extLst>
          </p:cNvPr>
          <p:cNvSpPr txBox="1"/>
          <p:nvPr/>
        </p:nvSpPr>
        <p:spPr>
          <a:xfrm>
            <a:off x="6653469" y="4854926"/>
            <a:ext cx="4914576"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Database performance benchmarking/testing</a:t>
            </a:r>
          </a:p>
        </p:txBody>
      </p:sp>
      <p:sp>
        <p:nvSpPr>
          <p:cNvPr id="60" name="TextBox 59">
            <a:extLst>
              <a:ext uri="{FF2B5EF4-FFF2-40B4-BE49-F238E27FC236}">
                <a16:creationId xmlns:a16="http://schemas.microsoft.com/office/drawing/2014/main" id="{EF523EA8-040A-555E-91AA-B9F4BE60C212}"/>
              </a:ext>
            </a:extLst>
          </p:cNvPr>
          <p:cNvSpPr txBox="1"/>
          <p:nvPr/>
        </p:nvSpPr>
        <p:spPr>
          <a:xfrm>
            <a:off x="6653469" y="5136327"/>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Any target environment setup</a:t>
            </a:r>
          </a:p>
        </p:txBody>
      </p:sp>
      <p:sp>
        <p:nvSpPr>
          <p:cNvPr id="61" name="TextBox 60">
            <a:extLst>
              <a:ext uri="{FF2B5EF4-FFF2-40B4-BE49-F238E27FC236}">
                <a16:creationId xmlns:a16="http://schemas.microsoft.com/office/drawing/2014/main" id="{C0891098-649B-3F26-0817-B8AE82DC49B3}"/>
              </a:ext>
            </a:extLst>
          </p:cNvPr>
          <p:cNvSpPr txBox="1"/>
          <p:nvPr/>
        </p:nvSpPr>
        <p:spPr>
          <a:xfrm>
            <a:off x="6653469" y="541772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Third-party tools setup and configuration for MongoDB Atlas</a:t>
            </a:r>
          </a:p>
        </p:txBody>
      </p:sp>
      <p:sp>
        <p:nvSpPr>
          <p:cNvPr id="62" name="TextBox 61">
            <a:extLst>
              <a:ext uri="{FF2B5EF4-FFF2-40B4-BE49-F238E27FC236}">
                <a16:creationId xmlns:a16="http://schemas.microsoft.com/office/drawing/2014/main" id="{6A74134F-673C-0361-A8C9-684FE756E21A}"/>
              </a:ext>
            </a:extLst>
          </p:cNvPr>
          <p:cNvSpPr txBox="1"/>
          <p:nvPr/>
        </p:nvSpPr>
        <p:spPr>
          <a:xfrm>
            <a:off x="6653469" y="5699129"/>
            <a:ext cx="4914576"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MongoDB Server upgrade and patch management (in the source environment)</a:t>
            </a:r>
          </a:p>
        </p:txBody>
      </p:sp>
      <p:sp>
        <p:nvSpPr>
          <p:cNvPr id="63" name="TextBox 62">
            <a:extLst>
              <a:ext uri="{FF2B5EF4-FFF2-40B4-BE49-F238E27FC236}">
                <a16:creationId xmlns:a16="http://schemas.microsoft.com/office/drawing/2014/main" id="{A9B72A31-44CA-3B44-3B1E-7FE70DA1BC23}"/>
              </a:ext>
            </a:extLst>
          </p:cNvPr>
          <p:cNvSpPr txBox="1"/>
          <p:nvPr/>
        </p:nvSpPr>
        <p:spPr>
          <a:xfrm>
            <a:off x="6653469" y="5980535"/>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mn-cs"/>
              </a:rPr>
              <a:t>Any other migration path not listed in the scope</a:t>
            </a:r>
          </a:p>
        </p:txBody>
      </p:sp>
      <p:cxnSp>
        <p:nvCxnSpPr>
          <p:cNvPr id="64" name="Straight Connector 63">
            <a:extLst>
              <a:ext uri="{FF2B5EF4-FFF2-40B4-BE49-F238E27FC236}">
                <a16:creationId xmlns:a16="http://schemas.microsoft.com/office/drawing/2014/main" id="{EDBEA558-3194-9489-534E-4B9268D8CDE0}"/>
              </a:ext>
              <a:ext uri="{C183D7F6-B498-43B3-948B-1728B52AA6E4}">
                <adec:decorative xmlns:adec="http://schemas.microsoft.com/office/drawing/2017/decorative" val="1"/>
              </a:ext>
            </a:extLst>
          </p:cNvPr>
          <p:cNvCxnSpPr>
            <a:cxnSpLocks/>
          </p:cNvCxnSpPr>
          <p:nvPr/>
        </p:nvCxnSpPr>
        <p:spPr>
          <a:xfrm>
            <a:off x="6653469" y="423221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7E34505F-C621-0169-43DB-4394CAD6459B}"/>
              </a:ext>
              <a:ext uri="{C183D7F6-B498-43B3-948B-1728B52AA6E4}">
                <adec:decorative xmlns:adec="http://schemas.microsoft.com/office/drawing/2017/decorative" val="1"/>
              </a:ext>
            </a:extLst>
          </p:cNvPr>
          <p:cNvSpPr/>
          <p:nvPr/>
        </p:nvSpPr>
        <p:spPr bwMode="auto">
          <a:xfrm>
            <a:off x="6350889" y="5709744"/>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7" name="Oval 66">
            <a:extLst>
              <a:ext uri="{FF2B5EF4-FFF2-40B4-BE49-F238E27FC236}">
                <a16:creationId xmlns:a16="http://schemas.microsoft.com/office/drawing/2014/main" id="{A302AF89-C6C7-6125-8260-048CA602C2AE}"/>
              </a:ext>
            </a:extLst>
          </p:cNvPr>
          <p:cNvSpPr/>
          <p:nvPr/>
        </p:nvSpPr>
        <p:spPr bwMode="auto">
          <a:xfrm>
            <a:off x="6354405" y="199549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8" name="Oval 67">
            <a:extLst>
              <a:ext uri="{FF2B5EF4-FFF2-40B4-BE49-F238E27FC236}">
                <a16:creationId xmlns:a16="http://schemas.microsoft.com/office/drawing/2014/main" id="{E315BE35-A445-E3B3-57E4-3EF91DD7C9A2}"/>
              </a:ext>
            </a:extLst>
          </p:cNvPr>
          <p:cNvSpPr/>
          <p:nvPr/>
        </p:nvSpPr>
        <p:spPr bwMode="auto">
          <a:xfrm>
            <a:off x="6354405" y="247786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9" name="Oval 68">
            <a:extLst>
              <a:ext uri="{FF2B5EF4-FFF2-40B4-BE49-F238E27FC236}">
                <a16:creationId xmlns:a16="http://schemas.microsoft.com/office/drawing/2014/main" id="{ED01D18C-B89B-BE3E-900A-C95D40615A1B}"/>
              </a:ext>
            </a:extLst>
          </p:cNvPr>
          <p:cNvSpPr/>
          <p:nvPr/>
        </p:nvSpPr>
        <p:spPr bwMode="auto">
          <a:xfrm>
            <a:off x="6354405" y="273697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0" name="Oval 69">
            <a:extLst>
              <a:ext uri="{FF2B5EF4-FFF2-40B4-BE49-F238E27FC236}">
                <a16:creationId xmlns:a16="http://schemas.microsoft.com/office/drawing/2014/main" id="{8449C0A1-A0F7-0289-6DC4-5AF77F9139B5}"/>
              </a:ext>
            </a:extLst>
          </p:cNvPr>
          <p:cNvSpPr/>
          <p:nvPr/>
        </p:nvSpPr>
        <p:spPr bwMode="auto">
          <a:xfrm>
            <a:off x="6354405" y="30342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1" name="Oval 70">
            <a:extLst>
              <a:ext uri="{FF2B5EF4-FFF2-40B4-BE49-F238E27FC236}">
                <a16:creationId xmlns:a16="http://schemas.microsoft.com/office/drawing/2014/main" id="{A078D053-E45F-0E2B-8051-7853C9AB942E}"/>
              </a:ext>
            </a:extLst>
          </p:cNvPr>
          <p:cNvSpPr/>
          <p:nvPr/>
        </p:nvSpPr>
        <p:spPr bwMode="auto">
          <a:xfrm>
            <a:off x="6354405" y="345280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2" name="Oval 71">
            <a:extLst>
              <a:ext uri="{FF2B5EF4-FFF2-40B4-BE49-F238E27FC236}">
                <a16:creationId xmlns:a16="http://schemas.microsoft.com/office/drawing/2014/main" id="{E37E98A9-1828-F0C2-FF0F-506FB051393F}"/>
              </a:ext>
            </a:extLst>
          </p:cNvPr>
          <p:cNvSpPr/>
          <p:nvPr/>
        </p:nvSpPr>
        <p:spPr bwMode="auto">
          <a:xfrm>
            <a:off x="6354405" y="374216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3" name="Oval 72">
            <a:extLst>
              <a:ext uri="{FF2B5EF4-FFF2-40B4-BE49-F238E27FC236}">
                <a16:creationId xmlns:a16="http://schemas.microsoft.com/office/drawing/2014/main" id="{FC020D59-400B-3B0A-7A60-7C326FF0DAD6}"/>
              </a:ext>
            </a:extLst>
          </p:cNvPr>
          <p:cNvSpPr/>
          <p:nvPr/>
        </p:nvSpPr>
        <p:spPr bwMode="auto">
          <a:xfrm>
            <a:off x="6354405" y="401656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4" name="Oval 73">
            <a:extLst>
              <a:ext uri="{FF2B5EF4-FFF2-40B4-BE49-F238E27FC236}">
                <a16:creationId xmlns:a16="http://schemas.microsoft.com/office/drawing/2014/main" id="{97F62D04-A304-50B7-4780-998064F235EF}"/>
              </a:ext>
            </a:extLst>
          </p:cNvPr>
          <p:cNvSpPr/>
          <p:nvPr/>
        </p:nvSpPr>
        <p:spPr bwMode="auto">
          <a:xfrm>
            <a:off x="6354405" y="430522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5" name="Oval 74">
            <a:extLst>
              <a:ext uri="{FF2B5EF4-FFF2-40B4-BE49-F238E27FC236}">
                <a16:creationId xmlns:a16="http://schemas.microsoft.com/office/drawing/2014/main" id="{2202F833-D76F-DD04-A9B5-77D964A8E6AC}"/>
              </a:ext>
            </a:extLst>
          </p:cNvPr>
          <p:cNvSpPr/>
          <p:nvPr/>
        </p:nvSpPr>
        <p:spPr bwMode="auto">
          <a:xfrm>
            <a:off x="6354405" y="457282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6" name="Oval 75">
            <a:extLst>
              <a:ext uri="{FF2B5EF4-FFF2-40B4-BE49-F238E27FC236}">
                <a16:creationId xmlns:a16="http://schemas.microsoft.com/office/drawing/2014/main" id="{72EA316B-B583-4AF2-C180-48FA55D7341F}"/>
              </a:ext>
            </a:extLst>
          </p:cNvPr>
          <p:cNvSpPr/>
          <p:nvPr/>
        </p:nvSpPr>
        <p:spPr bwMode="auto">
          <a:xfrm>
            <a:off x="6354405" y="48621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7" name="Oval 76">
            <a:extLst>
              <a:ext uri="{FF2B5EF4-FFF2-40B4-BE49-F238E27FC236}">
                <a16:creationId xmlns:a16="http://schemas.microsoft.com/office/drawing/2014/main" id="{49211529-F652-6DA1-5380-E8EB76635BF1}"/>
              </a:ext>
            </a:extLst>
          </p:cNvPr>
          <p:cNvSpPr/>
          <p:nvPr/>
        </p:nvSpPr>
        <p:spPr bwMode="auto">
          <a:xfrm>
            <a:off x="6354405" y="515155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8" name="Oval 77">
            <a:extLst>
              <a:ext uri="{FF2B5EF4-FFF2-40B4-BE49-F238E27FC236}">
                <a16:creationId xmlns:a16="http://schemas.microsoft.com/office/drawing/2014/main" id="{44BA502C-F8D5-DAAA-3964-A457C28F0ADA}"/>
              </a:ext>
            </a:extLst>
          </p:cNvPr>
          <p:cNvSpPr/>
          <p:nvPr/>
        </p:nvSpPr>
        <p:spPr bwMode="auto">
          <a:xfrm>
            <a:off x="6354405" y="544091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9" name="Oval 78">
            <a:extLst>
              <a:ext uri="{FF2B5EF4-FFF2-40B4-BE49-F238E27FC236}">
                <a16:creationId xmlns:a16="http://schemas.microsoft.com/office/drawing/2014/main" id="{70B90C55-2E8F-CA48-1A61-D0C10A90731A}"/>
              </a:ext>
            </a:extLst>
          </p:cNvPr>
          <p:cNvSpPr/>
          <p:nvPr/>
        </p:nvSpPr>
        <p:spPr bwMode="auto">
          <a:xfrm>
            <a:off x="6354405" y="571592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0" name="Oval 79">
            <a:extLst>
              <a:ext uri="{FF2B5EF4-FFF2-40B4-BE49-F238E27FC236}">
                <a16:creationId xmlns:a16="http://schemas.microsoft.com/office/drawing/2014/main" id="{CC163AB2-E073-D988-E4F3-5090C73AD4DE}"/>
              </a:ext>
            </a:extLst>
          </p:cNvPr>
          <p:cNvSpPr/>
          <p:nvPr/>
        </p:nvSpPr>
        <p:spPr bwMode="auto">
          <a:xfrm>
            <a:off x="6354405" y="59758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1" name="Oval 80">
            <a:extLst>
              <a:ext uri="{FF2B5EF4-FFF2-40B4-BE49-F238E27FC236}">
                <a16:creationId xmlns:a16="http://schemas.microsoft.com/office/drawing/2014/main" id="{445A67F0-E784-371D-B881-D356FDE46D69}"/>
              </a:ext>
            </a:extLst>
          </p:cNvPr>
          <p:cNvSpPr/>
          <p:nvPr/>
        </p:nvSpPr>
        <p:spPr bwMode="auto">
          <a:xfrm>
            <a:off x="766768" y="412084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2" name="Oval 81">
            <a:extLst>
              <a:ext uri="{FF2B5EF4-FFF2-40B4-BE49-F238E27FC236}">
                <a16:creationId xmlns:a16="http://schemas.microsoft.com/office/drawing/2014/main" id="{1286C76F-4561-5B52-CA87-50A17F141C1D}"/>
              </a:ext>
            </a:extLst>
          </p:cNvPr>
          <p:cNvSpPr/>
          <p:nvPr/>
        </p:nvSpPr>
        <p:spPr bwMode="auto">
          <a:xfrm>
            <a:off x="751217" y="44862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3" name="Oval 82">
            <a:extLst>
              <a:ext uri="{FF2B5EF4-FFF2-40B4-BE49-F238E27FC236}">
                <a16:creationId xmlns:a16="http://schemas.microsoft.com/office/drawing/2014/main" id="{B6CD72BF-09BC-0498-0C72-0D66970FAB51}"/>
              </a:ext>
            </a:extLst>
          </p:cNvPr>
          <p:cNvSpPr/>
          <p:nvPr/>
        </p:nvSpPr>
        <p:spPr bwMode="auto">
          <a:xfrm>
            <a:off x="766768" y="345280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4" name="Oval 83">
            <a:extLst>
              <a:ext uri="{FF2B5EF4-FFF2-40B4-BE49-F238E27FC236}">
                <a16:creationId xmlns:a16="http://schemas.microsoft.com/office/drawing/2014/main" id="{C46A9BB6-E574-4CBD-6C0A-F419205E5640}"/>
              </a:ext>
            </a:extLst>
          </p:cNvPr>
          <p:cNvSpPr/>
          <p:nvPr/>
        </p:nvSpPr>
        <p:spPr bwMode="auto">
          <a:xfrm>
            <a:off x="766768" y="253303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5" name="Oval 84">
            <a:extLst>
              <a:ext uri="{FF2B5EF4-FFF2-40B4-BE49-F238E27FC236}">
                <a16:creationId xmlns:a16="http://schemas.microsoft.com/office/drawing/2014/main" id="{CF481747-88CD-B43D-D3DA-5C9E71B55BF0}"/>
              </a:ext>
            </a:extLst>
          </p:cNvPr>
          <p:cNvSpPr/>
          <p:nvPr/>
        </p:nvSpPr>
        <p:spPr bwMode="auto">
          <a:xfrm>
            <a:off x="766768" y="202107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6" name="TextBox 85">
            <a:extLst>
              <a:ext uri="{FF2B5EF4-FFF2-40B4-BE49-F238E27FC236}">
                <a16:creationId xmlns:a16="http://schemas.microsoft.com/office/drawing/2014/main" id="{4F9DED0F-A15F-0CCB-3F0D-A013A58DCB9B}"/>
              </a:ext>
            </a:extLst>
          </p:cNvPr>
          <p:cNvSpPr txBox="1"/>
          <p:nvPr/>
        </p:nvSpPr>
        <p:spPr>
          <a:xfrm>
            <a:off x="6346127" y="1709175"/>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87" name="TextBox 86">
            <a:extLst>
              <a:ext uri="{FF2B5EF4-FFF2-40B4-BE49-F238E27FC236}">
                <a16:creationId xmlns:a16="http://schemas.microsoft.com/office/drawing/2014/main" id="{3859B3F9-0EB9-2676-C37B-B1CC9256D06A}"/>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66" name="TextBox 65">
            <a:extLst>
              <a:ext uri="{FF2B5EF4-FFF2-40B4-BE49-F238E27FC236}">
                <a16:creationId xmlns:a16="http://schemas.microsoft.com/office/drawing/2014/main" id="{6E270B5E-B45C-C92F-9683-F56204F69BBC}"/>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436911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6" presetClass="emph" presetSubtype="0" fill="hold" grpId="1" nodeType="withEffect">
                                  <p:stCondLst>
                                    <p:cond delay="0"/>
                                  </p:stCondLst>
                                  <p:childTnLst>
                                    <p:animScale>
                                      <p:cBhvr>
                                        <p:cTn id="9" dur="100" fill="hold"/>
                                        <p:tgtEl>
                                          <p:spTgt spid="66"/>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6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66" grpId="2"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DA4F4-3130-6EFE-0C5D-CB2224C2DCCF}"/>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5C28788-DA21-76E0-C891-103850113580}"/>
              </a:ext>
            </a:extLst>
          </p:cNvPr>
          <p:cNvSpPr>
            <a:spLocks noGrp="1"/>
          </p:cNvSpPr>
          <p:nvPr>
            <p:ph type="title"/>
          </p:nvPr>
        </p:nvSpPr>
        <p:spPr>
          <a:xfrm>
            <a:off x="588963" y="315692"/>
            <a:ext cx="8651873" cy="461665"/>
          </a:xfrm>
        </p:spPr>
        <p:txBody>
          <a:bodyPr>
            <a:noAutofit/>
          </a:bodyPr>
          <a:lstStyle/>
          <a:p>
            <a:r>
              <a:rPr lang="en-US" sz="2400" noProof="0" dirty="0"/>
              <a:t>Database Modernization</a:t>
            </a:r>
          </a:p>
        </p:txBody>
      </p:sp>
      <p:sp>
        <p:nvSpPr>
          <p:cNvPr id="7" name="Rounded Rectangle 55">
            <a:extLst>
              <a:ext uri="{FF2B5EF4-FFF2-40B4-BE49-F238E27FC236}">
                <a16:creationId xmlns:a16="http://schemas.microsoft.com/office/drawing/2014/main" id="{74820ACC-44DC-B01F-0EA8-FC170018D2C0}"/>
              </a:ext>
              <a:ext uri="{C183D7F6-B498-43B3-948B-1728B52AA6E4}">
                <adec:decorative xmlns:adec="http://schemas.microsoft.com/office/drawing/2017/decorative" val="1"/>
              </a:ext>
            </a:extLst>
          </p:cNvPr>
          <p:cNvSpPr>
            <a:spLocks/>
          </p:cNvSpPr>
          <p:nvPr/>
        </p:nvSpPr>
        <p:spPr bwMode="auto">
          <a:xfrm>
            <a:off x="554697" y="1272540"/>
            <a:ext cx="5483813"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8" name="Rounded Rectangle 55">
            <a:extLst>
              <a:ext uri="{FF2B5EF4-FFF2-40B4-BE49-F238E27FC236}">
                <a16:creationId xmlns:a16="http://schemas.microsoft.com/office/drawing/2014/main" id="{9E9E8209-7439-B058-6A6F-BA578C23B618}"/>
              </a:ext>
              <a:ext uri="{C183D7F6-B498-43B3-948B-1728B52AA6E4}">
                <adec:decorative xmlns:adec="http://schemas.microsoft.com/office/drawing/2017/decorative" val="1"/>
              </a:ext>
            </a:extLst>
          </p:cNvPr>
          <p:cNvSpPr>
            <a:spLocks/>
          </p:cNvSpPr>
          <p:nvPr/>
        </p:nvSpPr>
        <p:spPr bwMode="auto">
          <a:xfrm>
            <a:off x="6102454" y="1272540"/>
            <a:ext cx="5583708"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 name="TextBox 4">
            <a:extLst>
              <a:ext uri="{FF2B5EF4-FFF2-40B4-BE49-F238E27FC236}">
                <a16:creationId xmlns:a16="http://schemas.microsoft.com/office/drawing/2014/main" id="{54005C39-B998-5BB1-E126-68A1F50AA7AC}"/>
              </a:ext>
            </a:extLst>
          </p:cNvPr>
          <p:cNvSpPr txBox="1">
            <a:spLocks/>
          </p:cNvSpPr>
          <p:nvPr/>
        </p:nvSpPr>
        <p:spPr>
          <a:xfrm>
            <a:off x="585787" y="1356831"/>
            <a:ext cx="5441528" cy="3492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15" name="TextBox 14">
            <a:extLst>
              <a:ext uri="{FF2B5EF4-FFF2-40B4-BE49-F238E27FC236}">
                <a16:creationId xmlns:a16="http://schemas.microsoft.com/office/drawing/2014/main" id="{5552C7F1-7525-F138-35E0-780FD49BD611}"/>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27" name="TextBox 26">
            <a:extLst>
              <a:ext uri="{FF2B5EF4-FFF2-40B4-BE49-F238E27FC236}">
                <a16:creationId xmlns:a16="http://schemas.microsoft.com/office/drawing/2014/main" id="{43B6E12E-A7C5-D10C-DB0B-D3FCD7BEF877}"/>
              </a:ext>
            </a:extLst>
          </p:cNvPr>
          <p:cNvSpPr txBox="1"/>
          <p:nvPr/>
        </p:nvSpPr>
        <p:spPr>
          <a:xfrm>
            <a:off x="554697" y="794821"/>
            <a:ext cx="6811818" cy="369332"/>
          </a:xfrm>
          <a:prstGeom prst="rect">
            <a:avLst/>
          </a:prstGeom>
          <a:noFill/>
        </p:spPr>
        <p:txBody>
          <a:bodyPr wrap="square">
            <a:spAutoFit/>
          </a:bodyPr>
          <a:lstStyle/>
          <a:p>
            <a:r>
              <a:rPr lang="en-US" noProof="0" dirty="0">
                <a:latin typeface="+mj-lt"/>
              </a:rPr>
              <a:t>Cassandra MI Migration</a:t>
            </a:r>
          </a:p>
        </p:txBody>
      </p:sp>
      <p:sp>
        <p:nvSpPr>
          <p:cNvPr id="2" name="Rectangle 1">
            <a:extLst>
              <a:ext uri="{FF2B5EF4-FFF2-40B4-BE49-F238E27FC236}">
                <a16:creationId xmlns:a16="http://schemas.microsoft.com/office/drawing/2014/main" id="{588105BE-276F-505F-41E4-EBB72D220AA3}"/>
              </a:ext>
              <a:ext uri="{C183D7F6-B498-43B3-948B-1728B52AA6E4}">
                <adec:decorative xmlns:adec="http://schemas.microsoft.com/office/drawing/2017/decorative" val="1"/>
              </a:ext>
            </a:extLst>
          </p:cNvPr>
          <p:cNvSpPr>
            <a:spLocks/>
          </p:cNvSpPr>
          <p:nvPr/>
        </p:nvSpPr>
        <p:spPr bwMode="auto">
          <a:xfrm>
            <a:off x="809016" y="2048091"/>
            <a:ext cx="45719" cy="254195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4" name="Oval 3">
            <a:extLst>
              <a:ext uri="{FF2B5EF4-FFF2-40B4-BE49-F238E27FC236}">
                <a16:creationId xmlns:a16="http://schemas.microsoft.com/office/drawing/2014/main" id="{F2076EF1-0632-66D9-D98E-922D97420F60}"/>
              </a:ext>
              <a:ext uri="{C183D7F6-B498-43B3-948B-1728B52AA6E4}">
                <adec:decorative xmlns:adec="http://schemas.microsoft.com/office/drawing/2017/decorative" val="1"/>
              </a:ext>
            </a:extLst>
          </p:cNvPr>
          <p:cNvSpPr/>
          <p:nvPr/>
        </p:nvSpPr>
        <p:spPr bwMode="auto">
          <a:xfrm>
            <a:off x="766598" y="200807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 name="Oval 5">
            <a:extLst>
              <a:ext uri="{FF2B5EF4-FFF2-40B4-BE49-F238E27FC236}">
                <a16:creationId xmlns:a16="http://schemas.microsoft.com/office/drawing/2014/main" id="{3F7D67A3-F66E-C2D3-8B2E-86DC9028F8F6}"/>
              </a:ext>
              <a:ext uri="{C183D7F6-B498-43B3-948B-1728B52AA6E4}">
                <adec:decorative xmlns:adec="http://schemas.microsoft.com/office/drawing/2017/decorative" val="1"/>
              </a:ext>
            </a:extLst>
          </p:cNvPr>
          <p:cNvSpPr/>
          <p:nvPr/>
        </p:nvSpPr>
        <p:spPr bwMode="auto">
          <a:xfrm>
            <a:off x="766598" y="254130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9" name="Oval 8">
            <a:extLst>
              <a:ext uri="{FF2B5EF4-FFF2-40B4-BE49-F238E27FC236}">
                <a16:creationId xmlns:a16="http://schemas.microsoft.com/office/drawing/2014/main" id="{F13CA133-AC8C-8A42-54EC-EE2BF3C2AB22}"/>
              </a:ext>
              <a:ext uri="{C183D7F6-B498-43B3-948B-1728B52AA6E4}">
                <adec:decorative xmlns:adec="http://schemas.microsoft.com/office/drawing/2017/decorative" val="1"/>
              </a:ext>
            </a:extLst>
          </p:cNvPr>
          <p:cNvSpPr/>
          <p:nvPr/>
        </p:nvSpPr>
        <p:spPr bwMode="auto">
          <a:xfrm>
            <a:off x="766598" y="412084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10" name="Straight Connector 9">
            <a:extLst>
              <a:ext uri="{FF2B5EF4-FFF2-40B4-BE49-F238E27FC236}">
                <a16:creationId xmlns:a16="http://schemas.microsoft.com/office/drawing/2014/main" id="{B9478A41-DD32-FADE-08A9-873E2DDD128A}"/>
              </a:ext>
              <a:ext uri="{C183D7F6-B498-43B3-948B-1728B52AA6E4}">
                <adec:decorative xmlns:adec="http://schemas.microsoft.com/office/drawing/2017/decorative" val="1"/>
              </a:ext>
            </a:extLst>
          </p:cNvPr>
          <p:cNvCxnSpPr>
            <a:cxnSpLocks/>
          </p:cNvCxnSpPr>
          <p:nvPr/>
        </p:nvCxnSpPr>
        <p:spPr>
          <a:xfrm>
            <a:off x="1020125" y="2436274"/>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A4B07A2-6681-1A24-AC76-201AAF33D7E6}"/>
              </a:ext>
            </a:extLst>
          </p:cNvPr>
          <p:cNvSpPr txBox="1"/>
          <p:nvPr/>
        </p:nvSpPr>
        <p:spPr>
          <a:xfrm>
            <a:off x="1078702" y="2015235"/>
            <a:ext cx="4535714" cy="32316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ea typeface="+mn-ea"/>
                <a:cs typeface="+mn-cs"/>
              </a:rPr>
              <a:t>On-premise Cassandra to Azure Managed Instance for Apache Cassandra migrations with near-zero code changes </a:t>
            </a:r>
          </a:p>
        </p:txBody>
      </p:sp>
      <p:sp>
        <p:nvSpPr>
          <p:cNvPr id="12" name="TextBox 11">
            <a:extLst>
              <a:ext uri="{FF2B5EF4-FFF2-40B4-BE49-F238E27FC236}">
                <a16:creationId xmlns:a16="http://schemas.microsoft.com/office/drawing/2014/main" id="{FDF35078-5467-1667-513D-9939C530D91A}"/>
              </a:ext>
            </a:extLst>
          </p:cNvPr>
          <p:cNvSpPr txBox="1"/>
          <p:nvPr/>
        </p:nvSpPr>
        <p:spPr>
          <a:xfrm>
            <a:off x="1078702" y="2534148"/>
            <a:ext cx="4914576" cy="70019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migration sources:</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Cassandra clusters on Linux or Windows VM in any Azure </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Cassandra clusters on Linux or Windows VM in other clouds (GCP, AWS) </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Cassandra clusters on Linux or Windows VM on-premises</a:t>
            </a:r>
          </a:p>
        </p:txBody>
      </p:sp>
      <p:sp>
        <p:nvSpPr>
          <p:cNvPr id="13" name="TextBox 12">
            <a:extLst>
              <a:ext uri="{FF2B5EF4-FFF2-40B4-BE49-F238E27FC236}">
                <a16:creationId xmlns:a16="http://schemas.microsoft.com/office/drawing/2014/main" id="{A57B7CAB-1AA7-3875-5C1E-1287D22F5B0F}"/>
              </a:ext>
            </a:extLst>
          </p:cNvPr>
          <p:cNvSpPr txBox="1"/>
          <p:nvPr/>
        </p:nvSpPr>
        <p:spPr>
          <a:xfrm>
            <a:off x="1078702" y="3430088"/>
            <a:ext cx="4914576" cy="49500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migration approaches:</a:t>
            </a:r>
          </a:p>
          <a:p>
            <a:pPr marL="174625" marR="0" lvl="0" indent="-174625"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0" cap="none" spc="0" normalizeH="0" baseline="0" noProof="0" dirty="0">
                <a:ln>
                  <a:noFill/>
                </a:ln>
                <a:solidFill>
                  <a:srgbClr val="000000"/>
                </a:solidFill>
                <a:effectLst/>
                <a:uLnTx/>
                <a:uFillTx/>
                <a:ea typeface="+mn-ea"/>
                <a:cs typeface="+mn-cs"/>
              </a:rPr>
              <a:t>Online migration using </a:t>
            </a:r>
            <a:r>
              <a:rPr kumimoji="0" lang="en-US" sz="1000" b="0" i="0" u="none" strike="noStrike" kern="0" cap="none" spc="0" normalizeH="0" baseline="0" noProof="0" dirty="0">
                <a:ln>
                  <a:noFill/>
                </a:ln>
                <a:solidFill>
                  <a:schemeClr val="accent1"/>
                </a:solidFill>
                <a:effectLst/>
                <a:uLnTx/>
                <a:uFillTx/>
                <a:ea typeface="+mn-ea"/>
                <a:cs typeface="+mn-cs"/>
                <a:hlinkClick r:id="rId4">
                  <a:extLst>
                    <a:ext uri="{A12FA001-AC4F-418D-AE19-62706E023703}">
                      <ahyp:hlinkClr xmlns:ahyp="http://schemas.microsoft.com/office/drawing/2018/hyperlinkcolor" val="tx"/>
                    </a:ext>
                  </a:extLst>
                </a:hlinkClick>
              </a:rPr>
              <a:t>hybrid</a:t>
            </a:r>
            <a:r>
              <a:rPr kumimoji="0" lang="en-US" sz="1000" b="0" i="0" u="none" strike="noStrike" kern="0" cap="none" spc="0" normalizeH="0" baseline="0" noProof="0" dirty="0">
                <a:ln>
                  <a:noFill/>
                </a:ln>
                <a:solidFill>
                  <a:srgbClr val="000000"/>
                </a:solidFill>
                <a:effectLst/>
                <a:uLnTx/>
                <a:uFillTx/>
                <a:ea typeface="+mn-ea"/>
                <a:cs typeface="+mn-cs"/>
              </a:rPr>
              <a:t> cluster/</a:t>
            </a:r>
            <a:r>
              <a:rPr kumimoji="0" lang="en-US" sz="1000" b="0" i="0" u="none" strike="noStrike" kern="0" cap="none" spc="0" normalizeH="0" baseline="0" noProof="0" dirty="0">
                <a:ln>
                  <a:noFill/>
                </a:ln>
                <a:solidFill>
                  <a:schemeClr val="accent1"/>
                </a:solidFill>
                <a:effectLst/>
                <a:uLnTx/>
                <a:uFillTx/>
                <a:ea typeface="+mn-ea"/>
                <a:cs typeface="+mn-cs"/>
                <a:hlinkClick r:id="rId5">
                  <a:extLst>
                    <a:ext uri="{A12FA001-AC4F-418D-AE19-62706E023703}">
                      <ahyp:hlinkClr xmlns:ahyp="http://schemas.microsoft.com/office/drawing/2018/hyperlinkcolor" val="tx"/>
                    </a:ext>
                  </a:extLst>
                </a:hlinkClick>
              </a:rPr>
              <a:t>dual-write</a:t>
            </a:r>
            <a:r>
              <a:rPr kumimoji="0" lang="en-US" sz="1000" b="0" i="0" u="none" strike="noStrike" kern="0" cap="none" spc="0" normalizeH="0" baseline="0" noProof="0" dirty="0">
                <a:ln>
                  <a:noFill/>
                </a:ln>
                <a:solidFill>
                  <a:srgbClr val="000000"/>
                </a:solidFill>
                <a:effectLst/>
                <a:uLnTx/>
                <a:uFillTx/>
                <a:ea typeface="+mn-ea"/>
                <a:cs typeface="+mn-cs"/>
              </a:rPr>
              <a:t> proxy approach </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74625" marR="0" lvl="0" indent="-174625"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0" cap="none" spc="0" normalizeH="0" baseline="0" noProof="0" dirty="0">
                <a:ln>
                  <a:noFill/>
                </a:ln>
                <a:solidFill>
                  <a:srgbClr val="000000"/>
                </a:solidFill>
                <a:effectLst/>
                <a:uLnTx/>
                <a:uFillTx/>
                <a:ea typeface="+mn-ea"/>
                <a:cs typeface="+mn-cs"/>
              </a:rPr>
              <a:t>Offline migration using </a:t>
            </a:r>
            <a:r>
              <a:rPr kumimoji="0" lang="en-US" sz="1000" b="0" i="0" u="none" strike="noStrike" kern="0" cap="none" spc="0" normalizeH="0" baseline="0" noProof="0" dirty="0">
                <a:ln>
                  <a:noFill/>
                </a:ln>
                <a:solidFill>
                  <a:schemeClr val="accent1"/>
                </a:solidFill>
                <a:effectLst/>
                <a:uLnTx/>
                <a:uFillTx/>
                <a:ea typeface="+mn-ea"/>
                <a:cs typeface="+mn-cs"/>
                <a:hlinkClick r:id="rId6">
                  <a:extLst>
                    <a:ext uri="{A12FA001-AC4F-418D-AE19-62706E023703}">
                      <ahyp:hlinkClr xmlns:ahyp="http://schemas.microsoft.com/office/drawing/2018/hyperlinkcolor" val="tx"/>
                    </a:ext>
                  </a:extLst>
                </a:hlinkClick>
              </a:rPr>
              <a:t>Apache Spark</a:t>
            </a:r>
            <a:r>
              <a:rPr kumimoji="0" lang="en-US" sz="1000" b="0" i="0" u="none" strike="noStrike" kern="0" cap="none" spc="0" normalizeH="0" baseline="0" noProof="0" dirty="0">
                <a:ln>
                  <a:noFill/>
                </a:ln>
                <a:solidFill>
                  <a:schemeClr val="accent1"/>
                </a:solidFill>
                <a:effectLst/>
                <a:uLnTx/>
                <a:uFillTx/>
                <a:ea typeface="+mn-ea"/>
                <a:cs typeface="+mn-cs"/>
              </a:rPr>
              <a:t> </a:t>
            </a:r>
            <a:r>
              <a:rPr kumimoji="0" lang="en-US" sz="1000" b="0" i="0" u="none" strike="noStrike" kern="0" cap="none" spc="0" normalizeH="0" baseline="0" noProof="0" dirty="0">
                <a:ln>
                  <a:noFill/>
                </a:ln>
                <a:solidFill>
                  <a:srgbClr val="000000"/>
                </a:solidFill>
                <a:effectLst/>
                <a:uLnTx/>
                <a:uFillTx/>
                <a:ea typeface="+mn-ea"/>
                <a:cs typeface="+mn-cs"/>
              </a:rPr>
              <a:t>approach </a:t>
            </a:r>
          </a:p>
        </p:txBody>
      </p:sp>
      <p:sp>
        <p:nvSpPr>
          <p:cNvPr id="16" name="TextBox 15">
            <a:extLst>
              <a:ext uri="{FF2B5EF4-FFF2-40B4-BE49-F238E27FC236}">
                <a16:creationId xmlns:a16="http://schemas.microsoft.com/office/drawing/2014/main" id="{BD49F9F8-1055-75F5-C718-21BD21BF6414}"/>
              </a:ext>
            </a:extLst>
          </p:cNvPr>
          <p:cNvSpPr txBox="1"/>
          <p:nvPr/>
        </p:nvSpPr>
        <p:spPr>
          <a:xfrm>
            <a:off x="1078702" y="4120843"/>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HA/DR configuration and setup for Cassandra MI</a:t>
            </a:r>
          </a:p>
        </p:txBody>
      </p:sp>
      <p:sp>
        <p:nvSpPr>
          <p:cNvPr id="17" name="TextBox 16">
            <a:extLst>
              <a:ext uri="{FF2B5EF4-FFF2-40B4-BE49-F238E27FC236}">
                <a16:creationId xmlns:a16="http://schemas.microsoft.com/office/drawing/2014/main" id="{2764C765-FE46-D423-A22B-46EC503693B4}"/>
              </a:ext>
            </a:extLst>
          </p:cNvPr>
          <p:cNvSpPr txBox="1"/>
          <p:nvPr/>
        </p:nvSpPr>
        <p:spPr>
          <a:xfrm>
            <a:off x="1078702" y="4470478"/>
            <a:ext cx="4116551" cy="5206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mn-cs"/>
              </a:rPr>
              <a:t>Supported Cassandra Servers for Migration:</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Supported source Cassandra versions: 3.11+ </a:t>
            </a:r>
          </a:p>
          <a:p>
            <a:pPr marL="24130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Supported target Cassandra versions outlined </a:t>
            </a:r>
            <a:r>
              <a:rPr kumimoji="0" lang="en-US" sz="1000" b="0" i="0" u="none" strike="noStrike" kern="0" cap="none" spc="0" normalizeH="0" baseline="0" noProof="0" dirty="0">
                <a:ln>
                  <a:noFill/>
                </a:ln>
                <a:solidFill>
                  <a:srgbClr val="000000"/>
                </a:solidFill>
                <a:effectLst/>
                <a:uLnTx/>
                <a:uFillTx/>
                <a:ea typeface="+mn-ea"/>
                <a:cs typeface="+mn-cs"/>
                <a:hlinkClick r:id="rId7">
                  <a:extLst>
                    <a:ext uri="{A12FA001-AC4F-418D-AE19-62706E023703}">
                      <ahyp:hlinkClr xmlns:ahyp="http://schemas.microsoft.com/office/drawing/2018/hyperlinkcolor" val="tx"/>
                    </a:ext>
                  </a:extLst>
                </a:hlinkClick>
              </a:rPr>
              <a:t>here</a:t>
            </a:r>
          </a:p>
        </p:txBody>
      </p:sp>
      <p:cxnSp>
        <p:nvCxnSpPr>
          <p:cNvPr id="18" name="Straight Connector 17">
            <a:extLst>
              <a:ext uri="{FF2B5EF4-FFF2-40B4-BE49-F238E27FC236}">
                <a16:creationId xmlns:a16="http://schemas.microsoft.com/office/drawing/2014/main" id="{EBAE5F12-6359-608F-735A-248BF4094E52}"/>
              </a:ext>
              <a:ext uri="{C183D7F6-B498-43B3-948B-1728B52AA6E4}">
                <adec:decorative xmlns:adec="http://schemas.microsoft.com/office/drawing/2017/decorative" val="1"/>
              </a:ext>
            </a:extLst>
          </p:cNvPr>
          <p:cNvCxnSpPr>
            <a:cxnSpLocks/>
          </p:cNvCxnSpPr>
          <p:nvPr/>
        </p:nvCxnSpPr>
        <p:spPr>
          <a:xfrm>
            <a:off x="1020125" y="4022969"/>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0809466-5882-326C-F792-08853DC15C6F}"/>
              </a:ext>
              <a:ext uri="{C183D7F6-B498-43B3-948B-1728B52AA6E4}">
                <adec:decorative xmlns:adec="http://schemas.microsoft.com/office/drawing/2017/decorative" val="1"/>
              </a:ext>
            </a:extLst>
          </p:cNvPr>
          <p:cNvCxnSpPr>
            <a:cxnSpLocks/>
          </p:cNvCxnSpPr>
          <p:nvPr/>
        </p:nvCxnSpPr>
        <p:spPr>
          <a:xfrm>
            <a:off x="1020125" y="4372605"/>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AEB36D93-8C34-9C09-A839-E522A5EFDE98}"/>
              </a:ext>
              <a:ext uri="{C183D7F6-B498-43B3-948B-1728B52AA6E4}">
                <adec:decorative xmlns:adec="http://schemas.microsoft.com/office/drawing/2017/decorative" val="1"/>
              </a:ext>
            </a:extLst>
          </p:cNvPr>
          <p:cNvSpPr/>
          <p:nvPr/>
        </p:nvSpPr>
        <p:spPr bwMode="auto">
          <a:xfrm>
            <a:off x="766598" y="446631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21" name="Straight Connector 20">
            <a:extLst>
              <a:ext uri="{FF2B5EF4-FFF2-40B4-BE49-F238E27FC236}">
                <a16:creationId xmlns:a16="http://schemas.microsoft.com/office/drawing/2014/main" id="{4C90D4E2-0D99-2850-0720-7FE3F5B675CC}"/>
              </a:ext>
              <a:ext uri="{C183D7F6-B498-43B3-948B-1728B52AA6E4}">
                <adec:decorative xmlns:adec="http://schemas.microsoft.com/office/drawing/2017/decorative" val="1"/>
              </a:ext>
            </a:extLst>
          </p:cNvPr>
          <p:cNvCxnSpPr>
            <a:cxnSpLocks/>
          </p:cNvCxnSpPr>
          <p:nvPr/>
        </p:nvCxnSpPr>
        <p:spPr>
          <a:xfrm>
            <a:off x="1020125" y="3332214"/>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03A5075F-541E-FF73-79CD-A7CA72625B02}"/>
              </a:ext>
              <a:ext uri="{C183D7F6-B498-43B3-948B-1728B52AA6E4}">
                <adec:decorative xmlns:adec="http://schemas.microsoft.com/office/drawing/2017/decorative" val="1"/>
              </a:ext>
            </a:extLst>
          </p:cNvPr>
          <p:cNvSpPr/>
          <p:nvPr/>
        </p:nvSpPr>
        <p:spPr bwMode="auto">
          <a:xfrm>
            <a:off x="766598" y="344961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3" name="Rectangle 22">
            <a:extLst>
              <a:ext uri="{FF2B5EF4-FFF2-40B4-BE49-F238E27FC236}">
                <a16:creationId xmlns:a16="http://schemas.microsoft.com/office/drawing/2014/main" id="{099C010A-07EB-0A26-5036-322453A523F1}"/>
              </a:ext>
              <a:ext uri="{C183D7F6-B498-43B3-948B-1728B52AA6E4}">
                <adec:decorative xmlns:adec="http://schemas.microsoft.com/office/drawing/2017/decorative" val="1"/>
              </a:ext>
            </a:extLst>
          </p:cNvPr>
          <p:cNvSpPr>
            <a:spLocks/>
          </p:cNvSpPr>
          <p:nvPr/>
        </p:nvSpPr>
        <p:spPr bwMode="auto">
          <a:xfrm flipH="1">
            <a:off x="6399087" y="2003031"/>
            <a:ext cx="45719" cy="3914509"/>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24" name="Oval 23">
            <a:extLst>
              <a:ext uri="{FF2B5EF4-FFF2-40B4-BE49-F238E27FC236}">
                <a16:creationId xmlns:a16="http://schemas.microsoft.com/office/drawing/2014/main" id="{CA4C2B6B-A9C5-522D-946E-F9907B392249}"/>
              </a:ext>
              <a:ext uri="{C183D7F6-B498-43B3-948B-1728B52AA6E4}">
                <adec:decorative xmlns:adec="http://schemas.microsoft.com/office/drawing/2017/decorative" val="1"/>
              </a:ext>
            </a:extLst>
          </p:cNvPr>
          <p:cNvSpPr/>
          <p:nvPr/>
        </p:nvSpPr>
        <p:spPr bwMode="auto">
          <a:xfrm>
            <a:off x="6333600" y="320035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5" name="Oval 24">
            <a:extLst>
              <a:ext uri="{FF2B5EF4-FFF2-40B4-BE49-F238E27FC236}">
                <a16:creationId xmlns:a16="http://schemas.microsoft.com/office/drawing/2014/main" id="{70648533-9818-88A1-B72E-7EF303A53098}"/>
              </a:ext>
              <a:ext uri="{C183D7F6-B498-43B3-948B-1728B52AA6E4}">
                <adec:decorative xmlns:adec="http://schemas.microsoft.com/office/drawing/2017/decorative" val="1"/>
              </a:ext>
            </a:extLst>
          </p:cNvPr>
          <p:cNvSpPr/>
          <p:nvPr/>
        </p:nvSpPr>
        <p:spPr bwMode="auto">
          <a:xfrm>
            <a:off x="6350889" y="200303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6" name="Oval 25">
            <a:extLst>
              <a:ext uri="{FF2B5EF4-FFF2-40B4-BE49-F238E27FC236}">
                <a16:creationId xmlns:a16="http://schemas.microsoft.com/office/drawing/2014/main" id="{2017B908-0436-71E2-FC08-2C5BA348ACEF}"/>
              </a:ext>
              <a:ext uri="{C183D7F6-B498-43B3-948B-1728B52AA6E4}">
                <adec:decorative xmlns:adec="http://schemas.microsoft.com/office/drawing/2017/decorative" val="1"/>
              </a:ext>
            </a:extLst>
          </p:cNvPr>
          <p:cNvSpPr/>
          <p:nvPr/>
        </p:nvSpPr>
        <p:spPr bwMode="auto">
          <a:xfrm>
            <a:off x="6338362" y="378819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8" name="Oval 27">
            <a:extLst>
              <a:ext uri="{FF2B5EF4-FFF2-40B4-BE49-F238E27FC236}">
                <a16:creationId xmlns:a16="http://schemas.microsoft.com/office/drawing/2014/main" id="{4FCF9CC9-7C73-A543-6AB4-9C5CD3C887B8}"/>
              </a:ext>
              <a:ext uri="{C183D7F6-B498-43B3-948B-1728B52AA6E4}">
                <adec:decorative xmlns:adec="http://schemas.microsoft.com/office/drawing/2017/decorative" val="1"/>
              </a:ext>
            </a:extLst>
          </p:cNvPr>
          <p:cNvSpPr/>
          <p:nvPr/>
        </p:nvSpPr>
        <p:spPr bwMode="auto">
          <a:xfrm>
            <a:off x="6338362" y="4082114"/>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9" name="Oval 28">
            <a:extLst>
              <a:ext uri="{FF2B5EF4-FFF2-40B4-BE49-F238E27FC236}">
                <a16:creationId xmlns:a16="http://schemas.microsoft.com/office/drawing/2014/main" id="{330C4F4B-FD5D-E566-75A2-BC78099BC69B}"/>
              </a:ext>
              <a:ext uri="{C183D7F6-B498-43B3-948B-1728B52AA6E4}">
                <adec:decorative xmlns:adec="http://schemas.microsoft.com/office/drawing/2017/decorative" val="1"/>
              </a:ext>
            </a:extLst>
          </p:cNvPr>
          <p:cNvSpPr/>
          <p:nvPr/>
        </p:nvSpPr>
        <p:spPr bwMode="auto">
          <a:xfrm>
            <a:off x="6338362" y="496387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0" name="Oval 29">
            <a:extLst>
              <a:ext uri="{FF2B5EF4-FFF2-40B4-BE49-F238E27FC236}">
                <a16:creationId xmlns:a16="http://schemas.microsoft.com/office/drawing/2014/main" id="{25D64BD8-2DC1-2D09-7774-126E3402F170}"/>
              </a:ext>
              <a:ext uri="{C183D7F6-B498-43B3-948B-1728B52AA6E4}">
                <adec:decorative xmlns:adec="http://schemas.microsoft.com/office/drawing/2017/decorative" val="1"/>
              </a:ext>
            </a:extLst>
          </p:cNvPr>
          <p:cNvSpPr/>
          <p:nvPr/>
        </p:nvSpPr>
        <p:spPr bwMode="auto">
          <a:xfrm>
            <a:off x="6338362" y="5257798"/>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2" name="Oval 31">
            <a:extLst>
              <a:ext uri="{FF2B5EF4-FFF2-40B4-BE49-F238E27FC236}">
                <a16:creationId xmlns:a16="http://schemas.microsoft.com/office/drawing/2014/main" id="{BC9096C1-9944-9A83-1CA9-637F80E695B7}"/>
              </a:ext>
              <a:ext uri="{C183D7F6-B498-43B3-948B-1728B52AA6E4}">
                <adec:decorative xmlns:adec="http://schemas.microsoft.com/office/drawing/2017/decorative" val="1"/>
              </a:ext>
            </a:extLst>
          </p:cNvPr>
          <p:cNvSpPr/>
          <p:nvPr/>
        </p:nvSpPr>
        <p:spPr bwMode="auto">
          <a:xfrm>
            <a:off x="6338362" y="2318588"/>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3" name="Oval 32">
            <a:extLst>
              <a:ext uri="{FF2B5EF4-FFF2-40B4-BE49-F238E27FC236}">
                <a16:creationId xmlns:a16="http://schemas.microsoft.com/office/drawing/2014/main" id="{2A3E3E6F-988E-678D-E06D-7DCD73B852C9}"/>
              </a:ext>
              <a:ext uri="{C183D7F6-B498-43B3-948B-1728B52AA6E4}">
                <adec:decorative xmlns:adec="http://schemas.microsoft.com/office/drawing/2017/decorative" val="1"/>
              </a:ext>
            </a:extLst>
          </p:cNvPr>
          <p:cNvSpPr/>
          <p:nvPr/>
        </p:nvSpPr>
        <p:spPr bwMode="auto">
          <a:xfrm>
            <a:off x="6338362" y="437603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4" name="Oval 33">
            <a:extLst>
              <a:ext uri="{FF2B5EF4-FFF2-40B4-BE49-F238E27FC236}">
                <a16:creationId xmlns:a16="http://schemas.microsoft.com/office/drawing/2014/main" id="{48147131-7FF4-9166-1432-C693AD1DFA9F}"/>
              </a:ext>
              <a:ext uri="{C183D7F6-B498-43B3-948B-1728B52AA6E4}">
                <adec:decorative xmlns:adec="http://schemas.microsoft.com/office/drawing/2017/decorative" val="1"/>
              </a:ext>
            </a:extLst>
          </p:cNvPr>
          <p:cNvSpPr/>
          <p:nvPr/>
        </p:nvSpPr>
        <p:spPr bwMode="auto">
          <a:xfrm>
            <a:off x="6338362" y="4669956"/>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5" name="Oval 34">
            <a:extLst>
              <a:ext uri="{FF2B5EF4-FFF2-40B4-BE49-F238E27FC236}">
                <a16:creationId xmlns:a16="http://schemas.microsoft.com/office/drawing/2014/main" id="{35071E26-D1EC-DA45-BC08-0660A8B036B3}"/>
              </a:ext>
              <a:ext uri="{C183D7F6-B498-43B3-948B-1728B52AA6E4}">
                <adec:decorative xmlns:adec="http://schemas.microsoft.com/office/drawing/2017/decorative" val="1"/>
              </a:ext>
            </a:extLst>
          </p:cNvPr>
          <p:cNvSpPr/>
          <p:nvPr/>
        </p:nvSpPr>
        <p:spPr bwMode="auto">
          <a:xfrm>
            <a:off x="6338362" y="555171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6" name="Oval 35">
            <a:extLst>
              <a:ext uri="{FF2B5EF4-FFF2-40B4-BE49-F238E27FC236}">
                <a16:creationId xmlns:a16="http://schemas.microsoft.com/office/drawing/2014/main" id="{C3D714AB-DBEA-8D9B-3173-97F5BE7218AB}"/>
              </a:ext>
              <a:ext uri="{C183D7F6-B498-43B3-948B-1728B52AA6E4}">
                <adec:decorative xmlns:adec="http://schemas.microsoft.com/office/drawing/2017/decorative" val="1"/>
              </a:ext>
            </a:extLst>
          </p:cNvPr>
          <p:cNvSpPr/>
          <p:nvPr/>
        </p:nvSpPr>
        <p:spPr bwMode="auto">
          <a:xfrm>
            <a:off x="6338362" y="2612509"/>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7" name="Oval 36">
            <a:extLst>
              <a:ext uri="{FF2B5EF4-FFF2-40B4-BE49-F238E27FC236}">
                <a16:creationId xmlns:a16="http://schemas.microsoft.com/office/drawing/2014/main" id="{0B459A6F-22B1-0C60-1D0E-D58B7FF67034}"/>
              </a:ext>
              <a:ext uri="{C183D7F6-B498-43B3-948B-1728B52AA6E4}">
                <adec:decorative xmlns:adec="http://schemas.microsoft.com/office/drawing/2017/decorative" val="1"/>
              </a:ext>
            </a:extLst>
          </p:cNvPr>
          <p:cNvSpPr/>
          <p:nvPr/>
        </p:nvSpPr>
        <p:spPr bwMode="auto">
          <a:xfrm>
            <a:off x="6338362" y="2906430"/>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8" name="Oval 37">
            <a:extLst>
              <a:ext uri="{FF2B5EF4-FFF2-40B4-BE49-F238E27FC236}">
                <a16:creationId xmlns:a16="http://schemas.microsoft.com/office/drawing/2014/main" id="{D025D520-48B8-03CC-399C-36330BD27445}"/>
              </a:ext>
              <a:ext uri="{C183D7F6-B498-43B3-948B-1728B52AA6E4}">
                <adec:decorative xmlns:adec="http://schemas.microsoft.com/office/drawing/2017/decorative" val="1"/>
              </a:ext>
            </a:extLst>
          </p:cNvPr>
          <p:cNvSpPr/>
          <p:nvPr/>
        </p:nvSpPr>
        <p:spPr bwMode="auto">
          <a:xfrm>
            <a:off x="6338362" y="3494272"/>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39" name="Straight Connector 38">
            <a:extLst>
              <a:ext uri="{FF2B5EF4-FFF2-40B4-BE49-F238E27FC236}">
                <a16:creationId xmlns:a16="http://schemas.microsoft.com/office/drawing/2014/main" id="{E14A1EBB-5B29-749E-FF7E-7419B3EA9DFD}"/>
              </a:ext>
              <a:ext uri="{C183D7F6-B498-43B3-948B-1728B52AA6E4}">
                <adec:decorative xmlns:adec="http://schemas.microsoft.com/office/drawing/2017/decorative" val="1"/>
              </a:ext>
            </a:extLst>
          </p:cNvPr>
          <p:cNvCxnSpPr>
            <a:cxnSpLocks/>
          </p:cNvCxnSpPr>
          <p:nvPr/>
        </p:nvCxnSpPr>
        <p:spPr>
          <a:xfrm>
            <a:off x="6653847" y="224315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D4E8E97-23AB-2A08-FE6D-EE55B2EBFDB4}"/>
              </a:ext>
              <a:ext uri="{C183D7F6-B498-43B3-948B-1728B52AA6E4}">
                <adec:decorative xmlns:adec="http://schemas.microsoft.com/office/drawing/2017/decorative" val="1"/>
              </a:ext>
            </a:extLst>
          </p:cNvPr>
          <p:cNvCxnSpPr>
            <a:cxnSpLocks/>
          </p:cNvCxnSpPr>
          <p:nvPr/>
        </p:nvCxnSpPr>
        <p:spPr>
          <a:xfrm>
            <a:off x="6641320" y="255699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9EFACD3-5579-F1FD-D579-D0386DB8EACD}"/>
              </a:ext>
              <a:ext uri="{C183D7F6-B498-43B3-948B-1728B52AA6E4}">
                <adec:decorative xmlns:adec="http://schemas.microsoft.com/office/drawing/2017/decorative" val="1"/>
              </a:ext>
            </a:extLst>
          </p:cNvPr>
          <p:cNvCxnSpPr>
            <a:cxnSpLocks/>
          </p:cNvCxnSpPr>
          <p:nvPr/>
        </p:nvCxnSpPr>
        <p:spPr>
          <a:xfrm>
            <a:off x="6641320" y="2850054"/>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A094802-3D07-3CA8-552A-0453AF1E491B}"/>
              </a:ext>
              <a:ext uri="{C183D7F6-B498-43B3-948B-1728B52AA6E4}">
                <adec:decorative xmlns:adec="http://schemas.microsoft.com/office/drawing/2017/decorative" val="1"/>
              </a:ext>
            </a:extLst>
          </p:cNvPr>
          <p:cNvCxnSpPr>
            <a:cxnSpLocks/>
          </p:cNvCxnSpPr>
          <p:nvPr/>
        </p:nvCxnSpPr>
        <p:spPr>
          <a:xfrm>
            <a:off x="6641320" y="314311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B2C3945-C26A-BA22-5998-F1C52068548D}"/>
              </a:ext>
              <a:ext uri="{C183D7F6-B498-43B3-948B-1728B52AA6E4}">
                <adec:decorative xmlns:adec="http://schemas.microsoft.com/office/drawing/2017/decorative" val="1"/>
              </a:ext>
            </a:extLst>
          </p:cNvPr>
          <p:cNvCxnSpPr>
            <a:cxnSpLocks/>
          </p:cNvCxnSpPr>
          <p:nvPr/>
        </p:nvCxnSpPr>
        <p:spPr>
          <a:xfrm>
            <a:off x="6641320" y="343617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542A7C4-64F7-A30B-46F4-241E955A7317}"/>
              </a:ext>
              <a:ext uri="{C183D7F6-B498-43B3-948B-1728B52AA6E4}">
                <adec:decorative xmlns:adec="http://schemas.microsoft.com/office/drawing/2017/decorative" val="1"/>
              </a:ext>
            </a:extLst>
          </p:cNvPr>
          <p:cNvCxnSpPr>
            <a:cxnSpLocks/>
          </p:cNvCxnSpPr>
          <p:nvPr/>
        </p:nvCxnSpPr>
        <p:spPr>
          <a:xfrm>
            <a:off x="6641320" y="372924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D6E9E91-A5AB-A751-F4C8-A8FD140FA83C}"/>
              </a:ext>
              <a:ext uri="{C183D7F6-B498-43B3-948B-1728B52AA6E4}">
                <adec:decorative xmlns:adec="http://schemas.microsoft.com/office/drawing/2017/decorative" val="1"/>
              </a:ext>
            </a:extLst>
          </p:cNvPr>
          <p:cNvCxnSpPr>
            <a:cxnSpLocks/>
          </p:cNvCxnSpPr>
          <p:nvPr/>
        </p:nvCxnSpPr>
        <p:spPr>
          <a:xfrm>
            <a:off x="6641320" y="402230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56BB55F-D0B1-3F71-F66A-1BC1FF6F668F}"/>
              </a:ext>
              <a:ext uri="{C183D7F6-B498-43B3-948B-1728B52AA6E4}">
                <adec:decorative xmlns:adec="http://schemas.microsoft.com/office/drawing/2017/decorative" val="1"/>
              </a:ext>
            </a:extLst>
          </p:cNvPr>
          <p:cNvCxnSpPr>
            <a:cxnSpLocks/>
          </p:cNvCxnSpPr>
          <p:nvPr/>
        </p:nvCxnSpPr>
        <p:spPr>
          <a:xfrm>
            <a:off x="6641320" y="4315364"/>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765BCD6-CC76-9E3F-5DF3-82D22C7E5115}"/>
              </a:ext>
              <a:ext uri="{C183D7F6-B498-43B3-948B-1728B52AA6E4}">
                <adec:decorative xmlns:adec="http://schemas.microsoft.com/office/drawing/2017/decorative" val="1"/>
              </a:ext>
            </a:extLst>
          </p:cNvPr>
          <p:cNvCxnSpPr>
            <a:cxnSpLocks/>
          </p:cNvCxnSpPr>
          <p:nvPr/>
        </p:nvCxnSpPr>
        <p:spPr>
          <a:xfrm>
            <a:off x="6641320" y="460842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FB9CDF7-CD4C-DB59-85BE-A020CB90020F}"/>
              </a:ext>
              <a:ext uri="{C183D7F6-B498-43B3-948B-1728B52AA6E4}">
                <adec:decorative xmlns:adec="http://schemas.microsoft.com/office/drawing/2017/decorative" val="1"/>
              </a:ext>
            </a:extLst>
          </p:cNvPr>
          <p:cNvCxnSpPr>
            <a:cxnSpLocks/>
          </p:cNvCxnSpPr>
          <p:nvPr/>
        </p:nvCxnSpPr>
        <p:spPr>
          <a:xfrm>
            <a:off x="6641320" y="490148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ABF0B7F-076D-0456-9279-654738EE7503}"/>
              </a:ext>
              <a:ext uri="{C183D7F6-B498-43B3-948B-1728B52AA6E4}">
                <adec:decorative xmlns:adec="http://schemas.microsoft.com/office/drawing/2017/decorative" val="1"/>
              </a:ext>
            </a:extLst>
          </p:cNvPr>
          <p:cNvCxnSpPr>
            <a:cxnSpLocks/>
          </p:cNvCxnSpPr>
          <p:nvPr/>
        </p:nvCxnSpPr>
        <p:spPr>
          <a:xfrm>
            <a:off x="6641320" y="519455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AF19415-FC22-E673-AF0B-F43FD9634F15}"/>
              </a:ext>
              <a:ext uri="{C183D7F6-B498-43B3-948B-1728B52AA6E4}">
                <adec:decorative xmlns:adec="http://schemas.microsoft.com/office/drawing/2017/decorative" val="1"/>
              </a:ext>
            </a:extLst>
          </p:cNvPr>
          <p:cNvCxnSpPr>
            <a:cxnSpLocks/>
          </p:cNvCxnSpPr>
          <p:nvPr/>
        </p:nvCxnSpPr>
        <p:spPr>
          <a:xfrm>
            <a:off x="6641320" y="548761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6C5902A-6B2C-4AFB-A83D-1F618A02F353}"/>
              </a:ext>
            </a:extLst>
          </p:cNvPr>
          <p:cNvSpPr txBox="1"/>
          <p:nvPr/>
        </p:nvSpPr>
        <p:spPr>
          <a:xfrm>
            <a:off x="6653847" y="201967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Migrations to </a:t>
            </a:r>
            <a:r>
              <a:rPr kumimoji="0" lang="en-US" sz="1000" b="1" i="0" u="none" strike="noStrike" kern="0" cap="none" spc="0" normalizeH="0" baseline="0" noProof="0" dirty="0">
                <a:ln>
                  <a:noFill/>
                </a:ln>
                <a:solidFill>
                  <a:srgbClr val="000000"/>
                </a:solidFill>
                <a:effectLst/>
                <a:uLnTx/>
                <a:uFillTx/>
                <a:ea typeface="+mn-ea"/>
                <a:cs typeface="+mn-cs"/>
              </a:rPr>
              <a:t>Azure Cosmos DB API for Cassandra</a:t>
            </a:r>
          </a:p>
        </p:txBody>
      </p:sp>
      <p:sp>
        <p:nvSpPr>
          <p:cNvPr id="53" name="TextBox 52">
            <a:extLst>
              <a:ext uri="{FF2B5EF4-FFF2-40B4-BE49-F238E27FC236}">
                <a16:creationId xmlns:a16="http://schemas.microsoft.com/office/drawing/2014/main" id="{49640F95-B3C1-4AF8-89A2-EC6E3505FD42}"/>
              </a:ext>
            </a:extLst>
          </p:cNvPr>
          <p:cNvSpPr txBox="1"/>
          <p:nvPr/>
        </p:nvSpPr>
        <p:spPr>
          <a:xfrm>
            <a:off x="6641320" y="2333517"/>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Migrations from </a:t>
            </a:r>
            <a:r>
              <a:rPr kumimoji="0" lang="en-US" sz="1000" b="1" i="0" u="none" strike="noStrike" kern="0" cap="none" spc="0" normalizeH="0" baseline="0" noProof="0" dirty="0">
                <a:ln>
                  <a:noFill/>
                </a:ln>
                <a:solidFill>
                  <a:srgbClr val="000000"/>
                </a:solidFill>
                <a:effectLst/>
                <a:uLnTx/>
                <a:uFillTx/>
                <a:ea typeface="+mn-ea"/>
                <a:cs typeface="+mn-cs"/>
              </a:rPr>
              <a:t>Azure Cosmos DB API for Cassandra to MI</a:t>
            </a:r>
          </a:p>
        </p:txBody>
      </p:sp>
      <p:sp>
        <p:nvSpPr>
          <p:cNvPr id="54" name="TextBox 53">
            <a:extLst>
              <a:ext uri="{FF2B5EF4-FFF2-40B4-BE49-F238E27FC236}">
                <a16:creationId xmlns:a16="http://schemas.microsoft.com/office/drawing/2014/main" id="{2D080FE8-7F2D-9D7D-0DD5-A0AE89A39D3D}"/>
              </a:ext>
            </a:extLst>
          </p:cNvPr>
          <p:cNvSpPr txBox="1"/>
          <p:nvPr/>
        </p:nvSpPr>
        <p:spPr>
          <a:xfrm>
            <a:off x="6641320" y="2626579"/>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changes in the source (any time) </a:t>
            </a:r>
            <a:r>
              <a:rPr lang="en-US" sz="1000" kern="0" noProof="0" dirty="0">
                <a:solidFill>
                  <a:srgbClr val="000000"/>
                </a:solidFill>
              </a:rPr>
              <a:t>and </a:t>
            </a:r>
            <a:r>
              <a:rPr kumimoji="0" lang="en-US" sz="1000" b="0" i="0" u="none" strike="noStrike" kern="0" cap="none" spc="0" normalizeH="0" baseline="0" noProof="0" dirty="0">
                <a:ln>
                  <a:noFill/>
                </a:ln>
                <a:solidFill>
                  <a:srgbClr val="000000"/>
                </a:solidFill>
                <a:effectLst/>
                <a:uLnTx/>
                <a:uFillTx/>
                <a:ea typeface="+mn-ea"/>
                <a:cs typeface="+mn-cs"/>
              </a:rPr>
              <a:t>target environments (after handover)</a:t>
            </a:r>
          </a:p>
        </p:txBody>
      </p:sp>
      <p:sp>
        <p:nvSpPr>
          <p:cNvPr id="55" name="TextBox 54">
            <a:extLst>
              <a:ext uri="{FF2B5EF4-FFF2-40B4-BE49-F238E27FC236}">
                <a16:creationId xmlns:a16="http://schemas.microsoft.com/office/drawing/2014/main" id="{A2352B9B-37D8-28AD-6724-A0264DCF58FB}"/>
              </a:ext>
            </a:extLst>
          </p:cNvPr>
          <p:cNvSpPr txBox="1"/>
          <p:nvPr/>
        </p:nvSpPr>
        <p:spPr>
          <a:xfrm>
            <a:off x="6641320" y="2919641"/>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application/services related configurations and testing (pre- and post-migration)</a:t>
            </a:r>
          </a:p>
        </p:txBody>
      </p:sp>
      <p:sp>
        <p:nvSpPr>
          <p:cNvPr id="56" name="TextBox 55">
            <a:extLst>
              <a:ext uri="{FF2B5EF4-FFF2-40B4-BE49-F238E27FC236}">
                <a16:creationId xmlns:a16="http://schemas.microsoft.com/office/drawing/2014/main" id="{E1B0814B-ECA3-9981-98AF-243A40D22521}"/>
              </a:ext>
            </a:extLst>
          </p:cNvPr>
          <p:cNvSpPr txBox="1"/>
          <p:nvPr/>
        </p:nvSpPr>
        <p:spPr>
          <a:xfrm>
            <a:off x="6641320" y="3212703"/>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Performing and configuring backups, monitoring, and alerts (</a:t>
            </a:r>
            <a:r>
              <a:rPr lang="en-US" sz="1000" kern="0" noProof="0" dirty="0">
                <a:solidFill>
                  <a:srgbClr val="000000"/>
                </a:solidFill>
              </a:rPr>
              <a:t>p</a:t>
            </a:r>
            <a:r>
              <a:rPr kumimoji="0" lang="en-US" sz="1000" b="0" i="0" u="none" strike="noStrike" kern="0" cap="none" spc="0" normalizeH="0" baseline="0" noProof="0" dirty="0">
                <a:ln>
                  <a:noFill/>
                </a:ln>
                <a:solidFill>
                  <a:srgbClr val="000000"/>
                </a:solidFill>
                <a:effectLst/>
                <a:uLnTx/>
                <a:uFillTx/>
                <a:ea typeface="+mn-ea"/>
                <a:cs typeface="+mn-cs"/>
              </a:rPr>
              <a:t>re- &amp; post-migration)</a:t>
            </a:r>
          </a:p>
        </p:txBody>
      </p:sp>
      <p:sp>
        <p:nvSpPr>
          <p:cNvPr id="57" name="TextBox 56">
            <a:extLst>
              <a:ext uri="{FF2B5EF4-FFF2-40B4-BE49-F238E27FC236}">
                <a16:creationId xmlns:a16="http://schemas.microsoft.com/office/drawing/2014/main" id="{755220AD-FDB9-DE16-9D17-C978BB4A2BF9}"/>
              </a:ext>
            </a:extLst>
          </p:cNvPr>
          <p:cNvSpPr txBox="1"/>
          <p:nvPr/>
        </p:nvSpPr>
        <p:spPr>
          <a:xfrm>
            <a:off x="6641320" y="3505765"/>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Data archival solutions</a:t>
            </a:r>
          </a:p>
        </p:txBody>
      </p:sp>
      <p:sp>
        <p:nvSpPr>
          <p:cNvPr id="58" name="TextBox 57">
            <a:extLst>
              <a:ext uri="{FF2B5EF4-FFF2-40B4-BE49-F238E27FC236}">
                <a16:creationId xmlns:a16="http://schemas.microsoft.com/office/drawing/2014/main" id="{63583B3B-D63D-9546-6C4C-72411258EDCE}"/>
              </a:ext>
            </a:extLst>
          </p:cNvPr>
          <p:cNvSpPr txBox="1"/>
          <p:nvPr/>
        </p:nvSpPr>
        <p:spPr>
          <a:xfrm>
            <a:off x="6641320" y="4091889"/>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HA/DR testing</a:t>
            </a:r>
          </a:p>
        </p:txBody>
      </p:sp>
      <p:sp>
        <p:nvSpPr>
          <p:cNvPr id="59" name="TextBox 58">
            <a:extLst>
              <a:ext uri="{FF2B5EF4-FFF2-40B4-BE49-F238E27FC236}">
                <a16:creationId xmlns:a16="http://schemas.microsoft.com/office/drawing/2014/main" id="{8E65CC8C-BA96-445B-6E81-971E259624AA}"/>
              </a:ext>
            </a:extLst>
          </p:cNvPr>
          <p:cNvSpPr txBox="1"/>
          <p:nvPr/>
        </p:nvSpPr>
        <p:spPr>
          <a:xfrm>
            <a:off x="6641320" y="4384951"/>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Database performance testing</a:t>
            </a:r>
          </a:p>
        </p:txBody>
      </p:sp>
      <p:sp>
        <p:nvSpPr>
          <p:cNvPr id="60" name="TextBox 59">
            <a:extLst>
              <a:ext uri="{FF2B5EF4-FFF2-40B4-BE49-F238E27FC236}">
                <a16:creationId xmlns:a16="http://schemas.microsoft.com/office/drawing/2014/main" id="{E9C3D382-805F-7778-A8F4-5B68F4212272}"/>
              </a:ext>
            </a:extLst>
          </p:cNvPr>
          <p:cNvSpPr txBox="1"/>
          <p:nvPr/>
        </p:nvSpPr>
        <p:spPr>
          <a:xfrm>
            <a:off x="6641320" y="4678013"/>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target environment setup</a:t>
            </a:r>
          </a:p>
        </p:txBody>
      </p:sp>
      <p:sp>
        <p:nvSpPr>
          <p:cNvPr id="61" name="TextBox 60">
            <a:extLst>
              <a:ext uri="{FF2B5EF4-FFF2-40B4-BE49-F238E27FC236}">
                <a16:creationId xmlns:a16="http://schemas.microsoft.com/office/drawing/2014/main" id="{3DA8382C-6024-DBCC-A603-356767657468}"/>
              </a:ext>
            </a:extLst>
          </p:cNvPr>
          <p:cNvSpPr txBox="1"/>
          <p:nvPr/>
        </p:nvSpPr>
        <p:spPr>
          <a:xfrm>
            <a:off x="6641320" y="4971075"/>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Third-party tools setup &amp; configuration for Cassandra Server</a:t>
            </a:r>
          </a:p>
        </p:txBody>
      </p:sp>
      <p:sp>
        <p:nvSpPr>
          <p:cNvPr id="62" name="TextBox 61">
            <a:extLst>
              <a:ext uri="{FF2B5EF4-FFF2-40B4-BE49-F238E27FC236}">
                <a16:creationId xmlns:a16="http://schemas.microsoft.com/office/drawing/2014/main" id="{4C2529AA-896A-F8BA-F8E4-935DFAAE453D}"/>
              </a:ext>
            </a:extLst>
          </p:cNvPr>
          <p:cNvSpPr txBox="1"/>
          <p:nvPr/>
        </p:nvSpPr>
        <p:spPr>
          <a:xfrm>
            <a:off x="6641320" y="5264137"/>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Cassandra Server upgrade and patch management</a:t>
            </a:r>
          </a:p>
        </p:txBody>
      </p:sp>
      <p:sp>
        <p:nvSpPr>
          <p:cNvPr id="63" name="TextBox 62">
            <a:extLst>
              <a:ext uri="{FF2B5EF4-FFF2-40B4-BE49-F238E27FC236}">
                <a16:creationId xmlns:a16="http://schemas.microsoft.com/office/drawing/2014/main" id="{E7FDF20B-7322-6026-F429-830A88FC3294}"/>
              </a:ext>
            </a:extLst>
          </p:cNvPr>
          <p:cNvSpPr txBox="1"/>
          <p:nvPr/>
        </p:nvSpPr>
        <p:spPr>
          <a:xfrm>
            <a:off x="6641320" y="5557197"/>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other migration path not listed in the scope</a:t>
            </a:r>
          </a:p>
        </p:txBody>
      </p:sp>
      <p:sp>
        <p:nvSpPr>
          <p:cNvPr id="66" name="TextBox 65">
            <a:extLst>
              <a:ext uri="{FF2B5EF4-FFF2-40B4-BE49-F238E27FC236}">
                <a16:creationId xmlns:a16="http://schemas.microsoft.com/office/drawing/2014/main" id="{F2C53851-0646-49CC-76E1-159142D249B6}"/>
              </a:ext>
            </a:extLst>
          </p:cNvPr>
          <p:cNvSpPr txBox="1"/>
          <p:nvPr/>
        </p:nvSpPr>
        <p:spPr>
          <a:xfrm>
            <a:off x="6655306" y="3770646"/>
            <a:ext cx="5171059"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Architectural design and discussion for HA/DR</a:t>
            </a:r>
          </a:p>
        </p:txBody>
      </p:sp>
      <p:sp>
        <p:nvSpPr>
          <p:cNvPr id="67" name="Oval 66">
            <a:extLst>
              <a:ext uri="{FF2B5EF4-FFF2-40B4-BE49-F238E27FC236}">
                <a16:creationId xmlns:a16="http://schemas.microsoft.com/office/drawing/2014/main" id="{2A8CBD1C-98EE-9C07-E30C-FAA169009EF5}"/>
              </a:ext>
            </a:extLst>
          </p:cNvPr>
          <p:cNvSpPr/>
          <p:nvPr/>
        </p:nvSpPr>
        <p:spPr bwMode="auto">
          <a:xfrm>
            <a:off x="6331060" y="23236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8" name="Oval 67">
            <a:extLst>
              <a:ext uri="{FF2B5EF4-FFF2-40B4-BE49-F238E27FC236}">
                <a16:creationId xmlns:a16="http://schemas.microsoft.com/office/drawing/2014/main" id="{40F9BB9D-7502-0334-D725-112B131CAF57}"/>
              </a:ext>
            </a:extLst>
          </p:cNvPr>
          <p:cNvSpPr/>
          <p:nvPr/>
        </p:nvSpPr>
        <p:spPr bwMode="auto">
          <a:xfrm>
            <a:off x="6331060" y="259813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9" name="Oval 68">
            <a:extLst>
              <a:ext uri="{FF2B5EF4-FFF2-40B4-BE49-F238E27FC236}">
                <a16:creationId xmlns:a16="http://schemas.microsoft.com/office/drawing/2014/main" id="{3A2658A8-A580-ABAD-E773-7062543A5A86}"/>
              </a:ext>
            </a:extLst>
          </p:cNvPr>
          <p:cNvSpPr/>
          <p:nvPr/>
        </p:nvSpPr>
        <p:spPr bwMode="auto">
          <a:xfrm>
            <a:off x="6331060" y="318278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0" name="Oval 69">
            <a:extLst>
              <a:ext uri="{FF2B5EF4-FFF2-40B4-BE49-F238E27FC236}">
                <a16:creationId xmlns:a16="http://schemas.microsoft.com/office/drawing/2014/main" id="{5812B2D5-8076-0BC8-AF3C-C10E3D8DD248}"/>
              </a:ext>
            </a:extLst>
          </p:cNvPr>
          <p:cNvSpPr/>
          <p:nvPr/>
        </p:nvSpPr>
        <p:spPr bwMode="auto">
          <a:xfrm>
            <a:off x="6331060" y="379244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1" name="Oval 70">
            <a:extLst>
              <a:ext uri="{FF2B5EF4-FFF2-40B4-BE49-F238E27FC236}">
                <a16:creationId xmlns:a16="http://schemas.microsoft.com/office/drawing/2014/main" id="{FEA05624-9115-2528-27EE-59E7644FA947}"/>
              </a:ext>
            </a:extLst>
          </p:cNvPr>
          <p:cNvSpPr/>
          <p:nvPr/>
        </p:nvSpPr>
        <p:spPr bwMode="auto">
          <a:xfrm>
            <a:off x="6317980" y="436453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2" name="Oval 71">
            <a:extLst>
              <a:ext uri="{FF2B5EF4-FFF2-40B4-BE49-F238E27FC236}">
                <a16:creationId xmlns:a16="http://schemas.microsoft.com/office/drawing/2014/main" id="{A8C1D7D3-20E6-6971-A07F-A2391B68E9FD}"/>
              </a:ext>
            </a:extLst>
          </p:cNvPr>
          <p:cNvSpPr/>
          <p:nvPr/>
        </p:nvSpPr>
        <p:spPr bwMode="auto">
          <a:xfrm>
            <a:off x="6331060" y="467314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3" name="Oval 72">
            <a:extLst>
              <a:ext uri="{FF2B5EF4-FFF2-40B4-BE49-F238E27FC236}">
                <a16:creationId xmlns:a16="http://schemas.microsoft.com/office/drawing/2014/main" id="{4E6D46B7-9185-9AC4-3B35-1D1D88430E0A}"/>
              </a:ext>
            </a:extLst>
          </p:cNvPr>
          <p:cNvSpPr/>
          <p:nvPr/>
        </p:nvSpPr>
        <p:spPr bwMode="auto">
          <a:xfrm>
            <a:off x="6331060" y="494728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4" name="Oval 73">
            <a:extLst>
              <a:ext uri="{FF2B5EF4-FFF2-40B4-BE49-F238E27FC236}">
                <a16:creationId xmlns:a16="http://schemas.microsoft.com/office/drawing/2014/main" id="{96363C6C-981E-87FF-28F1-6EDE6D7612D8}"/>
              </a:ext>
            </a:extLst>
          </p:cNvPr>
          <p:cNvSpPr/>
          <p:nvPr/>
        </p:nvSpPr>
        <p:spPr bwMode="auto">
          <a:xfrm>
            <a:off x="6331060" y="55319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5" name="Oval 74">
            <a:extLst>
              <a:ext uri="{FF2B5EF4-FFF2-40B4-BE49-F238E27FC236}">
                <a16:creationId xmlns:a16="http://schemas.microsoft.com/office/drawing/2014/main" id="{D766E652-587F-CB81-4C86-FEAE86F7A921}"/>
              </a:ext>
            </a:extLst>
          </p:cNvPr>
          <p:cNvSpPr/>
          <p:nvPr/>
        </p:nvSpPr>
        <p:spPr bwMode="auto">
          <a:xfrm>
            <a:off x="6331060" y="526993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6" name="Oval 75">
            <a:extLst>
              <a:ext uri="{FF2B5EF4-FFF2-40B4-BE49-F238E27FC236}">
                <a16:creationId xmlns:a16="http://schemas.microsoft.com/office/drawing/2014/main" id="{260204DF-C358-6AD2-72BB-914181036C88}"/>
              </a:ext>
            </a:extLst>
          </p:cNvPr>
          <p:cNvSpPr/>
          <p:nvPr/>
        </p:nvSpPr>
        <p:spPr bwMode="auto">
          <a:xfrm>
            <a:off x="6317980" y="406694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9" name="Oval 78">
            <a:extLst>
              <a:ext uri="{FF2B5EF4-FFF2-40B4-BE49-F238E27FC236}">
                <a16:creationId xmlns:a16="http://schemas.microsoft.com/office/drawing/2014/main" id="{0A5924B9-A9A9-C1C7-47BF-98C6427F4719}"/>
              </a:ext>
            </a:extLst>
          </p:cNvPr>
          <p:cNvSpPr/>
          <p:nvPr/>
        </p:nvSpPr>
        <p:spPr bwMode="auto">
          <a:xfrm>
            <a:off x="6331060" y="347768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0" name="Oval 79">
            <a:extLst>
              <a:ext uri="{FF2B5EF4-FFF2-40B4-BE49-F238E27FC236}">
                <a16:creationId xmlns:a16="http://schemas.microsoft.com/office/drawing/2014/main" id="{24C2B981-3C9B-ECAC-1088-4EAB4E443D20}"/>
              </a:ext>
            </a:extLst>
          </p:cNvPr>
          <p:cNvSpPr/>
          <p:nvPr/>
        </p:nvSpPr>
        <p:spPr bwMode="auto">
          <a:xfrm>
            <a:off x="6331060" y="291664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4" name="Oval 83">
            <a:extLst>
              <a:ext uri="{FF2B5EF4-FFF2-40B4-BE49-F238E27FC236}">
                <a16:creationId xmlns:a16="http://schemas.microsoft.com/office/drawing/2014/main" id="{518D0EA3-E120-7091-8439-3049D4D1CC6F}"/>
              </a:ext>
            </a:extLst>
          </p:cNvPr>
          <p:cNvSpPr/>
          <p:nvPr/>
        </p:nvSpPr>
        <p:spPr bwMode="auto">
          <a:xfrm>
            <a:off x="6343587" y="20076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5" name="Oval 84">
            <a:extLst>
              <a:ext uri="{FF2B5EF4-FFF2-40B4-BE49-F238E27FC236}">
                <a16:creationId xmlns:a16="http://schemas.microsoft.com/office/drawing/2014/main" id="{CC5BB8A4-145B-DCAA-F796-F63C06E3E046}"/>
              </a:ext>
            </a:extLst>
          </p:cNvPr>
          <p:cNvSpPr/>
          <p:nvPr/>
        </p:nvSpPr>
        <p:spPr bwMode="auto">
          <a:xfrm>
            <a:off x="757264" y="20076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6" name="Oval 85">
            <a:extLst>
              <a:ext uri="{FF2B5EF4-FFF2-40B4-BE49-F238E27FC236}">
                <a16:creationId xmlns:a16="http://schemas.microsoft.com/office/drawing/2014/main" id="{AD6A3685-896E-991B-650B-767104396CA7}"/>
              </a:ext>
            </a:extLst>
          </p:cNvPr>
          <p:cNvSpPr/>
          <p:nvPr/>
        </p:nvSpPr>
        <p:spPr bwMode="auto">
          <a:xfrm>
            <a:off x="757264" y="255569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7" name="Oval 86">
            <a:extLst>
              <a:ext uri="{FF2B5EF4-FFF2-40B4-BE49-F238E27FC236}">
                <a16:creationId xmlns:a16="http://schemas.microsoft.com/office/drawing/2014/main" id="{595861AE-835A-B9B2-0540-3AA5260E467A}"/>
              </a:ext>
            </a:extLst>
          </p:cNvPr>
          <p:cNvSpPr/>
          <p:nvPr/>
        </p:nvSpPr>
        <p:spPr bwMode="auto">
          <a:xfrm>
            <a:off x="757264" y="346189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8" name="Oval 87">
            <a:extLst>
              <a:ext uri="{FF2B5EF4-FFF2-40B4-BE49-F238E27FC236}">
                <a16:creationId xmlns:a16="http://schemas.microsoft.com/office/drawing/2014/main" id="{158EC9B8-47BD-8E4C-867B-ED4BF4B44B73}"/>
              </a:ext>
            </a:extLst>
          </p:cNvPr>
          <p:cNvSpPr/>
          <p:nvPr/>
        </p:nvSpPr>
        <p:spPr bwMode="auto">
          <a:xfrm>
            <a:off x="757264" y="44505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89" name="Straight Connector 88">
            <a:extLst>
              <a:ext uri="{FF2B5EF4-FFF2-40B4-BE49-F238E27FC236}">
                <a16:creationId xmlns:a16="http://schemas.microsoft.com/office/drawing/2014/main" id="{4452B6C6-219F-FD1D-392E-82232EA8B3FA}"/>
              </a:ext>
              <a:ext uri="{C183D7F6-B498-43B3-948B-1728B52AA6E4}">
                <adec:decorative xmlns:adec="http://schemas.microsoft.com/office/drawing/2017/decorative" val="1"/>
              </a:ext>
            </a:extLst>
          </p:cNvPr>
          <p:cNvCxnSpPr>
            <a:cxnSpLocks/>
          </p:cNvCxnSpPr>
          <p:nvPr/>
        </p:nvCxnSpPr>
        <p:spPr>
          <a:xfrm>
            <a:off x="1020125" y="4009937"/>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A0B3A508-E61F-2213-6B32-8E38317C6CE5}"/>
              </a:ext>
            </a:extLst>
          </p:cNvPr>
          <p:cNvSpPr/>
          <p:nvPr/>
        </p:nvSpPr>
        <p:spPr bwMode="auto">
          <a:xfrm>
            <a:off x="757264" y="408784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2" name="TextBox 51">
            <a:extLst>
              <a:ext uri="{FF2B5EF4-FFF2-40B4-BE49-F238E27FC236}">
                <a16:creationId xmlns:a16="http://schemas.microsoft.com/office/drawing/2014/main" id="{5B48D0BB-02CC-7E09-5922-7451BC9964AC}"/>
              </a:ext>
            </a:extLst>
          </p:cNvPr>
          <p:cNvSpPr txBox="1"/>
          <p:nvPr/>
        </p:nvSpPr>
        <p:spPr>
          <a:xfrm>
            <a:off x="6291689" y="1723836"/>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77" name="TextBox 76">
            <a:extLst>
              <a:ext uri="{FF2B5EF4-FFF2-40B4-BE49-F238E27FC236}">
                <a16:creationId xmlns:a16="http://schemas.microsoft.com/office/drawing/2014/main" id="{FB509B64-CDF8-9935-7347-0F1ED2C70FD2}"/>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1" name="TextBox 30">
            <a:extLst>
              <a:ext uri="{FF2B5EF4-FFF2-40B4-BE49-F238E27FC236}">
                <a16:creationId xmlns:a16="http://schemas.microsoft.com/office/drawing/2014/main" id="{EB4CD977-A0E6-B2E3-E8B3-0988073DA44E}"/>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3260522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6" presetClass="emph" presetSubtype="0" fill="hold" grpId="1" nodeType="withEffect">
                                  <p:stCondLst>
                                    <p:cond delay="0"/>
                                  </p:stCondLst>
                                  <p:childTnLst>
                                    <p:animScale>
                                      <p:cBhvr>
                                        <p:cTn id="9" dur="100" fill="hold"/>
                                        <p:tgtEl>
                                          <p:spTgt spid="31"/>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1"/>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1" grpId="1" animBg="1"/>
      <p:bldP spid="31" grpId="2"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20975-2E67-42FD-8897-2AE1F618213E}"/>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70AD6A62-FE46-5396-32EF-83030742B9F8}"/>
              </a:ext>
            </a:extLst>
          </p:cNvPr>
          <p:cNvSpPr>
            <a:spLocks noGrp="1"/>
          </p:cNvSpPr>
          <p:nvPr>
            <p:ph type="title"/>
          </p:nvPr>
        </p:nvSpPr>
        <p:spPr>
          <a:xfrm>
            <a:off x="588963" y="315692"/>
            <a:ext cx="8651873" cy="461665"/>
          </a:xfrm>
        </p:spPr>
        <p:txBody>
          <a:bodyPr>
            <a:noAutofit/>
          </a:bodyPr>
          <a:lstStyle/>
          <a:p>
            <a:r>
              <a:rPr lang="en-US" sz="2400" noProof="0" dirty="0"/>
              <a:t>Database Modernization</a:t>
            </a:r>
          </a:p>
        </p:txBody>
      </p:sp>
      <p:sp>
        <p:nvSpPr>
          <p:cNvPr id="7" name="Rounded Rectangle 55">
            <a:extLst>
              <a:ext uri="{FF2B5EF4-FFF2-40B4-BE49-F238E27FC236}">
                <a16:creationId xmlns:a16="http://schemas.microsoft.com/office/drawing/2014/main" id="{DE2D5C4E-582F-9D3A-70C2-CB1DD7A293AC}"/>
              </a:ext>
              <a:ext uri="{C183D7F6-B498-43B3-948B-1728B52AA6E4}">
                <adec:decorative xmlns:adec="http://schemas.microsoft.com/office/drawing/2017/decorative" val="1"/>
              </a:ext>
            </a:extLst>
          </p:cNvPr>
          <p:cNvSpPr>
            <a:spLocks/>
          </p:cNvSpPr>
          <p:nvPr/>
        </p:nvSpPr>
        <p:spPr bwMode="auto">
          <a:xfrm>
            <a:off x="554697" y="1272540"/>
            <a:ext cx="5483813"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8" name="Rounded Rectangle 55">
            <a:extLst>
              <a:ext uri="{FF2B5EF4-FFF2-40B4-BE49-F238E27FC236}">
                <a16:creationId xmlns:a16="http://schemas.microsoft.com/office/drawing/2014/main" id="{5EC97BE2-94D4-A2D9-A52C-257D6BF06F92}"/>
              </a:ext>
              <a:ext uri="{C183D7F6-B498-43B3-948B-1728B52AA6E4}">
                <adec:decorative xmlns:adec="http://schemas.microsoft.com/office/drawing/2017/decorative" val="1"/>
              </a:ext>
            </a:extLst>
          </p:cNvPr>
          <p:cNvSpPr>
            <a:spLocks/>
          </p:cNvSpPr>
          <p:nvPr/>
        </p:nvSpPr>
        <p:spPr bwMode="auto">
          <a:xfrm>
            <a:off x="6102454" y="1272540"/>
            <a:ext cx="5583708"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 name="TextBox 4">
            <a:extLst>
              <a:ext uri="{FF2B5EF4-FFF2-40B4-BE49-F238E27FC236}">
                <a16:creationId xmlns:a16="http://schemas.microsoft.com/office/drawing/2014/main" id="{577A89A5-D179-C92E-1BBA-0A6BDEA87803}"/>
              </a:ext>
            </a:extLst>
          </p:cNvPr>
          <p:cNvSpPr txBox="1">
            <a:spLocks/>
          </p:cNvSpPr>
          <p:nvPr/>
        </p:nvSpPr>
        <p:spPr>
          <a:xfrm>
            <a:off x="585787" y="1356831"/>
            <a:ext cx="5441528" cy="3492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15" name="TextBox 14">
            <a:extLst>
              <a:ext uri="{FF2B5EF4-FFF2-40B4-BE49-F238E27FC236}">
                <a16:creationId xmlns:a16="http://schemas.microsoft.com/office/drawing/2014/main" id="{3D9C565F-641F-4BDA-7E10-E712699DB970}"/>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27" name="TextBox 26">
            <a:extLst>
              <a:ext uri="{FF2B5EF4-FFF2-40B4-BE49-F238E27FC236}">
                <a16:creationId xmlns:a16="http://schemas.microsoft.com/office/drawing/2014/main" id="{F67619D0-C7D6-C7CB-A125-56DF313AECE4}"/>
              </a:ext>
            </a:extLst>
          </p:cNvPr>
          <p:cNvSpPr txBox="1"/>
          <p:nvPr/>
        </p:nvSpPr>
        <p:spPr>
          <a:xfrm>
            <a:off x="554697" y="794821"/>
            <a:ext cx="6811818" cy="369332"/>
          </a:xfrm>
          <a:prstGeom prst="rect">
            <a:avLst/>
          </a:prstGeom>
          <a:noFill/>
        </p:spPr>
        <p:txBody>
          <a:bodyPr wrap="square">
            <a:spAutoFit/>
          </a:bodyPr>
          <a:lstStyle/>
          <a:p>
            <a:r>
              <a:rPr lang="en-US" noProof="0" dirty="0">
                <a:latin typeface="+mj-lt"/>
              </a:rPr>
              <a:t>MariaDB Modernization</a:t>
            </a:r>
          </a:p>
        </p:txBody>
      </p:sp>
      <p:sp>
        <p:nvSpPr>
          <p:cNvPr id="2" name="Rectangle 1">
            <a:extLst>
              <a:ext uri="{FF2B5EF4-FFF2-40B4-BE49-F238E27FC236}">
                <a16:creationId xmlns:a16="http://schemas.microsoft.com/office/drawing/2014/main" id="{D435FF40-E437-82E9-B7B8-B3201103D702}"/>
              </a:ext>
              <a:ext uri="{C183D7F6-B498-43B3-948B-1728B52AA6E4}">
                <adec:decorative xmlns:adec="http://schemas.microsoft.com/office/drawing/2017/decorative" val="1"/>
              </a:ext>
            </a:extLst>
          </p:cNvPr>
          <p:cNvSpPr>
            <a:spLocks/>
          </p:cNvSpPr>
          <p:nvPr/>
        </p:nvSpPr>
        <p:spPr bwMode="auto">
          <a:xfrm flipH="1">
            <a:off x="822910" y="2049097"/>
            <a:ext cx="45719" cy="285694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4" name="Oval 3">
            <a:extLst>
              <a:ext uri="{FF2B5EF4-FFF2-40B4-BE49-F238E27FC236}">
                <a16:creationId xmlns:a16="http://schemas.microsoft.com/office/drawing/2014/main" id="{80A88FE5-D267-08A8-EE24-BE419FBE58E3}"/>
              </a:ext>
              <a:ext uri="{C183D7F6-B498-43B3-948B-1728B52AA6E4}">
                <adec:decorative xmlns:adec="http://schemas.microsoft.com/office/drawing/2017/decorative" val="1"/>
              </a:ext>
            </a:extLst>
          </p:cNvPr>
          <p:cNvSpPr/>
          <p:nvPr/>
        </p:nvSpPr>
        <p:spPr bwMode="auto">
          <a:xfrm>
            <a:off x="774116" y="200807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6" name="Oval 5">
            <a:extLst>
              <a:ext uri="{FF2B5EF4-FFF2-40B4-BE49-F238E27FC236}">
                <a16:creationId xmlns:a16="http://schemas.microsoft.com/office/drawing/2014/main" id="{16F9BF45-86F5-39A9-8B45-DE1702CA6938}"/>
              </a:ext>
              <a:ext uri="{C183D7F6-B498-43B3-948B-1728B52AA6E4}">
                <adec:decorative xmlns:adec="http://schemas.microsoft.com/office/drawing/2017/decorative" val="1"/>
              </a:ext>
            </a:extLst>
          </p:cNvPr>
          <p:cNvSpPr/>
          <p:nvPr/>
        </p:nvSpPr>
        <p:spPr bwMode="auto">
          <a:xfrm>
            <a:off x="780585" y="2479532"/>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9" name="Oval 8">
            <a:extLst>
              <a:ext uri="{FF2B5EF4-FFF2-40B4-BE49-F238E27FC236}">
                <a16:creationId xmlns:a16="http://schemas.microsoft.com/office/drawing/2014/main" id="{80320533-22DE-5031-0DB7-FF47409068B7}"/>
              </a:ext>
              <a:ext uri="{C183D7F6-B498-43B3-948B-1728B52AA6E4}">
                <adec:decorative xmlns:adec="http://schemas.microsoft.com/office/drawing/2017/decorative" val="1"/>
              </a:ext>
            </a:extLst>
          </p:cNvPr>
          <p:cNvSpPr/>
          <p:nvPr/>
        </p:nvSpPr>
        <p:spPr bwMode="auto">
          <a:xfrm>
            <a:off x="774116" y="4786240"/>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10" name="Oval 9">
            <a:extLst>
              <a:ext uri="{FF2B5EF4-FFF2-40B4-BE49-F238E27FC236}">
                <a16:creationId xmlns:a16="http://schemas.microsoft.com/office/drawing/2014/main" id="{11A12BB9-F128-F860-D0BD-8E8937D7A64D}"/>
              </a:ext>
              <a:ext uri="{C183D7F6-B498-43B3-948B-1728B52AA6E4}">
                <adec:decorative xmlns:adec="http://schemas.microsoft.com/office/drawing/2017/decorative" val="1"/>
              </a:ext>
            </a:extLst>
          </p:cNvPr>
          <p:cNvSpPr/>
          <p:nvPr/>
        </p:nvSpPr>
        <p:spPr bwMode="auto">
          <a:xfrm>
            <a:off x="774116" y="449641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11" name="Straight Connector 10">
            <a:extLst>
              <a:ext uri="{FF2B5EF4-FFF2-40B4-BE49-F238E27FC236}">
                <a16:creationId xmlns:a16="http://schemas.microsoft.com/office/drawing/2014/main" id="{DB8B8403-A7BF-6050-1587-DBC3A1746639}"/>
              </a:ext>
              <a:ext uri="{C183D7F6-B498-43B3-948B-1728B52AA6E4}">
                <adec:decorative xmlns:adec="http://schemas.microsoft.com/office/drawing/2017/decorative" val="1"/>
              </a:ext>
            </a:extLst>
          </p:cNvPr>
          <p:cNvCxnSpPr>
            <a:cxnSpLocks/>
          </p:cNvCxnSpPr>
          <p:nvPr/>
        </p:nvCxnSpPr>
        <p:spPr>
          <a:xfrm>
            <a:off x="1078702" y="2410860"/>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A617769-32B1-97E4-A666-4EAB7828E001}"/>
              </a:ext>
            </a:extLst>
          </p:cNvPr>
          <p:cNvSpPr txBox="1"/>
          <p:nvPr/>
        </p:nvSpPr>
        <p:spPr>
          <a:xfrm>
            <a:off x="1078702" y="2008073"/>
            <a:ext cx="4914576" cy="32316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i="0" u="none" strike="noStrike" kern="1200" cap="none" spc="0" normalizeH="0" baseline="0" noProof="0" dirty="0">
                <a:ln>
                  <a:noFill/>
                </a:ln>
                <a:solidFill>
                  <a:srgbClr val="292827"/>
                </a:solidFill>
                <a:effectLst/>
                <a:uLnTx/>
                <a:uFillTx/>
                <a:ea typeface="+mn-ea"/>
                <a:cs typeface="+mn-cs"/>
              </a:rPr>
              <a:t>Azure Database for MariaDB server </a:t>
            </a:r>
            <a:r>
              <a:rPr kumimoji="0" lang="en-US" sz="1050" i="0" u="none" strike="noStrike" kern="0" cap="none" spc="0" normalizeH="0" baseline="0" noProof="0" dirty="0">
                <a:ln>
                  <a:noFill/>
                </a:ln>
                <a:solidFill>
                  <a:srgbClr val="000000"/>
                </a:solidFill>
                <a:effectLst/>
                <a:uLnTx/>
                <a:uFillTx/>
                <a:ea typeface="+mn-ea"/>
                <a:cs typeface="+mn-cs"/>
              </a:rPr>
              <a:t>to Azure Database for MySQL - flexible server migrations with near-zero code changes</a:t>
            </a:r>
          </a:p>
        </p:txBody>
      </p:sp>
      <p:sp>
        <p:nvSpPr>
          <p:cNvPr id="13" name="TextBox 12">
            <a:extLst>
              <a:ext uri="{FF2B5EF4-FFF2-40B4-BE49-F238E27FC236}">
                <a16:creationId xmlns:a16="http://schemas.microsoft.com/office/drawing/2014/main" id="{E2830B3F-3DDF-75F2-08BC-500DD50B3447}"/>
              </a:ext>
            </a:extLst>
          </p:cNvPr>
          <p:cNvSpPr txBox="1"/>
          <p:nvPr/>
        </p:nvSpPr>
        <p:spPr>
          <a:xfrm>
            <a:off x="1078702" y="2492096"/>
            <a:ext cx="4883601" cy="187230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ea typeface="+mn-ea"/>
                <a:cs typeface="+mn-cs"/>
              </a:rPr>
              <a:t>On-premise MariaDB to Azure Database for MySQL - flexible server migrations with near-zero code changes </a:t>
            </a:r>
          </a:p>
          <a:p>
            <a:pPr marR="0" lvl="0" algn="l" defTabSz="914400" rtl="0" eaLnBrk="1" fontAlgn="auto" latinLnBrk="0" hangingPunct="1">
              <a:lnSpc>
                <a:spcPct val="100000"/>
              </a:lnSpc>
              <a:spcBef>
                <a:spcPts val="0"/>
              </a:spcBef>
              <a:spcAft>
                <a:spcPts val="200"/>
              </a:spcAft>
              <a:buClrTx/>
              <a:buSzTx/>
              <a:tabLst/>
              <a:defRPr/>
            </a:pPr>
            <a:r>
              <a:rPr kumimoji="0" lang="en-US" sz="1000" b="1" i="0" u="none" strike="noStrike" kern="0" cap="none" spc="0" normalizeH="0" baseline="0" noProof="0" dirty="0">
                <a:ln>
                  <a:noFill/>
                </a:ln>
                <a:solidFill>
                  <a:srgbClr val="000000"/>
                </a:solidFill>
                <a:effectLst/>
                <a:uLnTx/>
                <a:uFillTx/>
                <a:ea typeface="+mn-ea"/>
                <a:cs typeface="+mn-cs"/>
              </a:rPr>
              <a:t>Migration scenarios supported:</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On-premises MariaDB Server to Azure Database for MySQL - flexible server</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MariaDB server on Windows Azure VM to Azure Database for MySQL - flexible server</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MariaDB server on Linux Azure VM to Azure Database for MySQL - flexible server</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AWS EC2 MariaDB Server to Azure Database for MySQL - flexible server</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AWS RDS for MariaDB Server to Azure Database for MySQL - flexible server</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MariaDB on Google Compute Engine (GCE) to Azure Database for MySQL - flexible server</a:t>
            </a:r>
            <a:endParaRPr kumimoji="0" lang="en-US" sz="1000" b="0" i="0" u="none" strike="noStrike" kern="0" cap="none" spc="0" normalizeH="0" baseline="0" noProof="0" dirty="0">
              <a:ln>
                <a:noFill/>
              </a:ln>
              <a:solidFill>
                <a:srgbClr val="000000"/>
              </a:solidFill>
              <a:effectLst/>
              <a:uLnTx/>
              <a:uFillTx/>
              <a:ea typeface="+mn-ea"/>
              <a:cs typeface="Segoe Sans Text" pitchFamily="2" charset="0"/>
            </a:endParaRPr>
          </a:p>
        </p:txBody>
      </p:sp>
      <p:cxnSp>
        <p:nvCxnSpPr>
          <p:cNvPr id="16" name="Straight Connector 15">
            <a:extLst>
              <a:ext uri="{FF2B5EF4-FFF2-40B4-BE49-F238E27FC236}">
                <a16:creationId xmlns:a16="http://schemas.microsoft.com/office/drawing/2014/main" id="{88A6FB0E-F9C4-A311-1C79-5706BD0EC238}"/>
              </a:ext>
              <a:ext uri="{C183D7F6-B498-43B3-948B-1728B52AA6E4}">
                <adec:decorative xmlns:adec="http://schemas.microsoft.com/office/drawing/2017/decorative" val="1"/>
              </a:ext>
            </a:extLst>
          </p:cNvPr>
          <p:cNvCxnSpPr>
            <a:cxnSpLocks/>
          </p:cNvCxnSpPr>
          <p:nvPr/>
        </p:nvCxnSpPr>
        <p:spPr>
          <a:xfrm>
            <a:off x="1086220" y="442343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590443-59A5-6E38-06D8-C1C4F836B8B0}"/>
              </a:ext>
              <a:ext uri="{C183D7F6-B498-43B3-948B-1728B52AA6E4}">
                <adec:decorative xmlns:adec="http://schemas.microsoft.com/office/drawing/2017/decorative" val="1"/>
              </a:ext>
            </a:extLst>
          </p:cNvPr>
          <p:cNvCxnSpPr>
            <a:cxnSpLocks/>
          </p:cNvCxnSpPr>
          <p:nvPr/>
        </p:nvCxnSpPr>
        <p:spPr>
          <a:xfrm>
            <a:off x="1086220" y="472406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BF3D75A-E77B-8345-9ACC-F66CFC402541}"/>
              </a:ext>
            </a:extLst>
          </p:cNvPr>
          <p:cNvSpPr txBox="1"/>
          <p:nvPr/>
        </p:nvSpPr>
        <p:spPr>
          <a:xfrm>
            <a:off x="1086220" y="4505734"/>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dirty="0">
                <a:ln>
                  <a:noFill/>
                </a:ln>
                <a:solidFill>
                  <a:srgbClr val="292827"/>
                </a:solidFill>
                <a:effectLst/>
                <a:uLnTx/>
                <a:uFillTx/>
                <a:ea typeface="+mn-ea"/>
                <a:cs typeface="+mn-cs"/>
              </a:rPr>
              <a:t>HA/DR configuration &amp; setup for Azure MySQL Flex</a:t>
            </a:r>
          </a:p>
        </p:txBody>
      </p:sp>
      <p:sp>
        <p:nvSpPr>
          <p:cNvPr id="19" name="TextBox 18">
            <a:extLst>
              <a:ext uri="{FF2B5EF4-FFF2-40B4-BE49-F238E27FC236}">
                <a16:creationId xmlns:a16="http://schemas.microsoft.com/office/drawing/2014/main" id="{A695DF22-EB91-5347-2703-6BF2D0F14596}"/>
              </a:ext>
            </a:extLst>
          </p:cNvPr>
          <p:cNvSpPr txBox="1"/>
          <p:nvPr/>
        </p:nvSpPr>
        <p:spPr>
          <a:xfrm>
            <a:off x="1086220" y="4791126"/>
            <a:ext cx="4914576" cy="33342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ea typeface="+mn-ea"/>
                <a:cs typeface="+mn-cs"/>
              </a:rPr>
              <a:t>Supported MariaDB Servers for Migration:</a:t>
            </a:r>
          </a:p>
          <a:p>
            <a:pPr marL="133350" marR="0" lvl="1"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mn-cs"/>
              </a:rPr>
              <a:t>MariaDB 10.2 and above</a:t>
            </a:r>
          </a:p>
        </p:txBody>
      </p:sp>
      <p:sp>
        <p:nvSpPr>
          <p:cNvPr id="20" name="Rectangle 19">
            <a:extLst>
              <a:ext uri="{FF2B5EF4-FFF2-40B4-BE49-F238E27FC236}">
                <a16:creationId xmlns:a16="http://schemas.microsoft.com/office/drawing/2014/main" id="{D6FEA194-020E-1D92-1D49-A52630B1B5F2}"/>
              </a:ext>
              <a:ext uri="{C183D7F6-B498-43B3-948B-1728B52AA6E4}">
                <adec:decorative xmlns:adec="http://schemas.microsoft.com/office/drawing/2017/decorative" val="1"/>
              </a:ext>
            </a:extLst>
          </p:cNvPr>
          <p:cNvSpPr>
            <a:spLocks/>
          </p:cNvSpPr>
          <p:nvPr/>
        </p:nvSpPr>
        <p:spPr bwMode="auto">
          <a:xfrm>
            <a:off x="6393443" y="1997507"/>
            <a:ext cx="45719" cy="409930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spcBef>
                <a:spcPct val="0"/>
              </a:spcBef>
              <a:spcAft>
                <a:spcPct val="0"/>
              </a:spcAft>
            </a:pPr>
            <a:endParaRPr lang="en-US" noProof="0" dirty="0">
              <a:solidFill>
                <a:srgbClr val="FFFFFF"/>
              </a:solidFill>
              <a:latin typeface="Segoe Sans Text" pitchFamily="2" charset="0"/>
              <a:cs typeface="Segoe Sans Text" pitchFamily="2" charset="0"/>
            </a:endParaRPr>
          </a:p>
        </p:txBody>
      </p:sp>
      <p:sp>
        <p:nvSpPr>
          <p:cNvPr id="21" name="Oval 20">
            <a:extLst>
              <a:ext uri="{FF2B5EF4-FFF2-40B4-BE49-F238E27FC236}">
                <a16:creationId xmlns:a16="http://schemas.microsoft.com/office/drawing/2014/main" id="{B14C1E11-5B1D-11D3-EC69-DE80D50D29A3}"/>
              </a:ext>
              <a:ext uri="{C183D7F6-B498-43B3-948B-1728B52AA6E4}">
                <adec:decorative xmlns:adec="http://schemas.microsoft.com/office/drawing/2017/decorative" val="1"/>
              </a:ext>
            </a:extLst>
          </p:cNvPr>
          <p:cNvSpPr/>
          <p:nvPr/>
        </p:nvSpPr>
        <p:spPr bwMode="auto">
          <a:xfrm>
            <a:off x="6346127" y="3538739"/>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2" name="Oval 21">
            <a:extLst>
              <a:ext uri="{FF2B5EF4-FFF2-40B4-BE49-F238E27FC236}">
                <a16:creationId xmlns:a16="http://schemas.microsoft.com/office/drawing/2014/main" id="{7244369F-0737-8A98-B568-30CF7B6BE746}"/>
              </a:ext>
              <a:ext uri="{C183D7F6-B498-43B3-948B-1728B52AA6E4}">
                <adec:decorative xmlns:adec="http://schemas.microsoft.com/office/drawing/2017/decorative" val="1"/>
              </a:ext>
            </a:extLst>
          </p:cNvPr>
          <p:cNvSpPr/>
          <p:nvPr/>
        </p:nvSpPr>
        <p:spPr bwMode="auto">
          <a:xfrm>
            <a:off x="6350889" y="200303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3" name="Oval 22">
            <a:extLst>
              <a:ext uri="{FF2B5EF4-FFF2-40B4-BE49-F238E27FC236}">
                <a16:creationId xmlns:a16="http://schemas.microsoft.com/office/drawing/2014/main" id="{072E3595-32D1-6631-1904-F35F3C7A7D6E}"/>
              </a:ext>
              <a:ext uri="{C183D7F6-B498-43B3-948B-1728B52AA6E4}">
                <adec:decorative xmlns:adec="http://schemas.microsoft.com/office/drawing/2017/decorative" val="1"/>
              </a:ext>
            </a:extLst>
          </p:cNvPr>
          <p:cNvSpPr/>
          <p:nvPr/>
        </p:nvSpPr>
        <p:spPr bwMode="auto">
          <a:xfrm>
            <a:off x="6350889" y="408613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4" name="Oval 23">
            <a:extLst>
              <a:ext uri="{FF2B5EF4-FFF2-40B4-BE49-F238E27FC236}">
                <a16:creationId xmlns:a16="http://schemas.microsoft.com/office/drawing/2014/main" id="{E7CFF559-A2EA-6B13-75B9-AB32BF13F88E}"/>
              </a:ext>
              <a:ext uri="{C183D7F6-B498-43B3-948B-1728B52AA6E4}">
                <adec:decorative xmlns:adec="http://schemas.microsoft.com/office/drawing/2017/decorative" val="1"/>
              </a:ext>
            </a:extLst>
          </p:cNvPr>
          <p:cNvSpPr/>
          <p:nvPr/>
        </p:nvSpPr>
        <p:spPr bwMode="auto">
          <a:xfrm>
            <a:off x="6350889" y="435983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5" name="Oval 24">
            <a:extLst>
              <a:ext uri="{FF2B5EF4-FFF2-40B4-BE49-F238E27FC236}">
                <a16:creationId xmlns:a16="http://schemas.microsoft.com/office/drawing/2014/main" id="{F86B7080-9C56-2DCE-2C0C-1DF859F0B90B}"/>
              </a:ext>
              <a:ext uri="{C183D7F6-B498-43B3-948B-1728B52AA6E4}">
                <adec:decorative xmlns:adec="http://schemas.microsoft.com/office/drawing/2017/decorative" val="1"/>
              </a:ext>
            </a:extLst>
          </p:cNvPr>
          <p:cNvSpPr/>
          <p:nvPr/>
        </p:nvSpPr>
        <p:spPr bwMode="auto">
          <a:xfrm>
            <a:off x="6350889" y="518092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6" name="Oval 25">
            <a:extLst>
              <a:ext uri="{FF2B5EF4-FFF2-40B4-BE49-F238E27FC236}">
                <a16:creationId xmlns:a16="http://schemas.microsoft.com/office/drawing/2014/main" id="{54B63E6A-29EC-FCE8-CEC3-823678FC1DDF}"/>
              </a:ext>
              <a:ext uri="{C183D7F6-B498-43B3-948B-1728B52AA6E4}">
                <adec:decorative xmlns:adec="http://schemas.microsoft.com/office/drawing/2017/decorative" val="1"/>
              </a:ext>
            </a:extLst>
          </p:cNvPr>
          <p:cNvSpPr/>
          <p:nvPr/>
        </p:nvSpPr>
        <p:spPr bwMode="auto">
          <a:xfrm>
            <a:off x="6350889" y="545462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8" name="Oval 27">
            <a:extLst>
              <a:ext uri="{FF2B5EF4-FFF2-40B4-BE49-F238E27FC236}">
                <a16:creationId xmlns:a16="http://schemas.microsoft.com/office/drawing/2014/main" id="{8EB63689-1617-FA96-90C2-3F6CB2AB5DCC}"/>
              </a:ext>
              <a:ext uri="{C183D7F6-B498-43B3-948B-1728B52AA6E4}">
                <adec:decorative xmlns:adec="http://schemas.microsoft.com/office/drawing/2017/decorative" val="1"/>
              </a:ext>
            </a:extLst>
          </p:cNvPr>
          <p:cNvSpPr/>
          <p:nvPr/>
        </p:nvSpPr>
        <p:spPr bwMode="auto">
          <a:xfrm>
            <a:off x="6350889" y="244394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29" name="Oval 28">
            <a:extLst>
              <a:ext uri="{FF2B5EF4-FFF2-40B4-BE49-F238E27FC236}">
                <a16:creationId xmlns:a16="http://schemas.microsoft.com/office/drawing/2014/main" id="{E384D0FC-4248-35E1-469D-BF7FC07C85D1}"/>
              </a:ext>
              <a:ext uri="{C183D7F6-B498-43B3-948B-1728B52AA6E4}">
                <adec:decorative xmlns:adec="http://schemas.microsoft.com/office/drawing/2017/decorative" val="1"/>
              </a:ext>
            </a:extLst>
          </p:cNvPr>
          <p:cNvSpPr/>
          <p:nvPr/>
        </p:nvSpPr>
        <p:spPr bwMode="auto">
          <a:xfrm>
            <a:off x="6350889" y="2717645"/>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0" name="Oval 29">
            <a:extLst>
              <a:ext uri="{FF2B5EF4-FFF2-40B4-BE49-F238E27FC236}">
                <a16:creationId xmlns:a16="http://schemas.microsoft.com/office/drawing/2014/main" id="{976BFDCF-8188-FAA7-A39A-92395C763C83}"/>
              </a:ext>
              <a:ext uri="{C183D7F6-B498-43B3-948B-1728B52AA6E4}">
                <adec:decorative xmlns:adec="http://schemas.microsoft.com/office/drawing/2017/decorative" val="1"/>
              </a:ext>
            </a:extLst>
          </p:cNvPr>
          <p:cNvSpPr/>
          <p:nvPr/>
        </p:nvSpPr>
        <p:spPr bwMode="auto">
          <a:xfrm>
            <a:off x="6350889" y="463353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1" name="Oval 30">
            <a:extLst>
              <a:ext uri="{FF2B5EF4-FFF2-40B4-BE49-F238E27FC236}">
                <a16:creationId xmlns:a16="http://schemas.microsoft.com/office/drawing/2014/main" id="{693CC61A-464A-947A-5DE3-80C331157657}"/>
              </a:ext>
              <a:ext uri="{C183D7F6-B498-43B3-948B-1728B52AA6E4}">
                <adec:decorative xmlns:adec="http://schemas.microsoft.com/office/drawing/2017/decorative" val="1"/>
              </a:ext>
            </a:extLst>
          </p:cNvPr>
          <p:cNvSpPr/>
          <p:nvPr/>
        </p:nvSpPr>
        <p:spPr bwMode="auto">
          <a:xfrm>
            <a:off x="6350889" y="4907229"/>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2" name="Oval 31">
            <a:extLst>
              <a:ext uri="{FF2B5EF4-FFF2-40B4-BE49-F238E27FC236}">
                <a16:creationId xmlns:a16="http://schemas.microsoft.com/office/drawing/2014/main" id="{3E3ED874-DD67-9538-15D9-74E20947E5FB}"/>
              </a:ext>
              <a:ext uri="{C183D7F6-B498-43B3-948B-1728B52AA6E4}">
                <adec:decorative xmlns:adec="http://schemas.microsoft.com/office/drawing/2017/decorative" val="1"/>
              </a:ext>
            </a:extLst>
          </p:cNvPr>
          <p:cNvSpPr/>
          <p:nvPr/>
        </p:nvSpPr>
        <p:spPr bwMode="auto">
          <a:xfrm>
            <a:off x="6350889" y="6007584"/>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3" name="Oval 32">
            <a:extLst>
              <a:ext uri="{FF2B5EF4-FFF2-40B4-BE49-F238E27FC236}">
                <a16:creationId xmlns:a16="http://schemas.microsoft.com/office/drawing/2014/main" id="{4A2D27B4-2905-FC7C-9370-A4F34427952E}"/>
              </a:ext>
              <a:ext uri="{C183D7F6-B498-43B3-948B-1728B52AA6E4}">
                <adec:decorative xmlns:adec="http://schemas.microsoft.com/office/drawing/2017/decorative" val="1"/>
              </a:ext>
            </a:extLst>
          </p:cNvPr>
          <p:cNvSpPr/>
          <p:nvPr/>
        </p:nvSpPr>
        <p:spPr bwMode="auto">
          <a:xfrm>
            <a:off x="6350889" y="2991343"/>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4" name="Oval 33">
            <a:extLst>
              <a:ext uri="{FF2B5EF4-FFF2-40B4-BE49-F238E27FC236}">
                <a16:creationId xmlns:a16="http://schemas.microsoft.com/office/drawing/2014/main" id="{A2EA26A4-B88B-C301-2865-8D4B12FFFD85}"/>
              </a:ext>
              <a:ext uri="{C183D7F6-B498-43B3-948B-1728B52AA6E4}">
                <adec:decorative xmlns:adec="http://schemas.microsoft.com/office/drawing/2017/decorative" val="1"/>
              </a:ext>
            </a:extLst>
          </p:cNvPr>
          <p:cNvSpPr/>
          <p:nvPr/>
        </p:nvSpPr>
        <p:spPr bwMode="auto">
          <a:xfrm>
            <a:off x="6350889" y="3265041"/>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5" name="Oval 34">
            <a:extLst>
              <a:ext uri="{FF2B5EF4-FFF2-40B4-BE49-F238E27FC236}">
                <a16:creationId xmlns:a16="http://schemas.microsoft.com/office/drawing/2014/main" id="{8B63D5E7-4F27-8778-C98F-18B5EB01ED74}"/>
              </a:ext>
              <a:ext uri="{C183D7F6-B498-43B3-948B-1728B52AA6E4}">
                <adec:decorative xmlns:adec="http://schemas.microsoft.com/office/drawing/2017/decorative" val="1"/>
              </a:ext>
            </a:extLst>
          </p:cNvPr>
          <p:cNvSpPr/>
          <p:nvPr/>
        </p:nvSpPr>
        <p:spPr bwMode="auto">
          <a:xfrm>
            <a:off x="6350889" y="3812437"/>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sp>
        <p:nvSpPr>
          <p:cNvPr id="36" name="Oval 35">
            <a:extLst>
              <a:ext uri="{FF2B5EF4-FFF2-40B4-BE49-F238E27FC236}">
                <a16:creationId xmlns:a16="http://schemas.microsoft.com/office/drawing/2014/main" id="{2A45493C-6549-FC5C-1742-0FB657898A59}"/>
              </a:ext>
              <a:ext uri="{C183D7F6-B498-43B3-948B-1728B52AA6E4}">
                <adec:decorative xmlns:adec="http://schemas.microsoft.com/office/drawing/2017/decorative" val="1"/>
              </a:ext>
            </a:extLst>
          </p:cNvPr>
          <p:cNvSpPr/>
          <p:nvPr/>
        </p:nvSpPr>
        <p:spPr bwMode="auto">
          <a:xfrm>
            <a:off x="6350889" y="5728668"/>
            <a:ext cx="140352" cy="140352"/>
          </a:xfrm>
          <a:prstGeom prst="ellipse">
            <a:avLst/>
          </a:prstGeom>
          <a:gradFill flip="none" rotWithShape="1">
            <a:gsLst>
              <a:gs pos="0">
                <a:schemeClr val="accent6"/>
              </a:gs>
              <a:gs pos="100000">
                <a:schemeClr val="tx2"/>
              </a:gs>
            </a:gsLst>
            <a:path path="circle">
              <a:fillToRect l="100000" t="100000"/>
            </a:path>
            <a:tileRect r="-100000" b="-100000"/>
          </a:gradFill>
          <a:ln w="12700">
            <a:gradFill flip="none" rotWithShape="1">
              <a:gsLst>
                <a:gs pos="0">
                  <a:schemeClr val="bg1">
                    <a:lumMod val="95000"/>
                  </a:schemeClr>
                </a:gs>
                <a:gs pos="100000">
                  <a:schemeClr val="bg1"/>
                </a:gs>
              </a:gsLst>
              <a:lin ang="10800000" scaled="1"/>
              <a:tileRect/>
            </a:gradFill>
            <a:headEnd type="none" w="med" len="med"/>
            <a:tailEnd type="none" w="med" len="med"/>
          </a:ln>
          <a:effectLst>
            <a:outerShdw blurRad="50800" dist="38100" dir="5400000" algn="t" rotWithShape="0">
              <a:schemeClr val="bg1">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800" b="1" noProof="0" dirty="0">
              <a:solidFill>
                <a:srgbClr val="0078D4"/>
              </a:solidFill>
              <a:latin typeface="Segoe Sans Text" pitchFamily="2" charset="0"/>
              <a:cs typeface="Segoe Sans Text" pitchFamily="2" charset="0"/>
            </a:endParaRPr>
          </a:p>
        </p:txBody>
      </p:sp>
      <p:cxnSp>
        <p:nvCxnSpPr>
          <p:cNvPr id="37" name="Straight Connector 36">
            <a:extLst>
              <a:ext uri="{FF2B5EF4-FFF2-40B4-BE49-F238E27FC236}">
                <a16:creationId xmlns:a16="http://schemas.microsoft.com/office/drawing/2014/main" id="{98DAB735-9814-8FB5-7161-5A145421ECEF}"/>
              </a:ext>
              <a:ext uri="{C183D7F6-B498-43B3-948B-1728B52AA6E4}">
                <adec:decorative xmlns:adec="http://schemas.microsoft.com/office/drawing/2017/decorative" val="1"/>
              </a:ext>
            </a:extLst>
          </p:cNvPr>
          <p:cNvCxnSpPr>
            <a:cxnSpLocks/>
          </p:cNvCxnSpPr>
          <p:nvPr/>
        </p:nvCxnSpPr>
        <p:spPr>
          <a:xfrm>
            <a:off x="6663568" y="2382914"/>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7C75D6E-8627-1611-4CA5-50CB3C218CDC}"/>
              </a:ext>
              <a:ext uri="{C183D7F6-B498-43B3-948B-1728B52AA6E4}">
                <adec:decorative xmlns:adec="http://schemas.microsoft.com/office/drawing/2017/decorative" val="1"/>
              </a:ext>
            </a:extLst>
          </p:cNvPr>
          <p:cNvCxnSpPr>
            <a:cxnSpLocks/>
          </p:cNvCxnSpPr>
          <p:nvPr/>
        </p:nvCxnSpPr>
        <p:spPr>
          <a:xfrm>
            <a:off x="6663568" y="265660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290FBC-D58B-5048-2483-FB34E8F440DC}"/>
              </a:ext>
              <a:ext uri="{C183D7F6-B498-43B3-948B-1728B52AA6E4}">
                <adec:decorative xmlns:adec="http://schemas.microsoft.com/office/drawing/2017/decorative" val="1"/>
              </a:ext>
            </a:extLst>
          </p:cNvPr>
          <p:cNvCxnSpPr>
            <a:cxnSpLocks/>
          </p:cNvCxnSpPr>
          <p:nvPr/>
        </p:nvCxnSpPr>
        <p:spPr>
          <a:xfrm>
            <a:off x="6663568" y="293029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19F7586-5988-83C2-DA7C-6E619D3A21A5}"/>
              </a:ext>
              <a:ext uri="{C183D7F6-B498-43B3-948B-1728B52AA6E4}">
                <adec:decorative xmlns:adec="http://schemas.microsoft.com/office/drawing/2017/decorative" val="1"/>
              </a:ext>
            </a:extLst>
          </p:cNvPr>
          <p:cNvCxnSpPr>
            <a:cxnSpLocks/>
          </p:cNvCxnSpPr>
          <p:nvPr/>
        </p:nvCxnSpPr>
        <p:spPr>
          <a:xfrm>
            <a:off x="6663568" y="320399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E3E5206-8399-69B9-8049-E67E23875F9D}"/>
              </a:ext>
              <a:ext uri="{C183D7F6-B498-43B3-948B-1728B52AA6E4}">
                <adec:decorative xmlns:adec="http://schemas.microsoft.com/office/drawing/2017/decorative" val="1"/>
              </a:ext>
            </a:extLst>
          </p:cNvPr>
          <p:cNvCxnSpPr>
            <a:cxnSpLocks/>
          </p:cNvCxnSpPr>
          <p:nvPr/>
        </p:nvCxnSpPr>
        <p:spPr>
          <a:xfrm>
            <a:off x="6663568" y="347768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B5C5E30-F8C4-78B7-E4BB-6859D50852B2}"/>
              </a:ext>
              <a:ext uri="{C183D7F6-B498-43B3-948B-1728B52AA6E4}">
                <adec:decorative xmlns:adec="http://schemas.microsoft.com/office/drawing/2017/decorative" val="1"/>
              </a:ext>
            </a:extLst>
          </p:cNvPr>
          <p:cNvCxnSpPr>
            <a:cxnSpLocks/>
          </p:cNvCxnSpPr>
          <p:nvPr/>
        </p:nvCxnSpPr>
        <p:spPr>
          <a:xfrm>
            <a:off x="6663568" y="3751374"/>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556D0E4-DB47-19C0-4E04-906A342FB66B}"/>
              </a:ext>
              <a:ext uri="{C183D7F6-B498-43B3-948B-1728B52AA6E4}">
                <adec:decorative xmlns:adec="http://schemas.microsoft.com/office/drawing/2017/decorative" val="1"/>
              </a:ext>
            </a:extLst>
          </p:cNvPr>
          <p:cNvCxnSpPr>
            <a:cxnSpLocks/>
          </p:cNvCxnSpPr>
          <p:nvPr/>
        </p:nvCxnSpPr>
        <p:spPr>
          <a:xfrm>
            <a:off x="6663568" y="402506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4F464F3-ABEB-9C20-6B85-FDAE8CC3FC72}"/>
              </a:ext>
              <a:ext uri="{C183D7F6-B498-43B3-948B-1728B52AA6E4}">
                <adec:decorative xmlns:adec="http://schemas.microsoft.com/office/drawing/2017/decorative" val="1"/>
              </a:ext>
            </a:extLst>
          </p:cNvPr>
          <p:cNvCxnSpPr>
            <a:cxnSpLocks/>
          </p:cNvCxnSpPr>
          <p:nvPr/>
        </p:nvCxnSpPr>
        <p:spPr>
          <a:xfrm>
            <a:off x="6663568" y="429875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BBF4CFD-97B4-BB43-155A-4131CDEE92E6}"/>
              </a:ext>
              <a:ext uri="{C183D7F6-B498-43B3-948B-1728B52AA6E4}">
                <adec:decorative xmlns:adec="http://schemas.microsoft.com/office/drawing/2017/decorative" val="1"/>
              </a:ext>
            </a:extLst>
          </p:cNvPr>
          <p:cNvCxnSpPr>
            <a:cxnSpLocks/>
          </p:cNvCxnSpPr>
          <p:nvPr/>
        </p:nvCxnSpPr>
        <p:spPr>
          <a:xfrm>
            <a:off x="6663568" y="457245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8935805-734E-4CE2-65EC-77B4F7757E5C}"/>
              </a:ext>
              <a:ext uri="{C183D7F6-B498-43B3-948B-1728B52AA6E4}">
                <adec:decorative xmlns:adec="http://schemas.microsoft.com/office/drawing/2017/decorative" val="1"/>
              </a:ext>
            </a:extLst>
          </p:cNvPr>
          <p:cNvCxnSpPr>
            <a:cxnSpLocks/>
          </p:cNvCxnSpPr>
          <p:nvPr/>
        </p:nvCxnSpPr>
        <p:spPr>
          <a:xfrm>
            <a:off x="6663568" y="484614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D0A8CD2-E360-7097-F2F6-8F0B40263CF3}"/>
              </a:ext>
              <a:ext uri="{C183D7F6-B498-43B3-948B-1728B52AA6E4}">
                <adec:decorative xmlns:adec="http://schemas.microsoft.com/office/drawing/2017/decorative" val="1"/>
              </a:ext>
            </a:extLst>
          </p:cNvPr>
          <p:cNvCxnSpPr>
            <a:cxnSpLocks/>
          </p:cNvCxnSpPr>
          <p:nvPr/>
        </p:nvCxnSpPr>
        <p:spPr>
          <a:xfrm>
            <a:off x="6663568" y="5119834"/>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4B8C74C-65C7-DC15-4CE9-CA3F5A0E5137}"/>
              </a:ext>
              <a:ext uri="{C183D7F6-B498-43B3-948B-1728B52AA6E4}">
                <adec:decorative xmlns:adec="http://schemas.microsoft.com/office/drawing/2017/decorative" val="1"/>
              </a:ext>
            </a:extLst>
          </p:cNvPr>
          <p:cNvCxnSpPr>
            <a:cxnSpLocks/>
          </p:cNvCxnSpPr>
          <p:nvPr/>
        </p:nvCxnSpPr>
        <p:spPr>
          <a:xfrm>
            <a:off x="6663568" y="539352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C36E6E8-FE10-0B4B-7A80-171966C6026D}"/>
              </a:ext>
              <a:ext uri="{C183D7F6-B498-43B3-948B-1728B52AA6E4}">
                <adec:decorative xmlns:adec="http://schemas.microsoft.com/office/drawing/2017/decorative" val="1"/>
              </a:ext>
            </a:extLst>
          </p:cNvPr>
          <p:cNvCxnSpPr>
            <a:cxnSpLocks/>
          </p:cNvCxnSpPr>
          <p:nvPr/>
        </p:nvCxnSpPr>
        <p:spPr>
          <a:xfrm>
            <a:off x="6663568" y="594091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10ADD141-0752-5359-A099-15A8006ECBAF}"/>
              </a:ext>
            </a:extLst>
          </p:cNvPr>
          <p:cNvSpPr txBox="1"/>
          <p:nvPr/>
        </p:nvSpPr>
        <p:spPr>
          <a:xfrm>
            <a:off x="6663568" y="2015235"/>
            <a:ext cx="4914576"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Customer is responsible for testing of dependencies (e.g., applications, mapped databases) and source system changes.</a:t>
            </a:r>
          </a:p>
        </p:txBody>
      </p:sp>
      <p:sp>
        <p:nvSpPr>
          <p:cNvPr id="51" name="TextBox 50">
            <a:extLst>
              <a:ext uri="{FF2B5EF4-FFF2-40B4-BE49-F238E27FC236}">
                <a16:creationId xmlns:a16="http://schemas.microsoft.com/office/drawing/2014/main" id="{59206579-C901-675F-354F-5F58C399B974}"/>
              </a:ext>
            </a:extLst>
          </p:cNvPr>
          <p:cNvSpPr txBox="1"/>
          <p:nvPr/>
        </p:nvSpPr>
        <p:spPr>
          <a:xfrm>
            <a:off x="6663568" y="244281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Advisory services and consulting</a:t>
            </a:r>
          </a:p>
        </p:txBody>
      </p:sp>
      <p:sp>
        <p:nvSpPr>
          <p:cNvPr id="52" name="TextBox 51">
            <a:extLst>
              <a:ext uri="{FF2B5EF4-FFF2-40B4-BE49-F238E27FC236}">
                <a16:creationId xmlns:a16="http://schemas.microsoft.com/office/drawing/2014/main" id="{D133D36F-3520-5F48-1812-C4E6CFB7379E}"/>
              </a:ext>
            </a:extLst>
          </p:cNvPr>
          <p:cNvSpPr txBox="1"/>
          <p:nvPr/>
        </p:nvSpPr>
        <p:spPr>
          <a:xfrm>
            <a:off x="6663568" y="271650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MariaDB Server replication setup and configuration on Azure VMs</a:t>
            </a:r>
          </a:p>
        </p:txBody>
      </p:sp>
      <p:sp>
        <p:nvSpPr>
          <p:cNvPr id="53" name="TextBox 52">
            <a:extLst>
              <a:ext uri="{FF2B5EF4-FFF2-40B4-BE49-F238E27FC236}">
                <a16:creationId xmlns:a16="http://schemas.microsoft.com/office/drawing/2014/main" id="{9D3C5B11-BD37-7211-FD91-DF7EC9245D5F}"/>
              </a:ext>
            </a:extLst>
          </p:cNvPr>
          <p:cNvSpPr txBox="1"/>
          <p:nvPr/>
        </p:nvSpPr>
        <p:spPr>
          <a:xfrm>
            <a:off x="6663568" y="2990200"/>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changes in the source (any time) and target environments (after handover)</a:t>
            </a:r>
          </a:p>
        </p:txBody>
      </p:sp>
      <p:sp>
        <p:nvSpPr>
          <p:cNvPr id="54" name="TextBox 53">
            <a:extLst>
              <a:ext uri="{FF2B5EF4-FFF2-40B4-BE49-F238E27FC236}">
                <a16:creationId xmlns:a16="http://schemas.microsoft.com/office/drawing/2014/main" id="{C53152FD-B5E5-8017-99CF-D018D4621D88}"/>
              </a:ext>
            </a:extLst>
          </p:cNvPr>
          <p:cNvSpPr txBox="1"/>
          <p:nvPr/>
        </p:nvSpPr>
        <p:spPr>
          <a:xfrm>
            <a:off x="6663568" y="3263892"/>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application/services-related configurations and testing (pre</a:t>
            </a:r>
            <a:r>
              <a:rPr lang="en-US" sz="1000" kern="0" noProof="0" dirty="0">
                <a:solidFill>
                  <a:srgbClr val="000000"/>
                </a:solidFill>
              </a:rPr>
              <a:t>-</a:t>
            </a:r>
            <a:r>
              <a:rPr kumimoji="0" lang="en-US" sz="1000" b="0" i="0" u="none" strike="noStrike" kern="0" cap="none" spc="0" normalizeH="0" baseline="0" noProof="0" dirty="0">
                <a:ln>
                  <a:noFill/>
                </a:ln>
                <a:solidFill>
                  <a:srgbClr val="000000"/>
                </a:solidFill>
                <a:effectLst/>
                <a:uLnTx/>
                <a:uFillTx/>
                <a:ea typeface="+mn-ea"/>
                <a:cs typeface="+mn-cs"/>
              </a:rPr>
              <a:t> and post-migration)</a:t>
            </a:r>
          </a:p>
        </p:txBody>
      </p:sp>
      <p:sp>
        <p:nvSpPr>
          <p:cNvPr id="55" name="TextBox 54">
            <a:extLst>
              <a:ext uri="{FF2B5EF4-FFF2-40B4-BE49-F238E27FC236}">
                <a16:creationId xmlns:a16="http://schemas.microsoft.com/office/drawing/2014/main" id="{7771CC97-FE07-1453-2EE3-1B1D30A58785}"/>
              </a:ext>
            </a:extLst>
          </p:cNvPr>
          <p:cNvSpPr txBox="1"/>
          <p:nvPr/>
        </p:nvSpPr>
        <p:spPr>
          <a:xfrm>
            <a:off x="6663568" y="3537584"/>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Performing and configuring backups, monitoring, and alerts (pre</a:t>
            </a:r>
            <a:r>
              <a:rPr lang="en-US" sz="1000" kern="0" noProof="0" dirty="0">
                <a:solidFill>
                  <a:srgbClr val="000000"/>
                </a:solidFill>
              </a:rPr>
              <a:t>-</a:t>
            </a:r>
            <a:r>
              <a:rPr kumimoji="0" lang="en-US" sz="1000" b="0" i="0" u="none" strike="noStrike" kern="0" cap="none" spc="0" normalizeH="0" baseline="0" noProof="0" dirty="0">
                <a:ln>
                  <a:noFill/>
                </a:ln>
                <a:solidFill>
                  <a:srgbClr val="000000"/>
                </a:solidFill>
                <a:effectLst/>
                <a:uLnTx/>
                <a:uFillTx/>
                <a:ea typeface="+mn-ea"/>
                <a:cs typeface="+mn-cs"/>
              </a:rPr>
              <a:t> and post-migration)</a:t>
            </a:r>
          </a:p>
        </p:txBody>
      </p:sp>
      <p:sp>
        <p:nvSpPr>
          <p:cNvPr id="56" name="TextBox 55">
            <a:extLst>
              <a:ext uri="{FF2B5EF4-FFF2-40B4-BE49-F238E27FC236}">
                <a16:creationId xmlns:a16="http://schemas.microsoft.com/office/drawing/2014/main" id="{C1DA5D99-9F86-DFD9-2C8F-E3B1A9BD5682}"/>
              </a:ext>
            </a:extLst>
          </p:cNvPr>
          <p:cNvSpPr txBox="1"/>
          <p:nvPr/>
        </p:nvSpPr>
        <p:spPr>
          <a:xfrm>
            <a:off x="6663568" y="381127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Data archival solutions</a:t>
            </a:r>
          </a:p>
        </p:txBody>
      </p:sp>
      <p:sp>
        <p:nvSpPr>
          <p:cNvPr id="57" name="TextBox 56">
            <a:extLst>
              <a:ext uri="{FF2B5EF4-FFF2-40B4-BE49-F238E27FC236}">
                <a16:creationId xmlns:a16="http://schemas.microsoft.com/office/drawing/2014/main" id="{22423EC4-BDE5-920A-4E2E-C8AC9951953A}"/>
              </a:ext>
            </a:extLst>
          </p:cNvPr>
          <p:cNvSpPr txBox="1"/>
          <p:nvPr/>
        </p:nvSpPr>
        <p:spPr>
          <a:xfrm>
            <a:off x="6663568" y="408496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Architectural design and discussion for HA/DR</a:t>
            </a:r>
          </a:p>
        </p:txBody>
      </p:sp>
      <p:sp>
        <p:nvSpPr>
          <p:cNvPr id="58" name="TextBox 57">
            <a:extLst>
              <a:ext uri="{FF2B5EF4-FFF2-40B4-BE49-F238E27FC236}">
                <a16:creationId xmlns:a16="http://schemas.microsoft.com/office/drawing/2014/main" id="{714171CA-F26C-16D7-8167-616AF2F5D15C}"/>
              </a:ext>
            </a:extLst>
          </p:cNvPr>
          <p:cNvSpPr txBox="1"/>
          <p:nvPr/>
        </p:nvSpPr>
        <p:spPr>
          <a:xfrm>
            <a:off x="6663568" y="4358660"/>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HA/DR testing </a:t>
            </a:r>
          </a:p>
        </p:txBody>
      </p:sp>
      <p:sp>
        <p:nvSpPr>
          <p:cNvPr id="59" name="TextBox 58">
            <a:extLst>
              <a:ext uri="{FF2B5EF4-FFF2-40B4-BE49-F238E27FC236}">
                <a16:creationId xmlns:a16="http://schemas.microsoft.com/office/drawing/2014/main" id="{D7EAC5D6-4535-B521-11BB-2F60EF323107}"/>
              </a:ext>
            </a:extLst>
          </p:cNvPr>
          <p:cNvSpPr txBox="1"/>
          <p:nvPr/>
        </p:nvSpPr>
        <p:spPr>
          <a:xfrm>
            <a:off x="6663568" y="4632352"/>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Database performance testing and tunning</a:t>
            </a:r>
          </a:p>
        </p:txBody>
      </p:sp>
      <p:sp>
        <p:nvSpPr>
          <p:cNvPr id="60" name="TextBox 59">
            <a:extLst>
              <a:ext uri="{FF2B5EF4-FFF2-40B4-BE49-F238E27FC236}">
                <a16:creationId xmlns:a16="http://schemas.microsoft.com/office/drawing/2014/main" id="{A122DF12-286E-3090-DCFB-59B2747763AD}"/>
              </a:ext>
            </a:extLst>
          </p:cNvPr>
          <p:cNvSpPr txBox="1"/>
          <p:nvPr/>
        </p:nvSpPr>
        <p:spPr>
          <a:xfrm>
            <a:off x="6663568" y="4906044"/>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target environment setup</a:t>
            </a:r>
          </a:p>
        </p:txBody>
      </p:sp>
      <p:sp>
        <p:nvSpPr>
          <p:cNvPr id="61" name="TextBox 60">
            <a:extLst>
              <a:ext uri="{FF2B5EF4-FFF2-40B4-BE49-F238E27FC236}">
                <a16:creationId xmlns:a16="http://schemas.microsoft.com/office/drawing/2014/main" id="{1BAB8B28-A370-3663-FBE1-2BB18FB76F8D}"/>
              </a:ext>
            </a:extLst>
          </p:cNvPr>
          <p:cNvSpPr txBox="1"/>
          <p:nvPr/>
        </p:nvSpPr>
        <p:spPr>
          <a:xfrm>
            <a:off x="6663568" y="517973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Third-party tools setup and configuration for MariaDB Server</a:t>
            </a:r>
          </a:p>
        </p:txBody>
      </p:sp>
      <p:sp>
        <p:nvSpPr>
          <p:cNvPr id="62" name="TextBox 61">
            <a:extLst>
              <a:ext uri="{FF2B5EF4-FFF2-40B4-BE49-F238E27FC236}">
                <a16:creationId xmlns:a16="http://schemas.microsoft.com/office/drawing/2014/main" id="{10945F31-3F57-0896-677D-B89734D93A0A}"/>
              </a:ext>
            </a:extLst>
          </p:cNvPr>
          <p:cNvSpPr txBox="1"/>
          <p:nvPr/>
        </p:nvSpPr>
        <p:spPr>
          <a:xfrm>
            <a:off x="6663568" y="5453428"/>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MariaDB Server upgrade and patch management</a:t>
            </a:r>
          </a:p>
        </p:txBody>
      </p:sp>
      <p:sp>
        <p:nvSpPr>
          <p:cNvPr id="63" name="TextBox 62">
            <a:extLst>
              <a:ext uri="{FF2B5EF4-FFF2-40B4-BE49-F238E27FC236}">
                <a16:creationId xmlns:a16="http://schemas.microsoft.com/office/drawing/2014/main" id="{FAC39FC8-C561-5CCA-4AE0-DE37B97334BB}"/>
              </a:ext>
            </a:extLst>
          </p:cNvPr>
          <p:cNvSpPr txBox="1"/>
          <p:nvPr/>
        </p:nvSpPr>
        <p:spPr>
          <a:xfrm>
            <a:off x="6663568" y="5727120"/>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Server performance testing and tunning</a:t>
            </a:r>
          </a:p>
        </p:txBody>
      </p:sp>
      <p:sp>
        <p:nvSpPr>
          <p:cNvPr id="64" name="TextBox 63">
            <a:extLst>
              <a:ext uri="{FF2B5EF4-FFF2-40B4-BE49-F238E27FC236}">
                <a16:creationId xmlns:a16="http://schemas.microsoft.com/office/drawing/2014/main" id="{5D491340-E6D2-2C04-A0EE-A334B0D423B5}"/>
              </a:ext>
            </a:extLst>
          </p:cNvPr>
          <p:cNvSpPr txBox="1"/>
          <p:nvPr/>
        </p:nvSpPr>
        <p:spPr>
          <a:xfrm>
            <a:off x="6663568" y="6000816"/>
            <a:ext cx="4914576"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mn-cs"/>
              </a:rPr>
              <a:t>Any other migration path not listed in the scope</a:t>
            </a:r>
          </a:p>
        </p:txBody>
      </p:sp>
      <p:cxnSp>
        <p:nvCxnSpPr>
          <p:cNvPr id="65" name="Straight Connector 64">
            <a:extLst>
              <a:ext uri="{FF2B5EF4-FFF2-40B4-BE49-F238E27FC236}">
                <a16:creationId xmlns:a16="http://schemas.microsoft.com/office/drawing/2014/main" id="{DBD77AF2-5DBC-BDE1-AA30-EE4AD6BC861A}"/>
              </a:ext>
              <a:ext uri="{C183D7F6-B498-43B3-948B-1728B52AA6E4}">
                <adec:decorative xmlns:adec="http://schemas.microsoft.com/office/drawing/2017/decorative" val="1"/>
              </a:ext>
            </a:extLst>
          </p:cNvPr>
          <p:cNvCxnSpPr>
            <a:cxnSpLocks/>
          </p:cNvCxnSpPr>
          <p:nvPr/>
        </p:nvCxnSpPr>
        <p:spPr>
          <a:xfrm>
            <a:off x="6663568" y="566721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3" name="Oval 162">
            <a:extLst>
              <a:ext uri="{FF2B5EF4-FFF2-40B4-BE49-F238E27FC236}">
                <a16:creationId xmlns:a16="http://schemas.microsoft.com/office/drawing/2014/main" id="{01A9821B-4FD6-32E9-B123-62CDBE5BA80E}"/>
              </a:ext>
            </a:extLst>
          </p:cNvPr>
          <p:cNvSpPr/>
          <p:nvPr/>
        </p:nvSpPr>
        <p:spPr bwMode="auto">
          <a:xfrm>
            <a:off x="6343587" y="20152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4" name="Oval 163">
            <a:extLst>
              <a:ext uri="{FF2B5EF4-FFF2-40B4-BE49-F238E27FC236}">
                <a16:creationId xmlns:a16="http://schemas.microsoft.com/office/drawing/2014/main" id="{4C2CD79F-367D-0F2A-C655-30D9B1D30E0B}"/>
              </a:ext>
            </a:extLst>
          </p:cNvPr>
          <p:cNvSpPr/>
          <p:nvPr/>
        </p:nvSpPr>
        <p:spPr bwMode="auto">
          <a:xfrm>
            <a:off x="6352485" y="271455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5" name="Oval 164">
            <a:extLst>
              <a:ext uri="{FF2B5EF4-FFF2-40B4-BE49-F238E27FC236}">
                <a16:creationId xmlns:a16="http://schemas.microsoft.com/office/drawing/2014/main" id="{8D192E85-E29A-1CD4-E417-F33D98CF5ADB}"/>
              </a:ext>
            </a:extLst>
          </p:cNvPr>
          <p:cNvSpPr/>
          <p:nvPr/>
        </p:nvSpPr>
        <p:spPr bwMode="auto">
          <a:xfrm>
            <a:off x="6343587" y="244192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8" name="Oval 167">
            <a:extLst>
              <a:ext uri="{FF2B5EF4-FFF2-40B4-BE49-F238E27FC236}">
                <a16:creationId xmlns:a16="http://schemas.microsoft.com/office/drawing/2014/main" id="{7C3392B8-BFC1-E5BB-9499-1CA5F27B16D7}"/>
              </a:ext>
            </a:extLst>
          </p:cNvPr>
          <p:cNvSpPr/>
          <p:nvPr/>
        </p:nvSpPr>
        <p:spPr bwMode="auto">
          <a:xfrm>
            <a:off x="6352485" y="299856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1" name="Oval 170">
            <a:extLst>
              <a:ext uri="{FF2B5EF4-FFF2-40B4-BE49-F238E27FC236}">
                <a16:creationId xmlns:a16="http://schemas.microsoft.com/office/drawing/2014/main" id="{7F9A4186-8019-F182-3303-D04A96033F96}"/>
              </a:ext>
            </a:extLst>
          </p:cNvPr>
          <p:cNvSpPr/>
          <p:nvPr/>
        </p:nvSpPr>
        <p:spPr bwMode="auto">
          <a:xfrm>
            <a:off x="6352485" y="355431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2" name="Oval 171">
            <a:extLst>
              <a:ext uri="{FF2B5EF4-FFF2-40B4-BE49-F238E27FC236}">
                <a16:creationId xmlns:a16="http://schemas.microsoft.com/office/drawing/2014/main" id="{690D9AEA-0EBC-C27F-FF75-905444D81112}"/>
              </a:ext>
            </a:extLst>
          </p:cNvPr>
          <p:cNvSpPr/>
          <p:nvPr/>
        </p:nvSpPr>
        <p:spPr bwMode="auto">
          <a:xfrm>
            <a:off x="6352485" y="324035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3" name="Oval 172">
            <a:extLst>
              <a:ext uri="{FF2B5EF4-FFF2-40B4-BE49-F238E27FC236}">
                <a16:creationId xmlns:a16="http://schemas.microsoft.com/office/drawing/2014/main" id="{31166942-D6EC-ECD0-2A1D-E6BE03F8CEC4}"/>
              </a:ext>
            </a:extLst>
          </p:cNvPr>
          <p:cNvSpPr/>
          <p:nvPr/>
        </p:nvSpPr>
        <p:spPr bwMode="auto">
          <a:xfrm>
            <a:off x="6352485" y="380615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4" name="Oval 173">
            <a:extLst>
              <a:ext uri="{FF2B5EF4-FFF2-40B4-BE49-F238E27FC236}">
                <a16:creationId xmlns:a16="http://schemas.microsoft.com/office/drawing/2014/main" id="{28122A8D-22A6-75E4-666C-09640ADA58A6}"/>
              </a:ext>
            </a:extLst>
          </p:cNvPr>
          <p:cNvSpPr/>
          <p:nvPr/>
        </p:nvSpPr>
        <p:spPr bwMode="auto">
          <a:xfrm>
            <a:off x="6352485" y="406700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5" name="Oval 174">
            <a:extLst>
              <a:ext uri="{FF2B5EF4-FFF2-40B4-BE49-F238E27FC236}">
                <a16:creationId xmlns:a16="http://schemas.microsoft.com/office/drawing/2014/main" id="{E49ADC91-19A7-D8A0-EBC4-4ABC1696FF6B}"/>
              </a:ext>
            </a:extLst>
          </p:cNvPr>
          <p:cNvSpPr/>
          <p:nvPr/>
        </p:nvSpPr>
        <p:spPr bwMode="auto">
          <a:xfrm>
            <a:off x="6352485" y="435735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6" name="Oval 175">
            <a:extLst>
              <a:ext uri="{FF2B5EF4-FFF2-40B4-BE49-F238E27FC236}">
                <a16:creationId xmlns:a16="http://schemas.microsoft.com/office/drawing/2014/main" id="{1675120E-EE19-97A6-62EB-0E4055B9F99C}"/>
              </a:ext>
            </a:extLst>
          </p:cNvPr>
          <p:cNvSpPr/>
          <p:nvPr/>
        </p:nvSpPr>
        <p:spPr bwMode="auto">
          <a:xfrm>
            <a:off x="6352485" y="462435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7" name="Oval 176">
            <a:extLst>
              <a:ext uri="{FF2B5EF4-FFF2-40B4-BE49-F238E27FC236}">
                <a16:creationId xmlns:a16="http://schemas.microsoft.com/office/drawing/2014/main" id="{EC907284-443C-BDE2-2834-9C806BBD203C}"/>
              </a:ext>
            </a:extLst>
          </p:cNvPr>
          <p:cNvSpPr/>
          <p:nvPr/>
        </p:nvSpPr>
        <p:spPr bwMode="auto">
          <a:xfrm>
            <a:off x="6352485" y="492113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8" name="Oval 177">
            <a:extLst>
              <a:ext uri="{FF2B5EF4-FFF2-40B4-BE49-F238E27FC236}">
                <a16:creationId xmlns:a16="http://schemas.microsoft.com/office/drawing/2014/main" id="{AFE8BAB1-F97C-8727-536F-93CFEBA1C23C}"/>
              </a:ext>
            </a:extLst>
          </p:cNvPr>
          <p:cNvSpPr/>
          <p:nvPr/>
        </p:nvSpPr>
        <p:spPr bwMode="auto">
          <a:xfrm>
            <a:off x="6352485" y="517174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9" name="Oval 178">
            <a:extLst>
              <a:ext uri="{FF2B5EF4-FFF2-40B4-BE49-F238E27FC236}">
                <a16:creationId xmlns:a16="http://schemas.microsoft.com/office/drawing/2014/main" id="{B346C309-8446-D884-23DD-F644FBBD0003}"/>
              </a:ext>
            </a:extLst>
          </p:cNvPr>
          <p:cNvSpPr/>
          <p:nvPr/>
        </p:nvSpPr>
        <p:spPr bwMode="auto">
          <a:xfrm>
            <a:off x="6352485" y="54451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0" name="Oval 179">
            <a:extLst>
              <a:ext uri="{FF2B5EF4-FFF2-40B4-BE49-F238E27FC236}">
                <a16:creationId xmlns:a16="http://schemas.microsoft.com/office/drawing/2014/main" id="{705218E5-F7E8-C7DB-6FEF-1BE42E2957BD}"/>
              </a:ext>
            </a:extLst>
          </p:cNvPr>
          <p:cNvSpPr/>
          <p:nvPr/>
        </p:nvSpPr>
        <p:spPr bwMode="auto">
          <a:xfrm>
            <a:off x="6352485" y="571561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1" name="Oval 180">
            <a:extLst>
              <a:ext uri="{FF2B5EF4-FFF2-40B4-BE49-F238E27FC236}">
                <a16:creationId xmlns:a16="http://schemas.microsoft.com/office/drawing/2014/main" id="{50CFC049-9913-B6F4-92DF-99CDAEA6576A}"/>
              </a:ext>
            </a:extLst>
          </p:cNvPr>
          <p:cNvSpPr/>
          <p:nvPr/>
        </p:nvSpPr>
        <p:spPr bwMode="auto">
          <a:xfrm>
            <a:off x="774378" y="477756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4" name="Oval 183">
            <a:extLst>
              <a:ext uri="{FF2B5EF4-FFF2-40B4-BE49-F238E27FC236}">
                <a16:creationId xmlns:a16="http://schemas.microsoft.com/office/drawing/2014/main" id="{12A4D8C6-FAF2-5D1D-C2DB-667224269E57}"/>
              </a:ext>
            </a:extLst>
          </p:cNvPr>
          <p:cNvSpPr/>
          <p:nvPr/>
        </p:nvSpPr>
        <p:spPr bwMode="auto">
          <a:xfrm>
            <a:off x="774378" y="449519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5" name="Oval 184">
            <a:extLst>
              <a:ext uri="{FF2B5EF4-FFF2-40B4-BE49-F238E27FC236}">
                <a16:creationId xmlns:a16="http://schemas.microsoft.com/office/drawing/2014/main" id="{E630A769-3E3C-CE83-4798-9E19808CD71F}"/>
              </a:ext>
            </a:extLst>
          </p:cNvPr>
          <p:cNvSpPr/>
          <p:nvPr/>
        </p:nvSpPr>
        <p:spPr bwMode="auto">
          <a:xfrm>
            <a:off x="774378" y="24595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6" name="Oval 185">
            <a:extLst>
              <a:ext uri="{FF2B5EF4-FFF2-40B4-BE49-F238E27FC236}">
                <a16:creationId xmlns:a16="http://schemas.microsoft.com/office/drawing/2014/main" id="{671E4901-A8B4-54AB-D334-497A8D6F87E0}"/>
              </a:ext>
            </a:extLst>
          </p:cNvPr>
          <p:cNvSpPr/>
          <p:nvPr/>
        </p:nvSpPr>
        <p:spPr bwMode="auto">
          <a:xfrm>
            <a:off x="6352485" y="599839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7" name="Oval 186">
            <a:extLst>
              <a:ext uri="{FF2B5EF4-FFF2-40B4-BE49-F238E27FC236}">
                <a16:creationId xmlns:a16="http://schemas.microsoft.com/office/drawing/2014/main" id="{C85BFE41-40F3-6369-5A44-7C4F21557FE7}"/>
              </a:ext>
            </a:extLst>
          </p:cNvPr>
          <p:cNvSpPr/>
          <p:nvPr/>
        </p:nvSpPr>
        <p:spPr bwMode="auto">
          <a:xfrm>
            <a:off x="774378" y="200807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7" name="TextBox 66">
            <a:extLst>
              <a:ext uri="{FF2B5EF4-FFF2-40B4-BE49-F238E27FC236}">
                <a16:creationId xmlns:a16="http://schemas.microsoft.com/office/drawing/2014/main" id="{512BA741-7E2A-FFE9-69D3-42B1E44AF55E}"/>
              </a:ext>
            </a:extLst>
          </p:cNvPr>
          <p:cNvSpPr txBox="1"/>
          <p:nvPr/>
        </p:nvSpPr>
        <p:spPr>
          <a:xfrm>
            <a:off x="6291689" y="1723836"/>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68" name="TextBox 67">
            <a:extLst>
              <a:ext uri="{FF2B5EF4-FFF2-40B4-BE49-F238E27FC236}">
                <a16:creationId xmlns:a16="http://schemas.microsoft.com/office/drawing/2014/main" id="{19D744FC-BF17-AC7E-B394-94EA3232CD85}"/>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66" name="TextBox 65">
            <a:extLst>
              <a:ext uri="{FF2B5EF4-FFF2-40B4-BE49-F238E27FC236}">
                <a16:creationId xmlns:a16="http://schemas.microsoft.com/office/drawing/2014/main" id="{B2CEABD9-732E-38FF-CD2B-DCD3175D38A3}"/>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25140675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6" presetClass="emph" presetSubtype="0" fill="hold" grpId="1" nodeType="withEffect">
                                  <p:stCondLst>
                                    <p:cond delay="0"/>
                                  </p:stCondLst>
                                  <p:childTnLst>
                                    <p:animScale>
                                      <p:cBhvr>
                                        <p:cTn id="9" dur="100" fill="hold"/>
                                        <p:tgtEl>
                                          <p:spTgt spid="66"/>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6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66" grpId="2"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26626-E397-7661-8471-219C1EF90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0BB7047-97CC-C918-2DC5-67A176B48D46}"/>
              </a:ext>
            </a:extLst>
          </p:cNvPr>
          <p:cNvSpPr>
            <a:spLocks noGrp="1"/>
          </p:cNvSpPr>
          <p:nvPr>
            <p:ph type="title"/>
          </p:nvPr>
        </p:nvSpPr>
        <p:spPr>
          <a:xfrm>
            <a:off x="588963" y="190500"/>
            <a:ext cx="8478837" cy="353943"/>
          </a:xfrm>
        </p:spPr>
        <p:txBody>
          <a:bodyPr/>
          <a:lstStyle/>
          <a:p>
            <a:r>
              <a:rPr lang="en-US" sz="2300" spc="-150" noProof="0" dirty="0"/>
              <a:t>Key Deliverables</a:t>
            </a:r>
          </a:p>
        </p:txBody>
      </p:sp>
      <p:sp>
        <p:nvSpPr>
          <p:cNvPr id="4" name="Rounded Rectangle 55">
            <a:extLst>
              <a:ext uri="{FF2B5EF4-FFF2-40B4-BE49-F238E27FC236}">
                <a16:creationId xmlns:a16="http://schemas.microsoft.com/office/drawing/2014/main" id="{5B2A320E-2EDB-BFF3-67AC-545546520068}"/>
              </a:ext>
              <a:ext uri="{C183D7F6-B498-43B3-948B-1728B52AA6E4}">
                <adec:decorative xmlns:adec="http://schemas.microsoft.com/office/drawing/2017/decorative" val="1"/>
              </a:ext>
            </a:extLst>
          </p:cNvPr>
          <p:cNvSpPr/>
          <p:nvPr/>
        </p:nvSpPr>
        <p:spPr bwMode="auto">
          <a:xfrm>
            <a:off x="608141" y="1309332"/>
            <a:ext cx="2404473" cy="5001571"/>
          </a:xfrm>
          <a:prstGeom prst="roundRect">
            <a:avLst>
              <a:gd name="adj" fmla="val 728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2" name="Content Placeholder 4">
            <a:extLst>
              <a:ext uri="{FF2B5EF4-FFF2-40B4-BE49-F238E27FC236}">
                <a16:creationId xmlns:a16="http://schemas.microsoft.com/office/drawing/2014/main" id="{13E2F8E1-A249-09BB-1035-6F4CE3399A55}"/>
              </a:ext>
            </a:extLst>
          </p:cNvPr>
          <p:cNvSpPr txBox="1">
            <a:spLocks/>
          </p:cNvSpPr>
          <p:nvPr/>
        </p:nvSpPr>
        <p:spPr>
          <a:xfrm>
            <a:off x="588963" y="1702397"/>
            <a:ext cx="2448877" cy="1231106"/>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00000"/>
              </a:lnSpc>
              <a:spcBef>
                <a:spcPts val="0"/>
              </a:spcBef>
              <a:spcAft>
                <a:spcPts val="600"/>
              </a:spcAft>
              <a:buSzTx/>
              <a:buFont typeface="Wingdings" panose="05000000000000000000" pitchFamily="2" charset="2"/>
              <a:buChar char="ü"/>
              <a:defRPr/>
            </a:pPr>
            <a:r>
              <a:rPr lang="en-US" sz="1100" noProof="0" dirty="0"/>
              <a:t>On-premises SQL to Azure SQL DB/Azure SQL MI/SQL Server on Azure VM</a:t>
            </a:r>
          </a:p>
          <a:p>
            <a:pPr lvl="0" defTabSz="914400">
              <a:lnSpc>
                <a:spcPct val="100000"/>
              </a:lnSpc>
              <a:spcBef>
                <a:spcPts val="0"/>
              </a:spcBef>
              <a:spcAft>
                <a:spcPts val="600"/>
              </a:spcAft>
              <a:buSzTx/>
              <a:buFont typeface="Wingdings" panose="05000000000000000000" pitchFamily="2" charset="2"/>
              <a:buChar char="ü"/>
              <a:defRPr/>
            </a:pPr>
            <a:r>
              <a:rPr lang="en-US" sz="1100" noProof="0" dirty="0"/>
              <a:t>AWS EC2 SQL to Azure SQL DB/Azure SQL MI/SQL Server on Azure VM</a:t>
            </a:r>
          </a:p>
        </p:txBody>
      </p:sp>
      <p:sp>
        <p:nvSpPr>
          <p:cNvPr id="16" name="TextBox 15">
            <a:extLst>
              <a:ext uri="{FF2B5EF4-FFF2-40B4-BE49-F238E27FC236}">
                <a16:creationId xmlns:a16="http://schemas.microsoft.com/office/drawing/2014/main" id="{0011ABF3-E6FD-A3AB-F431-7352930AA03B}"/>
              </a:ext>
            </a:extLst>
          </p:cNvPr>
          <p:cNvSpPr txBox="1"/>
          <p:nvPr/>
        </p:nvSpPr>
        <p:spPr>
          <a:xfrm>
            <a:off x="588963" y="547096"/>
            <a:ext cx="9240836" cy="276999"/>
          </a:xfrm>
          <a:prstGeom prst="rect">
            <a:avLst/>
          </a:prstGeom>
          <a:noFill/>
        </p:spPr>
        <p:txBody>
          <a:bodyPr wrap="square" lIns="0" tIns="0" rIns="0" bIns="0" rtlCol="0">
            <a:spAutoFit/>
          </a:bodyPr>
          <a:lstStyle/>
          <a:p>
            <a:r>
              <a:rPr lang="en-US" noProof="0" dirty="0">
                <a:latin typeface="+mj-lt"/>
              </a:rPr>
              <a:t>SQL Server, Azure DocumentDB, Cassandra, MongoDB, PostgreSQL, MySQL, MariaDB</a:t>
            </a:r>
          </a:p>
        </p:txBody>
      </p:sp>
      <p:sp>
        <p:nvSpPr>
          <p:cNvPr id="5" name="TextBox 4">
            <a:extLst>
              <a:ext uri="{FF2B5EF4-FFF2-40B4-BE49-F238E27FC236}">
                <a16:creationId xmlns:a16="http://schemas.microsoft.com/office/drawing/2014/main" id="{AE6E6C84-D49A-1159-FF01-30195BAD25E2}"/>
              </a:ext>
            </a:extLst>
          </p:cNvPr>
          <p:cNvSpPr txBox="1"/>
          <p:nvPr/>
        </p:nvSpPr>
        <p:spPr>
          <a:xfrm>
            <a:off x="3213620" y="1433734"/>
            <a:ext cx="8330470" cy="651460"/>
          </a:xfrm>
          <a:prstGeom prst="rect">
            <a:avLst/>
          </a:prstGeom>
          <a:noFill/>
        </p:spPr>
        <p:txBody>
          <a:bodyPr wrap="square">
            <a:spAutoFit/>
          </a:bodyPr>
          <a:lstStyle/>
          <a:p>
            <a:pPr marL="209550" lvl="1" indent="-209550">
              <a:spcAft>
                <a:spcPts val="400"/>
              </a:spcAft>
              <a:buFont typeface="+mj-lt"/>
              <a:buAutoNum type="arabicPeriod"/>
              <a:defRPr/>
            </a:pPr>
            <a:r>
              <a:rPr lang="en-US" sz="1200" kern="0" noProof="0" dirty="0">
                <a:solidFill>
                  <a:schemeClr val="tx2"/>
                </a:solidFill>
                <a:latin typeface="+mj-lt"/>
              </a:rPr>
              <a:t>Database assessments (for all in-scope databases to be migrated):</a:t>
            </a:r>
          </a:p>
          <a:p>
            <a:pPr marL="400050" lvl="1" indent="-114300">
              <a:spcAft>
                <a:spcPts val="800"/>
              </a:spcAft>
              <a:buFont typeface="Arial" panose="020B0604020202020204" pitchFamily="34" charset="0"/>
              <a:buChar char="•"/>
              <a:tabLst>
                <a:tab pos="320675" algn="l"/>
              </a:tabLst>
              <a:defRPr/>
            </a:pPr>
            <a:r>
              <a:rPr lang="en-US" sz="1000" kern="0" noProof="0" dirty="0"/>
              <a:t>Assessment performed through either AZ Visual Studio Code or AZ Migrate appliance or Scripts, High Availability (HA)/Disaster Recovery(DR) configuration and setup as scoped, All Database migrations only are ready to move scenarios (No rewrite scenarios) </a:t>
            </a:r>
          </a:p>
        </p:txBody>
      </p:sp>
      <p:sp>
        <p:nvSpPr>
          <p:cNvPr id="7" name="TextBox 6">
            <a:extLst>
              <a:ext uri="{FF2B5EF4-FFF2-40B4-BE49-F238E27FC236}">
                <a16:creationId xmlns:a16="http://schemas.microsoft.com/office/drawing/2014/main" id="{8A722EC1-20B1-B546-61BD-88F6FD835E0B}"/>
              </a:ext>
            </a:extLst>
          </p:cNvPr>
          <p:cNvSpPr txBox="1"/>
          <p:nvPr/>
        </p:nvSpPr>
        <p:spPr>
          <a:xfrm>
            <a:off x="3213620" y="2168156"/>
            <a:ext cx="8330470" cy="1025922"/>
          </a:xfrm>
          <a:prstGeom prst="rect">
            <a:avLst/>
          </a:prstGeom>
          <a:noFill/>
        </p:spPr>
        <p:txBody>
          <a:bodyPr wrap="square">
            <a:spAutoFit/>
          </a:bodyPr>
          <a:lstStyle/>
          <a:p>
            <a:pPr marL="209550" lvl="1" indent="-209550">
              <a:spcAft>
                <a:spcPts val="200"/>
              </a:spcAft>
              <a:buFont typeface="+mj-lt"/>
              <a:buAutoNum type="arabicPeriod" startAt="2"/>
              <a:defRPr/>
            </a:pPr>
            <a:r>
              <a:rPr lang="en-US" sz="1200" kern="0" noProof="0" dirty="0">
                <a:solidFill>
                  <a:schemeClr val="tx2"/>
                </a:solidFill>
                <a:latin typeface="+mj-lt"/>
              </a:rPr>
              <a:t>Azure SQL:</a:t>
            </a:r>
          </a:p>
          <a:p>
            <a:pPr marL="400050" lvl="1" indent="-114300">
              <a:spcAft>
                <a:spcPts val="600"/>
              </a:spcAft>
              <a:buFont typeface="Arial" panose="020B0604020202020204" pitchFamily="34" charset="0"/>
              <a:buChar char="•"/>
              <a:defRPr/>
            </a:pPr>
            <a:r>
              <a:rPr lang="en-US" sz="1000" kern="0" noProof="0" dirty="0">
                <a:latin typeface="+mj-lt"/>
              </a:rPr>
              <a:t>On-Premises SQL to Azure SQL DB/Azure SQL MI/SQL Server on Azure VM </a:t>
            </a:r>
            <a:r>
              <a:rPr lang="en-US" sz="1000" kern="0" noProof="0" dirty="0"/>
              <a:t>Migration of SQL Server from on-premises environments to Azure SQL Database or Azure SQL Managed Instance (MI) or SQL Server on Azure VM.</a:t>
            </a:r>
          </a:p>
          <a:p>
            <a:pPr marL="400050" lvl="1" indent="-114300">
              <a:spcAft>
                <a:spcPts val="800"/>
              </a:spcAft>
              <a:buFont typeface="Arial" panose="020B0604020202020204" pitchFamily="34" charset="0"/>
              <a:buChar char="•"/>
              <a:defRPr/>
            </a:pPr>
            <a:r>
              <a:rPr lang="en-US" sz="1000" kern="0" noProof="0" dirty="0">
                <a:latin typeface="+mj-lt"/>
              </a:rPr>
              <a:t>AWS EC2 SQL to Azure SQL DB/Azure SQL MI/SQL Server on Azure VM </a:t>
            </a:r>
            <a:r>
              <a:rPr lang="en-US" sz="1000" kern="0" noProof="0" dirty="0"/>
              <a:t>Migration SQL Server instances hosted on AWS EC2 to Azure SQL Database or Azure SQL Managed Instance (MI) or SQL Server on Azure VM</a:t>
            </a:r>
          </a:p>
        </p:txBody>
      </p:sp>
      <p:sp>
        <p:nvSpPr>
          <p:cNvPr id="8" name="TextBox 7">
            <a:extLst>
              <a:ext uri="{FF2B5EF4-FFF2-40B4-BE49-F238E27FC236}">
                <a16:creationId xmlns:a16="http://schemas.microsoft.com/office/drawing/2014/main" id="{D565C3E9-9475-8F20-3180-88CC65B037FF}"/>
              </a:ext>
            </a:extLst>
          </p:cNvPr>
          <p:cNvSpPr txBox="1"/>
          <p:nvPr/>
        </p:nvSpPr>
        <p:spPr>
          <a:xfrm>
            <a:off x="3213620" y="3277040"/>
            <a:ext cx="8330470" cy="1764586"/>
          </a:xfrm>
          <a:prstGeom prst="rect">
            <a:avLst/>
          </a:prstGeom>
          <a:noFill/>
        </p:spPr>
        <p:txBody>
          <a:bodyPr wrap="square">
            <a:spAutoFit/>
          </a:bodyPr>
          <a:lstStyle/>
          <a:p>
            <a:pPr marL="209550" lvl="1" indent="-209550">
              <a:spcAft>
                <a:spcPts val="200"/>
              </a:spcAft>
              <a:buFont typeface="+mj-lt"/>
              <a:buAutoNum type="arabicPeriod" startAt="3"/>
              <a:defRPr/>
            </a:pPr>
            <a:r>
              <a:rPr lang="en-US" sz="1200" kern="0" noProof="0" dirty="0">
                <a:solidFill>
                  <a:schemeClr val="tx2"/>
                </a:solidFill>
                <a:latin typeface="+mj-lt"/>
              </a:rPr>
              <a:t>Azure Database for Postgres/Azure Database for My SQL:</a:t>
            </a:r>
          </a:p>
          <a:p>
            <a:pPr marL="404813" lvl="3" indent="-114300">
              <a:spcAft>
                <a:spcPts val="600"/>
              </a:spcAft>
              <a:buFont typeface="Arial" panose="020B0604020202020204" pitchFamily="34" charset="0"/>
              <a:buChar char="•"/>
              <a:tabLst>
                <a:tab pos="593725" algn="l"/>
              </a:tabLst>
              <a:defRPr/>
            </a:pPr>
            <a:r>
              <a:rPr lang="en-US" sz="1000" kern="0" noProof="0" dirty="0">
                <a:latin typeface="+mj-lt"/>
              </a:rPr>
              <a:t>On-Premises MySQL to MySQL – Flexible server </a:t>
            </a:r>
            <a:r>
              <a:rPr lang="en-US" sz="1000" kern="0" noProof="0" dirty="0"/>
              <a:t>– Migrate on-premises MySQL databases to Azure MySQL Flexible Server with minimal downtime and optimal performance</a:t>
            </a:r>
          </a:p>
          <a:p>
            <a:pPr marL="404813" lvl="3" indent="-114300">
              <a:spcAft>
                <a:spcPts val="600"/>
              </a:spcAft>
              <a:buFont typeface="Arial" panose="020B0604020202020204" pitchFamily="34" charset="0"/>
              <a:buChar char="•"/>
              <a:tabLst>
                <a:tab pos="593725" algn="l"/>
              </a:tabLst>
              <a:defRPr/>
            </a:pPr>
            <a:r>
              <a:rPr lang="en-US" sz="1000" kern="0" noProof="0" dirty="0">
                <a:latin typeface="+mj-lt"/>
              </a:rPr>
              <a:t>AWS EC2 MySQL Server to Azure Database for MySQL </a:t>
            </a:r>
            <a:r>
              <a:rPr lang="en-US" sz="1000" kern="0" noProof="0" dirty="0"/>
              <a:t>– Flexible server​ – Migration MySQL Server instances hosted on AWS EC2 to Azure for MySQL Database</a:t>
            </a:r>
          </a:p>
          <a:p>
            <a:pPr marL="404813" lvl="1" indent="-114300">
              <a:spcAft>
                <a:spcPts val="600"/>
              </a:spcAft>
              <a:buFont typeface="Arial" panose="020B0604020202020204" pitchFamily="34" charset="0"/>
              <a:buChar char="•"/>
              <a:tabLst>
                <a:tab pos="593725" algn="l"/>
              </a:tabLst>
              <a:defRPr/>
            </a:pPr>
            <a:r>
              <a:rPr lang="en-US" sz="1000" kern="0" noProof="0" dirty="0">
                <a:latin typeface="+mj-lt"/>
              </a:rPr>
              <a:t>On-Premises PostgreSQL Server to Azure Database for PostgreSQL – Flexible server </a:t>
            </a:r>
            <a:r>
              <a:rPr lang="en-US" sz="1000" kern="0" noProof="0" dirty="0"/>
              <a:t>– Seamless migration of PostgreSQL databases from on-premises environments to Azure Database for PostgreSQL – Flexible server with minimal disruption​</a:t>
            </a:r>
          </a:p>
          <a:p>
            <a:pPr marL="404813" lvl="3" indent="-114300">
              <a:spcAft>
                <a:spcPts val="800"/>
              </a:spcAft>
              <a:buFont typeface="Arial" panose="020B0604020202020204" pitchFamily="34" charset="0"/>
              <a:buChar char="•"/>
              <a:tabLst>
                <a:tab pos="593725" algn="l"/>
              </a:tabLst>
              <a:defRPr/>
            </a:pPr>
            <a:r>
              <a:rPr lang="en-US" sz="1000" kern="0" noProof="0" dirty="0">
                <a:latin typeface="+mj-lt"/>
              </a:rPr>
              <a:t>AWS EC2 PostgreSQL to Azure PostgreSQL – Flexible server </a:t>
            </a:r>
            <a:r>
              <a:rPr lang="en-US" sz="1000" kern="0" noProof="0" dirty="0"/>
              <a:t>– Migration PostgreSQL Server instances hosted on AWS EC2 to Azure for PostgreSQL Database</a:t>
            </a:r>
          </a:p>
        </p:txBody>
      </p:sp>
      <p:sp>
        <p:nvSpPr>
          <p:cNvPr id="9" name="TextBox 8">
            <a:extLst>
              <a:ext uri="{FF2B5EF4-FFF2-40B4-BE49-F238E27FC236}">
                <a16:creationId xmlns:a16="http://schemas.microsoft.com/office/drawing/2014/main" id="{71F3003E-789D-75C9-95E4-1930D429B9ED}"/>
              </a:ext>
            </a:extLst>
          </p:cNvPr>
          <p:cNvSpPr txBox="1"/>
          <p:nvPr/>
        </p:nvSpPr>
        <p:spPr>
          <a:xfrm>
            <a:off x="3213620" y="5124588"/>
            <a:ext cx="8330470" cy="1025922"/>
          </a:xfrm>
          <a:prstGeom prst="rect">
            <a:avLst/>
          </a:prstGeom>
          <a:noFill/>
        </p:spPr>
        <p:txBody>
          <a:bodyPr wrap="square">
            <a:spAutoFit/>
          </a:bodyPr>
          <a:lstStyle/>
          <a:p>
            <a:pPr marL="209550" lvl="1" indent="-209550">
              <a:spcAft>
                <a:spcPts val="200"/>
              </a:spcAft>
              <a:buFont typeface="+mj-lt"/>
              <a:buAutoNum type="arabicPeriod" startAt="4"/>
              <a:defRPr/>
            </a:pPr>
            <a:r>
              <a:rPr lang="en-US" sz="1200" kern="0" noProof="0" dirty="0">
                <a:solidFill>
                  <a:schemeClr val="tx2"/>
                </a:solidFill>
                <a:latin typeface="+mj-lt"/>
              </a:rPr>
              <a:t>Cassandra/Azure DocumentDB/MongoDB Atlas on Azure:</a:t>
            </a:r>
          </a:p>
          <a:p>
            <a:pPr marL="409575" lvl="1" indent="-119063">
              <a:spcAft>
                <a:spcPts val="600"/>
              </a:spcAft>
              <a:buFont typeface="Arial" panose="020B0604020202020204" pitchFamily="34" charset="0"/>
              <a:buChar char="•"/>
              <a:defRPr/>
            </a:pPr>
            <a:r>
              <a:rPr lang="en-US" sz="1000" kern="0" noProof="0" dirty="0">
                <a:latin typeface="+mj-lt"/>
              </a:rPr>
              <a:t>Online migration using: </a:t>
            </a:r>
            <a:r>
              <a:rPr lang="en-US" sz="1000" kern="0" noProof="0" dirty="0"/>
              <a:t>Hybrid cluster/Dual-write proxy approach for Cassandra, Spark Utility/Visual Studio Code for Azure DocumentDB, Mongosync​, Live Migrate: Pull and Push for MongoDB Atlas on Azure</a:t>
            </a:r>
          </a:p>
          <a:p>
            <a:pPr marL="409575" lvl="1" indent="-119063">
              <a:spcAft>
                <a:spcPts val="600"/>
              </a:spcAft>
              <a:buFont typeface="Arial" panose="020B0604020202020204" pitchFamily="34" charset="0"/>
              <a:buChar char="•"/>
              <a:defRPr/>
            </a:pPr>
            <a:r>
              <a:rPr lang="en-US" sz="1000" kern="0" noProof="0" dirty="0">
                <a:latin typeface="+mj-lt"/>
              </a:rPr>
              <a:t>Offline migration using: </a:t>
            </a:r>
            <a:r>
              <a:rPr lang="en-US" sz="1000" kern="0" noProof="0" dirty="0"/>
              <a:t>Apache Spark approach for Cassandra, Native Tools/Visual Studio Code/Spark Utility for Azure DocumentDB, native tool for MongoDB Atlas on Azure</a:t>
            </a:r>
          </a:p>
        </p:txBody>
      </p:sp>
      <p:sp>
        <p:nvSpPr>
          <p:cNvPr id="13" name="Graphic 23">
            <a:extLst>
              <a:ext uri="{FF2B5EF4-FFF2-40B4-BE49-F238E27FC236}">
                <a16:creationId xmlns:a16="http://schemas.microsoft.com/office/drawing/2014/main" id="{13C79475-828F-988B-5B26-3A7FC573443E}"/>
              </a:ext>
              <a:ext uri="{C183D7F6-B498-43B3-948B-1728B52AA6E4}">
                <adec:decorative xmlns:adec="http://schemas.microsoft.com/office/drawing/2017/decorative" val="1"/>
              </a:ext>
            </a:extLst>
          </p:cNvPr>
          <p:cNvSpPr/>
          <p:nvPr/>
        </p:nvSpPr>
        <p:spPr>
          <a:xfrm>
            <a:off x="640148" y="1816558"/>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14" name="Group 13">
            <a:extLst>
              <a:ext uri="{FF2B5EF4-FFF2-40B4-BE49-F238E27FC236}">
                <a16:creationId xmlns:a16="http://schemas.microsoft.com/office/drawing/2014/main" id="{DAA648C3-2F20-087D-0105-0D9BE22D2BAF}"/>
              </a:ext>
              <a:ext uri="{C183D7F6-B498-43B3-948B-1728B52AA6E4}">
                <adec:decorative xmlns:adec="http://schemas.microsoft.com/office/drawing/2017/decorative" val="1"/>
              </a:ext>
            </a:extLst>
          </p:cNvPr>
          <p:cNvGrpSpPr/>
          <p:nvPr/>
        </p:nvGrpSpPr>
        <p:grpSpPr>
          <a:xfrm>
            <a:off x="3088239" y="1309333"/>
            <a:ext cx="8617377" cy="5001571"/>
            <a:chOff x="455996" y="1206500"/>
            <a:chExt cx="11306470" cy="5062538"/>
          </a:xfrm>
        </p:grpSpPr>
        <p:sp>
          <p:nvSpPr>
            <p:cNvPr id="15" name="Rectangle: Rounded Corners 14">
              <a:extLst>
                <a:ext uri="{FF2B5EF4-FFF2-40B4-BE49-F238E27FC236}">
                  <a16:creationId xmlns:a16="http://schemas.microsoft.com/office/drawing/2014/main" id="{8ED31828-E7DD-2F37-209E-307DD3F27E30}"/>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Rectangle: Rounded Corners 16">
              <a:extLst>
                <a:ext uri="{FF2B5EF4-FFF2-40B4-BE49-F238E27FC236}">
                  <a16:creationId xmlns:a16="http://schemas.microsoft.com/office/drawing/2014/main" id="{97358268-9EE6-7208-3024-8E78044B6FFB}"/>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19" name="TextBox 18">
            <a:extLst>
              <a:ext uri="{FF2B5EF4-FFF2-40B4-BE49-F238E27FC236}">
                <a16:creationId xmlns:a16="http://schemas.microsoft.com/office/drawing/2014/main" id="{38CD6BCB-7CE5-6F34-AA36-2BBE675DBD2A}"/>
              </a:ext>
            </a:extLst>
          </p:cNvPr>
          <p:cNvSpPr txBox="1"/>
          <p:nvPr/>
        </p:nvSpPr>
        <p:spPr>
          <a:xfrm>
            <a:off x="659327" y="1355418"/>
            <a:ext cx="2309042" cy="33902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1" name="Graphic 23">
            <a:extLst>
              <a:ext uri="{FF2B5EF4-FFF2-40B4-BE49-F238E27FC236}">
                <a16:creationId xmlns:a16="http://schemas.microsoft.com/office/drawing/2014/main" id="{F98000D2-E4E9-3E3E-FB63-7B7A96944259}"/>
              </a:ext>
              <a:ext uri="{C183D7F6-B498-43B3-948B-1728B52AA6E4}">
                <adec:decorative xmlns:adec="http://schemas.microsoft.com/office/drawing/2017/decorative" val="1"/>
              </a:ext>
            </a:extLst>
          </p:cNvPr>
          <p:cNvSpPr/>
          <p:nvPr/>
        </p:nvSpPr>
        <p:spPr>
          <a:xfrm>
            <a:off x="640148" y="236241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3" name="Arrow: Bent 22">
            <a:extLst>
              <a:ext uri="{FF2B5EF4-FFF2-40B4-BE49-F238E27FC236}">
                <a16:creationId xmlns:a16="http://schemas.microsoft.com/office/drawing/2014/main" id="{0D5B9CC1-6F1D-A08B-F801-D4C5C17362E8}"/>
              </a:ext>
              <a:ext uri="{C183D7F6-B498-43B3-948B-1728B52AA6E4}">
                <adec:decorative xmlns:adec="http://schemas.microsoft.com/office/drawing/2017/decorative" val="1"/>
              </a:ext>
            </a:extLst>
          </p:cNvPr>
          <p:cNvSpPr>
            <a:spLocks/>
          </p:cNvSpPr>
          <p:nvPr/>
        </p:nvSpPr>
        <p:spPr bwMode="auto">
          <a:xfrm flipH="1">
            <a:off x="9763180" y="1309332"/>
            <a:ext cx="1942435" cy="2291830"/>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sp>
        <p:nvSpPr>
          <p:cNvPr id="2" name="TextBox 1">
            <a:extLst>
              <a:ext uri="{FF2B5EF4-FFF2-40B4-BE49-F238E27FC236}">
                <a16:creationId xmlns:a16="http://schemas.microsoft.com/office/drawing/2014/main" id="{19570EA7-D0C7-02C1-F287-0BBD6BB70B73}"/>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011636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6631F-820D-1612-3A20-350A06DD5A1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2AB0D3A-26BC-7C21-2840-13B389A27BBA}"/>
              </a:ext>
            </a:extLst>
          </p:cNvPr>
          <p:cNvSpPr>
            <a:spLocks noGrp="1"/>
          </p:cNvSpPr>
          <p:nvPr>
            <p:ph type="title"/>
          </p:nvPr>
        </p:nvSpPr>
        <p:spPr>
          <a:xfrm>
            <a:off x="585788" y="2300715"/>
            <a:ext cx="9144000" cy="1231106"/>
          </a:xfrm>
        </p:spPr>
        <p:txBody>
          <a:bodyPr/>
          <a:lstStyle/>
          <a:p>
            <a:r>
              <a:rPr lang="en-US" sz="4400"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12" name="TextBox 11">
            <a:extLst>
              <a:ext uri="{FF2B5EF4-FFF2-40B4-BE49-F238E27FC236}">
                <a16:creationId xmlns:a16="http://schemas.microsoft.com/office/drawing/2014/main" id="{3B6313C2-0900-6672-5C8B-105CC49CCB76}"/>
              </a:ext>
            </a:extLst>
          </p:cNvPr>
          <p:cNvSpPr txBox="1"/>
          <p:nvPr/>
        </p:nvSpPr>
        <p:spPr>
          <a:xfrm>
            <a:off x="584200" y="4099770"/>
            <a:ext cx="7832436"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b="1" noProof="0" dirty="0"/>
              <a:t>Heterogeneous Database Migrations (Oracle, Sybase) Using Agentic AI</a:t>
            </a:r>
          </a:p>
        </p:txBody>
      </p:sp>
      <p:sp>
        <p:nvSpPr>
          <p:cNvPr id="3" name="TextBox 2">
            <a:extLst>
              <a:ext uri="{FF2B5EF4-FFF2-40B4-BE49-F238E27FC236}">
                <a16:creationId xmlns:a16="http://schemas.microsoft.com/office/drawing/2014/main" id="{620DD853-4450-702E-88B8-68AFD078BFAB}"/>
              </a:ext>
            </a:extLst>
          </p:cNvPr>
          <p:cNvSpPr txBox="1"/>
          <p:nvPr/>
        </p:nvSpPr>
        <p:spPr>
          <a:xfrm>
            <a:off x="9193695"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4" name="Image 10" descr="Home (outlined)">
            <a:hlinkClick r:id="rId3" action="ppaction://hlinksldjump" tooltip="Home"/>
            <a:extLst>
              <a:ext uri="{FF2B5EF4-FFF2-40B4-BE49-F238E27FC236}">
                <a16:creationId xmlns:a16="http://schemas.microsoft.com/office/drawing/2014/main" id="{8B0B5A73-9782-8640-DF9F-28DBDF00E8F0}"/>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3641955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 presetClass="emph" presetSubtype="0" fill="hold" grpId="1" nodeType="withEffect">
                                  <p:stCondLst>
                                    <p:cond delay="0"/>
                                  </p:stCondLst>
                                  <p:childTnLst>
                                    <p:animScale>
                                      <p:cBhvr>
                                        <p:cTn id="9" dur="100" fill="hold"/>
                                        <p:tgtEl>
                                          <p:spTgt spid="1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2"/>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6" presetClass="emph" presetSubtype="0" fill="hold" grpId="1" nodeType="withEffect">
                                  <p:stCondLst>
                                    <p:cond delay="0"/>
                                  </p:stCondLst>
                                  <p:childTnLst>
                                    <p:animScale>
                                      <p:cBhvr>
                                        <p:cTn id="16" dur="100" fill="hold"/>
                                        <p:tgtEl>
                                          <p:spTgt spid="3"/>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animBg="1"/>
      <p:bldP spid="3" grpId="0" animBg="1"/>
      <p:bldP spid="3" grpId="1" animBg="1"/>
      <p:bldP spid="3" grpId="2"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3FAA9-83B8-4E73-312B-F0A644BD8667}"/>
            </a:ext>
          </a:extLst>
        </p:cNvPr>
        <p:cNvGrpSpPr/>
        <p:nvPr/>
      </p:nvGrpSpPr>
      <p:grpSpPr>
        <a:xfrm>
          <a:off x="0" y="0"/>
          <a:ext cx="0" cy="0"/>
          <a:chOff x="0" y="0"/>
          <a:chExt cx="0" cy="0"/>
        </a:xfrm>
      </p:grpSpPr>
      <p:sp>
        <p:nvSpPr>
          <p:cNvPr id="13" name="Rounded Rectangle 55">
            <a:extLst>
              <a:ext uri="{FF2B5EF4-FFF2-40B4-BE49-F238E27FC236}">
                <a16:creationId xmlns:a16="http://schemas.microsoft.com/office/drawing/2014/main" id="{4168C94C-D16E-00A1-1236-E5F93C604A21}"/>
              </a:ext>
              <a:ext uri="{C183D7F6-B498-43B3-948B-1728B52AA6E4}">
                <adec:decorative xmlns:adec="http://schemas.microsoft.com/office/drawing/2017/decorative" val="1"/>
              </a:ext>
            </a:extLst>
          </p:cNvPr>
          <p:cNvSpPr/>
          <p:nvPr/>
        </p:nvSpPr>
        <p:spPr bwMode="auto">
          <a:xfrm>
            <a:off x="9100284" y="1216605"/>
            <a:ext cx="2743819" cy="5224599"/>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Rounded Rectangle 55">
            <a:extLst>
              <a:ext uri="{FF2B5EF4-FFF2-40B4-BE49-F238E27FC236}">
                <a16:creationId xmlns:a16="http://schemas.microsoft.com/office/drawing/2014/main" id="{97978E88-48BA-0A6F-DC1F-25AD7628EDC0}"/>
              </a:ext>
              <a:ext uri="{C183D7F6-B498-43B3-948B-1728B52AA6E4}">
                <adec:decorative xmlns:adec="http://schemas.microsoft.com/office/drawing/2017/decorative" val="1"/>
              </a:ext>
            </a:extLst>
          </p:cNvPr>
          <p:cNvSpPr/>
          <p:nvPr/>
        </p:nvSpPr>
        <p:spPr bwMode="auto">
          <a:xfrm>
            <a:off x="541693" y="1228599"/>
            <a:ext cx="8443279" cy="5224599"/>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8" name="Title 1">
            <a:extLst>
              <a:ext uri="{FF2B5EF4-FFF2-40B4-BE49-F238E27FC236}">
                <a16:creationId xmlns:a16="http://schemas.microsoft.com/office/drawing/2014/main" id="{74F058E7-241E-0A62-81AB-A1BDC70F6FB0}"/>
              </a:ext>
            </a:extLst>
          </p:cNvPr>
          <p:cNvSpPr>
            <a:spLocks noGrp="1"/>
          </p:cNvSpPr>
          <p:nvPr>
            <p:ph type="title"/>
          </p:nvPr>
        </p:nvSpPr>
        <p:spPr>
          <a:xfrm>
            <a:off x="588963" y="281610"/>
            <a:ext cx="8443277" cy="400110"/>
          </a:xfrm>
        </p:spPr>
        <p:txBody>
          <a:bodyPr/>
          <a:lstStyle/>
          <a:p>
            <a:r>
              <a:rPr lang="en-US" sz="2600" noProof="0" dirty="0"/>
              <a:t>App &amp; Database Modernization</a:t>
            </a:r>
          </a:p>
        </p:txBody>
      </p:sp>
      <p:sp>
        <p:nvSpPr>
          <p:cNvPr id="19" name="Content Placeholder 4">
            <a:extLst>
              <a:ext uri="{FF2B5EF4-FFF2-40B4-BE49-F238E27FC236}">
                <a16:creationId xmlns:a16="http://schemas.microsoft.com/office/drawing/2014/main" id="{7D193671-43D5-92A9-AE01-67213B9B449E}"/>
              </a:ext>
            </a:extLst>
          </p:cNvPr>
          <p:cNvSpPr txBox="1">
            <a:spLocks/>
          </p:cNvSpPr>
          <p:nvPr/>
        </p:nvSpPr>
        <p:spPr>
          <a:xfrm>
            <a:off x="9395227" y="1647267"/>
            <a:ext cx="2448877" cy="4805931"/>
          </a:xfrm>
          <a:prstGeom prst="rect">
            <a:avLst/>
          </a:prstGeom>
        </p:spPr>
        <p:txBody>
          <a:bodyPr vert="horz" wrap="square" lIns="91440" tIns="91440" rIns="91440" bIns="73152"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participate in a migration/modernization assessment to define in-scope servers. </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Oracle version 12c or later is supported</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SAP ASE (Sybase) 11.9.2 or later supported</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needs an Azure OpenAI endpoint to support the schema conversion in the case of Oracle migrations.</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actively participate in the schema conversion tasks with the support of the factory.</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test and validate converted schema before proceeding to data migrations.</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is responsible for performance tuning and optimization of the target server.</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Internet bandwidth availability must meet minimum Factory requirements </a:t>
            </a:r>
          </a:p>
        </p:txBody>
      </p:sp>
      <p:sp>
        <p:nvSpPr>
          <p:cNvPr id="21" name="TextBox 20">
            <a:extLst>
              <a:ext uri="{FF2B5EF4-FFF2-40B4-BE49-F238E27FC236}">
                <a16:creationId xmlns:a16="http://schemas.microsoft.com/office/drawing/2014/main" id="{881361EB-36F8-EA83-844B-3067C51B08A7}"/>
              </a:ext>
            </a:extLst>
          </p:cNvPr>
          <p:cNvSpPr txBox="1"/>
          <p:nvPr/>
        </p:nvSpPr>
        <p:spPr>
          <a:xfrm>
            <a:off x="579517" y="1302325"/>
            <a:ext cx="8367633"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2" name="Graphic 22">
            <a:extLst>
              <a:ext uri="{FF2B5EF4-FFF2-40B4-BE49-F238E27FC236}">
                <a16:creationId xmlns:a16="http://schemas.microsoft.com/office/drawing/2014/main" id="{C9DCC750-35FE-D2B9-E173-9AFBDD985949}"/>
              </a:ext>
            </a:extLst>
          </p:cNvPr>
          <p:cNvSpPr/>
          <p:nvPr/>
        </p:nvSpPr>
        <p:spPr>
          <a:xfrm>
            <a:off x="3834447"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3" name="TextBox 22">
            <a:extLst>
              <a:ext uri="{FF2B5EF4-FFF2-40B4-BE49-F238E27FC236}">
                <a16:creationId xmlns:a16="http://schemas.microsoft.com/office/drawing/2014/main" id="{1848BF04-1B1E-6979-4231-93F3406E3DEF}"/>
              </a:ext>
            </a:extLst>
          </p:cNvPr>
          <p:cNvSpPr txBox="1"/>
          <p:nvPr/>
        </p:nvSpPr>
        <p:spPr>
          <a:xfrm>
            <a:off x="9154160" y="1302325"/>
            <a:ext cx="2616803" cy="253553"/>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4" name="Graphic 25">
            <a:extLst>
              <a:ext uri="{FF2B5EF4-FFF2-40B4-BE49-F238E27FC236}">
                <a16:creationId xmlns:a16="http://schemas.microsoft.com/office/drawing/2014/main" id="{CFEBB542-CDB1-572D-D092-6DE12423842E}"/>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25" name="TextBox 24">
            <a:extLst>
              <a:ext uri="{FF2B5EF4-FFF2-40B4-BE49-F238E27FC236}">
                <a16:creationId xmlns:a16="http://schemas.microsoft.com/office/drawing/2014/main" id="{305A7A9A-B4BD-FA80-8BB1-63D8F6C6DE70}"/>
              </a:ext>
            </a:extLst>
          </p:cNvPr>
          <p:cNvSpPr txBox="1"/>
          <p:nvPr/>
        </p:nvSpPr>
        <p:spPr>
          <a:xfrm>
            <a:off x="586740" y="670536"/>
            <a:ext cx="7774463" cy="276999"/>
          </a:xfrm>
          <a:prstGeom prst="rect">
            <a:avLst/>
          </a:prstGeom>
          <a:noFill/>
        </p:spPr>
        <p:txBody>
          <a:bodyPr wrap="square" lIns="0" tIns="0" rIns="0" bIns="0" rtlCol="0">
            <a:spAutoFit/>
          </a:bodyPr>
          <a:lstStyle/>
          <a:p>
            <a:r>
              <a:rPr lang="en-US" noProof="0" dirty="0">
                <a:latin typeface="+mj-lt"/>
              </a:rPr>
              <a:t>Heterogeneous Database Migrations (Oracle, Sybase) using Agentic AI</a:t>
            </a:r>
          </a:p>
        </p:txBody>
      </p:sp>
      <p:graphicFrame>
        <p:nvGraphicFramePr>
          <p:cNvPr id="29" name="Table 28" title="Exchange Online Technet Guidance">
            <a:extLst>
              <a:ext uri="{FF2B5EF4-FFF2-40B4-BE49-F238E27FC236}">
                <a16:creationId xmlns:a16="http://schemas.microsoft.com/office/drawing/2014/main" id="{61BF655B-CBD2-B66B-5F9B-97A5B0DE883D}"/>
              </a:ext>
            </a:extLst>
          </p:cNvPr>
          <p:cNvGraphicFramePr>
            <a:graphicFrameLocks noGrp="1"/>
          </p:cNvGraphicFramePr>
          <p:nvPr>
            <p:extLst>
              <p:ext uri="{D42A27DB-BD31-4B8C-83A1-F6EECF244321}">
                <p14:modId xmlns:p14="http://schemas.microsoft.com/office/powerpoint/2010/main" val="3689600320"/>
              </p:ext>
            </p:extLst>
          </p:nvPr>
        </p:nvGraphicFramePr>
        <p:xfrm>
          <a:off x="622062" y="1654392"/>
          <a:ext cx="8367633" cy="4598005"/>
        </p:xfrm>
        <a:graphic>
          <a:graphicData uri="http://schemas.openxmlformats.org/drawingml/2006/table">
            <a:tbl>
              <a:tblPr firstRow="1" bandRow="1">
                <a:tableStyleId>{5C22544A-7EE6-4342-B048-85BDC9FD1C3A}</a:tableStyleId>
              </a:tblPr>
              <a:tblGrid>
                <a:gridCol w="274320">
                  <a:extLst>
                    <a:ext uri="{9D8B030D-6E8A-4147-A177-3AD203B41FA5}">
                      <a16:colId xmlns:a16="http://schemas.microsoft.com/office/drawing/2014/main" val="920430407"/>
                    </a:ext>
                  </a:extLst>
                </a:gridCol>
                <a:gridCol w="8093313">
                  <a:extLst>
                    <a:ext uri="{9D8B030D-6E8A-4147-A177-3AD203B41FA5}">
                      <a16:colId xmlns:a16="http://schemas.microsoft.com/office/drawing/2014/main" val="125040094"/>
                    </a:ext>
                  </a:extLst>
                </a:gridCol>
              </a:tblGrid>
              <a:tr h="269507">
                <a:tc gridSpan="2">
                  <a:txBody>
                    <a:bodyPr/>
                    <a:lstStyle/>
                    <a:p>
                      <a:pPr marL="0" marR="0" lvl="0" indent="0" algn="just" rtl="0" eaLnBrk="1" fontAlgn="auto" latinLnBrk="0" hangingPunct="1">
                        <a:lnSpc>
                          <a:spcPct val="100000"/>
                        </a:lnSpc>
                        <a:spcBef>
                          <a:spcPts val="0"/>
                        </a:spcBef>
                        <a:spcAft>
                          <a:spcPts val="0"/>
                        </a:spcAft>
                        <a:buClrTx/>
                        <a:buSzTx/>
                        <a:buFontTx/>
                        <a:buNone/>
                      </a:pPr>
                      <a:r>
                        <a:rPr kumimoji="0" lang="en-US" sz="1000" b="0" i="0" u="none" strike="noStrike" kern="1200" cap="none" spc="0" normalizeH="0" baseline="0" noProof="0" dirty="0">
                          <a:ln>
                            <a:noFill/>
                          </a:ln>
                          <a:solidFill>
                            <a:srgbClr val="000000"/>
                          </a:solidFill>
                          <a:effectLst/>
                          <a:uLnTx/>
                          <a:uFillTx/>
                          <a:latin typeface="+mj-lt"/>
                          <a:ea typeface="+mn-ea"/>
                          <a:cs typeface="+mn-cs"/>
                        </a:rPr>
                        <a:t>Microsoft Cloud Accelerate Factory (Factory) </a:t>
                      </a:r>
                      <a:r>
                        <a:rPr kumimoji="0" lang="en-US" sz="1000" b="0" i="0" u="none" strike="noStrike" kern="1200" cap="none" spc="0" normalizeH="0" baseline="0" noProof="0" dirty="0">
                          <a:ln>
                            <a:noFill/>
                          </a:ln>
                          <a:solidFill>
                            <a:srgbClr val="000000"/>
                          </a:solidFill>
                          <a:effectLst/>
                          <a:uLnTx/>
                          <a:uFillTx/>
                          <a:latin typeface="+mn-lt"/>
                          <a:ea typeface="+mn-ea"/>
                          <a:cs typeface="+mn-cs"/>
                        </a:rPr>
                        <a:t>rehost/re-platform to </a:t>
                      </a:r>
                      <a:r>
                        <a:rPr lang="en-US" sz="1000" b="0" i="0" u="none" strike="noStrike" kern="1200" cap="none" spc="0" normalizeH="0" baseline="0" noProof="0" dirty="0">
                          <a:ln>
                            <a:noFill/>
                          </a:ln>
                          <a:solidFill>
                            <a:srgbClr val="000000"/>
                          </a:solidFill>
                          <a:effectLst/>
                          <a:uLnTx/>
                          <a:uFillTx/>
                          <a:latin typeface="+mn-lt"/>
                          <a:ea typeface="+mn-ea"/>
                          <a:cs typeface="+mn-cs"/>
                        </a:rPr>
                        <a:t>Azure</a:t>
                      </a: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853742">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200"/>
                        </a:spcAft>
                        <a:buFontTx/>
                        <a:buNone/>
                      </a:pPr>
                      <a:r>
                        <a:rPr kumimoji="0" lang="en-US" sz="1000" b="0" i="0" u="none" strike="noStrike" kern="1200" cap="none" spc="0" normalizeH="0" baseline="0" noProof="0" dirty="0">
                          <a:ln>
                            <a:noFill/>
                          </a:ln>
                          <a:solidFill>
                            <a:srgbClr val="000000"/>
                          </a:solidFill>
                          <a:effectLst/>
                          <a:uLnTx/>
                          <a:uFillTx/>
                          <a:latin typeface="+mj-lt"/>
                          <a:ea typeface="+mn-ea"/>
                          <a:cs typeface="+mn-cs"/>
                        </a:rPr>
                        <a:t>Determine what databases are in scope for modernization: </a:t>
                      </a:r>
                    </a:p>
                    <a:p>
                      <a:pPr marL="171450" marR="0" lvl="0" indent="-114300" algn="just" rtl="0" eaLnBrk="1" fontAlgn="auto" latinLnBrk="0" hangingPunct="1">
                        <a:lnSpc>
                          <a:spcPct val="100000"/>
                        </a:lnSpc>
                        <a:spcBef>
                          <a:spcPts val="0"/>
                        </a:spcBef>
                        <a:spcAft>
                          <a:spcPts val="200"/>
                        </a:spcAft>
                        <a:buFont typeface="Arial" panose="020B0604020202020204" pitchFamily="34" charset="0"/>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Verify source Oracle DB/Sybase version and other compatibility points to define migration path.</a:t>
                      </a:r>
                    </a:p>
                    <a:p>
                      <a:pPr marL="171450" marR="0" lvl="0" indent="-114300" algn="just">
                        <a:lnSpc>
                          <a:spcPct val="100000"/>
                        </a:lnSpc>
                        <a:spcBef>
                          <a:spcPts val="0"/>
                        </a:spcBef>
                        <a:spcAft>
                          <a:spcPts val="200"/>
                        </a:spcAft>
                        <a:buFont typeface="Arial" panose="020B0604020202020204" pitchFamily="34" charset="0"/>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Re-platforming involves modifying the databases and converting the schema while keeping the core application logic the same.</a:t>
                      </a:r>
                    </a:p>
                    <a:p>
                      <a:pPr marL="171450" lvl="0" indent="-114300" algn="just">
                        <a:lnSpc>
                          <a:spcPct val="100000"/>
                        </a:lnSpc>
                        <a:spcBef>
                          <a:spcPts val="0"/>
                        </a:spcBef>
                        <a:spcAft>
                          <a:spcPts val="200"/>
                        </a:spcAft>
                        <a:buFont typeface="Arial" panose="020B0604020202020204" pitchFamily="34" charset="0"/>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Schema conversion: Use of first party and/or third-party tools to convert the schema from Oracle to SQL or PostgreSQL, Sybase to SQL.</a:t>
                      </a:r>
                    </a:p>
                    <a:p>
                      <a:pPr marL="171450" marR="0" lvl="0" indent="-114300" algn="just">
                        <a:lnSpc>
                          <a:spcPct val="100000"/>
                        </a:lnSpc>
                        <a:spcBef>
                          <a:spcPts val="0"/>
                        </a:spcBef>
                        <a:spcAft>
                          <a:spcPts val="200"/>
                        </a:spcAft>
                        <a:buFont typeface="Arial" panose="020B0604020202020204" pitchFamily="34" charset="0"/>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Data migration: Use of first party or third-party tools e.g., Striim to move the data.</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561624">
                <a:tc>
                  <a:txBody>
                    <a:bodyPr/>
                    <a:lstStyle/>
                    <a:p>
                      <a:pPr lvl="0" algn="ctr">
                        <a:buNone/>
                      </a:pPr>
                      <a:r>
                        <a:rPr lang="en-US" sz="1050" b="0" i="0" u="none" strike="noStrike"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a:lnSpc>
                          <a:spcPct val="100000"/>
                        </a:lnSpc>
                        <a:spcBef>
                          <a:spcPts val="0"/>
                        </a:spcBef>
                        <a:spcAft>
                          <a:spcPts val="200"/>
                        </a:spcAft>
                        <a:buNone/>
                      </a:pPr>
                      <a:r>
                        <a:rPr kumimoji="0" lang="en-US" sz="1000" b="0" i="0" u="none" strike="noStrike" kern="1200" cap="none" spc="0" normalizeH="0" baseline="0" noProof="0" dirty="0">
                          <a:ln>
                            <a:noFill/>
                          </a:ln>
                          <a:solidFill>
                            <a:srgbClr val="000000"/>
                          </a:solidFill>
                          <a:effectLst/>
                          <a:uLnTx/>
                          <a:uFillTx/>
                          <a:latin typeface="+mj-lt"/>
                          <a:ea typeface="+mn-ea"/>
                          <a:cs typeface="+mn-cs"/>
                        </a:rPr>
                        <a:t>Assess your current environment</a:t>
                      </a:r>
                    </a:p>
                    <a:p>
                      <a:pPr marL="171450" marR="0" lvl="0" indent="-114300" algn="just">
                        <a:lnSpc>
                          <a:spcPct val="100000"/>
                        </a:lnSpc>
                        <a:spcBef>
                          <a:spcPts val="0"/>
                        </a:spcBef>
                        <a:spcAft>
                          <a:spcPts val="200"/>
                        </a:spcAft>
                        <a:buFont typeface="Arial" panose="020B0604020202020204" pitchFamily="34" charset="0"/>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Leverage SSMA for Oracle/Sybase (SQL) or Azure Oracle to PostgreSQL Assessment tooling, to conduct an assessment for feasibility, and check for re-platforming using Microsoft IP/scripts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999801">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a:lnSpc>
                          <a:spcPct val="100000"/>
                        </a:lnSpc>
                        <a:spcBef>
                          <a:spcPts val="0"/>
                        </a:spcBef>
                        <a:spcAft>
                          <a:spcPts val="200"/>
                        </a:spcAft>
                        <a:buNone/>
                      </a:pPr>
                      <a:r>
                        <a:rPr kumimoji="0" lang="en-US" sz="1000" b="0" i="0" u="none" strike="noStrike" kern="1200" cap="none" spc="0" normalizeH="0" baseline="0" noProof="0" dirty="0">
                          <a:ln>
                            <a:noFill/>
                          </a:ln>
                          <a:solidFill>
                            <a:srgbClr val="000000"/>
                          </a:solidFill>
                          <a:effectLst/>
                          <a:uLnTx/>
                          <a:uFillTx/>
                          <a:latin typeface="+mj-lt"/>
                          <a:ea typeface="+mn-ea"/>
                          <a:cs typeface="+mn-cs"/>
                        </a:rPr>
                        <a:t>Plan your migration: </a:t>
                      </a:r>
                    </a:p>
                    <a:p>
                      <a:pPr marL="171450" marR="0" lvl="0" indent="-114300" algn="just">
                        <a:lnSpc>
                          <a:spcPct val="100000"/>
                        </a:lnSpc>
                        <a:spcBef>
                          <a:spcPts val="0"/>
                        </a:spcBef>
                        <a:spcAft>
                          <a:spcPts val="200"/>
                        </a:spcAft>
                        <a:buFont typeface="Arial" panose="020B0604020202020204" pitchFamily="34" charset="0"/>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Use SSMA for Sybase (SQL), SSMA for Oracle (SQL) or VS Code PostgreSQL extension, both integrated with Azure OpenAI, for schema conversion. </a:t>
                      </a:r>
                      <a:endParaRPr kumimoji="0" lang="en-US" sz="900" b="0" i="0" u="none" strike="noStrike" kern="1200" cap="none" spc="0" normalizeH="0" baseline="0" noProof="0" dirty="0">
                        <a:ln>
                          <a:noFill/>
                        </a:ln>
                        <a:solidFill>
                          <a:srgbClr val="000000"/>
                        </a:solidFill>
                        <a:effectLst/>
                        <a:uLnTx/>
                        <a:uFillTx/>
                        <a:latin typeface="+mj-lt"/>
                        <a:ea typeface="+mn-ea"/>
                        <a:cs typeface="+mn-cs"/>
                      </a:endParaRPr>
                    </a:p>
                    <a:p>
                      <a:pPr marL="171450" marR="0" lvl="0" indent="-114300" algn="just">
                        <a:lnSpc>
                          <a:spcPct val="100000"/>
                        </a:lnSpc>
                        <a:spcBef>
                          <a:spcPts val="0"/>
                        </a:spcBef>
                        <a:spcAft>
                          <a:spcPts val="200"/>
                        </a:spcAft>
                        <a:buClr>
                          <a:srgbClr val="1A1A1A"/>
                        </a:buClr>
                        <a:buFont typeface="Arial,Sans-Serif"/>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Determine the SKU sizing in the target environment </a:t>
                      </a:r>
                    </a:p>
                    <a:p>
                      <a:pPr marL="171450" marR="0" lvl="0" indent="-114300" algn="just">
                        <a:lnSpc>
                          <a:spcPct val="100000"/>
                        </a:lnSpc>
                        <a:spcBef>
                          <a:spcPts val="0"/>
                        </a:spcBef>
                        <a:spcAft>
                          <a:spcPts val="200"/>
                        </a:spcAft>
                        <a:buClr>
                          <a:srgbClr val="1A1A1A"/>
                        </a:buClr>
                        <a:buFont typeface="Arial,Sans-Serif"/>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Validate that all prerequisites, schema testing and validation have been completed </a:t>
                      </a:r>
                    </a:p>
                    <a:p>
                      <a:pPr marL="171450" marR="0" lvl="0" indent="-114300" algn="just">
                        <a:lnSpc>
                          <a:spcPct val="100000"/>
                        </a:lnSpc>
                        <a:spcBef>
                          <a:spcPts val="0"/>
                        </a:spcBef>
                        <a:spcAft>
                          <a:spcPts val="200"/>
                        </a:spcAft>
                        <a:buClr>
                          <a:srgbClr val="1A1A1A"/>
                        </a:buClr>
                        <a:buFont typeface="Arial,Sans-Serif"/>
                        <a:buChar char="•"/>
                      </a:pPr>
                      <a:r>
                        <a:rPr kumimoji="0" lang="en-US" sz="900" b="0" i="0" u="none" strike="noStrike" kern="1200" cap="none" spc="0" normalizeH="0" baseline="0" noProof="0" dirty="0">
                          <a:ln>
                            <a:noFill/>
                          </a:ln>
                          <a:solidFill>
                            <a:srgbClr val="000000"/>
                          </a:solidFill>
                          <a:effectLst/>
                          <a:uLnTx/>
                          <a:uFillTx/>
                          <a:latin typeface="+mn-lt"/>
                          <a:ea typeface="+mn-ea"/>
                          <a:cs typeface="+mn-cs"/>
                        </a:rPr>
                        <a:t>Confirm the target LZ details including subscription, resource group, IP segment etc.. and provision Azure resources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415566">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mn-cs"/>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kumimoji="0" lang="en-US" sz="1000" b="0" i="0" u="none" strike="noStrike" kern="1200" cap="none" spc="0" normalizeH="0" baseline="0" noProof="0" dirty="0">
                          <a:ln>
                            <a:noFill/>
                          </a:ln>
                          <a:solidFill>
                            <a:srgbClr val="000000"/>
                          </a:solidFill>
                          <a:effectLst/>
                          <a:uLnTx/>
                          <a:uFillTx/>
                          <a:latin typeface="+mj-lt"/>
                          <a:ea typeface="+mn-ea"/>
                          <a:cs typeface="+mn-cs"/>
                        </a:rPr>
                        <a:t>Migrate Data from source </a:t>
                      </a:r>
                      <a:r>
                        <a:rPr kumimoji="0" lang="en-US" sz="1000" b="0" i="0" u="none" strike="noStrike" kern="1200" cap="none" spc="0" normalizeH="0" baseline="0" noProof="0" dirty="0">
                          <a:ln>
                            <a:noFill/>
                          </a:ln>
                          <a:solidFill>
                            <a:srgbClr val="000000"/>
                          </a:solidFill>
                          <a:effectLst/>
                          <a:uLnTx/>
                          <a:uFillTx/>
                          <a:latin typeface="+mn-lt"/>
                          <a:ea typeface="+mn-ea"/>
                          <a:cs typeface="+mn-cs"/>
                        </a:rPr>
                        <a:t>to Azure Cloud via SSMA for Oracle/Sybase, Ora2PG and Striim (suitable for large workloads and on-line migration, license provided by Microsoft)</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283180">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mn-cs"/>
                        </a:rPr>
                        <a:t>5</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000" b="0" i="0" u="none" strike="noStrike" kern="1200" cap="none" spc="0" normalizeH="0" baseline="0" noProof="0" dirty="0">
                          <a:ln>
                            <a:noFill/>
                          </a:ln>
                          <a:solidFill>
                            <a:srgbClr val="000000"/>
                          </a:solidFill>
                          <a:effectLst/>
                          <a:uLnTx/>
                          <a:uFillTx/>
                          <a:latin typeface="+mj-lt"/>
                          <a:ea typeface="+mn-ea"/>
                          <a:cs typeface="+mn-cs"/>
                        </a:rPr>
                        <a:t>Modernize</a:t>
                      </a:r>
                      <a:r>
                        <a:rPr kumimoji="0" lang="en-US" sz="1000" b="0" i="0" u="none" strike="noStrike" kern="1200" cap="none" spc="0" normalizeH="0" baseline="0" noProof="0" dirty="0">
                          <a:ln>
                            <a:noFill/>
                          </a:ln>
                          <a:solidFill>
                            <a:srgbClr val="000000"/>
                          </a:solidFill>
                          <a:effectLst/>
                          <a:uLnTx/>
                          <a:uFillTx/>
                          <a:latin typeface="+mj-lt"/>
                          <a:ea typeface="+mn-ea"/>
                          <a:cs typeface="+mn-cs"/>
                        </a:rPr>
                        <a:t> Apps </a:t>
                      </a:r>
                      <a:r>
                        <a:rPr kumimoji="0" lang="en-US" sz="1000" b="0" i="0" u="none" strike="noStrike" kern="1200" cap="none" spc="0" normalizeH="0" baseline="0" noProof="0" dirty="0">
                          <a:ln>
                            <a:noFill/>
                          </a:ln>
                          <a:solidFill>
                            <a:srgbClr val="000000"/>
                          </a:solidFill>
                          <a:effectLst/>
                          <a:uLnTx/>
                          <a:uFillTx/>
                          <a:latin typeface="+mn-lt"/>
                          <a:ea typeface="+mn-ea"/>
                          <a:cs typeface="+mn-cs"/>
                        </a:rPr>
                        <a:t>to Azure Cloud by engaging the </a:t>
                      </a:r>
                      <a:r>
                        <a:rPr kumimoji="0" lang="en-US" sz="1000" b="0" i="0" u="none" strike="noStrike" kern="1200" cap="none" spc="0" normalizeH="0" baseline="0" noProof="0" dirty="0">
                          <a:ln>
                            <a:noFill/>
                          </a:ln>
                          <a:solidFill>
                            <a:srgbClr val="0477D3"/>
                          </a:solidFill>
                          <a:effectLst/>
                          <a:uLnTx/>
                          <a:uFillTx/>
                          <a:latin typeface="+mn-lt"/>
                          <a:ea typeface="+mn-ea"/>
                          <a:cs typeface="+mn-cs"/>
                          <a:hlinkClick r:id="rId3" action="ppaction://hlinksldjump">
                            <a:extLst>
                              <a:ext uri="{A12FA001-AC4F-418D-AE19-62706E023703}">
                                <ahyp:hlinkClr xmlns:ahyp="http://schemas.microsoft.com/office/drawing/2018/hyperlinkcolor" val="tx"/>
                              </a:ext>
                            </a:extLst>
                          </a:hlinkClick>
                        </a:rPr>
                        <a:t>Scale Apps &amp; Database Modernization</a:t>
                      </a:r>
                      <a:r>
                        <a:rPr kumimoji="0" lang="en-US" sz="1000" b="0" i="0" u="none" strike="noStrike" kern="1200" cap="none" spc="0" normalizeH="0" baseline="0" noProof="0" dirty="0">
                          <a:ln>
                            <a:noFill/>
                          </a:ln>
                          <a:solidFill>
                            <a:srgbClr val="0477D3"/>
                          </a:solidFill>
                          <a:effectLst/>
                          <a:uLnTx/>
                          <a:uFillTx/>
                          <a:latin typeface="+mn-lt"/>
                          <a:ea typeface="+mn-ea"/>
                          <a:cs typeface="+mn-cs"/>
                        </a:rPr>
                        <a:t> </a:t>
                      </a:r>
                      <a:r>
                        <a:rPr kumimoji="0" lang="en-US" sz="1000" b="0" i="0" u="none" strike="noStrike" kern="1200" cap="none" spc="0" normalizeH="0" baseline="0" noProof="0" dirty="0">
                          <a:ln>
                            <a:noFill/>
                          </a:ln>
                          <a:solidFill>
                            <a:srgbClr val="000000"/>
                          </a:solidFill>
                          <a:effectLst/>
                          <a:uLnTx/>
                          <a:uFillTx/>
                          <a:latin typeface="+mn-lt"/>
                          <a:ea typeface="+mn-ea"/>
                          <a:cs typeface="+mn-cs"/>
                        </a:rPr>
                        <a:t>to perform AI – Assisted App Modernization</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2973484"/>
                  </a:ext>
                </a:extLst>
              </a:tr>
              <a:tr h="305567">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mn-cs"/>
                        </a:rPr>
                        <a:t>6</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kumimoji="0" lang="en-US" sz="1000" b="0" i="0" u="none" strike="noStrike" kern="1200" cap="none" spc="0" normalizeH="0" baseline="0" noProof="0" dirty="0">
                          <a:ln>
                            <a:noFill/>
                          </a:ln>
                          <a:solidFill>
                            <a:srgbClr val="000000"/>
                          </a:solidFill>
                          <a:effectLst/>
                          <a:uLnTx/>
                          <a:uFillTx/>
                          <a:latin typeface="+mj-lt"/>
                          <a:ea typeface="+mn-ea"/>
                          <a:cs typeface="+mn-cs"/>
                        </a:rPr>
                        <a:t>Handover </a:t>
                      </a:r>
                      <a:r>
                        <a:rPr kumimoji="0" lang="en-US" sz="1000" b="0" i="0" u="none" strike="noStrike" kern="1200" cap="none" spc="0" normalizeH="0" baseline="0" noProof="0" dirty="0">
                          <a:ln>
                            <a:noFill/>
                          </a:ln>
                          <a:solidFill>
                            <a:srgbClr val="000000"/>
                          </a:solidFill>
                          <a:effectLst/>
                          <a:uLnTx/>
                          <a:uFillTx/>
                          <a:latin typeface="+mn-lt"/>
                          <a:ea typeface="+mn-ea"/>
                          <a:cs typeface="+mn-cs"/>
                        </a:rPr>
                        <a:t>to Customer/Partner/ISD for post 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996170"/>
                  </a:ext>
                </a:extLst>
              </a:tr>
              <a:tr h="35714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a:t>
                      </a:r>
                      <a:br>
                        <a:rPr kumimoji="0" lang="en-US" sz="900" b="0" i="0" u="none" strike="noStrike" kern="1200" cap="none" spc="0" normalizeH="0" baseline="0" noProof="0" dirty="0">
                          <a:ln>
                            <a:noFill/>
                          </a:ln>
                          <a:solidFill>
                            <a:srgbClr val="000000"/>
                          </a:solidFill>
                          <a:effectLst/>
                          <a:uLnTx/>
                          <a:uFillTx/>
                          <a:latin typeface="+mn-lt"/>
                          <a:ea typeface="+mn-ea"/>
                          <a:cs typeface="+mn-cs"/>
                        </a:rPr>
                      </a:br>
                      <a:r>
                        <a:rPr kumimoji="0" lang="en-US" sz="900" b="0" i="0" u="none" strike="noStrike" kern="1200" cap="none" spc="0" normalizeH="0" baseline="0" noProof="0" dirty="0">
                          <a:ln>
                            <a:noFill/>
                          </a:ln>
                          <a:solidFill>
                            <a:srgbClr val="000000"/>
                          </a:solidFill>
                          <a:effectLst/>
                          <a:uLnTx/>
                          <a:uFillTx/>
                          <a:latin typeface="+mn-lt"/>
                          <a:ea typeface="+mn-ea"/>
                          <a:cs typeface="+mn-cs"/>
                        </a:rPr>
                        <a:t>providing overall project management; coordinating and </a:t>
                      </a:r>
                      <a:r>
                        <a:rPr kumimoji="0" lang="en-US" sz="900" b="0" i="0" u="none" strike="noStrike" kern="1200" cap="none" spc="0" normalizeH="0" baseline="0" noProof="0" dirty="0">
                          <a:ln>
                            <a:noFill/>
                          </a:ln>
                          <a:solidFill>
                            <a:srgbClr val="282828"/>
                          </a:solidFill>
                          <a:effectLst/>
                          <a:uLnTx/>
                          <a:uFillTx/>
                          <a:latin typeface="+mn-lt"/>
                          <a:ea typeface="+mn-ea"/>
                          <a:cs typeface="Segoe Sans Text"/>
                        </a:rPr>
                        <a:t>attending checkpoint meetings; and implementing user communications, documentation, training, and change management. </a:t>
                      </a:r>
                      <a:endParaRPr kumimoji="0" lang="en-US" sz="900" b="0" i="0" u="none" strike="noStrike" kern="1200" cap="none" spc="0" normalizeH="0" baseline="0" noProof="0" dirty="0">
                        <a:ln>
                          <a:noFill/>
                        </a:ln>
                        <a:solidFill>
                          <a:srgbClr val="000000"/>
                        </a:solidFill>
                        <a:effectLst/>
                        <a:uLnTx/>
                        <a:uFillTx/>
                        <a:latin typeface="+mn-lt"/>
                        <a:ea typeface="+mn-ea"/>
                        <a:cs typeface="Segoe Sans Text"/>
                      </a:endParaRP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r h="357142">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kern="1200" noProof="0" dirty="0">
                          <a:solidFill>
                            <a:schemeClr val="dk1"/>
                          </a:solidFill>
                          <a:latin typeface="+mn-lt"/>
                          <a:ea typeface="+mn-ea"/>
                          <a:cs typeface="+mn-cs"/>
                        </a:rPr>
                        <a:t>Estimated duration for completing all activities in a typical engagement is within </a:t>
                      </a:r>
                      <a:r>
                        <a:rPr lang="en-US" sz="900" b="0" kern="1200" noProof="0" dirty="0">
                          <a:solidFill>
                            <a:schemeClr val="dk1"/>
                          </a:solidFill>
                          <a:latin typeface="+mj-lt"/>
                          <a:ea typeface="+mn-ea"/>
                          <a:cs typeface="+mn-cs"/>
                        </a:rPr>
                        <a:t>8</a:t>
                      </a:r>
                      <a:r>
                        <a:rPr lang="en-US" sz="900" kern="1200" noProof="0" dirty="0">
                          <a:solidFill>
                            <a:schemeClr val="dk1"/>
                          </a:solidFill>
                          <a:latin typeface="+mn-lt"/>
                          <a:ea typeface="+mn-ea"/>
                          <a:cs typeface="+mn-cs"/>
                        </a:rPr>
                        <a:t> weeks for each aligned wave of DBs to move, when all the requirements are met, and Customer and Partner are ready for execution.</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684667060"/>
                  </a:ext>
                </a:extLst>
              </a:tr>
            </a:tbl>
          </a:graphicData>
        </a:graphic>
      </p:graphicFrame>
      <p:sp>
        <p:nvSpPr>
          <p:cNvPr id="3" name="TextBox 2">
            <a:extLst>
              <a:ext uri="{FF2B5EF4-FFF2-40B4-BE49-F238E27FC236}">
                <a16:creationId xmlns:a16="http://schemas.microsoft.com/office/drawing/2014/main" id="{ABCA37D4-DA93-D630-AA7D-6DE483427127}"/>
              </a:ext>
            </a:extLst>
          </p:cNvPr>
          <p:cNvSpPr txBox="1"/>
          <p:nvPr/>
        </p:nvSpPr>
        <p:spPr>
          <a:xfrm>
            <a:off x="586740" y="6568520"/>
            <a:ext cx="11018520" cy="123111"/>
          </a:xfrm>
          <a:prstGeom prst="rect">
            <a:avLst/>
          </a:prstGeom>
          <a:noFill/>
        </p:spPr>
        <p:txBody>
          <a:bodyPr wrap="square" lIns="0" tIns="0" rIns="0" bIns="0" rtlCol="0" anchor="b" anchorCtr="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effectLst/>
                <a:uLnTx/>
                <a:uFillTx/>
              </a:rPr>
              <a:t>*Excluded: Oracle E-Business Suite, Enterprise Manager, JD Edwards, Middleware, PeopleSoft, Siebel, Cloud Applications</a:t>
            </a:r>
          </a:p>
        </p:txBody>
      </p:sp>
      <p:sp>
        <p:nvSpPr>
          <p:cNvPr id="5" name="Oval 4">
            <a:extLst>
              <a:ext uri="{FF2B5EF4-FFF2-40B4-BE49-F238E27FC236}">
                <a16:creationId xmlns:a16="http://schemas.microsoft.com/office/drawing/2014/main" id="{24890711-25AB-955B-21EA-F7227825423E}"/>
              </a:ext>
            </a:extLst>
          </p:cNvPr>
          <p:cNvSpPr/>
          <p:nvPr/>
        </p:nvSpPr>
        <p:spPr bwMode="auto">
          <a:xfrm>
            <a:off x="9454072" y="215690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 name="Oval 5">
            <a:extLst>
              <a:ext uri="{FF2B5EF4-FFF2-40B4-BE49-F238E27FC236}">
                <a16:creationId xmlns:a16="http://schemas.microsoft.com/office/drawing/2014/main" id="{3034A655-5FAA-2E13-D4E7-4085BDE322E3}"/>
              </a:ext>
            </a:extLst>
          </p:cNvPr>
          <p:cNvSpPr/>
          <p:nvPr/>
        </p:nvSpPr>
        <p:spPr bwMode="auto">
          <a:xfrm>
            <a:off x="9454072" y="287623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 name="Oval 7">
            <a:extLst>
              <a:ext uri="{FF2B5EF4-FFF2-40B4-BE49-F238E27FC236}">
                <a16:creationId xmlns:a16="http://schemas.microsoft.com/office/drawing/2014/main" id="{887B8D46-16A6-77FA-97FC-11DC1EC03209}"/>
              </a:ext>
            </a:extLst>
          </p:cNvPr>
          <p:cNvSpPr/>
          <p:nvPr/>
        </p:nvSpPr>
        <p:spPr bwMode="auto">
          <a:xfrm>
            <a:off x="9454072" y="322370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B5A46B71-015E-208D-C05A-7655A9B24DF5}"/>
              </a:ext>
            </a:extLst>
          </p:cNvPr>
          <p:cNvSpPr/>
          <p:nvPr/>
        </p:nvSpPr>
        <p:spPr bwMode="auto">
          <a:xfrm>
            <a:off x="9454072" y="361781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Oval 10">
            <a:extLst>
              <a:ext uri="{FF2B5EF4-FFF2-40B4-BE49-F238E27FC236}">
                <a16:creationId xmlns:a16="http://schemas.microsoft.com/office/drawing/2014/main" id="{27730161-91EB-BEE3-2B04-446FDEBA75C9}"/>
              </a:ext>
            </a:extLst>
          </p:cNvPr>
          <p:cNvSpPr/>
          <p:nvPr/>
        </p:nvSpPr>
        <p:spPr bwMode="auto">
          <a:xfrm>
            <a:off x="9454072" y="429371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9A2BC1EB-999E-D6BD-4162-52CE061370EA}"/>
              </a:ext>
            </a:extLst>
          </p:cNvPr>
          <p:cNvSpPr/>
          <p:nvPr/>
        </p:nvSpPr>
        <p:spPr bwMode="auto">
          <a:xfrm>
            <a:off x="9454072" y="483062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1190CFB8-00C7-64C4-2ECC-AC9A30824A42}"/>
              </a:ext>
            </a:extLst>
          </p:cNvPr>
          <p:cNvSpPr/>
          <p:nvPr/>
        </p:nvSpPr>
        <p:spPr bwMode="auto">
          <a:xfrm>
            <a:off x="9454072" y="538446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D2FDF9D8-4401-2EC2-BBF4-70A466478F6B}"/>
              </a:ext>
            </a:extLst>
          </p:cNvPr>
          <p:cNvSpPr/>
          <p:nvPr/>
        </p:nvSpPr>
        <p:spPr bwMode="auto">
          <a:xfrm>
            <a:off x="9454072" y="587981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8BAFFF40-BF33-8245-8C5E-88C119610735}"/>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4205248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E7C21-A953-B6A8-AE43-6E3319D3EBAB}"/>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5D9B47B0-ED34-4E05-2BAB-4165ECEB6C3B}"/>
              </a:ext>
            </a:extLst>
          </p:cNvPr>
          <p:cNvSpPr>
            <a:spLocks noGrp="1"/>
          </p:cNvSpPr>
          <p:nvPr>
            <p:ph type="title"/>
          </p:nvPr>
        </p:nvSpPr>
        <p:spPr>
          <a:xfrm>
            <a:off x="588963" y="227684"/>
            <a:ext cx="8796337" cy="738655"/>
          </a:xfrm>
        </p:spPr>
        <p:txBody>
          <a:bodyPr>
            <a:noAutofit/>
          </a:bodyPr>
          <a:lstStyle/>
          <a:p>
            <a:r>
              <a:rPr lang="en-US" sz="2300" noProof="0" dirty="0"/>
              <a:t>Heterogeneous Database Migrations (Oracle) using Agentic AI</a:t>
            </a:r>
          </a:p>
        </p:txBody>
      </p:sp>
      <p:sp>
        <p:nvSpPr>
          <p:cNvPr id="104" name="Rectangle 103" hidden="1">
            <a:extLst>
              <a:ext uri="{FF2B5EF4-FFF2-40B4-BE49-F238E27FC236}">
                <a16:creationId xmlns:a16="http://schemas.microsoft.com/office/drawing/2014/main" id="{BF631052-0763-352F-A72C-917E477AFF59}"/>
              </a:ext>
            </a:extLst>
          </p:cNvPr>
          <p:cNvSpPr/>
          <p:nvPr/>
        </p:nvSpPr>
        <p:spPr bwMode="auto">
          <a:xfrm>
            <a:off x="588963" y="315692"/>
            <a:ext cx="11017250" cy="4616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06" name="Rounded Rectangle 55">
            <a:extLst>
              <a:ext uri="{FF2B5EF4-FFF2-40B4-BE49-F238E27FC236}">
                <a16:creationId xmlns:a16="http://schemas.microsoft.com/office/drawing/2014/main" id="{9DDD3F49-9926-C1C5-63B8-02EFA7A8D4BB}"/>
              </a:ext>
              <a:ext uri="{C183D7F6-B498-43B3-948B-1728B52AA6E4}">
                <adec:decorative xmlns:adec="http://schemas.microsoft.com/office/drawing/2017/decorative" val="1"/>
              </a:ext>
            </a:extLst>
          </p:cNvPr>
          <p:cNvSpPr>
            <a:spLocks/>
          </p:cNvSpPr>
          <p:nvPr/>
        </p:nvSpPr>
        <p:spPr bwMode="auto">
          <a:xfrm>
            <a:off x="525295" y="1272540"/>
            <a:ext cx="5517430"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8" name="Rounded Rectangle 55">
            <a:extLst>
              <a:ext uri="{FF2B5EF4-FFF2-40B4-BE49-F238E27FC236}">
                <a16:creationId xmlns:a16="http://schemas.microsoft.com/office/drawing/2014/main" id="{3B7C05F6-0A7F-BFD5-46FB-E0B9B7D8FCAD}"/>
              </a:ext>
              <a:ext uri="{C183D7F6-B498-43B3-948B-1728B52AA6E4}">
                <adec:decorative xmlns:adec="http://schemas.microsoft.com/office/drawing/2017/decorative" val="1"/>
              </a:ext>
            </a:extLst>
          </p:cNvPr>
          <p:cNvSpPr>
            <a:spLocks/>
          </p:cNvSpPr>
          <p:nvPr/>
        </p:nvSpPr>
        <p:spPr bwMode="auto">
          <a:xfrm>
            <a:off x="6096000" y="1272540"/>
            <a:ext cx="5570705"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11" name="TextBox 110">
            <a:extLst>
              <a:ext uri="{FF2B5EF4-FFF2-40B4-BE49-F238E27FC236}">
                <a16:creationId xmlns:a16="http://schemas.microsoft.com/office/drawing/2014/main" id="{C91B35A3-20A5-A2AE-3C3F-01BD420A1C08}"/>
              </a:ext>
            </a:extLst>
          </p:cNvPr>
          <p:cNvSpPr txBox="1"/>
          <p:nvPr/>
        </p:nvSpPr>
        <p:spPr>
          <a:xfrm>
            <a:off x="6608440" y="1886710"/>
            <a:ext cx="4906333" cy="161583"/>
          </a:xfrm>
          <a:prstGeom prst="rect">
            <a:avLst/>
          </a:prstGeom>
          <a:noFill/>
        </p:spPr>
        <p:txBody>
          <a:bodyPr wrap="square" lIns="0" tIns="0" rIns="0" bIns="0" anchor="t">
            <a:noAutofit/>
          </a:bodyPr>
          <a:lstStyle/>
          <a:p>
            <a:pPr lvl="0">
              <a:defRPr/>
            </a:pPr>
            <a:r>
              <a:rPr lang="en-US" sz="1050" kern="0" noProof="0" dirty="0"/>
              <a:t>Installation/configuration Oracle Golden Gate/logminer</a:t>
            </a:r>
          </a:p>
        </p:txBody>
      </p:sp>
      <p:sp>
        <p:nvSpPr>
          <p:cNvPr id="112" name="Oval 111">
            <a:extLst>
              <a:ext uri="{FF2B5EF4-FFF2-40B4-BE49-F238E27FC236}">
                <a16:creationId xmlns:a16="http://schemas.microsoft.com/office/drawing/2014/main" id="{CF82F3D5-240A-4448-94B7-E4BFDBE9672E}"/>
              </a:ext>
            </a:extLst>
          </p:cNvPr>
          <p:cNvSpPr/>
          <p:nvPr/>
        </p:nvSpPr>
        <p:spPr bwMode="auto">
          <a:xfrm>
            <a:off x="6320111" y="189892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3" name="TextBox 112">
            <a:extLst>
              <a:ext uri="{FF2B5EF4-FFF2-40B4-BE49-F238E27FC236}">
                <a16:creationId xmlns:a16="http://schemas.microsoft.com/office/drawing/2014/main" id="{64B44E83-063D-65E2-8AA7-A6F5E2C26930}"/>
              </a:ext>
            </a:extLst>
          </p:cNvPr>
          <p:cNvSpPr txBox="1"/>
          <p:nvPr/>
        </p:nvSpPr>
        <p:spPr>
          <a:xfrm>
            <a:off x="6608440" y="2194925"/>
            <a:ext cx="4906333" cy="161583"/>
          </a:xfrm>
          <a:prstGeom prst="rect">
            <a:avLst/>
          </a:prstGeom>
          <a:noFill/>
        </p:spPr>
        <p:txBody>
          <a:bodyPr wrap="square" lIns="0" tIns="0" rIns="0" bIns="0" anchor="t">
            <a:noAutofit/>
          </a:bodyPr>
          <a:lstStyle/>
          <a:p>
            <a:pPr lvl="0">
              <a:defRPr/>
            </a:pPr>
            <a:r>
              <a:rPr lang="en-US" sz="1050" kern="0" noProof="0" dirty="0">
                <a:solidFill>
                  <a:srgbClr val="000000"/>
                </a:solidFill>
              </a:rPr>
              <a:t>Advisory services &amp; consulting</a:t>
            </a:r>
          </a:p>
        </p:txBody>
      </p:sp>
      <p:sp>
        <p:nvSpPr>
          <p:cNvPr id="114" name="Oval 113">
            <a:extLst>
              <a:ext uri="{FF2B5EF4-FFF2-40B4-BE49-F238E27FC236}">
                <a16:creationId xmlns:a16="http://schemas.microsoft.com/office/drawing/2014/main" id="{D39F0697-9C0F-F0D6-C794-B2DBA974F2C9}"/>
              </a:ext>
            </a:extLst>
          </p:cNvPr>
          <p:cNvSpPr/>
          <p:nvPr/>
        </p:nvSpPr>
        <p:spPr bwMode="auto">
          <a:xfrm>
            <a:off x="6320111" y="220713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5" name="TextBox 114">
            <a:extLst>
              <a:ext uri="{FF2B5EF4-FFF2-40B4-BE49-F238E27FC236}">
                <a16:creationId xmlns:a16="http://schemas.microsoft.com/office/drawing/2014/main" id="{35E3A43A-69D5-7DB7-1F4F-C8BC4A67FD02}"/>
              </a:ext>
            </a:extLst>
          </p:cNvPr>
          <p:cNvSpPr txBox="1"/>
          <p:nvPr/>
        </p:nvSpPr>
        <p:spPr>
          <a:xfrm>
            <a:off x="6608440" y="2503140"/>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 replication setup &amp; configuration on Azure VMs</a:t>
            </a:r>
          </a:p>
        </p:txBody>
      </p:sp>
      <p:sp>
        <p:nvSpPr>
          <p:cNvPr id="116" name="Oval 115">
            <a:extLst>
              <a:ext uri="{FF2B5EF4-FFF2-40B4-BE49-F238E27FC236}">
                <a16:creationId xmlns:a16="http://schemas.microsoft.com/office/drawing/2014/main" id="{9126F8F5-6445-F68A-5B3E-9BF9A9AA6830}"/>
              </a:ext>
            </a:extLst>
          </p:cNvPr>
          <p:cNvSpPr/>
          <p:nvPr/>
        </p:nvSpPr>
        <p:spPr bwMode="auto">
          <a:xfrm>
            <a:off x="6320111" y="251535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17" name="Straight Connector 116">
            <a:extLst>
              <a:ext uri="{FF2B5EF4-FFF2-40B4-BE49-F238E27FC236}">
                <a16:creationId xmlns:a16="http://schemas.microsoft.com/office/drawing/2014/main" id="{7BB8F339-48F7-CE51-6716-D15133CF7FFB}"/>
              </a:ext>
            </a:extLst>
          </p:cNvPr>
          <p:cNvCxnSpPr/>
          <p:nvPr/>
        </p:nvCxnSpPr>
        <p:spPr>
          <a:xfrm>
            <a:off x="6608440" y="212160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96D48791-BB8B-ED22-5552-53AEF4D375C6}"/>
              </a:ext>
            </a:extLst>
          </p:cNvPr>
          <p:cNvSpPr txBox="1"/>
          <p:nvPr/>
        </p:nvSpPr>
        <p:spPr>
          <a:xfrm>
            <a:off x="6608440" y="2811355"/>
            <a:ext cx="4906333" cy="161583"/>
          </a:xfrm>
          <a:prstGeom prst="rect">
            <a:avLst/>
          </a:prstGeom>
          <a:noFill/>
        </p:spPr>
        <p:txBody>
          <a:bodyPr wrap="square" lIns="0" tIns="0" rIns="0" bIns="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changes in the source (any time) &amp; target environments (after handover)</a:t>
            </a:r>
          </a:p>
        </p:txBody>
      </p:sp>
      <p:sp>
        <p:nvSpPr>
          <p:cNvPr id="119" name="Oval 118">
            <a:extLst>
              <a:ext uri="{FF2B5EF4-FFF2-40B4-BE49-F238E27FC236}">
                <a16:creationId xmlns:a16="http://schemas.microsoft.com/office/drawing/2014/main" id="{9476EBD3-7C64-F72A-4A18-694A35F13D81}"/>
              </a:ext>
            </a:extLst>
          </p:cNvPr>
          <p:cNvSpPr/>
          <p:nvPr/>
        </p:nvSpPr>
        <p:spPr bwMode="auto">
          <a:xfrm>
            <a:off x="6320111" y="282356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0" name="TextBox 119">
            <a:extLst>
              <a:ext uri="{FF2B5EF4-FFF2-40B4-BE49-F238E27FC236}">
                <a16:creationId xmlns:a16="http://schemas.microsoft.com/office/drawing/2014/main" id="{6CEF02E6-948C-5639-B61A-817EA82161ED}"/>
              </a:ext>
            </a:extLst>
          </p:cNvPr>
          <p:cNvSpPr txBox="1"/>
          <p:nvPr/>
        </p:nvSpPr>
        <p:spPr>
          <a:xfrm>
            <a:off x="6608440" y="3119570"/>
            <a:ext cx="4906333" cy="323165"/>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Application/Services related configurations and testing (pre- and post-migration)</a:t>
            </a:r>
          </a:p>
        </p:txBody>
      </p:sp>
      <p:sp>
        <p:nvSpPr>
          <p:cNvPr id="121" name="Oval 120">
            <a:extLst>
              <a:ext uri="{FF2B5EF4-FFF2-40B4-BE49-F238E27FC236}">
                <a16:creationId xmlns:a16="http://schemas.microsoft.com/office/drawing/2014/main" id="{9FB1FF70-DD62-18B7-7C55-5C54E0F8B91F}"/>
              </a:ext>
            </a:extLst>
          </p:cNvPr>
          <p:cNvSpPr/>
          <p:nvPr/>
        </p:nvSpPr>
        <p:spPr bwMode="auto">
          <a:xfrm>
            <a:off x="6320111" y="311957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2" name="Oval 121">
            <a:extLst>
              <a:ext uri="{FF2B5EF4-FFF2-40B4-BE49-F238E27FC236}">
                <a16:creationId xmlns:a16="http://schemas.microsoft.com/office/drawing/2014/main" id="{5F08EE94-A9E8-39FA-6700-6D6296C5A494}"/>
              </a:ext>
            </a:extLst>
          </p:cNvPr>
          <p:cNvSpPr/>
          <p:nvPr/>
        </p:nvSpPr>
        <p:spPr bwMode="auto">
          <a:xfrm>
            <a:off x="6320111" y="36015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3" name="Oval 122">
            <a:extLst>
              <a:ext uri="{FF2B5EF4-FFF2-40B4-BE49-F238E27FC236}">
                <a16:creationId xmlns:a16="http://schemas.microsoft.com/office/drawing/2014/main" id="{1ACA2735-B756-DC4E-276A-219FE8021A99}"/>
              </a:ext>
            </a:extLst>
          </p:cNvPr>
          <p:cNvSpPr/>
          <p:nvPr/>
        </p:nvSpPr>
        <p:spPr bwMode="auto">
          <a:xfrm>
            <a:off x="775653" y="178646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4" name="TextBox 123">
            <a:extLst>
              <a:ext uri="{FF2B5EF4-FFF2-40B4-BE49-F238E27FC236}">
                <a16:creationId xmlns:a16="http://schemas.microsoft.com/office/drawing/2014/main" id="{412FF499-ABB0-270D-C9E2-BF9AFF80DF59}"/>
              </a:ext>
            </a:extLst>
          </p:cNvPr>
          <p:cNvSpPr txBox="1"/>
          <p:nvPr/>
        </p:nvSpPr>
        <p:spPr>
          <a:xfrm>
            <a:off x="1044951" y="1786464"/>
            <a:ext cx="4906333" cy="2074927"/>
          </a:xfrm>
          <a:prstGeom prst="rect">
            <a:avLst/>
          </a:prstGeom>
          <a:noFill/>
        </p:spPr>
        <p:txBody>
          <a:bodyPr wrap="square" lIns="0" tIns="0" rIns="0" bIns="0">
            <a:noAutofit/>
          </a:bodyPr>
          <a:lstStyle/>
          <a:p>
            <a:pPr>
              <a:spcAft>
                <a:spcPts val="400"/>
              </a:spcAft>
            </a:pPr>
            <a:r>
              <a:rPr lang="en-US" sz="1050" noProof="0" dirty="0">
                <a:latin typeface="+mj-lt"/>
                <a:ea typeface="+mj-ea"/>
                <a:cs typeface="+mj-cs"/>
              </a:rPr>
              <a:t>Oracle Database to Azure SQL (SQL Server on Azure VM/Azure SQL DB/Azure SQL MI) migrations</a:t>
            </a:r>
            <a:br>
              <a:rPr lang="en-US" sz="1050" noProof="0" dirty="0">
                <a:latin typeface="+mj-lt"/>
                <a:ea typeface="+mj-ea"/>
                <a:cs typeface="+mj-cs"/>
              </a:rPr>
            </a:br>
            <a:r>
              <a:rPr lang="en-US" sz="1050" noProof="0" dirty="0">
                <a:latin typeface="+mj-lt"/>
                <a:ea typeface="+mj-ea"/>
                <a:cs typeface="+mj-cs"/>
              </a:rPr>
              <a:t>Migration scenarios supported:​</a:t>
            </a:r>
          </a:p>
          <a:p>
            <a:pPr marL="168275" lvl="1" indent="-114300">
              <a:spcAft>
                <a:spcPts val="600"/>
              </a:spcAft>
              <a:buFont typeface="Arial" panose="020B0604020202020204" pitchFamily="34" charset="0"/>
              <a:buChar char="•"/>
              <a:defRPr/>
            </a:pPr>
            <a:r>
              <a:rPr lang="en-US" sz="1000" kern="0" noProof="0" dirty="0"/>
              <a:t>On-Premises Oracle DB Server to Azure SQL​*</a:t>
            </a:r>
          </a:p>
          <a:p>
            <a:pPr marL="168275" lvl="1" indent="-114300">
              <a:spcAft>
                <a:spcPts val="600"/>
              </a:spcAft>
              <a:buFont typeface="Arial" panose="020B0604020202020204" pitchFamily="34" charset="0"/>
              <a:buChar char="•"/>
              <a:defRPr/>
            </a:pPr>
            <a:r>
              <a:rPr lang="en-US" sz="1000" kern="0" noProof="0" dirty="0"/>
              <a:t>Oracle DB server on Azure VM Windows/Linux to Azure SQL ​</a:t>
            </a:r>
          </a:p>
          <a:p>
            <a:pPr marL="168275" lvl="1" indent="-114300">
              <a:spcAft>
                <a:spcPts val="600"/>
              </a:spcAft>
              <a:buFont typeface="Arial" panose="020B0604020202020204" pitchFamily="34" charset="0"/>
              <a:buChar char="•"/>
              <a:defRPr/>
            </a:pPr>
            <a:r>
              <a:rPr lang="en-US" sz="1000" kern="0" noProof="0" dirty="0"/>
              <a:t>ODAA to Azure SQL*​</a:t>
            </a:r>
          </a:p>
          <a:p>
            <a:pPr marL="168275" lvl="1" indent="-114300">
              <a:spcAft>
                <a:spcPts val="600"/>
              </a:spcAft>
              <a:buFont typeface="Arial" panose="020B0604020202020204" pitchFamily="34" charset="0"/>
              <a:buChar char="•"/>
              <a:defRPr/>
            </a:pPr>
            <a:r>
              <a:rPr lang="en-US" sz="1000" kern="0" noProof="0" dirty="0"/>
              <a:t>AWS EC2 Oracle DB server to Azure SQL ​</a:t>
            </a:r>
          </a:p>
          <a:p>
            <a:pPr marL="168275" lvl="1" indent="-114300">
              <a:spcAft>
                <a:spcPts val="600"/>
              </a:spcAft>
              <a:buFont typeface="Arial" panose="020B0604020202020204" pitchFamily="34" charset="0"/>
              <a:buChar char="•"/>
              <a:defRPr/>
            </a:pPr>
            <a:r>
              <a:rPr lang="en-US" sz="1000" kern="0" noProof="0" dirty="0"/>
              <a:t>AWS RDS for Oracle to Azure SQL ​</a:t>
            </a:r>
          </a:p>
          <a:p>
            <a:pPr marL="168275" lvl="1" indent="-114300">
              <a:spcAft>
                <a:spcPts val="600"/>
              </a:spcAft>
              <a:buFont typeface="Arial" panose="020B0604020202020204" pitchFamily="34" charset="0"/>
              <a:buChar char="•"/>
              <a:defRPr/>
            </a:pPr>
            <a:r>
              <a:rPr lang="en-US" sz="1000" kern="0" noProof="0" dirty="0"/>
              <a:t>Oracle DB on Google Compute Engine (GCE) to Azure SQL ​</a:t>
            </a:r>
          </a:p>
          <a:p>
            <a:pPr marL="168275" lvl="1" indent="-114300">
              <a:spcAft>
                <a:spcPts val="600"/>
              </a:spcAft>
              <a:buFont typeface="Arial" panose="020B0604020202020204" pitchFamily="34" charset="0"/>
              <a:buChar char="•"/>
              <a:defRPr/>
            </a:pPr>
            <a:r>
              <a:rPr lang="en-US" sz="1000" kern="0" noProof="0" dirty="0"/>
              <a:t>Oracle DB on Oracle Cloud (not supported by Striim) to Azure SQL ​</a:t>
            </a:r>
          </a:p>
        </p:txBody>
      </p:sp>
      <p:sp>
        <p:nvSpPr>
          <p:cNvPr id="126" name="TextBox 125">
            <a:extLst>
              <a:ext uri="{FF2B5EF4-FFF2-40B4-BE49-F238E27FC236}">
                <a16:creationId xmlns:a16="http://schemas.microsoft.com/office/drawing/2014/main" id="{FCF84BCF-A63C-54E7-5FDB-9D12ABFFD14C}"/>
              </a:ext>
            </a:extLst>
          </p:cNvPr>
          <p:cNvSpPr txBox="1"/>
          <p:nvPr/>
        </p:nvSpPr>
        <p:spPr>
          <a:xfrm>
            <a:off x="588963" y="587498"/>
            <a:ext cx="6700837" cy="276999"/>
          </a:xfrm>
          <a:prstGeom prst="rect">
            <a:avLst/>
          </a:prstGeom>
          <a:noFill/>
        </p:spPr>
        <p:txBody>
          <a:bodyPr wrap="square" lIns="0" tIns="0" rIns="0" bIns="0" rtlCol="0">
            <a:spAutoFit/>
          </a:bodyPr>
          <a:lstStyle/>
          <a:p>
            <a:r>
              <a:rPr lang="en-US" noProof="0" dirty="0">
                <a:latin typeface="+mj-lt"/>
              </a:rPr>
              <a:t>Oracle to Azure SQL (VM, SQL DB, SQL MI) Data Modernization</a:t>
            </a:r>
          </a:p>
        </p:txBody>
      </p:sp>
      <p:cxnSp>
        <p:nvCxnSpPr>
          <p:cNvPr id="129" name="Straight Connector 128">
            <a:extLst>
              <a:ext uri="{FF2B5EF4-FFF2-40B4-BE49-F238E27FC236}">
                <a16:creationId xmlns:a16="http://schemas.microsoft.com/office/drawing/2014/main" id="{67304626-7930-B56E-EC0E-90AEB4DC25B9}"/>
              </a:ext>
            </a:extLst>
          </p:cNvPr>
          <p:cNvCxnSpPr/>
          <p:nvPr/>
        </p:nvCxnSpPr>
        <p:spPr>
          <a:xfrm>
            <a:off x="1044951" y="3965182"/>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7429499C-F910-4B53-03B5-AA8D38A3DBE4}"/>
              </a:ext>
            </a:extLst>
          </p:cNvPr>
          <p:cNvSpPr txBox="1"/>
          <p:nvPr/>
        </p:nvSpPr>
        <p:spPr>
          <a:xfrm>
            <a:off x="6608440" y="3589367"/>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Performing and configuring backups, monitoring &amp; alerts (pre- and post-migration)</a:t>
            </a:r>
          </a:p>
        </p:txBody>
      </p:sp>
      <p:sp>
        <p:nvSpPr>
          <p:cNvPr id="132" name="TextBox 131">
            <a:extLst>
              <a:ext uri="{FF2B5EF4-FFF2-40B4-BE49-F238E27FC236}">
                <a16:creationId xmlns:a16="http://schemas.microsoft.com/office/drawing/2014/main" id="{C1F55C45-F4C8-53AE-9726-6EC38A0094F5}"/>
              </a:ext>
            </a:extLst>
          </p:cNvPr>
          <p:cNvSpPr txBox="1"/>
          <p:nvPr/>
        </p:nvSpPr>
        <p:spPr>
          <a:xfrm>
            <a:off x="6608440" y="3897582"/>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Converted schema, code – testing, validation and optimization</a:t>
            </a:r>
          </a:p>
        </p:txBody>
      </p:sp>
      <p:sp>
        <p:nvSpPr>
          <p:cNvPr id="133" name="TextBox 132">
            <a:extLst>
              <a:ext uri="{FF2B5EF4-FFF2-40B4-BE49-F238E27FC236}">
                <a16:creationId xmlns:a16="http://schemas.microsoft.com/office/drawing/2014/main" id="{416F080C-00EC-26A3-21F6-695C43AC7F0A}"/>
              </a:ext>
            </a:extLst>
          </p:cNvPr>
          <p:cNvSpPr txBox="1"/>
          <p:nvPr/>
        </p:nvSpPr>
        <p:spPr>
          <a:xfrm>
            <a:off x="6608440" y="4205797"/>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Architectural design &amp; discussion, testing for HA/DR</a:t>
            </a:r>
          </a:p>
        </p:txBody>
      </p:sp>
      <p:sp>
        <p:nvSpPr>
          <p:cNvPr id="134" name="TextBox 133">
            <a:extLst>
              <a:ext uri="{FF2B5EF4-FFF2-40B4-BE49-F238E27FC236}">
                <a16:creationId xmlns:a16="http://schemas.microsoft.com/office/drawing/2014/main" id="{0F90635B-E7C6-95C5-EC15-8DF830581524}"/>
              </a:ext>
            </a:extLst>
          </p:cNvPr>
          <p:cNvSpPr txBox="1"/>
          <p:nvPr/>
        </p:nvSpPr>
        <p:spPr>
          <a:xfrm>
            <a:off x="6608440" y="4514012"/>
            <a:ext cx="4906333" cy="323165"/>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Customer is responsible for testing of dependencies (e.g., applications, mapped databases) and source system changes</a:t>
            </a:r>
          </a:p>
        </p:txBody>
      </p:sp>
      <p:sp>
        <p:nvSpPr>
          <p:cNvPr id="135" name="TextBox 134">
            <a:extLst>
              <a:ext uri="{FF2B5EF4-FFF2-40B4-BE49-F238E27FC236}">
                <a16:creationId xmlns:a16="http://schemas.microsoft.com/office/drawing/2014/main" id="{04706F57-5C8A-B5F0-4D48-F4C57F3CD12A}"/>
              </a:ext>
            </a:extLst>
          </p:cNvPr>
          <p:cNvSpPr txBox="1"/>
          <p:nvPr/>
        </p:nvSpPr>
        <p:spPr>
          <a:xfrm>
            <a:off x="6608440" y="4983809"/>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Database performance testing and tuning</a:t>
            </a:r>
          </a:p>
        </p:txBody>
      </p:sp>
      <p:sp>
        <p:nvSpPr>
          <p:cNvPr id="136" name="TextBox 135">
            <a:extLst>
              <a:ext uri="{FF2B5EF4-FFF2-40B4-BE49-F238E27FC236}">
                <a16:creationId xmlns:a16="http://schemas.microsoft.com/office/drawing/2014/main" id="{5089AAD6-AA83-43EB-0179-A9BF466EBC1E}"/>
              </a:ext>
            </a:extLst>
          </p:cNvPr>
          <p:cNvSpPr txBox="1"/>
          <p:nvPr/>
        </p:nvSpPr>
        <p:spPr>
          <a:xfrm>
            <a:off x="6608440" y="5292024"/>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Third-party tools setup &amp; configuration for SQL Server</a:t>
            </a:r>
          </a:p>
        </p:txBody>
      </p:sp>
      <p:sp>
        <p:nvSpPr>
          <p:cNvPr id="137" name="TextBox 136">
            <a:extLst>
              <a:ext uri="{FF2B5EF4-FFF2-40B4-BE49-F238E27FC236}">
                <a16:creationId xmlns:a16="http://schemas.microsoft.com/office/drawing/2014/main" id="{3D304FAD-74EB-15A1-500E-CE7B6F3D1903}"/>
              </a:ext>
            </a:extLst>
          </p:cNvPr>
          <p:cNvSpPr txBox="1"/>
          <p:nvPr/>
        </p:nvSpPr>
        <p:spPr>
          <a:xfrm>
            <a:off x="6608440" y="5600239"/>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On-prem SQL server upgrade and patch management </a:t>
            </a:r>
          </a:p>
        </p:txBody>
      </p:sp>
      <p:sp>
        <p:nvSpPr>
          <p:cNvPr id="138" name="TextBox 137">
            <a:extLst>
              <a:ext uri="{FF2B5EF4-FFF2-40B4-BE49-F238E27FC236}">
                <a16:creationId xmlns:a16="http://schemas.microsoft.com/office/drawing/2014/main" id="{3F25B632-3583-10A0-8610-9C9219E14390}"/>
              </a:ext>
            </a:extLst>
          </p:cNvPr>
          <p:cNvSpPr txBox="1"/>
          <p:nvPr/>
        </p:nvSpPr>
        <p:spPr>
          <a:xfrm>
            <a:off x="6608440" y="5908454"/>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Server performance testing and tunning</a:t>
            </a:r>
          </a:p>
        </p:txBody>
      </p:sp>
      <p:cxnSp>
        <p:nvCxnSpPr>
          <p:cNvPr id="139" name="Straight Connector 138">
            <a:extLst>
              <a:ext uri="{FF2B5EF4-FFF2-40B4-BE49-F238E27FC236}">
                <a16:creationId xmlns:a16="http://schemas.microsoft.com/office/drawing/2014/main" id="{AB1E6352-E2CF-533C-40CD-79A9D4BB85DA}"/>
              </a:ext>
            </a:extLst>
          </p:cNvPr>
          <p:cNvCxnSpPr/>
          <p:nvPr/>
        </p:nvCxnSpPr>
        <p:spPr>
          <a:xfrm>
            <a:off x="6608440" y="242982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48FD35D4-DD23-1786-4BEF-317C02DDD74F}"/>
              </a:ext>
            </a:extLst>
          </p:cNvPr>
          <p:cNvCxnSpPr/>
          <p:nvPr/>
        </p:nvCxnSpPr>
        <p:spPr>
          <a:xfrm>
            <a:off x="6608440" y="273803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09D786C-B8E2-3774-FE1A-7267B57A0EE6}"/>
              </a:ext>
            </a:extLst>
          </p:cNvPr>
          <p:cNvCxnSpPr/>
          <p:nvPr/>
        </p:nvCxnSpPr>
        <p:spPr>
          <a:xfrm>
            <a:off x="6608440" y="304625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909A86B-8AFC-57A3-00FD-7FAF6E63085A}"/>
              </a:ext>
            </a:extLst>
          </p:cNvPr>
          <p:cNvCxnSpPr/>
          <p:nvPr/>
        </p:nvCxnSpPr>
        <p:spPr>
          <a:xfrm>
            <a:off x="6608440" y="3516051"/>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D63B8B2A-663E-75D8-7C32-C2C23EB0C6E5}"/>
              </a:ext>
            </a:extLst>
          </p:cNvPr>
          <p:cNvCxnSpPr/>
          <p:nvPr/>
        </p:nvCxnSpPr>
        <p:spPr>
          <a:xfrm>
            <a:off x="6608440" y="382426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947E526-9AA6-A530-5CBB-261E9E80D93B}"/>
              </a:ext>
            </a:extLst>
          </p:cNvPr>
          <p:cNvCxnSpPr/>
          <p:nvPr/>
        </p:nvCxnSpPr>
        <p:spPr>
          <a:xfrm>
            <a:off x="6608440" y="4132481"/>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3799C73-8E6A-9307-BB0E-33AAA70D2D1F}"/>
              </a:ext>
            </a:extLst>
          </p:cNvPr>
          <p:cNvCxnSpPr/>
          <p:nvPr/>
        </p:nvCxnSpPr>
        <p:spPr>
          <a:xfrm>
            <a:off x="6608440" y="444069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ED256B9-E079-2B54-F515-9704BC4778A4}"/>
              </a:ext>
            </a:extLst>
          </p:cNvPr>
          <p:cNvCxnSpPr/>
          <p:nvPr/>
        </p:nvCxnSpPr>
        <p:spPr>
          <a:xfrm>
            <a:off x="6608440" y="491049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EA9547FE-215C-ACA3-AC32-F83900FA00D1}"/>
              </a:ext>
            </a:extLst>
          </p:cNvPr>
          <p:cNvCxnSpPr/>
          <p:nvPr/>
        </p:nvCxnSpPr>
        <p:spPr>
          <a:xfrm>
            <a:off x="6608440" y="521870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BD47680-BF77-94E6-16C1-267552565F9C}"/>
              </a:ext>
            </a:extLst>
          </p:cNvPr>
          <p:cNvCxnSpPr/>
          <p:nvPr/>
        </p:nvCxnSpPr>
        <p:spPr>
          <a:xfrm>
            <a:off x="6608440" y="552692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7F705DF8-3DB7-E0F8-F788-EEC7DED637B9}"/>
              </a:ext>
            </a:extLst>
          </p:cNvPr>
          <p:cNvCxnSpPr/>
          <p:nvPr/>
        </p:nvCxnSpPr>
        <p:spPr>
          <a:xfrm>
            <a:off x="6608440" y="583513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FF167564-B2C9-D244-580B-F9575C9F0B67}"/>
              </a:ext>
            </a:extLst>
          </p:cNvPr>
          <p:cNvSpPr/>
          <p:nvPr/>
        </p:nvSpPr>
        <p:spPr bwMode="auto">
          <a:xfrm>
            <a:off x="6320111" y="390979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1" name="Oval 150">
            <a:extLst>
              <a:ext uri="{FF2B5EF4-FFF2-40B4-BE49-F238E27FC236}">
                <a16:creationId xmlns:a16="http://schemas.microsoft.com/office/drawing/2014/main" id="{E668564C-B27D-1644-EFC8-7E6D8057D8C5}"/>
              </a:ext>
            </a:extLst>
          </p:cNvPr>
          <p:cNvSpPr/>
          <p:nvPr/>
        </p:nvSpPr>
        <p:spPr bwMode="auto">
          <a:xfrm>
            <a:off x="6320111" y="42180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2" name="Oval 151">
            <a:extLst>
              <a:ext uri="{FF2B5EF4-FFF2-40B4-BE49-F238E27FC236}">
                <a16:creationId xmlns:a16="http://schemas.microsoft.com/office/drawing/2014/main" id="{537B60E9-8546-7197-0782-A90FD6245E60}"/>
              </a:ext>
            </a:extLst>
          </p:cNvPr>
          <p:cNvSpPr/>
          <p:nvPr/>
        </p:nvSpPr>
        <p:spPr bwMode="auto">
          <a:xfrm>
            <a:off x="6320111" y="451401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3" name="Oval 152">
            <a:extLst>
              <a:ext uri="{FF2B5EF4-FFF2-40B4-BE49-F238E27FC236}">
                <a16:creationId xmlns:a16="http://schemas.microsoft.com/office/drawing/2014/main" id="{09068DA8-B544-F7BB-2012-04E60A0AE441}"/>
              </a:ext>
            </a:extLst>
          </p:cNvPr>
          <p:cNvSpPr/>
          <p:nvPr/>
        </p:nvSpPr>
        <p:spPr bwMode="auto">
          <a:xfrm>
            <a:off x="6320111" y="499602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4" name="Oval 153">
            <a:extLst>
              <a:ext uri="{FF2B5EF4-FFF2-40B4-BE49-F238E27FC236}">
                <a16:creationId xmlns:a16="http://schemas.microsoft.com/office/drawing/2014/main" id="{132D14E4-AE9F-0D12-5A71-4155FC8B01CA}"/>
              </a:ext>
            </a:extLst>
          </p:cNvPr>
          <p:cNvSpPr/>
          <p:nvPr/>
        </p:nvSpPr>
        <p:spPr bwMode="auto">
          <a:xfrm>
            <a:off x="6320111" y="530423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5" name="Oval 154">
            <a:extLst>
              <a:ext uri="{FF2B5EF4-FFF2-40B4-BE49-F238E27FC236}">
                <a16:creationId xmlns:a16="http://schemas.microsoft.com/office/drawing/2014/main" id="{4FC95E5A-80EF-A857-3563-E79FFA24E486}"/>
              </a:ext>
            </a:extLst>
          </p:cNvPr>
          <p:cNvSpPr/>
          <p:nvPr/>
        </p:nvSpPr>
        <p:spPr bwMode="auto">
          <a:xfrm>
            <a:off x="6320111" y="561245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6" name="Oval 155">
            <a:extLst>
              <a:ext uri="{FF2B5EF4-FFF2-40B4-BE49-F238E27FC236}">
                <a16:creationId xmlns:a16="http://schemas.microsoft.com/office/drawing/2014/main" id="{E6BD08CE-A7B8-17C1-7C3B-BF36A9353878}"/>
              </a:ext>
            </a:extLst>
          </p:cNvPr>
          <p:cNvSpPr/>
          <p:nvPr/>
        </p:nvSpPr>
        <p:spPr bwMode="auto">
          <a:xfrm>
            <a:off x="6320111" y="592066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7" name="TextBox 156">
            <a:extLst>
              <a:ext uri="{FF2B5EF4-FFF2-40B4-BE49-F238E27FC236}">
                <a16:creationId xmlns:a16="http://schemas.microsoft.com/office/drawing/2014/main" id="{0942BBC5-B8A7-EA82-5B47-00309A5C81DD}"/>
              </a:ext>
            </a:extLst>
          </p:cNvPr>
          <p:cNvSpPr txBox="1"/>
          <p:nvPr/>
        </p:nvSpPr>
        <p:spPr>
          <a:xfrm>
            <a:off x="587375" y="6513025"/>
            <a:ext cx="11017250" cy="123111"/>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kumimoji="0" sz="700" b="0" i="0" u="none" strike="noStrike" cap="none" spc="0" normalizeH="0" baseline="0">
                <a:ln>
                  <a:noFill/>
                </a:ln>
                <a:solidFill>
                  <a:schemeClr val="bg1"/>
                </a:solidFill>
                <a:effectLst/>
                <a:uLnTx/>
                <a:uFillTx/>
                <a:latin typeface="Segoe Sans Text" pitchFamily="2" charset="0"/>
                <a:ea typeface="DengXian" panose="02010600030101010101" pitchFamily="2" charset="-122"/>
                <a:cs typeface="Segoe Sans Text" pitchFamily="2" charset="0"/>
              </a:defRPr>
            </a:lvl1pPr>
          </a:lstStyle>
          <a:p>
            <a:pPr>
              <a:defRPr/>
            </a:pPr>
            <a:r>
              <a:rPr lang="en-US" sz="800" noProof="0" dirty="0">
                <a:solidFill>
                  <a:schemeClr val="tx1"/>
                </a:solidFill>
                <a:latin typeface="+mn-lt"/>
                <a:ea typeface="+mn-ea"/>
                <a:cs typeface="+mn-cs"/>
              </a:rPr>
              <a:t>*Exadata and RAC sources, workloads and schemas migrated across multiple Azure SQL SKUs | Excluded: Oracle E-Business Suite, Enterprise Manager, JD Edwards, Middleware, PeopleSoft, Siebel, Cloud Applications</a:t>
            </a:r>
          </a:p>
        </p:txBody>
      </p:sp>
      <p:sp>
        <p:nvSpPr>
          <p:cNvPr id="158" name="TextBox 157">
            <a:extLst>
              <a:ext uri="{FF2B5EF4-FFF2-40B4-BE49-F238E27FC236}">
                <a16:creationId xmlns:a16="http://schemas.microsoft.com/office/drawing/2014/main" id="{63543C66-8980-8111-28AC-B272F948A940}"/>
              </a:ext>
            </a:extLst>
          </p:cNvPr>
          <p:cNvSpPr txBox="1"/>
          <p:nvPr/>
        </p:nvSpPr>
        <p:spPr>
          <a:xfrm>
            <a:off x="1044951" y="4068973"/>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HA/DR configuration &amp; setup for Azure SQL (VM, SQL DB, SQL MI)</a:t>
            </a:r>
          </a:p>
        </p:txBody>
      </p:sp>
      <p:sp>
        <p:nvSpPr>
          <p:cNvPr id="159" name="TextBox 158">
            <a:extLst>
              <a:ext uri="{FF2B5EF4-FFF2-40B4-BE49-F238E27FC236}">
                <a16:creationId xmlns:a16="http://schemas.microsoft.com/office/drawing/2014/main" id="{3DC37C9F-F180-8069-5E16-E1AE5B2373C7}"/>
              </a:ext>
            </a:extLst>
          </p:cNvPr>
          <p:cNvSpPr txBox="1"/>
          <p:nvPr/>
        </p:nvSpPr>
        <p:spPr>
          <a:xfrm>
            <a:off x="1044951" y="4438138"/>
            <a:ext cx="4906333" cy="1013098"/>
          </a:xfrm>
          <a:prstGeom prst="rect">
            <a:avLst/>
          </a:prstGeom>
          <a:noFill/>
        </p:spPr>
        <p:txBody>
          <a:bodyPr wrap="square" lIns="0" tIns="0" rIns="0" bIns="0" anchor="t">
            <a:noAutofit/>
          </a:bodyPr>
          <a:lstStyle/>
          <a:p>
            <a:pPr>
              <a:spcAft>
                <a:spcPts val="400"/>
              </a:spcAft>
              <a:defRPr/>
            </a:pPr>
            <a:r>
              <a:rPr lang="en-US" sz="1050" kern="0" noProof="0" dirty="0"/>
              <a:t>Schema conversion support and guidance (using supported tooling)</a:t>
            </a:r>
          </a:p>
          <a:p>
            <a:pPr>
              <a:spcAft>
                <a:spcPts val="400"/>
              </a:spcAft>
              <a:defRPr/>
            </a:pPr>
            <a:r>
              <a:rPr lang="en-US" sz="1050" kern="0" noProof="0" dirty="0"/>
              <a:t>SSMA for Oracle installation and configuration (guidance or by the factory)</a:t>
            </a:r>
          </a:p>
          <a:p>
            <a:pPr>
              <a:spcAft>
                <a:spcPts val="400"/>
              </a:spcAft>
              <a:defRPr/>
            </a:pPr>
            <a:r>
              <a:rPr lang="en-US" sz="1050" kern="0" noProof="0" dirty="0"/>
              <a:t>Data migration using SSMA for Oracle (guidance or by the factory)</a:t>
            </a:r>
          </a:p>
          <a:p>
            <a:pPr>
              <a:spcAft>
                <a:spcPts val="400"/>
              </a:spcAft>
              <a:defRPr/>
            </a:pPr>
            <a:r>
              <a:rPr lang="en-US" sz="1050" kern="0" noProof="0" dirty="0"/>
              <a:t>Data migration using Striim (guidance or by the factory)</a:t>
            </a:r>
          </a:p>
          <a:p>
            <a:pPr>
              <a:spcAft>
                <a:spcPts val="400"/>
              </a:spcAft>
              <a:defRPr/>
            </a:pPr>
            <a:r>
              <a:rPr lang="en-US" sz="1050" kern="0" noProof="0" dirty="0"/>
              <a:t>Striim installation and configuration (guidance or by the factory)</a:t>
            </a:r>
          </a:p>
        </p:txBody>
      </p:sp>
      <p:sp>
        <p:nvSpPr>
          <p:cNvPr id="161" name="TextBox 160">
            <a:extLst>
              <a:ext uri="{FF2B5EF4-FFF2-40B4-BE49-F238E27FC236}">
                <a16:creationId xmlns:a16="http://schemas.microsoft.com/office/drawing/2014/main" id="{DE0415D7-5D7D-F844-4752-98FF8ECDF2AC}"/>
              </a:ext>
            </a:extLst>
          </p:cNvPr>
          <p:cNvSpPr txBox="1"/>
          <p:nvPr/>
        </p:nvSpPr>
        <p:spPr>
          <a:xfrm>
            <a:off x="1044951" y="5658816"/>
            <a:ext cx="4906333" cy="366767"/>
          </a:xfrm>
          <a:prstGeom prst="rect">
            <a:avLst/>
          </a:prstGeom>
          <a:noFill/>
        </p:spPr>
        <p:txBody>
          <a:bodyPr wrap="square" lIns="0" tIns="0" rIns="0" bIns="0">
            <a:noAutofit/>
          </a:bodyPr>
          <a:lstStyle/>
          <a:p>
            <a:pPr>
              <a:spcAft>
                <a:spcPts val="400"/>
              </a:spcAft>
            </a:pPr>
            <a:r>
              <a:rPr lang="en-US" sz="1050" noProof="0" dirty="0">
                <a:latin typeface="+mj-lt"/>
                <a:ea typeface="+mj-ea"/>
                <a:cs typeface="+mj-cs"/>
              </a:rPr>
              <a:t>Supported Oracle DB Servers for Migration:</a:t>
            </a:r>
          </a:p>
          <a:p>
            <a:pPr marL="168275" lvl="1" indent="-114300">
              <a:spcAft>
                <a:spcPts val="600"/>
              </a:spcAft>
              <a:buFont typeface="Arial" panose="020B0604020202020204" pitchFamily="34" charset="0"/>
              <a:buChar char="•"/>
              <a:defRPr/>
            </a:pPr>
            <a:r>
              <a:rPr lang="en-US" sz="1000" kern="0" noProof="0" dirty="0"/>
              <a:t>Oracle Database 12c Release 2 and above</a:t>
            </a:r>
          </a:p>
        </p:txBody>
      </p:sp>
      <p:cxnSp>
        <p:nvCxnSpPr>
          <p:cNvPr id="164" name="Straight Connector 163">
            <a:extLst>
              <a:ext uri="{FF2B5EF4-FFF2-40B4-BE49-F238E27FC236}">
                <a16:creationId xmlns:a16="http://schemas.microsoft.com/office/drawing/2014/main" id="{465AB49E-374C-B00D-DD95-8CD02E09B085}"/>
              </a:ext>
            </a:extLst>
          </p:cNvPr>
          <p:cNvCxnSpPr/>
          <p:nvPr/>
        </p:nvCxnSpPr>
        <p:spPr>
          <a:xfrm>
            <a:off x="1044951" y="433434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EBCCB654-AD67-EF58-2532-A84FBD612899}"/>
              </a:ext>
            </a:extLst>
          </p:cNvPr>
          <p:cNvCxnSpPr/>
          <p:nvPr/>
        </p:nvCxnSpPr>
        <p:spPr>
          <a:xfrm>
            <a:off x="1044951" y="555502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Oval 165">
            <a:extLst>
              <a:ext uri="{FF2B5EF4-FFF2-40B4-BE49-F238E27FC236}">
                <a16:creationId xmlns:a16="http://schemas.microsoft.com/office/drawing/2014/main" id="{6B058591-3B31-65BE-6402-41531CCBBA05}"/>
              </a:ext>
            </a:extLst>
          </p:cNvPr>
          <p:cNvSpPr/>
          <p:nvPr/>
        </p:nvSpPr>
        <p:spPr bwMode="auto">
          <a:xfrm>
            <a:off x="775653" y="40811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7" name="Oval 166">
            <a:extLst>
              <a:ext uri="{FF2B5EF4-FFF2-40B4-BE49-F238E27FC236}">
                <a16:creationId xmlns:a16="http://schemas.microsoft.com/office/drawing/2014/main" id="{5D240CE1-41B8-968D-4607-9D3AB2291AE9}"/>
              </a:ext>
            </a:extLst>
          </p:cNvPr>
          <p:cNvSpPr/>
          <p:nvPr/>
        </p:nvSpPr>
        <p:spPr bwMode="auto">
          <a:xfrm>
            <a:off x="775653" y="443813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8" name="Oval 167">
            <a:extLst>
              <a:ext uri="{FF2B5EF4-FFF2-40B4-BE49-F238E27FC236}">
                <a16:creationId xmlns:a16="http://schemas.microsoft.com/office/drawing/2014/main" id="{EBDFE147-B877-B1C5-825E-80CF204BDD5D}"/>
              </a:ext>
            </a:extLst>
          </p:cNvPr>
          <p:cNvSpPr/>
          <p:nvPr/>
        </p:nvSpPr>
        <p:spPr bwMode="auto">
          <a:xfrm>
            <a:off x="775653" y="565881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9" name="TextBox 168">
            <a:extLst>
              <a:ext uri="{FF2B5EF4-FFF2-40B4-BE49-F238E27FC236}">
                <a16:creationId xmlns:a16="http://schemas.microsoft.com/office/drawing/2014/main" id="{ED20D6CB-93C4-B20E-7BC2-133D1D30DA0D}"/>
              </a:ext>
            </a:extLst>
          </p:cNvPr>
          <p:cNvSpPr txBox="1"/>
          <p:nvPr/>
        </p:nvSpPr>
        <p:spPr>
          <a:xfrm>
            <a:off x="6608440" y="6216677"/>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other migration path not listed in the scope</a:t>
            </a:r>
          </a:p>
        </p:txBody>
      </p:sp>
      <p:sp>
        <p:nvSpPr>
          <p:cNvPr id="170" name="Oval 169">
            <a:extLst>
              <a:ext uri="{FF2B5EF4-FFF2-40B4-BE49-F238E27FC236}">
                <a16:creationId xmlns:a16="http://schemas.microsoft.com/office/drawing/2014/main" id="{8223517B-4574-859A-BABA-16E5819DC58B}"/>
              </a:ext>
            </a:extLst>
          </p:cNvPr>
          <p:cNvSpPr/>
          <p:nvPr/>
        </p:nvSpPr>
        <p:spPr bwMode="auto">
          <a:xfrm>
            <a:off x="6320111" y="622888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71" name="Straight Connector 170">
            <a:extLst>
              <a:ext uri="{FF2B5EF4-FFF2-40B4-BE49-F238E27FC236}">
                <a16:creationId xmlns:a16="http://schemas.microsoft.com/office/drawing/2014/main" id="{5BCAC97B-BFF7-D9AA-7C3E-30A271EFA065}"/>
              </a:ext>
            </a:extLst>
          </p:cNvPr>
          <p:cNvCxnSpPr/>
          <p:nvPr/>
        </p:nvCxnSpPr>
        <p:spPr>
          <a:xfrm>
            <a:off x="6608440" y="614335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1314D42-9908-D798-E984-33E4F54D8685}"/>
              </a:ext>
            </a:extLst>
          </p:cNvPr>
          <p:cNvSpPr txBox="1">
            <a:spLocks/>
          </p:cNvSpPr>
          <p:nvPr/>
        </p:nvSpPr>
        <p:spPr>
          <a:xfrm>
            <a:off x="563246" y="1327220"/>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8" name="TextBox 7">
            <a:extLst>
              <a:ext uri="{FF2B5EF4-FFF2-40B4-BE49-F238E27FC236}">
                <a16:creationId xmlns:a16="http://schemas.microsoft.com/office/drawing/2014/main" id="{F3659944-00C5-EBFE-C3D7-3D5C04FEF356}"/>
              </a:ext>
            </a:extLst>
          </p:cNvPr>
          <p:cNvSpPr txBox="1">
            <a:spLocks/>
          </p:cNvSpPr>
          <p:nvPr/>
        </p:nvSpPr>
        <p:spPr>
          <a:xfrm>
            <a:off x="6149277" y="1327753"/>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5" name="TextBox 4">
            <a:extLst>
              <a:ext uri="{FF2B5EF4-FFF2-40B4-BE49-F238E27FC236}">
                <a16:creationId xmlns:a16="http://schemas.microsoft.com/office/drawing/2014/main" id="{79D66114-F953-645C-693B-5ED79F974FDB}"/>
              </a:ext>
            </a:extLst>
          </p:cNvPr>
          <p:cNvSpPr txBox="1"/>
          <p:nvPr/>
        </p:nvSpPr>
        <p:spPr>
          <a:xfrm>
            <a:off x="6320111" y="1671552"/>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7" name="TextBox 6">
            <a:extLst>
              <a:ext uri="{FF2B5EF4-FFF2-40B4-BE49-F238E27FC236}">
                <a16:creationId xmlns:a16="http://schemas.microsoft.com/office/drawing/2014/main" id="{D9C0AB3A-789E-E61E-8E22-71BAA3D03060}"/>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82B6F9A4-60FC-4E18-E179-FBB01164B68B}"/>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30495394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B218B-9BE6-7AA2-514B-8AF2F2574E58}"/>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DB9C249-88B2-11AD-57D3-B6910E9D452A}"/>
              </a:ext>
            </a:extLst>
          </p:cNvPr>
          <p:cNvSpPr>
            <a:spLocks noGrp="1"/>
          </p:cNvSpPr>
          <p:nvPr>
            <p:ph type="title"/>
          </p:nvPr>
        </p:nvSpPr>
        <p:spPr>
          <a:xfrm>
            <a:off x="576263" y="358292"/>
            <a:ext cx="9240836" cy="430887"/>
          </a:xfrm>
        </p:spPr>
        <p:txBody>
          <a:bodyPr>
            <a:noAutofit/>
          </a:bodyPr>
          <a:lstStyle/>
          <a:p>
            <a:r>
              <a:rPr lang="en-US" sz="2000" noProof="0" dirty="0"/>
              <a:t>Heterogeneous Database Migrations (Oracle) using Agentic AI</a:t>
            </a:r>
          </a:p>
        </p:txBody>
      </p:sp>
      <p:sp>
        <p:nvSpPr>
          <p:cNvPr id="8" name="Rounded Rectangle 55">
            <a:extLst>
              <a:ext uri="{FF2B5EF4-FFF2-40B4-BE49-F238E27FC236}">
                <a16:creationId xmlns:a16="http://schemas.microsoft.com/office/drawing/2014/main" id="{6012524D-D870-4026-3839-43F4C053249E}"/>
              </a:ext>
              <a:ext uri="{C183D7F6-B498-43B3-948B-1728B52AA6E4}">
                <adec:decorative xmlns:adec="http://schemas.microsoft.com/office/drawing/2017/decorative" val="1"/>
              </a:ext>
            </a:extLst>
          </p:cNvPr>
          <p:cNvSpPr>
            <a:spLocks/>
          </p:cNvSpPr>
          <p:nvPr/>
        </p:nvSpPr>
        <p:spPr bwMode="auto">
          <a:xfrm>
            <a:off x="576263" y="1108836"/>
            <a:ext cx="5488027" cy="5301107"/>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2" name="Rounded Rectangle 55">
            <a:extLst>
              <a:ext uri="{FF2B5EF4-FFF2-40B4-BE49-F238E27FC236}">
                <a16:creationId xmlns:a16="http://schemas.microsoft.com/office/drawing/2014/main" id="{E237ECBE-4BF8-673A-ADC4-4221E35CB0B4}"/>
              </a:ext>
              <a:ext uri="{C183D7F6-B498-43B3-948B-1728B52AA6E4}">
                <adec:decorative xmlns:adec="http://schemas.microsoft.com/office/drawing/2017/decorative" val="1"/>
              </a:ext>
            </a:extLst>
          </p:cNvPr>
          <p:cNvSpPr>
            <a:spLocks/>
          </p:cNvSpPr>
          <p:nvPr/>
        </p:nvSpPr>
        <p:spPr bwMode="auto">
          <a:xfrm>
            <a:off x="6127848" y="1108837"/>
            <a:ext cx="5586365" cy="4178696"/>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63" name="TextBox 62">
            <a:extLst>
              <a:ext uri="{FF2B5EF4-FFF2-40B4-BE49-F238E27FC236}">
                <a16:creationId xmlns:a16="http://schemas.microsoft.com/office/drawing/2014/main" id="{AF66C860-D0B0-B3EC-2CEC-5FA34747A008}"/>
              </a:ext>
            </a:extLst>
          </p:cNvPr>
          <p:cNvSpPr txBox="1"/>
          <p:nvPr/>
        </p:nvSpPr>
        <p:spPr>
          <a:xfrm>
            <a:off x="585787" y="693826"/>
            <a:ext cx="7267574" cy="276999"/>
          </a:xfrm>
          <a:prstGeom prst="rect">
            <a:avLst/>
          </a:prstGeom>
          <a:noFill/>
        </p:spPr>
        <p:txBody>
          <a:bodyPr wrap="square" lIns="0" tIns="0" rIns="0" bIns="0" rtlCol="0">
            <a:spAutoFit/>
          </a:bodyPr>
          <a:lstStyle/>
          <a:p>
            <a:r>
              <a:rPr lang="en-US" noProof="0" dirty="0">
                <a:latin typeface="+mj-lt"/>
              </a:rPr>
              <a:t>Oracle to Azure Database for PostgreSQL Data Modernization</a:t>
            </a:r>
          </a:p>
        </p:txBody>
      </p:sp>
      <p:sp>
        <p:nvSpPr>
          <p:cNvPr id="123" name="TextBox 122">
            <a:extLst>
              <a:ext uri="{FF2B5EF4-FFF2-40B4-BE49-F238E27FC236}">
                <a16:creationId xmlns:a16="http://schemas.microsoft.com/office/drawing/2014/main" id="{27CDD8B3-E586-EB27-6491-30EB5303BE23}"/>
              </a:ext>
            </a:extLst>
          </p:cNvPr>
          <p:cNvSpPr txBox="1"/>
          <p:nvPr/>
        </p:nvSpPr>
        <p:spPr>
          <a:xfrm>
            <a:off x="6630006" y="1706249"/>
            <a:ext cx="4906333" cy="161583"/>
          </a:xfrm>
          <a:prstGeom prst="rect">
            <a:avLst/>
          </a:prstGeom>
          <a:noFill/>
        </p:spPr>
        <p:txBody>
          <a:bodyPr wrap="square" lIns="0" tIns="0" rIns="0" bIns="0" anchor="t">
            <a:noAutofit/>
          </a:bodyPr>
          <a:lstStyle/>
          <a:p>
            <a:pPr lvl="0">
              <a:defRPr/>
            </a:pPr>
            <a:r>
              <a:rPr lang="en-US" sz="1050" kern="0" noProof="0" dirty="0"/>
              <a:t>Installation/configuration Oracle Golden Gate/logminer</a:t>
            </a:r>
          </a:p>
        </p:txBody>
      </p:sp>
      <p:sp>
        <p:nvSpPr>
          <p:cNvPr id="124" name="Oval 123">
            <a:extLst>
              <a:ext uri="{FF2B5EF4-FFF2-40B4-BE49-F238E27FC236}">
                <a16:creationId xmlns:a16="http://schemas.microsoft.com/office/drawing/2014/main" id="{50278312-50C9-56A0-BD77-85221C702891}"/>
              </a:ext>
            </a:extLst>
          </p:cNvPr>
          <p:cNvSpPr/>
          <p:nvPr/>
        </p:nvSpPr>
        <p:spPr bwMode="auto">
          <a:xfrm>
            <a:off x="6341677" y="171846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5" name="TextBox 124">
            <a:extLst>
              <a:ext uri="{FF2B5EF4-FFF2-40B4-BE49-F238E27FC236}">
                <a16:creationId xmlns:a16="http://schemas.microsoft.com/office/drawing/2014/main" id="{2E624E93-C7D8-1F5D-8677-AE6ABBF617B2}"/>
              </a:ext>
            </a:extLst>
          </p:cNvPr>
          <p:cNvSpPr txBox="1"/>
          <p:nvPr/>
        </p:nvSpPr>
        <p:spPr>
          <a:xfrm>
            <a:off x="6630006" y="2014464"/>
            <a:ext cx="4906333" cy="161583"/>
          </a:xfrm>
          <a:prstGeom prst="rect">
            <a:avLst/>
          </a:prstGeom>
          <a:noFill/>
        </p:spPr>
        <p:txBody>
          <a:bodyPr wrap="square" lIns="0" tIns="0" rIns="0" bIns="0" anchor="t">
            <a:noAutofit/>
          </a:bodyPr>
          <a:lstStyle/>
          <a:p>
            <a:pPr>
              <a:defRPr/>
            </a:pPr>
            <a:r>
              <a:rPr lang="en-US" sz="1050" kern="0" noProof="0" dirty="0">
                <a:solidFill>
                  <a:srgbClr val="000000"/>
                </a:solidFill>
              </a:rPr>
              <a:t>Advisory services &amp; consulting, Architectural design &amp; discussion, DR testing</a:t>
            </a:r>
          </a:p>
          <a:p>
            <a:pPr lvl="0">
              <a:defRPr/>
            </a:pPr>
            <a:endParaRPr lang="en-US" sz="1050" kern="0" noProof="0" dirty="0">
              <a:solidFill>
                <a:srgbClr val="000000"/>
              </a:solidFill>
            </a:endParaRPr>
          </a:p>
        </p:txBody>
      </p:sp>
      <p:sp>
        <p:nvSpPr>
          <p:cNvPr id="126" name="Oval 125">
            <a:extLst>
              <a:ext uri="{FF2B5EF4-FFF2-40B4-BE49-F238E27FC236}">
                <a16:creationId xmlns:a16="http://schemas.microsoft.com/office/drawing/2014/main" id="{00426250-D433-0271-F1FC-335298C932A4}"/>
              </a:ext>
            </a:extLst>
          </p:cNvPr>
          <p:cNvSpPr/>
          <p:nvPr/>
        </p:nvSpPr>
        <p:spPr bwMode="auto">
          <a:xfrm>
            <a:off x="6341677" y="20266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7" name="TextBox 126">
            <a:extLst>
              <a:ext uri="{FF2B5EF4-FFF2-40B4-BE49-F238E27FC236}">
                <a16:creationId xmlns:a16="http://schemas.microsoft.com/office/drawing/2014/main" id="{98940E78-3936-7421-FFA0-8D0BFC32094C}"/>
              </a:ext>
            </a:extLst>
          </p:cNvPr>
          <p:cNvSpPr txBox="1"/>
          <p:nvPr/>
        </p:nvSpPr>
        <p:spPr>
          <a:xfrm>
            <a:off x="6630006" y="2322679"/>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 replication setup &amp; configuration on Azure VMs</a:t>
            </a:r>
          </a:p>
        </p:txBody>
      </p:sp>
      <p:sp>
        <p:nvSpPr>
          <p:cNvPr id="128" name="Oval 127">
            <a:extLst>
              <a:ext uri="{FF2B5EF4-FFF2-40B4-BE49-F238E27FC236}">
                <a16:creationId xmlns:a16="http://schemas.microsoft.com/office/drawing/2014/main" id="{9AB18B3F-52CE-1F50-06D4-D4EB45FD8C38}"/>
              </a:ext>
            </a:extLst>
          </p:cNvPr>
          <p:cNvSpPr/>
          <p:nvPr/>
        </p:nvSpPr>
        <p:spPr bwMode="auto">
          <a:xfrm>
            <a:off x="6341677" y="23348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29" name="Straight Connector 128">
            <a:extLst>
              <a:ext uri="{FF2B5EF4-FFF2-40B4-BE49-F238E27FC236}">
                <a16:creationId xmlns:a16="http://schemas.microsoft.com/office/drawing/2014/main" id="{3007AE39-30A2-E782-42AE-51D73FD1654D}"/>
              </a:ext>
            </a:extLst>
          </p:cNvPr>
          <p:cNvCxnSpPr/>
          <p:nvPr/>
        </p:nvCxnSpPr>
        <p:spPr>
          <a:xfrm>
            <a:off x="6630006" y="194114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a16="http://schemas.microsoft.com/office/drawing/2014/main" id="{BF4823C6-6DFA-4E5E-D9C5-4F61A6B4B5E6}"/>
              </a:ext>
            </a:extLst>
          </p:cNvPr>
          <p:cNvSpPr txBox="1"/>
          <p:nvPr/>
        </p:nvSpPr>
        <p:spPr>
          <a:xfrm>
            <a:off x="6630006" y="2630894"/>
            <a:ext cx="4906333" cy="161583"/>
          </a:xfrm>
          <a:prstGeom prst="rect">
            <a:avLst/>
          </a:prstGeom>
          <a:noFill/>
        </p:spPr>
        <p:txBody>
          <a:bodyPr wrap="square" lIns="0" tIns="0" rIns="0" bIns="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changes in the source (any time) &amp; target environments (after handover)</a:t>
            </a:r>
          </a:p>
        </p:txBody>
      </p:sp>
      <p:sp>
        <p:nvSpPr>
          <p:cNvPr id="131" name="Oval 130">
            <a:extLst>
              <a:ext uri="{FF2B5EF4-FFF2-40B4-BE49-F238E27FC236}">
                <a16:creationId xmlns:a16="http://schemas.microsoft.com/office/drawing/2014/main" id="{E5B605E0-E5B1-E720-DBA2-FF66D5EDF85A}"/>
              </a:ext>
            </a:extLst>
          </p:cNvPr>
          <p:cNvSpPr/>
          <p:nvPr/>
        </p:nvSpPr>
        <p:spPr bwMode="auto">
          <a:xfrm>
            <a:off x="6341677" y="264310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2" name="TextBox 131">
            <a:extLst>
              <a:ext uri="{FF2B5EF4-FFF2-40B4-BE49-F238E27FC236}">
                <a16:creationId xmlns:a16="http://schemas.microsoft.com/office/drawing/2014/main" id="{DEB31CC0-9AFC-1CDF-A1D4-0A3BEB986368}"/>
              </a:ext>
            </a:extLst>
          </p:cNvPr>
          <p:cNvSpPr txBox="1"/>
          <p:nvPr/>
        </p:nvSpPr>
        <p:spPr>
          <a:xfrm>
            <a:off x="6630006" y="2939109"/>
            <a:ext cx="4906333" cy="323165"/>
          </a:xfrm>
          <a:prstGeom prst="rect">
            <a:avLst/>
          </a:prstGeom>
          <a:noFill/>
        </p:spPr>
        <p:txBody>
          <a:bodyPr wrap="square" lIns="0" tIns="0" rIns="0" bIns="0" anchor="t">
            <a:spAutoFit/>
          </a:bodyPr>
          <a:lstStyle/>
          <a:p>
            <a:pPr>
              <a:defRPr/>
            </a:pPr>
            <a:r>
              <a:rPr kumimoji="0" lang="en-US" sz="1050" b="0" i="0" u="none" strike="noStrike" kern="0" cap="none" spc="0" normalizeH="0" baseline="0" noProof="0" dirty="0">
                <a:ln>
                  <a:noFill/>
                </a:ln>
                <a:solidFill>
                  <a:srgbClr val="000000"/>
                </a:solidFill>
                <a:effectLst/>
                <a:uLnTx/>
                <a:uFillTx/>
              </a:rPr>
              <a:t>Any Application/Services related configurations and testing (pre- and post-migration)</a:t>
            </a:r>
            <a:r>
              <a:rPr lang="en-US" sz="1050" kern="0" noProof="0" dirty="0">
                <a:solidFill>
                  <a:srgbClr val="000000"/>
                </a:solidFill>
              </a:rPr>
              <a:t>, Third-party tools setup &amp; configuration</a:t>
            </a:r>
          </a:p>
        </p:txBody>
      </p:sp>
      <p:sp>
        <p:nvSpPr>
          <p:cNvPr id="133" name="Oval 132">
            <a:extLst>
              <a:ext uri="{FF2B5EF4-FFF2-40B4-BE49-F238E27FC236}">
                <a16:creationId xmlns:a16="http://schemas.microsoft.com/office/drawing/2014/main" id="{110028F2-C734-9DBE-DC3B-610428AA6FD7}"/>
              </a:ext>
            </a:extLst>
          </p:cNvPr>
          <p:cNvSpPr/>
          <p:nvPr/>
        </p:nvSpPr>
        <p:spPr bwMode="auto">
          <a:xfrm>
            <a:off x="6341677" y="29391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4" name="Oval 133">
            <a:extLst>
              <a:ext uri="{FF2B5EF4-FFF2-40B4-BE49-F238E27FC236}">
                <a16:creationId xmlns:a16="http://schemas.microsoft.com/office/drawing/2014/main" id="{734125CC-5055-331E-7713-83017F8B05E4}"/>
              </a:ext>
            </a:extLst>
          </p:cNvPr>
          <p:cNvSpPr/>
          <p:nvPr/>
        </p:nvSpPr>
        <p:spPr bwMode="auto">
          <a:xfrm>
            <a:off x="6341677" y="342111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5" name="Oval 134">
            <a:extLst>
              <a:ext uri="{FF2B5EF4-FFF2-40B4-BE49-F238E27FC236}">
                <a16:creationId xmlns:a16="http://schemas.microsoft.com/office/drawing/2014/main" id="{E920FD5C-B9D1-9A43-9B45-C310C1DBD1FE}"/>
              </a:ext>
            </a:extLst>
          </p:cNvPr>
          <p:cNvSpPr/>
          <p:nvPr/>
        </p:nvSpPr>
        <p:spPr bwMode="auto">
          <a:xfrm>
            <a:off x="797219" y="162276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6" name="TextBox 135">
            <a:extLst>
              <a:ext uri="{FF2B5EF4-FFF2-40B4-BE49-F238E27FC236}">
                <a16:creationId xmlns:a16="http://schemas.microsoft.com/office/drawing/2014/main" id="{ADB26C1A-397C-206C-3A06-FBE5A58AB996}"/>
              </a:ext>
            </a:extLst>
          </p:cNvPr>
          <p:cNvSpPr txBox="1"/>
          <p:nvPr/>
        </p:nvSpPr>
        <p:spPr>
          <a:xfrm>
            <a:off x="1066517" y="1622761"/>
            <a:ext cx="4906333" cy="1913344"/>
          </a:xfrm>
          <a:prstGeom prst="rect">
            <a:avLst/>
          </a:prstGeom>
          <a:noFill/>
        </p:spPr>
        <p:txBody>
          <a:bodyPr wrap="square" lIns="0" tIns="0" rIns="0" bIns="0">
            <a:noAutofit/>
          </a:bodyPr>
          <a:lstStyle/>
          <a:p>
            <a:pPr>
              <a:spcAft>
                <a:spcPts val="400"/>
              </a:spcAft>
            </a:pPr>
            <a:r>
              <a:rPr lang="en-US" sz="1050" noProof="0" dirty="0">
                <a:latin typeface="+mj-lt"/>
                <a:ea typeface="+mj-ea"/>
                <a:cs typeface="+mj-cs"/>
              </a:rPr>
              <a:t>Oracle Database to Azure database for PostgreSQL Flexible server migrations</a:t>
            </a:r>
            <a:br>
              <a:rPr lang="en-US" sz="1050" noProof="0" dirty="0">
                <a:latin typeface="+mj-lt"/>
                <a:ea typeface="+mj-ea"/>
                <a:cs typeface="+mj-cs"/>
              </a:rPr>
            </a:br>
            <a:r>
              <a:rPr lang="en-US" sz="1050" noProof="0" dirty="0">
                <a:latin typeface="+mj-lt"/>
                <a:ea typeface="+mj-ea"/>
                <a:cs typeface="+mj-cs"/>
              </a:rPr>
              <a:t>Migration scenarios supported:​</a:t>
            </a:r>
          </a:p>
          <a:p>
            <a:pPr marL="168275" lvl="1" indent="-114300">
              <a:spcAft>
                <a:spcPts val="600"/>
              </a:spcAft>
              <a:buFont typeface="Arial" panose="020B0604020202020204" pitchFamily="34" charset="0"/>
              <a:buChar char="•"/>
              <a:defRPr/>
            </a:pPr>
            <a:r>
              <a:rPr lang="en-US" sz="1000" kern="0" noProof="0" dirty="0"/>
              <a:t>On-Premises Oracle DB Server to Azure PostgreSQL​*</a:t>
            </a:r>
          </a:p>
          <a:p>
            <a:pPr marL="168275" lvl="1" indent="-114300">
              <a:spcAft>
                <a:spcPts val="600"/>
              </a:spcAft>
              <a:buFont typeface="Arial" panose="020B0604020202020204" pitchFamily="34" charset="0"/>
              <a:buChar char="•"/>
              <a:defRPr/>
            </a:pPr>
            <a:r>
              <a:rPr lang="en-US" sz="1000" kern="0" noProof="0" dirty="0"/>
              <a:t>Oracle DB server on Azure VM Windows/Linux to Azure PostgreSQL ​</a:t>
            </a:r>
          </a:p>
          <a:p>
            <a:pPr marL="168275" lvl="1" indent="-114300">
              <a:spcAft>
                <a:spcPts val="600"/>
              </a:spcAft>
              <a:buFont typeface="Arial" panose="020B0604020202020204" pitchFamily="34" charset="0"/>
              <a:buChar char="•"/>
              <a:defRPr/>
            </a:pPr>
            <a:r>
              <a:rPr lang="en-US" sz="1000" kern="0" noProof="0" dirty="0"/>
              <a:t>ODAA to Azure PostgreSQL*​</a:t>
            </a:r>
          </a:p>
          <a:p>
            <a:pPr marL="168275" lvl="1" indent="-114300">
              <a:spcAft>
                <a:spcPts val="600"/>
              </a:spcAft>
              <a:buFont typeface="Arial" panose="020B0604020202020204" pitchFamily="34" charset="0"/>
              <a:buChar char="•"/>
              <a:defRPr/>
            </a:pPr>
            <a:r>
              <a:rPr lang="en-US" sz="1000" kern="0" noProof="0" dirty="0"/>
              <a:t>AWS EC2 Oracle DB server to Azure PostgreSQL ​</a:t>
            </a:r>
          </a:p>
          <a:p>
            <a:pPr marL="168275" lvl="1" indent="-114300">
              <a:spcAft>
                <a:spcPts val="600"/>
              </a:spcAft>
              <a:buFont typeface="Arial" panose="020B0604020202020204" pitchFamily="34" charset="0"/>
              <a:buChar char="•"/>
              <a:defRPr/>
            </a:pPr>
            <a:r>
              <a:rPr lang="en-US" sz="1000" kern="0" noProof="0" dirty="0"/>
              <a:t>AWS RDS for Oracle to Azure PostgreSQL ​</a:t>
            </a:r>
          </a:p>
          <a:p>
            <a:pPr marL="168275" lvl="1" indent="-114300">
              <a:spcAft>
                <a:spcPts val="600"/>
              </a:spcAft>
              <a:buFont typeface="Arial" panose="020B0604020202020204" pitchFamily="34" charset="0"/>
              <a:buChar char="•"/>
              <a:defRPr/>
            </a:pPr>
            <a:r>
              <a:rPr lang="en-US" sz="1000" kern="0" noProof="0" dirty="0"/>
              <a:t>Oracle DB on Google Compute Engine (GCE) to Azure PostgreSQL ​</a:t>
            </a:r>
          </a:p>
          <a:p>
            <a:pPr marL="168275" lvl="1" indent="-114300">
              <a:spcAft>
                <a:spcPts val="600"/>
              </a:spcAft>
              <a:buFont typeface="Arial" panose="020B0604020202020204" pitchFamily="34" charset="0"/>
              <a:buChar char="•"/>
              <a:defRPr/>
            </a:pPr>
            <a:r>
              <a:rPr lang="en-US" sz="1000" kern="0" noProof="0" dirty="0"/>
              <a:t>Oracle DB on Oracle Cloud (not supported by Striim) Azure PostgreSQL ​</a:t>
            </a:r>
          </a:p>
        </p:txBody>
      </p:sp>
      <p:cxnSp>
        <p:nvCxnSpPr>
          <p:cNvPr id="137" name="Straight Connector 136">
            <a:extLst>
              <a:ext uri="{FF2B5EF4-FFF2-40B4-BE49-F238E27FC236}">
                <a16:creationId xmlns:a16="http://schemas.microsoft.com/office/drawing/2014/main" id="{0D451AC3-9A51-518D-D792-36721BF4CC1F}"/>
              </a:ext>
            </a:extLst>
          </p:cNvPr>
          <p:cNvCxnSpPr/>
          <p:nvPr/>
        </p:nvCxnSpPr>
        <p:spPr>
          <a:xfrm>
            <a:off x="1066517" y="372068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4D6F7A4E-8112-95AE-9868-F0D843DB378A}"/>
              </a:ext>
            </a:extLst>
          </p:cNvPr>
          <p:cNvSpPr txBox="1"/>
          <p:nvPr/>
        </p:nvSpPr>
        <p:spPr>
          <a:xfrm>
            <a:off x="6630006" y="3408906"/>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Performing and configuring backups, monitoring &amp; alerts (pre- and post-migration)</a:t>
            </a:r>
          </a:p>
        </p:txBody>
      </p:sp>
      <p:sp>
        <p:nvSpPr>
          <p:cNvPr id="139" name="TextBox 138">
            <a:extLst>
              <a:ext uri="{FF2B5EF4-FFF2-40B4-BE49-F238E27FC236}">
                <a16:creationId xmlns:a16="http://schemas.microsoft.com/office/drawing/2014/main" id="{C36D27B0-B561-86A6-1823-8EDEF6CDB4FE}"/>
              </a:ext>
            </a:extLst>
          </p:cNvPr>
          <p:cNvSpPr txBox="1"/>
          <p:nvPr/>
        </p:nvSpPr>
        <p:spPr>
          <a:xfrm>
            <a:off x="6630006" y="3717121"/>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Testing, validation and optimization</a:t>
            </a:r>
          </a:p>
        </p:txBody>
      </p:sp>
      <p:sp>
        <p:nvSpPr>
          <p:cNvPr id="141" name="TextBox 140">
            <a:extLst>
              <a:ext uri="{FF2B5EF4-FFF2-40B4-BE49-F238E27FC236}">
                <a16:creationId xmlns:a16="http://schemas.microsoft.com/office/drawing/2014/main" id="{6472A189-1EDB-E49C-62E1-67820FF27C2F}"/>
              </a:ext>
            </a:extLst>
          </p:cNvPr>
          <p:cNvSpPr txBox="1"/>
          <p:nvPr/>
        </p:nvSpPr>
        <p:spPr>
          <a:xfrm>
            <a:off x="6630006" y="4011936"/>
            <a:ext cx="4906333" cy="323165"/>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Testing of dependencies (e.g., applications, mapped databases) and source system changes</a:t>
            </a:r>
          </a:p>
        </p:txBody>
      </p:sp>
      <p:sp>
        <p:nvSpPr>
          <p:cNvPr id="142" name="TextBox 141">
            <a:extLst>
              <a:ext uri="{FF2B5EF4-FFF2-40B4-BE49-F238E27FC236}">
                <a16:creationId xmlns:a16="http://schemas.microsoft.com/office/drawing/2014/main" id="{E4285E35-0B70-DC75-EAEA-1C19160E14FC}"/>
              </a:ext>
            </a:extLst>
          </p:cNvPr>
          <p:cNvSpPr txBox="1"/>
          <p:nvPr/>
        </p:nvSpPr>
        <p:spPr>
          <a:xfrm>
            <a:off x="6630006" y="4481733"/>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Database/ Server performance testing and tunning</a:t>
            </a:r>
          </a:p>
        </p:txBody>
      </p:sp>
      <p:sp>
        <p:nvSpPr>
          <p:cNvPr id="143" name="TextBox 142">
            <a:extLst>
              <a:ext uri="{FF2B5EF4-FFF2-40B4-BE49-F238E27FC236}">
                <a16:creationId xmlns:a16="http://schemas.microsoft.com/office/drawing/2014/main" id="{79A09718-1965-7B05-3C16-4E86B7C50944}"/>
              </a:ext>
            </a:extLst>
          </p:cNvPr>
          <p:cNvSpPr txBox="1"/>
          <p:nvPr/>
        </p:nvSpPr>
        <p:spPr>
          <a:xfrm>
            <a:off x="6630006" y="4789948"/>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endParaRPr kumimoji="0" lang="en-US" sz="1050" b="0" i="0" u="none" strike="noStrike" kern="0" cap="none" spc="0" normalizeH="0" baseline="0" noProof="0" dirty="0">
              <a:ln>
                <a:noFill/>
              </a:ln>
              <a:solidFill>
                <a:srgbClr val="000000"/>
              </a:solidFill>
              <a:effectLst/>
              <a:uLnTx/>
              <a:uFillTx/>
            </a:endParaRPr>
          </a:p>
        </p:txBody>
      </p:sp>
      <p:sp>
        <p:nvSpPr>
          <p:cNvPr id="144" name="TextBox 143">
            <a:extLst>
              <a:ext uri="{FF2B5EF4-FFF2-40B4-BE49-F238E27FC236}">
                <a16:creationId xmlns:a16="http://schemas.microsoft.com/office/drawing/2014/main" id="{7BD11B6A-29B7-F4AB-CF9F-BDB55D254BF9}"/>
              </a:ext>
            </a:extLst>
          </p:cNvPr>
          <p:cNvSpPr txBox="1"/>
          <p:nvPr/>
        </p:nvSpPr>
        <p:spPr>
          <a:xfrm>
            <a:off x="6630006" y="4789161"/>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PostgreSQL Server upgrade and patch management </a:t>
            </a:r>
          </a:p>
        </p:txBody>
      </p:sp>
      <p:cxnSp>
        <p:nvCxnSpPr>
          <p:cNvPr id="146" name="Straight Connector 145">
            <a:extLst>
              <a:ext uri="{FF2B5EF4-FFF2-40B4-BE49-F238E27FC236}">
                <a16:creationId xmlns:a16="http://schemas.microsoft.com/office/drawing/2014/main" id="{118C5437-49D2-8414-F30D-F115D4E2BB5E}"/>
              </a:ext>
            </a:extLst>
          </p:cNvPr>
          <p:cNvCxnSpPr/>
          <p:nvPr/>
        </p:nvCxnSpPr>
        <p:spPr>
          <a:xfrm>
            <a:off x="6630006" y="224936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EB5DBC8B-E0C9-A4E7-7D86-3A8A4BB27BB2}"/>
              </a:ext>
            </a:extLst>
          </p:cNvPr>
          <p:cNvCxnSpPr/>
          <p:nvPr/>
        </p:nvCxnSpPr>
        <p:spPr>
          <a:xfrm>
            <a:off x="6630006" y="255757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DC9E2384-ABA3-B82C-4238-5C7403928DF0}"/>
              </a:ext>
            </a:extLst>
          </p:cNvPr>
          <p:cNvCxnSpPr/>
          <p:nvPr/>
        </p:nvCxnSpPr>
        <p:spPr>
          <a:xfrm>
            <a:off x="6630006" y="286579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B151890-C513-715C-6A57-9541AE1C45D5}"/>
              </a:ext>
            </a:extLst>
          </p:cNvPr>
          <p:cNvCxnSpPr/>
          <p:nvPr/>
        </p:nvCxnSpPr>
        <p:spPr>
          <a:xfrm>
            <a:off x="6630006" y="3335590"/>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0C766B4E-AFAA-F5CB-67B3-9A438F038006}"/>
              </a:ext>
            </a:extLst>
          </p:cNvPr>
          <p:cNvCxnSpPr/>
          <p:nvPr/>
        </p:nvCxnSpPr>
        <p:spPr>
          <a:xfrm>
            <a:off x="6630006" y="3643805"/>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CA5F6076-F5F1-7E61-BA86-63F4F41C3948}"/>
              </a:ext>
            </a:extLst>
          </p:cNvPr>
          <p:cNvCxnSpPr/>
          <p:nvPr/>
        </p:nvCxnSpPr>
        <p:spPr>
          <a:xfrm>
            <a:off x="6630006" y="3952020"/>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2FFB2423-362B-3A12-0E62-0EA88262B2F7}"/>
              </a:ext>
            </a:extLst>
          </p:cNvPr>
          <p:cNvCxnSpPr/>
          <p:nvPr/>
        </p:nvCxnSpPr>
        <p:spPr>
          <a:xfrm>
            <a:off x="6630006" y="440841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61FEF5B-6C3A-42D3-BA87-975163FBC96E}"/>
              </a:ext>
            </a:extLst>
          </p:cNvPr>
          <p:cNvCxnSpPr/>
          <p:nvPr/>
        </p:nvCxnSpPr>
        <p:spPr>
          <a:xfrm>
            <a:off x="6630006" y="4715845"/>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7" name="Oval 156">
            <a:extLst>
              <a:ext uri="{FF2B5EF4-FFF2-40B4-BE49-F238E27FC236}">
                <a16:creationId xmlns:a16="http://schemas.microsoft.com/office/drawing/2014/main" id="{FB26D318-0C10-B2C8-32B9-20B7CCE3171F}"/>
              </a:ext>
            </a:extLst>
          </p:cNvPr>
          <p:cNvSpPr/>
          <p:nvPr/>
        </p:nvSpPr>
        <p:spPr bwMode="auto">
          <a:xfrm>
            <a:off x="6341677" y="372933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9" name="Oval 158">
            <a:extLst>
              <a:ext uri="{FF2B5EF4-FFF2-40B4-BE49-F238E27FC236}">
                <a16:creationId xmlns:a16="http://schemas.microsoft.com/office/drawing/2014/main" id="{CF1F4DD7-BFA5-DE39-CE8F-4223AB90B449}"/>
              </a:ext>
            </a:extLst>
          </p:cNvPr>
          <p:cNvSpPr/>
          <p:nvPr/>
        </p:nvSpPr>
        <p:spPr bwMode="auto">
          <a:xfrm>
            <a:off x="6341677" y="401193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0" name="Oval 159">
            <a:extLst>
              <a:ext uri="{FF2B5EF4-FFF2-40B4-BE49-F238E27FC236}">
                <a16:creationId xmlns:a16="http://schemas.microsoft.com/office/drawing/2014/main" id="{5227D0E9-E8C4-E72B-5226-633D110092B2}"/>
              </a:ext>
            </a:extLst>
          </p:cNvPr>
          <p:cNvSpPr/>
          <p:nvPr/>
        </p:nvSpPr>
        <p:spPr bwMode="auto">
          <a:xfrm>
            <a:off x="6341677" y="449394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2" name="Oval 161">
            <a:extLst>
              <a:ext uri="{FF2B5EF4-FFF2-40B4-BE49-F238E27FC236}">
                <a16:creationId xmlns:a16="http://schemas.microsoft.com/office/drawing/2014/main" id="{36B9432B-68E4-B99C-1861-212F37E428BE}"/>
              </a:ext>
            </a:extLst>
          </p:cNvPr>
          <p:cNvSpPr/>
          <p:nvPr/>
        </p:nvSpPr>
        <p:spPr bwMode="auto">
          <a:xfrm>
            <a:off x="6341677" y="480137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4" name="TextBox 163">
            <a:extLst>
              <a:ext uri="{FF2B5EF4-FFF2-40B4-BE49-F238E27FC236}">
                <a16:creationId xmlns:a16="http://schemas.microsoft.com/office/drawing/2014/main" id="{2D05EBBC-81FF-AC9D-93A6-D3D76A64C196}"/>
              </a:ext>
            </a:extLst>
          </p:cNvPr>
          <p:cNvSpPr txBox="1"/>
          <p:nvPr/>
        </p:nvSpPr>
        <p:spPr>
          <a:xfrm>
            <a:off x="588963" y="6565900"/>
            <a:ext cx="11017250" cy="123111"/>
          </a:xfrm>
          <a:prstGeom prst="rect">
            <a:avLst/>
          </a:prstGeom>
          <a:noFill/>
        </p:spPr>
        <p:txBody>
          <a:bodyPr wrap="square" lIns="0" tIns="0" rIns="0" bIns="0" anchor="t">
            <a:spAutoFit/>
          </a:bodyPr>
          <a:lstStyle>
            <a:defPPr>
              <a:defRPr lang="en-US"/>
            </a:defPPr>
            <a:lvl1pPr marR="0" lvl="0" indent="0" fontAlgn="auto">
              <a:lnSpc>
                <a:spcPct val="100000"/>
              </a:lnSpc>
              <a:spcBef>
                <a:spcPts val="0"/>
              </a:spcBef>
              <a:spcAft>
                <a:spcPts val="0"/>
              </a:spcAft>
              <a:buClrTx/>
              <a:buSzTx/>
              <a:buFontTx/>
              <a:buNone/>
              <a:tabLst/>
              <a:defRPr kumimoji="0" sz="700" b="0" i="0" u="none" strike="noStrike" cap="none" spc="0" normalizeH="0" baseline="0">
                <a:ln>
                  <a:noFill/>
                </a:ln>
                <a:solidFill>
                  <a:schemeClr val="bg1"/>
                </a:solidFill>
                <a:effectLst/>
                <a:uLnTx/>
                <a:uFillTx/>
                <a:latin typeface="Segoe Sans Text" pitchFamily="2" charset="0"/>
                <a:ea typeface="DengXian" panose="02010600030101010101" pitchFamily="2" charset="-122"/>
                <a:cs typeface="Segoe Sans Text" pitchFamily="2" charset="0"/>
              </a:defRPr>
            </a:lvl1pPr>
          </a:lstStyle>
          <a:p>
            <a:pPr>
              <a:defRPr/>
            </a:pPr>
            <a:r>
              <a:rPr lang="en-US" sz="800" noProof="0" dirty="0">
                <a:solidFill>
                  <a:schemeClr val="tx1"/>
                </a:solidFill>
                <a:latin typeface="+mn-lt"/>
                <a:ea typeface="+mn-ea"/>
                <a:cs typeface="+mn-cs"/>
              </a:rPr>
              <a:t>*Exadata and RAC sources, workloads and schemas migrated across multiple Azure PostgreSQL SKUs | Excluded: Oracle E-Business Suite, Enterprise Manager, JD Edwards, Middleware, PeopleSoft, Siebel, Cloud Applications</a:t>
            </a:r>
          </a:p>
        </p:txBody>
      </p:sp>
      <p:sp>
        <p:nvSpPr>
          <p:cNvPr id="165" name="TextBox 164">
            <a:extLst>
              <a:ext uri="{FF2B5EF4-FFF2-40B4-BE49-F238E27FC236}">
                <a16:creationId xmlns:a16="http://schemas.microsoft.com/office/drawing/2014/main" id="{9BC57FA2-C7C8-69B2-2B23-AA10DDE60BDE}"/>
              </a:ext>
            </a:extLst>
          </p:cNvPr>
          <p:cNvSpPr txBox="1"/>
          <p:nvPr/>
        </p:nvSpPr>
        <p:spPr>
          <a:xfrm>
            <a:off x="1066517" y="3905270"/>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HA/DR configuration &amp; setup for Azure PostgreSQL Flex</a:t>
            </a:r>
          </a:p>
        </p:txBody>
      </p:sp>
      <p:sp>
        <p:nvSpPr>
          <p:cNvPr id="166" name="TextBox 165">
            <a:extLst>
              <a:ext uri="{FF2B5EF4-FFF2-40B4-BE49-F238E27FC236}">
                <a16:creationId xmlns:a16="http://schemas.microsoft.com/office/drawing/2014/main" id="{5A35F94D-8E5B-BF3C-B099-AF129B1193EE}"/>
              </a:ext>
            </a:extLst>
          </p:cNvPr>
          <p:cNvSpPr txBox="1"/>
          <p:nvPr/>
        </p:nvSpPr>
        <p:spPr>
          <a:xfrm>
            <a:off x="1066517" y="4274435"/>
            <a:ext cx="4906333" cy="1013098"/>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400"/>
              </a:spcAft>
              <a:buClrTx/>
              <a:buSzTx/>
              <a:tabLst/>
              <a:defRPr/>
            </a:pPr>
            <a:r>
              <a:rPr kumimoji="0" lang="en-US" sz="1050" b="0" i="0" u="none" strike="noStrike" kern="0" cap="none" spc="0" normalizeH="0" baseline="0" noProof="0" dirty="0">
                <a:ln>
                  <a:noFill/>
                </a:ln>
                <a:effectLst/>
                <a:uLnTx/>
                <a:uFillTx/>
              </a:rPr>
              <a:t>Schema conversion support and guidance (using supported tooling)</a:t>
            </a:r>
          </a:p>
          <a:p>
            <a:pPr marR="0" lvl="0" algn="l" defTabSz="914400" rtl="0" eaLnBrk="1" fontAlgn="auto" latinLnBrk="0" hangingPunct="1">
              <a:lnSpc>
                <a:spcPct val="100000"/>
              </a:lnSpc>
              <a:spcBef>
                <a:spcPts val="0"/>
              </a:spcBef>
              <a:spcAft>
                <a:spcPts val="400"/>
              </a:spcAft>
              <a:buClrTx/>
              <a:buSzTx/>
              <a:tabLst/>
              <a:defRPr/>
            </a:pPr>
            <a:r>
              <a:rPr kumimoji="0" lang="en-US" sz="1050" b="0" i="0" u="none" strike="noStrike" kern="0" cap="none" spc="0" normalizeH="0" baseline="0" noProof="0" dirty="0">
                <a:ln>
                  <a:noFill/>
                </a:ln>
                <a:effectLst/>
                <a:uLnTx/>
                <a:uFillTx/>
              </a:rPr>
              <a:t>VS Code PostgreSQL extension installation and configuration</a:t>
            </a:r>
          </a:p>
          <a:p>
            <a:pPr marR="0" lvl="0" algn="l" defTabSz="914400" rtl="0" eaLnBrk="1" fontAlgn="auto" latinLnBrk="0" hangingPunct="1">
              <a:lnSpc>
                <a:spcPct val="100000"/>
              </a:lnSpc>
              <a:spcBef>
                <a:spcPts val="0"/>
              </a:spcBef>
              <a:spcAft>
                <a:spcPts val="400"/>
              </a:spcAft>
              <a:buClrTx/>
              <a:buSzTx/>
              <a:tabLst/>
              <a:defRPr/>
            </a:pPr>
            <a:r>
              <a:rPr kumimoji="0" lang="en-US" sz="1050" b="0" i="0" u="none" strike="noStrike" kern="0" cap="none" spc="0" normalizeH="0" baseline="0" noProof="0" dirty="0">
                <a:ln>
                  <a:noFill/>
                </a:ln>
                <a:effectLst/>
                <a:uLnTx/>
                <a:uFillTx/>
              </a:rPr>
              <a:t>Data migration using Ora2Pg (guidance or by the factory)</a:t>
            </a:r>
          </a:p>
          <a:p>
            <a:pPr marR="0" lvl="0" algn="l" defTabSz="914400" rtl="0" eaLnBrk="1" fontAlgn="auto" latinLnBrk="0" hangingPunct="1">
              <a:lnSpc>
                <a:spcPct val="100000"/>
              </a:lnSpc>
              <a:spcBef>
                <a:spcPts val="0"/>
              </a:spcBef>
              <a:spcAft>
                <a:spcPts val="400"/>
              </a:spcAft>
              <a:buClrTx/>
              <a:buSzTx/>
              <a:tabLst/>
              <a:defRPr/>
            </a:pPr>
            <a:r>
              <a:rPr kumimoji="0" lang="en-US" sz="1050" b="0" i="0" u="none" strike="noStrike" kern="0" cap="none" spc="0" normalizeH="0" baseline="0" noProof="0" dirty="0">
                <a:ln>
                  <a:noFill/>
                </a:ln>
                <a:effectLst/>
                <a:uLnTx/>
                <a:uFillTx/>
              </a:rPr>
              <a:t>Data migration using Striim (guidance or by the factory)</a:t>
            </a:r>
          </a:p>
          <a:p>
            <a:pPr marR="0" lvl="0" algn="l" defTabSz="914400" rtl="0" eaLnBrk="1" fontAlgn="auto" latinLnBrk="0" hangingPunct="1">
              <a:lnSpc>
                <a:spcPct val="100000"/>
              </a:lnSpc>
              <a:spcBef>
                <a:spcPts val="0"/>
              </a:spcBef>
              <a:spcAft>
                <a:spcPts val="400"/>
              </a:spcAft>
              <a:buClrTx/>
              <a:buSzTx/>
              <a:tabLst/>
              <a:defRPr/>
            </a:pPr>
            <a:r>
              <a:rPr kumimoji="0" lang="en-US" sz="1050" b="0" i="0" u="none" strike="noStrike" kern="0" cap="none" spc="0" normalizeH="0" baseline="0" noProof="0" dirty="0">
                <a:ln>
                  <a:noFill/>
                </a:ln>
                <a:effectLst/>
                <a:uLnTx/>
                <a:uFillTx/>
              </a:rPr>
              <a:t>Striim installation and configuration (guidance or by the factory)</a:t>
            </a:r>
          </a:p>
        </p:txBody>
      </p:sp>
      <p:sp>
        <p:nvSpPr>
          <p:cNvPr id="167" name="TextBox 166">
            <a:extLst>
              <a:ext uri="{FF2B5EF4-FFF2-40B4-BE49-F238E27FC236}">
                <a16:creationId xmlns:a16="http://schemas.microsoft.com/office/drawing/2014/main" id="{A8CFD15F-A59A-A7FA-F029-3F3994C03B5B}"/>
              </a:ext>
            </a:extLst>
          </p:cNvPr>
          <p:cNvSpPr txBox="1"/>
          <p:nvPr/>
        </p:nvSpPr>
        <p:spPr>
          <a:xfrm>
            <a:off x="1066517" y="5495113"/>
            <a:ext cx="4906333" cy="366767"/>
          </a:xfrm>
          <a:prstGeom prst="rect">
            <a:avLst/>
          </a:prstGeom>
          <a:noFill/>
        </p:spPr>
        <p:txBody>
          <a:bodyPr wrap="square" lIns="0" tIns="0" rIns="0" bIns="0">
            <a:noAutofit/>
          </a:bodyPr>
          <a:lstStyle/>
          <a:p>
            <a:pPr>
              <a:spcAft>
                <a:spcPts val="400"/>
              </a:spcAft>
            </a:pPr>
            <a:r>
              <a:rPr lang="en-US" sz="1050" noProof="0" dirty="0">
                <a:latin typeface="+mj-lt"/>
                <a:ea typeface="+mj-ea"/>
                <a:cs typeface="+mj-cs"/>
              </a:rPr>
              <a:t>Supported Oracle DB Servers for Migration:</a:t>
            </a:r>
          </a:p>
          <a:p>
            <a:pPr marL="168275" lvl="1" indent="-114300">
              <a:spcAft>
                <a:spcPts val="600"/>
              </a:spcAft>
              <a:buFont typeface="Arial" panose="020B0604020202020204" pitchFamily="34" charset="0"/>
              <a:buChar char="•"/>
              <a:defRPr/>
            </a:pPr>
            <a:r>
              <a:rPr lang="en-US" sz="1000" kern="0" noProof="0" dirty="0"/>
              <a:t>Oracle Database 12c Release 2 and above</a:t>
            </a:r>
          </a:p>
        </p:txBody>
      </p:sp>
      <p:cxnSp>
        <p:nvCxnSpPr>
          <p:cNvPr id="168" name="Straight Connector 167">
            <a:extLst>
              <a:ext uri="{FF2B5EF4-FFF2-40B4-BE49-F238E27FC236}">
                <a16:creationId xmlns:a16="http://schemas.microsoft.com/office/drawing/2014/main" id="{6077315C-36D5-1F1E-1A65-7D8F2F5C3AED}"/>
              </a:ext>
            </a:extLst>
          </p:cNvPr>
          <p:cNvCxnSpPr/>
          <p:nvPr/>
        </p:nvCxnSpPr>
        <p:spPr>
          <a:xfrm>
            <a:off x="1066517" y="417064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6FD09DB2-3ED8-A0AB-F176-382401C3A174}"/>
              </a:ext>
            </a:extLst>
          </p:cNvPr>
          <p:cNvCxnSpPr/>
          <p:nvPr/>
        </p:nvCxnSpPr>
        <p:spPr>
          <a:xfrm>
            <a:off x="1066517" y="539132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0" name="Oval 169">
            <a:extLst>
              <a:ext uri="{FF2B5EF4-FFF2-40B4-BE49-F238E27FC236}">
                <a16:creationId xmlns:a16="http://schemas.microsoft.com/office/drawing/2014/main" id="{0B1DAB58-B391-B7FD-C4A3-0BC3F91EE5F4}"/>
              </a:ext>
            </a:extLst>
          </p:cNvPr>
          <p:cNvSpPr/>
          <p:nvPr/>
        </p:nvSpPr>
        <p:spPr bwMode="auto">
          <a:xfrm>
            <a:off x="797219" y="391748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1" name="Oval 170">
            <a:extLst>
              <a:ext uri="{FF2B5EF4-FFF2-40B4-BE49-F238E27FC236}">
                <a16:creationId xmlns:a16="http://schemas.microsoft.com/office/drawing/2014/main" id="{908CCABC-E375-6E44-CA01-0C9D566C465D}"/>
              </a:ext>
            </a:extLst>
          </p:cNvPr>
          <p:cNvSpPr/>
          <p:nvPr/>
        </p:nvSpPr>
        <p:spPr bwMode="auto">
          <a:xfrm>
            <a:off x="797219" y="42744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2" name="Oval 171">
            <a:extLst>
              <a:ext uri="{FF2B5EF4-FFF2-40B4-BE49-F238E27FC236}">
                <a16:creationId xmlns:a16="http://schemas.microsoft.com/office/drawing/2014/main" id="{77DAC1FC-4D8E-CA8C-5CB8-2579AA9D9C07}"/>
              </a:ext>
            </a:extLst>
          </p:cNvPr>
          <p:cNvSpPr/>
          <p:nvPr/>
        </p:nvSpPr>
        <p:spPr bwMode="auto">
          <a:xfrm>
            <a:off x="797219" y="549511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3" name="TextBox 172">
            <a:extLst>
              <a:ext uri="{FF2B5EF4-FFF2-40B4-BE49-F238E27FC236}">
                <a16:creationId xmlns:a16="http://schemas.microsoft.com/office/drawing/2014/main" id="{DC89B2F7-B7BA-89FC-8C37-6372D402E874}"/>
              </a:ext>
            </a:extLst>
          </p:cNvPr>
          <p:cNvSpPr txBox="1"/>
          <p:nvPr/>
        </p:nvSpPr>
        <p:spPr>
          <a:xfrm>
            <a:off x="6630006" y="5115513"/>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other migration path not listed in the scope</a:t>
            </a:r>
          </a:p>
        </p:txBody>
      </p:sp>
      <p:sp>
        <p:nvSpPr>
          <p:cNvPr id="174" name="Oval 173">
            <a:extLst>
              <a:ext uri="{FF2B5EF4-FFF2-40B4-BE49-F238E27FC236}">
                <a16:creationId xmlns:a16="http://schemas.microsoft.com/office/drawing/2014/main" id="{AD118800-737F-D32D-5A5C-F2CE7FD797DD}"/>
              </a:ext>
            </a:extLst>
          </p:cNvPr>
          <p:cNvSpPr/>
          <p:nvPr/>
        </p:nvSpPr>
        <p:spPr bwMode="auto">
          <a:xfrm>
            <a:off x="6341677" y="512772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75" name="Straight Connector 174">
            <a:extLst>
              <a:ext uri="{FF2B5EF4-FFF2-40B4-BE49-F238E27FC236}">
                <a16:creationId xmlns:a16="http://schemas.microsoft.com/office/drawing/2014/main" id="{5C6CBB92-165E-8140-9EDD-7DB64ACCBC05}"/>
              </a:ext>
            </a:extLst>
          </p:cNvPr>
          <p:cNvCxnSpPr/>
          <p:nvPr/>
        </p:nvCxnSpPr>
        <p:spPr>
          <a:xfrm>
            <a:off x="6630006" y="506283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531A6EC-0DF6-71DF-4F0A-F0F37B27EA38}"/>
              </a:ext>
            </a:extLst>
          </p:cNvPr>
          <p:cNvSpPr txBox="1">
            <a:spLocks/>
          </p:cNvSpPr>
          <p:nvPr/>
        </p:nvSpPr>
        <p:spPr>
          <a:xfrm>
            <a:off x="607353" y="1193128"/>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6" name="TextBox 5">
            <a:extLst>
              <a:ext uri="{FF2B5EF4-FFF2-40B4-BE49-F238E27FC236}">
                <a16:creationId xmlns:a16="http://schemas.microsoft.com/office/drawing/2014/main" id="{0B2DEB9B-DDB4-C082-BFB7-13E9D5523481}"/>
              </a:ext>
            </a:extLst>
          </p:cNvPr>
          <p:cNvSpPr txBox="1">
            <a:spLocks/>
          </p:cNvSpPr>
          <p:nvPr/>
        </p:nvSpPr>
        <p:spPr>
          <a:xfrm>
            <a:off x="6175057" y="1180613"/>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3" name="TextBox 2">
            <a:extLst>
              <a:ext uri="{FF2B5EF4-FFF2-40B4-BE49-F238E27FC236}">
                <a16:creationId xmlns:a16="http://schemas.microsoft.com/office/drawing/2014/main" id="{EA2A4C74-FE3C-B8F6-800A-340076C41317}"/>
              </a:ext>
            </a:extLst>
          </p:cNvPr>
          <p:cNvSpPr txBox="1"/>
          <p:nvPr/>
        </p:nvSpPr>
        <p:spPr>
          <a:xfrm>
            <a:off x="6410257" y="5837378"/>
            <a:ext cx="4937760" cy="487313"/>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Heterogeneous migrations (Oracle, Sybase) leverages agentic tools and requires GitHub Copilot licenses. Extensive schema and code changes will be completed using Agentic tools only. </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800" noProof="0" dirty="0">
                <a:solidFill>
                  <a:srgbClr val="000000"/>
                </a:solidFill>
                <a:latin typeface="Segoe Sans Text"/>
              </a:rPr>
              <a:t>Customer to provide GHCP License for any agentic migration</a:t>
            </a:r>
            <a:endParaRPr lang="en-US" sz="800" b="0" i="0" u="none" strike="noStrike" kern="1200" cap="none" spc="0" normalizeH="0" baseline="0" noProof="0" dirty="0">
              <a:ln>
                <a:noFill/>
              </a:ln>
              <a:solidFill>
                <a:srgbClr val="000000"/>
              </a:solidFill>
              <a:effectLst/>
              <a:uLnTx/>
              <a:uFillTx/>
              <a:latin typeface="Segoe Sans Text"/>
              <a:cs typeface="Segoe Sans Text"/>
            </a:endParaRPr>
          </a:p>
        </p:txBody>
      </p:sp>
      <p:sp>
        <p:nvSpPr>
          <p:cNvPr id="11" name="Rounded Rectangle 22">
            <a:extLst>
              <a:ext uri="{FF2B5EF4-FFF2-40B4-BE49-F238E27FC236}">
                <a16:creationId xmlns:a16="http://schemas.microsoft.com/office/drawing/2014/main" id="{58204490-CE03-4AF6-747F-35F675602E71}"/>
              </a:ext>
              <a:ext uri="{C183D7F6-B498-43B3-948B-1728B52AA6E4}">
                <adec:decorative xmlns:adec="http://schemas.microsoft.com/office/drawing/2017/decorative" val="1"/>
              </a:ext>
            </a:extLst>
          </p:cNvPr>
          <p:cNvSpPr>
            <a:spLocks/>
          </p:cNvSpPr>
          <p:nvPr/>
        </p:nvSpPr>
        <p:spPr bwMode="auto">
          <a:xfrm>
            <a:off x="6127712" y="5359309"/>
            <a:ext cx="5563566" cy="1050635"/>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TextBox 14">
            <a:extLst>
              <a:ext uri="{FF2B5EF4-FFF2-40B4-BE49-F238E27FC236}">
                <a16:creationId xmlns:a16="http://schemas.microsoft.com/office/drawing/2014/main" id="{601D2E68-B002-49C1-58F2-70E5CEF19D50}"/>
              </a:ext>
            </a:extLst>
          </p:cNvPr>
          <p:cNvSpPr txBox="1">
            <a:spLocks/>
          </p:cNvSpPr>
          <p:nvPr/>
        </p:nvSpPr>
        <p:spPr>
          <a:xfrm>
            <a:off x="6196428" y="5405796"/>
            <a:ext cx="5462441"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a:t>
            </a:r>
          </a:p>
        </p:txBody>
      </p:sp>
      <p:sp>
        <p:nvSpPr>
          <p:cNvPr id="5" name="TextBox 4">
            <a:extLst>
              <a:ext uri="{FF2B5EF4-FFF2-40B4-BE49-F238E27FC236}">
                <a16:creationId xmlns:a16="http://schemas.microsoft.com/office/drawing/2014/main" id="{F63883A5-CFB1-A2B7-A780-F68ED3EFE78B}"/>
              </a:ext>
            </a:extLst>
          </p:cNvPr>
          <p:cNvSpPr txBox="1"/>
          <p:nvPr/>
        </p:nvSpPr>
        <p:spPr>
          <a:xfrm>
            <a:off x="6272264" y="1495960"/>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0" name="TextBox 9">
            <a:extLst>
              <a:ext uri="{FF2B5EF4-FFF2-40B4-BE49-F238E27FC236}">
                <a16:creationId xmlns:a16="http://schemas.microsoft.com/office/drawing/2014/main" id="{F647A59C-4AAE-7AA9-1124-ADC872DB7366}"/>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55F6F95B-B7C1-707A-3CFE-6D8009720A50}"/>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26872144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B5097-F9FD-7C30-8413-6480EFC35BA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3EF17CAB-C284-07D1-DB05-B70544FEB9AF}"/>
              </a:ext>
            </a:extLst>
          </p:cNvPr>
          <p:cNvSpPr>
            <a:spLocks noGrp="1"/>
          </p:cNvSpPr>
          <p:nvPr>
            <p:ph type="title"/>
          </p:nvPr>
        </p:nvSpPr>
        <p:spPr>
          <a:xfrm>
            <a:off x="588963" y="315692"/>
            <a:ext cx="11017250" cy="430887"/>
          </a:xfrm>
        </p:spPr>
        <p:txBody>
          <a:bodyPr>
            <a:noAutofit/>
          </a:bodyPr>
          <a:lstStyle/>
          <a:p>
            <a:r>
              <a:rPr lang="en-US" sz="2400" noProof="0" dirty="0"/>
              <a:t>Heterogeneous Database Migrations (Sybase)</a:t>
            </a:r>
          </a:p>
        </p:txBody>
      </p:sp>
      <p:sp>
        <p:nvSpPr>
          <p:cNvPr id="13" name="Rounded Rectangle 55">
            <a:extLst>
              <a:ext uri="{FF2B5EF4-FFF2-40B4-BE49-F238E27FC236}">
                <a16:creationId xmlns:a16="http://schemas.microsoft.com/office/drawing/2014/main" id="{8F8FBC40-FD2D-31EE-3FF7-7FDF5365AFE0}"/>
              </a:ext>
              <a:ext uri="{C183D7F6-B498-43B3-948B-1728B52AA6E4}">
                <adec:decorative xmlns:adec="http://schemas.microsoft.com/office/drawing/2017/decorative" val="1"/>
              </a:ext>
            </a:extLst>
          </p:cNvPr>
          <p:cNvSpPr>
            <a:spLocks/>
          </p:cNvSpPr>
          <p:nvPr/>
        </p:nvSpPr>
        <p:spPr bwMode="auto">
          <a:xfrm>
            <a:off x="554697" y="1272540"/>
            <a:ext cx="5483813"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Rounded Rectangle 55">
            <a:extLst>
              <a:ext uri="{FF2B5EF4-FFF2-40B4-BE49-F238E27FC236}">
                <a16:creationId xmlns:a16="http://schemas.microsoft.com/office/drawing/2014/main" id="{85CCFC24-1084-3D69-9B7C-6ABA78BAB21C}"/>
              </a:ext>
              <a:ext uri="{C183D7F6-B498-43B3-948B-1728B52AA6E4}">
                <adec:decorative xmlns:adec="http://schemas.microsoft.com/office/drawing/2017/decorative" val="1"/>
              </a:ext>
            </a:extLst>
          </p:cNvPr>
          <p:cNvSpPr>
            <a:spLocks/>
          </p:cNvSpPr>
          <p:nvPr/>
        </p:nvSpPr>
        <p:spPr bwMode="auto">
          <a:xfrm>
            <a:off x="6102453" y="1272540"/>
            <a:ext cx="5590194" cy="5137404"/>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6" name="TextBox 15">
            <a:extLst>
              <a:ext uri="{FF2B5EF4-FFF2-40B4-BE49-F238E27FC236}">
                <a16:creationId xmlns:a16="http://schemas.microsoft.com/office/drawing/2014/main" id="{73EF421C-3BB3-21AC-15BE-3BE3993DD27D}"/>
              </a:ext>
            </a:extLst>
          </p:cNvPr>
          <p:cNvSpPr txBox="1"/>
          <p:nvPr/>
        </p:nvSpPr>
        <p:spPr>
          <a:xfrm>
            <a:off x="588963" y="801255"/>
            <a:ext cx="8339137" cy="276999"/>
          </a:xfrm>
          <a:prstGeom prst="rect">
            <a:avLst/>
          </a:prstGeom>
          <a:noFill/>
        </p:spPr>
        <p:txBody>
          <a:bodyPr wrap="square" lIns="0" tIns="0" rIns="0" bIns="0" rtlCol="0">
            <a:spAutoFit/>
          </a:bodyPr>
          <a:lstStyle/>
          <a:p>
            <a:r>
              <a:rPr lang="en-US" noProof="0" dirty="0">
                <a:latin typeface="+mj-lt"/>
              </a:rPr>
              <a:t>SAP ASE (Sybase) to Azure SQL (VM, SQL DB, SQL MI) Data Modernization</a:t>
            </a:r>
          </a:p>
        </p:txBody>
      </p:sp>
      <p:sp>
        <p:nvSpPr>
          <p:cNvPr id="19" name="TextBox 18">
            <a:extLst>
              <a:ext uri="{FF2B5EF4-FFF2-40B4-BE49-F238E27FC236}">
                <a16:creationId xmlns:a16="http://schemas.microsoft.com/office/drawing/2014/main" id="{34A0B761-9CD2-ADCE-6093-A2437AA5DEA8}"/>
              </a:ext>
            </a:extLst>
          </p:cNvPr>
          <p:cNvSpPr txBox="1"/>
          <p:nvPr/>
        </p:nvSpPr>
        <p:spPr>
          <a:xfrm>
            <a:off x="6649563" y="1957273"/>
            <a:ext cx="4906333" cy="323165"/>
          </a:xfrm>
          <a:prstGeom prst="rect">
            <a:avLst/>
          </a:prstGeom>
          <a:noFill/>
        </p:spPr>
        <p:txBody>
          <a:bodyPr wrap="square" lIns="0" tIns="0" rIns="0" bIns="0" anchor="t">
            <a:noAutofit/>
          </a:bodyPr>
          <a:lstStyle/>
          <a:p>
            <a:pPr lvl="0">
              <a:defRPr/>
            </a:pPr>
            <a:r>
              <a:rPr lang="en-US" sz="1050" kern="0" noProof="0" dirty="0"/>
              <a:t>Customer is responsible for testing of dependencies (e.g., applications, mapped databases) and source system changes.</a:t>
            </a:r>
          </a:p>
        </p:txBody>
      </p:sp>
      <p:sp>
        <p:nvSpPr>
          <p:cNvPr id="27" name="Oval 26">
            <a:extLst>
              <a:ext uri="{FF2B5EF4-FFF2-40B4-BE49-F238E27FC236}">
                <a16:creationId xmlns:a16="http://schemas.microsoft.com/office/drawing/2014/main" id="{0E6FE59F-100F-02F5-8811-8CDBB752B38C}"/>
              </a:ext>
            </a:extLst>
          </p:cNvPr>
          <p:cNvSpPr/>
          <p:nvPr/>
        </p:nvSpPr>
        <p:spPr bwMode="auto">
          <a:xfrm>
            <a:off x="6361234" y="19694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677CAA32-48FB-3462-3F73-927E3695E309}"/>
              </a:ext>
            </a:extLst>
          </p:cNvPr>
          <p:cNvSpPr txBox="1"/>
          <p:nvPr/>
        </p:nvSpPr>
        <p:spPr>
          <a:xfrm>
            <a:off x="6649563" y="2405056"/>
            <a:ext cx="4906333" cy="161583"/>
          </a:xfrm>
          <a:prstGeom prst="rect">
            <a:avLst/>
          </a:prstGeom>
          <a:noFill/>
        </p:spPr>
        <p:txBody>
          <a:bodyPr wrap="square" lIns="0" tIns="0" rIns="0" bIns="0" anchor="t">
            <a:noAutofit/>
          </a:bodyPr>
          <a:lstStyle/>
          <a:p>
            <a:pPr lvl="0">
              <a:defRPr/>
            </a:pPr>
            <a:r>
              <a:rPr lang="en-US" sz="1050" kern="0" noProof="0" dirty="0">
                <a:solidFill>
                  <a:srgbClr val="000000"/>
                </a:solidFill>
              </a:rPr>
              <a:t>Advisory services &amp; consulting</a:t>
            </a:r>
          </a:p>
        </p:txBody>
      </p:sp>
      <p:sp>
        <p:nvSpPr>
          <p:cNvPr id="29" name="Oval 28">
            <a:extLst>
              <a:ext uri="{FF2B5EF4-FFF2-40B4-BE49-F238E27FC236}">
                <a16:creationId xmlns:a16="http://schemas.microsoft.com/office/drawing/2014/main" id="{64587D68-52D4-0BB6-C1F1-3406410A9D22}"/>
              </a:ext>
            </a:extLst>
          </p:cNvPr>
          <p:cNvSpPr/>
          <p:nvPr/>
        </p:nvSpPr>
        <p:spPr bwMode="auto">
          <a:xfrm>
            <a:off x="6361234" y="240505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34" name="Straight Connector 33">
            <a:extLst>
              <a:ext uri="{FF2B5EF4-FFF2-40B4-BE49-F238E27FC236}">
                <a16:creationId xmlns:a16="http://schemas.microsoft.com/office/drawing/2014/main" id="{8C2879A3-4997-7EAE-C4AD-D2C6B69A52EE}"/>
              </a:ext>
            </a:extLst>
          </p:cNvPr>
          <p:cNvCxnSpPr/>
          <p:nvPr/>
        </p:nvCxnSpPr>
        <p:spPr>
          <a:xfrm>
            <a:off x="6649563" y="234274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7808668-8DFB-BDC1-2056-F46EE598487A}"/>
              </a:ext>
            </a:extLst>
          </p:cNvPr>
          <p:cNvSpPr txBox="1"/>
          <p:nvPr/>
        </p:nvSpPr>
        <p:spPr>
          <a:xfrm>
            <a:off x="6649563" y="2687377"/>
            <a:ext cx="4906333" cy="161583"/>
          </a:xfrm>
          <a:prstGeom prst="rect">
            <a:avLst/>
          </a:prstGeom>
          <a:noFill/>
        </p:spPr>
        <p:txBody>
          <a:bodyPr wrap="square" lIns="0" tIns="0" rIns="0" bIns="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changes in the source (any time) &amp; target environments (after handover)</a:t>
            </a:r>
          </a:p>
        </p:txBody>
      </p:sp>
      <p:sp>
        <p:nvSpPr>
          <p:cNvPr id="40" name="Oval 39">
            <a:extLst>
              <a:ext uri="{FF2B5EF4-FFF2-40B4-BE49-F238E27FC236}">
                <a16:creationId xmlns:a16="http://schemas.microsoft.com/office/drawing/2014/main" id="{18311859-7362-F7B1-5E46-4C7335308542}"/>
              </a:ext>
            </a:extLst>
          </p:cNvPr>
          <p:cNvSpPr/>
          <p:nvPr/>
        </p:nvSpPr>
        <p:spPr bwMode="auto">
          <a:xfrm>
            <a:off x="6361234" y="269958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1" name="TextBox 40">
            <a:extLst>
              <a:ext uri="{FF2B5EF4-FFF2-40B4-BE49-F238E27FC236}">
                <a16:creationId xmlns:a16="http://schemas.microsoft.com/office/drawing/2014/main" id="{9430D8AB-1B4B-57C3-C9A3-2B7D77B8BDB5}"/>
              </a:ext>
            </a:extLst>
          </p:cNvPr>
          <p:cNvSpPr txBox="1"/>
          <p:nvPr/>
        </p:nvSpPr>
        <p:spPr>
          <a:xfrm>
            <a:off x="6649563" y="2973578"/>
            <a:ext cx="4906333" cy="323165"/>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Application/Services related configurations and testing (Pre and Post Migration)</a:t>
            </a:r>
          </a:p>
        </p:txBody>
      </p:sp>
      <p:sp>
        <p:nvSpPr>
          <p:cNvPr id="62" name="Oval 61">
            <a:extLst>
              <a:ext uri="{FF2B5EF4-FFF2-40B4-BE49-F238E27FC236}">
                <a16:creationId xmlns:a16="http://schemas.microsoft.com/office/drawing/2014/main" id="{89FE3B78-8400-D4B3-AD4A-7F4A2AF1E238}"/>
              </a:ext>
            </a:extLst>
          </p:cNvPr>
          <p:cNvSpPr/>
          <p:nvPr/>
        </p:nvSpPr>
        <p:spPr bwMode="auto">
          <a:xfrm>
            <a:off x="6361234" y="29735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3" name="Oval 62">
            <a:extLst>
              <a:ext uri="{FF2B5EF4-FFF2-40B4-BE49-F238E27FC236}">
                <a16:creationId xmlns:a16="http://schemas.microsoft.com/office/drawing/2014/main" id="{961B1007-40EA-6883-4E45-F846B3FE41FB}"/>
              </a:ext>
            </a:extLst>
          </p:cNvPr>
          <p:cNvSpPr/>
          <p:nvPr/>
        </p:nvSpPr>
        <p:spPr bwMode="auto">
          <a:xfrm>
            <a:off x="6361234" y="343357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5" name="Oval 64">
            <a:extLst>
              <a:ext uri="{FF2B5EF4-FFF2-40B4-BE49-F238E27FC236}">
                <a16:creationId xmlns:a16="http://schemas.microsoft.com/office/drawing/2014/main" id="{8BB5B7A7-901A-4A7F-67A3-3631F7049E5C}"/>
              </a:ext>
            </a:extLst>
          </p:cNvPr>
          <p:cNvSpPr/>
          <p:nvPr/>
        </p:nvSpPr>
        <p:spPr bwMode="auto">
          <a:xfrm>
            <a:off x="775653" y="178646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2" name="TextBox 71">
            <a:extLst>
              <a:ext uri="{FF2B5EF4-FFF2-40B4-BE49-F238E27FC236}">
                <a16:creationId xmlns:a16="http://schemas.microsoft.com/office/drawing/2014/main" id="{19E3F538-1722-ABCF-81E7-DB3DC98E2EE2}"/>
              </a:ext>
            </a:extLst>
          </p:cNvPr>
          <p:cNvSpPr txBox="1"/>
          <p:nvPr/>
        </p:nvSpPr>
        <p:spPr>
          <a:xfrm>
            <a:off x="1044951" y="1786464"/>
            <a:ext cx="4906333" cy="1220847"/>
          </a:xfrm>
          <a:prstGeom prst="rect">
            <a:avLst/>
          </a:prstGeom>
          <a:noFill/>
        </p:spPr>
        <p:txBody>
          <a:bodyPr wrap="square" lIns="0" tIns="0" rIns="0" bIns="0">
            <a:noAutofit/>
          </a:bodyPr>
          <a:lstStyle/>
          <a:p>
            <a:pPr>
              <a:spcAft>
                <a:spcPts val="400"/>
              </a:spcAft>
            </a:pPr>
            <a:r>
              <a:rPr lang="en-US" sz="1050" noProof="0" dirty="0">
                <a:latin typeface="+mj-lt"/>
                <a:ea typeface="+mj-ea"/>
                <a:cs typeface="+mj-cs"/>
              </a:rPr>
              <a:t>On-premise/cloud provider Sybase ASE to SQL server migrations with near-zero code changes. Migration scenario‘s supported:</a:t>
            </a:r>
          </a:p>
          <a:p>
            <a:pPr marL="168275" lvl="1" indent="-114300">
              <a:spcAft>
                <a:spcPts val="600"/>
              </a:spcAft>
              <a:buFont typeface="Arial" panose="020B0604020202020204" pitchFamily="34" charset="0"/>
              <a:buChar char="•"/>
              <a:defRPr/>
            </a:pPr>
            <a:r>
              <a:rPr lang="en-US" sz="1000" kern="0" noProof="0" dirty="0"/>
              <a:t>On-Premises Sybase ASE Server to Azure SQL</a:t>
            </a:r>
          </a:p>
          <a:p>
            <a:pPr marL="168275" lvl="1" indent="-114300">
              <a:spcAft>
                <a:spcPts val="600"/>
              </a:spcAft>
              <a:buFont typeface="Arial" panose="020B0604020202020204" pitchFamily="34" charset="0"/>
              <a:buChar char="•"/>
              <a:defRPr/>
            </a:pPr>
            <a:r>
              <a:rPr lang="en-US" sz="1000" kern="0" noProof="0" dirty="0"/>
              <a:t>Sybase ASE on Linux/Windows Azure VM to Azure SQL</a:t>
            </a:r>
          </a:p>
          <a:p>
            <a:pPr marL="168275" lvl="1" indent="-114300">
              <a:spcAft>
                <a:spcPts val="600"/>
              </a:spcAft>
              <a:buFont typeface="Arial" panose="020B0604020202020204" pitchFamily="34" charset="0"/>
              <a:buChar char="•"/>
              <a:defRPr/>
            </a:pPr>
            <a:r>
              <a:rPr lang="en-US" sz="1000" kern="0" noProof="0" dirty="0"/>
              <a:t>Sybase ASE on AWS EC2 to Azure SQL</a:t>
            </a:r>
          </a:p>
          <a:p>
            <a:pPr marL="168275" lvl="1" indent="-114300">
              <a:spcAft>
                <a:spcPts val="600"/>
              </a:spcAft>
              <a:buFont typeface="Arial" panose="020B0604020202020204" pitchFamily="34" charset="0"/>
              <a:buChar char="•"/>
              <a:defRPr/>
            </a:pPr>
            <a:r>
              <a:rPr lang="en-US" sz="1000" kern="0" noProof="0" dirty="0"/>
              <a:t>Sybase ASE on GCP Compute Engine to Azure SQL</a:t>
            </a:r>
          </a:p>
        </p:txBody>
      </p:sp>
      <p:cxnSp>
        <p:nvCxnSpPr>
          <p:cNvPr id="73" name="Straight Connector 72">
            <a:extLst>
              <a:ext uri="{FF2B5EF4-FFF2-40B4-BE49-F238E27FC236}">
                <a16:creationId xmlns:a16="http://schemas.microsoft.com/office/drawing/2014/main" id="{7C6AC58A-9FB9-6E29-DAFF-9DF6DE20CB69}"/>
              </a:ext>
            </a:extLst>
          </p:cNvPr>
          <p:cNvCxnSpPr/>
          <p:nvPr/>
        </p:nvCxnSpPr>
        <p:spPr>
          <a:xfrm>
            <a:off x="1044951" y="3172591"/>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BAAA9240-2C46-093C-4C7B-57CD3D7C7852}"/>
              </a:ext>
            </a:extLst>
          </p:cNvPr>
          <p:cNvSpPr txBox="1"/>
          <p:nvPr/>
        </p:nvSpPr>
        <p:spPr>
          <a:xfrm>
            <a:off x="6649563" y="3421361"/>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Performing and configuring Backups, Monitoring &amp; Alerts (Pre &amp; Post Migration)</a:t>
            </a:r>
          </a:p>
        </p:txBody>
      </p:sp>
      <p:sp>
        <p:nvSpPr>
          <p:cNvPr id="75" name="TextBox 74">
            <a:extLst>
              <a:ext uri="{FF2B5EF4-FFF2-40B4-BE49-F238E27FC236}">
                <a16:creationId xmlns:a16="http://schemas.microsoft.com/office/drawing/2014/main" id="{0C5E8761-634C-72EA-3D55-0937BBEABCF6}"/>
              </a:ext>
            </a:extLst>
          </p:cNvPr>
          <p:cNvSpPr txBox="1"/>
          <p:nvPr/>
        </p:nvSpPr>
        <p:spPr>
          <a:xfrm>
            <a:off x="6649563" y="3707562"/>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 Archival solutions</a:t>
            </a:r>
          </a:p>
        </p:txBody>
      </p:sp>
      <p:sp>
        <p:nvSpPr>
          <p:cNvPr id="84" name="TextBox 83">
            <a:extLst>
              <a:ext uri="{FF2B5EF4-FFF2-40B4-BE49-F238E27FC236}">
                <a16:creationId xmlns:a16="http://schemas.microsoft.com/office/drawing/2014/main" id="{2458A231-B3E6-A07F-CECB-AF81EABEEE16}"/>
              </a:ext>
            </a:extLst>
          </p:cNvPr>
          <p:cNvSpPr txBox="1"/>
          <p:nvPr/>
        </p:nvSpPr>
        <p:spPr>
          <a:xfrm>
            <a:off x="6649563" y="3993763"/>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Architectural Design &amp; Discussion for HA/DR</a:t>
            </a:r>
          </a:p>
        </p:txBody>
      </p:sp>
      <p:sp>
        <p:nvSpPr>
          <p:cNvPr id="85" name="TextBox 84">
            <a:extLst>
              <a:ext uri="{FF2B5EF4-FFF2-40B4-BE49-F238E27FC236}">
                <a16:creationId xmlns:a16="http://schemas.microsoft.com/office/drawing/2014/main" id="{5DA88841-160D-2C58-C8AB-31A9497C38BD}"/>
              </a:ext>
            </a:extLst>
          </p:cNvPr>
          <p:cNvSpPr txBox="1"/>
          <p:nvPr/>
        </p:nvSpPr>
        <p:spPr>
          <a:xfrm>
            <a:off x="6649563" y="4279964"/>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HA/DR testing </a:t>
            </a:r>
          </a:p>
        </p:txBody>
      </p:sp>
      <p:sp>
        <p:nvSpPr>
          <p:cNvPr id="86" name="TextBox 85">
            <a:extLst>
              <a:ext uri="{FF2B5EF4-FFF2-40B4-BE49-F238E27FC236}">
                <a16:creationId xmlns:a16="http://schemas.microsoft.com/office/drawing/2014/main" id="{C609206A-F611-38BF-6DEB-4FC4D2676EA9}"/>
              </a:ext>
            </a:extLst>
          </p:cNvPr>
          <p:cNvSpPr txBox="1"/>
          <p:nvPr/>
        </p:nvSpPr>
        <p:spPr>
          <a:xfrm>
            <a:off x="6649563" y="4566165"/>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Database Performance testing and tunning</a:t>
            </a:r>
          </a:p>
        </p:txBody>
      </p:sp>
      <p:sp>
        <p:nvSpPr>
          <p:cNvPr id="87" name="TextBox 86">
            <a:extLst>
              <a:ext uri="{FF2B5EF4-FFF2-40B4-BE49-F238E27FC236}">
                <a16:creationId xmlns:a16="http://schemas.microsoft.com/office/drawing/2014/main" id="{3164D61D-8211-602E-3070-37A61F867DE4}"/>
              </a:ext>
            </a:extLst>
          </p:cNvPr>
          <p:cNvSpPr txBox="1"/>
          <p:nvPr/>
        </p:nvSpPr>
        <p:spPr>
          <a:xfrm>
            <a:off x="6649563" y="5138567"/>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Third party tools setup &amp; configuration for SQL Server</a:t>
            </a:r>
          </a:p>
        </p:txBody>
      </p:sp>
      <p:sp>
        <p:nvSpPr>
          <p:cNvPr id="88" name="TextBox 87">
            <a:extLst>
              <a:ext uri="{FF2B5EF4-FFF2-40B4-BE49-F238E27FC236}">
                <a16:creationId xmlns:a16="http://schemas.microsoft.com/office/drawing/2014/main" id="{0B77C808-1BCC-0420-F04C-49D01EBD35ED}"/>
              </a:ext>
            </a:extLst>
          </p:cNvPr>
          <p:cNvSpPr txBox="1"/>
          <p:nvPr/>
        </p:nvSpPr>
        <p:spPr>
          <a:xfrm>
            <a:off x="6649563" y="5424768"/>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SQL Server upgrade and patch management </a:t>
            </a:r>
          </a:p>
        </p:txBody>
      </p:sp>
      <p:sp>
        <p:nvSpPr>
          <p:cNvPr id="89" name="TextBox 88">
            <a:extLst>
              <a:ext uri="{FF2B5EF4-FFF2-40B4-BE49-F238E27FC236}">
                <a16:creationId xmlns:a16="http://schemas.microsoft.com/office/drawing/2014/main" id="{524359ED-C877-77DF-BAD3-F594A55213A1}"/>
              </a:ext>
            </a:extLst>
          </p:cNvPr>
          <p:cNvSpPr txBox="1"/>
          <p:nvPr/>
        </p:nvSpPr>
        <p:spPr>
          <a:xfrm>
            <a:off x="6649563" y="5710969"/>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Server performance testing and tunning</a:t>
            </a:r>
          </a:p>
        </p:txBody>
      </p:sp>
      <p:cxnSp>
        <p:nvCxnSpPr>
          <p:cNvPr id="90" name="Straight Connector 89">
            <a:extLst>
              <a:ext uri="{FF2B5EF4-FFF2-40B4-BE49-F238E27FC236}">
                <a16:creationId xmlns:a16="http://schemas.microsoft.com/office/drawing/2014/main" id="{CF5672E8-DDD4-CC22-4CB2-1EA2651366E3}"/>
              </a:ext>
            </a:extLst>
          </p:cNvPr>
          <p:cNvCxnSpPr/>
          <p:nvPr/>
        </p:nvCxnSpPr>
        <p:spPr>
          <a:xfrm>
            <a:off x="6649563" y="262894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BC3D152-9E0A-882E-F5AF-DD1F0F7D7306}"/>
              </a:ext>
            </a:extLst>
          </p:cNvPr>
          <p:cNvCxnSpPr/>
          <p:nvPr/>
        </p:nvCxnSpPr>
        <p:spPr>
          <a:xfrm>
            <a:off x="6649563" y="291126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311F506-9E0A-286D-6A94-DDCC47DAEAB6}"/>
              </a:ext>
            </a:extLst>
          </p:cNvPr>
          <p:cNvCxnSpPr/>
          <p:nvPr/>
        </p:nvCxnSpPr>
        <p:spPr>
          <a:xfrm>
            <a:off x="6649563" y="3359052"/>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ACD9331-8613-6870-9050-8615480D8F37}"/>
              </a:ext>
            </a:extLst>
          </p:cNvPr>
          <p:cNvCxnSpPr/>
          <p:nvPr/>
        </p:nvCxnSpPr>
        <p:spPr>
          <a:xfrm>
            <a:off x="6649563" y="3645253"/>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D3529F5-5B83-AD07-224C-1DD3F59B4F31}"/>
              </a:ext>
            </a:extLst>
          </p:cNvPr>
          <p:cNvCxnSpPr/>
          <p:nvPr/>
        </p:nvCxnSpPr>
        <p:spPr>
          <a:xfrm>
            <a:off x="6649563" y="393145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B00BF47-768B-8AE3-F38C-ABB15CC6D6E7}"/>
              </a:ext>
            </a:extLst>
          </p:cNvPr>
          <p:cNvCxnSpPr/>
          <p:nvPr/>
        </p:nvCxnSpPr>
        <p:spPr>
          <a:xfrm>
            <a:off x="6649563" y="4217655"/>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E585043-80FB-411D-A9B3-CB06048625D1}"/>
              </a:ext>
            </a:extLst>
          </p:cNvPr>
          <p:cNvCxnSpPr/>
          <p:nvPr/>
        </p:nvCxnSpPr>
        <p:spPr>
          <a:xfrm>
            <a:off x="6649563" y="4503856"/>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6514257-BA5A-AC92-126E-8E7ED4F50D8F}"/>
              </a:ext>
            </a:extLst>
          </p:cNvPr>
          <p:cNvCxnSpPr/>
          <p:nvPr/>
        </p:nvCxnSpPr>
        <p:spPr>
          <a:xfrm>
            <a:off x="6649563" y="5076258"/>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9B8E5D6-8E36-094E-A316-2F060A4EA0EE}"/>
              </a:ext>
            </a:extLst>
          </p:cNvPr>
          <p:cNvCxnSpPr/>
          <p:nvPr/>
        </p:nvCxnSpPr>
        <p:spPr>
          <a:xfrm>
            <a:off x="6649563" y="5362459"/>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6C3BD389-776C-90E3-FF28-F84172C3365D}"/>
              </a:ext>
            </a:extLst>
          </p:cNvPr>
          <p:cNvCxnSpPr/>
          <p:nvPr/>
        </p:nvCxnSpPr>
        <p:spPr>
          <a:xfrm>
            <a:off x="6649563" y="5648660"/>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F1788084-64A4-A5C5-331A-22C861C987CE}"/>
              </a:ext>
            </a:extLst>
          </p:cNvPr>
          <p:cNvSpPr/>
          <p:nvPr/>
        </p:nvSpPr>
        <p:spPr bwMode="auto">
          <a:xfrm>
            <a:off x="6361234" y="371977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3" name="Oval 102">
            <a:extLst>
              <a:ext uri="{FF2B5EF4-FFF2-40B4-BE49-F238E27FC236}">
                <a16:creationId xmlns:a16="http://schemas.microsoft.com/office/drawing/2014/main" id="{FB950767-A6CA-48F5-95A5-006EBBD7E830}"/>
              </a:ext>
            </a:extLst>
          </p:cNvPr>
          <p:cNvSpPr/>
          <p:nvPr/>
        </p:nvSpPr>
        <p:spPr bwMode="auto">
          <a:xfrm>
            <a:off x="6361234" y="400597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4" name="Oval 103">
            <a:extLst>
              <a:ext uri="{FF2B5EF4-FFF2-40B4-BE49-F238E27FC236}">
                <a16:creationId xmlns:a16="http://schemas.microsoft.com/office/drawing/2014/main" id="{99B431F6-02C1-348D-1FEE-2908B06119A9}"/>
              </a:ext>
            </a:extLst>
          </p:cNvPr>
          <p:cNvSpPr/>
          <p:nvPr/>
        </p:nvSpPr>
        <p:spPr bwMode="auto">
          <a:xfrm>
            <a:off x="6361234" y="42921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5" name="Oval 104">
            <a:extLst>
              <a:ext uri="{FF2B5EF4-FFF2-40B4-BE49-F238E27FC236}">
                <a16:creationId xmlns:a16="http://schemas.microsoft.com/office/drawing/2014/main" id="{C6094450-844C-CCAA-6F53-9E5B33B9D77A}"/>
              </a:ext>
            </a:extLst>
          </p:cNvPr>
          <p:cNvSpPr/>
          <p:nvPr/>
        </p:nvSpPr>
        <p:spPr bwMode="auto">
          <a:xfrm>
            <a:off x="6361234" y="48645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6" name="Oval 105">
            <a:extLst>
              <a:ext uri="{FF2B5EF4-FFF2-40B4-BE49-F238E27FC236}">
                <a16:creationId xmlns:a16="http://schemas.microsoft.com/office/drawing/2014/main" id="{776D770E-82C6-035E-4AAB-ABAD3A3EDA02}"/>
              </a:ext>
            </a:extLst>
          </p:cNvPr>
          <p:cNvSpPr/>
          <p:nvPr/>
        </p:nvSpPr>
        <p:spPr bwMode="auto">
          <a:xfrm>
            <a:off x="6361234" y="51507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7" name="Oval 106">
            <a:extLst>
              <a:ext uri="{FF2B5EF4-FFF2-40B4-BE49-F238E27FC236}">
                <a16:creationId xmlns:a16="http://schemas.microsoft.com/office/drawing/2014/main" id="{1649C946-4467-5D6E-4DB4-7238DB61D0C9}"/>
              </a:ext>
            </a:extLst>
          </p:cNvPr>
          <p:cNvSpPr/>
          <p:nvPr/>
        </p:nvSpPr>
        <p:spPr bwMode="auto">
          <a:xfrm>
            <a:off x="6361234" y="543698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8" name="Oval 107">
            <a:extLst>
              <a:ext uri="{FF2B5EF4-FFF2-40B4-BE49-F238E27FC236}">
                <a16:creationId xmlns:a16="http://schemas.microsoft.com/office/drawing/2014/main" id="{CD5B1A67-3941-AB63-28D6-77AF12F6AAF3}"/>
              </a:ext>
            </a:extLst>
          </p:cNvPr>
          <p:cNvSpPr/>
          <p:nvPr/>
        </p:nvSpPr>
        <p:spPr bwMode="auto">
          <a:xfrm>
            <a:off x="6361234" y="572318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1" name="TextBox 110">
            <a:extLst>
              <a:ext uri="{FF2B5EF4-FFF2-40B4-BE49-F238E27FC236}">
                <a16:creationId xmlns:a16="http://schemas.microsoft.com/office/drawing/2014/main" id="{E9790E09-B3BC-A878-9701-B95EA6B25A86}"/>
              </a:ext>
            </a:extLst>
          </p:cNvPr>
          <p:cNvSpPr txBox="1"/>
          <p:nvPr/>
        </p:nvSpPr>
        <p:spPr>
          <a:xfrm>
            <a:off x="1044951" y="3337871"/>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HA/DR configuration &amp; setup for Azure PostgreSQL Flex</a:t>
            </a:r>
          </a:p>
        </p:txBody>
      </p:sp>
      <p:sp>
        <p:nvSpPr>
          <p:cNvPr id="113" name="TextBox 112">
            <a:extLst>
              <a:ext uri="{FF2B5EF4-FFF2-40B4-BE49-F238E27FC236}">
                <a16:creationId xmlns:a16="http://schemas.microsoft.com/office/drawing/2014/main" id="{BD932728-5AA7-5FE6-9D56-0EAF27BE196B}"/>
              </a:ext>
            </a:extLst>
          </p:cNvPr>
          <p:cNvSpPr txBox="1"/>
          <p:nvPr/>
        </p:nvSpPr>
        <p:spPr>
          <a:xfrm>
            <a:off x="1044951" y="3830015"/>
            <a:ext cx="4906333" cy="366767"/>
          </a:xfrm>
          <a:prstGeom prst="rect">
            <a:avLst/>
          </a:prstGeom>
          <a:noFill/>
        </p:spPr>
        <p:txBody>
          <a:bodyPr wrap="square" lIns="0" tIns="0" rIns="0" bIns="0">
            <a:noAutofit/>
          </a:bodyPr>
          <a:lstStyle/>
          <a:p>
            <a:pPr>
              <a:spcAft>
                <a:spcPts val="400"/>
              </a:spcAft>
            </a:pPr>
            <a:r>
              <a:rPr lang="en-US" sz="1050" noProof="0" dirty="0">
                <a:latin typeface="+mj-lt"/>
                <a:ea typeface="+mj-ea"/>
                <a:cs typeface="+mj-cs"/>
              </a:rPr>
              <a:t>Supported Sybase ASE Servers for Migration:</a:t>
            </a:r>
          </a:p>
          <a:p>
            <a:pPr marL="168275" lvl="1" indent="-114300">
              <a:spcAft>
                <a:spcPts val="600"/>
              </a:spcAft>
              <a:buFont typeface="Arial" panose="020B0604020202020204" pitchFamily="34" charset="0"/>
              <a:buChar char="•"/>
              <a:defRPr/>
            </a:pPr>
            <a:r>
              <a:rPr lang="en-US" sz="1000" kern="0" noProof="0" dirty="0"/>
              <a:t>SAP ASE 11.9.2 and above</a:t>
            </a:r>
          </a:p>
        </p:txBody>
      </p:sp>
      <p:cxnSp>
        <p:nvCxnSpPr>
          <p:cNvPr id="115" name="Straight Connector 114">
            <a:extLst>
              <a:ext uri="{FF2B5EF4-FFF2-40B4-BE49-F238E27FC236}">
                <a16:creationId xmlns:a16="http://schemas.microsoft.com/office/drawing/2014/main" id="{7AF27290-077E-1E98-A375-6B16E8A07D00}"/>
              </a:ext>
            </a:extLst>
          </p:cNvPr>
          <p:cNvCxnSpPr/>
          <p:nvPr/>
        </p:nvCxnSpPr>
        <p:spPr>
          <a:xfrm>
            <a:off x="1044951" y="3664734"/>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6" name="Oval 115">
            <a:extLst>
              <a:ext uri="{FF2B5EF4-FFF2-40B4-BE49-F238E27FC236}">
                <a16:creationId xmlns:a16="http://schemas.microsoft.com/office/drawing/2014/main" id="{E2C79446-EBB6-A288-A955-E87008854B01}"/>
              </a:ext>
            </a:extLst>
          </p:cNvPr>
          <p:cNvSpPr/>
          <p:nvPr/>
        </p:nvSpPr>
        <p:spPr bwMode="auto">
          <a:xfrm>
            <a:off x="775653" y="335008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8" name="Oval 117">
            <a:extLst>
              <a:ext uri="{FF2B5EF4-FFF2-40B4-BE49-F238E27FC236}">
                <a16:creationId xmlns:a16="http://schemas.microsoft.com/office/drawing/2014/main" id="{70E2D9FC-4D6B-DB0A-0BA7-5FCB0242F615}"/>
              </a:ext>
            </a:extLst>
          </p:cNvPr>
          <p:cNvSpPr/>
          <p:nvPr/>
        </p:nvSpPr>
        <p:spPr bwMode="auto">
          <a:xfrm>
            <a:off x="775653" y="38300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9" name="TextBox 118">
            <a:extLst>
              <a:ext uri="{FF2B5EF4-FFF2-40B4-BE49-F238E27FC236}">
                <a16:creationId xmlns:a16="http://schemas.microsoft.com/office/drawing/2014/main" id="{CFE54E3C-C3FC-AB34-1722-590B3D7995CA}"/>
              </a:ext>
            </a:extLst>
          </p:cNvPr>
          <p:cNvSpPr txBox="1"/>
          <p:nvPr/>
        </p:nvSpPr>
        <p:spPr>
          <a:xfrm>
            <a:off x="6649563" y="5997159"/>
            <a:ext cx="4906333" cy="161583"/>
          </a:xfrm>
          <a:prstGeom prst="rect">
            <a:avLst/>
          </a:prstGeom>
          <a:noFill/>
        </p:spPr>
        <p:txBody>
          <a:bodyPr wrap="square" lIns="0" tIns="0" rIns="0" bIns="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other migration path not listed in the Scope</a:t>
            </a:r>
          </a:p>
        </p:txBody>
      </p:sp>
      <p:sp>
        <p:nvSpPr>
          <p:cNvPr id="120" name="Oval 119">
            <a:extLst>
              <a:ext uri="{FF2B5EF4-FFF2-40B4-BE49-F238E27FC236}">
                <a16:creationId xmlns:a16="http://schemas.microsoft.com/office/drawing/2014/main" id="{5ADFC91C-9F13-A8E5-146D-531F1AD0CD70}"/>
              </a:ext>
            </a:extLst>
          </p:cNvPr>
          <p:cNvSpPr/>
          <p:nvPr/>
        </p:nvSpPr>
        <p:spPr bwMode="auto">
          <a:xfrm>
            <a:off x="6361234" y="600937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21" name="Straight Connector 120">
            <a:extLst>
              <a:ext uri="{FF2B5EF4-FFF2-40B4-BE49-F238E27FC236}">
                <a16:creationId xmlns:a16="http://schemas.microsoft.com/office/drawing/2014/main" id="{C763EE26-1E5D-910B-06F2-7BC0F178979E}"/>
              </a:ext>
            </a:extLst>
          </p:cNvPr>
          <p:cNvCxnSpPr/>
          <p:nvPr/>
        </p:nvCxnSpPr>
        <p:spPr>
          <a:xfrm>
            <a:off x="6649563" y="5934861"/>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CB82C8A1-21D3-4823-D290-74A572791FFA}"/>
              </a:ext>
            </a:extLst>
          </p:cNvPr>
          <p:cNvSpPr txBox="1"/>
          <p:nvPr/>
        </p:nvSpPr>
        <p:spPr>
          <a:xfrm>
            <a:off x="6649563" y="4852366"/>
            <a:ext cx="4906333" cy="161583"/>
          </a:xfrm>
          <a:prstGeom prst="rect">
            <a:avLst/>
          </a:prstGeom>
          <a:noFill/>
        </p:spPr>
        <p:txBody>
          <a:bodyPr wrap="square" lIns="0" tIns="0" rIns="0" bIns="0" anchor="t">
            <a:noAutofit/>
          </a:bodyPr>
          <a:lstStyle/>
          <a:p>
            <a:pPr marR="0" lvl="0" algn="l" defTabSz="914400" rtl="0" eaLnBrk="1" fontAlgn="auto" latinLnBrk="0" hangingPunct="1">
              <a:lnSpc>
                <a:spcPct val="100000"/>
              </a:lnSpc>
              <a:spcBef>
                <a:spcPts val="0"/>
              </a:spcBef>
              <a:spcAft>
                <a:spcPts val="0"/>
              </a:spcAft>
              <a:buClrTx/>
              <a:buSzTx/>
              <a:tabLst/>
              <a:defRPr/>
            </a:pPr>
            <a:r>
              <a:rPr kumimoji="0" lang="en-US" sz="1050" b="0" i="0" u="none" strike="noStrike" kern="0" cap="none" spc="0" normalizeH="0" baseline="0" noProof="0" dirty="0">
                <a:ln>
                  <a:noFill/>
                </a:ln>
                <a:solidFill>
                  <a:srgbClr val="000000"/>
                </a:solidFill>
                <a:effectLst/>
                <a:uLnTx/>
                <a:uFillTx/>
              </a:rPr>
              <a:t>Any target environment setup</a:t>
            </a:r>
          </a:p>
        </p:txBody>
      </p:sp>
      <p:cxnSp>
        <p:nvCxnSpPr>
          <p:cNvPr id="125" name="Straight Connector 124">
            <a:extLst>
              <a:ext uri="{FF2B5EF4-FFF2-40B4-BE49-F238E27FC236}">
                <a16:creationId xmlns:a16="http://schemas.microsoft.com/office/drawing/2014/main" id="{72A2B5C2-C592-8B44-F839-3A26E91445D1}"/>
              </a:ext>
            </a:extLst>
          </p:cNvPr>
          <p:cNvCxnSpPr/>
          <p:nvPr/>
        </p:nvCxnSpPr>
        <p:spPr>
          <a:xfrm>
            <a:off x="6649563" y="4790057"/>
            <a:ext cx="4906333"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4D13F498-137D-DF78-D287-2E2A02A9FA69}"/>
              </a:ext>
            </a:extLst>
          </p:cNvPr>
          <p:cNvSpPr/>
          <p:nvPr/>
        </p:nvSpPr>
        <p:spPr bwMode="auto">
          <a:xfrm>
            <a:off x="6361234" y="457837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2E30FA4-205A-C605-5007-46574F209708}"/>
              </a:ext>
            </a:extLst>
          </p:cNvPr>
          <p:cNvSpPr txBox="1">
            <a:spLocks/>
          </p:cNvSpPr>
          <p:nvPr/>
        </p:nvSpPr>
        <p:spPr>
          <a:xfrm>
            <a:off x="585787" y="1356831"/>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6" name="TextBox 5">
            <a:extLst>
              <a:ext uri="{FF2B5EF4-FFF2-40B4-BE49-F238E27FC236}">
                <a16:creationId xmlns:a16="http://schemas.microsoft.com/office/drawing/2014/main" id="{F1D1F92A-5E95-9747-394F-176F1534B266}"/>
              </a:ext>
            </a:extLst>
          </p:cNvPr>
          <p:cNvSpPr txBox="1">
            <a:spLocks/>
          </p:cNvSpPr>
          <p:nvPr/>
        </p:nvSpPr>
        <p:spPr>
          <a:xfrm>
            <a:off x="6153491" y="1344316"/>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3" name="TextBox 2">
            <a:extLst>
              <a:ext uri="{FF2B5EF4-FFF2-40B4-BE49-F238E27FC236}">
                <a16:creationId xmlns:a16="http://schemas.microsoft.com/office/drawing/2014/main" id="{3D314089-2075-1661-9E78-B8C6D0E33946}"/>
              </a:ext>
            </a:extLst>
          </p:cNvPr>
          <p:cNvSpPr txBox="1"/>
          <p:nvPr/>
        </p:nvSpPr>
        <p:spPr>
          <a:xfrm>
            <a:off x="6361234" y="1710675"/>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9" name="TextBox 8">
            <a:extLst>
              <a:ext uri="{FF2B5EF4-FFF2-40B4-BE49-F238E27FC236}">
                <a16:creationId xmlns:a16="http://schemas.microsoft.com/office/drawing/2014/main" id="{7D56264B-4236-5891-8F83-3DE9DEAEB22F}"/>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DF5689A3-FAE5-7541-8EC0-FF4B14AC48F7}"/>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1"/>
    </p:custDataLst>
    <p:extLst>
      <p:ext uri="{BB962C8B-B14F-4D97-AF65-F5344CB8AC3E}">
        <p14:creationId xmlns:p14="http://schemas.microsoft.com/office/powerpoint/2010/main" val="2169796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26626-E397-7661-8471-219C1EF90117}"/>
            </a:ext>
          </a:extLst>
        </p:cNvPr>
        <p:cNvGrpSpPr/>
        <p:nvPr/>
      </p:nvGrpSpPr>
      <p:grpSpPr>
        <a:xfrm>
          <a:off x="0" y="0"/>
          <a:ext cx="0" cy="0"/>
          <a:chOff x="0" y="0"/>
          <a:chExt cx="0" cy="0"/>
        </a:xfrm>
      </p:grpSpPr>
      <p:sp>
        <p:nvSpPr>
          <p:cNvPr id="17" name="Rounded Rectangle 55">
            <a:extLst>
              <a:ext uri="{FF2B5EF4-FFF2-40B4-BE49-F238E27FC236}">
                <a16:creationId xmlns:a16="http://schemas.microsoft.com/office/drawing/2014/main" id="{7528F074-CB8A-A938-CD6E-E7FF6DB72451}"/>
              </a:ext>
              <a:ext uri="{C183D7F6-B498-43B3-948B-1728B52AA6E4}">
                <adec:decorative xmlns:adec="http://schemas.microsoft.com/office/drawing/2017/decorative" val="1"/>
              </a:ext>
            </a:extLst>
          </p:cNvPr>
          <p:cNvSpPr/>
          <p:nvPr/>
        </p:nvSpPr>
        <p:spPr bwMode="auto">
          <a:xfrm>
            <a:off x="591721" y="1501277"/>
            <a:ext cx="2442013" cy="4899522"/>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9" name="Content Placeholder 4">
            <a:extLst>
              <a:ext uri="{FF2B5EF4-FFF2-40B4-BE49-F238E27FC236}">
                <a16:creationId xmlns:a16="http://schemas.microsoft.com/office/drawing/2014/main" id="{DD952C8F-AECA-1258-ED61-2D97FD914E4E}"/>
              </a:ext>
            </a:extLst>
          </p:cNvPr>
          <p:cNvSpPr txBox="1">
            <a:spLocks/>
          </p:cNvSpPr>
          <p:nvPr/>
        </p:nvSpPr>
        <p:spPr>
          <a:xfrm>
            <a:off x="584857" y="1894341"/>
            <a:ext cx="2448877" cy="1061829"/>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5425" lvl="0" indent="-225425" defTabSz="914400">
              <a:lnSpc>
                <a:spcPct val="100000"/>
              </a:lnSpc>
              <a:spcBef>
                <a:spcPts val="0"/>
              </a:spcBef>
              <a:spcAft>
                <a:spcPts val="600"/>
              </a:spcAft>
              <a:buSzTx/>
              <a:buFont typeface="Wingdings" panose="05000000000000000000" pitchFamily="2" charset="2"/>
              <a:buChar char="ü"/>
              <a:defRPr/>
            </a:pPr>
            <a:r>
              <a:rPr lang="en-US" sz="1100" noProof="0" dirty="0"/>
              <a:t>Oracle RDBMS/Sybase to Azure SQL DB/Azure SQL MI/SQL Server on Azure VM</a:t>
            </a:r>
          </a:p>
          <a:p>
            <a:pPr marL="225425" lvl="0" indent="-225425" defTabSz="914400">
              <a:lnSpc>
                <a:spcPct val="100000"/>
              </a:lnSpc>
              <a:spcBef>
                <a:spcPts val="0"/>
              </a:spcBef>
              <a:spcAft>
                <a:spcPts val="600"/>
              </a:spcAft>
              <a:buSzTx/>
              <a:buFont typeface="Wingdings" panose="05000000000000000000" pitchFamily="2" charset="2"/>
              <a:buChar char="ü"/>
              <a:defRPr/>
            </a:pPr>
            <a:r>
              <a:rPr lang="en-US" sz="1100" noProof="0" dirty="0"/>
              <a:t>Oracle RDBMS to Azure Database for PostgreSQL</a:t>
            </a:r>
          </a:p>
        </p:txBody>
      </p:sp>
      <p:sp>
        <p:nvSpPr>
          <p:cNvPr id="22" name="TextBox 21">
            <a:extLst>
              <a:ext uri="{FF2B5EF4-FFF2-40B4-BE49-F238E27FC236}">
                <a16:creationId xmlns:a16="http://schemas.microsoft.com/office/drawing/2014/main" id="{704AD5A9-DC8E-6346-36D8-7808A206681D}"/>
              </a:ext>
            </a:extLst>
          </p:cNvPr>
          <p:cNvSpPr txBox="1"/>
          <p:nvPr/>
        </p:nvSpPr>
        <p:spPr>
          <a:xfrm>
            <a:off x="3278642" y="1627363"/>
            <a:ext cx="8471174" cy="4629472"/>
          </a:xfrm>
          <a:prstGeom prst="rect">
            <a:avLst/>
          </a:prstGeom>
          <a:noFill/>
        </p:spPr>
        <p:txBody>
          <a:bodyPr wrap="square">
            <a:spAutoFit/>
          </a:bodyPr>
          <a:lstStyle/>
          <a:p>
            <a:pPr marL="225425" lvl="1" indent="-225425">
              <a:spcBef>
                <a:spcPts val="200"/>
              </a:spcBef>
              <a:spcAft>
                <a:spcPts val="200"/>
              </a:spcAft>
              <a:buFont typeface="+mj-lt"/>
              <a:buAutoNum type="arabicPeriod"/>
              <a:defRPr/>
            </a:pPr>
            <a:r>
              <a:rPr lang="en-US" sz="1100" kern="0" noProof="0" dirty="0">
                <a:solidFill>
                  <a:schemeClr val="tx2"/>
                </a:solidFill>
                <a:latin typeface="+mj-lt"/>
              </a:rPr>
              <a:t>Database Assessments (for all in-scope databases to be migrated):</a:t>
            </a:r>
          </a:p>
          <a:p>
            <a:pPr lvl="1" indent="-139700">
              <a:spcAft>
                <a:spcPts val="300"/>
              </a:spcAft>
              <a:buFont typeface="Arial" panose="020B0604020202020204" pitchFamily="34" charset="0"/>
              <a:buChar char="•"/>
              <a:defRPr/>
            </a:pPr>
            <a:r>
              <a:rPr lang="en-US" sz="900" kern="0" noProof="0" dirty="0"/>
              <a:t>Assessment performed through either through SSMA for Oracle/Sybase, Ora2PG, VS Code Extension and/or Scripts, High Availability (HA)/Disaster Recovery(DR) configuration &amp; setup as scoped.</a:t>
            </a:r>
          </a:p>
          <a:p>
            <a:pPr marL="225425" lvl="1" indent="-225425">
              <a:spcBef>
                <a:spcPts val="500"/>
              </a:spcBef>
              <a:spcAft>
                <a:spcPts val="200"/>
              </a:spcAft>
              <a:buFont typeface="+mj-lt"/>
              <a:buAutoNum type="arabicPeriod" startAt="2"/>
              <a:defRPr/>
            </a:pPr>
            <a:r>
              <a:rPr lang="en-US" sz="1100" kern="0" noProof="0" dirty="0">
                <a:solidFill>
                  <a:schemeClr val="tx2"/>
                </a:solidFill>
                <a:latin typeface="+mj-lt"/>
              </a:rPr>
              <a:t>Schema Conversion (for all in-scope databases to be migrated):</a:t>
            </a:r>
          </a:p>
          <a:p>
            <a:pPr lvl="1" indent="-144463">
              <a:spcAft>
                <a:spcPts val="500"/>
              </a:spcAft>
              <a:buFont typeface="Arial" panose="020B0604020202020204" pitchFamily="34" charset="0"/>
              <a:buChar char="•"/>
              <a:defRPr/>
            </a:pPr>
            <a:r>
              <a:rPr lang="en-US" sz="900" kern="0" noProof="0" dirty="0"/>
              <a:t>Support and guidance for schema conversion through SSMA for Oracle/Sybase, Ora2PG, PostgreSQL VS Code Extension</a:t>
            </a:r>
          </a:p>
          <a:p>
            <a:pPr marL="225425" marR="0" lvl="1" indent="-225425" fontAlgn="auto">
              <a:spcBef>
                <a:spcPts val="500"/>
              </a:spcBef>
              <a:spcAft>
                <a:spcPts val="200"/>
              </a:spcAft>
              <a:buClrTx/>
              <a:buSzTx/>
              <a:buFont typeface="+mj-lt"/>
              <a:buAutoNum type="arabicPeriod" startAt="3"/>
              <a:tabLst/>
              <a:defRPr/>
            </a:pPr>
            <a:r>
              <a:rPr lang="en-US" sz="1100" kern="0" noProof="0" dirty="0">
                <a:solidFill>
                  <a:schemeClr val="tx2"/>
                </a:solidFill>
                <a:latin typeface="+mj-lt"/>
              </a:rPr>
              <a:t>Azure SQL:</a:t>
            </a:r>
          </a:p>
          <a:p>
            <a:pPr marL="465138" lvl="1" indent="-152400">
              <a:spcAft>
                <a:spcPts val="600"/>
              </a:spcAft>
              <a:buFont typeface="Arial" panose="020B0604020202020204" pitchFamily="34" charset="0"/>
              <a:buChar char="•"/>
              <a:defRPr/>
            </a:pPr>
            <a:r>
              <a:rPr lang="en-US" sz="900" kern="0" noProof="0" dirty="0">
                <a:latin typeface="+mj-lt"/>
              </a:rPr>
              <a:t>On-Premises Oracle/Sybase to Azure SQL DB/Azure SQL MI/SQL Server on Azure VM </a:t>
            </a:r>
            <a:r>
              <a:rPr lang="en-US" sz="900" kern="0" noProof="0" dirty="0"/>
              <a:t>Migration of Oracle RDBMS/Sybase from on-premises environments to Azure SQL Database or Azure SQL Managed Instance (MI) or SQL Server on Azure VM.</a:t>
            </a:r>
          </a:p>
          <a:p>
            <a:pPr marL="465138" lvl="1" indent="-152400">
              <a:spcAft>
                <a:spcPts val="600"/>
              </a:spcAft>
              <a:buFont typeface="Arial" panose="020B0604020202020204" pitchFamily="34" charset="0"/>
              <a:buChar char="•"/>
              <a:defRPr/>
            </a:pPr>
            <a:r>
              <a:rPr lang="en-US" sz="900" kern="0" noProof="0" dirty="0">
                <a:latin typeface="+mj-lt"/>
              </a:rPr>
              <a:t>Oracle/Sybase on Azure VM to Azure SQL DB/Azure SQL MI/SQL Server on Azure VM </a:t>
            </a:r>
            <a:r>
              <a:rPr lang="en-US" sz="900" kern="0" noProof="0" dirty="0"/>
              <a:t>Migration of Oracle RDBMS from Azure VM to Azure SQL Database or Azure SQL Managed Instance (MI) or SQL Server on Azure VM.</a:t>
            </a:r>
          </a:p>
          <a:p>
            <a:pPr marL="465138" lvl="1" indent="-152400">
              <a:spcAft>
                <a:spcPts val="600"/>
              </a:spcAft>
              <a:buFont typeface="Arial" panose="020B0604020202020204" pitchFamily="34" charset="0"/>
              <a:buChar char="•"/>
              <a:defRPr/>
            </a:pPr>
            <a:r>
              <a:rPr lang="en-US" sz="900" kern="0" noProof="0" dirty="0">
                <a:latin typeface="+mj-lt"/>
              </a:rPr>
              <a:t>Oracle/Sybase on AWS (EC2, RDS) to Azure SQL DB/Azure SQL MI/SQL Server on Azure VM </a:t>
            </a:r>
            <a:r>
              <a:rPr lang="en-US" sz="900" kern="0" noProof="0" dirty="0"/>
              <a:t>Migration Oracle RDBMS instances hosted on AWS (EC2,RDS) to Azure SQL Database or Azure SQL Managed Instance (MI) or SQL Server on Azure VM.</a:t>
            </a:r>
          </a:p>
          <a:p>
            <a:pPr marL="465138" lvl="1" indent="-152400">
              <a:spcAft>
                <a:spcPts val="600"/>
              </a:spcAft>
              <a:buFont typeface="Arial" panose="020B0604020202020204" pitchFamily="34" charset="0"/>
              <a:buChar char="•"/>
              <a:defRPr/>
            </a:pPr>
            <a:r>
              <a:rPr lang="en-US" sz="900" kern="0" noProof="0" dirty="0">
                <a:latin typeface="+mj-lt"/>
              </a:rPr>
              <a:t>Oracle/Sybase on Google (</a:t>
            </a:r>
            <a:r>
              <a:rPr lang="en-US" sz="900" noProof="0" dirty="0">
                <a:latin typeface="+mj-lt"/>
              </a:rPr>
              <a:t>GCE ) </a:t>
            </a:r>
            <a:r>
              <a:rPr lang="en-US" sz="900" kern="0" noProof="0" dirty="0">
                <a:latin typeface="+mj-lt"/>
              </a:rPr>
              <a:t>to Azure SQL DB/Azure SQL MI/SQL Server on Azure VM </a:t>
            </a:r>
            <a:r>
              <a:rPr lang="en-US" sz="900" kern="0" noProof="0" dirty="0"/>
              <a:t>Migration Oracle RDBMS instances hosted on Google (</a:t>
            </a:r>
            <a:r>
              <a:rPr lang="en-US" sz="900" noProof="0" dirty="0"/>
              <a:t>GCE ) </a:t>
            </a:r>
            <a:r>
              <a:rPr lang="en-US" sz="900" kern="0" noProof="0" dirty="0"/>
              <a:t>to Azure SQL Database or Azure SQL Managed Instance (MI) or SQL Server on Azure VM.</a:t>
            </a:r>
          </a:p>
          <a:p>
            <a:pPr marL="465138" lvl="1" indent="-152400">
              <a:spcAft>
                <a:spcPts val="600"/>
              </a:spcAft>
              <a:buFont typeface="Arial" panose="020B0604020202020204" pitchFamily="34" charset="0"/>
              <a:buChar char="•"/>
              <a:defRPr/>
            </a:pPr>
            <a:r>
              <a:rPr lang="en-US" sz="900" kern="0" noProof="0" dirty="0">
                <a:latin typeface="+mj-lt"/>
              </a:rPr>
              <a:t>Oracle on Oracle Cloud to Azure SQL DB/Azure SQL MI/SQL Server on Azure VM </a:t>
            </a:r>
            <a:r>
              <a:rPr lang="en-US" sz="900" kern="0" noProof="0" dirty="0"/>
              <a:t>Migration Oracle RDBMS instances hosted on Oracle Cloud to Azure SQL Database or Azure SQL Managed Instance (MI) or SQL Server on Azure VM.</a:t>
            </a:r>
          </a:p>
          <a:p>
            <a:pPr marL="225425" lvl="1" indent="-225425">
              <a:spcBef>
                <a:spcPts val="500"/>
              </a:spcBef>
              <a:spcAft>
                <a:spcPts val="200"/>
              </a:spcAft>
              <a:buFont typeface="+mj-lt"/>
              <a:buAutoNum type="arabicPeriod" startAt="4"/>
              <a:defRPr/>
            </a:pPr>
            <a:r>
              <a:rPr lang="en-US" sz="1100" kern="0" noProof="0" dirty="0">
                <a:solidFill>
                  <a:schemeClr val="tx2"/>
                </a:solidFill>
                <a:latin typeface="+mj-lt"/>
              </a:rPr>
              <a:t>Azure Database for Postgres:</a:t>
            </a:r>
          </a:p>
          <a:p>
            <a:pPr lvl="1" indent="-136525">
              <a:spcAft>
                <a:spcPts val="600"/>
              </a:spcAft>
              <a:buFont typeface="Arial" panose="020B0604020202020204" pitchFamily="34" charset="0"/>
              <a:buChar char="•"/>
              <a:defRPr/>
            </a:pPr>
            <a:r>
              <a:rPr lang="en-US" sz="900" kern="0" noProof="0" dirty="0">
                <a:latin typeface="+mj-lt"/>
              </a:rPr>
              <a:t>On-Premises Oracle to Azure Database for PostgreSQL </a:t>
            </a:r>
            <a:r>
              <a:rPr lang="en-US" sz="900" kern="0" noProof="0" dirty="0"/>
              <a:t>Migration of Oracle RDBMS from on-premises environments to Azure Database for PostgreSQL.</a:t>
            </a:r>
          </a:p>
          <a:p>
            <a:pPr lvl="1" indent="-136525">
              <a:spcAft>
                <a:spcPts val="600"/>
              </a:spcAft>
              <a:buFont typeface="Arial" panose="020B0604020202020204" pitchFamily="34" charset="0"/>
              <a:buChar char="•"/>
              <a:defRPr/>
            </a:pPr>
            <a:r>
              <a:rPr lang="en-US" sz="900" kern="0" noProof="0" dirty="0">
                <a:latin typeface="+mj-lt"/>
              </a:rPr>
              <a:t>Oracle on Azure VM to Azure Database for PostgreSQL </a:t>
            </a:r>
            <a:r>
              <a:rPr lang="en-US" sz="900" kern="0" noProof="0" dirty="0"/>
              <a:t>Migration of Oracle RDBMS from Azure VM to Azure Database for PostgreSQL.</a:t>
            </a:r>
          </a:p>
          <a:p>
            <a:pPr lvl="1" indent="-136525">
              <a:spcAft>
                <a:spcPts val="600"/>
              </a:spcAft>
              <a:buFont typeface="Arial" panose="020B0604020202020204" pitchFamily="34" charset="0"/>
              <a:buChar char="•"/>
              <a:defRPr/>
            </a:pPr>
            <a:r>
              <a:rPr lang="en-US" sz="900" kern="0" noProof="0" dirty="0">
                <a:latin typeface="+mj-lt"/>
              </a:rPr>
              <a:t>Oracle on AWS (EC2, RDS) to Azure Database for PostgreSQL </a:t>
            </a:r>
            <a:r>
              <a:rPr lang="en-US" sz="900" kern="0" noProof="0" dirty="0"/>
              <a:t>Migration Oracle RDBMS instances hosted on AWS (EC2,RDS) to Azure Database for PostgreSQL.</a:t>
            </a:r>
          </a:p>
          <a:p>
            <a:pPr lvl="1" indent="-136525">
              <a:spcAft>
                <a:spcPts val="600"/>
              </a:spcAft>
              <a:buFont typeface="Arial" panose="020B0604020202020204" pitchFamily="34" charset="0"/>
              <a:buChar char="•"/>
              <a:defRPr/>
            </a:pPr>
            <a:r>
              <a:rPr lang="en-US" sz="900" kern="0" noProof="0" dirty="0">
                <a:latin typeface="+mj-lt"/>
              </a:rPr>
              <a:t>Oracle on Google (</a:t>
            </a:r>
            <a:r>
              <a:rPr lang="en-US" sz="900" noProof="0" dirty="0">
                <a:latin typeface="+mj-lt"/>
              </a:rPr>
              <a:t>GCE ) </a:t>
            </a:r>
            <a:r>
              <a:rPr lang="en-US" sz="900" kern="0" noProof="0" dirty="0">
                <a:latin typeface="+mj-lt"/>
              </a:rPr>
              <a:t>to Azure Database for PostgreSQL </a:t>
            </a:r>
            <a:r>
              <a:rPr lang="en-US" sz="900" kern="0" noProof="0" dirty="0"/>
              <a:t>Migration Oracle RDBMS instances hosted on Google (</a:t>
            </a:r>
            <a:r>
              <a:rPr lang="en-US" sz="900" noProof="0" dirty="0"/>
              <a:t>GCE ) </a:t>
            </a:r>
            <a:r>
              <a:rPr lang="en-US" sz="900" kern="0" noProof="0" dirty="0"/>
              <a:t>to Azure Database for PostgreSQL.</a:t>
            </a:r>
          </a:p>
          <a:p>
            <a:pPr lvl="1" indent="-136525">
              <a:spcAft>
                <a:spcPts val="600"/>
              </a:spcAft>
              <a:buFont typeface="Arial" panose="020B0604020202020204" pitchFamily="34" charset="0"/>
              <a:buChar char="•"/>
              <a:defRPr/>
            </a:pPr>
            <a:r>
              <a:rPr lang="en-US" sz="900" kern="0" noProof="0" dirty="0">
                <a:latin typeface="+mj-lt"/>
              </a:rPr>
              <a:t>Oracle on Oracle Cloud to Azure Database for PostgreSQL </a:t>
            </a:r>
            <a:r>
              <a:rPr lang="en-US" sz="900" kern="0" noProof="0" dirty="0"/>
              <a:t>Migration Oracle RDBMS instances hosted on Oracle Cloud to Azure Database for PostgreSQL.</a:t>
            </a:r>
            <a:endParaRPr lang="en-US" sz="1050" kern="0" noProof="0" dirty="0"/>
          </a:p>
        </p:txBody>
      </p:sp>
      <p:sp>
        <p:nvSpPr>
          <p:cNvPr id="2" name="TextBox 1">
            <a:extLst>
              <a:ext uri="{FF2B5EF4-FFF2-40B4-BE49-F238E27FC236}">
                <a16:creationId xmlns:a16="http://schemas.microsoft.com/office/drawing/2014/main" id="{B17E43CF-D1B8-AF87-B81E-09AB3C58DBFE}"/>
              </a:ext>
            </a:extLst>
          </p:cNvPr>
          <p:cNvSpPr txBox="1"/>
          <p:nvPr/>
        </p:nvSpPr>
        <p:spPr>
          <a:xfrm>
            <a:off x="654774" y="1564077"/>
            <a:ext cx="2309042" cy="34786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11" name="TextBox 10">
            <a:extLst>
              <a:ext uri="{FF2B5EF4-FFF2-40B4-BE49-F238E27FC236}">
                <a16:creationId xmlns:a16="http://schemas.microsoft.com/office/drawing/2014/main" id="{1E56E32B-87AA-54C7-4EC0-68AB89B20254}"/>
              </a:ext>
            </a:extLst>
          </p:cNvPr>
          <p:cNvSpPr txBox="1"/>
          <p:nvPr/>
        </p:nvSpPr>
        <p:spPr>
          <a:xfrm>
            <a:off x="584857" y="572683"/>
            <a:ext cx="10601952" cy="276999"/>
          </a:xfrm>
          <a:prstGeom prst="rect">
            <a:avLst/>
          </a:prstGeom>
          <a:noFill/>
        </p:spPr>
        <p:txBody>
          <a:bodyPr wrap="square" lIns="0" tIns="0" rIns="0" bIns="0" rtlCol="0">
            <a:spAutoFit/>
          </a:bodyPr>
          <a:lstStyle/>
          <a:p>
            <a:r>
              <a:rPr lang="en-US" b="1" noProof="0" dirty="0">
                <a:latin typeface="+mj-lt"/>
              </a:rPr>
              <a:t>Heterogeneous Database Modernization (Oracle, Sybase) using Agentic AI</a:t>
            </a:r>
          </a:p>
        </p:txBody>
      </p:sp>
      <p:sp>
        <p:nvSpPr>
          <p:cNvPr id="13" name="Title 12">
            <a:extLst>
              <a:ext uri="{FF2B5EF4-FFF2-40B4-BE49-F238E27FC236}">
                <a16:creationId xmlns:a16="http://schemas.microsoft.com/office/drawing/2014/main" id="{4C207F04-A8C2-A89D-2E76-8921AB86E7BA}"/>
              </a:ext>
            </a:extLst>
          </p:cNvPr>
          <p:cNvSpPr>
            <a:spLocks noGrp="1"/>
          </p:cNvSpPr>
          <p:nvPr>
            <p:ph type="title"/>
          </p:nvPr>
        </p:nvSpPr>
        <p:spPr>
          <a:xfrm>
            <a:off x="577993" y="218033"/>
            <a:ext cx="11018520" cy="353943"/>
          </a:xfrm>
        </p:spPr>
        <p:txBody>
          <a:bodyPr/>
          <a:lstStyle/>
          <a:p>
            <a:r>
              <a:rPr lang="en-US" sz="2300" spc="-150" noProof="0" dirty="0"/>
              <a:t>Key Deliverables</a:t>
            </a:r>
          </a:p>
        </p:txBody>
      </p:sp>
      <p:sp>
        <p:nvSpPr>
          <p:cNvPr id="15" name="Graphic 23">
            <a:extLst>
              <a:ext uri="{FF2B5EF4-FFF2-40B4-BE49-F238E27FC236}">
                <a16:creationId xmlns:a16="http://schemas.microsoft.com/office/drawing/2014/main" id="{8BC21091-D21A-10F3-D3BA-E4F28B74C2F4}"/>
              </a:ext>
              <a:ext uri="{C183D7F6-B498-43B3-948B-1728B52AA6E4}">
                <adec:decorative xmlns:adec="http://schemas.microsoft.com/office/drawing/2017/decorative" val="1"/>
              </a:ext>
            </a:extLst>
          </p:cNvPr>
          <p:cNvSpPr/>
          <p:nvPr/>
        </p:nvSpPr>
        <p:spPr>
          <a:xfrm>
            <a:off x="654774" y="1964892"/>
            <a:ext cx="190500" cy="20131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Graphic 23">
            <a:extLst>
              <a:ext uri="{FF2B5EF4-FFF2-40B4-BE49-F238E27FC236}">
                <a16:creationId xmlns:a16="http://schemas.microsoft.com/office/drawing/2014/main" id="{B727D5C9-F926-3B5A-82E1-63DBB87267C7}"/>
              </a:ext>
              <a:ext uri="{C183D7F6-B498-43B3-948B-1728B52AA6E4}">
                <adec:decorative xmlns:adec="http://schemas.microsoft.com/office/drawing/2017/decorative" val="1"/>
              </a:ext>
            </a:extLst>
          </p:cNvPr>
          <p:cNvSpPr/>
          <p:nvPr/>
        </p:nvSpPr>
        <p:spPr>
          <a:xfrm>
            <a:off x="654774" y="2552201"/>
            <a:ext cx="190500" cy="201310"/>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23" name="Group 22">
            <a:extLst>
              <a:ext uri="{FF2B5EF4-FFF2-40B4-BE49-F238E27FC236}">
                <a16:creationId xmlns:a16="http://schemas.microsoft.com/office/drawing/2014/main" id="{30B750BA-C260-9699-B3FE-2F70F0C0F347}"/>
              </a:ext>
              <a:ext uri="{C183D7F6-B498-43B3-948B-1728B52AA6E4}">
                <adec:decorative xmlns:adec="http://schemas.microsoft.com/office/drawing/2017/decorative" val="1"/>
              </a:ext>
            </a:extLst>
          </p:cNvPr>
          <p:cNvGrpSpPr/>
          <p:nvPr/>
        </p:nvGrpSpPr>
        <p:grpSpPr>
          <a:xfrm>
            <a:off x="3208724" y="1501277"/>
            <a:ext cx="8684962" cy="4899523"/>
            <a:chOff x="455996" y="1206500"/>
            <a:chExt cx="11306470" cy="5062538"/>
          </a:xfrm>
        </p:grpSpPr>
        <p:sp>
          <p:nvSpPr>
            <p:cNvPr id="24" name="Rectangle: Rounded Corners 23">
              <a:extLst>
                <a:ext uri="{FF2B5EF4-FFF2-40B4-BE49-F238E27FC236}">
                  <a16:creationId xmlns:a16="http://schemas.microsoft.com/office/drawing/2014/main" id="{E1B2D968-B548-8910-E188-14EF22042C57}"/>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5" name="Rectangle: Rounded Corners 24">
              <a:extLst>
                <a:ext uri="{FF2B5EF4-FFF2-40B4-BE49-F238E27FC236}">
                  <a16:creationId xmlns:a16="http://schemas.microsoft.com/office/drawing/2014/main" id="{6DFDAEA5-17F3-EC3B-6587-15EAF8082C7F}"/>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28" name="Arrow: Bent 27">
            <a:extLst>
              <a:ext uri="{FF2B5EF4-FFF2-40B4-BE49-F238E27FC236}">
                <a16:creationId xmlns:a16="http://schemas.microsoft.com/office/drawing/2014/main" id="{1157E406-3BBA-2F75-B712-19967B4BDF23}"/>
              </a:ext>
              <a:ext uri="{C183D7F6-B498-43B3-948B-1728B52AA6E4}">
                <adec:decorative xmlns:adec="http://schemas.microsoft.com/office/drawing/2017/decorative" val="1"/>
              </a:ext>
            </a:extLst>
          </p:cNvPr>
          <p:cNvSpPr>
            <a:spLocks/>
          </p:cNvSpPr>
          <p:nvPr/>
        </p:nvSpPr>
        <p:spPr bwMode="auto">
          <a:xfrm flipH="1">
            <a:off x="9951250" y="1501277"/>
            <a:ext cx="1942435" cy="2291830"/>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sp>
        <p:nvSpPr>
          <p:cNvPr id="3" name="TextBox 2">
            <a:extLst>
              <a:ext uri="{FF2B5EF4-FFF2-40B4-BE49-F238E27FC236}">
                <a16:creationId xmlns:a16="http://schemas.microsoft.com/office/drawing/2014/main" id="{6FE25786-81D7-6FA4-DDBC-8A16B2897ED7}"/>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1323003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12EC-1C02-4552-440B-D0BE4E847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D0DCF-524D-5EB6-7E96-259188431F4D}"/>
              </a:ext>
            </a:extLst>
          </p:cNvPr>
          <p:cNvSpPr>
            <a:spLocks noGrp="1"/>
          </p:cNvSpPr>
          <p:nvPr>
            <p:ph type="title"/>
          </p:nvPr>
        </p:nvSpPr>
        <p:spPr>
          <a:xfrm>
            <a:off x="585216" y="2362270"/>
            <a:ext cx="9144000" cy="1169551"/>
          </a:xfrm>
        </p:spPr>
        <p:txBody>
          <a:bodyPr/>
          <a:lstStyle/>
          <a:p>
            <a:r>
              <a:rPr lang="en-US"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3" name="TextBox 2">
            <a:extLst>
              <a:ext uri="{FF2B5EF4-FFF2-40B4-BE49-F238E27FC236}">
                <a16:creationId xmlns:a16="http://schemas.microsoft.com/office/drawing/2014/main" id="{4593737B-1629-9866-25C5-C359D6131DFB}"/>
              </a:ext>
            </a:extLst>
          </p:cNvPr>
          <p:cNvSpPr txBox="1"/>
          <p:nvPr/>
        </p:nvSpPr>
        <p:spPr>
          <a:xfrm>
            <a:off x="584200" y="4173052"/>
            <a:ext cx="3896360"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Enable Security, Resiliency &amp; Arc</a:t>
            </a:r>
          </a:p>
        </p:txBody>
      </p:sp>
      <p:sp>
        <p:nvSpPr>
          <p:cNvPr id="6" name="TextBox 5">
            <a:extLst>
              <a:ext uri="{FF2B5EF4-FFF2-40B4-BE49-F238E27FC236}">
                <a16:creationId xmlns:a16="http://schemas.microsoft.com/office/drawing/2014/main" id="{6DE1617D-7636-D07A-A8A7-965F1B0C6C5E}"/>
              </a:ext>
            </a:extLst>
          </p:cNvPr>
          <p:cNvSpPr txBox="1"/>
          <p:nvPr/>
        </p:nvSpPr>
        <p:spPr>
          <a:xfrm>
            <a:off x="9193695"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5" name="Image 10" descr="Home (outlined)">
            <a:hlinkClick r:id="rId3" action="ppaction://hlinksldjump" tooltip="Home"/>
            <a:extLst>
              <a:ext uri="{FF2B5EF4-FFF2-40B4-BE49-F238E27FC236}">
                <a16:creationId xmlns:a16="http://schemas.microsoft.com/office/drawing/2014/main" id="{54541FDD-C410-7055-8D8B-556EAECE871B}"/>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303874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6" presetClass="emph" presetSubtype="0" fill="hold" grpId="1" nodeType="withEffect">
                                  <p:stCondLst>
                                    <p:cond delay="0"/>
                                  </p:stCondLst>
                                  <p:childTnLst>
                                    <p:animScale>
                                      <p:cBhvr>
                                        <p:cTn id="16" dur="100" fill="hold"/>
                                        <p:tgtEl>
                                          <p:spTgt spid="6"/>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6" grpId="0" animBg="1"/>
      <p:bldP spid="6" grpId="1" animBg="1"/>
      <p:bldP spid="6" grpId="2"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190B4-1F86-F574-75B7-10EBD75928BA}"/>
            </a:ext>
          </a:extLst>
        </p:cNvPr>
        <p:cNvGrpSpPr/>
        <p:nvPr/>
      </p:nvGrpSpPr>
      <p:grpSpPr>
        <a:xfrm>
          <a:off x="0" y="0"/>
          <a:ext cx="0" cy="0"/>
          <a:chOff x="0" y="0"/>
          <a:chExt cx="0" cy="0"/>
        </a:xfrm>
      </p:grpSpPr>
      <p:sp>
        <p:nvSpPr>
          <p:cNvPr id="6" name="Rounded Rectangle 55">
            <a:extLst>
              <a:ext uri="{FF2B5EF4-FFF2-40B4-BE49-F238E27FC236}">
                <a16:creationId xmlns:a16="http://schemas.microsoft.com/office/drawing/2014/main" id="{3A913407-03A7-01D5-E866-05BCC53E437D}"/>
              </a:ext>
              <a:ext uri="{C183D7F6-B498-43B3-948B-1728B52AA6E4}">
                <adec:decorative xmlns:adec="http://schemas.microsoft.com/office/drawing/2017/decorative" val="1"/>
              </a:ext>
            </a:extLst>
          </p:cNvPr>
          <p:cNvSpPr/>
          <p:nvPr/>
        </p:nvSpPr>
        <p:spPr bwMode="auto">
          <a:xfrm>
            <a:off x="8398213" y="1303506"/>
            <a:ext cx="3268493" cy="5198894"/>
          </a:xfrm>
          <a:prstGeom prst="roundRect">
            <a:avLst>
              <a:gd name="adj" fmla="val 5071"/>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tIns="36576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4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5" name="Rounded Rectangle 55">
            <a:extLst>
              <a:ext uri="{FF2B5EF4-FFF2-40B4-BE49-F238E27FC236}">
                <a16:creationId xmlns:a16="http://schemas.microsoft.com/office/drawing/2014/main" id="{93BCC5C3-4B71-041A-F8E5-FD2F13CC4CE5}"/>
              </a:ext>
              <a:ext uri="{C183D7F6-B498-43B3-948B-1728B52AA6E4}">
                <adec:decorative xmlns:adec="http://schemas.microsoft.com/office/drawing/2017/decorative" val="1"/>
              </a:ext>
            </a:extLst>
          </p:cNvPr>
          <p:cNvSpPr/>
          <p:nvPr/>
        </p:nvSpPr>
        <p:spPr bwMode="auto">
          <a:xfrm>
            <a:off x="588962" y="1303506"/>
            <a:ext cx="7541577" cy="5218000"/>
          </a:xfrm>
          <a:prstGeom prst="roundRect">
            <a:avLst>
              <a:gd name="adj" fmla="val 2533"/>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tIns="36576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4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2" name="Title 1">
            <a:extLst>
              <a:ext uri="{FF2B5EF4-FFF2-40B4-BE49-F238E27FC236}">
                <a16:creationId xmlns:a16="http://schemas.microsoft.com/office/drawing/2014/main" id="{61F0813D-10E5-336C-82FF-08462C973360}"/>
              </a:ext>
            </a:extLst>
          </p:cNvPr>
          <p:cNvSpPr>
            <a:spLocks noGrp="1"/>
          </p:cNvSpPr>
          <p:nvPr>
            <p:ph type="title"/>
          </p:nvPr>
        </p:nvSpPr>
        <p:spPr>
          <a:xfrm>
            <a:off x="588263" y="457200"/>
            <a:ext cx="11018520" cy="738664"/>
          </a:xfrm>
        </p:spPr>
        <p:txBody>
          <a:bodyPr/>
          <a:lstStyle/>
          <a:p>
            <a:r>
              <a:rPr lang="en-US" sz="2400" noProof="0" dirty="0"/>
              <a:t>Secure Azure Cloud</a:t>
            </a:r>
            <a:br>
              <a:rPr lang="en-US" sz="2400" noProof="0" dirty="0"/>
            </a:br>
            <a:r>
              <a:rPr lang="en-US" sz="2400" noProof="0" dirty="0">
                <a:solidFill>
                  <a:schemeClr val="tx1"/>
                </a:solidFill>
              </a:rPr>
              <a:t>Microsoft Defender for Cloud</a:t>
            </a:r>
          </a:p>
        </p:txBody>
      </p:sp>
      <p:sp>
        <p:nvSpPr>
          <p:cNvPr id="5" name="Content Placeholder 4">
            <a:extLst>
              <a:ext uri="{FF2B5EF4-FFF2-40B4-BE49-F238E27FC236}">
                <a16:creationId xmlns:a16="http://schemas.microsoft.com/office/drawing/2014/main" id="{C8FF40C2-7A81-5719-A3F7-E1D24C6E0A6B}"/>
              </a:ext>
            </a:extLst>
          </p:cNvPr>
          <p:cNvSpPr>
            <a:spLocks noGrp="1"/>
          </p:cNvSpPr>
          <p:nvPr>
            <p:ph sz="quarter" idx="4294967295"/>
          </p:nvPr>
        </p:nvSpPr>
        <p:spPr>
          <a:xfrm>
            <a:off x="8598851" y="1720850"/>
            <a:ext cx="2855912" cy="4568825"/>
          </a:xfrm>
        </p:spPr>
        <p:txBody>
          <a:bodyPr vert="horz" wrap="square" lIns="91440" tIns="0" rIns="91440" bIns="0" rtlCol="0" anchor="t">
            <a:noAutofit/>
          </a:bodyPr>
          <a:lstStyle/>
          <a:p>
            <a:pPr marL="0" lvl="3" indent="0">
              <a:spcBef>
                <a:spcPts val="600"/>
              </a:spcBef>
              <a:spcAft>
                <a:spcPts val="600"/>
              </a:spcAft>
              <a:buNone/>
              <a:defRPr/>
            </a:pPr>
            <a:r>
              <a:rPr lang="en-US" b="1" noProof="0" dirty="0">
                <a:solidFill>
                  <a:schemeClr val="dk1"/>
                </a:solidFill>
              </a:rPr>
              <a:t>Requirements to leveraging </a:t>
            </a:r>
            <a:br>
              <a:rPr lang="en-US" b="1" noProof="0" dirty="0">
                <a:solidFill>
                  <a:schemeClr val="dk1"/>
                </a:solidFill>
              </a:rPr>
            </a:br>
            <a:r>
              <a:rPr lang="en-US" b="1" noProof="0" dirty="0">
                <a:solidFill>
                  <a:schemeClr val="dk1"/>
                </a:solidFill>
              </a:rPr>
              <a:t>this service:</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Customer must have an active Azure subscription with access to Microsoft Defender for Cloud </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Subscription Owner/Contributor access available for onboarding Defender for Cloud</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Microsoft Defender for Cloud enabled at subscription or management group level</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Required Defender plans identified (CSPM, Servers, SQL, Storage, Containers, App Services, etc..)</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Outbound connectivity to Defender for Cloud and Log Analytics endpoints permitted</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Policy &amp; Security Baseline Alignment</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Microsoft Sentinel or third-party SIEM integration requirements identified</a:t>
            </a:r>
          </a:p>
        </p:txBody>
      </p:sp>
      <p:graphicFrame>
        <p:nvGraphicFramePr>
          <p:cNvPr id="3" name="Table 2" title="Exchange Online Technet Guidance">
            <a:extLst>
              <a:ext uri="{FF2B5EF4-FFF2-40B4-BE49-F238E27FC236}">
                <a16:creationId xmlns:a16="http://schemas.microsoft.com/office/drawing/2014/main" id="{86A3D10C-E946-1018-D3A8-F839838EF970}"/>
              </a:ext>
            </a:extLst>
          </p:cNvPr>
          <p:cNvGraphicFramePr>
            <a:graphicFrameLocks noGrp="1"/>
          </p:cNvGraphicFramePr>
          <p:nvPr>
            <p:extLst>
              <p:ext uri="{D42A27DB-BD31-4B8C-83A1-F6EECF244321}">
                <p14:modId xmlns:p14="http://schemas.microsoft.com/office/powerpoint/2010/main" val="52292847"/>
              </p:ext>
            </p:extLst>
          </p:nvPr>
        </p:nvGraphicFramePr>
        <p:xfrm>
          <a:off x="723929" y="1716307"/>
          <a:ext cx="7271629" cy="4838120"/>
        </p:xfrm>
        <a:graphic>
          <a:graphicData uri="http://schemas.openxmlformats.org/drawingml/2006/table">
            <a:tbl>
              <a:tblPr firstRow="1" bandRow="1">
                <a:tableStyleId>{5C22544A-7EE6-4342-B048-85BDC9FD1C3A}</a:tableStyleId>
              </a:tblPr>
              <a:tblGrid>
                <a:gridCol w="304988">
                  <a:extLst>
                    <a:ext uri="{9D8B030D-6E8A-4147-A177-3AD203B41FA5}">
                      <a16:colId xmlns:a16="http://schemas.microsoft.com/office/drawing/2014/main" val="920430407"/>
                    </a:ext>
                  </a:extLst>
                </a:gridCol>
                <a:gridCol w="6966641">
                  <a:extLst>
                    <a:ext uri="{9D8B030D-6E8A-4147-A177-3AD203B41FA5}">
                      <a16:colId xmlns:a16="http://schemas.microsoft.com/office/drawing/2014/main" val="125040094"/>
                    </a:ext>
                  </a:extLst>
                </a:gridCol>
              </a:tblGrid>
              <a:tr h="415544">
                <a:tc gridSpan="2">
                  <a:txBody>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mn-lt"/>
                          <a:ea typeface="+mn-ea"/>
                          <a:cs typeface="+mn-cs"/>
                        </a:rPr>
                        <a:t>Microsoft Cloud Accelerate Factory (Factory) </a:t>
                      </a:r>
                      <a:r>
                        <a:rPr kumimoji="0" lang="en-US" sz="1000" b="0" i="0" u="none" strike="noStrike" kern="1200" cap="none" spc="0" normalizeH="0" baseline="0" noProof="0" dirty="0">
                          <a:ln>
                            <a:noFill/>
                          </a:ln>
                          <a:solidFill>
                            <a:srgbClr val="000000"/>
                          </a:solidFill>
                          <a:effectLst/>
                          <a:uLnTx/>
                          <a:uFillTx/>
                          <a:latin typeface="+mn-lt"/>
                          <a:ea typeface="+mn-ea"/>
                          <a:cs typeface="+mn-cs"/>
                        </a:rPr>
                        <a:t>deployment of Microsoft Defender for Cloud, which is a tool that </a:t>
                      </a:r>
                      <a:r>
                        <a:rPr lang="en-US" sz="1000" b="0" noProof="0" dirty="0">
                          <a:solidFill>
                            <a:srgbClr val="000000"/>
                          </a:solidFill>
                          <a:latin typeface="+mn-lt"/>
                        </a:rPr>
                        <a:t>strengthens your Cloud Security Posture Management (</a:t>
                      </a:r>
                      <a:r>
                        <a:rPr lang="en-US" sz="1000" b="1" noProof="0" dirty="0">
                          <a:solidFill>
                            <a:srgbClr val="000000"/>
                          </a:solidFill>
                          <a:latin typeface="+mn-lt"/>
                        </a:rPr>
                        <a:t>CSPM</a:t>
                      </a:r>
                      <a:r>
                        <a:rPr lang="en-US" sz="1000" b="0" noProof="0" dirty="0">
                          <a:solidFill>
                            <a:srgbClr val="000000"/>
                          </a:solidFill>
                          <a:latin typeface="+mn-lt"/>
                        </a:rPr>
                        <a:t>) and Cloud Workload Protection (</a:t>
                      </a:r>
                      <a:r>
                        <a:rPr lang="en-US" sz="1000" b="1" noProof="0" dirty="0">
                          <a:solidFill>
                            <a:srgbClr val="000000"/>
                          </a:solidFill>
                          <a:latin typeface="+mn-lt"/>
                        </a:rPr>
                        <a:t>CWP</a:t>
                      </a:r>
                      <a:r>
                        <a:rPr lang="en-US" sz="1000" b="0" noProof="0" dirty="0">
                          <a:solidFill>
                            <a:srgbClr val="000000"/>
                          </a:solidFill>
                          <a:latin typeface="+mn-lt"/>
                        </a:rPr>
                        <a:t>).</a:t>
                      </a:r>
                    </a:p>
                    <a:p>
                      <a:pPr marL="174625" marR="0" lvl="1"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CSPM provides detailed visibility into the security state of your assets and workloads and provides hardening guidance to help you efficiently and effectively improve your security posture</a:t>
                      </a:r>
                    </a:p>
                    <a:p>
                      <a:pPr marL="174625" marR="0" lvl="1"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CWP gives specific protection for your resources such as VMs, cloud storage, databases, security keys, containers, etc..</a:t>
                      </a:r>
                      <a:endParaRPr lang="en-US" sz="1000" b="0" noProof="0" dirty="0">
                        <a:solidFill>
                          <a:srgbClr val="000000"/>
                        </a:solidFill>
                        <a:latin typeface="+mn-lt"/>
                      </a:endParaRP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370840">
                <a:tc>
                  <a:txBody>
                    <a:bodyPr/>
                    <a:lstStyle/>
                    <a:p>
                      <a:pPr algn="l"/>
                      <a:r>
                        <a:rPr lang="en-US" sz="1050" b="1" noProof="0" dirty="0">
                          <a:solidFill>
                            <a:srgbClr val="0078D7"/>
                          </a:solidFill>
                          <a:latin typeface="+mj-lt"/>
                        </a:rPr>
                        <a:t>1</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00" b="1" noProof="0" dirty="0">
                          <a:solidFill>
                            <a:srgbClr val="000000"/>
                          </a:solidFill>
                          <a:latin typeface="+mn-lt"/>
                        </a:rPr>
                        <a:t>Enable CSPM through Azure portal </a:t>
                      </a:r>
                      <a:r>
                        <a:rPr lang="en-US" sz="1000" b="0" noProof="0" dirty="0">
                          <a:solidFill>
                            <a:srgbClr val="000000"/>
                          </a:solidFill>
                          <a:latin typeface="+mn-lt"/>
                        </a:rPr>
                        <a:t>on the selected subscription &amp; Align with Microsoft security baseline</a:t>
                      </a:r>
                      <a:endParaRPr lang="en-US" sz="1000" noProof="0" dirty="0">
                        <a:solidFill>
                          <a:srgbClr val="000000"/>
                        </a:solidFill>
                        <a:latin typeface="+mn-lt"/>
                      </a:endParaRP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370840">
                <a:tc>
                  <a:txBody>
                    <a:bodyPr/>
                    <a:lstStyle/>
                    <a:p>
                      <a:pPr algn="l"/>
                      <a:r>
                        <a:rPr lang="en-US" sz="1050" b="1" noProof="0" dirty="0">
                          <a:solidFill>
                            <a:srgbClr val="0078D7"/>
                          </a:solidFill>
                          <a:latin typeface="+mj-lt"/>
                        </a:rPr>
                        <a:t>2</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600"/>
                        </a:spcAft>
                        <a:buFont typeface="Arial" panose="020B0604020202020204" pitchFamily="34" charset="0"/>
                        <a:buNone/>
                      </a:pPr>
                      <a:r>
                        <a:rPr lang="en-US" sz="1000" b="1" noProof="0" dirty="0">
                          <a:solidFill>
                            <a:srgbClr val="000000"/>
                          </a:solidFill>
                          <a:latin typeface="+mn-lt"/>
                        </a:rPr>
                        <a:t>Enable</a:t>
                      </a:r>
                      <a:r>
                        <a:rPr lang="en-US" sz="1000" b="1" i="0" u="none" strike="noStrike" kern="1200" noProof="0" dirty="0">
                          <a:solidFill>
                            <a:schemeClr val="dk1"/>
                          </a:solidFill>
                          <a:effectLst/>
                          <a:latin typeface="+mn-lt"/>
                          <a:ea typeface="+mn-ea"/>
                          <a:cs typeface="+mn-cs"/>
                        </a:rPr>
                        <a:t> Defender Plans (CWP) </a:t>
                      </a:r>
                      <a:r>
                        <a:rPr lang="en-US" sz="1000" b="0" i="0" u="none" strike="noStrike" kern="1200" noProof="0" dirty="0">
                          <a:solidFill>
                            <a:schemeClr val="dk1"/>
                          </a:solidFill>
                          <a:effectLst/>
                          <a:latin typeface="+mn-lt"/>
                          <a:ea typeface="+mn-ea"/>
                          <a:cs typeface="+mn-cs"/>
                        </a:rPr>
                        <a:t>(choose multiple) through Azure Portal on the selected subscription</a:t>
                      </a:r>
                    </a:p>
                    <a:p>
                      <a:pPr marL="0" marR="0" lvl="0" indent="0" algn="l" rtl="0" eaLnBrk="1" fontAlgn="auto" latinLnBrk="0" hangingPunct="1">
                        <a:lnSpc>
                          <a:spcPct val="100000"/>
                        </a:lnSpc>
                        <a:spcBef>
                          <a:spcPts val="0"/>
                        </a:spcBef>
                        <a:spcAft>
                          <a:spcPts val="600"/>
                        </a:spcAft>
                        <a:buFont typeface="Arial" panose="020B0604020202020204" pitchFamily="34" charset="0"/>
                        <a:buNone/>
                      </a:pPr>
                      <a:r>
                        <a:rPr lang="en-US" sz="1000" b="0" i="0" u="none" strike="noStrike" kern="1200" noProof="0" dirty="0">
                          <a:solidFill>
                            <a:schemeClr val="dk1"/>
                          </a:solidFill>
                          <a:effectLst/>
                          <a:latin typeface="+mn-lt"/>
                          <a:ea typeface="+mn-ea"/>
                          <a:cs typeface="+mn-cs"/>
                        </a:rPr>
                        <a:t>Enable required workload protection plans (Servers, App Service, Database (SQL, OSSDB, Cosmos), Storage, Containers, AI Services, Key Vault, APIs)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370840">
                <a:tc>
                  <a:txBody>
                    <a:bodyPr/>
                    <a:lstStyle/>
                    <a:p>
                      <a:pPr algn="l"/>
                      <a:r>
                        <a:rPr lang="en-US" sz="1050" b="1" kern="1200" noProof="0" dirty="0">
                          <a:solidFill>
                            <a:srgbClr val="0078D7"/>
                          </a:solidFill>
                          <a:latin typeface="+mj-lt"/>
                          <a:ea typeface="+mn-ea"/>
                          <a:cs typeface="+mn-cs"/>
                        </a:rPr>
                        <a:t>3</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rtl="0" eaLnBrk="1" fontAlgn="auto" latinLnBrk="0" hangingPunct="1">
                        <a:lnSpc>
                          <a:spcPct val="100000"/>
                        </a:lnSpc>
                        <a:spcBef>
                          <a:spcPts val="0"/>
                        </a:spcBef>
                        <a:spcAft>
                          <a:spcPts val="0"/>
                        </a:spcAft>
                        <a:buFont typeface="Arial" panose="020B0604020202020204" pitchFamily="34" charset="0"/>
                        <a:buNone/>
                      </a:pPr>
                      <a:r>
                        <a:rPr lang="en-US" sz="1000" b="1" i="0" u="none" strike="noStrike" kern="1200" noProof="0" dirty="0">
                          <a:solidFill>
                            <a:schemeClr val="dk1"/>
                          </a:solidFill>
                          <a:effectLst/>
                          <a:latin typeface="+mn-lt"/>
                          <a:ea typeface="+mn-ea"/>
                          <a:cs typeface="+mn-cs"/>
                        </a:rPr>
                        <a:t>Validate Defender extensions</a:t>
                      </a:r>
                      <a:r>
                        <a:rPr lang="en-US" sz="1000" b="0" i="0" u="none" strike="noStrike" kern="1200" noProof="0" dirty="0">
                          <a:solidFill>
                            <a:schemeClr val="dk1"/>
                          </a:solidFill>
                          <a:effectLst/>
                          <a:latin typeface="+mn-lt"/>
                          <a:ea typeface="+mn-ea"/>
                          <a:cs typeface="+mn-cs"/>
                        </a:rPr>
                        <a:t> in Azure portal (Microsoft Defender Endpoint, Defender for SQL, Azure Monitoring Agent, SQL IaaS)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8940132"/>
                  </a:ext>
                </a:extLst>
              </a:tr>
              <a:tr h="370840">
                <a:tc>
                  <a:txBody>
                    <a:bodyPr/>
                    <a:lstStyle/>
                    <a:p>
                      <a:pPr algn="l"/>
                      <a:r>
                        <a:rPr lang="en-US" sz="1050" b="1" kern="1200" noProof="0" dirty="0">
                          <a:solidFill>
                            <a:srgbClr val="0078D7"/>
                          </a:solidFill>
                          <a:latin typeface="+mj-lt"/>
                          <a:ea typeface="+mn-ea"/>
                          <a:cs typeface="+mn-cs"/>
                        </a:rPr>
                        <a:t>4</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rtl="0" eaLnBrk="1" fontAlgn="auto" latinLnBrk="0" hangingPunct="1">
                        <a:lnSpc>
                          <a:spcPct val="100000"/>
                        </a:lnSpc>
                        <a:spcBef>
                          <a:spcPts val="0"/>
                        </a:spcBef>
                        <a:spcAft>
                          <a:spcPts val="0"/>
                        </a:spcAft>
                        <a:buFont typeface="Arial" panose="020B0604020202020204" pitchFamily="34" charset="0"/>
                        <a:buNone/>
                      </a:pPr>
                      <a:r>
                        <a:rPr lang="en-US" sz="1000" b="1" i="0" u="none" strike="noStrike" kern="1200" noProof="0" dirty="0">
                          <a:solidFill>
                            <a:schemeClr val="dk1"/>
                          </a:solidFill>
                          <a:effectLst/>
                          <a:latin typeface="+mn-lt"/>
                          <a:ea typeface="+mn-ea"/>
                          <a:cs typeface="+mn-cs"/>
                        </a:rPr>
                        <a:t>Configure Security policies and recommendations </a:t>
                      </a:r>
                      <a:r>
                        <a:rPr lang="en-US" sz="1000" b="0" i="0" u="none" strike="noStrike" kern="1200" noProof="0" dirty="0">
                          <a:solidFill>
                            <a:schemeClr val="dk1"/>
                          </a:solidFill>
                          <a:effectLst/>
                          <a:latin typeface="+mn-lt"/>
                          <a:ea typeface="+mn-ea"/>
                          <a:cs typeface="+mn-cs"/>
                        </a:rPr>
                        <a:t>Assign built‑in security initiatives and regulatory standards (as applicable), Configure policy scope (Audit vs Enforce) based on agreed model</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360248"/>
                  </a:ext>
                </a:extLst>
              </a:tr>
              <a:tr h="370840">
                <a:tc>
                  <a:txBody>
                    <a:bodyPr/>
                    <a:lstStyle/>
                    <a:p>
                      <a:pPr marL="0" algn="l" defTabSz="932742" rtl="0" eaLnBrk="1" latinLnBrk="0" hangingPunct="1"/>
                      <a:r>
                        <a:rPr lang="en-US" sz="1050" b="1" kern="1200" noProof="0" dirty="0">
                          <a:solidFill>
                            <a:srgbClr val="0078D7"/>
                          </a:solidFill>
                          <a:latin typeface="+mj-lt"/>
                          <a:ea typeface="+mn-ea"/>
                          <a:cs typeface="+mn-cs"/>
                        </a:rPr>
                        <a:t>5</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i="0" u="none" strike="noStrike" kern="1200" noProof="0" dirty="0">
                          <a:solidFill>
                            <a:schemeClr val="dk1"/>
                          </a:solidFill>
                          <a:effectLst/>
                          <a:latin typeface="+mn-lt"/>
                          <a:ea typeface="+mn-ea"/>
                          <a:cs typeface="+mn-cs"/>
                        </a:rPr>
                        <a:t>Validate data collection, visibility, and security integration</a:t>
                      </a:r>
                    </a:p>
                    <a:p>
                      <a:r>
                        <a:rPr lang="en-US" sz="1000" b="0" i="0" u="none" strike="noStrike" kern="1200" noProof="0" dirty="0">
                          <a:solidFill>
                            <a:schemeClr val="dk1"/>
                          </a:solidFill>
                          <a:effectLst/>
                          <a:latin typeface="+mn-lt"/>
                          <a:ea typeface="+mn-ea"/>
                          <a:cs typeface="+mn-cs"/>
                        </a:rPr>
                        <a:t>Confirm Log Analytics data flow, validate Secure Score, recommendations and inventory visibility in the Defender portal</a:t>
                      </a:r>
                    </a:p>
                    <a:p>
                      <a:r>
                        <a:rPr lang="en-US" sz="1000" b="0" i="0" u="none" strike="noStrike" kern="1200" noProof="0" dirty="0">
                          <a:solidFill>
                            <a:schemeClr val="dk1"/>
                          </a:solidFill>
                          <a:effectLst/>
                          <a:latin typeface="+mn-lt"/>
                          <a:ea typeface="+mn-ea"/>
                          <a:cs typeface="+mn-cs"/>
                        </a:rPr>
                        <a:t>Verify Microsoft Defender XDR integration; and identify Sentinel or third‑party SIEM handoff requirements (no custom SOC tuning).</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4852075"/>
                  </a:ext>
                </a:extLst>
              </a:tr>
              <a:tr h="370840">
                <a:tc>
                  <a:txBody>
                    <a:bodyPr/>
                    <a:lstStyle/>
                    <a:p>
                      <a:pPr marL="0" algn="l" defTabSz="932742" rtl="0" eaLnBrk="1" latinLnBrk="0" hangingPunct="1"/>
                      <a:r>
                        <a:rPr lang="en-US" sz="1050" b="1" kern="1200" noProof="0" dirty="0">
                          <a:solidFill>
                            <a:srgbClr val="0078D7"/>
                          </a:solidFill>
                          <a:latin typeface="+mj-lt"/>
                          <a:ea typeface="+mn-ea"/>
                          <a:cs typeface="+mn-cs"/>
                        </a:rPr>
                        <a:t>6</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just" rtl="0" eaLnBrk="1" fontAlgn="auto" latinLnBrk="0" hangingPunct="1">
                        <a:lnSpc>
                          <a:spcPct val="100000"/>
                        </a:lnSpc>
                        <a:spcBef>
                          <a:spcPts val="0"/>
                        </a:spcBef>
                        <a:spcAft>
                          <a:spcPts val="0"/>
                        </a:spcAft>
                        <a:buFont typeface="Arial" panose="020B0604020202020204" pitchFamily="34" charset="0"/>
                        <a:buNone/>
                      </a:pPr>
                      <a:r>
                        <a:rPr lang="en-US" sz="1000" b="1" i="0" noProof="0" dirty="0">
                          <a:solidFill>
                            <a:srgbClr val="1A1A1A"/>
                          </a:solidFill>
                          <a:effectLst/>
                          <a:latin typeface="Segoe UI" panose="020B0502040204020203" pitchFamily="34" charset="0"/>
                        </a:rPr>
                        <a:t>Hand over </a:t>
                      </a:r>
                      <a:r>
                        <a:rPr lang="en-US" sz="1000" b="0" i="0" noProof="0" dirty="0">
                          <a:solidFill>
                            <a:srgbClr val="1A1A1A"/>
                          </a:solidFill>
                          <a:effectLst/>
                          <a:latin typeface="Segoe UI" panose="020B0502040204020203" pitchFamily="34" charset="0"/>
                        </a:rPr>
                        <a:t>for post-migration activities​</a:t>
                      </a:r>
                      <a:endParaRPr lang="en-US" sz="1000" b="0" i="0" u="none" strike="noStrike" kern="1200" noProof="0" dirty="0">
                        <a:solidFill>
                          <a:schemeClr val="dk1"/>
                        </a:solidFill>
                        <a:effectLst/>
                        <a:latin typeface="+mn-lt"/>
                        <a:ea typeface="+mn-ea"/>
                        <a:cs typeface="+mn-cs"/>
                      </a:endParaRP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1318269"/>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a:t>
                      </a:r>
                      <a:br>
                        <a:rPr kumimoji="0" lang="en-US" sz="800" b="0" i="0" u="none" strike="noStrike" kern="1200" cap="none" spc="0" normalizeH="0" baseline="0" noProof="0" dirty="0">
                          <a:ln>
                            <a:noFill/>
                          </a:ln>
                          <a:solidFill>
                            <a:srgbClr val="000000"/>
                          </a:solidFill>
                          <a:effectLst/>
                          <a:uLnTx/>
                          <a:uFillTx/>
                          <a:latin typeface="+mn-lt"/>
                          <a:ea typeface="+mn-ea"/>
                          <a:cs typeface="+mn-cs"/>
                        </a:rPr>
                      </a:br>
                      <a:r>
                        <a:rPr kumimoji="0" lang="en-US" sz="800" b="0" i="0" u="none" strike="noStrike" kern="1200" cap="none" spc="0" normalizeH="0" baseline="0" noProof="0" dirty="0">
                          <a:ln>
                            <a:noFill/>
                          </a:ln>
                          <a:solidFill>
                            <a:srgbClr val="000000"/>
                          </a:solidFill>
                          <a:effectLst/>
                          <a:uLnTx/>
                          <a:uFillTx/>
                          <a:latin typeface="+mn-lt"/>
                          <a:ea typeface="+mn-ea"/>
                          <a:cs typeface="+mn-cs"/>
                        </a:rPr>
                        <a:t>providing overall project management; coordinating and </a:t>
                      </a:r>
                      <a:r>
                        <a:rPr kumimoji="0" lang="en-US" sz="800" b="0" i="0" u="none" strike="noStrike" kern="1200" cap="none" spc="0" normalizeH="0" baseline="0" noProof="0" dirty="0">
                          <a:ln>
                            <a:noFill/>
                          </a:ln>
                          <a:solidFill>
                            <a:srgbClr val="282828"/>
                          </a:solidFill>
                          <a:effectLst/>
                          <a:uLnTx/>
                          <a:uFillTx/>
                          <a:latin typeface="+mn-lt"/>
                          <a:ea typeface="+mn-ea"/>
                          <a:cs typeface="Segoe Sans Text" pitchFamily="2" charset="0"/>
                        </a:rPr>
                        <a:t>attending checkpoint meetings; and implementing user communications, documentation, training, and change management. </a:t>
                      </a: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txBody>
                  <a:tcPr marL="64008" marR="64008" marT="64008" marB="64008">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3999" marR="63999" marT="63999" marB="63999">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321979"/>
                  </a:ext>
                </a:extLst>
              </a:tr>
              <a:tr h="370840">
                <a:tc gridSpan="2">
                  <a:txBody>
                    <a:bodyPr/>
                    <a:lstStyle/>
                    <a:p>
                      <a:pPr lvl="0" algn="l">
                        <a:lnSpc>
                          <a:spcPct val="100000"/>
                        </a:lnSpc>
                        <a:spcBef>
                          <a:spcPts val="0"/>
                        </a:spcBef>
                        <a:spcAft>
                          <a:spcPts val="0"/>
                        </a:spcAft>
                        <a:buNone/>
                      </a:pPr>
                      <a:r>
                        <a:rPr lang="en-US" sz="800" b="0" i="0" u="none" strike="noStrike" kern="1200" cap="none" spc="0" normalizeH="0" baseline="0" noProof="0" dirty="0">
                          <a:ln>
                            <a:noFill/>
                          </a:ln>
                          <a:solidFill>
                            <a:srgbClr val="000000"/>
                          </a:solidFill>
                          <a:effectLst/>
                          <a:uLnTx/>
                          <a:uFillTx/>
                          <a:latin typeface="+mn-lt"/>
                        </a:rPr>
                        <a:t>Estimated duration for completing all activities in a typical engagement is within three weeks when all the requirements are met, and customer and partner are ready for execution</a:t>
                      </a: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10" name="TextBox 9">
            <a:extLst>
              <a:ext uri="{FF2B5EF4-FFF2-40B4-BE49-F238E27FC236}">
                <a16:creationId xmlns:a16="http://schemas.microsoft.com/office/drawing/2014/main" id="{0CB9F93B-9003-E3C1-D8D4-A7065970ABE6}"/>
              </a:ext>
            </a:extLst>
          </p:cNvPr>
          <p:cNvSpPr txBox="1"/>
          <p:nvPr/>
        </p:nvSpPr>
        <p:spPr>
          <a:xfrm>
            <a:off x="642026" y="1361851"/>
            <a:ext cx="7431931"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16" name="TextBox 15">
            <a:extLst>
              <a:ext uri="{FF2B5EF4-FFF2-40B4-BE49-F238E27FC236}">
                <a16:creationId xmlns:a16="http://schemas.microsoft.com/office/drawing/2014/main" id="{01BC00BF-8F9D-4855-96D2-054E25A27691}"/>
              </a:ext>
            </a:extLst>
          </p:cNvPr>
          <p:cNvSpPr txBox="1"/>
          <p:nvPr/>
        </p:nvSpPr>
        <p:spPr>
          <a:xfrm>
            <a:off x="8450580" y="1361851"/>
            <a:ext cx="3152458"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18" name="Graphic 22">
            <a:extLst>
              <a:ext uri="{FF2B5EF4-FFF2-40B4-BE49-F238E27FC236}">
                <a16:creationId xmlns:a16="http://schemas.microsoft.com/office/drawing/2014/main" id="{3BBD1E3F-DDB2-970F-0FE9-66DDBDE24820}"/>
              </a:ext>
            </a:extLst>
          </p:cNvPr>
          <p:cNvSpPr/>
          <p:nvPr/>
        </p:nvSpPr>
        <p:spPr>
          <a:xfrm>
            <a:off x="3424362" y="1420191"/>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0" name="Graphic 25">
            <a:extLst>
              <a:ext uri="{FF2B5EF4-FFF2-40B4-BE49-F238E27FC236}">
                <a16:creationId xmlns:a16="http://schemas.microsoft.com/office/drawing/2014/main" id="{AD816444-DF3D-AE3B-32D1-B3446560BC0B}"/>
              </a:ext>
            </a:extLst>
          </p:cNvPr>
          <p:cNvSpPr/>
          <p:nvPr/>
        </p:nvSpPr>
        <p:spPr>
          <a:xfrm>
            <a:off x="9548989" y="1446544"/>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7" name="TextBox 6">
            <a:extLst>
              <a:ext uri="{FF2B5EF4-FFF2-40B4-BE49-F238E27FC236}">
                <a16:creationId xmlns:a16="http://schemas.microsoft.com/office/drawing/2014/main" id="{E92D33EB-CC78-D984-CF07-7AF6E27FBF2C}"/>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5821902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79A293-85F4-035F-0013-AB6C92D77823}"/>
            </a:ext>
          </a:extLst>
        </p:cNvPr>
        <p:cNvGrpSpPr/>
        <p:nvPr/>
      </p:nvGrpSpPr>
      <p:grpSpPr>
        <a:xfrm>
          <a:off x="0" y="0"/>
          <a:ext cx="0" cy="0"/>
          <a:chOff x="0" y="0"/>
          <a:chExt cx="0" cy="0"/>
        </a:xfrm>
      </p:grpSpPr>
      <p:sp>
        <p:nvSpPr>
          <p:cNvPr id="4" name="Title 101">
            <a:extLst>
              <a:ext uri="{FF2B5EF4-FFF2-40B4-BE49-F238E27FC236}">
                <a16:creationId xmlns:a16="http://schemas.microsoft.com/office/drawing/2014/main" id="{ED3E1E46-7E47-E31E-0363-C6F63A0CDFCF}"/>
              </a:ext>
            </a:extLst>
          </p:cNvPr>
          <p:cNvSpPr>
            <a:spLocks noGrp="1"/>
          </p:cNvSpPr>
          <p:nvPr>
            <p:ph type="title"/>
          </p:nvPr>
        </p:nvSpPr>
        <p:spPr>
          <a:xfrm>
            <a:off x="588263" y="457200"/>
            <a:ext cx="11018520" cy="738664"/>
          </a:xfrm>
        </p:spPr>
        <p:txBody>
          <a:bodyPr/>
          <a:lstStyle/>
          <a:p>
            <a:r>
              <a:rPr lang="en-US" sz="2400" noProof="0" dirty="0"/>
              <a:t>Secure Azure Cloud</a:t>
            </a:r>
            <a:br>
              <a:rPr lang="en-US" sz="2400" noProof="0" dirty="0"/>
            </a:br>
            <a:r>
              <a:rPr lang="en-US" sz="2400" noProof="0" dirty="0">
                <a:solidFill>
                  <a:schemeClr val="tx1"/>
                </a:solidFill>
              </a:rPr>
              <a:t>Microsoft Defender for Cloud</a:t>
            </a:r>
          </a:p>
        </p:txBody>
      </p:sp>
      <p:sp>
        <p:nvSpPr>
          <p:cNvPr id="32" name="Rounded Rectangle 31">
            <a:extLst>
              <a:ext uri="{FF2B5EF4-FFF2-40B4-BE49-F238E27FC236}">
                <a16:creationId xmlns:a16="http://schemas.microsoft.com/office/drawing/2014/main" id="{E9CAAAC7-0A0E-5B4B-C284-19F4029290C5}"/>
              </a:ext>
              <a:ext uri="{C183D7F6-B498-43B3-948B-1728B52AA6E4}">
                <adec:decorative xmlns:adec="http://schemas.microsoft.com/office/drawing/2017/decorative" val="1"/>
              </a:ext>
            </a:extLst>
          </p:cNvPr>
          <p:cNvSpPr>
            <a:spLocks/>
          </p:cNvSpPr>
          <p:nvPr/>
        </p:nvSpPr>
        <p:spPr bwMode="auto">
          <a:xfrm>
            <a:off x="542617" y="1377801"/>
            <a:ext cx="5497126" cy="4907901"/>
          </a:xfrm>
          <a:prstGeom prst="roundRect">
            <a:avLst>
              <a:gd name="adj" fmla="val 5274"/>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33" name="TextBox 32">
            <a:extLst>
              <a:ext uri="{FF2B5EF4-FFF2-40B4-BE49-F238E27FC236}">
                <a16:creationId xmlns:a16="http://schemas.microsoft.com/office/drawing/2014/main" id="{7C25A527-0707-C400-C47C-36D233CAEF63}"/>
              </a:ext>
            </a:extLst>
          </p:cNvPr>
          <p:cNvSpPr txBox="1">
            <a:spLocks/>
          </p:cNvSpPr>
          <p:nvPr/>
        </p:nvSpPr>
        <p:spPr>
          <a:xfrm>
            <a:off x="584200" y="1453376"/>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5" name="TextBox 4">
            <a:extLst>
              <a:ext uri="{FF2B5EF4-FFF2-40B4-BE49-F238E27FC236}">
                <a16:creationId xmlns:a16="http://schemas.microsoft.com/office/drawing/2014/main" id="{73EFCEDC-0E2B-0B5E-7282-3198A1D41A76}"/>
              </a:ext>
            </a:extLst>
          </p:cNvPr>
          <p:cNvSpPr txBox="1"/>
          <p:nvPr/>
        </p:nvSpPr>
        <p:spPr>
          <a:xfrm>
            <a:off x="1015597" y="2017713"/>
            <a:ext cx="4957314" cy="330859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a:ea typeface="+mn-ea"/>
                <a:cs typeface="+mn-cs"/>
              </a:rPr>
              <a:t>Cloud Security Posture Management (CSPM)</a:t>
            </a:r>
            <a:endParaRPr kumimoji="0" lang="en-US" sz="1000" b="1" i="0" u="none" strike="noStrike" kern="0" cap="none" spc="0" normalizeH="0" baseline="0" noProof="0" dirty="0">
              <a:ln>
                <a:noFill/>
              </a:ln>
              <a:solidFill>
                <a:srgbClr val="0078D4"/>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Billable workloads are VMs, storage accounts, OSS DBs, and SQL PaaS and </a:t>
            </a:r>
            <a:br>
              <a:rPr lang="en-US" sz="1000" b="0" i="0" u="none" strike="noStrike" kern="0" cap="none" spc="0" normalizeH="0" baseline="0" noProof="0" dirty="0">
                <a:ln>
                  <a:noFill/>
                </a:ln>
                <a:effectLst/>
                <a:uLnTx/>
                <a:uFillTx/>
                <a:latin typeface="Segoe Sans Text"/>
              </a:rPr>
            </a:br>
            <a:r>
              <a:rPr kumimoji="0" lang="en-US" sz="1000" b="0" i="0" u="none" strike="noStrike" kern="0" cap="none" spc="0" normalizeH="0" baseline="0" noProof="0" dirty="0">
                <a:ln>
                  <a:noFill/>
                </a:ln>
                <a:solidFill>
                  <a:srgbClr val="000000"/>
                </a:solidFill>
                <a:effectLst/>
                <a:uLnTx/>
                <a:uFillTx/>
                <a:latin typeface="Segoe Sans Text"/>
                <a:ea typeface="+mn-ea"/>
                <a:cs typeface="+mn-cs"/>
              </a:rPr>
              <a:t>servers on machines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a:ea typeface="+mn-ea"/>
                <a:cs typeface="+mn-cs"/>
              </a:rPr>
              <a:t>Cloud Workload Protection (CWP)</a:t>
            </a:r>
            <a:endParaRPr kumimoji="0" lang="en-US" sz="1000" b="1" i="0" u="none" strike="noStrike" kern="0" cap="none" spc="0" normalizeH="0" baseline="0" noProof="0" dirty="0">
              <a:ln>
                <a:noFill/>
              </a:ln>
              <a:solidFill>
                <a:srgbClr val="0078D4"/>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Servers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Databases </a:t>
            </a:r>
          </a:p>
          <a:p>
            <a:pPr marL="3429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Azure SQL databases (single databases, elastic pools, managed instances, Synapse analytics)</a:t>
            </a:r>
          </a:p>
          <a:p>
            <a:pPr marL="3429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SQL Servers on machines (SQL on Azure VM, On-Premise VM, Arc enabled </a:t>
            </a:r>
            <a:br>
              <a:rPr lang="en-US" sz="1000" b="0" i="0" u="none" strike="noStrike" kern="0" cap="none" spc="0" normalizeH="0" baseline="0" noProof="0" dirty="0">
                <a:ln>
                  <a:noFill/>
                </a:ln>
                <a:effectLst/>
                <a:uLnTx/>
                <a:uFillTx/>
                <a:latin typeface="Segoe Sans Text"/>
              </a:rPr>
            </a:br>
            <a:r>
              <a:rPr kumimoji="0" lang="en-US" sz="1000" b="0" i="0" u="none" strike="noStrike" kern="0" cap="none" spc="0" normalizeH="0" baseline="0" noProof="0" dirty="0">
                <a:ln>
                  <a:noFill/>
                </a:ln>
                <a:solidFill>
                  <a:srgbClr val="000000"/>
                </a:solidFill>
                <a:effectLst/>
                <a:uLnTx/>
                <a:uFillTx/>
                <a:latin typeface="Segoe Sans Text"/>
                <a:ea typeface="+mn-ea"/>
                <a:cs typeface="+mn-cs"/>
              </a:rPr>
              <a:t>SQL Servers)</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a:p>
            <a:pPr marL="342900" lvl="1" indent="-171450">
              <a:buFont typeface="Arial" panose="020B0604020202020204" pitchFamily="34" charset="0"/>
              <a:buChar char="•"/>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Open-source relational databases (PostgreSQL and MySQL flexible </a:t>
            </a:r>
            <a:r>
              <a:rPr lang="en-US" sz="1000" noProof="0" dirty="0">
                <a:solidFill>
                  <a:srgbClr val="000000"/>
                </a:solidFill>
                <a:latin typeface="Segoe Sans Text"/>
              </a:rPr>
              <a:t>servers)</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a:p>
            <a:pPr marL="34290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Azure Cosmos DB</a:t>
            </a: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Storage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App Service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Containers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AI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Key Vault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Resource Manager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APIs</a:t>
            </a:r>
          </a:p>
          <a:p>
            <a:pPr marL="171450" indent="-171450">
              <a:buFont typeface="Arial" panose="020B0604020202020204" pitchFamily="34" charset="0"/>
              <a:buChar char="•"/>
              <a:defRPr/>
            </a:pPr>
            <a:r>
              <a:rPr lang="en-US" sz="1000" kern="0" noProof="0" dirty="0">
                <a:solidFill>
                  <a:srgbClr val="000000"/>
                </a:solidFill>
              </a:rPr>
              <a:t>Defender for Endpoint onboarding is limited to validation of integration state only.</a:t>
            </a:r>
          </a:p>
          <a:p>
            <a:pPr marL="171450" indent="-171450">
              <a:buFont typeface="Arial" panose="020B0604020202020204" pitchFamily="34" charset="0"/>
              <a:buChar char="•"/>
              <a:defRPr/>
            </a:pPr>
            <a:r>
              <a:rPr lang="en-US" sz="1000" kern="0" noProof="0" dirty="0">
                <a:solidFill>
                  <a:srgbClr val="000000"/>
                </a:solidFill>
              </a:rPr>
              <a:t>Defender for Cloud engagement is enablement and validation only</a:t>
            </a:r>
          </a:p>
        </p:txBody>
      </p:sp>
      <p:cxnSp>
        <p:nvCxnSpPr>
          <p:cNvPr id="14" name="Straight Connector 13">
            <a:extLst>
              <a:ext uri="{FF2B5EF4-FFF2-40B4-BE49-F238E27FC236}">
                <a16:creationId xmlns:a16="http://schemas.microsoft.com/office/drawing/2014/main" id="{5424A22C-328E-C12E-6F63-F198E952F97B}"/>
              </a:ext>
              <a:ext uri="{C183D7F6-B498-43B3-948B-1728B52AA6E4}">
                <adec:decorative xmlns:adec="http://schemas.microsoft.com/office/drawing/2017/decorative" val="1"/>
              </a:ext>
            </a:extLst>
          </p:cNvPr>
          <p:cNvCxnSpPr>
            <a:cxnSpLocks/>
          </p:cNvCxnSpPr>
          <p:nvPr/>
        </p:nvCxnSpPr>
        <p:spPr>
          <a:xfrm>
            <a:off x="1023445" y="2469103"/>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1EC23CA2-2C02-7E9C-4E5C-0A84B238BF92}"/>
              </a:ext>
              <a:ext uri="{C183D7F6-B498-43B3-948B-1728B52AA6E4}">
                <adec:decorative xmlns:adec="http://schemas.microsoft.com/office/drawing/2017/decorative" val="1"/>
              </a:ext>
            </a:extLst>
          </p:cNvPr>
          <p:cNvSpPr>
            <a:spLocks/>
          </p:cNvSpPr>
          <p:nvPr/>
        </p:nvSpPr>
        <p:spPr bwMode="auto">
          <a:xfrm>
            <a:off x="6118905" y="1377801"/>
            <a:ext cx="5577146" cy="4918622"/>
          </a:xfrm>
          <a:prstGeom prst="roundRect">
            <a:avLst>
              <a:gd name="adj" fmla="val 5592"/>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34" name="TextBox 33">
            <a:extLst>
              <a:ext uri="{FF2B5EF4-FFF2-40B4-BE49-F238E27FC236}">
                <a16:creationId xmlns:a16="http://schemas.microsoft.com/office/drawing/2014/main" id="{F8412BD4-6D70-D841-8A8E-2AEDB447911F}"/>
              </a:ext>
            </a:extLst>
          </p:cNvPr>
          <p:cNvSpPr txBox="1">
            <a:spLocks/>
          </p:cNvSpPr>
          <p:nvPr/>
        </p:nvSpPr>
        <p:spPr>
          <a:xfrm>
            <a:off x="6165572" y="1441764"/>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sp>
        <p:nvSpPr>
          <p:cNvPr id="18" name="TextBox 17">
            <a:extLst>
              <a:ext uri="{FF2B5EF4-FFF2-40B4-BE49-F238E27FC236}">
                <a16:creationId xmlns:a16="http://schemas.microsoft.com/office/drawing/2014/main" id="{60CE81FD-3B2C-4AFA-0B99-4B52FC325C00}"/>
              </a:ext>
            </a:extLst>
          </p:cNvPr>
          <p:cNvSpPr txBox="1"/>
          <p:nvPr/>
        </p:nvSpPr>
        <p:spPr>
          <a:xfrm>
            <a:off x="6472067" y="2029588"/>
            <a:ext cx="5095990" cy="1846659"/>
          </a:xfrm>
          <a:prstGeom prst="rect">
            <a:avLst/>
          </a:prstGeom>
          <a:noFill/>
        </p:spPr>
        <p:txBody>
          <a:bodyPr wrap="square" lIns="0" tIns="0" rIns="0" bIns="0" anchor="t">
            <a:spAutoFit/>
          </a:bodyPr>
          <a:lstStyle/>
          <a:p>
            <a:pPr marL="171450" indent="-171450">
              <a:buFont typeface="Arial" panose="020B0604020202020204" pitchFamily="34" charset="0"/>
              <a:buChar char="•"/>
            </a:pPr>
            <a:r>
              <a:rPr lang="en-US" sz="1000" kern="0" noProof="0" dirty="0">
                <a:solidFill>
                  <a:srgbClr val="000000"/>
                </a:solidFill>
              </a:rPr>
              <a:t>Policy non -compliance remediation is customer/partner owned.</a:t>
            </a:r>
            <a:endParaRPr lang="en-US" sz="1000" noProof="0" dirty="0">
              <a:solidFill>
                <a:srgbClr val="000000"/>
              </a:solidFill>
              <a:effectLst/>
              <a:latin typeface="Segoe Sans Text" pitchFamily="2" charset="0"/>
            </a:endParaRPr>
          </a:p>
          <a:p>
            <a:pPr marL="171450" indent="-171450" algn="l" rtl="0" eaLnBrk="1" latinLnBrk="0" hangingPunct="1">
              <a:buFont typeface="Arial" panose="020B0604020202020204" pitchFamily="34" charset="0"/>
              <a:buChar char="•"/>
            </a:pPr>
            <a:r>
              <a:rPr lang="en-US" sz="1000" noProof="0" dirty="0">
                <a:solidFill>
                  <a:srgbClr val="000000"/>
                </a:solidFill>
                <a:effectLst/>
                <a:latin typeface="Segoe Sans Text" pitchFamily="2" charset="0"/>
              </a:rPr>
              <a:t>Ensure connectivity to Defender for Cloud and related endpoints; manage network settings.</a:t>
            </a:r>
          </a:p>
          <a:p>
            <a:pPr marL="171450" indent="-171450">
              <a:buFont typeface="Arial" panose="020B0604020202020204" pitchFamily="34" charset="0"/>
              <a:buChar char="•"/>
            </a:pPr>
            <a:r>
              <a:rPr lang="en-US" sz="1000" kern="0" noProof="0" dirty="0">
                <a:solidFill>
                  <a:srgbClr val="000000"/>
                </a:solidFill>
              </a:rPr>
              <a:t>Migration of legacy security policies, alert rules, or third‑party EDR configurations</a:t>
            </a:r>
          </a:p>
          <a:p>
            <a:pPr marL="171450" indent="-171450">
              <a:buFont typeface="Arial" panose="020B0604020202020204" pitchFamily="34" charset="0"/>
              <a:buChar char="•"/>
            </a:pPr>
            <a:r>
              <a:rPr lang="en-US" sz="1000" kern="0" noProof="0" dirty="0">
                <a:solidFill>
                  <a:srgbClr val="000000"/>
                </a:solidFill>
              </a:rPr>
              <a:t>Custom policy authoring, SOC process redesign, or alert tuning</a:t>
            </a:r>
          </a:p>
          <a:p>
            <a:pPr marL="171450" indent="-171450">
              <a:buFont typeface="Arial" panose="020B0604020202020204" pitchFamily="34" charset="0"/>
              <a:buChar char="•"/>
            </a:pPr>
            <a:r>
              <a:rPr lang="en-US" sz="1000" kern="0" noProof="0" dirty="0">
                <a:solidFill>
                  <a:srgbClr val="000000"/>
                </a:solidFill>
              </a:rPr>
              <a:t>Ongoing security operations responsibility post‑handover, such as vulnerability management, threat assessment, threat detection etc..</a:t>
            </a:r>
            <a:endParaRPr lang="en-US" sz="1000" noProof="0" dirty="0">
              <a:solidFill>
                <a:srgbClr val="000000"/>
              </a:solidFill>
              <a:effectLst/>
              <a:latin typeface="Segoe Sans Text" pitchFamily="2" charset="0"/>
            </a:endParaRPr>
          </a:p>
          <a:p>
            <a:pPr marL="171450" indent="-171450" algn="l" rtl="0" eaLnBrk="1" latinLnBrk="0" hangingPunct="1">
              <a:buFont typeface="Arial" panose="020B0604020202020204" pitchFamily="34" charset="0"/>
              <a:buChar char="•"/>
            </a:pPr>
            <a:r>
              <a:rPr lang="en-US" sz="1000" noProof="0" dirty="0">
                <a:solidFill>
                  <a:srgbClr val="000000"/>
                </a:solidFill>
                <a:effectLst/>
                <a:latin typeface="Segoe Sans Text" pitchFamily="2" charset="0"/>
              </a:rPr>
              <a:t>Identify existing security tools and integration points; custom SOC workflows excluded.</a:t>
            </a:r>
          </a:p>
          <a:p>
            <a:pPr marL="171450" indent="-171450" algn="l" rtl="0" eaLnBrk="1" latinLnBrk="0" hangingPunct="1">
              <a:buFont typeface="Arial" panose="020B0604020202020204" pitchFamily="34" charset="0"/>
              <a:buChar char="•"/>
            </a:pPr>
            <a:r>
              <a:rPr lang="en-US" sz="1000" noProof="0" dirty="0">
                <a:solidFill>
                  <a:srgbClr val="000000"/>
                </a:solidFill>
                <a:effectLst/>
                <a:latin typeface="Segoe Sans Text" pitchFamily="2" charset="0"/>
              </a:rPr>
              <a:t>Manage approvals, communication, and coordinate change windows.</a:t>
            </a:r>
          </a:p>
          <a:p>
            <a:pPr marL="171450" indent="-171450">
              <a:buFont typeface="Arial" panose="020B0604020202020204" pitchFamily="34" charset="0"/>
              <a:buChar char="•"/>
            </a:pPr>
            <a:r>
              <a:rPr lang="en-US" sz="1000" noProof="0" dirty="0">
                <a:solidFill>
                  <a:srgbClr val="000000"/>
                </a:solidFill>
                <a:latin typeface="Segoe Sans Text" pitchFamily="2" charset="0"/>
              </a:rPr>
              <a:t>Implementation or remediation of </a:t>
            </a:r>
            <a:r>
              <a:rPr lang="en-US" sz="1000" kern="0" noProof="0" dirty="0">
                <a:solidFill>
                  <a:srgbClr val="000000"/>
                </a:solidFill>
              </a:rPr>
              <a:t>application‑level, OS‑level, and workload‑specific security fixes.</a:t>
            </a:r>
            <a:endParaRPr lang="en-US" sz="1000" noProof="0" dirty="0">
              <a:solidFill>
                <a:srgbClr val="000000"/>
              </a:solidFill>
              <a:effectLst/>
              <a:latin typeface="Segoe Sans Text" pitchFamily="2" charset="0"/>
            </a:endParaRPr>
          </a:p>
          <a:p>
            <a:pPr marL="171450" indent="-171450" algn="l" rtl="0" eaLnBrk="1" latinLnBrk="0" hangingPunct="1">
              <a:buFont typeface="Arial" panose="020B0604020202020204" pitchFamily="34" charset="0"/>
              <a:buChar char="•"/>
            </a:pPr>
            <a:r>
              <a:rPr lang="en-US" sz="1000" noProof="0" dirty="0">
                <a:solidFill>
                  <a:srgbClr val="000000"/>
                </a:solidFill>
                <a:effectLst/>
                <a:latin typeface="Segoe Sans Text" pitchFamily="2" charset="0"/>
              </a:rPr>
              <a:t>Handle remediation, alert triage, incident response, and ongoing security operations.</a:t>
            </a:r>
            <a:endParaRPr lang="en-US" sz="1000" kern="0" noProof="0" dirty="0">
              <a:solidFill>
                <a:srgbClr val="000000"/>
              </a:solidFill>
              <a:latin typeface="Segoe Sans Text"/>
            </a:endParaRPr>
          </a:p>
        </p:txBody>
      </p:sp>
      <p:cxnSp>
        <p:nvCxnSpPr>
          <p:cNvPr id="19" name="Straight Connector 18">
            <a:extLst>
              <a:ext uri="{FF2B5EF4-FFF2-40B4-BE49-F238E27FC236}">
                <a16:creationId xmlns:a16="http://schemas.microsoft.com/office/drawing/2014/main" id="{3E9846DC-AA27-56DD-680A-154BFF5CB1AF}"/>
              </a:ext>
              <a:ext uri="{C183D7F6-B498-43B3-948B-1728B52AA6E4}">
                <adec:decorative xmlns:adec="http://schemas.microsoft.com/office/drawing/2017/decorative" val="1"/>
              </a:ext>
            </a:extLst>
          </p:cNvPr>
          <p:cNvCxnSpPr>
            <a:cxnSpLocks/>
          </p:cNvCxnSpPr>
          <p:nvPr/>
        </p:nvCxnSpPr>
        <p:spPr>
          <a:xfrm>
            <a:off x="6462723" y="3911452"/>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E72CC66-C0F4-F17C-584A-4CA6DB47D135}"/>
              </a:ext>
            </a:extLst>
          </p:cNvPr>
          <p:cNvSpPr txBox="1"/>
          <p:nvPr/>
        </p:nvSpPr>
        <p:spPr>
          <a:xfrm>
            <a:off x="6476860" y="4511404"/>
            <a:ext cx="4914576" cy="1231106"/>
          </a:xfrm>
          <a:prstGeom prst="rect">
            <a:avLst/>
          </a:prstGeom>
          <a:noFill/>
        </p:spPr>
        <p:txBody>
          <a:bodyPr wrap="square" lIns="0" tIns="0" rIns="0" bIns="0" anchor="t">
            <a:spAutoFit/>
          </a:bodyPr>
          <a:lstStyle/>
          <a:p>
            <a:pPr marL="171450" indent="-171450">
              <a:buFont typeface="Arial" panose="020B0604020202020204" pitchFamily="34" charset="0"/>
              <a:buChar char="•"/>
              <a:defRPr/>
            </a:pPr>
            <a:r>
              <a:rPr lang="en-US" sz="1000" noProof="0" dirty="0">
                <a:solidFill>
                  <a:srgbClr val="000000"/>
                </a:solidFill>
                <a:latin typeface="Segoe Sans Text" pitchFamily="2" charset="0"/>
              </a:rPr>
              <a:t>Confirm in-scope subscriptions and resource types; exclude unsupported workloads.</a:t>
            </a:r>
          </a:p>
          <a:p>
            <a:pPr marL="171450" indent="-171450">
              <a:buFont typeface="Arial" panose="020B0604020202020204" pitchFamily="34" charset="0"/>
              <a:buChar char="•"/>
              <a:defRPr/>
            </a:pPr>
            <a:r>
              <a:rPr lang="en-US" sz="1000" noProof="0" dirty="0">
                <a:solidFill>
                  <a:srgbClr val="000000"/>
                </a:solidFill>
                <a:latin typeface="Segoe Sans Text" pitchFamily="2" charset="0"/>
              </a:rPr>
              <a:t>Grant necessary Owner, Contributor, or Security Admin access.</a:t>
            </a:r>
          </a:p>
          <a:p>
            <a:pPr marL="171450" indent="-171450">
              <a:buFont typeface="Arial" panose="020B0604020202020204" pitchFamily="34" charset="0"/>
              <a:buChar char="•"/>
              <a:defRPr/>
            </a:pPr>
            <a:r>
              <a:rPr lang="en-US" sz="1000" noProof="0" dirty="0">
                <a:solidFill>
                  <a:srgbClr val="000000"/>
                </a:solidFill>
                <a:latin typeface="Segoe Sans Text" pitchFamily="2" charset="0"/>
              </a:rPr>
              <a:t>Review and approve Microsoft security baselines and policy enforcement.</a:t>
            </a:r>
            <a:endParaRPr lang="en-US" sz="1000" kern="0" noProof="0" dirty="0">
              <a:solidFill>
                <a:srgbClr val="000000"/>
              </a:solidFill>
            </a:endParaRPr>
          </a:p>
          <a:p>
            <a:pPr marL="171450" lvl="0" indent="-171450">
              <a:buFont typeface="Arial" panose="020B0604020202020204" pitchFamily="34" charset="0"/>
              <a:buChar char="•"/>
              <a:defRPr/>
            </a:pPr>
            <a:r>
              <a:rPr lang="en-US" sz="1000" kern="0" noProof="0" dirty="0">
                <a:solidFill>
                  <a:srgbClr val="000000"/>
                </a:solidFill>
              </a:rPr>
              <a:t>is included.</a:t>
            </a:r>
          </a:p>
          <a:p>
            <a:pPr marL="171450" indent="-171450">
              <a:buFont typeface="Arial" panose="020B0604020202020204" pitchFamily="34" charset="0"/>
              <a:buChar char="•"/>
              <a:defRPr/>
            </a:pPr>
            <a:r>
              <a:rPr lang="en-US" sz="1000" noProof="0" dirty="0">
                <a:solidFill>
                  <a:srgbClr val="000000"/>
                </a:solidFill>
                <a:latin typeface="Segoe Sans Text" pitchFamily="2" charset="0"/>
              </a:rPr>
              <a:t>Approve Log Analytics workspace use; confirm data residency and compliance.</a:t>
            </a:r>
          </a:p>
          <a:p>
            <a:pPr marL="171450" indent="-171450">
              <a:buFont typeface="Arial" panose="020B0604020202020204" pitchFamily="34" charset="0"/>
              <a:buChar char="•"/>
              <a:defRPr/>
            </a:pPr>
            <a:r>
              <a:rPr lang="en-US" sz="1000" noProof="0" dirty="0">
                <a:solidFill>
                  <a:srgbClr val="000000"/>
                </a:solidFill>
                <a:latin typeface="Segoe Sans Text" pitchFamily="2" charset="0"/>
              </a:rPr>
              <a:t>Acknowledge Defender for Cloud costs and align with business needs.</a:t>
            </a:r>
            <a:endParaRPr lang="en-US" sz="1000" kern="0" noProof="0" dirty="0">
              <a:solidFill>
                <a:srgbClr val="000000"/>
              </a:solidFill>
            </a:endParaRPr>
          </a:p>
          <a:p>
            <a:pPr marL="171450" lvl="0" indent="-171450">
              <a:buFont typeface="Arial" panose="020B0604020202020204" pitchFamily="34" charset="0"/>
              <a:buChar char="•"/>
              <a:defRPr/>
            </a:pPr>
            <a:r>
              <a:rPr lang="en-US" sz="1000" kern="0" noProof="0" dirty="0">
                <a:solidFill>
                  <a:srgbClr val="000000"/>
                </a:solidFill>
              </a:rPr>
              <a:t>Any changes to scope, subscriptions, or resource inventory after kickoff may require re‑validation</a:t>
            </a:r>
          </a:p>
        </p:txBody>
      </p:sp>
      <p:sp>
        <p:nvSpPr>
          <p:cNvPr id="2" name="TextBox 1">
            <a:extLst>
              <a:ext uri="{FF2B5EF4-FFF2-40B4-BE49-F238E27FC236}">
                <a16:creationId xmlns:a16="http://schemas.microsoft.com/office/drawing/2014/main" id="{797F40DD-60AF-801C-D9EB-5781E17668F2}"/>
              </a:ext>
            </a:extLst>
          </p:cNvPr>
          <p:cNvSpPr txBox="1"/>
          <p:nvPr/>
        </p:nvSpPr>
        <p:spPr>
          <a:xfrm>
            <a:off x="1023445" y="5347672"/>
            <a:ext cx="4914576"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a:ea typeface="+mn-ea"/>
                <a:cs typeface="+mn-cs"/>
              </a:rPr>
              <a:t>Resource level onboarding for CWP Server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Plan one and plan two</a:t>
            </a:r>
          </a:p>
        </p:txBody>
      </p:sp>
      <p:sp>
        <p:nvSpPr>
          <p:cNvPr id="3" name="TextBox 2">
            <a:extLst>
              <a:ext uri="{FF2B5EF4-FFF2-40B4-BE49-F238E27FC236}">
                <a16:creationId xmlns:a16="http://schemas.microsoft.com/office/drawing/2014/main" id="{61D4330B-F44B-2CD5-1CC5-88F66EA2AC84}"/>
              </a:ext>
            </a:extLst>
          </p:cNvPr>
          <p:cNvSpPr txBox="1"/>
          <p:nvPr/>
        </p:nvSpPr>
        <p:spPr>
          <a:xfrm>
            <a:off x="1015597" y="5782263"/>
            <a:ext cx="4914576" cy="31547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Segoe Sans Text"/>
                <a:ea typeface="+mn-ea"/>
                <a:cs typeface="+mn-cs"/>
              </a:rPr>
              <a:t>Defender for Endpoint Mode setup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Configure MDE to run in passive mode alongside a third-party EDR</a:t>
            </a:r>
          </a:p>
        </p:txBody>
      </p:sp>
      <p:cxnSp>
        <p:nvCxnSpPr>
          <p:cNvPr id="10" name="Straight Connector 9">
            <a:extLst>
              <a:ext uri="{FF2B5EF4-FFF2-40B4-BE49-F238E27FC236}">
                <a16:creationId xmlns:a16="http://schemas.microsoft.com/office/drawing/2014/main" id="{472FEFD2-AF5D-0335-D731-34C29718AC64}"/>
              </a:ext>
              <a:ext uri="{C183D7F6-B498-43B3-948B-1728B52AA6E4}">
                <adec:decorative xmlns:adec="http://schemas.microsoft.com/office/drawing/2017/decorative" val="1"/>
              </a:ext>
            </a:extLst>
          </p:cNvPr>
          <p:cNvCxnSpPr>
            <a:cxnSpLocks/>
          </p:cNvCxnSpPr>
          <p:nvPr/>
        </p:nvCxnSpPr>
        <p:spPr>
          <a:xfrm>
            <a:off x="958067" y="5315117"/>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B5169E8-D4DE-493E-237B-94ABD5FFDAFB}"/>
              </a:ext>
              <a:ext uri="{C183D7F6-B498-43B3-948B-1728B52AA6E4}">
                <adec:decorative xmlns:adec="http://schemas.microsoft.com/office/drawing/2017/decorative" val="1"/>
              </a:ext>
            </a:extLst>
          </p:cNvPr>
          <p:cNvCxnSpPr>
            <a:cxnSpLocks/>
          </p:cNvCxnSpPr>
          <p:nvPr/>
        </p:nvCxnSpPr>
        <p:spPr>
          <a:xfrm>
            <a:off x="986831" y="5678986"/>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73762AB-9A23-56EE-1E23-82E8FF620FE4}"/>
              </a:ext>
            </a:extLst>
          </p:cNvPr>
          <p:cNvSpPr/>
          <p:nvPr/>
        </p:nvSpPr>
        <p:spPr bwMode="auto">
          <a:xfrm>
            <a:off x="754185" y="201693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6" name="Oval 25">
            <a:extLst>
              <a:ext uri="{FF2B5EF4-FFF2-40B4-BE49-F238E27FC236}">
                <a16:creationId xmlns:a16="http://schemas.microsoft.com/office/drawing/2014/main" id="{CA2ABC83-59B8-444A-AD9E-AAF501974897}"/>
              </a:ext>
            </a:extLst>
          </p:cNvPr>
          <p:cNvSpPr/>
          <p:nvPr/>
        </p:nvSpPr>
        <p:spPr bwMode="auto">
          <a:xfrm>
            <a:off x="754185" y="26082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8" name="Oval 27">
            <a:extLst>
              <a:ext uri="{FF2B5EF4-FFF2-40B4-BE49-F238E27FC236}">
                <a16:creationId xmlns:a16="http://schemas.microsoft.com/office/drawing/2014/main" id="{972872F7-6219-A630-3382-097F539CD932}"/>
              </a:ext>
            </a:extLst>
          </p:cNvPr>
          <p:cNvSpPr/>
          <p:nvPr/>
        </p:nvSpPr>
        <p:spPr bwMode="auto">
          <a:xfrm>
            <a:off x="775694" y="533551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1" name="Oval 30">
            <a:extLst>
              <a:ext uri="{FF2B5EF4-FFF2-40B4-BE49-F238E27FC236}">
                <a16:creationId xmlns:a16="http://schemas.microsoft.com/office/drawing/2014/main" id="{B4428921-2C7D-D4C8-17A7-48BE6B1C148B}"/>
              </a:ext>
            </a:extLst>
          </p:cNvPr>
          <p:cNvSpPr/>
          <p:nvPr/>
        </p:nvSpPr>
        <p:spPr bwMode="auto">
          <a:xfrm>
            <a:off x="775694" y="578226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FCA13678-A65A-165C-4244-C656C58181E6}"/>
              </a:ext>
            </a:extLst>
          </p:cNvPr>
          <p:cNvSpPr/>
          <p:nvPr/>
        </p:nvSpPr>
        <p:spPr bwMode="auto">
          <a:xfrm>
            <a:off x="6226746" y="201693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4E6B6C1A-B1D3-EDE4-16F9-6F8C5C99267D}"/>
              </a:ext>
            </a:extLst>
          </p:cNvPr>
          <p:cNvSpPr/>
          <p:nvPr/>
        </p:nvSpPr>
        <p:spPr bwMode="auto">
          <a:xfrm>
            <a:off x="6226746" y="46135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Rounded Rectangle 22">
            <a:extLst>
              <a:ext uri="{FF2B5EF4-FFF2-40B4-BE49-F238E27FC236}">
                <a16:creationId xmlns:a16="http://schemas.microsoft.com/office/drawing/2014/main" id="{0F8D10CC-5DED-9E2C-9049-2D4E1B8775E9}"/>
              </a:ext>
              <a:ext uri="{C183D7F6-B498-43B3-948B-1728B52AA6E4}">
                <adec:decorative xmlns:adec="http://schemas.microsoft.com/office/drawing/2017/decorative" val="1"/>
              </a:ext>
            </a:extLst>
          </p:cNvPr>
          <p:cNvSpPr>
            <a:spLocks/>
          </p:cNvSpPr>
          <p:nvPr/>
        </p:nvSpPr>
        <p:spPr bwMode="auto">
          <a:xfrm>
            <a:off x="6192243" y="3974370"/>
            <a:ext cx="5503808" cy="2045015"/>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0" name="TextBox 19">
            <a:extLst>
              <a:ext uri="{FF2B5EF4-FFF2-40B4-BE49-F238E27FC236}">
                <a16:creationId xmlns:a16="http://schemas.microsoft.com/office/drawing/2014/main" id="{2E798522-F402-74D6-DD78-83CE82FBD1FE}"/>
              </a:ext>
            </a:extLst>
          </p:cNvPr>
          <p:cNvSpPr txBox="1">
            <a:spLocks/>
          </p:cNvSpPr>
          <p:nvPr/>
        </p:nvSpPr>
        <p:spPr>
          <a:xfrm>
            <a:off x="6278509" y="4051525"/>
            <a:ext cx="5311279"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a:t>
            </a:r>
          </a:p>
        </p:txBody>
      </p:sp>
      <p:sp>
        <p:nvSpPr>
          <p:cNvPr id="7" name="TextBox 6">
            <a:extLst>
              <a:ext uri="{FF2B5EF4-FFF2-40B4-BE49-F238E27FC236}">
                <a16:creationId xmlns:a16="http://schemas.microsoft.com/office/drawing/2014/main" id="{1CE199D6-02B3-CB14-3FB7-F080640DB970}"/>
              </a:ext>
            </a:extLst>
          </p:cNvPr>
          <p:cNvSpPr txBox="1"/>
          <p:nvPr/>
        </p:nvSpPr>
        <p:spPr>
          <a:xfrm>
            <a:off x="6295326" y="1782686"/>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2" name="TextBox 11">
            <a:extLst>
              <a:ext uri="{FF2B5EF4-FFF2-40B4-BE49-F238E27FC236}">
                <a16:creationId xmlns:a16="http://schemas.microsoft.com/office/drawing/2014/main" id="{C01A6DB1-404D-DF80-AF66-F7464C544D22}"/>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6" name="TextBox 5">
            <a:extLst>
              <a:ext uri="{FF2B5EF4-FFF2-40B4-BE49-F238E27FC236}">
                <a16:creationId xmlns:a16="http://schemas.microsoft.com/office/drawing/2014/main" id="{017D6153-0E2D-4C3D-8238-8849339A67CF}"/>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custDataLst>
      <p:tags r:id="rId2"/>
    </p:custDataLst>
    <p:extLst>
      <p:ext uri="{BB962C8B-B14F-4D97-AF65-F5344CB8AC3E}">
        <p14:creationId xmlns:p14="http://schemas.microsoft.com/office/powerpoint/2010/main" val="86430510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 presetClass="emph" presetSubtype="0" fill="hold" grpId="1" nodeType="withEffect">
                                  <p:stCondLst>
                                    <p:cond delay="0"/>
                                  </p:stCondLst>
                                  <p:childTnLst>
                                    <p:animScale>
                                      <p:cBhvr>
                                        <p:cTn id="9" dur="100" fill="hold"/>
                                        <p:tgtEl>
                                          <p:spTgt spid="6"/>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55">
            <a:extLst>
              <a:ext uri="{FF2B5EF4-FFF2-40B4-BE49-F238E27FC236}">
                <a16:creationId xmlns:a16="http://schemas.microsoft.com/office/drawing/2014/main" id="{AEBF1920-5E9E-80C1-6022-3EAB2ECEAF1B}"/>
              </a:ext>
              <a:ext uri="{C183D7F6-B498-43B3-948B-1728B52AA6E4}">
                <adec:decorative xmlns:adec="http://schemas.microsoft.com/office/drawing/2017/decorative" val="1"/>
              </a:ext>
            </a:extLst>
          </p:cNvPr>
          <p:cNvSpPr/>
          <p:nvPr/>
        </p:nvSpPr>
        <p:spPr bwMode="auto">
          <a:xfrm>
            <a:off x="8343643" y="1199745"/>
            <a:ext cx="3274553" cy="5302655"/>
          </a:xfrm>
          <a:prstGeom prst="roundRect">
            <a:avLst>
              <a:gd name="adj" fmla="val 5071"/>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tIns="36576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90000"/>
              </a:lnSpc>
              <a:spcBef>
                <a:spcPts val="600"/>
              </a:spcBef>
              <a:spcAft>
                <a:spcPts val="400"/>
              </a:spcAft>
            </a:pPr>
            <a:endParaRPr lang="en-US" sz="1100" noProof="0" dirty="0">
              <a:solidFill>
                <a:schemeClr val="tx1"/>
              </a:solidFill>
            </a:endParaRPr>
          </a:p>
        </p:txBody>
      </p:sp>
      <p:sp>
        <p:nvSpPr>
          <p:cNvPr id="2" name="Title 1"/>
          <p:cNvSpPr>
            <a:spLocks noGrp="1"/>
          </p:cNvSpPr>
          <p:nvPr>
            <p:ph type="title"/>
          </p:nvPr>
        </p:nvSpPr>
        <p:spPr>
          <a:xfrm>
            <a:off x="588263" y="457200"/>
            <a:ext cx="11018520" cy="738664"/>
          </a:xfrm>
        </p:spPr>
        <p:txBody>
          <a:bodyPr/>
          <a:lstStyle/>
          <a:p>
            <a:r>
              <a:rPr lang="en-US" sz="2400" noProof="0" dirty="0"/>
              <a:t>Secure Azure Cloud</a:t>
            </a:r>
            <a:br>
              <a:rPr lang="en-US" sz="2400" noProof="0" dirty="0"/>
            </a:br>
            <a:r>
              <a:rPr lang="en-US" sz="2400" noProof="0" dirty="0">
                <a:solidFill>
                  <a:schemeClr val="tx1"/>
                </a:solidFill>
              </a:rPr>
              <a:t>Resiliency</a:t>
            </a:r>
          </a:p>
        </p:txBody>
      </p:sp>
      <p:sp>
        <p:nvSpPr>
          <p:cNvPr id="5" name="Content Placeholder 4">
            <a:extLst>
              <a:ext uri="{FF2B5EF4-FFF2-40B4-BE49-F238E27FC236}">
                <a16:creationId xmlns:a16="http://schemas.microsoft.com/office/drawing/2014/main" id="{B21AEC6C-441B-43BC-933B-9F268CA894CF}"/>
              </a:ext>
            </a:extLst>
          </p:cNvPr>
          <p:cNvSpPr>
            <a:spLocks noGrp="1"/>
          </p:cNvSpPr>
          <p:nvPr>
            <p:ph sz="quarter" idx="4294967295"/>
          </p:nvPr>
        </p:nvSpPr>
        <p:spPr>
          <a:xfrm>
            <a:off x="8492489" y="1720850"/>
            <a:ext cx="3068637" cy="4568825"/>
          </a:xfrm>
        </p:spPr>
        <p:txBody>
          <a:bodyPr vert="horz" wrap="square" lIns="91440" tIns="0" rIns="91440" bIns="0" rtlCol="0" anchor="t">
            <a:noAutofit/>
          </a:bodyPr>
          <a:lstStyle/>
          <a:p>
            <a:pPr marL="0" lvl="3" indent="0">
              <a:spcBef>
                <a:spcPts val="600"/>
              </a:spcBef>
              <a:spcAft>
                <a:spcPts val="600"/>
              </a:spcAft>
              <a:buNone/>
              <a:defRPr/>
            </a:pPr>
            <a:r>
              <a:rPr lang="en-US" b="1" noProof="0" dirty="0">
                <a:solidFill>
                  <a:schemeClr val="dk1"/>
                </a:solidFill>
              </a:rPr>
              <a:t>Requirements to leveraging </a:t>
            </a:r>
            <a:br>
              <a:rPr lang="en-US" b="1" noProof="0" dirty="0"/>
            </a:br>
            <a:r>
              <a:rPr lang="en-US" b="1" noProof="0" dirty="0">
                <a:solidFill>
                  <a:schemeClr val="dk1"/>
                </a:solidFill>
              </a:rPr>
              <a:t>this service:</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Customer must have at least one Azure subscription and one resource group.</a:t>
            </a:r>
          </a:p>
          <a:p>
            <a:pPr marL="171450" indent="-171450">
              <a:spcBef>
                <a:spcPts val="60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Customer already briefed and aware of costs associated with enabling new Azure services.</a:t>
            </a:r>
          </a:p>
          <a:p>
            <a:pPr marL="171450" marR="0" lvl="0" indent="-17145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000" noProof="0" dirty="0">
                <a:ln w="3175">
                  <a:noFill/>
                </a:ln>
                <a:solidFill>
                  <a:prstClr val="black"/>
                </a:solidFill>
                <a:ea typeface="+mn-lt"/>
                <a:cs typeface="+mn-lt"/>
              </a:rPr>
              <a:t>Customer and partner to identify in-scope services for resiliency remediation.</a:t>
            </a:r>
          </a:p>
          <a:p>
            <a:pPr marL="171450" indent="-171450">
              <a:spcBef>
                <a:spcPts val="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Resiliency remediation requires a list of non-zonal resources to be remediated, either from a WARA completion report or from backend telemetry identifying areas for zonal improvement.</a:t>
            </a:r>
          </a:p>
          <a:p>
            <a:pPr marL="171450" indent="-171450">
              <a:spcBef>
                <a:spcPts val="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In-scope resource identification for remediation. The Azure service(s) to be remediated must be pre-identified</a:t>
            </a:r>
          </a:p>
          <a:p>
            <a:pPr marL="171450" indent="-171450" defTabSz="914400">
              <a:lnSpc>
                <a:spcPct val="90000"/>
              </a:lnSpc>
              <a:spcBef>
                <a:spcPts val="600"/>
              </a:spcBef>
              <a:spcAft>
                <a:spcPts val="600"/>
              </a:spcAft>
              <a:buSzTx/>
              <a:buFont typeface="Arial" panose="020B0604020202020204" pitchFamily="34" charset="0"/>
              <a:buChar char="•"/>
              <a:tabLst>
                <a:tab pos="2627313" algn="l"/>
              </a:tabLst>
              <a:defRPr/>
            </a:pPr>
            <a:r>
              <a:rPr lang="en-US" sz="1000" noProof="0" dirty="0">
                <a:ln w="3175">
                  <a:noFill/>
                </a:ln>
                <a:solidFill>
                  <a:prstClr val="black"/>
                </a:solidFill>
                <a:ea typeface="+mn-lt"/>
                <a:cs typeface="Segoe Sans Text"/>
              </a:rPr>
              <a:t>Owner / Contributor level access is required to configure zone redundancy, availability settings, and monitoring</a:t>
            </a:r>
            <a:endParaRPr lang="en-US" sz="1000" noProof="0" dirty="0">
              <a:ln w="3175">
                <a:noFill/>
              </a:ln>
              <a:solidFill>
                <a:prstClr val="black"/>
              </a:solidFill>
              <a:ea typeface="+mn-lt"/>
              <a:cs typeface="+mn-lt"/>
            </a:endParaRPr>
          </a:p>
          <a:p>
            <a:pPr marL="171450" indent="-171450">
              <a:spcBef>
                <a:spcPts val="600"/>
              </a:spcBef>
              <a:spcAft>
                <a:spcPts val="600"/>
              </a:spcAft>
              <a:buFont typeface="Arial" panose="020B0604020202020204" pitchFamily="34" charset="0"/>
              <a:buChar char="•"/>
              <a:tabLst>
                <a:tab pos="2627313" algn="l"/>
              </a:tabLst>
              <a:defRPr/>
            </a:pPr>
            <a:r>
              <a:rPr lang="en-US" sz="1000" noProof="0" dirty="0">
                <a:ln w="3175">
                  <a:noFill/>
                </a:ln>
                <a:solidFill>
                  <a:prstClr val="black"/>
                </a:solidFill>
                <a:cs typeface="Segoe Sans Text"/>
              </a:rPr>
              <a:t>Internet bandwidth availability must meet minimum Factory requirements </a:t>
            </a:r>
          </a:p>
        </p:txBody>
      </p:sp>
      <p:sp>
        <p:nvSpPr>
          <p:cNvPr id="15" name="Rounded Rectangle 55">
            <a:extLst>
              <a:ext uri="{FF2B5EF4-FFF2-40B4-BE49-F238E27FC236}">
                <a16:creationId xmlns:a16="http://schemas.microsoft.com/office/drawing/2014/main" id="{5636FCE3-3C79-91EC-6839-40DFAD7571B3}"/>
              </a:ext>
              <a:ext uri="{C183D7F6-B498-43B3-948B-1728B52AA6E4}">
                <adec:decorative xmlns:adec="http://schemas.microsoft.com/office/drawing/2017/decorative" val="1"/>
              </a:ext>
            </a:extLst>
          </p:cNvPr>
          <p:cNvSpPr/>
          <p:nvPr/>
        </p:nvSpPr>
        <p:spPr bwMode="auto">
          <a:xfrm>
            <a:off x="525295" y="1199745"/>
            <a:ext cx="7604546" cy="5302655"/>
          </a:xfrm>
          <a:prstGeom prst="roundRect">
            <a:avLst>
              <a:gd name="adj" fmla="val 2533"/>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tIns="36576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90000"/>
              </a:lnSpc>
              <a:spcBef>
                <a:spcPts val="600"/>
              </a:spcBef>
              <a:spcAft>
                <a:spcPts val="400"/>
              </a:spcAft>
              <a:defRPr/>
            </a:pPr>
            <a:endParaRPr lang="en-US" sz="1100" noProof="0" dirty="0">
              <a:solidFill>
                <a:schemeClr val="tx1"/>
              </a:solidFill>
            </a:endParaRPr>
          </a:p>
        </p:txBody>
      </p:sp>
      <p:graphicFrame>
        <p:nvGraphicFramePr>
          <p:cNvPr id="10" name="Table 9" title="Exchange Online Technet Guidance">
            <a:extLst>
              <a:ext uri="{FF2B5EF4-FFF2-40B4-BE49-F238E27FC236}">
                <a16:creationId xmlns:a16="http://schemas.microsoft.com/office/drawing/2014/main" id="{489E9346-35B9-40BB-89F0-7CB3659DC396}"/>
              </a:ext>
            </a:extLst>
          </p:cNvPr>
          <p:cNvGraphicFramePr>
            <a:graphicFrameLocks noGrp="1"/>
          </p:cNvGraphicFramePr>
          <p:nvPr>
            <p:extLst>
              <p:ext uri="{D42A27DB-BD31-4B8C-83A1-F6EECF244321}">
                <p14:modId xmlns:p14="http://schemas.microsoft.com/office/powerpoint/2010/main" val="1500699273"/>
              </p:ext>
            </p:extLst>
          </p:nvPr>
        </p:nvGraphicFramePr>
        <p:xfrm>
          <a:off x="723939" y="1590188"/>
          <a:ext cx="7271622" cy="4960247"/>
        </p:xfrm>
        <a:graphic>
          <a:graphicData uri="http://schemas.openxmlformats.org/drawingml/2006/table">
            <a:tbl>
              <a:tblPr firstRow="1" bandRow="1">
                <a:tableStyleId>{5C22544A-7EE6-4342-B048-85BDC9FD1C3A}</a:tableStyleId>
              </a:tblPr>
              <a:tblGrid>
                <a:gridCol w="304988">
                  <a:extLst>
                    <a:ext uri="{9D8B030D-6E8A-4147-A177-3AD203B41FA5}">
                      <a16:colId xmlns:a16="http://schemas.microsoft.com/office/drawing/2014/main" val="920430407"/>
                    </a:ext>
                  </a:extLst>
                </a:gridCol>
                <a:gridCol w="6966634">
                  <a:extLst>
                    <a:ext uri="{9D8B030D-6E8A-4147-A177-3AD203B41FA5}">
                      <a16:colId xmlns:a16="http://schemas.microsoft.com/office/drawing/2014/main" val="125040094"/>
                    </a:ext>
                  </a:extLst>
                </a:gridCol>
              </a:tblGrid>
              <a:tr h="327976">
                <a:tc gridSpan="2">
                  <a:txBody>
                    <a:bodyPr/>
                    <a:lstStyle/>
                    <a:p>
                      <a:pPr marL="0" marR="0" lvl="0" indent="0" algn="l" rtl="0" eaLnBrk="1" fontAlgn="auto" latinLnBrk="0" hangingPunct="1">
                        <a:lnSpc>
                          <a:spcPct val="100000"/>
                        </a:lnSpc>
                        <a:spcBef>
                          <a:spcPts val="0"/>
                        </a:spcBef>
                        <a:spcAft>
                          <a:spcPts val="0"/>
                        </a:spcAft>
                        <a:buClrTx/>
                        <a:buSzTx/>
                        <a:buFontTx/>
                        <a:buNone/>
                      </a:pPr>
                      <a:r>
                        <a:rPr kumimoji="0" lang="en-US" sz="1000" b="1" i="0" u="none" strike="noStrike" kern="1200" cap="none" spc="0" normalizeH="0" baseline="0" noProof="0" dirty="0">
                          <a:ln>
                            <a:noFill/>
                          </a:ln>
                          <a:solidFill>
                            <a:srgbClr val="000000"/>
                          </a:solidFill>
                          <a:effectLst/>
                          <a:uLnTx/>
                          <a:uFillTx/>
                          <a:latin typeface="+mn-lt"/>
                          <a:ea typeface="+mn-ea"/>
                          <a:cs typeface="+mn-cs"/>
                        </a:rPr>
                        <a:t>Microsoft Cloud Accelerate Factory (Factory) </a:t>
                      </a:r>
                      <a:r>
                        <a:rPr lang="en-US" sz="1000" b="0" i="0" u="none" strike="noStrike" kern="1200" cap="none" spc="0" normalizeH="0" baseline="0" noProof="0" dirty="0">
                          <a:ln>
                            <a:noFill/>
                          </a:ln>
                          <a:solidFill>
                            <a:srgbClr val="161616"/>
                          </a:solidFill>
                          <a:effectLst/>
                          <a:uLnTx/>
                          <a:uFillTx/>
                          <a:latin typeface="+mn-lt"/>
                        </a:rPr>
                        <a:t>enables zone redundancy for the supported workloads and configures health alerts    </a:t>
                      </a: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443447">
                <a:tc>
                  <a:txBody>
                    <a:bodyPr/>
                    <a:lstStyle/>
                    <a:p>
                      <a:pPr algn="ctr"/>
                      <a:r>
                        <a:rPr lang="en-US" sz="1000" b="1" noProof="0" dirty="0">
                          <a:solidFill>
                            <a:srgbClr val="0078D7"/>
                          </a:solidFill>
                          <a:latin typeface="+mn-lt"/>
                        </a:rPr>
                        <a:t>1</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00" b="1" noProof="0" dirty="0">
                          <a:solidFill>
                            <a:srgbClr val="000000"/>
                          </a:solidFill>
                          <a:latin typeface="+mn-lt"/>
                        </a:rPr>
                        <a:t>Review Prerequisites for zonal redundancy, configuring health alerts </a:t>
                      </a:r>
                      <a:r>
                        <a:rPr lang="en-US" sz="1000" noProof="0" dirty="0">
                          <a:solidFill>
                            <a:srgbClr val="000000"/>
                          </a:solidFill>
                          <a:latin typeface="+mn-lt"/>
                        </a:rPr>
                        <a:t>with prerequisites for enabling services:</a:t>
                      </a:r>
                    </a:p>
                    <a:p>
                      <a:pPr marL="171450" marR="0" lvl="0" indent="-171450" algn="l" defTabSz="93256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w="3175">
                            <a:noFill/>
                          </a:ln>
                          <a:solidFill>
                            <a:prstClr val="black"/>
                          </a:solidFill>
                          <a:effectLst/>
                          <a:uLnTx/>
                          <a:uFillTx/>
                          <a:latin typeface="+mn-lt"/>
                          <a:ea typeface="+mn-ea"/>
                          <a:cs typeface="+mn-cs"/>
                        </a:rPr>
                        <a:t>Provide the link for any access requirements.</a:t>
                      </a:r>
                      <a:endParaRPr kumimoji="0" lang="en-US" sz="1000" b="0" i="0" u="none" strike="noStrike" kern="1200" cap="none" spc="0" normalizeH="0" baseline="0" noProof="0" dirty="0">
                        <a:ln>
                          <a:noFill/>
                        </a:ln>
                        <a:solidFill>
                          <a:schemeClr val="tx2"/>
                        </a:solidFill>
                        <a:effectLst/>
                        <a:uLnTx/>
                        <a:uFillTx/>
                        <a:latin typeface="+mn-lt"/>
                        <a:ea typeface="+mn-ea"/>
                        <a:cs typeface="+mn-cs"/>
                      </a:endParaRPr>
                    </a:p>
                  </a:txBody>
                  <a:tcPr marL="63999" marR="63999" marT="63999" marB="63999" anchor="ctr">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674416">
                <a:tc>
                  <a:txBody>
                    <a:bodyPr/>
                    <a:lstStyle/>
                    <a:p>
                      <a:pPr algn="ctr"/>
                      <a:r>
                        <a:rPr lang="en-US" sz="1000" b="1" noProof="0" dirty="0">
                          <a:solidFill>
                            <a:srgbClr val="0078D7"/>
                          </a:solidFill>
                          <a:latin typeface="+mn-lt"/>
                        </a:rPr>
                        <a:t>2</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1" noProof="0" dirty="0">
                          <a:solidFill>
                            <a:srgbClr val="000000"/>
                          </a:solidFill>
                          <a:latin typeface="+mn-lt"/>
                        </a:rPr>
                        <a:t>Review resiliency inputs and identify the services for remediation</a:t>
                      </a:r>
                      <a:r>
                        <a:rPr lang="en-US" sz="1000" noProof="0" dirty="0">
                          <a:solidFill>
                            <a:srgbClr val="000000"/>
                          </a:solidFill>
                          <a:latin typeface="+mn-lt"/>
                        </a:rPr>
                        <a:t>:</a:t>
                      </a:r>
                    </a:p>
                    <a:p>
                      <a:pPr marL="233045" marR="0" lvl="3" indent="-233045" algn="just" rtl="0" eaLnBrk="1" fontAlgn="auto" latinLnBrk="0" hangingPunct="1">
                        <a:lnSpc>
                          <a:spcPct val="100000"/>
                        </a:lnSpc>
                        <a:spcBef>
                          <a:spcPts val="0"/>
                        </a:spcBef>
                        <a:spcAft>
                          <a:spcPts val="0"/>
                        </a:spcAft>
                        <a:buClrTx/>
                        <a:buSzTx/>
                        <a:buFont typeface="+mj-lt"/>
                        <a:buAutoNum type="romanLcPeriod"/>
                      </a:pPr>
                      <a:r>
                        <a:rPr kumimoji="0" lang="en-US" sz="1000" b="0" i="0" u="none" strike="noStrike" kern="0" cap="none" spc="0" normalizeH="0" baseline="0" noProof="0" dirty="0">
                          <a:ln>
                            <a:noFill/>
                          </a:ln>
                          <a:solidFill>
                            <a:prstClr val="black"/>
                          </a:solidFill>
                          <a:effectLst/>
                          <a:uLnTx/>
                          <a:uFillTx/>
                          <a:latin typeface="+mn-lt"/>
                          <a:ea typeface="+mn-ea"/>
                          <a:cs typeface="+mn-cs"/>
                        </a:rPr>
                        <a:t>Review </a:t>
                      </a:r>
                      <a:r>
                        <a:rPr lang="en-US" sz="1000" b="0" i="0" u="none" strike="noStrike" kern="0" cap="none" spc="0" normalizeH="0" baseline="0" noProof="0" dirty="0">
                          <a:ln>
                            <a:noFill/>
                          </a:ln>
                          <a:solidFill>
                            <a:prstClr val="black"/>
                          </a:solidFill>
                          <a:effectLst/>
                          <a:uLnTx/>
                          <a:uFillTx/>
                          <a:latin typeface="+mn-lt"/>
                          <a:ea typeface="+mn-ea"/>
                          <a:cs typeface="+mn-cs"/>
                        </a:rPr>
                        <a:t>CX observe</a:t>
                      </a:r>
                      <a:endParaRPr kumimoji="0" lang="en-US" sz="1000" b="0" i="0" u="none" strike="noStrike" kern="0" cap="none" spc="0" normalizeH="0" baseline="0" noProof="0" dirty="0">
                        <a:ln>
                          <a:noFill/>
                        </a:ln>
                        <a:solidFill>
                          <a:prstClr val="black"/>
                        </a:solidFill>
                        <a:effectLst/>
                        <a:uLnTx/>
                        <a:uFillTx/>
                        <a:latin typeface="+mn-lt"/>
                        <a:ea typeface="+mn-ea"/>
                        <a:cs typeface="+mn-cs"/>
                      </a:endParaRPr>
                    </a:p>
                    <a:p>
                      <a:pPr marL="233045" marR="0" lvl="3" indent="-233045" algn="just" defTabSz="914400" rtl="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mn-lt"/>
                          <a:ea typeface="+mn-ea"/>
                          <a:cs typeface="+mn-cs"/>
                        </a:rPr>
                        <a:t>Review WARA assessment, Azure Advisor recommendations, or platform telemetry</a:t>
                      </a:r>
                    </a:p>
                    <a:p>
                      <a:pPr marL="233045" marR="0" lvl="3" indent="-233045" algn="just" defTabSz="914400" rtl="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mn-lt"/>
                          <a:ea typeface="+mn-ea"/>
                          <a:cs typeface="+mn-cs"/>
                        </a:rPr>
                        <a:t>Identify non‑zonal or single‑instance resources requiring remediation</a:t>
                      </a:r>
                    </a:p>
                    <a:p>
                      <a:pPr marL="233045" marR="0" lvl="3" indent="-233045" algn="just" defTabSz="914400" rtl="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mn-lt"/>
                          <a:ea typeface="+mn-ea"/>
                          <a:cs typeface="+mn-cs"/>
                        </a:rPr>
                        <a:t>For new migrations and new deployments, review zonal redundancy requirements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603003">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00" b="1" kern="1200" noProof="0" dirty="0">
                          <a:solidFill>
                            <a:srgbClr val="0078D7"/>
                          </a:solidFill>
                          <a:latin typeface="+mn-lt"/>
                          <a:ea typeface="+mn-ea"/>
                          <a:cs typeface="+mn-cs"/>
                        </a:rPr>
                        <a:t>3</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1" noProof="0" dirty="0">
                          <a:solidFill>
                            <a:srgbClr val="000000"/>
                          </a:solidFill>
                          <a:latin typeface="+mn-lt"/>
                        </a:rPr>
                        <a:t>Confirm remediation approach per workload</a:t>
                      </a:r>
                      <a:r>
                        <a:rPr lang="en-US" sz="1000" noProof="0" dirty="0">
                          <a:solidFill>
                            <a:srgbClr val="000000"/>
                          </a:solidFill>
                          <a:latin typeface="+mn-lt"/>
                        </a:rPr>
                        <a:t>:</a:t>
                      </a:r>
                    </a:p>
                    <a:p>
                      <a:pPr marL="233045" marR="0" lvl="3" indent="-233045" algn="just" rtl="0" eaLnBrk="1" fontAlgn="auto" latinLnBrk="0" hangingPunct="1">
                        <a:lnSpc>
                          <a:spcPct val="100000"/>
                        </a:lnSpc>
                        <a:spcBef>
                          <a:spcPts val="0"/>
                        </a:spcBef>
                        <a:spcAft>
                          <a:spcPts val="0"/>
                        </a:spcAft>
                        <a:buClrTx/>
                        <a:buSzTx/>
                        <a:buFont typeface="+mj-lt"/>
                        <a:buAutoNum type="romanLcPeriod"/>
                      </a:pPr>
                      <a:r>
                        <a:rPr kumimoji="0" lang="en-US" sz="1000" b="0" i="0" u="none" strike="noStrike" kern="0" cap="none" spc="0" normalizeH="0" baseline="0" noProof="0" dirty="0">
                          <a:ln>
                            <a:noFill/>
                          </a:ln>
                          <a:solidFill>
                            <a:prstClr val="black"/>
                          </a:solidFill>
                          <a:effectLst/>
                          <a:uLnTx/>
                          <a:uFillTx/>
                          <a:latin typeface="+mn-lt"/>
                          <a:ea typeface="+mn-ea"/>
                          <a:cs typeface="+mn-cs"/>
                        </a:rPr>
                        <a:t>Validate supported resiliency options </a:t>
                      </a:r>
                    </a:p>
                    <a:p>
                      <a:pPr marL="233045" marR="0" lvl="3" indent="-233045" algn="just" rtl="0" eaLnBrk="1" fontAlgn="auto" latinLnBrk="0" hangingPunct="1">
                        <a:lnSpc>
                          <a:spcPct val="100000"/>
                        </a:lnSpc>
                        <a:spcBef>
                          <a:spcPts val="0"/>
                        </a:spcBef>
                        <a:spcAft>
                          <a:spcPts val="0"/>
                        </a:spcAft>
                        <a:buClrTx/>
                        <a:buSzTx/>
                        <a:buFont typeface="+mj-lt"/>
                        <a:buAutoNum type="romanLcPeriod"/>
                      </a:pPr>
                      <a:r>
                        <a:rPr kumimoji="0" lang="en-US" sz="1000" b="0" i="0" u="none" strike="noStrike" kern="0" cap="none" spc="0" normalizeH="0" baseline="0" noProof="0" dirty="0">
                          <a:ln>
                            <a:noFill/>
                          </a:ln>
                          <a:solidFill>
                            <a:prstClr val="black"/>
                          </a:solidFill>
                          <a:effectLst/>
                          <a:uLnTx/>
                          <a:uFillTx/>
                          <a:latin typeface="+mn-lt"/>
                          <a:ea typeface="+mn-ea"/>
                          <a:cs typeface="+mn-cs"/>
                        </a:rPr>
                        <a:t>Validate architectural Design changes (For new or existing deployments)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1241339"/>
                  </a:ext>
                </a:extLst>
              </a:tr>
              <a:tr h="826717">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00" b="1" kern="1200" noProof="0" dirty="0">
                          <a:solidFill>
                            <a:srgbClr val="0078D7"/>
                          </a:solidFill>
                          <a:latin typeface="+mn-lt"/>
                          <a:ea typeface="+mn-ea"/>
                          <a:cs typeface="+mn-cs"/>
                        </a:rPr>
                        <a:t>4</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600"/>
                        </a:spcAft>
                        <a:buClrTx/>
                        <a:buSzTx/>
                        <a:buFont typeface="+mj-lt"/>
                        <a:buNone/>
                        <a:tabLst/>
                        <a:defRPr/>
                      </a:pPr>
                      <a:r>
                        <a:rPr kumimoji="0" lang="en-US" sz="1000" b="1" i="0" u="none" strike="noStrike" kern="0" cap="none" spc="0" normalizeH="0" baseline="0" noProof="0" dirty="0">
                          <a:ln>
                            <a:noFill/>
                          </a:ln>
                          <a:solidFill>
                            <a:prstClr val="black"/>
                          </a:solidFill>
                          <a:effectLst/>
                          <a:uLnTx/>
                          <a:uFillTx/>
                          <a:latin typeface="+mn-lt"/>
                          <a:ea typeface="+mn-ea"/>
                          <a:cs typeface="+mn-cs"/>
                        </a:rPr>
                        <a:t>Implement zonal redundancy </a:t>
                      </a:r>
                      <a:r>
                        <a:rPr kumimoji="0" lang="en-US" sz="1000" b="0" i="0" u="none" strike="noStrike" kern="0" cap="none" spc="0" normalizeH="0" baseline="0" noProof="0" dirty="0">
                          <a:ln>
                            <a:noFill/>
                          </a:ln>
                          <a:solidFill>
                            <a:prstClr val="black"/>
                          </a:solidFill>
                          <a:effectLst/>
                          <a:uLnTx/>
                          <a:uFillTx/>
                          <a:latin typeface="+mn-lt"/>
                          <a:ea typeface="+mn-ea"/>
                          <a:cs typeface="+mn-cs"/>
                        </a:rPr>
                        <a:t>for supported services</a:t>
                      </a:r>
                    </a:p>
                    <a:p>
                      <a:pPr marL="288925" marR="0" lvl="2" indent="-285750" algn="just" rtl="0" eaLnBrk="1" fontAlgn="auto" latinLnBrk="0" hangingPunct="1">
                        <a:lnSpc>
                          <a:spcPct val="100000"/>
                        </a:lnSpc>
                        <a:spcBef>
                          <a:spcPts val="0"/>
                        </a:spcBef>
                        <a:spcAft>
                          <a:spcPts val="0"/>
                        </a:spcAft>
                        <a:buClrTx/>
                        <a:buSzTx/>
                        <a:buFont typeface="+mj-lt"/>
                        <a:buAutoNum type="romanLcPeriod"/>
                      </a:pPr>
                      <a:r>
                        <a:rPr kumimoji="0" lang="en-US" sz="1000" b="0" i="0" u="none" strike="noStrike" kern="0" cap="none" spc="0" normalizeH="0" baseline="0" noProof="0" dirty="0">
                          <a:ln>
                            <a:noFill/>
                          </a:ln>
                          <a:solidFill>
                            <a:srgbClr val="000000"/>
                          </a:solidFill>
                          <a:effectLst/>
                          <a:uLnTx/>
                          <a:uFillTx/>
                          <a:latin typeface="+mn-lt"/>
                          <a:cs typeface="Segoe Sans Text"/>
                        </a:rPr>
                        <a:t>Configure zone‑redundant settings for eligible services (VMs, Data services, Storage, AKS, ACA, App Service)</a:t>
                      </a:r>
                    </a:p>
                    <a:p>
                      <a:pPr marL="288925" marR="0" lvl="2" indent="-285750" algn="just" rtl="0" eaLnBrk="1" fontAlgn="auto" latinLnBrk="0" hangingPunct="1">
                        <a:lnSpc>
                          <a:spcPct val="100000"/>
                        </a:lnSpc>
                        <a:spcBef>
                          <a:spcPts val="0"/>
                        </a:spcBef>
                        <a:spcAft>
                          <a:spcPts val="0"/>
                        </a:spcAft>
                        <a:buClrTx/>
                        <a:buSzTx/>
                        <a:buFont typeface="+mj-lt"/>
                        <a:buAutoNum type="romanLcPeriod"/>
                      </a:pPr>
                      <a:r>
                        <a:rPr kumimoji="0" lang="en-US" sz="1000" b="0" i="0" u="none" strike="noStrike" kern="0" cap="none" spc="0" normalizeH="0" baseline="0" noProof="0" dirty="0">
                          <a:ln>
                            <a:noFill/>
                          </a:ln>
                          <a:solidFill>
                            <a:srgbClr val="000000"/>
                          </a:solidFill>
                          <a:effectLst/>
                          <a:uLnTx/>
                          <a:uFillTx/>
                          <a:latin typeface="+mn-lt"/>
                          <a:cs typeface="Segoe Sans Text"/>
                        </a:rPr>
                        <a:t>Apply changes only to agreed in‑scope resources</a:t>
                      </a:r>
                    </a:p>
                    <a:p>
                      <a:pPr marL="288925" marR="0" lvl="2" indent="-285750" algn="just" rtl="0" eaLnBrk="1" fontAlgn="auto" latinLnBrk="0" hangingPunct="1">
                        <a:lnSpc>
                          <a:spcPct val="100000"/>
                        </a:lnSpc>
                        <a:spcBef>
                          <a:spcPts val="0"/>
                        </a:spcBef>
                        <a:spcAft>
                          <a:spcPts val="0"/>
                        </a:spcAft>
                        <a:buClrTx/>
                        <a:buSzTx/>
                        <a:buFont typeface="+mj-lt"/>
                        <a:buAutoNum type="romanLcPeriod"/>
                      </a:pPr>
                      <a:r>
                        <a:rPr kumimoji="0" lang="en-US" sz="1000" b="0" i="0" u="none" strike="noStrike" kern="0" cap="none" spc="0" normalizeH="0" baseline="0" noProof="0" dirty="0">
                          <a:ln>
                            <a:noFill/>
                          </a:ln>
                          <a:solidFill>
                            <a:prstClr val="black"/>
                          </a:solidFill>
                          <a:effectLst/>
                          <a:uLnTx/>
                          <a:uFillTx/>
                          <a:latin typeface="+mn-lt"/>
                          <a:ea typeface="+mn-ea"/>
                          <a:cs typeface="+mn-cs"/>
                        </a:rPr>
                        <a:t>Default Service Health alert </a:t>
                      </a:r>
                      <a:r>
                        <a:rPr lang="en-US" sz="1000" b="0" i="0" u="none" strike="noStrike" kern="0" cap="none" spc="0" normalizeH="0" baseline="0" noProof="0" dirty="0">
                          <a:ln>
                            <a:noFill/>
                          </a:ln>
                          <a:solidFill>
                            <a:prstClr val="black"/>
                          </a:solidFill>
                          <a:effectLst/>
                          <a:uLnTx/>
                          <a:uFillTx/>
                          <a:latin typeface="+mn-lt"/>
                          <a:ea typeface="+mn-ea"/>
                          <a:cs typeface="+mn-cs"/>
                        </a:rPr>
                        <a:t>setup</a:t>
                      </a:r>
                      <a:r>
                        <a:rPr kumimoji="0" lang="en-US" sz="1000" b="0" i="0" u="none" strike="noStrike" kern="0" cap="none" spc="0" normalizeH="0" baseline="0" noProof="0" dirty="0">
                          <a:ln>
                            <a:noFill/>
                          </a:ln>
                          <a:solidFill>
                            <a:prstClr val="black"/>
                          </a:solidFill>
                          <a:effectLst/>
                          <a:uLnTx/>
                          <a:uFillTx/>
                          <a:latin typeface="+mn-lt"/>
                          <a:ea typeface="+mn-ea"/>
                          <a:cs typeface="+mn-cs"/>
                        </a:rPr>
                        <a:t> and configuration through the Azure portal, Azure CLI, or PowerShell.</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4219895"/>
                  </a:ext>
                </a:extLst>
              </a:tr>
              <a:tr h="481942">
                <a:tc>
                  <a:txBody>
                    <a:bodyPr/>
                    <a:lstStyle/>
                    <a:p>
                      <a:pPr algn="ctr"/>
                      <a:r>
                        <a:rPr lang="en-US" sz="1000" b="1" noProof="0" dirty="0">
                          <a:solidFill>
                            <a:srgbClr val="0078D7"/>
                          </a:solidFill>
                          <a:latin typeface="+mn-lt"/>
                        </a:rPr>
                        <a:t>5</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latin typeface="+mn-lt"/>
                          <a:ea typeface="+mn-ea"/>
                          <a:cs typeface="Segoe Sans Text"/>
                        </a:rPr>
                        <a:t>Complete validation </a:t>
                      </a:r>
                      <a:br>
                        <a:rPr kumimoji="0" lang="en-US" sz="1000" b="1" i="0" u="none" strike="noStrike" kern="0" cap="none" spc="0" normalizeH="0" baseline="0" noProof="0" dirty="0">
                          <a:ln>
                            <a:noFill/>
                          </a:ln>
                          <a:solidFill>
                            <a:srgbClr val="000000"/>
                          </a:solidFill>
                          <a:effectLst/>
                          <a:uLnTx/>
                          <a:uFillTx/>
                          <a:latin typeface="+mn-lt"/>
                          <a:ea typeface="+mn-ea"/>
                          <a:cs typeface="Segoe Sans Text"/>
                        </a:rPr>
                      </a:br>
                      <a:r>
                        <a:rPr kumimoji="0" lang="en-US" sz="1000" b="0" i="0" u="none" strike="noStrike" kern="0" cap="none" spc="0" normalizeH="0" baseline="0" noProof="0" dirty="0">
                          <a:ln>
                            <a:noFill/>
                          </a:ln>
                          <a:solidFill>
                            <a:srgbClr val="000000"/>
                          </a:solidFill>
                          <a:effectLst/>
                          <a:uLnTx/>
                          <a:uFillTx/>
                          <a:latin typeface="+mn-lt"/>
                          <a:ea typeface="+mn-ea"/>
                          <a:cs typeface="+mn-cs"/>
                        </a:rPr>
                        <a:t>Follow remediation steps/runbook.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mn-lt"/>
                          <a:ea typeface="+mn-ea"/>
                          <a:cs typeface="+mn-cs"/>
                        </a:rPr>
                        <a:t>Provide proof of enabling ZA/health alerts.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7708825"/>
                  </a:ext>
                </a:extLst>
              </a:tr>
              <a:tr h="235588">
                <a:tc>
                  <a:txBody>
                    <a:bodyPr/>
                    <a:lstStyle/>
                    <a:p>
                      <a:pPr algn="ctr"/>
                      <a:r>
                        <a:rPr lang="en-US" sz="1050" b="1" noProof="0" dirty="0">
                          <a:solidFill>
                            <a:srgbClr val="0078D7"/>
                          </a:solidFill>
                          <a:latin typeface="+mn-lt"/>
                        </a:rPr>
                        <a:t>6</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715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0" cap="none" spc="0" normalizeH="0" baseline="0" noProof="0" dirty="0">
                          <a:ln>
                            <a:noFill/>
                          </a:ln>
                          <a:solidFill>
                            <a:srgbClr val="000000"/>
                          </a:solidFill>
                          <a:effectLst/>
                          <a:uLnTx/>
                          <a:uFillTx/>
                          <a:latin typeface="+mn-lt"/>
                          <a:ea typeface="+mn-ea"/>
                          <a:cs typeface="+mn-cs"/>
                        </a:rPr>
                        <a:t>Hand over</a:t>
                      </a:r>
                      <a:r>
                        <a:rPr kumimoji="0" lang="en-US" sz="1000" b="0" i="0" u="none" strike="noStrike" kern="0" cap="none" spc="0" normalizeH="0" baseline="0" noProof="0" dirty="0">
                          <a:ln>
                            <a:noFill/>
                          </a:ln>
                          <a:solidFill>
                            <a:srgbClr val="000000"/>
                          </a:solidFill>
                          <a:effectLst/>
                          <a:uLnTx/>
                          <a:uFillTx/>
                          <a:latin typeface="+mn-lt"/>
                          <a:ea typeface="+mn-ea"/>
                          <a:cs typeface="+mn-cs"/>
                        </a:rPr>
                        <a:t> Summarize remediated resources and configuration changes for post resiliency activities​</a:t>
                      </a:r>
                    </a:p>
                  </a:txBody>
                  <a:tcPr marL="63999" marR="63999" marT="63999" marB="63999" anchor="ctr">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0983830"/>
                  </a:ext>
                </a:extLst>
              </a:tr>
              <a:tr h="37417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a:t>
                      </a:r>
                      <a:br>
                        <a:rPr kumimoji="0" lang="en-US" sz="800" b="0" i="0" u="none" strike="noStrike" kern="1200" cap="none" spc="0" normalizeH="0" baseline="0" noProof="0" dirty="0">
                          <a:ln>
                            <a:noFill/>
                          </a:ln>
                          <a:solidFill>
                            <a:srgbClr val="000000"/>
                          </a:solidFill>
                          <a:effectLst/>
                          <a:uLnTx/>
                          <a:uFillTx/>
                          <a:latin typeface="+mn-lt"/>
                          <a:ea typeface="+mn-ea"/>
                          <a:cs typeface="+mn-cs"/>
                        </a:rPr>
                      </a:br>
                      <a:r>
                        <a:rPr kumimoji="0" lang="en-US" sz="800" b="0" i="0" u="none" strike="noStrike" kern="1200" cap="none" spc="0" normalizeH="0" baseline="0" noProof="0" dirty="0">
                          <a:ln>
                            <a:noFill/>
                          </a:ln>
                          <a:solidFill>
                            <a:srgbClr val="000000"/>
                          </a:solidFill>
                          <a:effectLst/>
                          <a:uLnTx/>
                          <a:uFillTx/>
                          <a:latin typeface="+mn-lt"/>
                          <a:ea typeface="+mn-ea"/>
                          <a:cs typeface="+mn-cs"/>
                        </a:rPr>
                        <a:t>providing overall project management; coordinating and </a:t>
                      </a:r>
                      <a:r>
                        <a:rPr kumimoji="0" lang="en-US" sz="800" b="0" i="0" u="none" strike="noStrike" kern="1200" cap="none" spc="0" normalizeH="0" baseline="0" noProof="0" dirty="0">
                          <a:ln>
                            <a:noFill/>
                          </a:ln>
                          <a:solidFill>
                            <a:srgbClr val="282828"/>
                          </a:solidFill>
                          <a:effectLst/>
                          <a:uLnTx/>
                          <a:uFillTx/>
                          <a:latin typeface="+mn-lt"/>
                          <a:ea typeface="+mn-ea"/>
                          <a:cs typeface="Segoe Sans Text"/>
                        </a:rPr>
                        <a:t>attending checkpoint meetings; and implementing user communications, documentation, training, and change management. </a:t>
                      </a:r>
                      <a:endParaRPr kumimoji="0" lang="en-US" sz="800" b="0" i="0" u="none" strike="noStrike" kern="1200" cap="none" spc="0" normalizeH="0" baseline="0" noProof="0" dirty="0">
                        <a:ln>
                          <a:noFill/>
                        </a:ln>
                        <a:solidFill>
                          <a:srgbClr val="000000"/>
                        </a:solidFill>
                        <a:effectLst/>
                        <a:uLnTx/>
                        <a:uFillTx/>
                        <a:latin typeface="+mn-lt"/>
                        <a:ea typeface="+mn-ea"/>
                        <a:cs typeface="Segoe Sans Text"/>
                      </a:endParaRP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018203607"/>
                  </a:ext>
                </a:extLst>
              </a:tr>
              <a:tr h="281782">
                <a:tc gridSpan="2">
                  <a:txBody>
                    <a:bodyPr/>
                    <a:lstStyle/>
                    <a:p>
                      <a:pPr lvl="0" algn="l">
                        <a:lnSpc>
                          <a:spcPct val="100000"/>
                        </a:lnSpc>
                        <a:spcBef>
                          <a:spcPts val="0"/>
                        </a:spcBef>
                        <a:spcAft>
                          <a:spcPts val="0"/>
                        </a:spcAft>
                        <a:buNone/>
                      </a:pPr>
                      <a:r>
                        <a:rPr lang="en-US" sz="800" b="0" i="0" u="none" strike="noStrike" kern="1200" cap="none" spc="0" normalizeH="0" baseline="0" noProof="0" dirty="0">
                          <a:ln>
                            <a:noFill/>
                          </a:ln>
                          <a:solidFill>
                            <a:srgbClr val="000000"/>
                          </a:solidFill>
                          <a:effectLst/>
                          <a:uLnTx/>
                          <a:uFillTx/>
                          <a:latin typeface="+mn-lt"/>
                        </a:rPr>
                        <a:t>Estimated duration for completing all activities in a typical engagement is within 15 days when all the requirements are met, and customer and partner are ready for execution.</a:t>
                      </a: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16" name="TextBox 15">
            <a:extLst>
              <a:ext uri="{FF2B5EF4-FFF2-40B4-BE49-F238E27FC236}">
                <a16:creationId xmlns:a16="http://schemas.microsoft.com/office/drawing/2014/main" id="{9207F47E-363A-C23C-B727-427A1D092A1F}"/>
              </a:ext>
            </a:extLst>
          </p:cNvPr>
          <p:cNvSpPr txBox="1"/>
          <p:nvPr/>
        </p:nvSpPr>
        <p:spPr>
          <a:xfrm>
            <a:off x="594884" y="1282785"/>
            <a:ext cx="7431931"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18" name="TextBox 17">
            <a:extLst>
              <a:ext uri="{FF2B5EF4-FFF2-40B4-BE49-F238E27FC236}">
                <a16:creationId xmlns:a16="http://schemas.microsoft.com/office/drawing/2014/main" id="{70505CDD-B899-2DDF-478F-EF80623E39BB}"/>
              </a:ext>
            </a:extLst>
          </p:cNvPr>
          <p:cNvSpPr txBox="1"/>
          <p:nvPr/>
        </p:nvSpPr>
        <p:spPr>
          <a:xfrm>
            <a:off x="8403438" y="1282785"/>
            <a:ext cx="3152458"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0" name="Graphic 22">
            <a:extLst>
              <a:ext uri="{FF2B5EF4-FFF2-40B4-BE49-F238E27FC236}">
                <a16:creationId xmlns:a16="http://schemas.microsoft.com/office/drawing/2014/main" id="{D5A5FDEC-6296-0573-F4C5-C4A1B7B8F31F}"/>
              </a:ext>
            </a:extLst>
          </p:cNvPr>
          <p:cNvSpPr/>
          <p:nvPr/>
        </p:nvSpPr>
        <p:spPr>
          <a:xfrm>
            <a:off x="3377220" y="13411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Graphic 25">
            <a:extLst>
              <a:ext uri="{FF2B5EF4-FFF2-40B4-BE49-F238E27FC236}">
                <a16:creationId xmlns:a16="http://schemas.microsoft.com/office/drawing/2014/main" id="{8F1A9DA4-5694-DF27-345A-7D892951E8F4}"/>
              </a:ext>
            </a:extLst>
          </p:cNvPr>
          <p:cNvSpPr/>
          <p:nvPr/>
        </p:nvSpPr>
        <p:spPr>
          <a:xfrm>
            <a:off x="9501847" y="1367478"/>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4" name="TextBox 3">
            <a:extLst>
              <a:ext uri="{FF2B5EF4-FFF2-40B4-BE49-F238E27FC236}">
                <a16:creationId xmlns:a16="http://schemas.microsoft.com/office/drawing/2014/main" id="{AD81EF40-20D0-4B7F-781F-B336A20AE5ED}"/>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42740789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69">
            <a:extLst>
              <a:ext uri="{FF2B5EF4-FFF2-40B4-BE49-F238E27FC236}">
                <a16:creationId xmlns:a16="http://schemas.microsoft.com/office/drawing/2014/main" id="{CBFA8DE0-A3F4-A6B4-37F1-D1D4023C42F3}"/>
              </a:ext>
            </a:extLst>
          </p:cNvPr>
          <p:cNvSpPr>
            <a:spLocks noGrp="1"/>
          </p:cNvSpPr>
          <p:nvPr>
            <p:ph type="title"/>
          </p:nvPr>
        </p:nvSpPr>
        <p:spPr>
          <a:xfrm>
            <a:off x="588263" y="457200"/>
            <a:ext cx="11018520" cy="738664"/>
          </a:xfrm>
        </p:spPr>
        <p:txBody>
          <a:bodyPr/>
          <a:lstStyle/>
          <a:p>
            <a:r>
              <a:rPr lang="en-US" sz="2400" noProof="0" dirty="0"/>
              <a:t>Secure Azure Cloud</a:t>
            </a:r>
            <a:br>
              <a:rPr lang="en-US" sz="2400" noProof="0" dirty="0"/>
            </a:br>
            <a:r>
              <a:rPr lang="en-US" sz="2400" noProof="0" dirty="0">
                <a:solidFill>
                  <a:schemeClr val="tx1"/>
                </a:solidFill>
              </a:rPr>
              <a:t>Resiliency Remediation Scope</a:t>
            </a:r>
          </a:p>
        </p:txBody>
      </p:sp>
      <p:sp>
        <p:nvSpPr>
          <p:cNvPr id="45" name="Rounded Rectangle 44">
            <a:extLst>
              <a:ext uri="{FF2B5EF4-FFF2-40B4-BE49-F238E27FC236}">
                <a16:creationId xmlns:a16="http://schemas.microsoft.com/office/drawing/2014/main" id="{F634677E-E03B-7B28-70FB-17176BECC18D}"/>
              </a:ext>
              <a:ext uri="{C183D7F6-B498-43B3-948B-1728B52AA6E4}">
                <adec:decorative xmlns:adec="http://schemas.microsoft.com/office/drawing/2017/decorative" val="1"/>
              </a:ext>
            </a:extLst>
          </p:cNvPr>
          <p:cNvSpPr>
            <a:spLocks/>
          </p:cNvSpPr>
          <p:nvPr/>
        </p:nvSpPr>
        <p:spPr bwMode="auto">
          <a:xfrm>
            <a:off x="6121729" y="1384024"/>
            <a:ext cx="5555924" cy="2390119"/>
          </a:xfrm>
          <a:prstGeom prst="roundRect">
            <a:avLst>
              <a:gd name="adj" fmla="val 5592"/>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sp>
        <p:nvSpPr>
          <p:cNvPr id="46" name="Rounded Rectangle 45">
            <a:extLst>
              <a:ext uri="{FF2B5EF4-FFF2-40B4-BE49-F238E27FC236}">
                <a16:creationId xmlns:a16="http://schemas.microsoft.com/office/drawing/2014/main" id="{7FA46142-0770-3C3B-EEB1-60931CBC41E8}"/>
              </a:ext>
              <a:ext uri="{C183D7F6-B498-43B3-948B-1728B52AA6E4}">
                <adec:decorative xmlns:adec="http://schemas.microsoft.com/office/drawing/2017/decorative" val="1"/>
              </a:ext>
            </a:extLst>
          </p:cNvPr>
          <p:cNvSpPr>
            <a:spLocks/>
          </p:cNvSpPr>
          <p:nvPr/>
        </p:nvSpPr>
        <p:spPr bwMode="auto">
          <a:xfrm>
            <a:off x="541916" y="1384024"/>
            <a:ext cx="5513640" cy="4928037"/>
          </a:xfrm>
          <a:prstGeom prst="roundRect">
            <a:avLst>
              <a:gd name="adj" fmla="val 5274"/>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sp>
        <p:nvSpPr>
          <p:cNvPr id="47" name="TextBox 46">
            <a:extLst>
              <a:ext uri="{FF2B5EF4-FFF2-40B4-BE49-F238E27FC236}">
                <a16:creationId xmlns:a16="http://schemas.microsoft.com/office/drawing/2014/main" id="{6121ACFB-C26C-745E-C921-F3CFFD4155CD}"/>
              </a:ext>
            </a:extLst>
          </p:cNvPr>
          <p:cNvSpPr txBox="1">
            <a:spLocks/>
          </p:cNvSpPr>
          <p:nvPr/>
        </p:nvSpPr>
        <p:spPr>
          <a:xfrm>
            <a:off x="584200" y="1441281"/>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48" name="TextBox 47">
            <a:extLst>
              <a:ext uri="{FF2B5EF4-FFF2-40B4-BE49-F238E27FC236}">
                <a16:creationId xmlns:a16="http://schemas.microsoft.com/office/drawing/2014/main" id="{5D8F643C-9861-19A7-2A4B-642B4ED883D3}"/>
              </a:ext>
            </a:extLst>
          </p:cNvPr>
          <p:cNvSpPr txBox="1">
            <a:spLocks/>
          </p:cNvSpPr>
          <p:nvPr/>
        </p:nvSpPr>
        <p:spPr>
          <a:xfrm>
            <a:off x="6165572" y="1429669"/>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 Partner / Customer – Led*</a:t>
            </a:r>
          </a:p>
        </p:txBody>
      </p:sp>
      <p:cxnSp>
        <p:nvCxnSpPr>
          <p:cNvPr id="36" name="Straight Connector 35">
            <a:extLst>
              <a:ext uri="{FF2B5EF4-FFF2-40B4-BE49-F238E27FC236}">
                <a16:creationId xmlns:a16="http://schemas.microsoft.com/office/drawing/2014/main" id="{76EF89E9-D0AF-7CD6-E06B-7A22906C4DB3}"/>
              </a:ext>
              <a:ext uri="{C183D7F6-B498-43B3-948B-1728B52AA6E4}">
                <adec:decorative xmlns:adec="http://schemas.microsoft.com/office/drawing/2017/decorative" val="1"/>
              </a:ext>
            </a:extLst>
          </p:cNvPr>
          <p:cNvCxnSpPr>
            <a:cxnSpLocks/>
          </p:cNvCxnSpPr>
          <p:nvPr/>
        </p:nvCxnSpPr>
        <p:spPr>
          <a:xfrm>
            <a:off x="1078701" y="4110253"/>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BE97527-5CC1-0FDD-3666-A071C549E32E}"/>
              </a:ext>
              <a:ext uri="{C183D7F6-B498-43B3-948B-1728B52AA6E4}">
                <adec:decorative xmlns:adec="http://schemas.microsoft.com/office/drawing/2017/decorative" val="1"/>
              </a:ext>
            </a:extLst>
          </p:cNvPr>
          <p:cNvCxnSpPr>
            <a:cxnSpLocks/>
          </p:cNvCxnSpPr>
          <p:nvPr/>
        </p:nvCxnSpPr>
        <p:spPr>
          <a:xfrm>
            <a:off x="1071495" y="3458530"/>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BA5A9CB-9559-5EF7-8668-10217297CB55}"/>
              </a:ext>
            </a:extLst>
          </p:cNvPr>
          <p:cNvSpPr txBox="1"/>
          <p:nvPr/>
        </p:nvSpPr>
        <p:spPr>
          <a:xfrm>
            <a:off x="1031385" y="2028581"/>
            <a:ext cx="4860157" cy="1410643"/>
          </a:xfrm>
          <a:prstGeom prst="rect">
            <a:avLst/>
          </a:prstGeom>
          <a:noFill/>
        </p:spPr>
        <p:txBody>
          <a:bodyPr wrap="square" lIns="0" tIns="0" rIns="0" bIns="0" anchor="t">
            <a:spAutoFit/>
          </a:bodyPr>
          <a:lstStyle/>
          <a:p>
            <a:pPr>
              <a:spcAft>
                <a:spcPts val="200"/>
              </a:spcAft>
              <a:defRPr/>
            </a:pPr>
            <a:r>
              <a:rPr kumimoji="0" lang="en-US" sz="1000" b="1" i="0" u="none" strike="noStrike" kern="0" cap="none" spc="0" normalizeH="0" baseline="0" noProof="0" dirty="0">
                <a:ln>
                  <a:noFill/>
                </a:ln>
                <a:solidFill>
                  <a:srgbClr val="000000"/>
                </a:solidFill>
                <a:effectLst/>
                <a:uLnTx/>
                <a:uFillTx/>
                <a:cs typeface="Segoe Sans Text"/>
              </a:rPr>
              <a:t>Data </a:t>
            </a:r>
            <a:r>
              <a:rPr lang="en-US" sz="1000" b="1" kern="0" noProof="0" dirty="0">
                <a:solidFill>
                  <a:srgbClr val="000000"/>
                </a:solidFill>
                <a:cs typeface="Segoe Sans Text"/>
              </a:rPr>
              <a:t>Services </a:t>
            </a: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SQL DB </a:t>
            </a: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SQL Managed Instance </a:t>
            </a: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Cosmos DB  (RU) </a:t>
            </a: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DocumentDB</a:t>
            </a: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Database for MySQL flexible servers  </a:t>
            </a: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Database for PostgreSQL flexible servers</a:t>
            </a:r>
            <a:endParaRPr lang="en-US" sz="1000" kern="0" noProof="0" dirty="0">
              <a:solidFill>
                <a:srgbClr val="000000"/>
              </a:solidFill>
              <a:ea typeface="+mn-lt"/>
              <a:cs typeface="Segoe Sans Text" pitchFamily="2" charset="0"/>
            </a:endParaRPr>
          </a:p>
          <a:p>
            <a:pPr marL="171450" indent="-171450">
              <a:spcAft>
                <a:spcPts val="200"/>
              </a:spcAft>
              <a:buFont typeface="Arial" panose="020B0604020202020204" pitchFamily="34" charset="0"/>
              <a:buChar char="•"/>
              <a:defRPr/>
            </a:pPr>
            <a:r>
              <a:rPr lang="en-US" sz="1000" kern="0" noProof="0" dirty="0">
                <a:solidFill>
                  <a:srgbClr val="000000"/>
                </a:solidFill>
                <a:ea typeface="+mn-lt"/>
                <a:cs typeface="+mn-lt"/>
              </a:rPr>
              <a:t>Azure Managed Instance for Apache Cassandra</a:t>
            </a:r>
            <a:r>
              <a:rPr lang="en-US" sz="1000" kern="0" noProof="0" dirty="0">
                <a:solidFill>
                  <a:srgbClr val="000000"/>
                </a:solidFill>
                <a:cs typeface="Segoe Sans Text"/>
              </a:rPr>
              <a:t> </a:t>
            </a:r>
            <a:endParaRPr lang="en-US" sz="1000" b="0" i="0" u="none" strike="noStrike" kern="0" cap="none" spc="0" normalizeH="0" baseline="0" noProof="0" dirty="0">
              <a:ln>
                <a:noFill/>
              </a:ln>
              <a:solidFill>
                <a:srgbClr val="000000"/>
              </a:solidFill>
              <a:effectLst/>
              <a:uLnTx/>
              <a:uFillTx/>
              <a:cs typeface="Segoe Sans Text"/>
            </a:endParaRPr>
          </a:p>
        </p:txBody>
      </p:sp>
      <p:sp>
        <p:nvSpPr>
          <p:cNvPr id="95" name="TextBox 94">
            <a:extLst>
              <a:ext uri="{FF2B5EF4-FFF2-40B4-BE49-F238E27FC236}">
                <a16:creationId xmlns:a16="http://schemas.microsoft.com/office/drawing/2014/main" id="{EB02DEC3-01AC-46D7-97BE-48940D0703E2}"/>
              </a:ext>
            </a:extLst>
          </p:cNvPr>
          <p:cNvSpPr txBox="1"/>
          <p:nvPr/>
        </p:nvSpPr>
        <p:spPr>
          <a:xfrm>
            <a:off x="1084501" y="3488330"/>
            <a:ext cx="4844488" cy="51296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dirty="0">
                <a:ln>
                  <a:noFill/>
                </a:ln>
                <a:solidFill>
                  <a:srgbClr val="000000"/>
                </a:solidFill>
                <a:effectLst/>
                <a:uLnTx/>
                <a:uFillTx/>
                <a:ea typeface="+mn-ea"/>
                <a:cs typeface="Segoe Sans Text" pitchFamily="2" charset="0"/>
              </a:rPr>
              <a:t>Storage</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i="0" u="none" strike="noStrike" kern="0" cap="none" spc="0" normalizeH="0" baseline="0" noProof="0" dirty="0">
                <a:ln>
                  <a:noFill/>
                </a:ln>
                <a:solidFill>
                  <a:srgbClr val="000000"/>
                </a:solidFill>
                <a:effectLst/>
                <a:uLnTx/>
                <a:uFillTx/>
                <a:ea typeface="+mn-ea"/>
                <a:cs typeface="Segoe Sans Text" pitchFamily="2" charset="0"/>
              </a:rPr>
              <a:t> Azure </a:t>
            </a:r>
            <a:r>
              <a:rPr lang="en-US" sz="1000" kern="0" noProof="0" dirty="0">
                <a:solidFill>
                  <a:srgbClr val="000000"/>
                </a:solidFill>
                <a:cs typeface="Segoe Sans Text" pitchFamily="2" charset="0"/>
              </a:rPr>
              <a:t>Storage Account</a:t>
            </a:r>
          </a:p>
          <a:p>
            <a:pPr marL="171450" lvl="0" indent="-171450">
              <a:spcAft>
                <a:spcPts val="200"/>
              </a:spcAft>
              <a:buFont typeface="Arial" panose="020B0604020202020204" pitchFamily="34" charset="0"/>
              <a:buChar char="•"/>
              <a:defRPr/>
            </a:pPr>
            <a:r>
              <a:rPr lang="en-US" sz="1000" kern="0" noProof="0" dirty="0">
                <a:solidFill>
                  <a:srgbClr val="000000"/>
                </a:solidFill>
                <a:cs typeface="Segoe Sans Text" pitchFamily="2" charset="0"/>
              </a:rPr>
              <a:t> Azure Data Lake Storage</a:t>
            </a:r>
          </a:p>
        </p:txBody>
      </p:sp>
      <p:sp>
        <p:nvSpPr>
          <p:cNvPr id="3" name="TextBox 2">
            <a:extLst>
              <a:ext uri="{FF2B5EF4-FFF2-40B4-BE49-F238E27FC236}">
                <a16:creationId xmlns:a16="http://schemas.microsoft.com/office/drawing/2014/main" id="{F341A361-EBFE-B4EE-E129-8B4EEA2A925B}"/>
              </a:ext>
            </a:extLst>
          </p:cNvPr>
          <p:cNvSpPr txBox="1"/>
          <p:nvPr/>
        </p:nvSpPr>
        <p:spPr>
          <a:xfrm>
            <a:off x="1084501" y="5320088"/>
            <a:ext cx="4844488" cy="153888"/>
          </a:xfrm>
          <a:prstGeom prst="rect">
            <a:avLst/>
          </a:prstGeom>
          <a:noFill/>
        </p:spPr>
        <p:txBody>
          <a:bodyPr wrap="square" lIns="0" tIns="0" rIns="0" bIns="0" anchor="t">
            <a:spAutoFit/>
          </a:bodyPr>
          <a:lstStyle/>
          <a:p>
            <a:pPr>
              <a:spcAft>
                <a:spcPts val="200"/>
              </a:spcAft>
              <a:defRPr/>
            </a:pPr>
            <a:r>
              <a:rPr lang="en-US" sz="1000" b="1" kern="0" noProof="0" dirty="0">
                <a:solidFill>
                  <a:srgbClr val="000000"/>
                </a:solidFill>
                <a:cs typeface="Segoe Sans Text"/>
              </a:rPr>
              <a:t>Configuration of Service Health</a:t>
            </a:r>
            <a:r>
              <a:rPr kumimoji="0" lang="en-US" sz="1000" b="1" i="0" u="none" strike="noStrike" kern="0" cap="none" spc="0" normalizeH="0" baseline="0" noProof="0" dirty="0">
                <a:ln>
                  <a:noFill/>
                </a:ln>
                <a:solidFill>
                  <a:srgbClr val="000000"/>
                </a:solidFill>
                <a:effectLst/>
                <a:uLnTx/>
                <a:uFillTx/>
                <a:cs typeface="Segoe Sans Text"/>
              </a:rPr>
              <a:t> Alerts</a:t>
            </a:r>
          </a:p>
        </p:txBody>
      </p:sp>
      <p:sp>
        <p:nvSpPr>
          <p:cNvPr id="6" name="TextBox 5">
            <a:extLst>
              <a:ext uri="{FF2B5EF4-FFF2-40B4-BE49-F238E27FC236}">
                <a16:creationId xmlns:a16="http://schemas.microsoft.com/office/drawing/2014/main" id="{987A91F7-C805-7D7E-6F6F-AC0438A93575}"/>
              </a:ext>
            </a:extLst>
          </p:cNvPr>
          <p:cNvSpPr txBox="1"/>
          <p:nvPr/>
        </p:nvSpPr>
        <p:spPr>
          <a:xfrm>
            <a:off x="1071495" y="4216500"/>
            <a:ext cx="4844488" cy="923330"/>
          </a:xfrm>
          <a:prstGeom prst="rect">
            <a:avLst/>
          </a:prstGeom>
          <a:noFill/>
        </p:spPr>
        <p:txBody>
          <a:bodyPr wrap="square" lIns="0" tIns="0" rIns="0" bIns="0" anchor="t">
            <a:spAutoFit/>
          </a:bodyPr>
          <a:lstStyle/>
          <a:p>
            <a:pPr marL="3175" lvl="2" algn="just" defTabSz="932742">
              <a:defRPr/>
            </a:pPr>
            <a:r>
              <a:rPr lang="en-US" sz="1000" b="1" kern="0" noProof="0" dirty="0">
                <a:solidFill>
                  <a:srgbClr val="000000"/>
                </a:solidFill>
                <a:cs typeface="Segoe Sans Text" pitchFamily="2" charset="0"/>
              </a:rPr>
              <a:t>Azure Compute Services</a:t>
            </a:r>
          </a:p>
          <a:p>
            <a:pPr marL="174625" lvl="2" indent="-171450" algn="just" defTabSz="932742">
              <a:buFont typeface="Arial" panose="020B0604020202020204" pitchFamily="34" charset="0"/>
              <a:buChar char="•"/>
              <a:defRPr/>
            </a:pPr>
            <a:r>
              <a:rPr lang="en-US" sz="1000" kern="0" noProof="0" dirty="0">
                <a:solidFill>
                  <a:srgbClr val="000000"/>
                </a:solidFill>
                <a:cs typeface="Segoe Sans Text" pitchFamily="2" charset="0"/>
              </a:rPr>
              <a:t>  Virtual Machines (Zone Resiliency for new deployments Only)</a:t>
            </a:r>
          </a:p>
          <a:p>
            <a:pPr marL="174625" lvl="2" indent="-171450" algn="just" defTabSz="932742">
              <a:buFont typeface="Arial" panose="020B0604020202020204" pitchFamily="34" charset="0"/>
              <a:buChar char="•"/>
              <a:defRPr/>
            </a:pPr>
            <a:r>
              <a:rPr lang="en-US" sz="1000" kern="0" noProof="0" dirty="0">
                <a:solidFill>
                  <a:srgbClr val="000000"/>
                </a:solidFill>
                <a:cs typeface="Segoe Sans Text" pitchFamily="2" charset="0"/>
              </a:rPr>
              <a:t>  Virtual Machine Scale Sets (VMSS) (Zone Resiliency for new deployments Only)</a:t>
            </a:r>
          </a:p>
          <a:p>
            <a:pPr marL="174625" lvl="2" indent="-171450" algn="just" defTabSz="932742">
              <a:buFont typeface="Arial" panose="020B0604020202020204" pitchFamily="34" charset="0"/>
              <a:buChar char="•"/>
              <a:defRPr/>
            </a:pPr>
            <a:r>
              <a:rPr lang="en-US" sz="1000" kern="0" noProof="0" dirty="0">
                <a:solidFill>
                  <a:srgbClr val="000000"/>
                </a:solidFill>
                <a:cs typeface="Segoe Sans Text" pitchFamily="2" charset="0"/>
              </a:rPr>
              <a:t>  Azure Kubernetes Services (AKS)</a:t>
            </a:r>
          </a:p>
          <a:p>
            <a:pPr marL="174625" lvl="2" indent="-171450" algn="just" defTabSz="932742">
              <a:buFont typeface="Arial" panose="020B0604020202020204" pitchFamily="34" charset="0"/>
              <a:buChar char="•"/>
              <a:defRPr/>
            </a:pPr>
            <a:r>
              <a:rPr lang="en-US" sz="1000" kern="0" noProof="0" dirty="0">
                <a:solidFill>
                  <a:srgbClr val="000000"/>
                </a:solidFill>
                <a:cs typeface="Segoe Sans Text" pitchFamily="2" charset="0"/>
              </a:rPr>
              <a:t>  Azure Container Apps (ACA)</a:t>
            </a:r>
          </a:p>
          <a:p>
            <a:pPr marL="174625" lvl="2" indent="-171450" algn="just" defTabSz="932742">
              <a:buFont typeface="Arial" panose="020B0604020202020204" pitchFamily="34" charset="0"/>
              <a:buChar char="•"/>
              <a:defRPr/>
            </a:pPr>
            <a:r>
              <a:rPr lang="en-US" sz="1000" kern="0" noProof="0" dirty="0">
                <a:solidFill>
                  <a:srgbClr val="000000"/>
                </a:solidFill>
                <a:cs typeface="Segoe Sans Text" pitchFamily="2" charset="0"/>
              </a:rPr>
              <a:t>  App Service  </a:t>
            </a:r>
          </a:p>
        </p:txBody>
      </p:sp>
      <p:sp>
        <p:nvSpPr>
          <p:cNvPr id="38" name="TextBox 37">
            <a:extLst>
              <a:ext uri="{FF2B5EF4-FFF2-40B4-BE49-F238E27FC236}">
                <a16:creationId xmlns:a16="http://schemas.microsoft.com/office/drawing/2014/main" id="{0E9F377B-BC34-F8B5-5FFE-13CFF7FCCD7D}"/>
              </a:ext>
            </a:extLst>
          </p:cNvPr>
          <p:cNvSpPr txBox="1"/>
          <p:nvPr/>
        </p:nvSpPr>
        <p:spPr>
          <a:xfrm>
            <a:off x="6582598" y="2016900"/>
            <a:ext cx="4942755" cy="1384995"/>
          </a:xfrm>
          <a:prstGeom prst="rect">
            <a:avLst/>
          </a:prstGeom>
          <a:noFill/>
        </p:spPr>
        <p:txBody>
          <a:bodyPr wrap="square" lIns="0" tIns="0" rIns="0" bIns="0">
            <a:spAutoFit/>
          </a:bodyPr>
          <a:lstStyle/>
          <a:p>
            <a:pPr marL="171450" indent="-171450">
              <a:buFont typeface="Arial" panose="020B0604020202020204" pitchFamily="34" charset="0"/>
              <a:buChar char="•"/>
              <a:defRPr/>
            </a:pPr>
            <a:r>
              <a:rPr lang="en-US" sz="1000" kern="0" noProof="0" dirty="0">
                <a:solidFill>
                  <a:srgbClr val="000000"/>
                </a:solidFill>
                <a:cs typeface="Segoe Sans Text"/>
              </a:rPr>
              <a:t>Architectural redesign or application refactoring.</a:t>
            </a:r>
            <a:endParaRPr lang="en-US" sz="1000" kern="0" noProof="0" dirty="0">
              <a:solidFill>
                <a:srgbClr val="000000"/>
              </a:solidFill>
              <a:latin typeface="Segoe Sans Text" pitchFamily="2" charset="0"/>
              <a:cs typeface="Segoe Sans Text" pitchFamily="2" charset="0"/>
            </a:endParaRPr>
          </a:p>
          <a:p>
            <a:pPr marL="171450" indent="-171450">
              <a:buFont typeface="Arial" panose="020B0604020202020204" pitchFamily="34" charset="0"/>
              <a:buChar char="•"/>
              <a:defRPr/>
            </a:pPr>
            <a:r>
              <a:rPr lang="en-US" sz="1000" kern="0" noProof="0" dirty="0">
                <a:solidFill>
                  <a:srgbClr val="000000"/>
                </a:solidFill>
                <a:cs typeface="Segoe Sans Text"/>
              </a:rPr>
              <a:t>Design and execute DR and business continuity plans (DR drills and failover test).</a:t>
            </a:r>
          </a:p>
          <a:p>
            <a:pPr marL="171450" indent="-171450">
              <a:buFont typeface="Arial" panose="020B0604020202020204" pitchFamily="34" charset="0"/>
              <a:buChar char="•"/>
              <a:defRPr/>
            </a:pPr>
            <a:r>
              <a:rPr lang="en-US" sz="1000" kern="0" noProof="0" dirty="0">
                <a:solidFill>
                  <a:srgbClr val="000000"/>
                </a:solidFill>
                <a:cs typeface="Segoe Sans Text"/>
              </a:rPr>
              <a:t>Implement and manage application-level changes and code updates.</a:t>
            </a:r>
          </a:p>
          <a:p>
            <a:pPr marL="171450" indent="-171450">
              <a:buFont typeface="Arial" panose="020B0604020202020204" pitchFamily="34" charset="0"/>
              <a:buChar char="•"/>
              <a:defRPr/>
            </a:pPr>
            <a:r>
              <a:rPr lang="en-US" sz="1000" kern="0" noProof="0" dirty="0">
                <a:solidFill>
                  <a:srgbClr val="000000"/>
                </a:solidFill>
                <a:cs typeface="Segoe Sans Text"/>
              </a:rPr>
              <a:t>Validate application behavior through functional and performance testing.</a:t>
            </a:r>
          </a:p>
          <a:p>
            <a:pPr marL="171450" indent="-171450">
              <a:buFont typeface="Arial" panose="020B0604020202020204" pitchFamily="34" charset="0"/>
              <a:buChar char="•"/>
              <a:defRPr/>
            </a:pPr>
            <a:r>
              <a:rPr lang="en-US" sz="1000" kern="0" noProof="0" dirty="0">
                <a:solidFill>
                  <a:srgbClr val="000000"/>
                </a:solidFill>
                <a:cs typeface="Segoe Sans Text"/>
              </a:rPr>
              <a:t>Define and test backup and restore strategies.</a:t>
            </a:r>
          </a:p>
          <a:p>
            <a:pPr marL="171450" indent="-171450">
              <a:buFont typeface="Arial" panose="020B0604020202020204" pitchFamily="34" charset="0"/>
              <a:buChar char="•"/>
              <a:defRPr/>
            </a:pPr>
            <a:r>
              <a:rPr lang="en-US" sz="1000" kern="0" noProof="0" dirty="0">
                <a:solidFill>
                  <a:srgbClr val="000000"/>
                </a:solidFill>
                <a:cs typeface="Segoe Sans Text"/>
              </a:rPr>
              <a:t>Own steady-state operations, monitoring, and post-handover configuration changes.</a:t>
            </a:r>
            <a:endParaRPr lang="en-US" sz="1000" kern="0" noProof="0" dirty="0">
              <a:solidFill>
                <a:srgbClr val="000000"/>
              </a:solidFill>
              <a:latin typeface="Segoe Sans Text" pitchFamily="2" charset="0"/>
              <a:cs typeface="Segoe Sans Text" pitchFamily="2" charset="0"/>
            </a:endParaRP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Identify and confirm in‑scope Azure resources requiring resiliency remediation</a:t>
            </a: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Perform post‑remediation functional validation of workloads after resiliency configurations are applied.</a:t>
            </a:r>
            <a:endPar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sp>
        <p:nvSpPr>
          <p:cNvPr id="125" name="TextBox 124">
            <a:extLst>
              <a:ext uri="{FF2B5EF4-FFF2-40B4-BE49-F238E27FC236}">
                <a16:creationId xmlns:a16="http://schemas.microsoft.com/office/drawing/2014/main" id="{1DC138B2-3485-D7B9-A859-47BE3CB456A8}"/>
              </a:ext>
            </a:extLst>
          </p:cNvPr>
          <p:cNvSpPr txBox="1"/>
          <p:nvPr/>
        </p:nvSpPr>
        <p:spPr>
          <a:xfrm>
            <a:off x="6481793" y="4506152"/>
            <a:ext cx="4899933" cy="1692771"/>
          </a:xfrm>
          <a:prstGeom prst="rect">
            <a:avLst/>
          </a:prstGeom>
          <a:noFill/>
        </p:spPr>
        <p:txBody>
          <a:bodyPr wrap="square" lIns="0" tIns="0" rIns="0" bIns="0" anchor="t">
            <a:spAutoFit/>
          </a:bodyPr>
          <a:lstStyle/>
          <a:p>
            <a:pPr marL="171450" indent="-171450">
              <a:buFont typeface="Arial" panose="020B0604020202020204" pitchFamily="34" charset="0"/>
              <a:buChar char="•"/>
              <a:defRPr/>
            </a:pPr>
            <a:r>
              <a:rPr lang="en-US" sz="1000" kern="0" noProof="0" dirty="0">
                <a:solidFill>
                  <a:srgbClr val="000000"/>
                </a:solidFill>
                <a:cs typeface="Segoe Sans Text"/>
              </a:rPr>
              <a:t>Customer supports with change, maintenance, and blackout windows.</a:t>
            </a:r>
          </a:p>
          <a:p>
            <a:pPr marL="171450" indent="-171450">
              <a:buFont typeface="Arial" panose="020B0604020202020204" pitchFamily="34" charset="0"/>
              <a:buChar char="•"/>
              <a:defRPr/>
            </a:pPr>
            <a:r>
              <a:rPr lang="en-US" sz="1000" kern="0" noProof="0" dirty="0">
                <a:solidFill>
                  <a:srgbClr val="000000"/>
                </a:solidFill>
                <a:cs typeface="Segoe Sans Text"/>
              </a:rPr>
              <a:t>Customer agrees to region, SKU, or resource changes may require re-validation.</a:t>
            </a: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Ensure supported services, regions, and SKUs for zone redundancy.</a:t>
            </a: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Provide resiliency inputs (WARA assessment results, Azure Advisor recommendations, or platform telemetry identifying non‑zonal or single‑instance resources.)</a:t>
            </a: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Grant required Owner / Contributor access.</a:t>
            </a: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Validate and approve target regions that support Availability Zones.</a:t>
            </a: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Review and approve any cost impact resulting from enabling zone‑redundant.</a:t>
            </a:r>
          </a:p>
          <a:p>
            <a:pPr marL="171450" lvl="0" indent="-171450">
              <a:buFont typeface="Arial" panose="020B0604020202020204" pitchFamily="34" charset="0"/>
              <a:buChar char="•"/>
              <a:defRPr/>
            </a:pPr>
            <a:r>
              <a:rPr lang="en-US" sz="1000" kern="0" noProof="0" dirty="0">
                <a:solidFill>
                  <a:srgbClr val="000000"/>
                </a:solidFill>
                <a:latin typeface="Segoe Sans Text" pitchFamily="2" charset="0"/>
                <a:cs typeface="Segoe Sans Text" pitchFamily="2" charset="0"/>
              </a:rPr>
              <a:t>Approve use of Log Analytics workspace for Service Health and availability alert configuration.</a:t>
            </a:r>
          </a:p>
        </p:txBody>
      </p:sp>
      <p:cxnSp>
        <p:nvCxnSpPr>
          <p:cNvPr id="7" name="Straight Connector 6">
            <a:extLst>
              <a:ext uri="{FF2B5EF4-FFF2-40B4-BE49-F238E27FC236}">
                <a16:creationId xmlns:a16="http://schemas.microsoft.com/office/drawing/2014/main" id="{7D1DADF3-86C4-01EE-0812-969FD95EEA24}"/>
              </a:ext>
              <a:ext uri="{C183D7F6-B498-43B3-948B-1728B52AA6E4}">
                <adec:decorative xmlns:adec="http://schemas.microsoft.com/office/drawing/2017/decorative" val="1"/>
              </a:ext>
            </a:extLst>
          </p:cNvPr>
          <p:cNvCxnSpPr>
            <a:cxnSpLocks/>
          </p:cNvCxnSpPr>
          <p:nvPr/>
        </p:nvCxnSpPr>
        <p:spPr>
          <a:xfrm>
            <a:off x="1073863" y="5231712"/>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FADA2001-80EE-117C-C48B-DF82E5318394}"/>
              </a:ext>
            </a:extLst>
          </p:cNvPr>
          <p:cNvSpPr/>
          <p:nvPr/>
        </p:nvSpPr>
        <p:spPr bwMode="auto">
          <a:xfrm>
            <a:off x="754185" y="201693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Oval 17">
            <a:extLst>
              <a:ext uri="{FF2B5EF4-FFF2-40B4-BE49-F238E27FC236}">
                <a16:creationId xmlns:a16="http://schemas.microsoft.com/office/drawing/2014/main" id="{771469B4-DFAE-E4C9-F51D-40BE2D93BAF7}"/>
              </a:ext>
            </a:extLst>
          </p:cNvPr>
          <p:cNvSpPr/>
          <p:nvPr/>
        </p:nvSpPr>
        <p:spPr bwMode="auto">
          <a:xfrm>
            <a:off x="754185" y="348833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910F64BD-57C0-CB77-3E25-C186BCCD5E5C}"/>
              </a:ext>
            </a:extLst>
          </p:cNvPr>
          <p:cNvSpPr/>
          <p:nvPr/>
        </p:nvSpPr>
        <p:spPr bwMode="auto">
          <a:xfrm>
            <a:off x="754185" y="421650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 name="Oval 21">
            <a:extLst>
              <a:ext uri="{FF2B5EF4-FFF2-40B4-BE49-F238E27FC236}">
                <a16:creationId xmlns:a16="http://schemas.microsoft.com/office/drawing/2014/main" id="{3A925FF7-23B6-080A-4F60-DCC886E8D5D0}"/>
              </a:ext>
            </a:extLst>
          </p:cNvPr>
          <p:cNvSpPr/>
          <p:nvPr/>
        </p:nvSpPr>
        <p:spPr bwMode="auto">
          <a:xfrm>
            <a:off x="754185" y="532008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4" name="Oval 23">
            <a:extLst>
              <a:ext uri="{FF2B5EF4-FFF2-40B4-BE49-F238E27FC236}">
                <a16:creationId xmlns:a16="http://schemas.microsoft.com/office/drawing/2014/main" id="{92D563F4-52D0-6183-4B90-81CDA46343FD}"/>
              </a:ext>
            </a:extLst>
          </p:cNvPr>
          <p:cNvSpPr/>
          <p:nvPr/>
        </p:nvSpPr>
        <p:spPr bwMode="auto">
          <a:xfrm>
            <a:off x="6322583" y="201690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 name="Straight Connector 3">
            <a:extLst>
              <a:ext uri="{FF2B5EF4-FFF2-40B4-BE49-F238E27FC236}">
                <a16:creationId xmlns:a16="http://schemas.microsoft.com/office/drawing/2014/main" id="{D235A740-B716-C4CF-8D18-2A82E82BA77A}"/>
              </a:ext>
              <a:ext uri="{C183D7F6-B498-43B3-948B-1728B52AA6E4}">
                <adec:decorative xmlns:adec="http://schemas.microsoft.com/office/drawing/2017/decorative" val="1"/>
              </a:ext>
            </a:extLst>
          </p:cNvPr>
          <p:cNvCxnSpPr>
            <a:cxnSpLocks/>
          </p:cNvCxnSpPr>
          <p:nvPr/>
        </p:nvCxnSpPr>
        <p:spPr>
          <a:xfrm>
            <a:off x="1068609" y="5522850"/>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0C4F24D-30AA-80EE-179C-23D54542EFBA}"/>
              </a:ext>
            </a:extLst>
          </p:cNvPr>
          <p:cNvSpPr txBox="1"/>
          <p:nvPr/>
        </p:nvSpPr>
        <p:spPr>
          <a:xfrm>
            <a:off x="1068609" y="5585136"/>
            <a:ext cx="4844488" cy="51296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i="0" u="none" strike="noStrike" kern="0" cap="none" spc="0" normalizeH="0" baseline="0" noProof="0" dirty="0">
                <a:ln>
                  <a:noFill/>
                </a:ln>
                <a:solidFill>
                  <a:srgbClr val="000000"/>
                </a:solidFill>
                <a:effectLst/>
                <a:uLnTx/>
                <a:uFillTx/>
                <a:ea typeface="+mn-ea"/>
                <a:cs typeface="Segoe Sans Text" pitchFamily="2" charset="0"/>
              </a:rPr>
              <a:t>General</a:t>
            </a:r>
            <a:endParaRPr lang="en-US" sz="1000" kern="0" noProof="0" dirty="0">
              <a:solidFill>
                <a:srgbClr val="000000"/>
              </a:solidFill>
              <a:cs typeface="Segoe Sans Text" pitchFamily="2" charset="0"/>
            </a:endParaRPr>
          </a:p>
          <a:p>
            <a:pPr marL="171450" indent="-171450">
              <a:spcAft>
                <a:spcPts val="200"/>
              </a:spcAft>
              <a:buFont typeface="Arial" panose="020B0604020202020204" pitchFamily="34" charset="0"/>
              <a:buChar char="•"/>
              <a:defRPr/>
            </a:pPr>
            <a:r>
              <a:rPr lang="en-US" sz="1000" kern="0" noProof="0" dirty="0">
                <a:solidFill>
                  <a:srgbClr val="000000"/>
                </a:solidFill>
                <a:cs typeface="Segoe Sans Text" pitchFamily="2" charset="0"/>
              </a:rPr>
              <a:t> </a:t>
            </a:r>
            <a:r>
              <a:rPr lang="en-US" sz="1000" kern="0" noProof="0" dirty="0">
                <a:solidFill>
                  <a:srgbClr val="000000"/>
                </a:solidFill>
                <a:cs typeface="Segoe Sans Text"/>
              </a:rPr>
              <a:t>Configuration-only resiliency remediation (zone redundancy, availability, alerts).</a:t>
            </a:r>
          </a:p>
          <a:p>
            <a:pPr marL="171450" indent="-171450">
              <a:spcAft>
                <a:spcPts val="200"/>
              </a:spcAft>
              <a:buFont typeface="Arial" panose="020B0604020202020204" pitchFamily="34" charset="0"/>
              <a:buChar char="•"/>
              <a:defRPr/>
            </a:pPr>
            <a:r>
              <a:rPr lang="en-US" sz="1000" kern="0" noProof="0" dirty="0">
                <a:solidFill>
                  <a:srgbClr val="000000"/>
                </a:solidFill>
                <a:cs typeface="Segoe Sans Text"/>
              </a:rPr>
              <a:t>Factory responsibility ends after configuration, validation, and handover.</a:t>
            </a:r>
          </a:p>
        </p:txBody>
      </p:sp>
      <p:sp>
        <p:nvSpPr>
          <p:cNvPr id="11" name="Oval 10">
            <a:extLst>
              <a:ext uri="{FF2B5EF4-FFF2-40B4-BE49-F238E27FC236}">
                <a16:creationId xmlns:a16="http://schemas.microsoft.com/office/drawing/2014/main" id="{DA4BE9A8-8344-73FC-911A-719FDDBF2AE3}"/>
              </a:ext>
            </a:extLst>
          </p:cNvPr>
          <p:cNvSpPr/>
          <p:nvPr/>
        </p:nvSpPr>
        <p:spPr bwMode="auto">
          <a:xfrm>
            <a:off x="754185" y="56194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Oval 16">
            <a:extLst>
              <a:ext uri="{FF2B5EF4-FFF2-40B4-BE49-F238E27FC236}">
                <a16:creationId xmlns:a16="http://schemas.microsoft.com/office/drawing/2014/main" id="{3393D7DB-AC61-879A-683D-7EFDDF624279}"/>
              </a:ext>
            </a:extLst>
          </p:cNvPr>
          <p:cNvSpPr/>
          <p:nvPr/>
        </p:nvSpPr>
        <p:spPr bwMode="auto">
          <a:xfrm>
            <a:off x="6226746" y="46135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Rounded Rectangle 22">
            <a:extLst>
              <a:ext uri="{FF2B5EF4-FFF2-40B4-BE49-F238E27FC236}">
                <a16:creationId xmlns:a16="http://schemas.microsoft.com/office/drawing/2014/main" id="{FF608F37-D2C3-77B5-DECC-A14B12585720}"/>
              </a:ext>
              <a:ext uri="{C183D7F6-B498-43B3-948B-1728B52AA6E4}">
                <adec:decorative xmlns:adec="http://schemas.microsoft.com/office/drawing/2017/decorative" val="1"/>
              </a:ext>
            </a:extLst>
          </p:cNvPr>
          <p:cNvSpPr>
            <a:spLocks/>
          </p:cNvSpPr>
          <p:nvPr/>
        </p:nvSpPr>
        <p:spPr bwMode="auto">
          <a:xfrm>
            <a:off x="6120131" y="3974370"/>
            <a:ext cx="5555924" cy="2337652"/>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5" name="TextBox 24">
            <a:extLst>
              <a:ext uri="{FF2B5EF4-FFF2-40B4-BE49-F238E27FC236}">
                <a16:creationId xmlns:a16="http://schemas.microsoft.com/office/drawing/2014/main" id="{AB0E77FD-4444-0455-A261-85ABFC33E24F}"/>
              </a:ext>
            </a:extLst>
          </p:cNvPr>
          <p:cNvSpPr txBox="1">
            <a:spLocks/>
          </p:cNvSpPr>
          <p:nvPr/>
        </p:nvSpPr>
        <p:spPr>
          <a:xfrm>
            <a:off x="6278509" y="4051525"/>
            <a:ext cx="5311279"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a:t>
            </a:r>
          </a:p>
        </p:txBody>
      </p:sp>
      <p:sp>
        <p:nvSpPr>
          <p:cNvPr id="5" name="TextBox 4">
            <a:extLst>
              <a:ext uri="{FF2B5EF4-FFF2-40B4-BE49-F238E27FC236}">
                <a16:creationId xmlns:a16="http://schemas.microsoft.com/office/drawing/2014/main" id="{90E21365-893D-783E-2A34-ABBB3FB725B6}"/>
              </a:ext>
            </a:extLst>
          </p:cNvPr>
          <p:cNvSpPr txBox="1"/>
          <p:nvPr/>
        </p:nvSpPr>
        <p:spPr>
          <a:xfrm>
            <a:off x="6295326" y="1768339"/>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9" name="TextBox 8">
            <a:extLst>
              <a:ext uri="{FF2B5EF4-FFF2-40B4-BE49-F238E27FC236}">
                <a16:creationId xmlns:a16="http://schemas.microsoft.com/office/drawing/2014/main" id="{70AE1286-5458-6937-AFCC-874BECF463E5}"/>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B11590AC-8CAA-27C2-6BBD-152F67D64595}"/>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1497896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ounded Rectangle 55">
            <a:extLst>
              <a:ext uri="{FF2B5EF4-FFF2-40B4-BE49-F238E27FC236}">
                <a16:creationId xmlns:a16="http://schemas.microsoft.com/office/drawing/2014/main" id="{DE69172A-C00E-BAB1-ED9F-D61030029DA1}"/>
              </a:ext>
              <a:ext uri="{C183D7F6-B498-43B3-948B-1728B52AA6E4}">
                <adec:decorative xmlns:adec="http://schemas.microsoft.com/office/drawing/2017/decorative" val="1"/>
              </a:ext>
            </a:extLst>
          </p:cNvPr>
          <p:cNvSpPr/>
          <p:nvPr/>
        </p:nvSpPr>
        <p:spPr bwMode="auto">
          <a:xfrm>
            <a:off x="540060" y="1216317"/>
            <a:ext cx="7541577" cy="5573589"/>
          </a:xfrm>
          <a:prstGeom prst="roundRect">
            <a:avLst>
              <a:gd name="adj" fmla="val 2533"/>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tIns="36576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90000"/>
              </a:lnSpc>
              <a:spcBef>
                <a:spcPts val="600"/>
              </a:spcBef>
              <a:spcAft>
                <a:spcPts val="400"/>
              </a:spcAft>
              <a:defRPr/>
            </a:pPr>
            <a:endParaRPr lang="en-US" sz="1100" noProof="0" dirty="0">
              <a:solidFill>
                <a:schemeClr val="tx1"/>
              </a:solidFill>
            </a:endParaRPr>
          </a:p>
        </p:txBody>
      </p:sp>
      <p:graphicFrame>
        <p:nvGraphicFramePr>
          <p:cNvPr id="3" name="Table 2" title="Exchange Online Technet Guidance">
            <a:extLst>
              <a:ext uri="{FF2B5EF4-FFF2-40B4-BE49-F238E27FC236}">
                <a16:creationId xmlns:a16="http://schemas.microsoft.com/office/drawing/2014/main" id="{AC48E6E1-C4FB-D496-133F-4DA392B8C3A2}"/>
              </a:ext>
            </a:extLst>
          </p:cNvPr>
          <p:cNvGraphicFramePr>
            <a:graphicFrameLocks noGrp="1"/>
          </p:cNvGraphicFramePr>
          <p:nvPr>
            <p:extLst>
              <p:ext uri="{D42A27DB-BD31-4B8C-83A1-F6EECF244321}">
                <p14:modId xmlns:p14="http://schemas.microsoft.com/office/powerpoint/2010/main" val="2103091480"/>
              </p:ext>
            </p:extLst>
          </p:nvPr>
        </p:nvGraphicFramePr>
        <p:xfrm>
          <a:off x="708340" y="1677731"/>
          <a:ext cx="7302819" cy="5169185"/>
        </p:xfrm>
        <a:graphic>
          <a:graphicData uri="http://schemas.openxmlformats.org/drawingml/2006/table">
            <a:tbl>
              <a:tblPr firstRow="1" bandRow="1">
                <a:tableStyleId>{5C22544A-7EE6-4342-B048-85BDC9FD1C3A}</a:tableStyleId>
              </a:tblPr>
              <a:tblGrid>
                <a:gridCol w="231931">
                  <a:extLst>
                    <a:ext uri="{9D8B030D-6E8A-4147-A177-3AD203B41FA5}">
                      <a16:colId xmlns:a16="http://schemas.microsoft.com/office/drawing/2014/main" val="920430407"/>
                    </a:ext>
                  </a:extLst>
                </a:gridCol>
                <a:gridCol w="7070888">
                  <a:extLst>
                    <a:ext uri="{9D8B030D-6E8A-4147-A177-3AD203B41FA5}">
                      <a16:colId xmlns:a16="http://schemas.microsoft.com/office/drawing/2014/main" val="125040094"/>
                    </a:ext>
                  </a:extLst>
                </a:gridCol>
              </a:tblGrid>
              <a:tr h="443048">
                <a:tc gridSpan="2">
                  <a:txBody>
                    <a:bodyPr/>
                    <a:lstStyle/>
                    <a:p>
                      <a:pPr marL="0" marR="0" lvl="0" indent="0" algn="l" rtl="0" eaLnBrk="1" fontAlgn="auto" latinLnBrk="0" hangingPunct="1">
                        <a:lnSpc>
                          <a:spcPct val="100000"/>
                        </a:lnSpc>
                        <a:spcBef>
                          <a:spcPts val="0"/>
                        </a:spcBef>
                        <a:spcAft>
                          <a:spcPts val="0"/>
                        </a:spcAft>
                        <a:buClrTx/>
                        <a:buSzTx/>
                        <a:buFontTx/>
                        <a:buNone/>
                      </a:pPr>
                      <a:r>
                        <a:rPr lang="en-US" sz="900" b="1" i="0" u="none" strike="noStrike" kern="1200" cap="none" spc="0" normalizeH="0" baseline="0" noProof="0" dirty="0">
                          <a:ln>
                            <a:noFill/>
                          </a:ln>
                          <a:solidFill>
                            <a:srgbClr val="000000"/>
                          </a:solidFill>
                          <a:effectLst/>
                          <a:uLnTx/>
                          <a:uFillTx/>
                          <a:latin typeface="Segoe UI"/>
                          <a:ea typeface="+mn-ea"/>
                          <a:cs typeface="Segoe UI"/>
                        </a:rPr>
                        <a:t>Microsoft Cloud Accelerate Factory (Factory)</a:t>
                      </a:r>
                      <a:r>
                        <a:rPr lang="en-US" sz="900" b="0" i="0" u="none" strike="noStrike" kern="1200" cap="none" spc="0" normalizeH="0" baseline="0" noProof="0" dirty="0">
                          <a:ln>
                            <a:noFill/>
                          </a:ln>
                          <a:solidFill>
                            <a:srgbClr val="000000"/>
                          </a:solidFill>
                          <a:effectLst/>
                          <a:uLnTx/>
                          <a:uFillTx/>
                          <a:latin typeface="Segoe UI"/>
                          <a:ea typeface="+mn-ea"/>
                          <a:cs typeface="Segoe UI"/>
                        </a:rPr>
                        <a:t> enables Azure Arc onboarding for multiple Windows and Linux servers at scale, using flexible deployment options aligned to customer requirements.</a:t>
                      </a: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819671">
                <a:tc>
                  <a:txBody>
                    <a:bodyPr/>
                    <a:lstStyle/>
                    <a:p>
                      <a:pPr algn="ctr"/>
                      <a:r>
                        <a:rPr lang="en-US" sz="1100" b="1" noProof="0" dirty="0">
                          <a:solidFill>
                            <a:srgbClr val="0078D7"/>
                          </a:solidFill>
                          <a:latin typeface="+mn-lt"/>
                        </a:rPr>
                        <a:t>1</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900" b="1" noProof="0" dirty="0">
                          <a:solidFill>
                            <a:srgbClr val="000000"/>
                          </a:solidFill>
                          <a:latin typeface="+mn-lt"/>
                        </a:rPr>
                        <a:t>Configure DNS and firewall</a:t>
                      </a:r>
                      <a:r>
                        <a:rPr lang="en-US" sz="900" noProof="0" dirty="0">
                          <a:solidFill>
                            <a:srgbClr val="000000"/>
                          </a:solidFill>
                          <a:latin typeface="+mn-lt"/>
                        </a:rPr>
                        <a:t> with prerequisites for enabling Azure Arc Agent services:</a:t>
                      </a:r>
                    </a:p>
                    <a:p>
                      <a:pPr marL="0" lvl="0" indent="0" algn="l">
                        <a:lnSpc>
                          <a:spcPct val="100000"/>
                        </a:lnSpc>
                        <a:spcBef>
                          <a:spcPts val="0"/>
                        </a:spcBef>
                        <a:spcAft>
                          <a:spcPts val="0"/>
                        </a:spcAft>
                        <a:buClr>
                          <a:srgbClr val="000000"/>
                        </a:buClr>
                        <a:buFont typeface="Arial,Sans-Serif"/>
                        <a:buChar char="•"/>
                      </a:pPr>
                      <a:r>
                        <a:rPr lang="en-US" sz="900" b="0" i="0" u="none" strike="noStrike" kern="1200" cap="none" spc="0" normalizeH="0" baseline="0" noProof="0" dirty="0">
                          <a:ln w="3175">
                            <a:noFill/>
                          </a:ln>
                          <a:solidFill>
                            <a:srgbClr val="000000"/>
                          </a:solidFill>
                          <a:effectLst/>
                          <a:uLnTx/>
                          <a:uFillTx/>
                          <a:latin typeface="Segoe Sans Text"/>
                          <a:ea typeface="+mn-ea"/>
                          <a:cs typeface="Segoe Sans Text"/>
                        </a:rPr>
                        <a:t>All servers must have outbound access over TCP port 443</a:t>
                      </a:r>
                    </a:p>
                    <a:p>
                      <a:pPr marL="0" lvl="0" indent="0" algn="l">
                        <a:lnSpc>
                          <a:spcPct val="100000"/>
                        </a:lnSpc>
                        <a:spcBef>
                          <a:spcPts val="0"/>
                        </a:spcBef>
                        <a:spcAft>
                          <a:spcPts val="0"/>
                        </a:spcAft>
                        <a:buClr>
                          <a:srgbClr val="000000"/>
                        </a:buClr>
                        <a:buFont typeface="Arial,Sans-Serif"/>
                        <a:buChar char="•"/>
                      </a:pPr>
                      <a:r>
                        <a:rPr lang="en-US" sz="900" b="0" i="0" u="none" strike="noStrike" kern="1200" cap="none" spc="0" normalizeH="0" baseline="0" noProof="0" dirty="0">
                          <a:ln w="3175">
                            <a:noFill/>
                          </a:ln>
                          <a:solidFill>
                            <a:srgbClr val="000000"/>
                          </a:solidFill>
                          <a:effectLst/>
                          <a:uLnTx/>
                          <a:uFillTx/>
                          <a:latin typeface="Segoe Sans Text"/>
                          <a:ea typeface="+mn-ea"/>
                          <a:cs typeface="Segoe Sans Text"/>
                        </a:rPr>
                        <a:t>Required Azure Arc service endpoints must be allow‑listed</a:t>
                      </a:r>
                    </a:p>
                    <a:p>
                      <a:pPr marL="0" lvl="0" indent="0" algn="l">
                        <a:lnSpc>
                          <a:spcPct val="100000"/>
                        </a:lnSpc>
                        <a:spcBef>
                          <a:spcPts val="0"/>
                        </a:spcBef>
                        <a:spcAft>
                          <a:spcPts val="0"/>
                        </a:spcAft>
                        <a:buClr>
                          <a:srgbClr val="000000"/>
                        </a:buClr>
                        <a:buFont typeface="Arial,Sans-Serif"/>
                        <a:buChar char="•"/>
                      </a:pPr>
                      <a:r>
                        <a:rPr lang="en-US" sz="900" b="0" i="0" u="none" strike="noStrike" kern="1200" cap="none" spc="0" normalizeH="0" baseline="0" noProof="0" dirty="0">
                          <a:ln w="3175">
                            <a:noFill/>
                          </a:ln>
                          <a:solidFill>
                            <a:srgbClr val="000000"/>
                          </a:solidFill>
                          <a:effectLst/>
                          <a:uLnTx/>
                          <a:uFillTx/>
                          <a:latin typeface="Segoe Sans Text"/>
                          <a:ea typeface="+mn-ea"/>
                          <a:cs typeface="Segoe Sans Text"/>
                        </a:rPr>
                        <a:t>Refer to the official Azure Arc outbound URL list for validation</a:t>
                      </a:r>
                      <a:r>
                        <a:rPr lang="en-US" sz="900" b="0" i="0" u="none" strike="noStrike" kern="1200" cap="none" spc="0" normalizeH="0" baseline="0" noProof="0" dirty="0">
                          <a:ln w="3175">
                            <a:noFill/>
                          </a:ln>
                          <a:solidFill>
                            <a:prstClr val="black"/>
                          </a:solidFill>
                          <a:effectLst/>
                          <a:uLnTx/>
                          <a:uFillTx/>
                          <a:latin typeface="+mn-lt"/>
                          <a:ea typeface="+mn-ea"/>
                          <a:cs typeface="+mn-cs"/>
                        </a:rPr>
                        <a:t> </a:t>
                      </a:r>
                      <a:r>
                        <a:rPr kumimoji="0" lang="en-US" sz="900" b="0" i="0" u="none" strike="noStrike" kern="1200" cap="none" spc="0" normalizeH="0" baseline="0" noProof="0" dirty="0">
                          <a:ln>
                            <a:noFill/>
                          </a:ln>
                          <a:solidFill>
                            <a:schemeClr val="tx2"/>
                          </a:solidFill>
                          <a:effectLst/>
                          <a:uLnTx/>
                          <a:uFillTx/>
                          <a:latin typeface="+mn-lt"/>
                          <a:ea typeface="+mn-ea"/>
                          <a:cs typeface="+mn-cs"/>
                          <a:hlinkClick r:id="rId4">
                            <a:extLst>
                              <a:ext uri="{A12FA001-AC4F-418D-AE19-62706E023703}">
                                <ahyp:hlinkClr xmlns:ahyp="http://schemas.microsoft.com/office/drawing/2018/hyperlinkcolor" val="tx"/>
                              </a:ext>
                            </a:extLst>
                          </a:hlinkClick>
                        </a:rPr>
                        <a:t>View outbound URLs</a:t>
                      </a:r>
                      <a:endParaRPr kumimoji="0" lang="en-US" sz="900" b="0" i="0" u="none" strike="noStrike" kern="1200" cap="none" spc="0" normalizeH="0" baseline="0" noProof="0" dirty="0">
                        <a:ln>
                          <a:noFill/>
                        </a:ln>
                        <a:solidFill>
                          <a:schemeClr val="tx2"/>
                        </a:solidFill>
                        <a:effectLst/>
                        <a:uLnTx/>
                        <a:uFillTx/>
                        <a:latin typeface="+mn-lt"/>
                        <a:ea typeface="+mn-ea"/>
                        <a:cs typeface="+mn-cs"/>
                      </a:endParaRPr>
                    </a:p>
                    <a:p>
                      <a:pPr marL="0" lvl="0" indent="0" algn="l">
                        <a:lnSpc>
                          <a:spcPct val="100000"/>
                        </a:lnSpc>
                        <a:spcBef>
                          <a:spcPts val="0"/>
                        </a:spcBef>
                        <a:spcAft>
                          <a:spcPts val="0"/>
                        </a:spcAft>
                        <a:buClr>
                          <a:srgbClr val="000000"/>
                        </a:buClr>
                        <a:buFont typeface="Arial,Sans-Serif"/>
                        <a:buChar char="•"/>
                      </a:pPr>
                      <a:r>
                        <a:rPr lang="en-US" sz="900" b="0" i="0" u="none" strike="noStrike" kern="1200" cap="none" spc="0" normalizeH="0" baseline="0" noProof="0" dirty="0">
                          <a:ln w="3175">
                            <a:noFill/>
                          </a:ln>
                          <a:solidFill>
                            <a:srgbClr val="000000"/>
                          </a:solidFill>
                          <a:effectLst/>
                          <a:uLnTx/>
                          <a:uFillTx/>
                          <a:latin typeface="+mn-lt"/>
                          <a:ea typeface="+mn-ea"/>
                          <a:cs typeface="Segoe Sans Text"/>
                        </a:rPr>
                        <a:t>Validate connectivity readiness for Azure Arc endpoints</a:t>
                      </a:r>
                      <a:endParaRPr kumimoji="0" lang="en-US" sz="900" noProof="0" dirty="0"/>
                    </a:p>
                  </a:txBody>
                  <a:tcPr marL="63999" marR="63999" marT="63999" marB="63999" anchor="ctr">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790302">
                <a:tc>
                  <a:txBody>
                    <a:bodyPr/>
                    <a:lstStyle/>
                    <a:p>
                      <a:pPr algn="ctr"/>
                      <a:r>
                        <a:rPr lang="en-US" sz="1100" b="1" noProof="0" dirty="0">
                          <a:solidFill>
                            <a:srgbClr val="0078D7"/>
                          </a:solidFill>
                          <a:latin typeface="+mn-lt"/>
                        </a:rPr>
                        <a:t>2</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900" b="1" noProof="0" dirty="0">
                          <a:solidFill>
                            <a:srgbClr val="000000"/>
                          </a:solidFill>
                          <a:latin typeface="+mn-lt"/>
                        </a:rPr>
                        <a:t>Install Azure Windows Arc agents</a:t>
                      </a:r>
                      <a:r>
                        <a:rPr lang="en-US" sz="900" noProof="0" dirty="0">
                          <a:solidFill>
                            <a:srgbClr val="000000"/>
                          </a:solidFill>
                          <a:latin typeface="+mn-lt"/>
                        </a:rPr>
                        <a:t> on all </a:t>
                      </a:r>
                      <a:r>
                        <a:rPr lang="en-US" sz="900" noProof="0" dirty="0">
                          <a:solidFill>
                            <a:srgbClr val="000000"/>
                          </a:solidFill>
                          <a:latin typeface="+mn-lt"/>
                          <a:hlinkClick r:id="rId5"/>
                        </a:rPr>
                        <a:t>supported servers</a:t>
                      </a:r>
                      <a:r>
                        <a:rPr lang="en-US" sz="900" noProof="0" dirty="0">
                          <a:solidFill>
                            <a:srgbClr val="000000"/>
                          </a:solidFill>
                          <a:latin typeface="+mn-lt"/>
                        </a:rPr>
                        <a:t> </a:t>
                      </a:r>
                      <a:r>
                        <a:rPr lang="en-US" sz="900" b="0" i="0" u="none" strike="noStrike" noProof="0" dirty="0">
                          <a:solidFill>
                            <a:srgbClr val="000000"/>
                          </a:solidFill>
                          <a:latin typeface="Segoe UI"/>
                          <a:cs typeface="Segoe UI"/>
                        </a:rPr>
                        <a:t>using one or more of the following methods:</a:t>
                      </a:r>
                    </a:p>
                    <a:p>
                      <a:pPr marL="0" marR="0" lvl="0" indent="0" algn="l" rtl="0" eaLnBrk="1" fontAlgn="auto" latinLnBrk="0" hangingPunct="1">
                        <a:lnSpc>
                          <a:spcPct val="100000"/>
                        </a:lnSpc>
                        <a:spcBef>
                          <a:spcPts val="0"/>
                        </a:spcBef>
                        <a:spcAft>
                          <a:spcPts val="0"/>
                        </a:spcAft>
                        <a:buFontTx/>
                        <a:buNone/>
                      </a:pPr>
                      <a:r>
                        <a:rPr lang="en-US" sz="900" b="0" i="0" u="none" strike="noStrike" noProof="0" dirty="0">
                          <a:solidFill>
                            <a:srgbClr val="000000"/>
                          </a:solidFill>
                          <a:latin typeface="Segoe UI"/>
                          <a:cs typeface="Segoe UI"/>
                        </a:rPr>
                        <a:t>Finalize Azure Arc onboarding approach &amp; align deployment method with customer tooling. </a:t>
                      </a:r>
                    </a:p>
                    <a:p>
                      <a:pPr marL="233045" marR="0" lvl="3" indent="-233045" algn="just" defTabSz="914400" rtl="0" eaLnBrk="1" fontAlgn="auto" latinLnBrk="0" hangingPunct="1">
                        <a:lnSpc>
                          <a:spcPct val="100000"/>
                        </a:lnSpc>
                        <a:spcBef>
                          <a:spcPts val="0"/>
                        </a:spcBef>
                        <a:spcAft>
                          <a:spcPts val="0"/>
                        </a:spcAft>
                        <a:buClrTx/>
                        <a:buSzTx/>
                        <a:buFont typeface="+mj-lt"/>
                        <a:buAutoNum type="romanLcPeriod"/>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Automated PowerShell script</a:t>
                      </a:r>
                    </a:p>
                    <a:p>
                      <a:pPr marL="233045" marR="0" lvl="3" indent="-233045" algn="just" rtl="0" eaLnBrk="1" fontAlgn="auto" latinLnBrk="0" hangingPunct="1">
                        <a:lnSpc>
                          <a:spcPct val="100000"/>
                        </a:lnSpc>
                        <a:spcBef>
                          <a:spcPts val="0"/>
                        </a:spcBef>
                        <a:spcAft>
                          <a:spcPts val="0"/>
                        </a:spcAft>
                        <a:buClrTx/>
                        <a:buSzTx/>
                        <a:buFont typeface="+mj-lt"/>
                        <a:buAutoNum type="romanLcPeriod"/>
                      </a:pPr>
                      <a:r>
                        <a:rPr kumimoji="0" lang="en-US" sz="900" b="0" i="0" u="none" strike="noStrike" kern="0" cap="none" spc="0" normalizeH="0" baseline="0" noProof="0" dirty="0">
                          <a:ln>
                            <a:noFill/>
                          </a:ln>
                          <a:solidFill>
                            <a:prstClr val="black"/>
                          </a:solidFill>
                          <a:effectLst/>
                          <a:uLnTx/>
                          <a:uFillTx/>
                          <a:latin typeface="+mn-lt"/>
                          <a:ea typeface="+mn-ea"/>
                          <a:cs typeface="+mn-cs"/>
                        </a:rPr>
                        <a:t>System Center Configuration Manager (SCCM) or </a:t>
                      </a:r>
                      <a:r>
                        <a:rPr lang="en-US" sz="900" b="0" i="0" u="none" strike="noStrike" kern="0" cap="none" spc="0" normalizeH="0" baseline="0" noProof="0" dirty="0">
                          <a:ln>
                            <a:noFill/>
                          </a:ln>
                          <a:solidFill>
                            <a:prstClr val="black"/>
                          </a:solidFill>
                          <a:effectLst/>
                          <a:uLnTx/>
                          <a:uFillTx/>
                          <a:latin typeface="+mn-lt"/>
                          <a:ea typeface="+mn-ea"/>
                          <a:cs typeface="+mn-cs"/>
                        </a:rPr>
                        <a:t>if the Customer is using any</a:t>
                      </a:r>
                      <a:r>
                        <a:rPr kumimoji="0" lang="en-US" sz="900" b="0" i="0" u="none" strike="noStrike" kern="0" cap="none" spc="0" normalizeH="0" baseline="0" noProof="0" dirty="0">
                          <a:ln>
                            <a:noFill/>
                          </a:ln>
                          <a:solidFill>
                            <a:prstClr val="black"/>
                          </a:solidFill>
                          <a:effectLst/>
                          <a:uLnTx/>
                          <a:uFillTx/>
                          <a:latin typeface="+mn-lt"/>
                          <a:ea typeface="+mn-ea"/>
                          <a:cs typeface="+mn-cs"/>
                        </a:rPr>
                        <a:t> patch/update </a:t>
                      </a:r>
                      <a:r>
                        <a:rPr lang="en-US" sz="900" b="0" i="0" u="none" strike="noStrike" kern="0" cap="none" spc="0" normalizeH="0" baseline="0" noProof="0" dirty="0">
                          <a:ln>
                            <a:noFill/>
                          </a:ln>
                          <a:solidFill>
                            <a:prstClr val="black"/>
                          </a:solidFill>
                          <a:effectLst/>
                          <a:uLnTx/>
                          <a:uFillTx/>
                          <a:latin typeface="+mn-lt"/>
                          <a:ea typeface="+mn-ea"/>
                          <a:cs typeface="+mn-cs"/>
                        </a:rPr>
                        <a:t>management tool that</a:t>
                      </a:r>
                      <a:r>
                        <a:rPr kumimoji="0" lang="en-US" sz="900" b="0" i="0" u="none" strike="noStrike" kern="0" cap="none" spc="0" normalizeH="0" baseline="0" noProof="0" dirty="0">
                          <a:ln>
                            <a:noFill/>
                          </a:ln>
                          <a:solidFill>
                            <a:prstClr val="black"/>
                          </a:solidFill>
                          <a:effectLst/>
                          <a:uLnTx/>
                          <a:uFillTx/>
                          <a:latin typeface="+mn-lt"/>
                          <a:ea typeface="+mn-ea"/>
                          <a:cs typeface="+mn-cs"/>
                        </a:rPr>
                        <a:t> supports PowerShell execution can </a:t>
                      </a:r>
                      <a:r>
                        <a:rPr lang="en-US" sz="900" b="0" i="0" u="none" strike="noStrike" kern="0" cap="none" spc="0" normalizeH="0" baseline="0" noProof="0" dirty="0">
                          <a:ln>
                            <a:noFill/>
                          </a:ln>
                          <a:solidFill>
                            <a:prstClr val="black"/>
                          </a:solidFill>
                          <a:effectLst/>
                          <a:uLnTx/>
                          <a:uFillTx/>
                          <a:latin typeface="+mn-lt"/>
                          <a:ea typeface="+mn-ea"/>
                          <a:cs typeface="+mn-cs"/>
                        </a:rPr>
                        <a:t>also be</a:t>
                      </a:r>
                      <a:r>
                        <a:rPr kumimoji="0" lang="en-US" sz="900" b="0" i="0" u="none" strike="noStrike" kern="0" cap="none" spc="0" normalizeH="0" baseline="0" noProof="0" dirty="0">
                          <a:ln>
                            <a:noFill/>
                          </a:ln>
                          <a:solidFill>
                            <a:prstClr val="black"/>
                          </a:solidFill>
                          <a:effectLst/>
                          <a:uLnTx/>
                          <a:uFillTx/>
                          <a:latin typeface="+mn-lt"/>
                          <a:ea typeface="+mn-ea"/>
                          <a:cs typeface="+mn-cs"/>
                        </a:rPr>
                        <a:t> used</a:t>
                      </a:r>
                      <a:r>
                        <a:rPr lang="en-US" sz="900" b="0" i="0" u="none" strike="noStrike" kern="0" cap="none" spc="0" normalizeH="0" baseline="0" noProof="0" dirty="0">
                          <a:ln>
                            <a:noFill/>
                          </a:ln>
                          <a:solidFill>
                            <a:prstClr val="black"/>
                          </a:solidFill>
                          <a:effectLst/>
                          <a:uLnTx/>
                          <a:uFillTx/>
                          <a:latin typeface="+mn-lt"/>
                          <a:ea typeface="+mn-ea"/>
                          <a:cs typeface="+mn-cs"/>
                        </a:rPr>
                        <a:t> </a:t>
                      </a:r>
                      <a:endParaRPr kumimoji="0" lang="en-US" sz="900" b="0" i="0" u="none" strike="noStrike" kern="0" cap="none" spc="0" normalizeH="0" baseline="0" noProof="0" dirty="0">
                        <a:ln>
                          <a:noFill/>
                        </a:ln>
                        <a:solidFill>
                          <a:prstClr val="black"/>
                        </a:solidFill>
                        <a:effectLst/>
                        <a:uLnTx/>
                        <a:uFillTx/>
                        <a:latin typeface="+mn-lt"/>
                        <a:ea typeface="+mn-ea"/>
                        <a:cs typeface="+mn-cs"/>
                      </a:endParaRPr>
                    </a:p>
                    <a:p>
                      <a:pPr marL="233045" marR="0" lvl="3" indent="-233045" algn="just" defTabSz="914400" rtl="0" eaLnBrk="1" fontAlgn="auto" latinLnBrk="0" hangingPunct="1">
                        <a:lnSpc>
                          <a:spcPct val="100000"/>
                        </a:lnSpc>
                        <a:spcBef>
                          <a:spcPts val="0"/>
                        </a:spcBef>
                        <a:spcAft>
                          <a:spcPts val="0"/>
                        </a:spcAft>
                        <a:buClrTx/>
                        <a:buSzTx/>
                        <a:buFont typeface="+mj-lt"/>
                        <a:buAutoNum type="romanLcPeriod"/>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Group Policy Object (GPO)</a:t>
                      </a:r>
                    </a:p>
                    <a:p>
                      <a:pPr marL="233045" marR="0" lvl="3" indent="-233045" algn="just" defTabSz="914400" rtl="0" eaLnBrk="1" fontAlgn="auto" latinLnBrk="0" hangingPunct="1">
                        <a:lnSpc>
                          <a:spcPct val="100000"/>
                        </a:lnSpc>
                        <a:spcBef>
                          <a:spcPts val="0"/>
                        </a:spcBef>
                        <a:spcAft>
                          <a:spcPts val="0"/>
                        </a:spcAft>
                        <a:buClrTx/>
                        <a:buSzTx/>
                        <a:buFont typeface="+mj-lt"/>
                        <a:buAutoNum type="romanLcPeriod"/>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Manual installation</a:t>
                      </a:r>
                    </a:p>
                    <a:p>
                      <a:pPr marL="0" marR="0" lvl="3" indent="0" algn="just" defTabSz="914400" rtl="0" eaLnBrk="1" fontAlgn="auto" latinLnBrk="0" hangingPunct="1">
                        <a:lnSpc>
                          <a:spcPct val="100000"/>
                        </a:lnSpc>
                        <a:spcBef>
                          <a:spcPts val="0"/>
                        </a:spcBef>
                        <a:spcAft>
                          <a:spcPts val="0"/>
                        </a:spcAft>
                        <a:buClrTx/>
                        <a:buSzTx/>
                        <a:buFont typeface="+mj-lt"/>
                        <a:buNone/>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Prepare the target environment (Access, Naming standards and tagging)</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1076581">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100" b="1" kern="1200" noProof="0" dirty="0">
                          <a:solidFill>
                            <a:srgbClr val="0078D7"/>
                          </a:solidFill>
                          <a:latin typeface="+mn-lt"/>
                          <a:ea typeface="+mn-ea"/>
                          <a:cs typeface="+mn-cs"/>
                        </a:rPr>
                        <a:t>3</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3" indent="0" algn="l" defTabSz="914400" rtl="0" eaLnBrk="1" fontAlgn="auto" latinLnBrk="0" hangingPunct="1">
                        <a:lnSpc>
                          <a:spcPct val="100000"/>
                        </a:lnSpc>
                        <a:spcBef>
                          <a:spcPts val="0"/>
                        </a:spcBef>
                        <a:spcAft>
                          <a:spcPts val="600"/>
                        </a:spcAft>
                        <a:buClrTx/>
                        <a:buSzTx/>
                        <a:buFont typeface="+mj-lt"/>
                        <a:buNone/>
                        <a:tabLst/>
                        <a:defRPr/>
                      </a:pPr>
                      <a:r>
                        <a:rPr kumimoji="0" lang="en-US" sz="900" b="1" i="0" u="none" strike="noStrike" kern="0" cap="none" spc="0" normalizeH="0" baseline="0" noProof="0" dirty="0">
                          <a:ln>
                            <a:noFill/>
                          </a:ln>
                          <a:solidFill>
                            <a:prstClr val="black"/>
                          </a:solidFill>
                          <a:effectLst/>
                          <a:uLnTx/>
                          <a:uFillTx/>
                          <a:latin typeface="+mn-lt"/>
                          <a:ea typeface="+mn-ea"/>
                          <a:cs typeface="+mn-cs"/>
                        </a:rPr>
                        <a:t>Implement supported Azure Arc </a:t>
                      </a:r>
                      <a:r>
                        <a:rPr kumimoji="0" lang="en-US" sz="900" b="0" i="0" u="none" strike="noStrike" kern="0" cap="none" spc="0" normalizeH="0" baseline="0" noProof="0" dirty="0">
                          <a:ln>
                            <a:noFill/>
                          </a:ln>
                          <a:solidFill>
                            <a:prstClr val="black"/>
                          </a:solidFill>
                          <a:effectLst/>
                          <a:uLnTx/>
                          <a:uFillTx/>
                          <a:latin typeface="+mn-lt"/>
                          <a:ea typeface="+mn-ea"/>
                          <a:cs typeface="+mn-cs"/>
                        </a:rPr>
                        <a:t>features like inventory, management, governance, and security for servers </a:t>
                      </a:r>
                      <a:br>
                        <a:rPr kumimoji="0" lang="en-US" sz="900" b="0" i="0" u="none" strike="noStrike" kern="0" cap="none" spc="0" normalizeH="0" baseline="0" noProof="0" dirty="0">
                          <a:ln>
                            <a:noFill/>
                          </a:ln>
                          <a:solidFill>
                            <a:srgbClr val="000000"/>
                          </a:solidFill>
                          <a:effectLst/>
                          <a:uLnTx/>
                          <a:uFillTx/>
                          <a:latin typeface="+mn-lt"/>
                          <a:ea typeface="+mn-ea"/>
                          <a:cs typeface="+mn-cs"/>
                        </a:rPr>
                      </a:br>
                      <a:r>
                        <a:rPr kumimoji="0" lang="en-US" sz="900" b="0" i="0" u="none" strike="noStrike" kern="0" cap="none" spc="0" normalizeH="0" baseline="0" noProof="0" dirty="0">
                          <a:ln>
                            <a:noFill/>
                          </a:ln>
                          <a:solidFill>
                            <a:prstClr val="black"/>
                          </a:solidFill>
                          <a:effectLst/>
                          <a:uLnTx/>
                          <a:uFillTx/>
                          <a:latin typeface="+mn-lt"/>
                          <a:ea typeface="+mn-ea"/>
                          <a:cs typeface="+mn-cs"/>
                        </a:rPr>
                        <a:t>across your environment </a:t>
                      </a:r>
                    </a:p>
                    <a:p>
                      <a:pPr marL="3175" marR="0" lvl="2"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For example</a:t>
                      </a:r>
                      <a:r>
                        <a:rPr lang="en-US" sz="900" b="0" i="0" u="none" strike="noStrike" kern="0" cap="none" spc="0" normalizeH="0" baseline="0" noProof="0" dirty="0">
                          <a:ln>
                            <a:noFill/>
                          </a:ln>
                          <a:solidFill>
                            <a:prstClr val="black"/>
                          </a:solidFill>
                          <a:effectLst/>
                          <a:uLnTx/>
                          <a:uFillTx/>
                          <a:latin typeface="+mn-lt"/>
                          <a:ea typeface="+mn-ea"/>
                          <a:cs typeface="+mn-cs"/>
                        </a:rPr>
                        <a:t>:</a:t>
                      </a:r>
                      <a:endParaRPr kumimoji="0" lang="en-US" sz="900" b="0" i="0" u="none" strike="noStrike" kern="0" cap="none" spc="0" normalizeH="0" baseline="0" noProof="0" dirty="0">
                        <a:ln>
                          <a:noFill/>
                        </a:ln>
                        <a:solidFill>
                          <a:prstClr val="black"/>
                        </a:solidFill>
                        <a:effectLst/>
                        <a:uLnTx/>
                        <a:uFillTx/>
                        <a:latin typeface="+mn-lt"/>
                        <a:ea typeface="+mn-ea"/>
                        <a:cs typeface="+mn-cs"/>
                      </a:endParaRPr>
                    </a:p>
                    <a:p>
                      <a:pPr marL="171450" marR="0" lvl="2" indent="-1682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Deployment of Defender for Cloud agents</a:t>
                      </a:r>
                    </a:p>
                    <a:p>
                      <a:pPr marL="171450" marR="0" lvl="2" indent="-1682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Extended Security Updates (ESU)</a:t>
                      </a:r>
                    </a:p>
                    <a:p>
                      <a:pPr marL="171450" marR="0" lvl="2" indent="-168275"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License management</a:t>
                      </a:r>
                    </a:p>
                    <a:p>
                      <a:pPr marL="3175"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0" cap="none" spc="0" normalizeH="0" baseline="0" noProof="0" dirty="0">
                          <a:ln>
                            <a:noFill/>
                          </a:ln>
                          <a:solidFill>
                            <a:prstClr val="black"/>
                          </a:solidFill>
                          <a:effectLst/>
                          <a:uLnTx/>
                          <a:uFillTx/>
                          <a:latin typeface="+mn-lt"/>
                          <a:ea typeface="+mn-ea"/>
                          <a:cs typeface="+mn-cs"/>
                        </a:rPr>
                        <a:t>Validate Arc onboarded resources in Azure portal (Agent health, connectivity, Inventory, Status, basic management features)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4219895"/>
                  </a:ext>
                </a:extLst>
              </a:tr>
              <a:tr h="574765">
                <a:tc>
                  <a:txBody>
                    <a:bodyPr/>
                    <a:lstStyle/>
                    <a:p>
                      <a:pPr algn="ctr"/>
                      <a:r>
                        <a:rPr lang="en-US" sz="1100" b="1" noProof="0" dirty="0">
                          <a:solidFill>
                            <a:srgbClr val="0078D7"/>
                          </a:solidFill>
                          <a:latin typeface="+mn-lt"/>
                        </a:rPr>
                        <a:t>4</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mn-lt"/>
                          <a:ea typeface="+mn-ea"/>
                          <a:cs typeface="Segoe Sans Text"/>
                        </a:rPr>
                        <a:t>Arc‑enabled SQL Servers </a:t>
                      </a:r>
                      <a:r>
                        <a:rPr kumimoji="0" lang="en-US" sz="900" b="0" i="0" u="none" strike="noStrike" kern="0" cap="none" spc="0" normalizeH="0" baseline="0" noProof="0" dirty="0">
                          <a:ln>
                            <a:noFill/>
                          </a:ln>
                          <a:solidFill>
                            <a:srgbClr val="000000"/>
                          </a:solidFill>
                          <a:effectLst/>
                          <a:uLnTx/>
                          <a:uFillTx/>
                          <a:latin typeface="+mn-lt"/>
                          <a:ea typeface="+mn-ea"/>
                          <a:cs typeface="Segoe Sans Text"/>
                        </a:rPr>
                        <a:t>(Two‑Step Process)</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mn-lt"/>
                          <a:ea typeface="+mn-ea"/>
                          <a:cs typeface="Segoe Sans Text"/>
                        </a:rPr>
                        <a:t>Step 1: Onboard the server hosting the SQL </a:t>
                      </a:r>
                      <a:r>
                        <a:rPr kumimoji="0" lang="en-US" sz="900" b="0" i="0" u="none" strike="noStrike" kern="0" cap="none" spc="0" normalizeH="0" baseline="0" noProof="0" dirty="0">
                          <a:ln>
                            <a:noFill/>
                          </a:ln>
                          <a:solidFill>
                            <a:srgbClr val="000000"/>
                          </a:solidFill>
                          <a:effectLst/>
                          <a:uLnTx/>
                          <a:uFillTx/>
                          <a:latin typeface="+mn-lt"/>
                          <a:ea typeface="+mn-ea"/>
                          <a:cs typeface="+mn-cs"/>
                        </a:rPr>
                        <a:t>Server as an Azure Arc‑enabled server.</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mn-lt"/>
                          <a:ea typeface="+mn-ea"/>
                          <a:cs typeface="+mn-cs"/>
                        </a:rPr>
                        <a:t>Step 2: Onboard the SQL Server </a:t>
                      </a:r>
                      <a:r>
                        <a:rPr lang="en-US" sz="900" b="0" i="0" u="none" strike="noStrike" kern="0" cap="none" spc="0" normalizeH="0" baseline="0" noProof="0" dirty="0">
                          <a:ln>
                            <a:noFill/>
                          </a:ln>
                          <a:solidFill>
                            <a:srgbClr val="000000"/>
                          </a:solidFill>
                          <a:effectLst/>
                          <a:uLnTx/>
                          <a:uFillTx/>
                          <a:latin typeface="+mn-lt"/>
                          <a:ea typeface="+mn-ea"/>
                          <a:cs typeface="+mn-cs"/>
                        </a:rPr>
                        <a:t>2014</a:t>
                      </a:r>
                      <a:r>
                        <a:rPr kumimoji="0" lang="en-US" sz="900" b="0" i="0" u="none" strike="noStrike" kern="0" cap="none" spc="0" normalizeH="0" baseline="0" noProof="0" dirty="0">
                          <a:ln>
                            <a:noFill/>
                          </a:ln>
                          <a:solidFill>
                            <a:srgbClr val="000000"/>
                          </a:solidFill>
                          <a:effectLst/>
                          <a:uLnTx/>
                          <a:uFillTx/>
                          <a:latin typeface="+mn-lt"/>
                          <a:ea typeface="+mn-ea"/>
                          <a:cs typeface="+mn-cs"/>
                        </a:rPr>
                        <a:t> and later instances on that server as Azure Arc‑enabled SQL Servers.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7708825"/>
                  </a:ext>
                </a:extLst>
              </a:tr>
              <a:tr h="281059">
                <a:tc>
                  <a:txBody>
                    <a:bodyPr/>
                    <a:lstStyle/>
                    <a:p>
                      <a:pPr algn="ctr"/>
                      <a:r>
                        <a:rPr lang="en-US" sz="1100" b="1" noProof="0" dirty="0">
                          <a:solidFill>
                            <a:srgbClr val="0078D7"/>
                          </a:solidFill>
                          <a:latin typeface="+mn-lt"/>
                        </a:rPr>
                        <a:t>5</a:t>
                      </a:r>
                    </a:p>
                  </a:txBody>
                  <a:tcPr marL="64008" marR="64008" marT="64008" marB="64008">
                    <a:lnL w="12700" cmpd="sng">
                      <a:noFill/>
                    </a:lnL>
                    <a:lnR w="1270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715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1" i="0" u="none" strike="noStrike" kern="0" cap="none" spc="0" normalizeH="0" baseline="0" noProof="0" dirty="0">
                          <a:ln>
                            <a:noFill/>
                          </a:ln>
                          <a:solidFill>
                            <a:srgbClr val="000000"/>
                          </a:solidFill>
                          <a:effectLst/>
                          <a:uLnTx/>
                          <a:uFillTx/>
                          <a:latin typeface="+mn-lt"/>
                          <a:ea typeface="+mn-ea"/>
                          <a:cs typeface="+mn-cs"/>
                        </a:rPr>
                        <a:t>Hand over</a:t>
                      </a:r>
                      <a:r>
                        <a:rPr kumimoji="0" lang="en-US" sz="900" b="0" i="0" u="none" strike="noStrike" kern="0" cap="none" spc="0" normalizeH="0" baseline="0" noProof="0" dirty="0">
                          <a:ln>
                            <a:noFill/>
                          </a:ln>
                          <a:solidFill>
                            <a:srgbClr val="000000"/>
                          </a:solidFill>
                          <a:effectLst/>
                          <a:uLnTx/>
                          <a:uFillTx/>
                          <a:latin typeface="+mn-lt"/>
                          <a:ea typeface="+mn-ea"/>
                          <a:cs typeface="+mn-cs"/>
                        </a:rPr>
                        <a:t> document onboarding outcomes/configuration and hand over to customer/ISD/Partner for post-migration activities​</a:t>
                      </a:r>
                    </a:p>
                  </a:txBody>
                  <a:tcPr marL="63999" marR="63999" marT="63999" marB="63999">
                    <a:lnL w="12700" cap="flat" cmpd="sng" algn="ctr">
                      <a:solidFill>
                        <a:schemeClr val="bg2"/>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0983830"/>
                  </a:ext>
                </a:extLst>
              </a:tr>
              <a:tr h="368159">
                <a:tc gridSpan="2">
                  <a:txBody>
                    <a:bodyPr/>
                    <a:lstStyle/>
                    <a:p>
                      <a:pPr marL="0" marR="0" lvl="0" indent="0" algn="l" rtl="0" eaLnBrk="1" fontAlgn="auto" latinLnBrk="0" hangingPunct="1">
                        <a:lnSpc>
                          <a:spcPct val="100000"/>
                        </a:lnSpc>
                        <a:spcBef>
                          <a:spcPts val="0"/>
                        </a:spcBef>
                        <a:spcAft>
                          <a:spcPts val="0"/>
                        </a:spcAft>
                        <a:buClrTx/>
                        <a:buSzTx/>
                        <a:buFontTx/>
                        <a:buNone/>
                      </a:pPr>
                      <a:r>
                        <a:rPr kumimoji="0" lang="en-US" sz="7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executing required remediations where applicable, providing overall project management, coordinating and attending checkpoint meetings, and delivering user communications, documentation, training, and change management activities.</a:t>
                      </a:r>
                    </a:p>
                    <a:p>
                      <a:pPr marL="0" marR="0" lvl="0" indent="0" algn="l" rtl="0" eaLnBrk="1" fontAlgn="auto" latinLnBrk="0" hangingPunct="1">
                        <a:lnSpc>
                          <a:spcPct val="100000"/>
                        </a:lnSpc>
                        <a:spcBef>
                          <a:spcPts val="0"/>
                        </a:spcBef>
                        <a:spcAft>
                          <a:spcPts val="0"/>
                        </a:spcAft>
                        <a:buClrTx/>
                        <a:buSzTx/>
                        <a:buFontTx/>
                        <a:buNone/>
                      </a:pPr>
                      <a:endParaRPr kumimoji="0" lang="en-US" sz="7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i="0" u="none" strike="noStrike" kern="1200" cap="none" spc="0" normalizeH="0" baseline="0" noProof="0" dirty="0">
                          <a:ln>
                            <a:noFill/>
                          </a:ln>
                          <a:solidFill>
                            <a:srgbClr val="000000"/>
                          </a:solidFill>
                          <a:effectLst/>
                          <a:uLnTx/>
                          <a:uFillTx/>
                          <a:latin typeface="+mn-lt"/>
                        </a:rPr>
                        <a:t>Estimated duration for completing all activities in a typical engagement is within 15 days when all the requirements are met, and customer and partner are ready for execution.</a:t>
                      </a: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018203607"/>
                  </a:ext>
                </a:extLst>
              </a:tr>
            </a:tbl>
          </a:graphicData>
        </a:graphic>
      </p:graphicFrame>
      <p:sp>
        <p:nvSpPr>
          <p:cNvPr id="2" name="Title 1"/>
          <p:cNvSpPr>
            <a:spLocks noGrp="1"/>
          </p:cNvSpPr>
          <p:nvPr>
            <p:ph type="title"/>
          </p:nvPr>
        </p:nvSpPr>
        <p:spPr>
          <a:xfrm>
            <a:off x="708340" y="477653"/>
            <a:ext cx="11079739" cy="738664"/>
          </a:xfrm>
        </p:spPr>
        <p:txBody>
          <a:bodyPr vert="horz" wrap="square" lIns="0" tIns="0" rIns="0" bIns="0" rtlCol="0" anchor="t">
            <a:spAutoFit/>
          </a:bodyPr>
          <a:lstStyle/>
          <a:p>
            <a:r>
              <a:rPr lang="en-US" sz="2400" noProof="0" dirty="0"/>
              <a:t>Secure Azure Cloud</a:t>
            </a:r>
            <a:br>
              <a:rPr lang="en-US" sz="2400" noProof="0" dirty="0"/>
            </a:br>
            <a:r>
              <a:rPr lang="en-US" sz="2400" noProof="0" dirty="0">
                <a:solidFill>
                  <a:schemeClr val="tx1"/>
                </a:solidFill>
              </a:rPr>
              <a:t>Azure Arc for Windows and SQL Server</a:t>
            </a:r>
          </a:p>
        </p:txBody>
      </p:sp>
      <p:sp>
        <p:nvSpPr>
          <p:cNvPr id="16" name="Rounded Rectangle 55">
            <a:extLst>
              <a:ext uri="{FF2B5EF4-FFF2-40B4-BE49-F238E27FC236}">
                <a16:creationId xmlns:a16="http://schemas.microsoft.com/office/drawing/2014/main" id="{D50DB40D-5CE6-BD8C-0746-B0017F99F353}"/>
              </a:ext>
              <a:ext uri="{C183D7F6-B498-43B3-948B-1728B52AA6E4}">
                <adec:decorative xmlns:adec="http://schemas.microsoft.com/office/drawing/2017/decorative" val="1"/>
              </a:ext>
            </a:extLst>
          </p:cNvPr>
          <p:cNvSpPr/>
          <p:nvPr/>
        </p:nvSpPr>
        <p:spPr bwMode="auto">
          <a:xfrm>
            <a:off x="8344829" y="1216317"/>
            <a:ext cx="3269676" cy="5573589"/>
          </a:xfrm>
          <a:prstGeom prst="roundRect">
            <a:avLst>
              <a:gd name="adj" fmla="val 5071"/>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pic>
        <p:nvPicPr>
          <p:cNvPr id="11" name="Graphic 10">
            <a:extLst>
              <a:ext uri="{FF2B5EF4-FFF2-40B4-BE49-F238E27FC236}">
                <a16:creationId xmlns:a16="http://schemas.microsoft.com/office/drawing/2014/main" id="{E0A7F3DA-F584-1ABF-37A0-6D7CA067BBC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62959" y="1352550"/>
            <a:ext cx="203202" cy="203200"/>
          </a:xfrm>
          <a:prstGeom prst="rect">
            <a:avLst/>
          </a:prstGeom>
        </p:spPr>
      </p:pic>
      <p:sp>
        <p:nvSpPr>
          <p:cNvPr id="5" name="Content Placeholder 4">
            <a:extLst>
              <a:ext uri="{FF2B5EF4-FFF2-40B4-BE49-F238E27FC236}">
                <a16:creationId xmlns:a16="http://schemas.microsoft.com/office/drawing/2014/main" id="{4B5AAD8D-2AE7-A066-55D9-FCAC827B3FB1}"/>
              </a:ext>
            </a:extLst>
          </p:cNvPr>
          <p:cNvSpPr txBox="1">
            <a:spLocks/>
          </p:cNvSpPr>
          <p:nvPr/>
        </p:nvSpPr>
        <p:spPr>
          <a:xfrm>
            <a:off x="8600439" y="1736725"/>
            <a:ext cx="2852737" cy="4568825"/>
          </a:xfrm>
          <a:prstGeom prst="rect">
            <a:avLst/>
          </a:prstGeom>
        </p:spPr>
        <p:txBody>
          <a:bodyPr vert="horz" wrap="square" lIns="91440" tIns="0" rIns="91440" bIns="0" rtlCol="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600"/>
              </a:spcBef>
              <a:spcAft>
                <a:spcPts val="600"/>
              </a:spcAft>
              <a:buFont typeface="Wingdings" panose="05000000000000000000" pitchFamily="2" charset="2"/>
              <a:buNone/>
              <a:defRPr/>
            </a:pPr>
            <a:r>
              <a:rPr lang="en-US" b="1" noProof="0" dirty="0">
                <a:solidFill>
                  <a:schemeClr val="dk1"/>
                </a:solidFill>
              </a:rPr>
              <a:t>Requirements to leveraging </a:t>
            </a:r>
            <a:br>
              <a:rPr lang="en-US" b="1" noProof="0" dirty="0">
                <a:solidFill>
                  <a:schemeClr val="dk1"/>
                </a:solidFill>
              </a:rPr>
            </a:br>
            <a:r>
              <a:rPr lang="en-US" b="1" noProof="0" dirty="0">
                <a:solidFill>
                  <a:schemeClr val="dk1"/>
                </a:solidFill>
              </a:rPr>
              <a:t>this service:</a:t>
            </a:r>
          </a:p>
          <a:p>
            <a:pPr>
              <a:buFont typeface="Arial" panose="020B0604020202020204" pitchFamily="34" charset="0"/>
              <a:buChar char="•"/>
              <a:defRPr/>
            </a:pPr>
            <a:r>
              <a:rPr lang="en-US" sz="1000" noProof="0" dirty="0">
                <a:ln w="3175">
                  <a:noFill/>
                </a:ln>
                <a:solidFill>
                  <a:prstClr val="black"/>
                </a:solidFill>
                <a:ea typeface="+mn-lt"/>
                <a:cs typeface="Segoe Sans Text"/>
              </a:rPr>
              <a:t>Customer must have at least one Azure subscription and resource group.</a:t>
            </a:r>
          </a:p>
          <a:p>
            <a:pPr>
              <a:buFont typeface="Arial" panose="020B0604020202020204" pitchFamily="34" charset="0"/>
              <a:buChar char="•"/>
              <a:defRPr/>
            </a:pPr>
            <a:r>
              <a:rPr lang="en-US" sz="1000" noProof="0" dirty="0">
                <a:ln w="3175">
                  <a:noFill/>
                </a:ln>
                <a:solidFill>
                  <a:prstClr val="black"/>
                </a:solidFill>
                <a:ea typeface="+mn-lt"/>
                <a:cs typeface="Segoe Sans Text"/>
              </a:rPr>
              <a:t>Azure region and naming standards defined for consistent Arc resource placement and governance</a:t>
            </a:r>
          </a:p>
          <a:p>
            <a:pPr>
              <a:buFont typeface="Arial" panose="020B0604020202020204" pitchFamily="34" charset="0"/>
              <a:buChar char="•"/>
              <a:defRPr/>
            </a:pPr>
            <a:r>
              <a:rPr lang="en-US" sz="1000" noProof="0" dirty="0">
                <a:ln w="3175">
                  <a:noFill/>
                </a:ln>
                <a:solidFill>
                  <a:prstClr val="black"/>
                </a:solidFill>
                <a:ea typeface="+mn-lt"/>
                <a:cs typeface="Segoe Sans Text"/>
              </a:rPr>
              <a:t>The customer and partner must identify and confirm the in‑scope servers for Azure Arc deployment.</a:t>
            </a:r>
          </a:p>
          <a:p>
            <a:pPr>
              <a:buFont typeface="Arial" panose="020B0604020202020204" pitchFamily="34" charset="0"/>
              <a:buChar char="•"/>
              <a:defRPr/>
            </a:pPr>
            <a:r>
              <a:rPr lang="en-US" sz="1000" noProof="0" dirty="0">
                <a:ln w="3175">
                  <a:noFill/>
                </a:ln>
                <a:solidFill>
                  <a:prstClr val="black"/>
                </a:solidFill>
                <a:ea typeface="+mn-lt"/>
                <a:cs typeface="Segoe Sans Text"/>
              </a:rPr>
              <a:t>Azure Arc onboarding itself does not require a separate license.</a:t>
            </a:r>
          </a:p>
          <a:p>
            <a:pPr>
              <a:buFont typeface="Arial" panose="020B0604020202020204" pitchFamily="34" charset="0"/>
              <a:buChar char="•"/>
              <a:defRPr/>
            </a:pPr>
            <a:r>
              <a:rPr lang="en-US" sz="1000" noProof="0" dirty="0">
                <a:ln w="3175">
                  <a:noFill/>
                </a:ln>
                <a:solidFill>
                  <a:prstClr val="black"/>
                </a:solidFill>
                <a:ea typeface="+mn-lt"/>
                <a:cs typeface="Segoe Sans Text"/>
              </a:rPr>
              <a:t>For SQL Server enabled by Azure Arc, the license type must be set to a Paid license or PAYG (pay-as-you-go or license with software assurance). </a:t>
            </a:r>
          </a:p>
          <a:p>
            <a:pPr>
              <a:buFont typeface="Arial" panose="020B0604020202020204" pitchFamily="34" charset="0"/>
              <a:buChar char="•"/>
              <a:defRPr/>
            </a:pPr>
            <a:r>
              <a:rPr lang="en-US" sz="1000" noProof="0" dirty="0">
                <a:ln w="3175">
                  <a:noFill/>
                </a:ln>
                <a:solidFill>
                  <a:prstClr val="black"/>
                </a:solidFill>
                <a:ea typeface="+mn-lt"/>
                <a:cs typeface="Segoe Sans Text"/>
              </a:rPr>
              <a:t>Finalized Azure connectivity (public /private); firewall and DNS prerequisites fulfilled.</a:t>
            </a:r>
          </a:p>
          <a:p>
            <a:pPr>
              <a:buFont typeface="Arial" panose="020B0604020202020204" pitchFamily="34" charset="0"/>
              <a:buChar char="•"/>
              <a:defRPr/>
            </a:pPr>
            <a:r>
              <a:rPr lang="en-US" sz="1000" noProof="0" dirty="0">
                <a:ln w="3175">
                  <a:noFill/>
                </a:ln>
                <a:solidFill>
                  <a:prstClr val="black"/>
                </a:solidFill>
                <a:ea typeface="+mn-lt"/>
                <a:cs typeface="Segoe Sans Text"/>
              </a:rPr>
              <a:t>The customer must provide a user account with elevated privileges (Administrator for Windows).</a:t>
            </a:r>
          </a:p>
          <a:p>
            <a:pPr>
              <a:buFont typeface="Arial" panose="020B0604020202020204" pitchFamily="34" charset="0"/>
              <a:buChar char="•"/>
              <a:defRPr/>
            </a:pPr>
            <a:r>
              <a:rPr lang="en-US" sz="1000" noProof="0" dirty="0">
                <a:ln w="3175">
                  <a:noFill/>
                </a:ln>
                <a:solidFill>
                  <a:prstClr val="black"/>
                </a:solidFill>
                <a:ea typeface="+mn-lt"/>
                <a:cs typeface="Segoe Sans Text"/>
              </a:rPr>
              <a:t>Minimum bandwidth requirements met to support agent onboarding and ongoing Arc telemetry</a:t>
            </a:r>
          </a:p>
          <a:p>
            <a:pPr>
              <a:buFont typeface="Arial" panose="020B0604020202020204" pitchFamily="34" charset="0"/>
              <a:buChar char="•"/>
              <a:defRPr/>
            </a:pPr>
            <a:r>
              <a:rPr lang="en-US" sz="1000" noProof="0" dirty="0">
                <a:ln w="3175">
                  <a:noFill/>
                </a:ln>
                <a:solidFill>
                  <a:prstClr val="black"/>
                </a:solidFill>
                <a:ea typeface="+mn-lt"/>
                <a:cs typeface="Segoe Sans Text"/>
              </a:rPr>
              <a:t>Security and compliance approvals obtained for installing Azure Arc agents on non‑Azure servers.</a:t>
            </a:r>
          </a:p>
          <a:p>
            <a:pPr marL="171450" indent="-171450">
              <a:spcBef>
                <a:spcPts val="600"/>
              </a:spcBef>
              <a:spcAft>
                <a:spcPts val="600"/>
              </a:spcAft>
              <a:buSzTx/>
              <a:buFont typeface="Arial" panose="020B0604020202020204" pitchFamily="34" charset="0"/>
              <a:buChar char="•"/>
              <a:defRPr/>
            </a:pPr>
            <a:endParaRPr lang="en-US" sz="1000" noProof="0" dirty="0">
              <a:ln w="3175">
                <a:noFill/>
              </a:ln>
              <a:solidFill>
                <a:prstClr val="black"/>
              </a:solidFill>
              <a:ea typeface="+mn-lt"/>
              <a:cs typeface="Segoe Sans Text"/>
            </a:endParaRPr>
          </a:p>
        </p:txBody>
      </p:sp>
      <p:sp>
        <p:nvSpPr>
          <p:cNvPr id="15" name="TextBox 14">
            <a:extLst>
              <a:ext uri="{FF2B5EF4-FFF2-40B4-BE49-F238E27FC236}">
                <a16:creationId xmlns:a16="http://schemas.microsoft.com/office/drawing/2014/main" id="{7951D972-4611-5AC5-ABCC-10436B1327A3}"/>
              </a:ext>
            </a:extLst>
          </p:cNvPr>
          <p:cNvSpPr txBox="1"/>
          <p:nvPr/>
        </p:nvSpPr>
        <p:spPr>
          <a:xfrm>
            <a:off x="594884" y="1282785"/>
            <a:ext cx="7431931"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18" name="TextBox 17">
            <a:extLst>
              <a:ext uri="{FF2B5EF4-FFF2-40B4-BE49-F238E27FC236}">
                <a16:creationId xmlns:a16="http://schemas.microsoft.com/office/drawing/2014/main" id="{AFFAFF00-1988-806D-CFF1-C4CE01D92EDC}"/>
              </a:ext>
            </a:extLst>
          </p:cNvPr>
          <p:cNvSpPr txBox="1"/>
          <p:nvPr/>
        </p:nvSpPr>
        <p:spPr>
          <a:xfrm>
            <a:off x="8403438" y="1282785"/>
            <a:ext cx="3152458"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0" name="Graphic 22">
            <a:extLst>
              <a:ext uri="{FF2B5EF4-FFF2-40B4-BE49-F238E27FC236}">
                <a16:creationId xmlns:a16="http://schemas.microsoft.com/office/drawing/2014/main" id="{C708F769-A6FA-05AF-7264-FDEA1076F668}"/>
              </a:ext>
            </a:extLst>
          </p:cNvPr>
          <p:cNvSpPr/>
          <p:nvPr/>
        </p:nvSpPr>
        <p:spPr>
          <a:xfrm>
            <a:off x="3377220" y="13411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Graphic 25">
            <a:extLst>
              <a:ext uri="{FF2B5EF4-FFF2-40B4-BE49-F238E27FC236}">
                <a16:creationId xmlns:a16="http://schemas.microsoft.com/office/drawing/2014/main" id="{D754F6EB-C2F1-D83D-3B2C-A90D1F777683}"/>
              </a:ext>
            </a:extLst>
          </p:cNvPr>
          <p:cNvSpPr/>
          <p:nvPr/>
        </p:nvSpPr>
        <p:spPr>
          <a:xfrm>
            <a:off x="9501847" y="1367478"/>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4" name="TextBox 3">
            <a:extLst>
              <a:ext uri="{FF2B5EF4-FFF2-40B4-BE49-F238E27FC236}">
                <a16:creationId xmlns:a16="http://schemas.microsoft.com/office/drawing/2014/main" id="{2D01B90B-9743-8D89-0495-19F643BDA706}"/>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105863039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Title 69">
            <a:extLst>
              <a:ext uri="{FF2B5EF4-FFF2-40B4-BE49-F238E27FC236}">
                <a16:creationId xmlns:a16="http://schemas.microsoft.com/office/drawing/2014/main" id="{CBFA8DE0-A3F4-A6B4-37F1-D1D4023C42F3}"/>
              </a:ext>
            </a:extLst>
          </p:cNvPr>
          <p:cNvSpPr>
            <a:spLocks noGrp="1"/>
          </p:cNvSpPr>
          <p:nvPr>
            <p:ph type="title"/>
          </p:nvPr>
        </p:nvSpPr>
        <p:spPr>
          <a:xfrm>
            <a:off x="588263" y="457200"/>
            <a:ext cx="11018520" cy="738664"/>
          </a:xfrm>
        </p:spPr>
        <p:txBody>
          <a:bodyPr/>
          <a:lstStyle/>
          <a:p>
            <a:r>
              <a:rPr lang="en-US" sz="2400" noProof="0" dirty="0"/>
              <a:t>Secure Azure Cloud</a:t>
            </a:r>
            <a:br>
              <a:rPr lang="en-US" sz="2400" noProof="0" dirty="0"/>
            </a:br>
            <a:r>
              <a:rPr lang="en-US" sz="2400" noProof="0" dirty="0">
                <a:solidFill>
                  <a:schemeClr val="tx1"/>
                </a:solidFill>
              </a:rPr>
              <a:t>Azure Arc for Windows and SQL Server scope</a:t>
            </a:r>
          </a:p>
        </p:txBody>
      </p:sp>
      <p:sp>
        <p:nvSpPr>
          <p:cNvPr id="46" name="Rounded Rectangle 45">
            <a:extLst>
              <a:ext uri="{FF2B5EF4-FFF2-40B4-BE49-F238E27FC236}">
                <a16:creationId xmlns:a16="http://schemas.microsoft.com/office/drawing/2014/main" id="{7FA46142-0770-3C3B-EEB1-60931CBC41E8}"/>
              </a:ext>
              <a:ext uri="{C183D7F6-B498-43B3-948B-1728B52AA6E4}">
                <adec:decorative xmlns:adec="http://schemas.microsoft.com/office/drawing/2017/decorative" val="1"/>
              </a:ext>
            </a:extLst>
          </p:cNvPr>
          <p:cNvSpPr>
            <a:spLocks/>
          </p:cNvSpPr>
          <p:nvPr/>
        </p:nvSpPr>
        <p:spPr bwMode="auto">
          <a:xfrm>
            <a:off x="542616" y="1381328"/>
            <a:ext cx="5526244" cy="4904374"/>
          </a:xfrm>
          <a:prstGeom prst="roundRect">
            <a:avLst>
              <a:gd name="adj" fmla="val 5274"/>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sp>
        <p:nvSpPr>
          <p:cNvPr id="47" name="TextBox 46">
            <a:extLst>
              <a:ext uri="{FF2B5EF4-FFF2-40B4-BE49-F238E27FC236}">
                <a16:creationId xmlns:a16="http://schemas.microsoft.com/office/drawing/2014/main" id="{6121ACFB-C26C-745E-C921-F3CFFD4155CD}"/>
              </a:ext>
            </a:extLst>
          </p:cNvPr>
          <p:cNvSpPr txBox="1">
            <a:spLocks/>
          </p:cNvSpPr>
          <p:nvPr/>
        </p:nvSpPr>
        <p:spPr>
          <a:xfrm>
            <a:off x="584200" y="1453376"/>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48" name="TextBox 47">
            <a:extLst>
              <a:ext uri="{FF2B5EF4-FFF2-40B4-BE49-F238E27FC236}">
                <a16:creationId xmlns:a16="http://schemas.microsoft.com/office/drawing/2014/main" id="{5D8F643C-9861-19A7-2A4B-642B4ED883D3}"/>
              </a:ext>
            </a:extLst>
          </p:cNvPr>
          <p:cNvSpPr txBox="1">
            <a:spLocks/>
          </p:cNvSpPr>
          <p:nvPr/>
        </p:nvSpPr>
        <p:spPr>
          <a:xfrm>
            <a:off x="6165572" y="1441764"/>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Customer - Led</a:t>
            </a:r>
          </a:p>
        </p:txBody>
      </p:sp>
      <p:cxnSp>
        <p:nvCxnSpPr>
          <p:cNvPr id="36" name="Straight Connector 35">
            <a:extLst>
              <a:ext uri="{FF2B5EF4-FFF2-40B4-BE49-F238E27FC236}">
                <a16:creationId xmlns:a16="http://schemas.microsoft.com/office/drawing/2014/main" id="{76EF89E9-D0AF-7CD6-E06B-7A22906C4DB3}"/>
              </a:ext>
              <a:ext uri="{C183D7F6-B498-43B3-948B-1728B52AA6E4}">
                <adec:decorative xmlns:adec="http://schemas.microsoft.com/office/drawing/2017/decorative" val="1"/>
              </a:ext>
            </a:extLst>
          </p:cNvPr>
          <p:cNvCxnSpPr>
            <a:cxnSpLocks/>
          </p:cNvCxnSpPr>
          <p:nvPr/>
        </p:nvCxnSpPr>
        <p:spPr>
          <a:xfrm>
            <a:off x="1165078" y="2941647"/>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BE97527-5CC1-0FDD-3666-A071C549E32E}"/>
              </a:ext>
              <a:ext uri="{C183D7F6-B498-43B3-948B-1728B52AA6E4}">
                <adec:decorative xmlns:adec="http://schemas.microsoft.com/office/drawing/2017/decorative" val="1"/>
              </a:ext>
            </a:extLst>
          </p:cNvPr>
          <p:cNvCxnSpPr>
            <a:cxnSpLocks/>
          </p:cNvCxnSpPr>
          <p:nvPr/>
        </p:nvCxnSpPr>
        <p:spPr>
          <a:xfrm>
            <a:off x="1165078" y="3948779"/>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BA5A9CB-9559-5EF7-8668-10217297CB55}"/>
              </a:ext>
            </a:extLst>
          </p:cNvPr>
          <p:cNvSpPr txBox="1"/>
          <p:nvPr/>
        </p:nvSpPr>
        <p:spPr>
          <a:xfrm>
            <a:off x="1078702" y="2028995"/>
            <a:ext cx="4860157" cy="85408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Segoe Sans Text" pitchFamily="2" charset="0"/>
              </a:rPr>
              <a:t>Arc-enabled servers</a:t>
            </a:r>
          </a:p>
          <a:p>
            <a:pPr marL="0" marR="0" lvl="1"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rgbClr val="000000"/>
                </a:solidFill>
                <a:effectLst/>
                <a:uLnTx/>
                <a:uFillTx/>
                <a:ea typeface="+mn-ea"/>
                <a:cs typeface="Segoe Sans Text" pitchFamily="2" charset="0"/>
              </a:rPr>
              <a:t>Customers can onboard their existing Windows Server 2012 and above (physical servers or virtual machines) as Azure Arc-enabled servers, from:</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Segoe Sans Text" pitchFamily="2" charset="0"/>
              </a:rPr>
              <a:t>On-premises (Hyper-V or VMWare environments)</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Segoe Sans Text" pitchFamily="2" charset="0"/>
              </a:rPr>
              <a:t>Other cloud environments (AWS, GCP)</a:t>
            </a:r>
          </a:p>
        </p:txBody>
      </p:sp>
      <p:sp>
        <p:nvSpPr>
          <p:cNvPr id="92" name="TextBox 91">
            <a:extLst>
              <a:ext uri="{FF2B5EF4-FFF2-40B4-BE49-F238E27FC236}">
                <a16:creationId xmlns:a16="http://schemas.microsoft.com/office/drawing/2014/main" id="{E2D985ED-F5AF-F074-1AEA-57CD7F531F61}"/>
              </a:ext>
            </a:extLst>
          </p:cNvPr>
          <p:cNvSpPr txBox="1"/>
          <p:nvPr/>
        </p:nvSpPr>
        <p:spPr>
          <a:xfrm>
            <a:off x="1078702" y="3030997"/>
            <a:ext cx="4844488" cy="85408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Segoe Sans Text" pitchFamily="2" charset="0"/>
              </a:rPr>
              <a:t>Arc-enabled SQL Servers (two-step process)</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Segoe Sans Text" pitchFamily="2" charset="0"/>
              </a:rPr>
              <a:t>The first step will onboard the server where the SQL Server is installed</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Segoe Sans Text" pitchFamily="2" charset="0"/>
              </a:rPr>
              <a:t>The second step will onboard the installed </a:t>
            </a:r>
            <a:r>
              <a:rPr kumimoji="0" lang="en-US" sz="1000" b="0" i="1" u="none" strike="noStrike" kern="0" cap="none" spc="0" normalizeH="0" baseline="0" noProof="0" dirty="0">
                <a:ln>
                  <a:noFill/>
                </a:ln>
                <a:solidFill>
                  <a:srgbClr val="000000"/>
                </a:solidFill>
                <a:effectLst/>
                <a:uLnTx/>
                <a:uFillTx/>
                <a:ea typeface="+mn-ea"/>
                <a:cs typeface="Segoe Sans Text" pitchFamily="2" charset="0"/>
              </a:rPr>
              <a:t>SQL Server 2012 and above </a:t>
            </a:r>
            <a:r>
              <a:rPr kumimoji="0" lang="en-US" sz="1000" b="0" i="0" u="none" strike="noStrike" kern="0" cap="none" spc="0" normalizeH="0" baseline="0" noProof="0" dirty="0">
                <a:ln>
                  <a:noFill/>
                </a:ln>
                <a:solidFill>
                  <a:srgbClr val="000000"/>
                </a:solidFill>
                <a:effectLst/>
                <a:uLnTx/>
                <a:uFillTx/>
                <a:ea typeface="+mn-ea"/>
                <a:cs typeface="Segoe Sans Text" pitchFamily="2" charset="0"/>
              </a:rPr>
              <a:t>instances as Azure Arc-enabled SQL Servers.</a:t>
            </a:r>
          </a:p>
          <a:p>
            <a:pPr marL="628650" marR="0" lvl="2"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ea typeface="+mn-ea"/>
                <a:cs typeface="Segoe Sans Text" pitchFamily="2" charset="0"/>
              </a:rPr>
              <a:t>Windows and Linux </a:t>
            </a:r>
            <a:r>
              <a:rPr kumimoji="0" lang="en-US" sz="1000" b="0" i="0" u="none" strike="noStrike" kern="0" cap="none" spc="0" normalizeH="0" baseline="0" noProof="0" dirty="0">
                <a:ln>
                  <a:noFill/>
                </a:ln>
                <a:solidFill>
                  <a:srgbClr val="0078D4"/>
                </a:solidFill>
                <a:effectLst/>
                <a:uLnTx/>
                <a:uFillTx/>
                <a:ea typeface="+mn-ea"/>
                <a:cs typeface="Segoe Sans Text" pitchFamily="2" charset="0"/>
                <a:hlinkClick r:id="rId3">
                  <a:extLst>
                    <a:ext uri="{A12FA001-AC4F-418D-AE19-62706E023703}">
                      <ahyp:hlinkClr xmlns:ahyp="http://schemas.microsoft.com/office/drawing/2018/hyperlinkcolor" val="tx"/>
                    </a:ext>
                  </a:extLst>
                </a:hlinkClick>
              </a:rPr>
              <a:t>supported versions</a:t>
            </a:r>
            <a:r>
              <a:rPr kumimoji="0" lang="en-US" sz="1000" b="0" i="0" u="none" strike="noStrike" kern="0" cap="none" spc="0" normalizeH="0" baseline="0" noProof="0" dirty="0">
                <a:ln>
                  <a:noFill/>
                </a:ln>
                <a:solidFill>
                  <a:srgbClr val="0078D4"/>
                </a:solidFill>
                <a:effectLst/>
                <a:uLnTx/>
                <a:uFillTx/>
                <a:ea typeface="+mn-ea"/>
                <a:cs typeface="Segoe Sans Text" pitchFamily="2" charset="0"/>
              </a:rPr>
              <a:t> </a:t>
            </a:r>
            <a:r>
              <a:rPr kumimoji="0" lang="en-US" sz="1000" b="0" i="0" u="none" strike="noStrike" kern="0" cap="none" spc="0" normalizeH="0" baseline="0" noProof="0" dirty="0">
                <a:ln>
                  <a:noFill/>
                </a:ln>
                <a:solidFill>
                  <a:srgbClr val="000000"/>
                </a:solidFill>
                <a:effectLst/>
                <a:uLnTx/>
                <a:uFillTx/>
                <a:ea typeface="+mn-ea"/>
                <a:cs typeface="Segoe Sans Text" pitchFamily="2" charset="0"/>
              </a:rPr>
              <a:t>are in scope</a:t>
            </a:r>
          </a:p>
        </p:txBody>
      </p:sp>
      <p:sp>
        <p:nvSpPr>
          <p:cNvPr id="95" name="TextBox 94">
            <a:extLst>
              <a:ext uri="{FF2B5EF4-FFF2-40B4-BE49-F238E27FC236}">
                <a16:creationId xmlns:a16="http://schemas.microsoft.com/office/drawing/2014/main" id="{EB02DEC3-01AC-46D7-97BE-48940D0703E2}"/>
              </a:ext>
            </a:extLst>
          </p:cNvPr>
          <p:cNvSpPr txBox="1"/>
          <p:nvPr/>
        </p:nvSpPr>
        <p:spPr>
          <a:xfrm>
            <a:off x="1078702" y="4038129"/>
            <a:ext cx="4844488" cy="6745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0" cap="none" spc="0" normalizeH="0" baseline="0" noProof="0" dirty="0">
                <a:ln>
                  <a:noFill/>
                </a:ln>
                <a:solidFill>
                  <a:srgbClr val="000000"/>
                </a:solidFill>
                <a:effectLst/>
                <a:uLnTx/>
                <a:uFillTx/>
                <a:ea typeface="+mn-ea"/>
                <a:cs typeface="Segoe Sans Text" pitchFamily="2" charset="0"/>
              </a:rPr>
              <a:t>Extended Security Updates (ESUs) through Azure Arc</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u="none" strike="noStrike" kern="0" cap="none" spc="0" normalizeH="0" baseline="0" noProof="0" dirty="0">
                <a:ln>
                  <a:noFill/>
                </a:ln>
                <a:solidFill>
                  <a:srgbClr val="000000"/>
                </a:solidFill>
                <a:effectLst/>
                <a:uLnTx/>
                <a:uFillTx/>
                <a:ea typeface="+mn-ea"/>
                <a:cs typeface="Segoe Sans Text" pitchFamily="2" charset="0"/>
              </a:rPr>
              <a:t>Windows Server 2012/R2</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u="none" strike="noStrike" kern="0" cap="none" spc="0" normalizeH="0" baseline="0" noProof="0" dirty="0">
                <a:ln>
                  <a:noFill/>
                </a:ln>
                <a:solidFill>
                  <a:srgbClr val="000000"/>
                </a:solidFill>
                <a:effectLst/>
                <a:uLnTx/>
                <a:uFillTx/>
                <a:ea typeface="+mn-ea"/>
                <a:cs typeface="Segoe Sans Text"/>
              </a:rPr>
              <a:t>SQL Server 2012/2014</a:t>
            </a:r>
            <a:br>
              <a:rPr lang="en-US" sz="1000" b="0" i="1" u="none" strike="noStrike" kern="0" cap="none" spc="0" normalizeH="0" baseline="0" noProof="0" dirty="0">
                <a:ln>
                  <a:noFill/>
                </a:ln>
                <a:effectLst/>
                <a:uLnTx/>
                <a:uFillTx/>
                <a:cs typeface="Segoe Sans Text" pitchFamily="2" charset="0"/>
              </a:rPr>
            </a:br>
            <a:endParaRPr lang="en-US" sz="1000" b="0" i="0" u="none" strike="noStrike" kern="0" cap="none" spc="0" normalizeH="0" baseline="0" noProof="0" dirty="0">
              <a:ln>
                <a:noFill/>
              </a:ln>
              <a:solidFill>
                <a:srgbClr val="0078D4"/>
              </a:solidFill>
              <a:effectLst/>
              <a:uLnTx/>
              <a:uFillTx/>
              <a:cs typeface="Segoe Sans Text" pitchFamily="2" charset="0"/>
            </a:endParaRPr>
          </a:p>
        </p:txBody>
      </p:sp>
      <p:sp>
        <p:nvSpPr>
          <p:cNvPr id="98" name="TextBox 1">
            <a:extLst>
              <a:ext uri="{FF2B5EF4-FFF2-40B4-BE49-F238E27FC236}">
                <a16:creationId xmlns:a16="http://schemas.microsoft.com/office/drawing/2014/main" id="{4AC294F1-FD7C-6ADA-FF4C-FA1FC253E10E}"/>
              </a:ext>
            </a:extLst>
          </p:cNvPr>
          <p:cNvSpPr txBox="1"/>
          <p:nvPr/>
        </p:nvSpPr>
        <p:spPr>
          <a:xfrm>
            <a:off x="751816" y="5260703"/>
            <a:ext cx="4941664" cy="738664"/>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78D4">
                    <a:lumMod val="75000"/>
                  </a:srgbClr>
                </a:solidFill>
                <a:effectLst/>
                <a:uLnTx/>
                <a:uFillTx/>
                <a:latin typeface="Segoe Sans Text" pitchFamily="2" charset="0"/>
                <a:ea typeface="+mn-ea"/>
                <a:cs typeface="Segoe Sans Text" pitchFamily="2" charset="0"/>
              </a:rPr>
              <a:t>Note: </a:t>
            </a:r>
            <a:r>
              <a:rPr kumimoji="0" lang="en-US" sz="8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Enrollment to ESUs can be done at any moment up to three years after the End-of-Support (EOS) dates. When enrolled, the servers will receive ESUs, and the customer will be billed a one-time upfront charge for the months they missed after the end of support date.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Windows Server 2012/R2 EOS: Oct 10,</a:t>
            </a:r>
            <a:r>
              <a:rPr kumimoji="0" lang="en-US" sz="800" b="0" i="0" u="none" strike="noStrike" kern="0" cap="none" spc="0" normalizeH="0" baseline="30000" noProof="0" dirty="0">
                <a:ln>
                  <a:noFill/>
                </a:ln>
                <a:solidFill>
                  <a:srgbClr val="000000"/>
                </a:solidFill>
                <a:effectLst/>
                <a:uLnTx/>
                <a:uFillTx/>
                <a:latin typeface="Segoe Sans Text" pitchFamily="2" charset="0"/>
                <a:ea typeface="+mn-ea"/>
                <a:cs typeface="Segoe Sans Text" pitchFamily="2" charset="0"/>
              </a:rPr>
              <a:t> </a:t>
            </a:r>
            <a:r>
              <a:rPr kumimoji="0" lang="en-US" sz="8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2023. 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SQL Server 2012 EOS: July 12, 2022.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SQL Server 2014 EOS: July 9, 2024.</a:t>
            </a:r>
          </a:p>
        </p:txBody>
      </p:sp>
      <p:cxnSp>
        <p:nvCxnSpPr>
          <p:cNvPr id="56" name="Straight Connector 55">
            <a:extLst>
              <a:ext uri="{FF2B5EF4-FFF2-40B4-BE49-F238E27FC236}">
                <a16:creationId xmlns:a16="http://schemas.microsoft.com/office/drawing/2014/main" id="{ADD1D673-DE1E-2EB6-D629-EE873E41E492}"/>
              </a:ext>
              <a:ext uri="{C183D7F6-B498-43B3-948B-1728B52AA6E4}">
                <adec:decorative xmlns:adec="http://schemas.microsoft.com/office/drawing/2017/decorative" val="1"/>
              </a:ext>
            </a:extLst>
          </p:cNvPr>
          <p:cNvCxnSpPr>
            <a:cxnSpLocks/>
          </p:cNvCxnSpPr>
          <p:nvPr/>
        </p:nvCxnSpPr>
        <p:spPr>
          <a:xfrm>
            <a:off x="759889" y="5066698"/>
            <a:ext cx="4941664"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9F0780F-6BFB-B7F8-FEE0-892C3022F3F5}"/>
              </a:ext>
            </a:extLst>
          </p:cNvPr>
          <p:cNvSpPr txBox="1"/>
          <p:nvPr/>
        </p:nvSpPr>
        <p:spPr>
          <a:xfrm>
            <a:off x="6638759" y="2029588"/>
            <a:ext cx="4864744" cy="1692771"/>
          </a:xfrm>
          <a:prstGeom prst="rect">
            <a:avLst/>
          </a:prstGeom>
          <a:noFill/>
        </p:spPr>
        <p:txBody>
          <a:bodyPr wrap="square" lIns="0" tIns="0" rIns="0" bIns="0" anchor="t">
            <a:spAutoFit/>
          </a:bodyPr>
          <a:lstStyle/>
          <a:p>
            <a:pPr algn="just"/>
            <a:r>
              <a:rPr lang="en-US" sz="1000" b="1" noProof="0" dirty="0">
                <a:solidFill>
                  <a:srgbClr val="000000"/>
                </a:solidFill>
                <a:latin typeface="Segoe Sans Text" pitchFamily="2" charset="0"/>
              </a:rPr>
              <a:t>Customer assisted/provided</a:t>
            </a:r>
            <a:endParaRPr lang="en-US" sz="1000" b="1" noProof="0" dirty="0">
              <a:solidFill>
                <a:srgbClr val="000000"/>
              </a:solidFill>
              <a:effectLst/>
              <a:latin typeface="Segoe Sans Text" pitchFamily="2" charset="0"/>
            </a:endParaRPr>
          </a:p>
          <a:p>
            <a:pPr marL="171450" indent="-171450" algn="just">
              <a:buFont typeface="Arial" panose="020B0604020202020204" pitchFamily="34" charset="0"/>
              <a:buChar char="•"/>
            </a:pPr>
            <a:r>
              <a:rPr lang="en-US" sz="1000" noProof="0" dirty="0">
                <a:solidFill>
                  <a:srgbClr val="000000"/>
                </a:solidFill>
                <a:ea typeface="+mn-lt"/>
                <a:cs typeface="+mn-lt"/>
              </a:rPr>
              <a:t>Access &amp; Validation on::</a:t>
            </a:r>
            <a:endParaRPr lang="en-US" sz="1000" kern="0" noProof="0" dirty="0">
              <a:solidFill>
                <a:srgbClr val="000000"/>
              </a:solidFill>
              <a:ea typeface="+mn-lt"/>
              <a:cs typeface="+mn-lt"/>
            </a:endParaRPr>
          </a:p>
          <a:p>
            <a:pPr marL="628650" lvl="1" indent="-171450">
              <a:buFont typeface="Arial"/>
              <a:buChar char="•"/>
            </a:pPr>
            <a:r>
              <a:rPr lang="en-US" sz="1000" noProof="0" dirty="0">
                <a:solidFill>
                  <a:srgbClr val="000000"/>
                </a:solidFill>
                <a:ea typeface="+mn-lt"/>
                <a:cs typeface="+mn-lt"/>
              </a:rPr>
              <a:t>Azure Account:    Azure account with an active subscription</a:t>
            </a:r>
            <a:endParaRPr lang="en-US" sz="1000" noProof="0" dirty="0">
              <a:solidFill>
                <a:srgbClr val="000000"/>
              </a:solidFill>
              <a:latin typeface="Segoe Sans Text"/>
              <a:cs typeface="Segoe Sans Text"/>
            </a:endParaRPr>
          </a:p>
          <a:p>
            <a:pPr marL="628650" lvl="1" indent="-171450">
              <a:buFont typeface="Arial"/>
              <a:buChar char="•"/>
            </a:pPr>
            <a:r>
              <a:rPr lang="en-US" sz="1000" noProof="0" dirty="0">
                <a:solidFill>
                  <a:srgbClr val="000000"/>
                </a:solidFill>
                <a:ea typeface="+mn-lt"/>
                <a:cs typeface="+mn-lt"/>
              </a:rPr>
              <a:t>Agent prerequisites: Supported Environments, Supported OS, Software Requirements, Required Roles/Permissions, Supported Regions</a:t>
            </a:r>
            <a:endParaRPr lang="en-US" noProof="0" dirty="0">
              <a:cs typeface="Segoe Sans Text"/>
            </a:endParaRPr>
          </a:p>
          <a:p>
            <a:pPr marL="628650" lvl="1" indent="-171450">
              <a:buFont typeface="Arial"/>
              <a:buChar char="•"/>
            </a:pPr>
            <a:r>
              <a:rPr lang="en-US" sz="1000" noProof="0" dirty="0">
                <a:solidFill>
                  <a:srgbClr val="000000"/>
                </a:solidFill>
                <a:ea typeface="+mn-lt"/>
                <a:cs typeface="+mn-lt"/>
              </a:rPr>
              <a:t>Agent Network requirements: Port Requirements, Service Tag Access, URL Access, TLS protocol version</a:t>
            </a:r>
            <a:endParaRPr lang="en-US" noProof="0" dirty="0">
              <a:cs typeface="Segoe Sans Text"/>
            </a:endParaRPr>
          </a:p>
          <a:p>
            <a:pPr marL="628650" lvl="1" indent="-171450">
              <a:buFont typeface="Arial"/>
              <a:buChar char="•"/>
            </a:pPr>
            <a:r>
              <a:rPr lang="en-US" sz="1000" noProof="0" dirty="0">
                <a:solidFill>
                  <a:srgbClr val="000000"/>
                </a:solidFill>
                <a:ea typeface="+mn-lt"/>
                <a:cs typeface="+mn-lt"/>
              </a:rPr>
              <a:t>Resource provider requirements: Microsoft.AzureArcData, Microsoft.HybridCompute, Microsoft.GuestConfiguration, Microsoft.HybridConnectivity</a:t>
            </a:r>
            <a:endParaRPr lang="en-US" noProof="0" dirty="0">
              <a:cs typeface="Segoe Sans Text"/>
            </a:endParaRPr>
          </a:p>
          <a:p>
            <a:pPr marL="171450" indent="-171450" algn="just">
              <a:buFont typeface="Arial" panose="020B0604020202020204" pitchFamily="34" charset="0"/>
              <a:buChar char="•"/>
            </a:pPr>
            <a:endParaRPr lang="en-US" sz="1000" noProof="0" dirty="0">
              <a:solidFill>
                <a:srgbClr val="000000"/>
              </a:solidFill>
              <a:latin typeface="Segoe Sans Text"/>
              <a:cs typeface="Segoe Sans Text"/>
            </a:endParaRPr>
          </a:p>
        </p:txBody>
      </p:sp>
      <p:sp>
        <p:nvSpPr>
          <p:cNvPr id="4" name="TextBox 3">
            <a:extLst>
              <a:ext uri="{FF2B5EF4-FFF2-40B4-BE49-F238E27FC236}">
                <a16:creationId xmlns:a16="http://schemas.microsoft.com/office/drawing/2014/main" id="{31FB33ED-E621-10D2-658B-F947018FE276}"/>
              </a:ext>
            </a:extLst>
          </p:cNvPr>
          <p:cNvSpPr txBox="1"/>
          <p:nvPr/>
        </p:nvSpPr>
        <p:spPr>
          <a:xfrm>
            <a:off x="6638759" y="4414317"/>
            <a:ext cx="4793352" cy="1077218"/>
          </a:xfrm>
          <a:prstGeom prst="rect">
            <a:avLst/>
          </a:prstGeom>
          <a:noFill/>
        </p:spPr>
        <p:txBody>
          <a:bodyPr wrap="square" lIns="0" tIns="0" rIns="0" bIns="0" anchor="t">
            <a:spAutoFit/>
          </a:bodyPr>
          <a:lstStyle/>
          <a:p>
            <a:pPr marL="171450" indent="-171450">
              <a:buFont typeface="Arial"/>
              <a:buChar char="•"/>
              <a:defRPr/>
            </a:pPr>
            <a:r>
              <a:rPr lang="en-US" sz="1000" kern="0" noProof="0" dirty="0">
                <a:solidFill>
                  <a:srgbClr val="000000"/>
                </a:solidFill>
                <a:ea typeface="+mn-lt"/>
                <a:cs typeface="+mn-lt"/>
              </a:rPr>
              <a:t>Enabling Azure services post onboarding (Azure Monitor, Azure Update Manager, etc..)</a:t>
            </a:r>
            <a:endParaRPr lang="en-US" noProof="0" dirty="0">
              <a:cs typeface="Segoe Sans Text"/>
            </a:endParaRPr>
          </a:p>
          <a:p>
            <a:pPr marL="171450" indent="-171450">
              <a:buFont typeface="Arial"/>
              <a:buChar char="•"/>
              <a:defRPr/>
            </a:pPr>
            <a:r>
              <a:rPr lang="en-US" sz="1000" kern="0" noProof="0" dirty="0">
                <a:solidFill>
                  <a:srgbClr val="000000"/>
                </a:solidFill>
                <a:ea typeface="+mn-lt"/>
                <a:cs typeface="+mn-lt"/>
              </a:rPr>
              <a:t>Change request process, including internal communication </a:t>
            </a:r>
            <a:endParaRPr lang="en-US" noProof="0" dirty="0">
              <a:cs typeface="Segoe Sans Text"/>
            </a:endParaRPr>
          </a:p>
          <a:p>
            <a:pPr marL="171450" indent="-171450">
              <a:buFont typeface="Arial"/>
              <a:buChar char="•"/>
              <a:defRPr/>
            </a:pPr>
            <a:r>
              <a:rPr lang="en-US" sz="1000" kern="0" noProof="0" dirty="0">
                <a:solidFill>
                  <a:srgbClr val="000000"/>
                </a:solidFill>
                <a:ea typeface="+mn-lt"/>
                <a:cs typeface="+mn-lt"/>
              </a:rPr>
              <a:t>Any changes in the source (any time) &amp; target environments (after handover) </a:t>
            </a:r>
            <a:endParaRPr lang="en-US" noProof="0" dirty="0">
              <a:cs typeface="Segoe Sans Text"/>
            </a:endParaRPr>
          </a:p>
          <a:p>
            <a:pPr marL="171450" indent="-171450">
              <a:buFont typeface="Arial"/>
              <a:buChar char="•"/>
              <a:defRPr/>
            </a:pPr>
            <a:r>
              <a:rPr lang="en-US" sz="1000" kern="0" noProof="0" dirty="0">
                <a:solidFill>
                  <a:srgbClr val="000000"/>
                </a:solidFill>
                <a:ea typeface="+mn-lt"/>
                <a:cs typeface="+mn-lt"/>
              </a:rPr>
              <a:t>Any application/services-related configurations and testing (pre- and post‑migration)</a:t>
            </a:r>
            <a:endParaRPr lang="en-US" noProof="0" dirty="0">
              <a:cs typeface="Segoe Sans Text"/>
            </a:endParaRPr>
          </a:p>
          <a:p>
            <a:pPr marL="171450" indent="-171450">
              <a:buFont typeface="Arial"/>
              <a:buChar char="•"/>
              <a:defRPr/>
            </a:pPr>
            <a:r>
              <a:rPr lang="en-US" sz="1000" kern="0" noProof="0" dirty="0">
                <a:solidFill>
                  <a:srgbClr val="000000"/>
                </a:solidFill>
                <a:ea typeface="+mn-lt"/>
                <a:cs typeface="+mn-lt"/>
              </a:rPr>
              <a:t>Configuring backups, monitoring etc..</a:t>
            </a:r>
            <a:endParaRPr lang="en-US" noProof="0" dirty="0">
              <a:ea typeface="+mn-lt"/>
              <a:cs typeface="+mn-lt"/>
            </a:endParaRPr>
          </a:p>
        </p:txBody>
      </p:sp>
      <p:sp>
        <p:nvSpPr>
          <p:cNvPr id="8" name="Oval 7">
            <a:extLst>
              <a:ext uri="{FF2B5EF4-FFF2-40B4-BE49-F238E27FC236}">
                <a16:creationId xmlns:a16="http://schemas.microsoft.com/office/drawing/2014/main" id="{401F8A90-DBD6-9EBD-D6DA-076983B4684A}"/>
              </a:ext>
            </a:extLst>
          </p:cNvPr>
          <p:cNvSpPr/>
          <p:nvPr/>
        </p:nvSpPr>
        <p:spPr bwMode="auto">
          <a:xfrm>
            <a:off x="755529" y="203806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Oval 8">
            <a:extLst>
              <a:ext uri="{FF2B5EF4-FFF2-40B4-BE49-F238E27FC236}">
                <a16:creationId xmlns:a16="http://schemas.microsoft.com/office/drawing/2014/main" id="{811748BE-6F8C-68FA-287C-49855C98428C}"/>
              </a:ext>
            </a:extLst>
          </p:cNvPr>
          <p:cNvSpPr/>
          <p:nvPr/>
        </p:nvSpPr>
        <p:spPr bwMode="auto">
          <a:xfrm>
            <a:off x="755529" y="304629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B4B588B4-67C9-4F24-6227-9F0163FCA8BE}"/>
              </a:ext>
            </a:extLst>
          </p:cNvPr>
          <p:cNvSpPr/>
          <p:nvPr/>
        </p:nvSpPr>
        <p:spPr bwMode="auto">
          <a:xfrm>
            <a:off x="755529" y="407661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79F0FB20-0B38-9405-889C-FBFA290FE8CC}"/>
              </a:ext>
            </a:extLst>
          </p:cNvPr>
          <p:cNvSpPr/>
          <p:nvPr/>
        </p:nvSpPr>
        <p:spPr bwMode="auto">
          <a:xfrm>
            <a:off x="6427729" y="20340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Rounded Rectangle 45">
            <a:extLst>
              <a:ext uri="{FF2B5EF4-FFF2-40B4-BE49-F238E27FC236}">
                <a16:creationId xmlns:a16="http://schemas.microsoft.com/office/drawing/2014/main" id="{C397FEEC-62E4-A192-CB6C-B9D3986996DC}"/>
              </a:ext>
              <a:ext uri="{C183D7F6-B498-43B3-948B-1728B52AA6E4}">
                <adec:decorative xmlns:adec="http://schemas.microsoft.com/office/drawing/2017/decorative" val="1"/>
              </a:ext>
            </a:extLst>
          </p:cNvPr>
          <p:cNvSpPr>
            <a:spLocks/>
          </p:cNvSpPr>
          <p:nvPr/>
        </p:nvSpPr>
        <p:spPr bwMode="auto">
          <a:xfrm>
            <a:off x="6123142" y="1381328"/>
            <a:ext cx="5581546" cy="2413420"/>
          </a:xfrm>
          <a:prstGeom prst="roundRect">
            <a:avLst>
              <a:gd name="adj" fmla="val 5274"/>
            </a:avLst>
          </a:prstGeom>
          <a:noFill/>
          <a:ln w="952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sp>
        <p:nvSpPr>
          <p:cNvPr id="6" name="Oval 5">
            <a:extLst>
              <a:ext uri="{FF2B5EF4-FFF2-40B4-BE49-F238E27FC236}">
                <a16:creationId xmlns:a16="http://schemas.microsoft.com/office/drawing/2014/main" id="{9F44890F-1118-B990-6051-BFE734B22309}"/>
              </a:ext>
            </a:extLst>
          </p:cNvPr>
          <p:cNvSpPr/>
          <p:nvPr/>
        </p:nvSpPr>
        <p:spPr bwMode="auto">
          <a:xfrm>
            <a:off x="6427729" y="441431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Rounded Rectangle 22">
            <a:extLst>
              <a:ext uri="{FF2B5EF4-FFF2-40B4-BE49-F238E27FC236}">
                <a16:creationId xmlns:a16="http://schemas.microsoft.com/office/drawing/2014/main" id="{9466F4E0-0C1F-9F36-BE24-DAB3A2E9E041}"/>
              </a:ext>
              <a:ext uri="{C183D7F6-B498-43B3-948B-1728B52AA6E4}">
                <adec:decorative xmlns:adec="http://schemas.microsoft.com/office/drawing/2017/decorative" val="1"/>
              </a:ext>
            </a:extLst>
          </p:cNvPr>
          <p:cNvSpPr>
            <a:spLocks/>
          </p:cNvSpPr>
          <p:nvPr/>
        </p:nvSpPr>
        <p:spPr bwMode="auto">
          <a:xfrm>
            <a:off x="6123142" y="3885077"/>
            <a:ext cx="5581546" cy="2400625"/>
          </a:xfrm>
          <a:prstGeom prst="roundRect">
            <a:avLst>
              <a:gd name="adj" fmla="val 559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TextBox 14">
            <a:extLst>
              <a:ext uri="{FF2B5EF4-FFF2-40B4-BE49-F238E27FC236}">
                <a16:creationId xmlns:a16="http://schemas.microsoft.com/office/drawing/2014/main" id="{21EDA2F3-1B27-FD37-84A5-A7AFC359DAE0}"/>
              </a:ext>
            </a:extLst>
          </p:cNvPr>
          <p:cNvSpPr txBox="1">
            <a:spLocks/>
          </p:cNvSpPr>
          <p:nvPr/>
        </p:nvSpPr>
        <p:spPr>
          <a:xfrm>
            <a:off x="6287146" y="3962232"/>
            <a:ext cx="5311279"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a:t>
            </a:r>
          </a:p>
        </p:txBody>
      </p:sp>
      <p:sp>
        <p:nvSpPr>
          <p:cNvPr id="14" name="TextBox 13">
            <a:extLst>
              <a:ext uri="{FF2B5EF4-FFF2-40B4-BE49-F238E27FC236}">
                <a16:creationId xmlns:a16="http://schemas.microsoft.com/office/drawing/2014/main" id="{C8982E08-5FA6-1AD4-B5D2-30B87D8D04A1}"/>
              </a:ext>
            </a:extLst>
          </p:cNvPr>
          <p:cNvSpPr txBox="1"/>
          <p:nvPr/>
        </p:nvSpPr>
        <p:spPr>
          <a:xfrm>
            <a:off x="6287146" y="1796402"/>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7" name="TextBox 16">
            <a:extLst>
              <a:ext uri="{FF2B5EF4-FFF2-40B4-BE49-F238E27FC236}">
                <a16:creationId xmlns:a16="http://schemas.microsoft.com/office/drawing/2014/main" id="{9C1A6034-84B2-35FD-1779-E8D11B8DD74B}"/>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FE436D6E-AB46-B57E-6FD0-4C97DE436104}"/>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42081923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1EBF8-5607-BCDE-4C8B-99B2109E46A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8522759-ADE5-07CD-9EFF-F09D719AB5A2}"/>
              </a:ext>
            </a:extLst>
          </p:cNvPr>
          <p:cNvSpPr>
            <a:spLocks noGrp="1"/>
          </p:cNvSpPr>
          <p:nvPr>
            <p:ph type="title" idx="4294967295"/>
          </p:nvPr>
        </p:nvSpPr>
        <p:spPr>
          <a:xfrm>
            <a:off x="495664" y="315338"/>
            <a:ext cx="11017250" cy="707886"/>
          </a:xfrm>
        </p:spPr>
        <p:txBody>
          <a:bodyPr/>
          <a:lstStyle/>
          <a:p>
            <a:r>
              <a:rPr lang="en-US" sz="2800" noProof="0" dirty="0">
                <a:cs typeface="Segoe Sans Text" pitchFamily="2" charset="0"/>
              </a:rPr>
              <a:t>Key Deliverables</a:t>
            </a:r>
            <a:br>
              <a:rPr lang="en-US" sz="2400" b="1" noProof="0" dirty="0"/>
            </a:br>
            <a:r>
              <a:rPr lang="en-US" sz="1800" noProof="0" dirty="0">
                <a:solidFill>
                  <a:schemeClr val="tx1"/>
                </a:solidFill>
                <a:cs typeface="Segoe Sans Text" pitchFamily="2" charset="0"/>
              </a:rPr>
              <a:t>Security/Resiliency/Azure Arc</a:t>
            </a:r>
          </a:p>
        </p:txBody>
      </p:sp>
      <p:sp>
        <p:nvSpPr>
          <p:cNvPr id="2" name="Rectangle: Rounded Corners 1">
            <a:extLst>
              <a:ext uri="{FF2B5EF4-FFF2-40B4-BE49-F238E27FC236}">
                <a16:creationId xmlns:a16="http://schemas.microsoft.com/office/drawing/2014/main" id="{B622B3C5-EC3A-DD64-929A-D766DE31FD81}"/>
              </a:ext>
              <a:ext uri="{C183D7F6-B498-43B3-948B-1728B52AA6E4}">
                <adec:decorative xmlns:adec="http://schemas.microsoft.com/office/drawing/2017/decorative" val="0"/>
              </a:ext>
            </a:extLst>
          </p:cNvPr>
          <p:cNvSpPr/>
          <p:nvPr/>
        </p:nvSpPr>
        <p:spPr bwMode="auto">
          <a:xfrm>
            <a:off x="430732" y="1462945"/>
            <a:ext cx="2596246" cy="3210335"/>
          </a:xfrm>
          <a:prstGeom prst="roundRect">
            <a:avLst>
              <a:gd name="adj" fmla="val 7723"/>
            </a:avLst>
          </a:prstGeom>
          <a:noFill/>
          <a:ln w="9525">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146304" rtlCol="0" anchor="t" anchorCtr="0">
            <a:noAutofit/>
          </a:bodyPr>
          <a:lstStyle/>
          <a:p>
            <a:pPr marL="22860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mn-cs"/>
              </a:rPr>
              <a:t>Defender for Cloud</a:t>
            </a:r>
          </a:p>
          <a:p>
            <a:pPr marL="228600" lvl="0">
              <a:spcAft>
                <a:spcPts val="600"/>
              </a:spcAft>
              <a:defRPr/>
            </a:pPr>
            <a:r>
              <a:rPr lang="en-US" sz="1200" noProof="0" dirty="0">
                <a:solidFill>
                  <a:schemeClr val="tx1"/>
                </a:solidFill>
              </a:rPr>
              <a:t>Zone redundancy</a:t>
            </a:r>
          </a:p>
          <a:p>
            <a:pPr marL="403225" lvl="0" indent="-171450">
              <a:buFont typeface="Arial" panose="020B0604020202020204" pitchFamily="34" charset="0"/>
              <a:buChar char="•"/>
              <a:defRPr/>
            </a:pPr>
            <a:r>
              <a:rPr lang="en-US" sz="1200" noProof="0" dirty="0">
                <a:solidFill>
                  <a:schemeClr val="tx1"/>
                </a:solidFill>
              </a:rPr>
              <a:t>Data</a:t>
            </a:r>
          </a:p>
          <a:p>
            <a:pPr marL="403225" indent="-171450">
              <a:buFont typeface="Arial" panose="020B0604020202020204" pitchFamily="34" charset="0"/>
              <a:buChar char="•"/>
              <a:defRPr/>
            </a:pPr>
            <a:r>
              <a:rPr lang="en-US" sz="1200" noProof="0" dirty="0">
                <a:solidFill>
                  <a:schemeClr val="tx1"/>
                </a:solidFill>
              </a:rPr>
              <a:t>Storage</a:t>
            </a:r>
          </a:p>
          <a:p>
            <a:pPr marL="403225" indent="-171450">
              <a:buFont typeface="Arial" panose="020B0604020202020204" pitchFamily="34" charset="0"/>
              <a:buChar char="•"/>
              <a:defRPr/>
            </a:pPr>
            <a:r>
              <a:rPr lang="en-US" sz="1200" noProof="0" dirty="0">
                <a:solidFill>
                  <a:schemeClr val="tx1"/>
                </a:solidFill>
              </a:rPr>
              <a:t>Containerization</a:t>
            </a:r>
          </a:p>
          <a:p>
            <a:pPr marL="403225" indent="-171450">
              <a:buFont typeface="Arial" panose="020B0604020202020204" pitchFamily="34" charset="0"/>
              <a:buChar char="•"/>
              <a:defRPr/>
            </a:pPr>
            <a:r>
              <a:rPr lang="en-US" sz="1200" noProof="0" dirty="0">
                <a:solidFill>
                  <a:schemeClr val="tx1"/>
                </a:solidFill>
              </a:rPr>
              <a:t>AKS, ACA</a:t>
            </a:r>
          </a:p>
          <a:p>
            <a:pPr marL="403225" indent="-171450">
              <a:buFont typeface="Arial" panose="020B0604020202020204" pitchFamily="34" charset="0"/>
              <a:buChar char="•"/>
              <a:defRPr/>
            </a:pPr>
            <a:r>
              <a:rPr lang="en-US" sz="1200" noProof="0" dirty="0">
                <a:solidFill>
                  <a:schemeClr val="tx1"/>
                </a:solidFill>
              </a:rPr>
              <a:t>App Service</a:t>
            </a:r>
          </a:p>
          <a:p>
            <a:pPr marL="403225" indent="-171450">
              <a:buFont typeface="Arial" panose="020B0604020202020204" pitchFamily="34" charset="0"/>
              <a:buChar char="•"/>
              <a:defRPr/>
            </a:pPr>
            <a:r>
              <a:rPr lang="en-US" sz="1200" noProof="0" dirty="0">
                <a:solidFill>
                  <a:schemeClr val="tx1"/>
                </a:solidFill>
              </a:rPr>
              <a:t>Service Health Alerts</a:t>
            </a:r>
          </a:p>
          <a:p>
            <a:pPr marL="403225" indent="-171450">
              <a:buFont typeface="Arial" panose="020B0604020202020204" pitchFamily="34" charset="0"/>
              <a:buChar char="•"/>
              <a:defRPr/>
            </a:pPr>
            <a:endParaRPr lang="en-US" sz="1200" noProof="0" dirty="0">
              <a:solidFill>
                <a:schemeClr val="tx1"/>
              </a:solidFill>
              <a:latin typeface="Segoe Sans Text"/>
              <a:cs typeface="Segoe Sans Text"/>
            </a:endParaRPr>
          </a:p>
          <a:p>
            <a:pPr marL="231775">
              <a:defRPr/>
            </a:pPr>
            <a:r>
              <a:rPr lang="en-US" sz="1200" noProof="0" dirty="0">
                <a:solidFill>
                  <a:schemeClr val="tx1"/>
                </a:solidFill>
                <a:latin typeface="Segoe Sans Text"/>
                <a:cs typeface="Segoe Sans Text"/>
              </a:rPr>
              <a:t>Azure </a:t>
            </a:r>
            <a:r>
              <a:rPr lang="en-US" sz="1200" noProof="0" dirty="0">
                <a:solidFill>
                  <a:srgbClr val="000000"/>
                </a:solidFill>
                <a:latin typeface="Segoe Sans Text"/>
              </a:rPr>
              <a:t>Arc</a:t>
            </a:r>
            <a:r>
              <a:rPr lang="en-US" sz="1200" noProof="0" dirty="0">
                <a:solidFill>
                  <a:schemeClr val="tx1"/>
                </a:solidFill>
                <a:latin typeface="Segoe Sans Text"/>
                <a:cs typeface="Segoe Sans Text"/>
              </a:rPr>
              <a:t> </a:t>
            </a:r>
            <a:r>
              <a:rPr lang="en-US" sz="1200" noProof="0" dirty="0">
                <a:solidFill>
                  <a:schemeClr val="tx1"/>
                </a:solidFill>
              </a:rPr>
              <a:t>Enablement</a:t>
            </a:r>
            <a:r>
              <a:rPr lang="en-US" sz="1200" noProof="0" dirty="0">
                <a:solidFill>
                  <a:schemeClr val="tx1"/>
                </a:solidFill>
                <a:latin typeface="Segoe Sans Text"/>
                <a:cs typeface="Segoe Sans Text"/>
              </a:rPr>
              <a:t> for</a:t>
            </a:r>
          </a:p>
          <a:p>
            <a:pPr marL="403225" indent="-171450">
              <a:buFont typeface="Arial,Sans-Serif" panose="020B0604020202020204" pitchFamily="34" charset="0"/>
              <a:buChar char="•"/>
              <a:defRPr/>
            </a:pPr>
            <a:r>
              <a:rPr lang="en-US" sz="1200" noProof="0" dirty="0">
                <a:solidFill>
                  <a:schemeClr val="tx1"/>
                </a:solidFill>
                <a:latin typeface="Segoe Sans Text"/>
                <a:cs typeface="Segoe Sans Text"/>
              </a:rPr>
              <a:t>Windows Servers only</a:t>
            </a:r>
          </a:p>
          <a:p>
            <a:pPr marL="403225" indent="-171450">
              <a:buFont typeface="Arial,Sans-Serif" panose="020B0604020202020204" pitchFamily="34" charset="0"/>
              <a:buChar char="•"/>
              <a:defRPr/>
            </a:pPr>
            <a:r>
              <a:rPr lang="en-US" sz="1200" noProof="0" dirty="0">
                <a:solidFill>
                  <a:schemeClr val="tx1"/>
                </a:solidFill>
                <a:latin typeface="Segoe Sans Text"/>
                <a:cs typeface="Segoe Sans Text"/>
              </a:rPr>
              <a:t>Windows + SQL</a:t>
            </a:r>
            <a:endParaRPr lang="en-US" noProof="0" dirty="0"/>
          </a:p>
          <a:p>
            <a:pPr marL="228600">
              <a:spcAft>
                <a:spcPts val="600"/>
              </a:spcAft>
              <a:defRPr/>
            </a:pPr>
            <a:endParaRPr lang="en-US" sz="1200" noProof="0" dirty="0">
              <a:solidFill>
                <a:schemeClr val="tx1"/>
              </a:solidFill>
              <a:latin typeface="Segoe Sans Text"/>
              <a:cs typeface="Segoe Sans Text"/>
            </a:endParaRPr>
          </a:p>
        </p:txBody>
      </p:sp>
      <p:sp>
        <p:nvSpPr>
          <p:cNvPr id="5" name="TextBox 9">
            <a:extLst>
              <a:ext uri="{FF2B5EF4-FFF2-40B4-BE49-F238E27FC236}">
                <a16:creationId xmlns:a16="http://schemas.microsoft.com/office/drawing/2014/main" id="{60D92921-D068-0630-B0C3-E35205B28331}"/>
              </a:ext>
            </a:extLst>
          </p:cNvPr>
          <p:cNvSpPr txBox="1"/>
          <p:nvPr/>
        </p:nvSpPr>
        <p:spPr>
          <a:xfrm>
            <a:off x="3216538" y="1916624"/>
            <a:ext cx="8229600" cy="760941"/>
          </a:xfrm>
          <a:prstGeom prst="rect">
            <a:avLst/>
          </a:prstGeom>
          <a:noFill/>
        </p:spPr>
        <p:txBody>
          <a:bodyPr wrap="square" lIns="91440" tIns="45720" rIns="91440" bIns="45720" numCol="2"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marR="0" lvl="1" indent="-231775"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Enable Defender for Cloud</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Review prerequisites</a:t>
            </a:r>
          </a:p>
          <a:p>
            <a:pPr marL="463550" marR="0" lvl="1"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Enable Defender for Cloud CSPM</a:t>
            </a:r>
          </a:p>
          <a:p>
            <a:pPr marL="463550" marR="0" lvl="1" indent="-174625"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Enable Cloud Workload Protection (CWP) for various workloads</a:t>
            </a:r>
          </a:p>
          <a:p>
            <a:pPr marL="225425" marR="0" lvl="1" indent="-225425" algn="l" defTabSz="914400" rtl="0" eaLnBrk="1" fontAlgn="auto" latinLnBrk="0" hangingPunct="1">
              <a:lnSpc>
                <a:spcPct val="100000"/>
              </a:lnSpc>
              <a:spcBef>
                <a:spcPts val="0"/>
              </a:spcBef>
              <a:spcAft>
                <a:spcPts val="600"/>
              </a:spcAft>
              <a:buClrTx/>
              <a:buSzTx/>
              <a:buFont typeface="+mj-lt"/>
              <a:buAutoNum type="arabicPeriod" startAt="2"/>
              <a:tabLst/>
              <a:defRPr/>
            </a:pPr>
            <a:r>
              <a:rPr kumimoji="0" lang="en-US" sz="1000" b="1" i="0" u="none" strike="noStrike" kern="0" cap="none" spc="0" normalizeH="0" baseline="0" noProof="0" dirty="0">
                <a:ln>
                  <a:noFill/>
                </a:ln>
                <a:solidFill>
                  <a:srgbClr val="0078D4"/>
                </a:solidFill>
                <a:effectLst/>
                <a:uLnTx/>
                <a:uFillTx/>
                <a:latin typeface="Segoe Sans Text Semibold"/>
                <a:ea typeface="+mn-ea"/>
                <a:cs typeface="+mn-cs"/>
              </a:rPr>
              <a:t>Integrate with Microsoft Defender XDR</a:t>
            </a:r>
          </a:p>
          <a:p>
            <a:pPr marL="463550" marR="0" lvl="1" indent="-174625"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prstClr val="black"/>
                </a:solidFill>
                <a:effectLst/>
                <a:uLnTx/>
                <a:uFillTx/>
                <a:latin typeface="Segoe Sans Text"/>
                <a:ea typeface="+mn-ea"/>
                <a:cs typeface="+mn-cs"/>
              </a:rPr>
              <a:t>Defender for Cloud's alerts are automatically integrated into the Microsoft Defender Portal. </a:t>
            </a:r>
            <a:br>
              <a:rPr kumimoji="0" lang="en-US" sz="900" b="0" i="0" u="none" strike="noStrike" kern="0" cap="none" spc="0" normalizeH="0" baseline="0" noProof="0" dirty="0">
                <a:ln>
                  <a:noFill/>
                </a:ln>
                <a:solidFill>
                  <a:prstClr val="black"/>
                </a:solidFill>
                <a:effectLst/>
                <a:uLnTx/>
                <a:uFillTx/>
                <a:latin typeface="Segoe Sans Text"/>
                <a:ea typeface="+mn-ea"/>
                <a:cs typeface="+mn-cs"/>
              </a:rPr>
            </a:br>
            <a:r>
              <a:rPr kumimoji="0" lang="en-US" sz="900" b="0" i="0" u="none" strike="noStrike" kern="0" cap="none" spc="0" normalizeH="0" baseline="0" noProof="0" dirty="0">
                <a:ln>
                  <a:noFill/>
                </a:ln>
                <a:solidFill>
                  <a:prstClr val="black"/>
                </a:solidFill>
                <a:effectLst/>
                <a:uLnTx/>
                <a:uFillTx/>
                <a:latin typeface="Segoe Sans Text"/>
                <a:ea typeface="+mn-ea"/>
                <a:cs typeface="+mn-cs"/>
              </a:rPr>
              <a:t>No further steps are needed</a:t>
            </a:r>
          </a:p>
        </p:txBody>
      </p:sp>
      <p:sp>
        <p:nvSpPr>
          <p:cNvPr id="9" name="TextBox 8">
            <a:extLst>
              <a:ext uri="{FF2B5EF4-FFF2-40B4-BE49-F238E27FC236}">
                <a16:creationId xmlns:a16="http://schemas.microsoft.com/office/drawing/2014/main" id="{4497160B-4FAA-D408-E336-A7C8E630732E}"/>
              </a:ext>
              <a:ext uri="{C183D7F6-B498-43B3-948B-1728B52AA6E4}">
                <adec:decorative xmlns:adec="http://schemas.microsoft.com/office/drawing/2017/decorative" val="1"/>
              </a:ext>
            </a:extLst>
          </p:cNvPr>
          <p:cNvSpPr txBox="1"/>
          <p:nvPr/>
        </p:nvSpPr>
        <p:spPr>
          <a:xfrm>
            <a:off x="491894" y="1550684"/>
            <a:ext cx="2484500" cy="34623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13" name="TextBox 9">
            <a:extLst>
              <a:ext uri="{FF2B5EF4-FFF2-40B4-BE49-F238E27FC236}">
                <a16:creationId xmlns:a16="http://schemas.microsoft.com/office/drawing/2014/main" id="{3057FE00-290B-2938-BD4C-24494835FB17}"/>
              </a:ext>
            </a:extLst>
          </p:cNvPr>
          <p:cNvSpPr txBox="1"/>
          <p:nvPr/>
        </p:nvSpPr>
        <p:spPr>
          <a:xfrm>
            <a:off x="3216538" y="2901815"/>
            <a:ext cx="8229600" cy="1767620"/>
          </a:xfrm>
          <a:prstGeom prst="rect">
            <a:avLst/>
          </a:prstGeom>
          <a:noFill/>
        </p:spPr>
        <p:txBody>
          <a:bodyPr wrap="square" lIns="91440" tIns="45720" rIns="91440" bIns="45720" numCol="2"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marR="0" lvl="1" indent="-231775" defTabSz="914400" rtl="0" eaLnBrk="1" fontAlgn="auto" latinLnBrk="0" hangingPunct="1">
              <a:lnSpc>
                <a:spcPct val="100000"/>
              </a:lnSpc>
              <a:spcBef>
                <a:spcPts val="0"/>
              </a:spcBef>
              <a:spcAft>
                <a:spcPts val="600"/>
              </a:spcAft>
              <a:buClrTx/>
              <a:buSzTx/>
              <a:buFont typeface="+mj-lt"/>
              <a:buAutoNum type="arabicPeriod"/>
              <a:tabLst/>
              <a:defRPr/>
            </a:pPr>
            <a:r>
              <a:rPr lang="en-US" sz="1000" b="1" kern="0" noProof="0" dirty="0">
                <a:solidFill>
                  <a:schemeClr val="tx2"/>
                </a:solidFill>
                <a:latin typeface="+mj-lt"/>
              </a:rPr>
              <a:t>Enable Zone redundancy</a:t>
            </a:r>
          </a:p>
          <a:p>
            <a:pPr marL="404495" lvl="2" indent="-168275">
              <a:spcBef>
                <a:spcPts val="600"/>
              </a:spcBef>
              <a:spcAft>
                <a:spcPts val="600"/>
              </a:spcAft>
              <a:buFont typeface="Arial" panose="020B0604020202020204" pitchFamily="34" charset="0"/>
              <a:buChar char="•"/>
              <a:defRPr/>
            </a:pPr>
            <a:r>
              <a:rPr lang="en-US" sz="900" kern="0" noProof="0" dirty="0">
                <a:solidFill>
                  <a:prstClr val="black"/>
                </a:solidFill>
              </a:rPr>
              <a:t>Enable zone redundancy for the following services using Azure portal or CLI:</a:t>
            </a:r>
            <a:endParaRPr lang="en-US" sz="900" kern="0" noProof="0" dirty="0">
              <a:solidFill>
                <a:prstClr val="black"/>
              </a:solidFill>
              <a:cs typeface="Segoe Sans Text" pitchFamily="2" charset="0"/>
            </a:endParaRPr>
          </a:p>
          <a:p>
            <a:pPr marL="682625" lvl="3" indent="-276225">
              <a:buAutoNum type="romanLcPeriod"/>
              <a:defRPr/>
            </a:pPr>
            <a:r>
              <a:rPr lang="en-US" sz="900" kern="0" noProof="0" dirty="0">
                <a:solidFill>
                  <a:prstClr val="black"/>
                </a:solidFill>
                <a:ea typeface="+mn-lt"/>
                <a:cs typeface="+mn-lt"/>
              </a:rPr>
              <a:t>Azure SQL (DB &amp; MI), Azure Cosmos DB  (RU), Azure DocumentDB , Azure Database for MySQL flexible servers, Azure Database for PostgreSQL flexible servers &amp; Azure Managed Instance for Apache Cassandra</a:t>
            </a:r>
          </a:p>
          <a:p>
            <a:pPr marL="682625" lvl="3" indent="-276225">
              <a:buAutoNum type="romanLcPeriod"/>
              <a:defRPr/>
            </a:pPr>
            <a:r>
              <a:rPr lang="en-US" sz="900" kern="0" noProof="0" dirty="0">
                <a:solidFill>
                  <a:prstClr val="black"/>
                </a:solidFill>
                <a:ea typeface="+mn-lt"/>
                <a:cs typeface="+mn-lt"/>
              </a:rPr>
              <a:t>Storage</a:t>
            </a:r>
          </a:p>
          <a:p>
            <a:pPr marL="682625" lvl="3" indent="-276225">
              <a:buAutoNum type="romanLcPeriod"/>
              <a:defRPr/>
            </a:pPr>
            <a:r>
              <a:rPr lang="en-US" sz="900" kern="0" noProof="0" dirty="0">
                <a:solidFill>
                  <a:srgbClr val="000000"/>
                </a:solidFill>
                <a:cs typeface="Segoe Sans Text" pitchFamily="2" charset="0"/>
              </a:rPr>
              <a:t>AKS, ACA</a:t>
            </a:r>
          </a:p>
          <a:p>
            <a:pPr marL="682625" lvl="3" indent="-276225">
              <a:buAutoNum type="romanLcPeriod"/>
              <a:defRPr/>
            </a:pPr>
            <a:r>
              <a:rPr lang="en-US" sz="900" kern="0" noProof="0" dirty="0">
                <a:solidFill>
                  <a:srgbClr val="000000"/>
                </a:solidFill>
                <a:cs typeface="Segoe Sans Text" pitchFamily="2" charset="0"/>
              </a:rPr>
              <a:t>App Service</a:t>
            </a:r>
          </a:p>
          <a:p>
            <a:pPr marL="406400" lvl="3">
              <a:defRPr/>
            </a:pPr>
            <a:endParaRPr lang="en-US" sz="900" kern="0" noProof="0" dirty="0">
              <a:solidFill>
                <a:prstClr val="black"/>
              </a:solidFill>
              <a:cs typeface="Segoe Sans Text" pitchFamily="2" charset="0"/>
            </a:endParaRPr>
          </a:p>
          <a:p>
            <a:pPr marL="231775" lvl="1" indent="-231775">
              <a:spcAft>
                <a:spcPts val="600"/>
              </a:spcAft>
              <a:buFont typeface="+mj-lt"/>
              <a:buAutoNum type="arabicPeriod"/>
              <a:defRPr/>
            </a:pPr>
            <a:r>
              <a:rPr lang="en-US" sz="1000" b="1" kern="0" noProof="0" dirty="0">
                <a:solidFill>
                  <a:schemeClr val="tx2"/>
                </a:solidFill>
                <a:latin typeface="+mj-lt"/>
              </a:rPr>
              <a:t>Service Health alerts</a:t>
            </a:r>
          </a:p>
          <a:p>
            <a:pPr marL="688975" lvl="2" indent="-231775">
              <a:spcAft>
                <a:spcPts val="600"/>
              </a:spcAft>
              <a:buFont typeface="Arial" panose="020B0604020202020204" pitchFamily="34" charset="0"/>
              <a:buChar char="•"/>
              <a:defRPr/>
            </a:pPr>
            <a:r>
              <a:rPr lang="en-US" sz="900" i="0" u="none" strike="noStrike" kern="0" cap="none" spc="0" normalizeH="0" baseline="0" noProof="0" dirty="0">
                <a:ln>
                  <a:noFill/>
                </a:ln>
                <a:solidFill>
                  <a:prstClr val="black"/>
                </a:solidFill>
                <a:effectLst/>
                <a:uLnTx/>
                <a:uFillTx/>
                <a:cs typeface="Segoe Sans Text"/>
              </a:rPr>
              <a:t>Configure health alerts</a:t>
            </a:r>
          </a:p>
          <a:p>
            <a:pPr marL="688975" lvl="2" indent="-231775">
              <a:spcAft>
                <a:spcPts val="600"/>
              </a:spcAft>
              <a:buFont typeface="Arial" panose="020B0604020202020204" pitchFamily="34" charset="0"/>
              <a:buChar char="•"/>
              <a:defRPr/>
            </a:pPr>
            <a:r>
              <a:rPr lang="en-US" sz="900" kern="0" noProof="0" dirty="0">
                <a:solidFill>
                  <a:prstClr val="black"/>
                </a:solidFill>
                <a:cs typeface="Segoe Sans Text"/>
              </a:rPr>
              <a:t>The following health alerts will be enabled:</a:t>
            </a:r>
          </a:p>
          <a:p>
            <a:pPr marL="1146175" lvl="3" indent="-231775">
              <a:spcAft>
                <a:spcPts val="600"/>
              </a:spcAft>
              <a:buFont typeface="Arial" panose="020B0604020202020204" pitchFamily="34" charset="0"/>
              <a:buChar char="•"/>
              <a:defRPr/>
            </a:pPr>
            <a:r>
              <a:rPr lang="en-US" sz="900" kern="0" noProof="0" dirty="0">
                <a:solidFill>
                  <a:prstClr val="black"/>
                </a:solidFill>
                <a:cs typeface="Segoe Sans Text"/>
              </a:rPr>
              <a:t>New Service Health alert rules for monitoring Azure service (Data Services, Storage Account)</a:t>
            </a:r>
          </a:p>
          <a:p>
            <a:pPr marL="1603375" lvl="4" indent="-231775">
              <a:spcAft>
                <a:spcPts val="600"/>
              </a:spcAft>
              <a:buFont typeface="Arial,Sans-Serif" panose="020B0604020202020204" pitchFamily="34" charset="0"/>
              <a:buChar char="•"/>
              <a:defRPr/>
            </a:pPr>
            <a:r>
              <a:rPr lang="en-US" sz="900" kern="0" noProof="0" dirty="0">
                <a:solidFill>
                  <a:prstClr val="black"/>
                </a:solidFill>
                <a:cs typeface="Segoe Sans Text"/>
              </a:rPr>
              <a:t>Alerts configuration - issues, planned maintenance, health advisories, and security advisories.</a:t>
            </a:r>
            <a:endParaRPr lang="en-US" sz="1050" b="0" i="0" u="none" strike="noStrike" kern="0" cap="none" spc="0" normalizeH="0" baseline="0" noProof="0" dirty="0">
              <a:ln>
                <a:noFill/>
              </a:ln>
              <a:solidFill>
                <a:prstClr val="black"/>
              </a:solidFill>
              <a:effectLst/>
              <a:uLnTx/>
              <a:uFillTx/>
              <a:latin typeface="Segoe Sans Text" pitchFamily="2" charset="0"/>
              <a:cs typeface="Segoe Sans Text" pitchFamily="2" charset="0"/>
            </a:endParaRPr>
          </a:p>
        </p:txBody>
      </p:sp>
      <p:sp>
        <p:nvSpPr>
          <p:cNvPr id="15" name="TextBox 14">
            <a:extLst>
              <a:ext uri="{FF2B5EF4-FFF2-40B4-BE49-F238E27FC236}">
                <a16:creationId xmlns:a16="http://schemas.microsoft.com/office/drawing/2014/main" id="{25210C2F-2BD6-BC52-F721-6A059EF16CED}"/>
              </a:ext>
            </a:extLst>
          </p:cNvPr>
          <p:cNvSpPr txBox="1"/>
          <p:nvPr/>
        </p:nvSpPr>
        <p:spPr>
          <a:xfrm>
            <a:off x="3216538" y="1625661"/>
            <a:ext cx="8229600" cy="276999"/>
          </a:xfrm>
          <a:prstGeom prst="rect">
            <a:avLst/>
          </a:prstGeom>
          <a:noFill/>
        </p:spPr>
        <p:txBody>
          <a:bodyPr wrap="square" lIns="91440" tIns="45720" rIns="91440" bIns="45720">
            <a:spAutoFit/>
          </a:bodyPr>
          <a:lstStyle/>
          <a:p>
            <a:pPr marL="0" marR="0" lvl="1" algn="l" defTabSz="914400" rtl="0" eaLnBrk="1" fontAlgn="auto" latinLnBrk="0" hangingPunct="1">
              <a:lnSpc>
                <a:spcPct val="100000"/>
              </a:lnSpc>
              <a:spcBef>
                <a:spcPts val="0"/>
              </a:spcBef>
              <a:spcAft>
                <a:spcPts val="600"/>
              </a:spcAft>
              <a:buClrTx/>
              <a:buSzTx/>
              <a:tabLst/>
              <a:defRPr/>
            </a:pPr>
            <a:r>
              <a:rPr kumimoji="0" lang="en-US" sz="1200" b="1" i="0" u="none" strike="noStrike" kern="0" cap="none" spc="0" normalizeH="0" baseline="0" noProof="0" dirty="0">
                <a:ln>
                  <a:noFill/>
                </a:ln>
                <a:solidFill>
                  <a:srgbClr val="0078D4"/>
                </a:solidFill>
                <a:effectLst/>
                <a:uLnTx/>
                <a:uFillTx/>
                <a:latin typeface="Segoe Sans Text Semibold"/>
                <a:ea typeface="+mn-ea"/>
                <a:cs typeface="+mn-cs"/>
              </a:rPr>
              <a:t>Microsoft Defender for Cloud</a:t>
            </a:r>
          </a:p>
        </p:txBody>
      </p:sp>
      <p:sp>
        <p:nvSpPr>
          <p:cNvPr id="16" name="TextBox 15">
            <a:extLst>
              <a:ext uri="{FF2B5EF4-FFF2-40B4-BE49-F238E27FC236}">
                <a16:creationId xmlns:a16="http://schemas.microsoft.com/office/drawing/2014/main" id="{2B5AD32A-E7C4-FA5B-11AC-F5617DB04352}"/>
              </a:ext>
            </a:extLst>
          </p:cNvPr>
          <p:cNvSpPr txBox="1"/>
          <p:nvPr/>
        </p:nvSpPr>
        <p:spPr>
          <a:xfrm>
            <a:off x="3216538" y="2647386"/>
            <a:ext cx="8229600" cy="276999"/>
          </a:xfrm>
          <a:prstGeom prst="rect">
            <a:avLst/>
          </a:prstGeom>
          <a:noFill/>
        </p:spPr>
        <p:txBody>
          <a:bodyPr wrap="square" lIns="91440" tIns="45720" rIns="91440" bIns="45720">
            <a:spAutoFit/>
          </a:bodyPr>
          <a:lstStyle/>
          <a:p>
            <a:pPr marL="0" marR="0" lvl="1" algn="l" defTabSz="914400" rtl="0" eaLnBrk="1" fontAlgn="auto" latinLnBrk="0" hangingPunct="1">
              <a:lnSpc>
                <a:spcPct val="100000"/>
              </a:lnSpc>
              <a:spcBef>
                <a:spcPts val="0"/>
              </a:spcBef>
              <a:spcAft>
                <a:spcPts val="600"/>
              </a:spcAft>
              <a:buClrTx/>
              <a:buSzTx/>
              <a:tabLst/>
              <a:defRPr/>
            </a:pPr>
            <a:r>
              <a:rPr kumimoji="0" lang="en-US" sz="1200" b="1" i="0" u="none" strike="noStrike" kern="0" cap="none" spc="0" normalizeH="0" baseline="0" noProof="0" dirty="0">
                <a:ln>
                  <a:noFill/>
                </a:ln>
                <a:solidFill>
                  <a:srgbClr val="0078D4"/>
                </a:solidFill>
                <a:effectLst/>
                <a:uLnTx/>
                <a:uFillTx/>
                <a:latin typeface="Segoe Sans Text Semibold"/>
                <a:ea typeface="+mn-ea"/>
                <a:cs typeface="+mn-cs"/>
              </a:rPr>
              <a:t>Zone Redundancy</a:t>
            </a:r>
          </a:p>
        </p:txBody>
      </p:sp>
      <p:cxnSp>
        <p:nvCxnSpPr>
          <p:cNvPr id="18" name="Straight Connector 17">
            <a:extLst>
              <a:ext uri="{FF2B5EF4-FFF2-40B4-BE49-F238E27FC236}">
                <a16:creationId xmlns:a16="http://schemas.microsoft.com/office/drawing/2014/main" id="{4B3B38F6-18BF-D26D-602F-C8FA499611CB}"/>
              </a:ext>
            </a:extLst>
          </p:cNvPr>
          <p:cNvCxnSpPr/>
          <p:nvPr/>
        </p:nvCxnSpPr>
        <p:spPr>
          <a:xfrm>
            <a:off x="3216537" y="2665113"/>
            <a:ext cx="8229600" cy="0"/>
          </a:xfrm>
          <a:prstGeom prst="line">
            <a:avLst/>
          </a:prstGeom>
          <a:ln>
            <a:solidFill>
              <a:schemeClr val="bg1">
                <a:lumMod val="65000"/>
              </a:schemeClr>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EEE37DC-7ACB-7374-BF62-75FF8595EB63}"/>
              </a:ext>
            </a:extLst>
          </p:cNvPr>
          <p:cNvCxnSpPr/>
          <p:nvPr/>
        </p:nvCxnSpPr>
        <p:spPr>
          <a:xfrm>
            <a:off x="3216537" y="4566497"/>
            <a:ext cx="8229600" cy="0"/>
          </a:xfrm>
          <a:prstGeom prst="line">
            <a:avLst/>
          </a:prstGeom>
          <a:ln>
            <a:solidFill>
              <a:schemeClr val="bg1">
                <a:lumMod val="65000"/>
              </a:schemeClr>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TextBox 9">
            <a:extLst>
              <a:ext uri="{FF2B5EF4-FFF2-40B4-BE49-F238E27FC236}">
                <a16:creationId xmlns:a16="http://schemas.microsoft.com/office/drawing/2014/main" id="{09D47B7B-DF98-FA2D-2777-58FE25B8515E}"/>
              </a:ext>
            </a:extLst>
          </p:cNvPr>
          <p:cNvSpPr txBox="1"/>
          <p:nvPr/>
        </p:nvSpPr>
        <p:spPr>
          <a:xfrm>
            <a:off x="3225946" y="4849148"/>
            <a:ext cx="8229600" cy="1259621"/>
          </a:xfrm>
          <a:prstGeom prst="rect">
            <a:avLst/>
          </a:prstGeom>
          <a:noFill/>
        </p:spPr>
        <p:txBody>
          <a:bodyPr wrap="square" lIns="91440" tIns="45720" rIns="91440" bIns="45720" numCol="2"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lvl="1" indent="-231775">
              <a:spcAft>
                <a:spcPts val="600"/>
              </a:spcAft>
              <a:buAutoNum type="arabicPeriod"/>
              <a:defRPr/>
            </a:pPr>
            <a:r>
              <a:rPr lang="en-US" sz="1000" b="1" kern="0" noProof="0" dirty="0">
                <a:solidFill>
                  <a:schemeClr val="tx2"/>
                </a:solidFill>
                <a:latin typeface="Segoe Sans Text"/>
                <a:cs typeface="Segoe Sans Text"/>
              </a:rPr>
              <a:t>Agent</a:t>
            </a:r>
            <a:r>
              <a:rPr lang="en-US" sz="1000" b="1" kern="0" noProof="0" dirty="0">
                <a:solidFill>
                  <a:schemeClr val="tx2"/>
                </a:solidFill>
                <a:ea typeface="+mn-lt"/>
                <a:cs typeface="+mn-lt"/>
              </a:rPr>
              <a:t> deployment</a:t>
            </a:r>
            <a:endParaRPr lang="en-US" sz="1000" b="1" kern="0" noProof="0" dirty="0">
              <a:solidFill>
                <a:schemeClr val="tx2"/>
              </a:solidFill>
              <a:latin typeface="Segoe Sans Text Semibold"/>
              <a:cs typeface="Segoe Sans Text Semibold"/>
            </a:endParaRPr>
          </a:p>
          <a:p>
            <a:pPr marL="404495" lvl="2" indent="-168275">
              <a:spcBef>
                <a:spcPts val="600"/>
              </a:spcBef>
              <a:spcAft>
                <a:spcPts val="600"/>
              </a:spcAft>
              <a:buFont typeface="Arial,Sans-Serif" panose="020B0604020202020204" pitchFamily="34" charset="0"/>
              <a:buChar char="•"/>
              <a:defRPr/>
            </a:pPr>
            <a:r>
              <a:rPr lang="en-US" sz="900" kern="0" noProof="0" dirty="0">
                <a:solidFill>
                  <a:prstClr val="black"/>
                </a:solidFill>
                <a:cs typeface="Segoe Sans Text"/>
              </a:rPr>
              <a:t>Install Azure Windows Arc agents on all supported servers using any of the below options:</a:t>
            </a:r>
          </a:p>
          <a:p>
            <a:pPr marL="682625" lvl="3" indent="-276225">
              <a:buAutoNum type="romanLcPeriod"/>
              <a:defRPr/>
            </a:pPr>
            <a:r>
              <a:rPr lang="en-US" sz="900" kern="0" noProof="0" dirty="0">
                <a:solidFill>
                  <a:prstClr val="black"/>
                </a:solidFill>
                <a:cs typeface="Segoe Sans Text"/>
              </a:rPr>
              <a:t>Using automated PowerShell scripts</a:t>
            </a:r>
          </a:p>
          <a:p>
            <a:pPr marL="682625" lvl="3" indent="-276225">
              <a:buAutoNum type="romanLcPeriod"/>
              <a:defRPr/>
            </a:pPr>
            <a:r>
              <a:rPr lang="en-US" sz="900" kern="0" noProof="0" dirty="0">
                <a:solidFill>
                  <a:prstClr val="black"/>
                </a:solidFill>
                <a:cs typeface="Segoe Sans Text"/>
              </a:rPr>
              <a:t>Through existing System Center Configuration Manager (SCCM)</a:t>
            </a:r>
          </a:p>
          <a:p>
            <a:pPr marL="682625" lvl="3" indent="-276225">
              <a:buAutoNum type="romanLcPeriod"/>
              <a:defRPr/>
            </a:pPr>
            <a:r>
              <a:rPr lang="en-US" sz="900" kern="0" noProof="0" dirty="0">
                <a:solidFill>
                  <a:prstClr val="black"/>
                </a:solidFill>
                <a:cs typeface="Segoe Sans Text"/>
              </a:rPr>
              <a:t>Through Group Policy Object (GPO)</a:t>
            </a:r>
          </a:p>
          <a:p>
            <a:pPr marL="682625" lvl="3" indent="-276225">
              <a:buAutoNum type="romanLcPeriod"/>
              <a:defRPr/>
            </a:pPr>
            <a:r>
              <a:rPr lang="en-US" sz="900" kern="0" noProof="0" dirty="0">
                <a:solidFill>
                  <a:prstClr val="black"/>
                </a:solidFill>
                <a:cs typeface="Segoe Sans Text"/>
              </a:rPr>
              <a:t>Through manual</a:t>
            </a:r>
            <a:endParaRPr lang="en-US" sz="900" noProof="0" dirty="0">
              <a:solidFill>
                <a:prstClr val="black"/>
              </a:solidFill>
              <a:cs typeface="Segoe Sans Text"/>
            </a:endParaRPr>
          </a:p>
          <a:p>
            <a:pPr marL="682625" lvl="3" indent="-276225">
              <a:buAutoNum type="romanLcPeriod"/>
              <a:defRPr/>
            </a:pPr>
            <a:endParaRPr lang="en-US" sz="900" kern="0" noProof="0" dirty="0">
              <a:solidFill>
                <a:prstClr val="black"/>
              </a:solidFill>
              <a:ea typeface="+mn-lt"/>
              <a:cs typeface="+mn-lt"/>
            </a:endParaRPr>
          </a:p>
          <a:p>
            <a:pPr marL="228600" lvl="1" indent="-228600">
              <a:spcAft>
                <a:spcPts val="600"/>
              </a:spcAft>
              <a:buAutoNum type="arabicPeriod"/>
              <a:defRPr/>
            </a:pPr>
            <a:r>
              <a:rPr lang="en-US" sz="1000" b="1" kern="0" noProof="0" dirty="0">
                <a:solidFill>
                  <a:schemeClr val="tx2"/>
                </a:solidFill>
                <a:ea typeface="+mn-lt"/>
                <a:cs typeface="+mn-lt"/>
              </a:rPr>
              <a:t>Key features of Azure Arc</a:t>
            </a:r>
            <a:endParaRPr lang="en-US" noProof="0" dirty="0">
              <a:solidFill>
                <a:schemeClr val="tx2"/>
              </a:solidFill>
              <a:cs typeface="Segoe Sans Text"/>
            </a:endParaRPr>
          </a:p>
          <a:p>
            <a:pPr marL="625475" lvl="2" indent="-168275">
              <a:buFont typeface="Arial,Sans-Serif" panose="020B0604020202020204" pitchFamily="34" charset="0"/>
              <a:buChar char="•"/>
              <a:defRPr/>
            </a:pPr>
            <a:r>
              <a:rPr lang="en-US" sz="900" kern="0" noProof="0" dirty="0">
                <a:solidFill>
                  <a:prstClr val="black"/>
                </a:solidFill>
                <a:latin typeface="Segoe Sans Text"/>
                <a:cs typeface="Segoe Sans Text"/>
              </a:rPr>
              <a:t>Implement consistent inventory, management, governance, and security for servers across your environment </a:t>
            </a:r>
          </a:p>
          <a:p>
            <a:pPr marL="625475" lvl="2" indent="-168275">
              <a:buFont typeface="Arial,Sans-Serif" panose="020B0604020202020204" pitchFamily="34" charset="0"/>
              <a:buChar char="•"/>
              <a:defRPr/>
            </a:pPr>
            <a:r>
              <a:rPr lang="en-US" sz="900" kern="0" noProof="0" dirty="0">
                <a:solidFill>
                  <a:prstClr val="black"/>
                </a:solidFill>
                <a:latin typeface="Segoe Sans Text"/>
                <a:cs typeface="Segoe Sans Text"/>
              </a:rPr>
              <a:t>Deployment of Defender for Cloud agents</a:t>
            </a:r>
          </a:p>
          <a:p>
            <a:pPr marL="625475" lvl="2" indent="-168275">
              <a:buFont typeface="Arial,Sans-Serif" panose="020B0604020202020204" pitchFamily="34" charset="0"/>
              <a:buChar char="•"/>
              <a:defRPr/>
            </a:pPr>
            <a:r>
              <a:rPr lang="en-US" sz="900" kern="0" noProof="0" dirty="0">
                <a:solidFill>
                  <a:prstClr val="black"/>
                </a:solidFill>
                <a:latin typeface="Segoe Sans Text"/>
                <a:cs typeface="Segoe Sans Text"/>
              </a:rPr>
              <a:t>Extended Security Updates (ESU)</a:t>
            </a:r>
          </a:p>
          <a:p>
            <a:pPr marL="625475" lvl="2" indent="-168275">
              <a:spcAft>
                <a:spcPts val="600"/>
              </a:spcAft>
              <a:buFont typeface="Arial,Sans-Serif" panose="020B0604020202020204" pitchFamily="34" charset="0"/>
              <a:buChar char="•"/>
              <a:defRPr/>
            </a:pPr>
            <a:r>
              <a:rPr lang="en-US" sz="900" kern="0" noProof="0" dirty="0">
                <a:solidFill>
                  <a:prstClr val="black"/>
                </a:solidFill>
                <a:latin typeface="Segoe Sans Text"/>
                <a:cs typeface="Segoe Sans Text"/>
              </a:rPr>
              <a:t>License management</a:t>
            </a:r>
            <a:endParaRPr lang="en-US" sz="900" noProof="0" dirty="0">
              <a:solidFill>
                <a:prstClr val="black"/>
              </a:solidFill>
            </a:endParaRPr>
          </a:p>
        </p:txBody>
      </p:sp>
      <p:sp>
        <p:nvSpPr>
          <p:cNvPr id="20" name="TextBox 19">
            <a:extLst>
              <a:ext uri="{FF2B5EF4-FFF2-40B4-BE49-F238E27FC236}">
                <a16:creationId xmlns:a16="http://schemas.microsoft.com/office/drawing/2014/main" id="{F2FDD0B1-3BEC-CD11-BB61-6625069960D6}"/>
              </a:ext>
            </a:extLst>
          </p:cNvPr>
          <p:cNvSpPr txBox="1"/>
          <p:nvPr/>
        </p:nvSpPr>
        <p:spPr>
          <a:xfrm>
            <a:off x="3235353" y="4566497"/>
            <a:ext cx="8229600" cy="276999"/>
          </a:xfrm>
          <a:prstGeom prst="rect">
            <a:avLst/>
          </a:prstGeom>
          <a:noFill/>
        </p:spPr>
        <p:txBody>
          <a:bodyPr wrap="square" lIns="91440" tIns="45720" rIns="91440" bIns="45720" anchor="t">
            <a:spAutoFit/>
          </a:bodyPr>
          <a:lstStyle/>
          <a:p>
            <a:pPr marL="0" lvl="1">
              <a:spcAft>
                <a:spcPts val="600"/>
              </a:spcAft>
              <a:defRPr/>
            </a:pPr>
            <a:r>
              <a:rPr lang="en-US" sz="1200" b="1" kern="0" noProof="0" dirty="0">
                <a:solidFill>
                  <a:srgbClr val="0078D4"/>
                </a:solidFill>
                <a:latin typeface="Segoe Sans Text Semibold"/>
              </a:rPr>
              <a:t>Azure Arc Enablement for Window &amp; SQL Servers</a:t>
            </a:r>
          </a:p>
        </p:txBody>
      </p:sp>
      <p:sp>
        <p:nvSpPr>
          <p:cNvPr id="31" name="Graphic 23">
            <a:extLst>
              <a:ext uri="{FF2B5EF4-FFF2-40B4-BE49-F238E27FC236}">
                <a16:creationId xmlns:a16="http://schemas.microsoft.com/office/drawing/2014/main" id="{B921C3E7-C6B9-2E44-0B6C-F860DF37F867}"/>
              </a:ext>
              <a:ext uri="{C183D7F6-B498-43B3-948B-1728B52AA6E4}">
                <adec:decorative xmlns:adec="http://schemas.microsoft.com/office/drawing/2017/decorative" val="1"/>
              </a:ext>
            </a:extLst>
          </p:cNvPr>
          <p:cNvSpPr/>
          <p:nvPr/>
        </p:nvSpPr>
        <p:spPr>
          <a:xfrm>
            <a:off x="570639" y="198422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33" name="Group 32">
            <a:extLst>
              <a:ext uri="{FF2B5EF4-FFF2-40B4-BE49-F238E27FC236}">
                <a16:creationId xmlns:a16="http://schemas.microsoft.com/office/drawing/2014/main" id="{B2B5AC0B-0DDC-63C9-D010-2220F14D5835}"/>
              </a:ext>
              <a:ext uri="{C183D7F6-B498-43B3-948B-1728B52AA6E4}">
                <adec:decorative xmlns:adec="http://schemas.microsoft.com/office/drawing/2017/decorative" val="1"/>
              </a:ext>
            </a:extLst>
          </p:cNvPr>
          <p:cNvGrpSpPr/>
          <p:nvPr/>
        </p:nvGrpSpPr>
        <p:grpSpPr>
          <a:xfrm>
            <a:off x="3080014" y="1462945"/>
            <a:ext cx="8521464" cy="4920647"/>
            <a:chOff x="455996" y="1206500"/>
            <a:chExt cx="11306470" cy="5062538"/>
          </a:xfrm>
        </p:grpSpPr>
        <p:sp>
          <p:nvSpPr>
            <p:cNvPr id="35" name="Rectangle: Rounded Corners 34">
              <a:extLst>
                <a:ext uri="{FF2B5EF4-FFF2-40B4-BE49-F238E27FC236}">
                  <a16:creationId xmlns:a16="http://schemas.microsoft.com/office/drawing/2014/main" id="{CCD91AB9-A7ED-20F0-70F8-9BAA1E0E7FD1}"/>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36" name="Rectangle: Rounded Corners 35">
              <a:extLst>
                <a:ext uri="{FF2B5EF4-FFF2-40B4-BE49-F238E27FC236}">
                  <a16:creationId xmlns:a16="http://schemas.microsoft.com/office/drawing/2014/main" id="{477A181A-C5F9-2FDD-F563-9E7E843E1AE3}"/>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34" name="Arrow: Bent 33">
            <a:extLst>
              <a:ext uri="{FF2B5EF4-FFF2-40B4-BE49-F238E27FC236}">
                <a16:creationId xmlns:a16="http://schemas.microsoft.com/office/drawing/2014/main" id="{50DA2BAF-8F78-B232-9E4B-18B336EE4B76}"/>
              </a:ext>
              <a:ext uri="{C183D7F6-B498-43B3-948B-1728B52AA6E4}">
                <adec:decorative xmlns:adec="http://schemas.microsoft.com/office/drawing/2017/decorative" val="1"/>
              </a:ext>
            </a:extLst>
          </p:cNvPr>
          <p:cNvSpPr>
            <a:spLocks/>
          </p:cNvSpPr>
          <p:nvPr/>
        </p:nvSpPr>
        <p:spPr bwMode="auto">
          <a:xfrm flipH="1">
            <a:off x="9653223" y="1462944"/>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sp>
        <p:nvSpPr>
          <p:cNvPr id="40" name="Graphic 23">
            <a:extLst>
              <a:ext uri="{FF2B5EF4-FFF2-40B4-BE49-F238E27FC236}">
                <a16:creationId xmlns:a16="http://schemas.microsoft.com/office/drawing/2014/main" id="{6F3EBCA2-4ED6-45C6-7B50-46B200335E61}"/>
              </a:ext>
              <a:ext uri="{C183D7F6-B498-43B3-948B-1728B52AA6E4}">
                <adec:decorative xmlns:adec="http://schemas.microsoft.com/office/drawing/2017/decorative" val="1"/>
              </a:ext>
            </a:extLst>
          </p:cNvPr>
          <p:cNvSpPr/>
          <p:nvPr/>
        </p:nvSpPr>
        <p:spPr>
          <a:xfrm>
            <a:off x="570639" y="225299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2" name="Graphic 23">
            <a:extLst>
              <a:ext uri="{FF2B5EF4-FFF2-40B4-BE49-F238E27FC236}">
                <a16:creationId xmlns:a16="http://schemas.microsoft.com/office/drawing/2014/main" id="{6FDABFD8-08FD-6E24-195E-E628430BFCFA}"/>
              </a:ext>
              <a:ext uri="{C183D7F6-B498-43B3-948B-1728B52AA6E4}">
                <adec:decorative xmlns:adec="http://schemas.microsoft.com/office/drawing/2017/decorative" val="1"/>
              </a:ext>
            </a:extLst>
          </p:cNvPr>
          <p:cNvSpPr/>
          <p:nvPr/>
        </p:nvSpPr>
        <p:spPr>
          <a:xfrm>
            <a:off x="570639" y="376486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0722F5D5-02E5-3861-F77D-688B2114DB59}"/>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1466384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F49ED-AB5B-1354-4699-227EDC3FABEB}"/>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811F4C0E-3D0B-E2A5-12E4-5F98FEFC8E56}"/>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3CFE0582-993E-586F-008E-EA66A537F27B}"/>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CD5F272E-E6F5-8DCF-A3AD-E99C6C66A08A}"/>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C52CFDF3-4ABC-4C72-ED0E-2135F5FAA823}"/>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BA3F9709-DBE9-87BD-82E2-4D961ECDF5E0}"/>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D922C383-B962-367B-984F-29B8F6123A12}"/>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B2824E75-876B-FDC8-523B-8A43E2BC5769}"/>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42461120-0F6C-105A-A765-F7681738522C}"/>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C2244299-4943-565C-8791-C56E531966F7}"/>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7A994862-4A1C-9F52-BD85-0FEC8830249D}"/>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93A8C01F-9E8E-A621-086F-393952F95BCC}"/>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988BAACE-0524-FD36-7AD0-554B74137EB2}"/>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C00C6918-8DE5-6BFE-2534-B2F54DF2F6F4}"/>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60B9EC10-8A40-4A27-B63E-90772C7A163D}"/>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525C1BE2-78E2-1E28-6450-1F914DE45C3B}"/>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D2FD3916-DF56-CF2F-F021-1476BFAE182B}"/>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7E972B68-F7EE-3C11-23BF-D740DF7F2583}"/>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4DA7F99C-DF68-490A-2572-D4E40871664E}"/>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43B276D3-ACB1-1A6C-6911-BCB7CCDEDC89}"/>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C769CD61-42A8-B713-C860-B11C89DB3AC1}"/>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9BFF592B-AB76-1DD5-B2A4-621D9C44FF11}"/>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FC7E923C-94C8-5F9E-21BB-32C521A84929}"/>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CFB29588-8D4C-1859-C239-98DCF72691D4}"/>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46D31668-9490-C1D1-ED56-CE5815BDF92D}"/>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8E18174D-6A16-EACF-E89E-01CB9945926B}"/>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8453E2C5-9E77-D7EA-B043-7A53DDD9E10B}"/>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7839EED7-CE78-6ECE-3EAE-020968A6C736}"/>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DB297355-523C-FDC4-15A4-ED6909BCA727}"/>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EDB35814-2F0A-71CB-3F5A-0D859C2D038E}"/>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8541BC99-0212-9082-50C6-EB4C67081C86}"/>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41E27A93-CFA2-0588-DB3D-E30E0C6DD4B7}"/>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A40F51DA-1967-795E-786F-C425A1CE8268}"/>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2256836B-38E8-4748-8025-3C52B3F7F39E}"/>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C13D400A-0FDC-30EE-CBE6-7BEA6477F06B}"/>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93D2A1FC-00A5-401B-1585-0C601DBD185E}"/>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E99A6F8C-E56E-F7CA-1222-7B88A3A97731}"/>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D3693AC6-405D-FD13-028C-554E4F2412D9}"/>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8C4E8607-ED4A-B7DD-5874-3A45C9F168B1}"/>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82248BFC-2010-89F6-D9E5-3B4D5DD38617}"/>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6" name="TextBox 135">
            <a:extLst>
              <a:ext uri="{FF2B5EF4-FFF2-40B4-BE49-F238E27FC236}">
                <a16:creationId xmlns:a16="http://schemas.microsoft.com/office/drawing/2014/main" id="{F50D8A86-CE6C-7779-B7D0-A35F3BB6B8C3}"/>
              </a:ext>
            </a:extLst>
          </p:cNvPr>
          <p:cNvSpPr txBox="1"/>
          <p:nvPr/>
        </p:nvSpPr>
        <p:spPr>
          <a:xfrm>
            <a:off x="4878310" y="2864494"/>
            <a:ext cx="121026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 of applications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for migration</a:t>
            </a:r>
          </a:p>
        </p:txBody>
      </p:sp>
      <p:sp>
        <p:nvSpPr>
          <p:cNvPr id="137" name="TextBox 136">
            <a:extLst>
              <a:ext uri="{FF2B5EF4-FFF2-40B4-BE49-F238E27FC236}">
                <a16:creationId xmlns:a16="http://schemas.microsoft.com/office/drawing/2014/main" id="{26603B93-017E-488D-85F7-9AC1F888E271}"/>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9BBE1D9E-482B-D081-38A8-6153AF9B7DCB}"/>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49F7EB64-A93E-4D62-730E-D4D3BA6175E9}"/>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8B7AA9FC-B5C4-1D15-8448-DCCC48EB4BE4}"/>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1D2C8372-6F07-66B4-C696-B910A5DD9F4C}"/>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7FF782B5-C3BB-9D1C-5F30-9A2066E16249}"/>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97FD513F-CB41-4BEF-15DD-DAA161E1424A}"/>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E283218E-3E85-178C-F0D7-75F786F0B8B1}"/>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2CD036B6-5A9F-BB9C-2960-87C390BB16B9}"/>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505D6B6C-3D5F-63A8-5AC4-1A35E424D914}"/>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E0935523-5319-44FE-7F49-4CD5595C4DCB}"/>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E18960B7-B035-BAF7-0B71-EEFE5DEADDC9}"/>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7962ECB6-EFC1-F5BA-1AC0-2F0F377D09D7}"/>
              </a:ext>
              <a:ext uri="{C183D7F6-B498-43B3-948B-1728B52AA6E4}">
                <adec:decorative xmlns:adec="http://schemas.microsoft.com/office/drawing/2017/decorative" val="1"/>
              </a:ext>
            </a:extLst>
          </p:cNvPr>
          <p:cNvSpPr>
            <a:spLocks noChangeAspect="1"/>
          </p:cNvSpPr>
          <p:nvPr/>
        </p:nvSpPr>
        <p:spPr>
          <a:xfrm>
            <a:off x="8539290" y="5075733"/>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DBEFE7F5-6252-AFBD-CDCD-DEDD1E9B881B}"/>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F5B23960-126B-5752-9811-4DB9DF5719A6}"/>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BDC5494E-B19D-552D-C41A-56FD08280417}"/>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7" name="TextBox 6">
            <a:extLst>
              <a:ext uri="{FF2B5EF4-FFF2-40B4-BE49-F238E27FC236}">
                <a16:creationId xmlns:a16="http://schemas.microsoft.com/office/drawing/2014/main" id="{C4CAD06B-2554-0EB0-FD63-FA835707D2A1}"/>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8" name="Oval 7">
            <a:extLst>
              <a:ext uri="{FF2B5EF4-FFF2-40B4-BE49-F238E27FC236}">
                <a16:creationId xmlns:a16="http://schemas.microsoft.com/office/drawing/2014/main" id="{3F051FF8-1437-EE8B-D7B9-9257764172D5}"/>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289819CF-A85A-52AB-C91C-C0E9C28A14C8}"/>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5AFC85C4-CAF3-5037-4AC4-388C1ED41F93}"/>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106DACF9-36A4-E0A9-059C-B01E3009E568}"/>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D2F914AC-DA6C-B6FB-B76F-0AD1567FD217}"/>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72A50344-E0CA-C636-E57E-9E0F834F5842}"/>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8F419D15-56B3-CF2F-FB34-81E7235880DB}"/>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5" name="Title 61">
            <a:extLst>
              <a:ext uri="{FF2B5EF4-FFF2-40B4-BE49-F238E27FC236}">
                <a16:creationId xmlns:a16="http://schemas.microsoft.com/office/drawing/2014/main" id="{B5C3C1C3-10C7-1027-C218-16E25C5C948D}"/>
              </a:ext>
            </a:extLst>
          </p:cNvPr>
          <p:cNvSpPr txBox="1">
            <a:spLocks/>
          </p:cNvSpPr>
          <p:nvPr/>
        </p:nvSpPr>
        <p:spPr>
          <a:xfrm>
            <a:off x="564266" y="554956"/>
            <a:ext cx="3111575" cy="3970318"/>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defTabSz="914400">
              <a:spcBef>
                <a:spcPts val="0"/>
              </a:spcBef>
              <a:defRPr/>
            </a:pPr>
            <a:r>
              <a:rPr lang="en-US" sz="2800" b="1" spc="0" dirty="0">
                <a:ln>
                  <a:noFill/>
                </a:ln>
                <a:solidFill>
                  <a:schemeClr val="bg1"/>
                </a:solidFill>
                <a:latin typeface="+mn-lt"/>
                <a:cs typeface="Segoe Sans Text" pitchFamily="2" charset="0"/>
              </a:rPr>
              <a:t>Cloud Accelerate Factory Secure Azure Cloud</a:t>
            </a:r>
            <a:br>
              <a:rPr lang="en-US" sz="2800" spc="0" dirty="0">
                <a:ln>
                  <a:noFill/>
                </a:ln>
                <a:solidFill>
                  <a:schemeClr val="bg1"/>
                </a:solidFill>
                <a:latin typeface="+mn-lt"/>
                <a:cs typeface="Segoe Sans Text" pitchFamily="2" charset="0"/>
              </a:rPr>
            </a:br>
            <a:r>
              <a:rPr lang="en-US" sz="2800" spc="0" dirty="0">
                <a:ln>
                  <a:noFill/>
                </a:ln>
                <a:solidFill>
                  <a:schemeClr val="bg1"/>
                </a:solidFill>
                <a:latin typeface="+mn-lt"/>
                <a:cs typeface="Segoe Sans Text" pitchFamily="2" charset="0"/>
              </a:rPr>
              <a:t>Microsoft </a:t>
            </a:r>
            <a:r>
              <a:rPr lang="en-US" sz="2800" spc="0" dirty="0">
                <a:ln>
                  <a:noFill/>
                </a:ln>
                <a:solidFill>
                  <a:srgbClr val="FFFFFF"/>
                </a:solidFill>
                <a:latin typeface="Segoe Sans Text"/>
              </a:rPr>
              <a:t>Arc for Windows and SQL Server, </a:t>
            </a:r>
            <a:r>
              <a:rPr lang="en-US" sz="2800" spc="0" dirty="0">
                <a:ln>
                  <a:noFill/>
                </a:ln>
                <a:solidFill>
                  <a:schemeClr val="bg1"/>
                </a:solidFill>
                <a:latin typeface="+mn-lt"/>
                <a:cs typeface="Segoe Sans Text" pitchFamily="2" charset="0"/>
              </a:rPr>
              <a:t>Defender for Cloud</a:t>
            </a:r>
            <a:br>
              <a:rPr lang="en-US" sz="2800" spc="0" dirty="0">
                <a:ln>
                  <a:noFill/>
                </a:ln>
                <a:solidFill>
                  <a:schemeClr val="bg1"/>
                </a:solidFill>
                <a:latin typeface="+mn-lt"/>
                <a:cs typeface="Segoe Sans Text" pitchFamily="2" charset="0"/>
              </a:rPr>
            </a:br>
            <a:br>
              <a:rPr lang="en-US" sz="2800" spc="0" dirty="0">
                <a:ln>
                  <a:noFill/>
                </a:ln>
                <a:solidFill>
                  <a:schemeClr val="bg1"/>
                </a:solidFill>
                <a:latin typeface="+mn-lt"/>
                <a:cs typeface="Segoe Sans Text" pitchFamily="2" charset="0"/>
              </a:rPr>
            </a:br>
            <a:endParaRPr lang="en-US" sz="2800" spc="0" dirty="0">
              <a:ln>
                <a:noFill/>
              </a:ln>
              <a:solidFill>
                <a:schemeClr val="bg1"/>
              </a:solidFill>
              <a:latin typeface="+mn-lt"/>
              <a:cs typeface="Segoe Sans Text" pitchFamily="2" charset="0"/>
            </a:endParaRPr>
          </a:p>
        </p:txBody>
      </p:sp>
      <p:sp>
        <p:nvSpPr>
          <p:cNvPr id="11" name="TextBox 10">
            <a:extLst>
              <a:ext uri="{FF2B5EF4-FFF2-40B4-BE49-F238E27FC236}">
                <a16:creationId xmlns:a16="http://schemas.microsoft.com/office/drawing/2014/main" id="{2255791D-3D0B-BC2C-612E-3D3727268BF5}"/>
              </a:ext>
              <a:ext uri="{C183D7F6-B498-43B3-948B-1728B52AA6E4}">
                <adec:decorative xmlns:adec="http://schemas.microsoft.com/office/drawing/2017/decorative" val="1"/>
              </a:ext>
            </a:extLst>
          </p:cNvPr>
          <p:cNvSpPr txBox="1"/>
          <p:nvPr/>
        </p:nvSpPr>
        <p:spPr>
          <a:xfrm>
            <a:off x="7921602" y="5302073"/>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Dev-test-deploy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scoped workloads</a:t>
            </a:r>
          </a:p>
        </p:txBody>
      </p:sp>
      <p:sp>
        <p:nvSpPr>
          <p:cNvPr id="15" name="TextBox 14">
            <a:extLst>
              <a:ext uri="{FF2B5EF4-FFF2-40B4-BE49-F238E27FC236}">
                <a16:creationId xmlns:a16="http://schemas.microsoft.com/office/drawing/2014/main" id="{92FA91E5-6FF4-811D-8A49-DFD51FC93879}"/>
              </a:ext>
            </a:extLst>
          </p:cNvPr>
          <p:cNvSpPr txBox="1"/>
          <p:nvPr/>
        </p:nvSpPr>
        <p:spPr>
          <a:xfrm>
            <a:off x="9310257" y="5360461"/>
            <a:ext cx="2240998"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solidFill>
                  <a:srgbClr val="000000"/>
                </a:solidFill>
                <a:cs typeface="Segoe UI"/>
              </a:rPr>
              <a:t>Remote assistance for service execution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Sans Text" pitchFamily="2" charset="0"/>
              </a:rPr>
              <a:t>,MS Defender for Cloud deployment</a:t>
            </a:r>
          </a:p>
        </p:txBody>
      </p:sp>
      <p:sp>
        <p:nvSpPr>
          <p:cNvPr id="19" name="Oval 18">
            <a:extLst>
              <a:ext uri="{FF2B5EF4-FFF2-40B4-BE49-F238E27FC236}">
                <a16:creationId xmlns:a16="http://schemas.microsoft.com/office/drawing/2014/main" id="{6491CFCE-B6CA-297E-FB1A-E37E96B4ED90}"/>
              </a:ext>
              <a:ext uri="{C183D7F6-B498-43B3-948B-1728B52AA6E4}">
                <adec:decorative xmlns:adec="http://schemas.microsoft.com/office/drawing/2017/decorative" val="1"/>
              </a:ext>
            </a:extLst>
          </p:cNvPr>
          <p:cNvSpPr>
            <a:spLocks noChangeAspect="1"/>
          </p:cNvSpPr>
          <p:nvPr/>
        </p:nvSpPr>
        <p:spPr>
          <a:xfrm>
            <a:off x="9381063" y="5135219"/>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3" name="TextBox 22">
            <a:extLst>
              <a:ext uri="{FF2B5EF4-FFF2-40B4-BE49-F238E27FC236}">
                <a16:creationId xmlns:a16="http://schemas.microsoft.com/office/drawing/2014/main" id="{3281AEF9-A759-3D04-3552-DB63DF107256}"/>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Tree>
    <p:extLst>
      <p:ext uri="{BB962C8B-B14F-4D97-AF65-F5344CB8AC3E}">
        <p14:creationId xmlns:p14="http://schemas.microsoft.com/office/powerpoint/2010/main" val="96803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F7E5F-55EC-FB0A-C332-0629225189B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773C87-7F21-942F-D6C7-0D2EC4751F2B}"/>
              </a:ext>
            </a:extLst>
          </p:cNvPr>
          <p:cNvSpPr txBox="1"/>
          <p:nvPr/>
        </p:nvSpPr>
        <p:spPr>
          <a:xfrm>
            <a:off x="584201" y="4173051"/>
            <a:ext cx="3942404" cy="584059"/>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defRPr sz="1200">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Enhanced Security </a:t>
            </a:r>
          </a:p>
          <a:p>
            <a:pPr algn="ctr"/>
            <a:r>
              <a:rPr lang="en-US" noProof="0" dirty="0"/>
              <a:t>(Sentinel Deployment, Splunk to Sentinel)</a:t>
            </a:r>
          </a:p>
        </p:txBody>
      </p:sp>
      <p:sp>
        <p:nvSpPr>
          <p:cNvPr id="8" name="Title 1">
            <a:extLst>
              <a:ext uri="{FF2B5EF4-FFF2-40B4-BE49-F238E27FC236}">
                <a16:creationId xmlns:a16="http://schemas.microsoft.com/office/drawing/2014/main" id="{D103514F-DA6B-6B70-E3D3-AC0D58FE5680}"/>
              </a:ext>
            </a:extLst>
          </p:cNvPr>
          <p:cNvSpPr>
            <a:spLocks noGrp="1"/>
          </p:cNvSpPr>
          <p:nvPr>
            <p:ph type="title"/>
          </p:nvPr>
        </p:nvSpPr>
        <p:spPr>
          <a:xfrm>
            <a:off x="585216" y="2362270"/>
            <a:ext cx="9144000" cy="1169551"/>
          </a:xfrm>
        </p:spPr>
        <p:txBody>
          <a:bodyPr/>
          <a:lstStyle/>
          <a:p>
            <a:r>
              <a:rPr lang="en-US"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10" name="TextBox 9">
            <a:extLst>
              <a:ext uri="{FF2B5EF4-FFF2-40B4-BE49-F238E27FC236}">
                <a16:creationId xmlns:a16="http://schemas.microsoft.com/office/drawing/2014/main" id="{BDD19F7A-2CAC-6D0A-8F18-C2B939F03ED0}"/>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3" name="Image 10" descr="Home (outlined)">
            <a:hlinkClick r:id="rId3" action="ppaction://hlinksldjump" tooltip="Home"/>
            <a:extLst>
              <a:ext uri="{FF2B5EF4-FFF2-40B4-BE49-F238E27FC236}">
                <a16:creationId xmlns:a16="http://schemas.microsoft.com/office/drawing/2014/main" id="{20ADFAFC-D248-39FD-CE18-736FFA6C4293}"/>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3992478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10" grpId="0" animBg="1"/>
      <p:bldP spid="10" grpId="1" animBg="1"/>
      <p:bldP spid="10" grpId="2"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739EA-54EB-E12D-5827-6259DEEBF7CC}"/>
            </a:ext>
          </a:extLst>
        </p:cNvPr>
        <p:cNvGrpSpPr/>
        <p:nvPr/>
      </p:nvGrpSpPr>
      <p:grpSpPr>
        <a:xfrm>
          <a:off x="0" y="0"/>
          <a:ext cx="0" cy="0"/>
          <a:chOff x="0" y="0"/>
          <a:chExt cx="0" cy="0"/>
        </a:xfrm>
      </p:grpSpPr>
      <p:sp>
        <p:nvSpPr>
          <p:cNvPr id="13" name="Rounded Rectangle 55">
            <a:extLst>
              <a:ext uri="{FF2B5EF4-FFF2-40B4-BE49-F238E27FC236}">
                <a16:creationId xmlns:a16="http://schemas.microsoft.com/office/drawing/2014/main" id="{CEE35DF3-4389-7F6E-EE1D-BE40C5CA59FF}"/>
              </a:ext>
              <a:ext uri="{C183D7F6-B498-43B3-948B-1728B52AA6E4}">
                <adec:decorative xmlns:adec="http://schemas.microsoft.com/office/drawing/2017/decorative" val="1"/>
              </a:ext>
            </a:extLst>
          </p:cNvPr>
          <p:cNvSpPr/>
          <p:nvPr/>
        </p:nvSpPr>
        <p:spPr bwMode="auto">
          <a:xfrm>
            <a:off x="9154160" y="1242326"/>
            <a:ext cx="2448877" cy="520571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6" name="Rounded Rectangle 55">
            <a:extLst>
              <a:ext uri="{FF2B5EF4-FFF2-40B4-BE49-F238E27FC236}">
                <a16:creationId xmlns:a16="http://schemas.microsoft.com/office/drawing/2014/main" id="{76D4332C-88B1-C71A-A2A7-021DCE58AF82}"/>
              </a:ext>
              <a:ext uri="{C183D7F6-B498-43B3-948B-1728B52AA6E4}">
                <adec:decorative xmlns:adec="http://schemas.microsoft.com/office/drawing/2017/decorative" val="1"/>
              </a:ext>
            </a:extLst>
          </p:cNvPr>
          <p:cNvSpPr/>
          <p:nvPr/>
        </p:nvSpPr>
        <p:spPr bwMode="auto">
          <a:xfrm>
            <a:off x="588961" y="1242326"/>
            <a:ext cx="8443279" cy="5205718"/>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55C3B6E9-E4A8-4D10-E3B4-FB28F877139C}"/>
              </a:ext>
            </a:extLst>
          </p:cNvPr>
          <p:cNvSpPr>
            <a:spLocks noGrp="1"/>
          </p:cNvSpPr>
          <p:nvPr>
            <p:ph type="title"/>
          </p:nvPr>
        </p:nvSpPr>
        <p:spPr>
          <a:xfrm>
            <a:off x="588963" y="315692"/>
            <a:ext cx="11017250" cy="461665"/>
          </a:xfrm>
        </p:spPr>
        <p:txBody>
          <a:bodyPr/>
          <a:lstStyle/>
          <a:p>
            <a:r>
              <a:rPr lang="en-US" sz="3000" noProof="0" dirty="0"/>
              <a:t>Secure Azure Cloud</a:t>
            </a:r>
          </a:p>
        </p:txBody>
      </p:sp>
      <p:sp>
        <p:nvSpPr>
          <p:cNvPr id="18" name="Content Placeholder 4">
            <a:extLst>
              <a:ext uri="{FF2B5EF4-FFF2-40B4-BE49-F238E27FC236}">
                <a16:creationId xmlns:a16="http://schemas.microsoft.com/office/drawing/2014/main" id="{4C268BF7-6D35-1505-EE7A-FF640CC259DA}"/>
              </a:ext>
            </a:extLst>
          </p:cNvPr>
          <p:cNvSpPr txBox="1">
            <a:spLocks/>
          </p:cNvSpPr>
          <p:nvPr/>
        </p:nvSpPr>
        <p:spPr>
          <a:xfrm>
            <a:off x="9154160" y="1579880"/>
            <a:ext cx="2448877" cy="2854628"/>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300"/>
              </a:spcAft>
              <a:defRPr/>
            </a:pPr>
            <a:r>
              <a:rPr lang="en-US" sz="1200" noProof="0" dirty="0">
                <a:latin typeface="+mj-lt"/>
                <a:ea typeface="+mj-ea"/>
                <a:cs typeface="+mj-cs"/>
              </a:rPr>
              <a:t>Requirements to leveraging </a:t>
            </a:r>
            <a:br>
              <a:rPr lang="en-US" sz="1200" noProof="0" dirty="0">
                <a:latin typeface="+mj-lt"/>
                <a:ea typeface="+mj-ea"/>
                <a:cs typeface="+mj-cs"/>
              </a:rPr>
            </a:br>
            <a:r>
              <a:rPr lang="en-US" sz="1200" noProof="0" dirty="0">
                <a:latin typeface="+mj-lt"/>
                <a:ea typeface="+mj-ea"/>
                <a:cs typeface="+mj-cs"/>
              </a:rPr>
              <a:t>this service:</a:t>
            </a:r>
          </a:p>
          <a:p>
            <a:pPr marL="57150" indent="0">
              <a:lnSpc>
                <a:spcPct val="100000"/>
              </a:lnSpc>
              <a:spcBef>
                <a:spcPts val="0"/>
              </a:spcBef>
              <a:spcAft>
                <a:spcPts val="600"/>
              </a:spcAft>
              <a:buSzPct val="100000"/>
              <a:buNone/>
            </a:pPr>
            <a:r>
              <a:rPr lang="en-US" sz="1000" noProof="0" dirty="0"/>
              <a:t>The customer is responsible for ensuring the following access requirements:</a:t>
            </a:r>
          </a:p>
          <a:p>
            <a:pPr marL="285750" indent="-133350">
              <a:lnSpc>
                <a:spcPct val="100000"/>
              </a:lnSpc>
              <a:spcBef>
                <a:spcPts val="0"/>
              </a:spcBef>
              <a:spcAft>
                <a:spcPts val="600"/>
              </a:spcAft>
              <a:buSzPct val="100000"/>
              <a:buFont typeface="Arial" panose="020B0604020202020204" pitchFamily="34" charset="0"/>
              <a:buChar char="•"/>
            </a:pPr>
            <a:r>
              <a:rPr lang="en-US" sz="1000" noProof="0" dirty="0">
                <a:latin typeface="+mj-lt"/>
              </a:rPr>
              <a:t>Tenant level: </a:t>
            </a:r>
            <a:br>
              <a:rPr lang="en-US" sz="1000" noProof="0" dirty="0"/>
            </a:br>
            <a:r>
              <a:rPr lang="en-US" sz="1000" noProof="0" dirty="0"/>
              <a:t>Access requirements for hands-on users (Factory or customer)</a:t>
            </a:r>
          </a:p>
          <a:p>
            <a:pPr marL="285750" indent="-133350">
              <a:lnSpc>
                <a:spcPct val="100000"/>
              </a:lnSpc>
              <a:spcBef>
                <a:spcPts val="0"/>
              </a:spcBef>
              <a:spcAft>
                <a:spcPts val="200"/>
              </a:spcAft>
              <a:buSzPct val="100000"/>
              <a:buFont typeface="Arial" panose="020B0604020202020204" pitchFamily="34" charset="0"/>
              <a:buChar char="•"/>
            </a:pPr>
            <a:r>
              <a:rPr lang="en-US" sz="1000" noProof="0" dirty="0">
                <a:latin typeface="+mj-lt"/>
              </a:rPr>
              <a:t>Subscription level: </a:t>
            </a:r>
            <a:br>
              <a:rPr lang="en-US" sz="1000" noProof="0" dirty="0">
                <a:latin typeface="+mj-lt"/>
              </a:rPr>
            </a:br>
            <a:r>
              <a:rPr lang="en-US" sz="1000" noProof="0" dirty="0"/>
              <a:t>Assigning owner/contributor or RBAC roles (Microsoft Sentinel contributor, Microsoft Sentinel automation contributor, LogicApp contributor role, log analytics contributor) for hands-on users (Factory or customer)</a:t>
            </a:r>
          </a:p>
        </p:txBody>
      </p:sp>
      <p:sp>
        <p:nvSpPr>
          <p:cNvPr id="20" name="TextBox 19">
            <a:extLst>
              <a:ext uri="{FF2B5EF4-FFF2-40B4-BE49-F238E27FC236}">
                <a16:creationId xmlns:a16="http://schemas.microsoft.com/office/drawing/2014/main" id="{E97C6DDA-9774-A57A-3478-16FDFDABCDF2}"/>
              </a:ext>
            </a:extLst>
          </p:cNvPr>
          <p:cNvSpPr txBox="1"/>
          <p:nvPr/>
        </p:nvSpPr>
        <p:spPr>
          <a:xfrm>
            <a:off x="674050" y="1302325"/>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CD2BC8A4-CEAE-ABB0-1E30-D52125D6F966}"/>
              </a:ext>
            </a:extLst>
          </p:cNvPr>
          <p:cNvSpPr/>
          <p:nvPr/>
        </p:nvSpPr>
        <p:spPr>
          <a:xfrm>
            <a:off x="3834447"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EBB11D52-C51E-E125-17A6-8EB207601A02}"/>
              </a:ext>
            </a:extLst>
          </p:cNvPr>
          <p:cNvSpPr txBox="1"/>
          <p:nvPr/>
        </p:nvSpPr>
        <p:spPr>
          <a:xfrm>
            <a:off x="9241631" y="1302325"/>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268ADA8F-8411-471F-3C11-548A52EA185C}"/>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24" name="TextBox 23">
            <a:extLst>
              <a:ext uri="{FF2B5EF4-FFF2-40B4-BE49-F238E27FC236}">
                <a16:creationId xmlns:a16="http://schemas.microsoft.com/office/drawing/2014/main" id="{3FA14329-25B8-3CAD-422C-2932DBE02437}"/>
              </a:ext>
            </a:extLst>
          </p:cNvPr>
          <p:cNvSpPr txBox="1"/>
          <p:nvPr/>
        </p:nvSpPr>
        <p:spPr>
          <a:xfrm>
            <a:off x="588963" y="871342"/>
            <a:ext cx="11018520" cy="276999"/>
          </a:xfrm>
          <a:prstGeom prst="rect">
            <a:avLst/>
          </a:prstGeom>
          <a:noFill/>
        </p:spPr>
        <p:txBody>
          <a:bodyPr wrap="square" lIns="0" tIns="0" rIns="0" bIns="0" rtlCol="0">
            <a:spAutoFit/>
          </a:bodyPr>
          <a:lstStyle/>
          <a:p>
            <a:r>
              <a:rPr lang="en-US" noProof="0" dirty="0">
                <a:latin typeface="+mj-lt"/>
              </a:rPr>
              <a:t>Microsoft Sentinel</a:t>
            </a:r>
          </a:p>
        </p:txBody>
      </p:sp>
      <p:graphicFrame>
        <p:nvGraphicFramePr>
          <p:cNvPr id="27" name="Table 26" title="Exchange Online Technet Guidance">
            <a:extLst>
              <a:ext uri="{FF2B5EF4-FFF2-40B4-BE49-F238E27FC236}">
                <a16:creationId xmlns:a16="http://schemas.microsoft.com/office/drawing/2014/main" id="{3BE79CAB-BC57-37D9-4001-77CABF0BA574}"/>
              </a:ext>
            </a:extLst>
          </p:cNvPr>
          <p:cNvGraphicFramePr>
            <a:graphicFrameLocks noGrp="1"/>
          </p:cNvGraphicFramePr>
          <p:nvPr>
            <p:extLst>
              <p:ext uri="{D42A27DB-BD31-4B8C-83A1-F6EECF244321}">
                <p14:modId xmlns:p14="http://schemas.microsoft.com/office/powerpoint/2010/main" val="2045421681"/>
              </p:ext>
            </p:extLst>
          </p:nvPr>
        </p:nvGraphicFramePr>
        <p:xfrm>
          <a:off x="582929" y="1617979"/>
          <a:ext cx="8363470" cy="4770628"/>
        </p:xfrm>
        <a:graphic>
          <a:graphicData uri="http://schemas.openxmlformats.org/drawingml/2006/table">
            <a:tbl>
              <a:tblPr firstRow="1" bandRow="1">
                <a:tableStyleId>{5C22544A-7EE6-4342-B048-85BDC9FD1C3A}</a:tableStyleId>
              </a:tblPr>
              <a:tblGrid>
                <a:gridCol w="274320">
                  <a:extLst>
                    <a:ext uri="{9D8B030D-6E8A-4147-A177-3AD203B41FA5}">
                      <a16:colId xmlns:a16="http://schemas.microsoft.com/office/drawing/2014/main" val="920430407"/>
                    </a:ext>
                  </a:extLst>
                </a:gridCol>
                <a:gridCol w="8089150">
                  <a:extLst>
                    <a:ext uri="{9D8B030D-6E8A-4147-A177-3AD203B41FA5}">
                      <a16:colId xmlns:a16="http://schemas.microsoft.com/office/drawing/2014/main" val="125040094"/>
                    </a:ext>
                  </a:extLst>
                </a:gridCol>
              </a:tblGrid>
              <a:tr h="456227">
                <a:tc gridSpan="2">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rgbClr val="000000"/>
                          </a:solidFill>
                          <a:effectLst/>
                          <a:uLnTx/>
                          <a:uFillTx/>
                          <a:latin typeface="+mn-lt"/>
                          <a:ea typeface="+mn-ea"/>
                          <a:cs typeface="+mn-cs"/>
                        </a:rPr>
                        <a:t>deployment and migration of Sentinel</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1140309">
                <a:tc>
                  <a:txBody>
                    <a:bodyPr/>
                    <a:lstStyle/>
                    <a:p>
                      <a:pPr algn="ctr"/>
                      <a:r>
                        <a:rPr lang="en-US" sz="100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noProof="0" dirty="0">
                          <a:solidFill>
                            <a:srgbClr val="000000"/>
                          </a:solidFill>
                          <a:latin typeface="+mj-lt"/>
                        </a:rPr>
                        <a:t>Kickstart the adoption </a:t>
                      </a:r>
                      <a:r>
                        <a:rPr lang="en-US" sz="1000" noProof="0" dirty="0">
                          <a:solidFill>
                            <a:srgbClr val="000000"/>
                          </a:solidFill>
                          <a:latin typeface="+mn-lt"/>
                        </a:rPr>
                        <a:t>process by: </a:t>
                      </a:r>
                    </a:p>
                    <a:p>
                      <a:pPr marL="171450" marR="0" lvl="0" indent="-111125"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rgbClr val="000000"/>
                          </a:solidFill>
                          <a:latin typeface="+mn-lt"/>
                        </a:rPr>
                        <a:t>Utilizing existing Sentinel instance</a:t>
                      </a:r>
                    </a:p>
                    <a:p>
                      <a:pPr marL="171450" marR="0" lvl="0" indent="-111125"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rgbClr val="000000"/>
                          </a:solidFill>
                          <a:latin typeface="+mn-lt"/>
                        </a:rPr>
                        <a:t>Outlining pre-defined customer outcomes</a:t>
                      </a:r>
                    </a:p>
                    <a:p>
                      <a:pPr marL="171450" marR="0" lvl="0" indent="-111125"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rgbClr val="000000"/>
                          </a:solidFill>
                          <a:latin typeface="+mn-lt"/>
                        </a:rPr>
                        <a:t>Deploying additional Microsoft built-in use cases to protect the environment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1140309">
                <a:tc>
                  <a:txBody>
                    <a:bodyPr/>
                    <a:lstStyle/>
                    <a:p>
                      <a:pPr algn="ctr"/>
                      <a:r>
                        <a:rPr lang="en-US" sz="100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kern="1200" noProof="0" dirty="0">
                          <a:solidFill>
                            <a:srgbClr val="000000"/>
                          </a:solidFill>
                          <a:latin typeface="+mj-lt"/>
                          <a:ea typeface="+mn-ea"/>
                          <a:cs typeface="+mn-cs"/>
                        </a:rPr>
                        <a:t>Supported scenarios </a:t>
                      </a:r>
                      <a:r>
                        <a:rPr lang="en-US" sz="1000" kern="1200" noProof="0" dirty="0">
                          <a:solidFill>
                            <a:srgbClr val="000000"/>
                          </a:solidFill>
                          <a:latin typeface="+mn-lt"/>
                          <a:ea typeface="+mn-ea"/>
                          <a:cs typeface="+mn-cs"/>
                        </a:rPr>
                        <a:t>for Sentinel: </a:t>
                      </a:r>
                    </a:p>
                    <a:p>
                      <a:pPr marL="171450" marR="0" lvl="0" indent="-111125"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kern="1200" noProof="0" dirty="0">
                          <a:solidFill>
                            <a:srgbClr val="000000"/>
                          </a:solidFill>
                          <a:latin typeface="+mn-lt"/>
                          <a:ea typeface="+mn-ea"/>
                          <a:cs typeface="+mn-cs"/>
                        </a:rPr>
                        <a:t>New or existing instances (Integrate all Azure native log sources and Syslog/CEF forward based log sources**)</a:t>
                      </a:r>
                    </a:p>
                    <a:p>
                      <a:pPr marL="171450" marR="0" lvl="0" indent="-111125"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kern="1200" noProof="0" dirty="0">
                          <a:solidFill>
                            <a:srgbClr val="000000"/>
                          </a:solidFill>
                          <a:latin typeface="+mn-lt"/>
                          <a:ea typeface="+mn-ea"/>
                          <a:cs typeface="+mn-cs"/>
                        </a:rPr>
                        <a:t>Migrate from Splunk or QRadar to Sentinel evaluating existing protection against industry best practices</a:t>
                      </a:r>
                    </a:p>
                    <a:p>
                      <a:pPr marL="171450" marR="0" lvl="0" indent="-111125"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kern="1200" noProof="0" dirty="0">
                          <a:solidFill>
                            <a:srgbClr val="000000"/>
                          </a:solidFill>
                          <a:latin typeface="+mn-lt"/>
                          <a:ea typeface="+mn-ea"/>
                          <a:cs typeface="+mn-cs"/>
                        </a:rPr>
                        <a:t>Microsoft Sentinel Datalake enablement</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410422">
                <a:tc>
                  <a:txBody>
                    <a:bodyPr/>
                    <a:lstStyle/>
                    <a:p>
                      <a:pPr algn="ctr"/>
                      <a:r>
                        <a:rPr lang="en-US" sz="100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noProof="0" dirty="0">
                          <a:solidFill>
                            <a:srgbClr val="000000"/>
                          </a:solidFill>
                          <a:latin typeface="+mj-lt"/>
                          <a:ea typeface="+mn-ea"/>
                          <a:cs typeface="+mn-cs"/>
                        </a:rPr>
                        <a:t>Deploy </a:t>
                      </a:r>
                      <a:r>
                        <a:rPr lang="en-US" sz="1000" b="0" noProof="0" dirty="0">
                          <a:solidFill>
                            <a:srgbClr val="000000"/>
                          </a:solidFill>
                          <a:latin typeface="+mj-lt"/>
                        </a:rPr>
                        <a:t>Microsoft built-in use cases </a:t>
                      </a:r>
                      <a:r>
                        <a:rPr lang="en-US" sz="1000" noProof="0" dirty="0">
                          <a:solidFill>
                            <a:srgbClr val="000000"/>
                          </a:solidFill>
                          <a:latin typeface="+mn-lt"/>
                        </a:rPr>
                        <a:t>to protect the environment</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075104"/>
                  </a:ext>
                </a:extLst>
              </a:tr>
              <a:tr h="410422">
                <a:tc>
                  <a:txBody>
                    <a:bodyPr/>
                    <a:lstStyle/>
                    <a:p>
                      <a:pPr marL="0" algn="ctr" defTabSz="932742" rtl="0" eaLnBrk="1" latinLnBrk="0" hangingPunct="1"/>
                      <a:r>
                        <a:rPr lang="en-US" sz="1000" b="0" kern="1200" noProof="0" dirty="0">
                          <a:solidFill>
                            <a:schemeClr val="tx2"/>
                          </a:solidFill>
                          <a:latin typeface="+mj-lt"/>
                          <a:ea typeface="+mn-ea"/>
                          <a:cs typeface="+mn-cs"/>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noProof="0" dirty="0">
                          <a:solidFill>
                            <a:srgbClr val="000000"/>
                          </a:solidFill>
                          <a:latin typeface="+mj-lt"/>
                          <a:ea typeface="+mn-ea"/>
                          <a:cs typeface="+mn-cs"/>
                        </a:rPr>
                        <a:t>Hand over </a:t>
                      </a:r>
                      <a:r>
                        <a:rPr lang="en-US" sz="1000" b="0" kern="1200" noProof="0" dirty="0">
                          <a:solidFill>
                            <a:srgbClr val="000000"/>
                          </a:solidFill>
                          <a:latin typeface="+mn-lt"/>
                          <a:ea typeface="+mn-ea"/>
                          <a:cs typeface="+mn-cs"/>
                        </a:rPr>
                        <a:t>to customer/ISD/Partner for post-migration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5753343"/>
                  </a:ext>
                </a:extLst>
              </a:tr>
              <a:tr h="691888">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rgbClr val="282828"/>
                          </a:solidFill>
                          <a:effectLst/>
                          <a:uLnTx/>
                          <a:uFillTx/>
                          <a:latin typeface="+mn-lt"/>
                          <a:ea typeface="+mn-ea"/>
                          <a:cs typeface="Segoe Sans Text" pitchFamily="2" charset="0"/>
                        </a:rPr>
                        <a:t>attending checkpoint meetings; and implementing user communications, documentation, training, and change management. </a:t>
                      </a:r>
                      <a:endParaRPr kumimoji="0" lang="en-US" sz="900" b="0" i="0" u="none" strike="noStrike" kern="1200" cap="none" spc="0" normalizeH="0" baseline="0" noProof="0" dirty="0">
                        <a:ln>
                          <a:noFill/>
                        </a:ln>
                        <a:solidFill>
                          <a:srgbClr val="000000"/>
                        </a:solidFill>
                        <a:effectLst/>
                        <a:uLnTx/>
                        <a:uFillTx/>
                        <a:latin typeface="+mn-lt"/>
                        <a:ea typeface="+mn-ea"/>
                        <a:cs typeface="+mn-cs"/>
                      </a:endParaRP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4000804349"/>
                  </a:ext>
                </a:extLst>
              </a:tr>
              <a:tr h="521051">
                <a:tc gridSpan="2">
                  <a:txBody>
                    <a:bodyPr/>
                    <a:lstStyle/>
                    <a:p>
                      <a:pPr lvl="0" algn="l">
                        <a:lnSpc>
                          <a:spcPct val="100000"/>
                        </a:lnSpc>
                        <a:spcBef>
                          <a:spcPts val="0"/>
                        </a:spcBef>
                        <a:spcAft>
                          <a:spcPts val="0"/>
                        </a:spcAft>
                        <a:buNone/>
                      </a:pPr>
                      <a:r>
                        <a:rPr lang="en-US" sz="900" b="0" i="0" u="none" strike="noStrike" kern="1200" cap="none" spc="0" normalizeH="0" baseline="0" noProof="0" dirty="0">
                          <a:ln>
                            <a:noFill/>
                          </a:ln>
                          <a:solidFill>
                            <a:srgbClr val="000000"/>
                          </a:solidFill>
                          <a:effectLst/>
                          <a:uLnTx/>
                          <a:uFillTx/>
                          <a:latin typeface="+mn-lt"/>
                        </a:rPr>
                        <a:t>Estimated duration for completing all activities in a typical engagement is within three weeks when all the requirements are met, and customer and partner are ready for execution</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2" name="TextBox 1">
            <a:extLst>
              <a:ext uri="{FF2B5EF4-FFF2-40B4-BE49-F238E27FC236}">
                <a16:creationId xmlns:a16="http://schemas.microsoft.com/office/drawing/2014/main" id="{E1372113-8716-19B8-CCB1-9DE3AFCE3244}"/>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7040677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EE04-2631-CF42-CBBD-486BDB8CF66E}"/>
            </a:ext>
          </a:extLst>
        </p:cNvPr>
        <p:cNvGrpSpPr/>
        <p:nvPr/>
      </p:nvGrpSpPr>
      <p:grpSpPr>
        <a:xfrm>
          <a:off x="0" y="0"/>
          <a:ext cx="0" cy="0"/>
          <a:chOff x="0" y="0"/>
          <a:chExt cx="0" cy="0"/>
        </a:xfrm>
      </p:grpSpPr>
      <p:sp>
        <p:nvSpPr>
          <p:cNvPr id="4" name="Title 101">
            <a:extLst>
              <a:ext uri="{FF2B5EF4-FFF2-40B4-BE49-F238E27FC236}">
                <a16:creationId xmlns:a16="http://schemas.microsoft.com/office/drawing/2014/main" id="{4CA6B2DE-11B4-D6FF-8FD4-5B468AB60FA4}"/>
              </a:ext>
            </a:extLst>
          </p:cNvPr>
          <p:cNvSpPr>
            <a:spLocks noGrp="1"/>
          </p:cNvSpPr>
          <p:nvPr>
            <p:ph type="title"/>
          </p:nvPr>
        </p:nvSpPr>
        <p:spPr>
          <a:xfrm>
            <a:off x="588963" y="315692"/>
            <a:ext cx="11017250" cy="655773"/>
          </a:xfrm>
        </p:spPr>
        <p:txBody>
          <a:bodyPr>
            <a:noAutofit/>
          </a:bodyPr>
          <a:lstStyle/>
          <a:p>
            <a:r>
              <a:rPr lang="en-US" sz="2400" noProof="0" dirty="0"/>
              <a:t>Secure Azure Cloud</a:t>
            </a:r>
            <a:br>
              <a:rPr lang="en-US" sz="3000" noProof="0" dirty="0"/>
            </a:br>
            <a:r>
              <a:rPr lang="en-US" sz="1800" noProof="0" dirty="0">
                <a:solidFill>
                  <a:schemeClr val="tx1"/>
                </a:solidFill>
              </a:rPr>
              <a:t>Microsoft Sentinel Deployment and Migrations</a:t>
            </a:r>
          </a:p>
        </p:txBody>
      </p:sp>
      <p:sp>
        <p:nvSpPr>
          <p:cNvPr id="32" name="Rounded Rectangle 31">
            <a:extLst>
              <a:ext uri="{FF2B5EF4-FFF2-40B4-BE49-F238E27FC236}">
                <a16:creationId xmlns:a16="http://schemas.microsoft.com/office/drawing/2014/main" id="{21B29926-284D-B1B7-8CA0-39EF9AB4DE27}"/>
              </a:ext>
              <a:ext uri="{C183D7F6-B498-43B3-948B-1728B52AA6E4}">
                <adec:decorative xmlns:adec="http://schemas.microsoft.com/office/drawing/2017/decorative" val="1"/>
              </a:ext>
            </a:extLst>
          </p:cNvPr>
          <p:cNvSpPr>
            <a:spLocks/>
          </p:cNvSpPr>
          <p:nvPr/>
        </p:nvSpPr>
        <p:spPr bwMode="auto">
          <a:xfrm>
            <a:off x="556631" y="1355387"/>
            <a:ext cx="5497188" cy="4963794"/>
          </a:xfrm>
          <a:prstGeom prst="roundRect">
            <a:avLst>
              <a:gd name="adj" fmla="val 2102"/>
            </a:avLst>
          </a:prstGeom>
          <a:noFill/>
          <a:ln w="9525" cap="rnd" cmpd="sng" algn="ctr">
            <a:solidFill>
              <a:schemeClr val="bg1">
                <a:lumMod val="85000"/>
              </a:schemeClr>
            </a:solidFill>
            <a:prstDash val="solid"/>
            <a:headEnd type="none" w="lg" len="sm"/>
            <a:tailEnd type="none" w="lg" len="sm"/>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sp>
        <p:nvSpPr>
          <p:cNvPr id="30" name="Rounded Rectangle 29">
            <a:extLst>
              <a:ext uri="{FF2B5EF4-FFF2-40B4-BE49-F238E27FC236}">
                <a16:creationId xmlns:a16="http://schemas.microsoft.com/office/drawing/2014/main" id="{43B1C1A2-D170-76C2-09EB-725DCA3DDAE3}"/>
              </a:ext>
              <a:ext uri="{C183D7F6-B498-43B3-948B-1728B52AA6E4}">
                <adec:decorative xmlns:adec="http://schemas.microsoft.com/office/drawing/2017/decorative" val="1"/>
              </a:ext>
            </a:extLst>
          </p:cNvPr>
          <p:cNvSpPr>
            <a:spLocks/>
          </p:cNvSpPr>
          <p:nvPr/>
        </p:nvSpPr>
        <p:spPr bwMode="auto">
          <a:xfrm>
            <a:off x="6123410" y="1355387"/>
            <a:ext cx="5568136" cy="4963794"/>
          </a:xfrm>
          <a:prstGeom prst="roundRect">
            <a:avLst>
              <a:gd name="adj" fmla="val 1815"/>
            </a:avLst>
          </a:prstGeom>
          <a:noFill/>
          <a:ln w="9525" cap="rnd" cmpd="sng" algn="ctr">
            <a:solidFill>
              <a:schemeClr val="bg1">
                <a:lumMod val="85000"/>
              </a:schemeClr>
            </a:solidFill>
            <a:prstDash val="solid"/>
            <a:headEnd type="none" w="lg" len="sm"/>
            <a:tailEnd type="none" w="lg" len="sm"/>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sp>
        <p:nvSpPr>
          <p:cNvPr id="8" name="TextBox 7">
            <a:extLst>
              <a:ext uri="{FF2B5EF4-FFF2-40B4-BE49-F238E27FC236}">
                <a16:creationId xmlns:a16="http://schemas.microsoft.com/office/drawing/2014/main" id="{8E5450D6-2834-3BDA-6E93-DD4223F8E50C}"/>
              </a:ext>
            </a:extLst>
          </p:cNvPr>
          <p:cNvSpPr txBox="1"/>
          <p:nvPr/>
        </p:nvSpPr>
        <p:spPr>
          <a:xfrm>
            <a:off x="984916" y="1942900"/>
            <a:ext cx="4914576" cy="4390946"/>
          </a:xfrm>
          <a:prstGeom prst="rect">
            <a:avLst/>
          </a:prstGeom>
          <a:noFill/>
        </p:spPr>
        <p:txBody>
          <a:bodyPr wrap="square" lIns="0" tIns="0" rIns="0" bIns="0" anchor="t">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000" i="0" u="none" strike="noStrike" kern="0" cap="none" normalizeH="0" baseline="0" noProof="0" dirty="0">
                <a:ln>
                  <a:noFill/>
                </a:ln>
                <a:effectLst/>
                <a:uLnTx/>
                <a:uFillTx/>
                <a:latin typeface="+mj-lt"/>
                <a:ea typeface="+mj-ea"/>
                <a:cs typeface="+mj-cs"/>
              </a:rPr>
              <a:t>General</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Architecture review of existing Microsoft Sentinel instance</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Review of use case and rule mapping</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Assist in Integration of Azure native data connectors and Syslog/CEF based 3</a:t>
            </a:r>
            <a:r>
              <a:rPr kumimoji="0" lang="en-US" sz="900" b="0" i="0" u="none" strike="noStrike" kern="0" cap="none" normalizeH="0" baseline="30000" noProof="0" dirty="0">
                <a:ln>
                  <a:noFill/>
                </a:ln>
                <a:effectLst/>
                <a:uLnTx/>
                <a:uFillTx/>
              </a:rPr>
              <a:t>rd</a:t>
            </a:r>
            <a:r>
              <a:rPr kumimoji="0" lang="en-US" sz="900" b="0" i="0" u="none" strike="noStrike" kern="0" cap="none" normalizeH="0" baseline="0" noProof="0" dirty="0">
                <a:ln>
                  <a:noFill/>
                </a:ln>
                <a:effectLst/>
                <a:uLnTx/>
                <a:uFillTx/>
              </a:rPr>
              <a:t> party data connectors into Microsoft Sentinel as needed**</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Review remaining use cases to develop a plan to address needs for migration</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Validate rules in Microsoft Sentinel have been configured</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Review additional best practice use cases from factory offering to enable within production instance of Microsoft Sentinel</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lang="en-US" sz="900" kern="0" noProof="0" dirty="0"/>
              <a:t>Environment review, onboarding and validation of Microsoft Sentinel Data Lake wherever applicable</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Table and component configuration in Microsoft Sentinel Data Lake, including tiering and retention policies for long-term storage.</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endParaRPr kumimoji="0" lang="en-US" sz="1000" b="0" i="0" u="none" strike="noStrike" kern="0" cap="none" normalizeH="0" baseline="0" noProof="0" dirty="0">
              <a:ln>
                <a:noFill/>
              </a:ln>
              <a:effectLst/>
              <a:uLnTx/>
              <a:uFillTx/>
            </a:endParaRPr>
          </a:p>
          <a:p>
            <a:pPr marL="0" marR="0" lvl="0" indent="0" algn="l" defTabSz="914400" rtl="0" eaLnBrk="1" fontAlgn="auto" latinLnBrk="0" hangingPunct="1">
              <a:spcBef>
                <a:spcPts val="0"/>
              </a:spcBef>
              <a:spcAft>
                <a:spcPts val="200"/>
              </a:spcAft>
              <a:buClrTx/>
              <a:buSzTx/>
              <a:buFontTx/>
              <a:buNone/>
              <a:tabLst/>
              <a:defRPr/>
            </a:pPr>
            <a:r>
              <a:rPr kumimoji="0" lang="en-US" sz="1000" i="0" u="none" strike="noStrike" kern="0" cap="none" normalizeH="0" baseline="0" noProof="0" dirty="0">
                <a:ln>
                  <a:noFill/>
                </a:ln>
                <a:effectLst/>
                <a:uLnTx/>
                <a:uFillTx/>
                <a:latin typeface="+mj-lt"/>
                <a:ea typeface="+mj-ea"/>
                <a:cs typeface="+mj-cs"/>
              </a:rPr>
              <a:t>Splunk/QRadar to Sentinel migration</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Help with exporting configuration of Splunk/Qradar into a JSON/CSV file</a:t>
            </a:r>
          </a:p>
          <a:p>
            <a:pPr marL="220663" marR="0" lvl="0" indent="-144463" algn="l" defTabSz="914400" rtl="0" eaLnBrk="1" fontAlgn="auto"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Import of JSON/CSV file into the SIEM Migration Experience Tool</a:t>
            </a:r>
          </a:p>
          <a:p>
            <a:pPr marL="220663" lvl="0" indent="-144463">
              <a:spcAft>
                <a:spcPts val="200"/>
              </a:spcAft>
              <a:buFont typeface="Arial" panose="020B0604020202020204" pitchFamily="34" charset="0"/>
              <a:buChar char="•"/>
              <a:defRPr/>
            </a:pPr>
            <a:r>
              <a:rPr lang="en-US" sz="900" kern="0" noProof="0" dirty="0"/>
              <a:t>Review recommendation cards to view the data sources and rules mapped.</a:t>
            </a:r>
          </a:p>
          <a:p>
            <a:pPr marL="220663" lvl="0" indent="-144463">
              <a:spcAft>
                <a:spcPts val="200"/>
              </a:spcAft>
              <a:buFont typeface="Arial" panose="020B0604020202020204" pitchFamily="34" charset="0"/>
              <a:buChar char="•"/>
              <a:defRPr/>
            </a:pPr>
            <a:r>
              <a:rPr lang="en-US" sz="900" kern="0" noProof="0" dirty="0"/>
              <a:t>Enable required Data Connectors and use cases required by customer.</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endParaRPr kumimoji="0" lang="en-US" sz="1000" b="0" i="0" u="none" strike="noStrike" kern="0" cap="none" normalizeH="0" baseline="0" noProof="0" dirty="0">
              <a:ln>
                <a:noFill/>
              </a:ln>
              <a:effectLst/>
              <a:uLnTx/>
              <a:uFillTx/>
            </a:endParaRPr>
          </a:p>
          <a:p>
            <a:pPr marL="0" marR="0" lvl="0" indent="0" algn="l" defTabSz="914400" rtl="0" eaLnBrk="1" fontAlgn="auto" latinLnBrk="0" hangingPunct="1">
              <a:spcBef>
                <a:spcPts val="0"/>
              </a:spcBef>
              <a:spcAft>
                <a:spcPts val="0"/>
              </a:spcAft>
              <a:buClrTx/>
              <a:buSzTx/>
              <a:buFontTx/>
              <a:buNone/>
              <a:tabLst/>
              <a:defRPr/>
            </a:pPr>
            <a:r>
              <a:rPr kumimoji="0" lang="en-US" sz="1000" i="0" u="none" strike="noStrike" kern="0" cap="none" normalizeH="0" baseline="0" noProof="0" dirty="0">
                <a:ln>
                  <a:noFill/>
                </a:ln>
                <a:effectLst/>
                <a:uLnTx/>
                <a:uFillTx/>
                <a:latin typeface="+mj-lt"/>
                <a:ea typeface="+mj-ea"/>
                <a:cs typeface="+mj-cs"/>
              </a:rPr>
              <a:t>Acceleration</a:t>
            </a:r>
          </a:p>
          <a:p>
            <a:pPr marL="228600" marR="0" lvl="0" indent="-160338"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Import of Sentinel solutions from catalog or GitHub for selected use cases</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endParaRPr lang="en-US" sz="1000" kern="0" noProof="0" dirty="0"/>
          </a:p>
          <a:p>
            <a:pPr marL="0" marR="0" lvl="0" indent="0" algn="l" defTabSz="914400" rtl="0" eaLnBrk="1" fontAlgn="auto" latinLnBrk="0" hangingPunct="1">
              <a:spcBef>
                <a:spcPts val="0"/>
              </a:spcBef>
              <a:spcAft>
                <a:spcPts val="0"/>
              </a:spcAft>
              <a:buClrTx/>
              <a:buSzTx/>
              <a:buFontTx/>
              <a:buNone/>
              <a:tabLst/>
              <a:defRPr/>
            </a:pPr>
            <a:r>
              <a:rPr kumimoji="0" lang="en-US" sz="1000" i="0" u="none" strike="noStrike" kern="0" cap="none" normalizeH="0" baseline="0" noProof="0" dirty="0">
                <a:ln>
                  <a:noFill/>
                </a:ln>
                <a:effectLst/>
                <a:uLnTx/>
                <a:uFillTx/>
                <a:latin typeface="+mj-lt"/>
                <a:ea typeface="+mj-ea"/>
                <a:cs typeface="+mj-cs"/>
              </a:rPr>
              <a:t>Sentinel Greenfield deployment</a:t>
            </a:r>
          </a:p>
          <a:p>
            <a:pPr marL="220663" marR="0" lvl="0" indent="-152400"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Deploy new Sentinel instance to accelerate adoption journey </a:t>
            </a:r>
            <a:endParaRPr kumimoji="0" lang="en-US" sz="1000" b="0" i="0" u="none" strike="noStrike" kern="0" cap="none" normalizeH="0" baseline="0" noProof="0" dirty="0">
              <a:ln>
                <a:noFill/>
              </a:ln>
              <a:effectLst/>
              <a:uLnTx/>
              <a:uFillTx/>
            </a:endParaRPr>
          </a:p>
          <a:p>
            <a:pPr marR="0" lvl="0" algn="l" defTabSz="914400" rtl="0" eaLnBrk="1" fontAlgn="auto" latinLnBrk="0" hangingPunct="1">
              <a:spcBef>
                <a:spcPts val="0"/>
              </a:spcBef>
              <a:spcAft>
                <a:spcPts val="0"/>
              </a:spcAft>
              <a:buClrTx/>
              <a:buSzTx/>
              <a:tabLst/>
              <a:defRPr/>
            </a:pPr>
            <a:r>
              <a:rPr lang="en-US" sz="1000" kern="0" noProof="0" dirty="0"/>
              <a:t>** </a:t>
            </a:r>
            <a:r>
              <a:rPr lang="en-US" sz="900" kern="0" noProof="0" dirty="0"/>
              <a:t>Any 3</a:t>
            </a:r>
            <a:r>
              <a:rPr lang="en-US" sz="900" kern="0" baseline="30000" noProof="0" dirty="0"/>
              <a:t>rd</a:t>
            </a:r>
            <a:r>
              <a:rPr lang="en-US" sz="900" kern="0" noProof="0" dirty="0"/>
              <a:t> party log sources which has not delivered yet will be taken care as a pilot project</a:t>
            </a:r>
            <a:endParaRPr kumimoji="0" lang="en-US" sz="900" b="0" i="0" u="none" strike="noStrike" kern="0" cap="none" normalizeH="0" baseline="0" noProof="0" dirty="0">
              <a:ln>
                <a:noFill/>
              </a:ln>
              <a:effectLst/>
              <a:uLnTx/>
              <a:uFillTx/>
            </a:endParaRP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endParaRPr kumimoji="0" lang="en-US" sz="1000" b="0" i="0" u="none" strike="noStrike" kern="0" cap="none" normalizeH="0" baseline="0" noProof="0" dirty="0">
              <a:ln>
                <a:noFill/>
              </a:ln>
              <a:solidFill>
                <a:srgbClr val="000000"/>
              </a:solidFill>
              <a:effectLst/>
              <a:uLnTx/>
              <a:uFillTx/>
              <a:ea typeface="+mn-ea"/>
              <a:cs typeface="+mn-cs"/>
            </a:endParaRPr>
          </a:p>
        </p:txBody>
      </p:sp>
      <p:cxnSp>
        <p:nvCxnSpPr>
          <p:cNvPr id="10" name="Straight Connector 9">
            <a:extLst>
              <a:ext uri="{FF2B5EF4-FFF2-40B4-BE49-F238E27FC236}">
                <a16:creationId xmlns:a16="http://schemas.microsoft.com/office/drawing/2014/main" id="{281B8097-6A18-512F-7648-26FC61AA066C}"/>
              </a:ext>
              <a:ext uri="{C183D7F6-B498-43B3-948B-1728B52AA6E4}">
                <adec:decorative xmlns:adec="http://schemas.microsoft.com/office/drawing/2017/decorative" val="1"/>
              </a:ext>
            </a:extLst>
          </p:cNvPr>
          <p:cNvCxnSpPr>
            <a:cxnSpLocks/>
          </p:cNvCxnSpPr>
          <p:nvPr/>
        </p:nvCxnSpPr>
        <p:spPr>
          <a:xfrm>
            <a:off x="984914" y="4025280"/>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8BBDBA-33AC-8406-D4D0-69261A3BB4CE}"/>
              </a:ext>
              <a:ext uri="{C183D7F6-B498-43B3-948B-1728B52AA6E4}">
                <adec:decorative xmlns:adec="http://schemas.microsoft.com/office/drawing/2017/decorative" val="1"/>
              </a:ext>
            </a:extLst>
          </p:cNvPr>
          <p:cNvCxnSpPr>
            <a:cxnSpLocks/>
          </p:cNvCxnSpPr>
          <p:nvPr/>
        </p:nvCxnSpPr>
        <p:spPr>
          <a:xfrm>
            <a:off x="984913" y="5457072"/>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9218B77-C274-C381-0133-A0E3EADCBCCB}"/>
              </a:ext>
              <a:ext uri="{C183D7F6-B498-43B3-948B-1728B52AA6E4}">
                <adec:decorative xmlns:adec="http://schemas.microsoft.com/office/drawing/2017/decorative" val="1"/>
              </a:ext>
            </a:extLst>
          </p:cNvPr>
          <p:cNvCxnSpPr>
            <a:cxnSpLocks/>
          </p:cNvCxnSpPr>
          <p:nvPr/>
        </p:nvCxnSpPr>
        <p:spPr>
          <a:xfrm>
            <a:off x="984913" y="4996716"/>
            <a:ext cx="4778269" cy="0"/>
          </a:xfrm>
          <a:prstGeom prst="line">
            <a:avLst/>
          </a:prstGeom>
          <a:ln w="1270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EDD82C5-D2E6-6E38-CF25-B9F06C150321}"/>
              </a:ext>
            </a:extLst>
          </p:cNvPr>
          <p:cNvSpPr txBox="1"/>
          <p:nvPr/>
        </p:nvSpPr>
        <p:spPr>
          <a:xfrm>
            <a:off x="6563404" y="2027205"/>
            <a:ext cx="4914576" cy="1744067"/>
          </a:xfrm>
          <a:prstGeom prst="rect">
            <a:avLst/>
          </a:prstGeom>
          <a:noFill/>
        </p:spPr>
        <p:txBody>
          <a:bodyPr wrap="square" lIns="0" tIns="0" rIns="0" bIns="0">
            <a:spAutoFit/>
          </a:bodyPr>
          <a:lstStyle/>
          <a:p>
            <a:pPr marL="0" marR="0" lvl="0" indent="0" algn="l" defTabSz="914400" rtl="0" eaLnBrk="1" fontAlgn="auto" latinLnBrk="0" hangingPunct="1">
              <a:spcBef>
                <a:spcPts val="0"/>
              </a:spcBef>
              <a:spcAft>
                <a:spcPts val="200"/>
              </a:spcAft>
              <a:buClrTx/>
              <a:buSzTx/>
              <a:buFontTx/>
              <a:buNone/>
              <a:tabLst/>
              <a:defRPr/>
            </a:pPr>
            <a:r>
              <a:rPr kumimoji="0" lang="en-US" sz="1000" i="0" u="none" strike="noStrike" kern="0" cap="none" normalizeH="0" baseline="0" noProof="0" dirty="0">
                <a:ln>
                  <a:noFill/>
                </a:ln>
                <a:effectLst/>
                <a:uLnTx/>
                <a:uFillTx/>
                <a:latin typeface="+mj-lt"/>
                <a:ea typeface="+mj-ea"/>
                <a:cs typeface="+mj-cs"/>
              </a:rPr>
              <a:t>General</a:t>
            </a:r>
            <a:endParaRPr kumimoji="0" lang="en-US" sz="1000" b="0" i="0" u="none" strike="noStrike" kern="0" cap="none" normalizeH="0" baseline="0" noProof="0" dirty="0">
              <a:ln>
                <a:noFill/>
              </a:ln>
              <a:effectLst/>
              <a:uLnTx/>
              <a:uFillTx/>
            </a:endParaRP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Microsoft Sentinel training or feature review</a:t>
            </a: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Additional configuration beyond built-in RBAC roles in Microsoft Sentinel</a:t>
            </a: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Configuration of Microsoft Sentinel in the log analytics workspace</a:t>
            </a: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Migration of existing log data from legacy SIEM to Microsoft Sentinel</a:t>
            </a: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Creation of custom connectors, rules, workbooks, parsers or configurations outside of the core out-of-the-box configurations</a:t>
            </a: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Configuration of non-Microsoft Sentinel systems</a:t>
            </a: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lang="en-US" sz="900" kern="0" noProof="0" dirty="0"/>
              <a:t>Sending Auxiliary logs to Sentinel Data Lake</a:t>
            </a:r>
          </a:p>
          <a:p>
            <a:pPr marL="196850" marR="0" lvl="0" indent="-139700" algn="l" defTabSz="914400" rtl="0" eaLnBrk="1" fontAlgn="auto" latinLnBrk="0" hangingPunct="1">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Any configuration changes nee</a:t>
            </a:r>
            <a:r>
              <a:rPr lang="en-US" sz="900" kern="0" noProof="0" dirty="0"/>
              <a:t>ds to be performed at the 3</a:t>
            </a:r>
            <a:r>
              <a:rPr lang="en-US" sz="900" kern="0" baseline="30000" noProof="0" dirty="0"/>
              <a:t>rd</a:t>
            </a:r>
            <a:r>
              <a:rPr lang="en-US" sz="900" kern="0" noProof="0" dirty="0"/>
              <a:t> party appliances to forward </a:t>
            </a:r>
            <a:br>
              <a:rPr lang="en-US" sz="900" kern="0" noProof="0" dirty="0"/>
            </a:br>
            <a:r>
              <a:rPr lang="en-US" sz="900" kern="0" noProof="0" dirty="0"/>
              <a:t>the logs</a:t>
            </a:r>
            <a:endParaRPr kumimoji="0" lang="en-US" sz="900" b="0" i="0" u="none" strike="noStrike" kern="0" cap="none" normalizeH="0" baseline="0" noProof="0" dirty="0">
              <a:ln>
                <a:noFill/>
              </a:ln>
              <a:effectLst/>
              <a:uLnTx/>
              <a:uFillTx/>
            </a:endParaRPr>
          </a:p>
        </p:txBody>
      </p:sp>
      <p:sp>
        <p:nvSpPr>
          <p:cNvPr id="13" name="Oval 12">
            <a:extLst>
              <a:ext uri="{FF2B5EF4-FFF2-40B4-BE49-F238E27FC236}">
                <a16:creationId xmlns:a16="http://schemas.microsoft.com/office/drawing/2014/main" id="{AE24C887-49F6-5F01-7D23-4A4F418DEE75}"/>
              </a:ext>
            </a:extLst>
          </p:cNvPr>
          <p:cNvSpPr>
            <a:spLocks noChangeAspect="1"/>
          </p:cNvSpPr>
          <p:nvPr/>
        </p:nvSpPr>
        <p:spPr bwMode="auto">
          <a:xfrm>
            <a:off x="703343" y="1953101"/>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Oval 17">
            <a:extLst>
              <a:ext uri="{FF2B5EF4-FFF2-40B4-BE49-F238E27FC236}">
                <a16:creationId xmlns:a16="http://schemas.microsoft.com/office/drawing/2014/main" id="{03D003C8-F35B-312D-063E-9D10BAC98D22}"/>
              </a:ext>
            </a:extLst>
          </p:cNvPr>
          <p:cNvSpPr>
            <a:spLocks noChangeAspect="1"/>
          </p:cNvSpPr>
          <p:nvPr/>
        </p:nvSpPr>
        <p:spPr bwMode="auto">
          <a:xfrm>
            <a:off x="703343" y="4155741"/>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Oval 18">
            <a:extLst>
              <a:ext uri="{FF2B5EF4-FFF2-40B4-BE49-F238E27FC236}">
                <a16:creationId xmlns:a16="http://schemas.microsoft.com/office/drawing/2014/main" id="{F558C6F8-F913-39BE-9E22-904533912C32}"/>
              </a:ext>
            </a:extLst>
          </p:cNvPr>
          <p:cNvSpPr>
            <a:spLocks noChangeAspect="1"/>
          </p:cNvSpPr>
          <p:nvPr/>
        </p:nvSpPr>
        <p:spPr bwMode="auto">
          <a:xfrm>
            <a:off x="699305" y="5103793"/>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EF82BE29-692C-6BE8-0689-FDA76871A042}"/>
              </a:ext>
            </a:extLst>
          </p:cNvPr>
          <p:cNvSpPr>
            <a:spLocks noChangeAspect="1"/>
          </p:cNvSpPr>
          <p:nvPr/>
        </p:nvSpPr>
        <p:spPr bwMode="auto">
          <a:xfrm>
            <a:off x="703343" y="5570516"/>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0C74B514-091D-1164-4B7A-3B295FEA3F9E}"/>
              </a:ext>
            </a:extLst>
          </p:cNvPr>
          <p:cNvSpPr>
            <a:spLocks noChangeAspect="1"/>
          </p:cNvSpPr>
          <p:nvPr/>
        </p:nvSpPr>
        <p:spPr bwMode="auto">
          <a:xfrm>
            <a:off x="6296584" y="2030355"/>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E6A84DD7-03E1-F196-4232-4133E2D0B3E4}"/>
              </a:ext>
            </a:extLst>
          </p:cNvPr>
          <p:cNvSpPr txBox="1">
            <a:spLocks/>
          </p:cNvSpPr>
          <p:nvPr/>
        </p:nvSpPr>
        <p:spPr>
          <a:xfrm>
            <a:off x="584200" y="1453376"/>
            <a:ext cx="5441528"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22" name="TextBox 21">
            <a:extLst>
              <a:ext uri="{FF2B5EF4-FFF2-40B4-BE49-F238E27FC236}">
                <a16:creationId xmlns:a16="http://schemas.microsoft.com/office/drawing/2014/main" id="{A2FFBCC0-67EE-0B55-3DA5-C2A92296D922}"/>
              </a:ext>
            </a:extLst>
          </p:cNvPr>
          <p:cNvSpPr txBox="1">
            <a:spLocks/>
          </p:cNvSpPr>
          <p:nvPr/>
        </p:nvSpPr>
        <p:spPr>
          <a:xfrm>
            <a:off x="6165572" y="1441764"/>
            <a:ext cx="54838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3" name="TextBox 2">
            <a:extLst>
              <a:ext uri="{FF2B5EF4-FFF2-40B4-BE49-F238E27FC236}">
                <a16:creationId xmlns:a16="http://schemas.microsoft.com/office/drawing/2014/main" id="{0DDFFB95-16AA-62C7-B026-585B0262A436}"/>
              </a:ext>
            </a:extLst>
          </p:cNvPr>
          <p:cNvSpPr txBox="1"/>
          <p:nvPr/>
        </p:nvSpPr>
        <p:spPr>
          <a:xfrm>
            <a:off x="6296584" y="1803520"/>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5" name="TextBox 4">
            <a:extLst>
              <a:ext uri="{FF2B5EF4-FFF2-40B4-BE49-F238E27FC236}">
                <a16:creationId xmlns:a16="http://schemas.microsoft.com/office/drawing/2014/main" id="{6A1CA196-6064-4E05-DE52-F3153BB53C65}"/>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AEB08DB3-D70C-BAB4-A0E4-E943450375DA}"/>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custDataLst>
      <p:tags r:id="rId1"/>
    </p:custDataLst>
    <p:extLst>
      <p:ext uri="{BB962C8B-B14F-4D97-AF65-F5344CB8AC3E}">
        <p14:creationId xmlns:p14="http://schemas.microsoft.com/office/powerpoint/2010/main" val="465170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66585-1872-38E3-9062-7F4FEBF94E4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7CF9BE6-0314-C79A-6E5A-0026EA332D96}"/>
              </a:ext>
            </a:extLst>
          </p:cNvPr>
          <p:cNvSpPr>
            <a:spLocks noGrp="1"/>
          </p:cNvSpPr>
          <p:nvPr>
            <p:ph type="title"/>
          </p:nvPr>
        </p:nvSpPr>
        <p:spPr>
          <a:xfrm>
            <a:off x="588963" y="315692"/>
            <a:ext cx="11017250" cy="748880"/>
          </a:xfrm>
        </p:spPr>
        <p:txBody>
          <a:bodyPr>
            <a:noAutofit/>
          </a:bodyPr>
          <a:lstStyle/>
          <a:p>
            <a:r>
              <a:rPr lang="en-US" sz="2800" noProof="0" dirty="0"/>
              <a:t>Key Deliverables</a:t>
            </a:r>
            <a:br>
              <a:rPr lang="en-US" sz="3200" noProof="0" dirty="0"/>
            </a:br>
            <a:r>
              <a:rPr lang="en-US" sz="1800" noProof="0" dirty="0">
                <a:solidFill>
                  <a:schemeClr val="tx1"/>
                </a:solidFill>
              </a:rPr>
              <a:t>Microsoft Sentinel Deployment and Migrations</a:t>
            </a:r>
            <a:br>
              <a:rPr lang="en-US" sz="3200" noProof="0" dirty="0"/>
            </a:br>
            <a:br>
              <a:rPr lang="en-US" sz="3200" noProof="0" dirty="0"/>
            </a:br>
            <a:endParaRPr lang="en-US" sz="3000" noProof="0" dirty="0"/>
          </a:p>
        </p:txBody>
      </p:sp>
      <p:sp>
        <p:nvSpPr>
          <p:cNvPr id="8" name="Rounded Rectangle 55">
            <a:extLst>
              <a:ext uri="{FF2B5EF4-FFF2-40B4-BE49-F238E27FC236}">
                <a16:creationId xmlns:a16="http://schemas.microsoft.com/office/drawing/2014/main" id="{C3F4E46D-BAE1-F6AD-2FA9-4F6D6ADE7419}"/>
              </a:ext>
              <a:ext uri="{C183D7F6-B498-43B3-948B-1728B52AA6E4}">
                <adec:decorative xmlns:adec="http://schemas.microsoft.com/office/drawing/2017/decorative" val="1"/>
              </a:ext>
            </a:extLst>
          </p:cNvPr>
          <p:cNvSpPr/>
          <p:nvPr/>
        </p:nvSpPr>
        <p:spPr bwMode="auto">
          <a:xfrm>
            <a:off x="577993" y="1250079"/>
            <a:ext cx="2448877" cy="4920647"/>
          </a:xfrm>
          <a:prstGeom prst="roundRect">
            <a:avLst>
              <a:gd name="adj" fmla="val 3807"/>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9" name="Content Placeholder 4">
            <a:extLst>
              <a:ext uri="{FF2B5EF4-FFF2-40B4-BE49-F238E27FC236}">
                <a16:creationId xmlns:a16="http://schemas.microsoft.com/office/drawing/2014/main" id="{C511E774-84ED-FA62-51C5-E64C64E8A070}"/>
              </a:ext>
            </a:extLst>
          </p:cNvPr>
          <p:cNvSpPr txBox="1">
            <a:spLocks/>
          </p:cNvSpPr>
          <p:nvPr/>
        </p:nvSpPr>
        <p:spPr>
          <a:xfrm>
            <a:off x="577993" y="1696977"/>
            <a:ext cx="2448877" cy="507831"/>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00000"/>
              </a:lnSpc>
              <a:spcBef>
                <a:spcPts val="0"/>
              </a:spcBef>
              <a:spcAft>
                <a:spcPts val="600"/>
              </a:spcAft>
              <a:buSzTx/>
              <a:buFont typeface="Wingdings" panose="05000000000000000000" pitchFamily="2" charset="2"/>
              <a:buChar char="ü"/>
              <a:defRPr/>
            </a:pPr>
            <a:r>
              <a:rPr lang="en-US" sz="1200" noProof="0" dirty="0"/>
              <a:t>Sentinel migration and acceleration</a:t>
            </a:r>
          </a:p>
        </p:txBody>
      </p:sp>
      <p:sp>
        <p:nvSpPr>
          <p:cNvPr id="19" name="TextBox 18">
            <a:extLst>
              <a:ext uri="{FF2B5EF4-FFF2-40B4-BE49-F238E27FC236}">
                <a16:creationId xmlns:a16="http://schemas.microsoft.com/office/drawing/2014/main" id="{5AF8DB2B-219F-ED6E-3496-976B9AFB4E4B}"/>
              </a:ext>
            </a:extLst>
          </p:cNvPr>
          <p:cNvSpPr txBox="1"/>
          <p:nvPr/>
        </p:nvSpPr>
        <p:spPr>
          <a:xfrm>
            <a:off x="3223419" y="1356900"/>
            <a:ext cx="4047332" cy="4483279"/>
          </a:xfrm>
          <a:prstGeom prst="rect">
            <a:avLst/>
          </a:prstGeom>
          <a:noFill/>
        </p:spPr>
        <p:txBody>
          <a:bodyPr wrap="square">
            <a:spAutoFit/>
          </a:bodyPr>
          <a:lstStyle/>
          <a:p>
            <a:pPr marL="0" lvl="1">
              <a:spcAft>
                <a:spcPts val="600"/>
              </a:spcAft>
              <a:defRPr/>
            </a:pPr>
            <a:r>
              <a:rPr lang="en-US" sz="1600" kern="0" noProof="0" dirty="0">
                <a:solidFill>
                  <a:schemeClr val="tx2"/>
                </a:solidFill>
                <a:latin typeface="+mj-lt"/>
              </a:rPr>
              <a:t>Acceleration and Greenfield deployments</a:t>
            </a:r>
          </a:p>
          <a:p>
            <a:pPr marL="231775" lvl="1" indent="-231775">
              <a:spcAft>
                <a:spcPts val="200"/>
              </a:spcAft>
              <a:buFont typeface="+mj-lt"/>
              <a:buAutoNum type="arabicPeriod"/>
              <a:defRPr/>
            </a:pPr>
            <a:r>
              <a:rPr lang="en-US" sz="1400" kern="0" noProof="0" dirty="0">
                <a:solidFill>
                  <a:schemeClr val="tx2"/>
                </a:solidFill>
                <a:latin typeface="+mj-lt"/>
              </a:rPr>
              <a:t>Planning and access review</a:t>
            </a:r>
          </a:p>
          <a:p>
            <a:pPr marL="441325" marR="0" lvl="2" indent="-128588" fontAlgn="auto">
              <a:spcAft>
                <a:spcPts val="200"/>
              </a:spcAft>
              <a:buClrTx/>
              <a:buSzTx/>
              <a:buFont typeface="Arial" panose="020B0604020202020204" pitchFamily="34" charset="0"/>
              <a:buChar char="•"/>
              <a:tabLst/>
              <a:defRPr/>
            </a:pPr>
            <a:r>
              <a:rPr lang="en-US" sz="1200" kern="0" noProof="0" dirty="0"/>
              <a:t>Review prerequisites</a:t>
            </a:r>
          </a:p>
          <a:p>
            <a:pPr marL="441325" marR="0" lvl="2" indent="-128588" fontAlgn="auto">
              <a:spcAft>
                <a:spcPts val="600"/>
              </a:spcAft>
              <a:buClrTx/>
              <a:buSzTx/>
              <a:buFont typeface="Arial" panose="020B0604020202020204" pitchFamily="34" charset="0"/>
              <a:buChar char="•"/>
              <a:tabLst/>
              <a:defRPr/>
            </a:pPr>
            <a:r>
              <a:rPr lang="en-US" sz="1200" kern="0" noProof="0" dirty="0"/>
              <a:t>Planning</a:t>
            </a:r>
          </a:p>
          <a:p>
            <a:pPr marL="225425" lvl="1" indent="-225425">
              <a:spcAft>
                <a:spcPts val="200"/>
              </a:spcAft>
              <a:buFont typeface="+mj-lt"/>
              <a:buAutoNum type="arabicPeriod" startAt="2"/>
              <a:defRPr/>
            </a:pPr>
            <a:r>
              <a:rPr lang="en-US" sz="1400" kern="0" noProof="0" dirty="0">
                <a:solidFill>
                  <a:schemeClr val="tx2"/>
                </a:solidFill>
                <a:latin typeface="+mj-lt"/>
              </a:rPr>
              <a:t>Scope</a:t>
            </a:r>
          </a:p>
          <a:p>
            <a:pPr marL="441325" lvl="2" indent="-128588">
              <a:spcAft>
                <a:spcPts val="600"/>
              </a:spcAft>
              <a:buFont typeface="Arial" panose="020B0604020202020204" pitchFamily="34" charset="0"/>
              <a:buChar char="•"/>
              <a:tabLst>
                <a:tab pos="441325" algn="l"/>
              </a:tabLst>
              <a:defRPr/>
            </a:pPr>
            <a:r>
              <a:rPr lang="en-US" sz="1200" kern="0" noProof="0" dirty="0"/>
              <a:t>Review on the scope, tier, and data retention</a:t>
            </a:r>
          </a:p>
          <a:p>
            <a:pPr marL="231775" lvl="1" indent="-231775">
              <a:spcAft>
                <a:spcPts val="200"/>
              </a:spcAft>
              <a:buFont typeface="+mj-lt"/>
              <a:buAutoNum type="arabicPeriod" startAt="3"/>
              <a:defRPr/>
            </a:pPr>
            <a:r>
              <a:rPr lang="en-US" sz="1400" kern="0" noProof="0" dirty="0">
                <a:solidFill>
                  <a:schemeClr val="tx2"/>
                </a:solidFill>
                <a:latin typeface="+mj-lt"/>
              </a:rPr>
              <a:t>Deployment</a:t>
            </a:r>
          </a:p>
          <a:p>
            <a:pPr marL="441325" lvl="2" indent="-128588">
              <a:spcAft>
                <a:spcPts val="200"/>
              </a:spcAft>
              <a:buFont typeface="Arial" panose="020B0604020202020204" pitchFamily="34" charset="0"/>
              <a:buChar char="•"/>
              <a:tabLst>
                <a:tab pos="342900" algn="l"/>
              </a:tabLst>
              <a:defRPr/>
            </a:pPr>
            <a:r>
              <a:rPr lang="en-US" sz="1200" kern="0" noProof="0" dirty="0"/>
              <a:t>Log Analytics</a:t>
            </a:r>
          </a:p>
          <a:p>
            <a:pPr marL="441325" lvl="2" indent="-128588">
              <a:spcAft>
                <a:spcPts val="200"/>
              </a:spcAft>
              <a:buFont typeface="Arial" panose="020B0604020202020204" pitchFamily="34" charset="0"/>
              <a:buChar char="•"/>
              <a:tabLst>
                <a:tab pos="342900" algn="l"/>
              </a:tabLst>
              <a:defRPr/>
            </a:pPr>
            <a:r>
              <a:rPr lang="en-US" sz="1200" kern="0" noProof="0" dirty="0"/>
              <a:t>Adding sentinel instance to log analytics</a:t>
            </a:r>
          </a:p>
          <a:p>
            <a:pPr marL="441325" lvl="2" indent="-128588">
              <a:spcAft>
                <a:spcPts val="200"/>
              </a:spcAft>
              <a:buFont typeface="Arial" panose="020B0604020202020204" pitchFamily="34" charset="0"/>
              <a:buChar char="•"/>
              <a:tabLst>
                <a:tab pos="342900" algn="l"/>
              </a:tabLst>
              <a:defRPr/>
            </a:pPr>
            <a:r>
              <a:rPr lang="en-US" sz="1200" kern="0" noProof="0" dirty="0"/>
              <a:t>Configure the data connectors in the scope</a:t>
            </a:r>
          </a:p>
          <a:p>
            <a:pPr marL="441325" lvl="2" indent="-128588">
              <a:spcAft>
                <a:spcPts val="200"/>
              </a:spcAft>
              <a:buFont typeface="Arial" panose="020B0604020202020204" pitchFamily="34" charset="0"/>
              <a:buChar char="•"/>
              <a:tabLst>
                <a:tab pos="342900" algn="l"/>
              </a:tabLst>
              <a:defRPr/>
            </a:pPr>
            <a:r>
              <a:rPr lang="en-US" sz="1200" kern="0" noProof="0" dirty="0"/>
              <a:t>Setup the retention period</a:t>
            </a:r>
          </a:p>
          <a:p>
            <a:pPr marL="441325" lvl="2" indent="-128588">
              <a:spcAft>
                <a:spcPts val="600"/>
              </a:spcAft>
              <a:buFont typeface="Arial" panose="020B0604020202020204" pitchFamily="34" charset="0"/>
              <a:buChar char="•"/>
              <a:tabLst>
                <a:tab pos="342900" algn="l"/>
              </a:tabLst>
              <a:defRPr/>
            </a:pPr>
            <a:r>
              <a:rPr lang="en-US" sz="1200" kern="0" noProof="0" dirty="0"/>
              <a:t>Enable Microsoft Sentinel Datalake</a:t>
            </a:r>
          </a:p>
          <a:p>
            <a:pPr marL="231775" lvl="1" indent="-231775">
              <a:spcAft>
                <a:spcPts val="200"/>
              </a:spcAft>
              <a:buFont typeface="+mj-lt"/>
              <a:buAutoNum type="arabicPeriod" startAt="4"/>
              <a:defRPr/>
            </a:pPr>
            <a:r>
              <a:rPr lang="en-US" sz="1400" kern="0" noProof="0" dirty="0">
                <a:solidFill>
                  <a:schemeClr val="tx2"/>
                </a:solidFill>
                <a:latin typeface="+mj-lt"/>
              </a:rPr>
              <a:t>Automation</a:t>
            </a:r>
          </a:p>
          <a:p>
            <a:pPr marL="449263" lvl="2" indent="-136525">
              <a:spcAft>
                <a:spcPts val="600"/>
              </a:spcAft>
              <a:buFont typeface="Arial" panose="020B0604020202020204" pitchFamily="34" charset="0"/>
              <a:buChar char="•"/>
              <a:tabLst>
                <a:tab pos="320675" algn="l"/>
                <a:tab pos="342900" algn="l"/>
              </a:tabLst>
              <a:defRPr/>
            </a:pPr>
            <a:r>
              <a:rPr lang="en-US" sz="1200" kern="0" noProof="0" dirty="0"/>
              <a:t>Deploy Factory standard playbooks, workbooks and watchlist</a:t>
            </a:r>
          </a:p>
          <a:p>
            <a:pPr marL="231775" lvl="1" indent="-231775">
              <a:spcAft>
                <a:spcPts val="200"/>
              </a:spcAft>
              <a:buFont typeface="+mj-lt"/>
              <a:buAutoNum type="arabicPeriod" startAt="5"/>
              <a:defRPr/>
            </a:pPr>
            <a:r>
              <a:rPr lang="en-US" sz="1400" kern="0" noProof="0" dirty="0">
                <a:solidFill>
                  <a:schemeClr val="tx2"/>
                </a:solidFill>
                <a:latin typeface="+mj-lt"/>
              </a:rPr>
              <a:t>Validation</a:t>
            </a:r>
          </a:p>
          <a:p>
            <a:pPr marL="449263" lvl="2" indent="-136525">
              <a:spcAft>
                <a:spcPts val="200"/>
              </a:spcAft>
              <a:buFont typeface="Arial" panose="020B0604020202020204" pitchFamily="34" charset="0"/>
              <a:buChar char="•"/>
              <a:defRPr/>
            </a:pPr>
            <a:r>
              <a:rPr lang="en-US" sz="1200" kern="0" noProof="0" dirty="0"/>
              <a:t>Validate data flow and connectors</a:t>
            </a:r>
          </a:p>
          <a:p>
            <a:pPr marL="449263" lvl="2" indent="-136525">
              <a:spcAft>
                <a:spcPts val="200"/>
              </a:spcAft>
              <a:buFont typeface="Arial" panose="020B0604020202020204" pitchFamily="34" charset="0"/>
              <a:buChar char="•"/>
              <a:defRPr/>
            </a:pPr>
            <a:r>
              <a:rPr lang="en-US" sz="1200" kern="0" noProof="0" dirty="0"/>
              <a:t>Validate rules, workbooks, notifications </a:t>
            </a:r>
            <a:br>
              <a:rPr lang="en-US" sz="1200" kern="0" noProof="0" dirty="0"/>
            </a:br>
            <a:r>
              <a:rPr lang="en-US" sz="1200" kern="0" noProof="0" dirty="0"/>
              <a:t>as needed</a:t>
            </a:r>
            <a:endParaRPr lang="en-US" sz="1100" kern="0" noProof="0" dirty="0"/>
          </a:p>
        </p:txBody>
      </p:sp>
      <p:sp>
        <p:nvSpPr>
          <p:cNvPr id="20" name="TextBox 19">
            <a:extLst>
              <a:ext uri="{FF2B5EF4-FFF2-40B4-BE49-F238E27FC236}">
                <a16:creationId xmlns:a16="http://schemas.microsoft.com/office/drawing/2014/main" id="{82BF3276-E013-192E-5B3C-8F112FDC0155}"/>
              </a:ext>
            </a:extLst>
          </p:cNvPr>
          <p:cNvSpPr txBox="1"/>
          <p:nvPr/>
        </p:nvSpPr>
        <p:spPr>
          <a:xfrm>
            <a:off x="7472362" y="1356900"/>
            <a:ext cx="4047332" cy="4539704"/>
          </a:xfrm>
          <a:prstGeom prst="rect">
            <a:avLst/>
          </a:prstGeom>
          <a:noFill/>
        </p:spPr>
        <p:txBody>
          <a:bodyPr wrap="square">
            <a:spAutoFit/>
          </a:bodyPr>
          <a:lstStyle/>
          <a:p>
            <a:pPr marL="0" lvl="1">
              <a:spcAft>
                <a:spcPts val="600"/>
              </a:spcAft>
              <a:defRPr/>
            </a:pPr>
            <a:r>
              <a:rPr lang="en-US" sz="1600" kern="0" noProof="0" dirty="0">
                <a:solidFill>
                  <a:schemeClr val="tx2"/>
                </a:solidFill>
                <a:latin typeface="+mj-lt"/>
              </a:rPr>
              <a:t>Splunk/QRadar to Sentinel migration</a:t>
            </a:r>
          </a:p>
          <a:p>
            <a:pPr marL="231775" lvl="1" indent="-231775">
              <a:spcAft>
                <a:spcPts val="200"/>
              </a:spcAft>
              <a:buFont typeface="+mj-lt"/>
              <a:buAutoNum type="arabicPeriod"/>
              <a:defRPr/>
            </a:pPr>
            <a:r>
              <a:rPr lang="en-US" sz="1400" kern="0" noProof="0" dirty="0">
                <a:solidFill>
                  <a:schemeClr val="tx2"/>
                </a:solidFill>
                <a:latin typeface="+mj-lt"/>
              </a:rPr>
              <a:t>Planning and access review</a:t>
            </a:r>
          </a:p>
          <a:p>
            <a:pPr marL="476250" marR="0" lvl="2" indent="-133350" fontAlgn="auto">
              <a:spcAft>
                <a:spcPts val="200"/>
              </a:spcAft>
              <a:buClrTx/>
              <a:buSzTx/>
              <a:buFont typeface="Arial" panose="020B0604020202020204" pitchFamily="34" charset="0"/>
              <a:buChar char="•"/>
              <a:tabLst/>
              <a:defRPr/>
            </a:pPr>
            <a:r>
              <a:rPr lang="en-US" sz="1200" kern="0" noProof="0" dirty="0"/>
              <a:t>Review prerequisites</a:t>
            </a:r>
          </a:p>
          <a:p>
            <a:pPr marL="476250" marR="0" lvl="2" indent="-133350" fontAlgn="auto">
              <a:spcAft>
                <a:spcPts val="600"/>
              </a:spcAft>
              <a:buClrTx/>
              <a:buSzTx/>
              <a:buFont typeface="Arial" panose="020B0604020202020204" pitchFamily="34" charset="0"/>
              <a:buChar char="•"/>
              <a:tabLst/>
              <a:defRPr/>
            </a:pPr>
            <a:r>
              <a:rPr lang="en-US" sz="1200" kern="0" noProof="0" dirty="0"/>
              <a:t>Planning</a:t>
            </a:r>
          </a:p>
          <a:p>
            <a:pPr marL="225425" lvl="1" indent="-225425">
              <a:spcAft>
                <a:spcPts val="200"/>
              </a:spcAft>
              <a:buFont typeface="+mj-lt"/>
              <a:buAutoNum type="arabicPeriod" startAt="2"/>
              <a:defRPr/>
            </a:pPr>
            <a:r>
              <a:rPr lang="en-US" sz="1400" kern="0" noProof="0" dirty="0">
                <a:solidFill>
                  <a:schemeClr val="tx2"/>
                </a:solidFill>
                <a:latin typeface="+mj-lt"/>
              </a:rPr>
              <a:t>Scope</a:t>
            </a:r>
          </a:p>
          <a:p>
            <a:pPr marL="476250" lvl="2" indent="-133350">
              <a:spcAft>
                <a:spcPts val="600"/>
              </a:spcAft>
              <a:buFont typeface="Arial" panose="020B0604020202020204" pitchFamily="34" charset="0"/>
              <a:buChar char="•"/>
              <a:defRPr/>
            </a:pPr>
            <a:r>
              <a:rPr lang="en-US" sz="1200" kern="0" noProof="0" dirty="0"/>
              <a:t>Review on the scope, tier, and data </a:t>
            </a:r>
            <a:br>
              <a:rPr lang="en-US" sz="1200" kern="0" noProof="0" dirty="0"/>
            </a:br>
            <a:r>
              <a:rPr lang="en-US" sz="1200" kern="0" noProof="0" dirty="0"/>
              <a:t>retention</a:t>
            </a:r>
          </a:p>
          <a:p>
            <a:pPr marL="231775" lvl="1" indent="-231775">
              <a:spcAft>
                <a:spcPts val="200"/>
              </a:spcAft>
              <a:buFont typeface="+mj-lt"/>
              <a:buAutoNum type="arabicPeriod" startAt="3"/>
              <a:defRPr/>
            </a:pPr>
            <a:r>
              <a:rPr lang="en-US" sz="1400" kern="0" noProof="0" dirty="0">
                <a:solidFill>
                  <a:schemeClr val="tx2"/>
                </a:solidFill>
                <a:latin typeface="+mj-lt"/>
              </a:rPr>
              <a:t>Rules migration (SIEM Experience)</a:t>
            </a:r>
          </a:p>
          <a:p>
            <a:pPr marL="482600" lvl="2" indent="-133350">
              <a:spcAft>
                <a:spcPts val="200"/>
              </a:spcAft>
              <a:buFont typeface="Arial" panose="020B0604020202020204" pitchFamily="34" charset="0"/>
              <a:buChar char="•"/>
              <a:defRPr/>
            </a:pPr>
            <a:r>
              <a:rPr lang="en-US" sz="1200" kern="0" noProof="0" dirty="0"/>
              <a:t>Export the Splunk/QRadar Rules (customer owned)</a:t>
            </a:r>
          </a:p>
          <a:p>
            <a:pPr marL="482600" lvl="2" indent="-133350">
              <a:spcAft>
                <a:spcPts val="600"/>
              </a:spcAft>
              <a:buFont typeface="Arial" panose="020B0604020202020204" pitchFamily="34" charset="0"/>
              <a:buChar char="•"/>
              <a:defRPr/>
            </a:pPr>
            <a:r>
              <a:rPr lang="en-US" sz="1200" kern="0" noProof="0" dirty="0"/>
              <a:t>Import into Sentinel using SIEM experience</a:t>
            </a:r>
          </a:p>
          <a:p>
            <a:pPr marL="231775" lvl="1" indent="-231775">
              <a:spcAft>
                <a:spcPts val="200"/>
              </a:spcAft>
              <a:buFont typeface="+mj-lt"/>
              <a:buAutoNum type="arabicPeriod" startAt="4"/>
              <a:defRPr/>
            </a:pPr>
            <a:r>
              <a:rPr lang="en-US" sz="1400" kern="0" noProof="0" dirty="0">
                <a:solidFill>
                  <a:schemeClr val="tx2"/>
                </a:solidFill>
                <a:latin typeface="+mj-lt"/>
              </a:rPr>
              <a:t>Solution deployment</a:t>
            </a:r>
          </a:p>
          <a:p>
            <a:pPr marL="482600" lvl="2" indent="-139700">
              <a:spcAft>
                <a:spcPts val="600"/>
              </a:spcAft>
              <a:buFont typeface="Arial" panose="020B0604020202020204" pitchFamily="34" charset="0"/>
              <a:buChar char="•"/>
              <a:defRPr/>
            </a:pPr>
            <a:r>
              <a:rPr lang="en-US" sz="1200" kern="0" noProof="0" dirty="0"/>
              <a:t>Deploy additional data connectors</a:t>
            </a:r>
          </a:p>
          <a:p>
            <a:pPr marL="231775" lvl="1" indent="-231775">
              <a:spcAft>
                <a:spcPts val="200"/>
              </a:spcAft>
              <a:buFont typeface="+mj-lt"/>
              <a:buAutoNum type="arabicPeriod" startAt="5"/>
              <a:defRPr/>
            </a:pPr>
            <a:r>
              <a:rPr lang="en-US" sz="1400" kern="0" noProof="0" dirty="0">
                <a:solidFill>
                  <a:schemeClr val="tx2"/>
                </a:solidFill>
                <a:latin typeface="+mj-lt"/>
              </a:rPr>
              <a:t>SOAR</a:t>
            </a:r>
          </a:p>
          <a:p>
            <a:pPr marL="482600" lvl="2" indent="-139700">
              <a:spcAft>
                <a:spcPts val="600"/>
              </a:spcAft>
              <a:buFont typeface="Arial" panose="020B0604020202020204" pitchFamily="34" charset="0"/>
              <a:buChar char="•"/>
              <a:defRPr/>
            </a:pPr>
            <a:r>
              <a:rPr lang="en-US" sz="1200" kern="0" noProof="0" dirty="0"/>
              <a:t>Deploy automation playbooks</a:t>
            </a:r>
          </a:p>
          <a:p>
            <a:pPr marL="231775" lvl="1" indent="-231775">
              <a:spcAft>
                <a:spcPts val="200"/>
              </a:spcAft>
              <a:buFont typeface="+mj-lt"/>
              <a:buAutoNum type="arabicPeriod" startAt="5"/>
              <a:defRPr/>
            </a:pPr>
            <a:r>
              <a:rPr lang="en-US" sz="1400" kern="0" noProof="0" dirty="0">
                <a:solidFill>
                  <a:schemeClr val="tx2"/>
                </a:solidFill>
                <a:latin typeface="+mj-lt"/>
              </a:rPr>
              <a:t>Validation</a:t>
            </a:r>
          </a:p>
          <a:p>
            <a:pPr marL="482600" lvl="2" indent="-139700">
              <a:spcAft>
                <a:spcPts val="200"/>
              </a:spcAft>
              <a:buFont typeface="Arial" panose="020B0604020202020204" pitchFamily="34" charset="0"/>
              <a:buChar char="•"/>
              <a:defRPr/>
            </a:pPr>
            <a:r>
              <a:rPr lang="en-US" sz="1200" kern="0" noProof="0" dirty="0"/>
              <a:t>Validate data flow and connectors</a:t>
            </a:r>
          </a:p>
          <a:p>
            <a:pPr marL="482600" lvl="2" indent="-139700">
              <a:spcAft>
                <a:spcPts val="200"/>
              </a:spcAft>
              <a:buFont typeface="Arial" panose="020B0604020202020204" pitchFamily="34" charset="0"/>
              <a:buChar char="•"/>
              <a:defRPr/>
            </a:pPr>
            <a:r>
              <a:rPr lang="en-US" sz="1200" kern="0" noProof="0" dirty="0"/>
              <a:t>Validate rules, workbooks, notifications </a:t>
            </a:r>
            <a:br>
              <a:rPr lang="en-US" sz="1200" kern="0" noProof="0" dirty="0"/>
            </a:br>
            <a:r>
              <a:rPr lang="en-US" sz="1200" kern="0" noProof="0" dirty="0"/>
              <a:t>as needed</a:t>
            </a:r>
            <a:endParaRPr lang="en-US" sz="1050" kern="0" noProof="0" dirty="0"/>
          </a:p>
        </p:txBody>
      </p:sp>
      <p:cxnSp>
        <p:nvCxnSpPr>
          <p:cNvPr id="3" name="Straight Connector 2">
            <a:extLst>
              <a:ext uri="{FF2B5EF4-FFF2-40B4-BE49-F238E27FC236}">
                <a16:creationId xmlns:a16="http://schemas.microsoft.com/office/drawing/2014/main" id="{00E36835-D393-85EA-93A3-4CB6507EDAA3}"/>
              </a:ext>
            </a:extLst>
          </p:cNvPr>
          <p:cNvCxnSpPr>
            <a:cxnSpLocks/>
          </p:cNvCxnSpPr>
          <p:nvPr/>
        </p:nvCxnSpPr>
        <p:spPr>
          <a:xfrm>
            <a:off x="7371556" y="1408272"/>
            <a:ext cx="0" cy="461010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25680B6-3B3A-D19E-AA2A-DDDB23A41560}"/>
              </a:ext>
            </a:extLst>
          </p:cNvPr>
          <p:cNvSpPr txBox="1"/>
          <p:nvPr/>
        </p:nvSpPr>
        <p:spPr>
          <a:xfrm>
            <a:off x="647910" y="1308937"/>
            <a:ext cx="2309042"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10" name="Graphic 23">
            <a:extLst>
              <a:ext uri="{FF2B5EF4-FFF2-40B4-BE49-F238E27FC236}">
                <a16:creationId xmlns:a16="http://schemas.microsoft.com/office/drawing/2014/main" id="{057A1B3C-0729-DCCA-8970-EAE0FD5B4FE1}"/>
              </a:ext>
              <a:ext uri="{C183D7F6-B498-43B3-948B-1728B52AA6E4}">
                <adec:decorative xmlns:adec="http://schemas.microsoft.com/office/drawing/2017/decorative" val="1"/>
              </a:ext>
            </a:extLst>
          </p:cNvPr>
          <p:cNvSpPr/>
          <p:nvPr/>
        </p:nvSpPr>
        <p:spPr>
          <a:xfrm>
            <a:off x="647910" y="178106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4F62678E-2AA3-C454-A0F3-3D60D83C59D3}"/>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15" name="Group 14">
            <a:extLst>
              <a:ext uri="{FF2B5EF4-FFF2-40B4-BE49-F238E27FC236}">
                <a16:creationId xmlns:a16="http://schemas.microsoft.com/office/drawing/2014/main" id="{9C5EDBAA-D6A7-4B2A-447F-430E0CE70332}"/>
              </a:ext>
            </a:extLst>
          </p:cNvPr>
          <p:cNvGrpSpPr/>
          <p:nvPr/>
        </p:nvGrpSpPr>
        <p:grpSpPr>
          <a:xfrm>
            <a:off x="3104434" y="1250080"/>
            <a:ext cx="8166681" cy="4920648"/>
            <a:chOff x="3122613" y="2481106"/>
            <a:chExt cx="8521464" cy="4920648"/>
          </a:xfrm>
        </p:grpSpPr>
        <p:grpSp>
          <p:nvGrpSpPr>
            <p:cNvPr id="5" name="Group 4">
              <a:extLst>
                <a:ext uri="{FF2B5EF4-FFF2-40B4-BE49-F238E27FC236}">
                  <a16:creationId xmlns:a16="http://schemas.microsoft.com/office/drawing/2014/main" id="{2EBA58CA-74C4-AB0E-8D52-40BE54AA4B7B}"/>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7" name="Rectangle: Rounded Corners 6">
                <a:extLst>
                  <a:ext uri="{FF2B5EF4-FFF2-40B4-BE49-F238E27FC236}">
                    <a16:creationId xmlns:a16="http://schemas.microsoft.com/office/drawing/2014/main" id="{FF4259DD-084F-022E-5567-8D34C022ED82}"/>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ectangle: Rounded Corners 12">
                <a:extLst>
                  <a:ext uri="{FF2B5EF4-FFF2-40B4-BE49-F238E27FC236}">
                    <a16:creationId xmlns:a16="http://schemas.microsoft.com/office/drawing/2014/main" id="{3C444CD5-55E6-50D9-4547-B5ABAA1A0DE4}"/>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14" name="Arrow: Bent 13">
              <a:extLst>
                <a:ext uri="{FF2B5EF4-FFF2-40B4-BE49-F238E27FC236}">
                  <a16:creationId xmlns:a16="http://schemas.microsoft.com/office/drawing/2014/main" id="{547DC20A-3AF9-963C-F1C0-FF2D9137A86A}"/>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1340907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308DD-0DA5-B1DE-A4CB-E0753879B7FE}"/>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24BD9C5A-AA62-0503-79A2-C2706E8A52FD}"/>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6D71E8AC-9626-3DBA-6283-46661BF56BC7}"/>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17407A70-0585-CC68-5A32-92F25BB142B3}"/>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81D9E848-91D7-81E1-570E-90D4DA0CC7E9}"/>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56F3C3DA-AB0E-023A-8FC0-D63FEC11B608}"/>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CC5F838E-FC97-4F79-F68E-6C045EA31432}"/>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3B379CEB-4462-054A-2A26-F36CD8934C79}"/>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C3B3E8F0-E8DB-444F-491F-F59024F5020D}"/>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21885BBD-98AC-8DDA-FAC3-8062172E64A4}"/>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E41A08DE-86ED-1DB6-BC89-EFCA3DFB4F48}"/>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ECE1E406-603D-9C30-0C9F-36F41C03EA89}"/>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2AECFA2C-2F5B-AE2B-32A0-0180EC842BD2}"/>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553C0E5E-06F6-8606-4450-089EDB21BB56}"/>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3C510F54-7159-6F8F-BC88-304731679DBD}"/>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0B621587-98CF-F4D9-60F0-94EDE3667970}"/>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2" name="Oval 171">
                  <a:extLst>
                    <a:ext uri="{FF2B5EF4-FFF2-40B4-BE49-F238E27FC236}">
                      <a16:creationId xmlns:a16="http://schemas.microsoft.com/office/drawing/2014/main" id="{53976A35-0380-BE44-F053-6F7A13CD89C3}"/>
                    </a:ext>
                  </a:extLst>
                </p:cNvPr>
                <p:cNvSpPr>
                  <a:spLocks noChangeAspect="1"/>
                </p:cNvSpPr>
                <p:nvPr/>
              </p:nvSpPr>
              <p:spPr>
                <a:xfrm>
                  <a:off x="6240850" y="2518067"/>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E5008FA9-937F-D30A-8450-5BA06C4C98C1}"/>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63CE55FD-0E39-5A4A-FD59-6D51C5178C58}"/>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84D6ACA2-402F-00D1-918C-FA5725152AF5}"/>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C2F13A42-3B40-DCC2-86FE-0896B8F5A092}"/>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E4EEA1D2-E9FD-A46D-271F-F9BD98521B91}"/>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2CC9A875-CE1A-9200-D0DB-92FED573251F}"/>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AA01DEB1-6601-DE25-0E3D-EA6D9FDE89C8}"/>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90072030-3E18-288A-155B-0079DE871222}"/>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ED876C31-89DF-C50B-F90B-83C9B393D47B}"/>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33D104EA-7E22-CC48-103C-2CF462B16A8F}"/>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9E8B0055-99DB-50A2-3E42-6CA86C0BC190}"/>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9F74595D-46A5-C883-249D-C840400F1121}"/>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8532C419-4828-7D78-C786-7D96E7C03021}"/>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908485B3-0551-7F1B-9677-57E4AF84217E}"/>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07C1C824-2B08-F124-8E87-463D27B1688B}"/>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D90207AF-F78E-A69A-4014-2DA58ABDD99D}"/>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7D3612DF-11ED-BC65-AB23-AF8C7176AA92}"/>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FD0A21B0-EB68-D642-403E-83550690D5BD}"/>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01B69B9E-8768-0147-F39C-D54A5B5FB15C}"/>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7B7E9D9D-41C9-5D3E-B38C-0BAA51E066A3}"/>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1" name="TextBox 130">
            <a:extLst>
              <a:ext uri="{FF2B5EF4-FFF2-40B4-BE49-F238E27FC236}">
                <a16:creationId xmlns:a16="http://schemas.microsoft.com/office/drawing/2014/main" id="{28CC835B-C9FB-3494-AAC0-A8F521ED202E}"/>
              </a:ext>
            </a:extLst>
          </p:cNvPr>
          <p:cNvSpPr txBox="1"/>
          <p:nvPr/>
        </p:nvSpPr>
        <p:spPr>
          <a:xfrm>
            <a:off x="4471284" y="2102902"/>
            <a:ext cx="2118676" cy="461665"/>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Post-migration services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support (including +5 days Hypercare)</a:t>
            </a:r>
          </a:p>
        </p:txBody>
      </p:sp>
      <p:sp>
        <p:nvSpPr>
          <p:cNvPr id="132" name="TextBox 131">
            <a:extLst>
              <a:ext uri="{FF2B5EF4-FFF2-40B4-BE49-F238E27FC236}">
                <a16:creationId xmlns:a16="http://schemas.microsoft.com/office/drawing/2014/main" id="{B11A79BD-DF95-29FF-034E-5C6A089D0B63}"/>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92A5EF6C-992E-B756-E22F-BCAD2C92E49B}"/>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45D70AE6-4DD2-9293-132F-E64E0D782AF5}"/>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BBD2A93E-A462-77FD-90BE-543B53953096}"/>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6" name="TextBox 135">
            <a:extLst>
              <a:ext uri="{FF2B5EF4-FFF2-40B4-BE49-F238E27FC236}">
                <a16:creationId xmlns:a16="http://schemas.microsoft.com/office/drawing/2014/main" id="{75C2D780-3452-F4ED-852C-B9B5422CA53E}"/>
              </a:ext>
            </a:extLst>
          </p:cNvPr>
          <p:cNvSpPr txBox="1"/>
          <p:nvPr/>
        </p:nvSpPr>
        <p:spPr>
          <a:xfrm>
            <a:off x="4878310" y="2864494"/>
            <a:ext cx="121026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 of applications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for migration</a:t>
            </a:r>
          </a:p>
        </p:txBody>
      </p:sp>
      <p:sp>
        <p:nvSpPr>
          <p:cNvPr id="137" name="TextBox 136">
            <a:extLst>
              <a:ext uri="{FF2B5EF4-FFF2-40B4-BE49-F238E27FC236}">
                <a16:creationId xmlns:a16="http://schemas.microsoft.com/office/drawing/2014/main" id="{6245D72A-458A-FD2B-DAB2-ECC0B23D931B}"/>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76E49FD9-5288-628B-0C43-A753F9849358}"/>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296A5609-406A-C204-2E6D-79C73354DCBB}"/>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D81525E7-1883-A344-DBDC-9AB1C3AD3AC8}"/>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D934D387-EF3B-9864-9E8C-912214EF9D26}"/>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45B3ABA0-454C-D15F-B83C-4EF6A70999AE}"/>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3E7A325C-743B-AD08-3637-9AE03DA9AD14}"/>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B69C90F6-F663-0D8F-E7FF-AB998FFF4BAA}"/>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AFABDA14-196E-1E7F-BA83-5DE012A2E9AF}"/>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E65C1BE1-4E57-5364-2026-02C64D1CA426}"/>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B4CBE6C7-6533-F30B-34D0-FCE518BFFADA}"/>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22C7D6A9-B02B-0A86-3B0D-C65DDA946263}"/>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1" name="TextBox 150">
            <a:extLst>
              <a:ext uri="{FF2B5EF4-FFF2-40B4-BE49-F238E27FC236}">
                <a16:creationId xmlns:a16="http://schemas.microsoft.com/office/drawing/2014/main" id="{306BF642-004A-C93F-AD00-E6B3E021B7A6}"/>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156" name="Oval 155">
            <a:extLst>
              <a:ext uri="{FF2B5EF4-FFF2-40B4-BE49-F238E27FC236}">
                <a16:creationId xmlns:a16="http://schemas.microsoft.com/office/drawing/2014/main" id="{14B20C45-D06F-496D-4DD2-47C3CE612FBF}"/>
              </a:ext>
              <a:ext uri="{C183D7F6-B498-43B3-948B-1728B52AA6E4}">
                <adec:decorative xmlns:adec="http://schemas.microsoft.com/office/drawing/2017/decorative" val="1"/>
              </a:ext>
            </a:extLst>
          </p:cNvPr>
          <p:cNvSpPr>
            <a:spLocks noChangeAspect="1"/>
          </p:cNvSpPr>
          <p:nvPr/>
        </p:nvSpPr>
        <p:spPr>
          <a:xfrm>
            <a:off x="8540303" y="5064192"/>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B7157A5C-B284-D2EF-BBF3-56F2B3BE3E5E}"/>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4FCC7FBB-47E7-8A38-CD9B-60DF87A02284}"/>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3B0C2BDC-98EA-5C15-DD9C-1923685009CF}"/>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D468CF02-E84D-27D1-EFEF-7B49CC5E4B8C}"/>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8CB670E8-E041-F245-A7D2-B50A6B433B4B}"/>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D91F8299-CA99-447D-EACB-D0A97E11600B}"/>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39CA5FE0-FD7B-B53C-B652-860A9A9838AC}"/>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05A4432E-2D64-9C13-02DD-EBCD0AD887AE}"/>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37B18508-6DB7-03F5-9F4F-0FAB7EDBA3A0}"/>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4FD2ED6A-1F52-F162-9464-0DC52CDF8D54}"/>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9" name="Title 61">
            <a:extLst>
              <a:ext uri="{FF2B5EF4-FFF2-40B4-BE49-F238E27FC236}">
                <a16:creationId xmlns:a16="http://schemas.microsoft.com/office/drawing/2014/main" id="{9AA9FEC5-9A2F-ECC2-9850-CDE86374BE84}"/>
              </a:ext>
            </a:extLst>
          </p:cNvPr>
          <p:cNvSpPr txBox="1">
            <a:spLocks/>
          </p:cNvSpPr>
          <p:nvPr/>
        </p:nvSpPr>
        <p:spPr>
          <a:xfrm>
            <a:off x="419100" y="419100"/>
            <a:ext cx="3162300" cy="1477328"/>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Secure Azure Cloud</a:t>
            </a:r>
          </a:p>
        </p:txBody>
      </p:sp>
      <p:sp>
        <p:nvSpPr>
          <p:cNvPr id="13" name="TextBox 12">
            <a:extLst>
              <a:ext uri="{FF2B5EF4-FFF2-40B4-BE49-F238E27FC236}">
                <a16:creationId xmlns:a16="http://schemas.microsoft.com/office/drawing/2014/main" id="{BAD8991B-4EAD-15BF-88C3-2E5746CC516E}"/>
              </a:ext>
            </a:extLst>
          </p:cNvPr>
          <p:cNvSpPr txBox="1"/>
          <p:nvPr/>
        </p:nvSpPr>
        <p:spPr>
          <a:xfrm>
            <a:off x="419100" y="2003966"/>
            <a:ext cx="3162300" cy="677108"/>
          </a:xfrm>
          <a:prstGeom prst="rect">
            <a:avLst/>
          </a:prstGeom>
          <a:noFill/>
        </p:spPr>
        <p:txBody>
          <a:bodyPr wrap="square" lIns="0" tIns="0" rIns="0" bIns="0">
            <a:noAutofit/>
          </a:bodyPr>
          <a:lstStyle/>
          <a:p>
            <a:r>
              <a:rPr lang="en-US" sz="2200" noProof="0" dirty="0">
                <a:solidFill>
                  <a:schemeClr val="bg1"/>
                </a:solidFill>
              </a:rPr>
              <a:t>Microsoft Sentinel</a:t>
            </a:r>
          </a:p>
        </p:txBody>
      </p:sp>
      <p:sp>
        <p:nvSpPr>
          <p:cNvPr id="17" name="TextBox 16">
            <a:extLst>
              <a:ext uri="{FF2B5EF4-FFF2-40B4-BE49-F238E27FC236}">
                <a16:creationId xmlns:a16="http://schemas.microsoft.com/office/drawing/2014/main" id="{98B0C2AD-4202-BF13-A650-02F74A1B296B}"/>
              </a:ext>
            </a:extLst>
          </p:cNvPr>
          <p:cNvSpPr txBox="1"/>
          <p:nvPr/>
        </p:nvSpPr>
        <p:spPr>
          <a:xfrm>
            <a:off x="9340637" y="5353683"/>
            <a:ext cx="2022990"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t>Sentinel deployment and migration</a:t>
            </a:r>
          </a:p>
        </p:txBody>
      </p:sp>
      <p:sp>
        <p:nvSpPr>
          <p:cNvPr id="21" name="TextBox 20">
            <a:extLst>
              <a:ext uri="{FF2B5EF4-FFF2-40B4-BE49-F238E27FC236}">
                <a16:creationId xmlns:a16="http://schemas.microsoft.com/office/drawing/2014/main" id="{D92950BF-3DFD-4C90-5339-F92EB06A0D3C}"/>
              </a:ext>
              <a:ext uri="{C183D7F6-B498-43B3-948B-1728B52AA6E4}">
                <adec:decorative xmlns:adec="http://schemas.microsoft.com/office/drawing/2017/decorative" val="1"/>
              </a:ext>
            </a:extLst>
          </p:cNvPr>
          <p:cNvSpPr txBox="1"/>
          <p:nvPr/>
        </p:nvSpPr>
        <p:spPr>
          <a:xfrm>
            <a:off x="7954810" y="5307019"/>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lgn="l">
              <a:defRPr/>
            </a:pPr>
            <a:r>
              <a:rPr lang="en-US" sz="1000" noProof="0" dirty="0"/>
              <a:t>Dev-test-deploy</a:t>
            </a:r>
          </a:p>
          <a:p>
            <a:pPr lvl="0" algn="l">
              <a:defRPr/>
            </a:pPr>
            <a:r>
              <a:rPr lang="en-US" sz="1000" noProof="0" dirty="0"/>
              <a:t>scoped workloads</a:t>
            </a:r>
          </a:p>
        </p:txBody>
      </p:sp>
      <p:sp>
        <p:nvSpPr>
          <p:cNvPr id="24" name="Oval 23">
            <a:extLst>
              <a:ext uri="{FF2B5EF4-FFF2-40B4-BE49-F238E27FC236}">
                <a16:creationId xmlns:a16="http://schemas.microsoft.com/office/drawing/2014/main" id="{B5229184-08EF-C84A-4B36-3D6C1A6BCBB3}"/>
              </a:ext>
              <a:ext uri="{C183D7F6-B498-43B3-948B-1728B52AA6E4}">
                <adec:decorative xmlns:adec="http://schemas.microsoft.com/office/drawing/2017/decorative" val="1"/>
              </a:ext>
            </a:extLst>
          </p:cNvPr>
          <p:cNvSpPr>
            <a:spLocks noChangeAspect="1"/>
          </p:cNvSpPr>
          <p:nvPr/>
        </p:nvSpPr>
        <p:spPr>
          <a:xfrm>
            <a:off x="9297796" y="5139202"/>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5" name="TextBox 24">
            <a:extLst>
              <a:ext uri="{FF2B5EF4-FFF2-40B4-BE49-F238E27FC236}">
                <a16:creationId xmlns:a16="http://schemas.microsoft.com/office/drawing/2014/main" id="{AB816805-62E9-B621-7798-0B9344CC9463}"/>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29015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6" presetClass="emph" presetSubtype="0" fill="hold" grpId="1" nodeType="withEffect">
                                  <p:stCondLst>
                                    <p:cond delay="0"/>
                                  </p:stCondLst>
                                  <p:childTnLst>
                                    <p:animScale>
                                      <p:cBhvr>
                                        <p:cTn id="9" dur="100" fill="hold"/>
                                        <p:tgtEl>
                                          <p:spTgt spid="2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5" grpId="2"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94CAC-CFD2-F3D2-F846-9AD5A6B374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D72A75-5053-2ED0-DEF0-17D23D3EAF23}"/>
              </a:ext>
            </a:extLst>
          </p:cNvPr>
          <p:cNvSpPr txBox="1"/>
          <p:nvPr/>
        </p:nvSpPr>
        <p:spPr>
          <a:xfrm>
            <a:off x="531112" y="4420869"/>
            <a:ext cx="3563216"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defRPr sz="1200">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SAP RISE/Grow Assessment</a:t>
            </a:r>
          </a:p>
        </p:txBody>
      </p:sp>
      <p:sp>
        <p:nvSpPr>
          <p:cNvPr id="8" name="Title 1">
            <a:extLst>
              <a:ext uri="{FF2B5EF4-FFF2-40B4-BE49-F238E27FC236}">
                <a16:creationId xmlns:a16="http://schemas.microsoft.com/office/drawing/2014/main" id="{7DB94D93-602E-44C7-576A-999EC1ACDFCA}"/>
              </a:ext>
            </a:extLst>
          </p:cNvPr>
          <p:cNvSpPr>
            <a:spLocks noGrp="1"/>
          </p:cNvSpPr>
          <p:nvPr>
            <p:ph type="title"/>
          </p:nvPr>
        </p:nvSpPr>
        <p:spPr>
          <a:xfrm>
            <a:off x="585788" y="2362637"/>
            <a:ext cx="9144000" cy="1169551"/>
          </a:xfrm>
        </p:spPr>
        <p:txBody>
          <a:bodyPr/>
          <a:lstStyle/>
          <a:p>
            <a:r>
              <a:rPr lang="en-US"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10" name="TextBox 9">
            <a:extLst>
              <a:ext uri="{FF2B5EF4-FFF2-40B4-BE49-F238E27FC236}">
                <a16:creationId xmlns:a16="http://schemas.microsoft.com/office/drawing/2014/main" id="{F2A7B0D8-59FA-23AE-7499-BEDBE1B570A6}"/>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3" name="Image 10" descr="Home (outlined)">
            <a:hlinkClick r:id="rId3" action="ppaction://hlinksldjump" tooltip="Home"/>
            <a:extLst>
              <a:ext uri="{FF2B5EF4-FFF2-40B4-BE49-F238E27FC236}">
                <a16:creationId xmlns:a16="http://schemas.microsoft.com/office/drawing/2014/main" id="{4793BFA5-7F71-6954-79CC-F9AB6D897598}"/>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2034271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10" grpId="0" animBg="1"/>
      <p:bldP spid="10" grpId="1" animBg="1"/>
      <p:bldP spid="10" grpId="2"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12F22-46B1-9C43-CC73-10D7DBC3A7A2}"/>
            </a:ext>
          </a:extLst>
        </p:cNvPr>
        <p:cNvGrpSpPr/>
        <p:nvPr/>
      </p:nvGrpSpPr>
      <p:grpSpPr>
        <a:xfrm>
          <a:off x="0" y="0"/>
          <a:ext cx="0" cy="0"/>
          <a:chOff x="0" y="0"/>
          <a:chExt cx="0" cy="0"/>
        </a:xfrm>
      </p:grpSpPr>
      <p:graphicFrame>
        <p:nvGraphicFramePr>
          <p:cNvPr id="33" name="Table 32" title="Exchange Online Technet Guidance">
            <a:extLst>
              <a:ext uri="{FF2B5EF4-FFF2-40B4-BE49-F238E27FC236}">
                <a16:creationId xmlns:a16="http://schemas.microsoft.com/office/drawing/2014/main" id="{389A7AB9-CAB7-E24A-9EDE-569E0412FD3A}"/>
              </a:ext>
            </a:extLst>
          </p:cNvPr>
          <p:cNvGraphicFramePr>
            <a:graphicFrameLocks noGrp="1"/>
          </p:cNvGraphicFramePr>
          <p:nvPr>
            <p:extLst>
              <p:ext uri="{D42A27DB-BD31-4B8C-83A1-F6EECF244321}">
                <p14:modId xmlns:p14="http://schemas.microsoft.com/office/powerpoint/2010/main" val="303129625"/>
              </p:ext>
            </p:extLst>
          </p:nvPr>
        </p:nvGraphicFramePr>
        <p:xfrm>
          <a:off x="679179" y="1733478"/>
          <a:ext cx="8363469" cy="4830066"/>
        </p:xfrm>
        <a:graphic>
          <a:graphicData uri="http://schemas.openxmlformats.org/drawingml/2006/table">
            <a:tbl>
              <a:tblPr firstRow="1" bandRow="1">
                <a:tableStyleId>{5C22544A-7EE6-4342-B048-85BDC9FD1C3A}</a:tableStyleId>
              </a:tblPr>
              <a:tblGrid>
                <a:gridCol w="274320">
                  <a:extLst>
                    <a:ext uri="{9D8B030D-6E8A-4147-A177-3AD203B41FA5}">
                      <a16:colId xmlns:a16="http://schemas.microsoft.com/office/drawing/2014/main" val="920430407"/>
                    </a:ext>
                  </a:extLst>
                </a:gridCol>
                <a:gridCol w="8089149">
                  <a:extLst>
                    <a:ext uri="{9D8B030D-6E8A-4147-A177-3AD203B41FA5}">
                      <a16:colId xmlns:a16="http://schemas.microsoft.com/office/drawing/2014/main" val="125040094"/>
                    </a:ext>
                  </a:extLst>
                </a:gridCol>
              </a:tblGrid>
              <a:tr h="530437">
                <a:tc gridSpan="2">
                  <a:txBody>
                    <a:bodyPr/>
                    <a:lstStyle/>
                    <a:p>
                      <a:pPr marL="0" marR="0" lvl="0" indent="0" algn="l" rtl="0" eaLnBrk="1" fontAlgn="auto" latinLnBrk="0" hangingPunct="1">
                        <a:lnSpc>
                          <a:spcPct val="100000"/>
                        </a:lnSpc>
                        <a:spcBef>
                          <a:spcPts val="0"/>
                        </a:spcBef>
                        <a:spcAft>
                          <a:spcPts val="0"/>
                        </a:spcAft>
                        <a:buClrTx/>
                        <a:buSzTx/>
                        <a:buFontTx/>
                        <a:buNone/>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will deliver </a:t>
                      </a:r>
                      <a:r>
                        <a:rPr kumimoji="0" lang="en-US" sz="1050" b="0" i="0" u="none" strike="noStrike" kern="1200" cap="none" spc="0" normalizeH="0" baseline="0" noProof="0" dirty="0">
                          <a:ln>
                            <a:noFill/>
                          </a:ln>
                          <a:solidFill>
                            <a:schemeClr val="tx1"/>
                          </a:solidFill>
                          <a:effectLst/>
                          <a:uLnTx/>
                          <a:uFillTx/>
                          <a:latin typeface="+mj-lt"/>
                          <a:ea typeface="+mn-ea"/>
                          <a:cs typeface="+mn-cs"/>
                        </a:rPr>
                        <a:t>SAP RISE/Grow Integration with </a:t>
                      </a:r>
                      <a:r>
                        <a:rPr lang="en-US" sz="1050" b="0" i="0" u="none" strike="noStrike" kern="1200" cap="none" spc="0" normalizeH="0" baseline="0" noProof="0" dirty="0">
                          <a:ln>
                            <a:noFill/>
                          </a:ln>
                          <a:solidFill>
                            <a:schemeClr val="tx1"/>
                          </a:solidFill>
                          <a:effectLst/>
                          <a:uLnTx/>
                          <a:uFillTx/>
                          <a:latin typeface="+mj-lt"/>
                          <a:ea typeface="+mn-ea"/>
                          <a:cs typeface="+mn-cs"/>
                        </a:rPr>
                        <a:t>Azure, performing Well Architected Framework assessment </a:t>
                      </a:r>
                      <a:r>
                        <a:rPr kumimoji="0" lang="en-US" sz="1050" b="0" i="0" u="none" strike="noStrike" kern="1200" cap="none" spc="0" normalizeH="0" baseline="0" noProof="0" dirty="0">
                          <a:ln>
                            <a:noFill/>
                          </a:ln>
                          <a:solidFill>
                            <a:schemeClr val="tx1"/>
                          </a:solidFill>
                          <a:effectLst/>
                          <a:uLnTx/>
                          <a:uFillTx/>
                          <a:latin typeface="+mj-lt"/>
                          <a:ea typeface="+mn-ea"/>
                          <a:cs typeface="+mn-cs"/>
                        </a:rPr>
                        <a:t>and Go-live </a:t>
                      </a:r>
                      <a:r>
                        <a:rPr lang="en-US" sz="1050" b="0" i="0" u="none" strike="noStrike" kern="1200" cap="none" spc="0" normalizeH="0" baseline="0" noProof="0" dirty="0">
                          <a:ln>
                            <a:noFill/>
                          </a:ln>
                          <a:solidFill>
                            <a:schemeClr val="tx1"/>
                          </a:solidFill>
                          <a:effectLst/>
                          <a:uLnTx/>
                          <a:uFillTx/>
                          <a:latin typeface="+mj-lt"/>
                          <a:ea typeface="+mn-ea"/>
                          <a:cs typeface="+mn-cs"/>
                        </a:rPr>
                        <a:t>assessment </a:t>
                      </a:r>
                      <a:r>
                        <a:rPr lang="en-US" sz="1050" b="0" i="0" u="none" strike="noStrike" kern="1200" cap="none" spc="0" normalizeH="0" baseline="0" noProof="0" dirty="0">
                          <a:ln>
                            <a:noFill/>
                          </a:ln>
                          <a:solidFill>
                            <a:schemeClr val="tx1"/>
                          </a:solidFill>
                          <a:effectLst/>
                          <a:uLnTx/>
                          <a:uFillTx/>
                          <a:latin typeface="+mn-lt"/>
                          <a:ea typeface="+mn-ea"/>
                          <a:cs typeface="+mn-cs"/>
                        </a:rPr>
                        <a:t>delivery</a:t>
                      </a:r>
                      <a:r>
                        <a:rPr kumimoji="0" lang="en-US" sz="1050" b="0" i="0" u="none" strike="noStrike" kern="1200" cap="none" spc="0" normalizeH="0" baseline="0" noProof="0" dirty="0">
                          <a:ln>
                            <a:noFill/>
                          </a:ln>
                          <a:solidFill>
                            <a:schemeClr val="tx1"/>
                          </a:solidFill>
                          <a:effectLst/>
                          <a:uLnTx/>
                          <a:uFillTx/>
                          <a:latin typeface="+mn-lt"/>
                          <a:ea typeface="+mn-ea"/>
                          <a:cs typeface="+mn-cs"/>
                        </a:rPr>
                        <a:t> for SAP RISE/Grow Customers under Rise Acceleration Program. </a:t>
                      </a:r>
                      <a:endParaRPr kumimoji="0" lang="en-US" sz="2000" noProof="0" dirty="0">
                        <a:solidFill>
                          <a:schemeClr val="tx1"/>
                        </a:solidFill>
                        <a:latin typeface="+mn-lt"/>
                      </a:endParaRP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556393">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000" b="0" noProof="0" dirty="0">
                          <a:solidFill>
                            <a:schemeClr val="tx1"/>
                          </a:solidFill>
                          <a:latin typeface="+mj-lt"/>
                        </a:rPr>
                        <a:t>Scoping: </a:t>
                      </a:r>
                      <a:r>
                        <a:rPr lang="en-US" sz="1000" b="0" noProof="0" dirty="0">
                          <a:solidFill>
                            <a:schemeClr val="tx1"/>
                          </a:solidFill>
                          <a:latin typeface="+mn-lt"/>
                        </a:rPr>
                        <a:t>Factory team to Conduct scoping calls with SAP ECS and the customer to gather the context of the engagement.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529327">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Microsoft preparation(internal) and customer kick-off – </a:t>
                      </a:r>
                      <a:r>
                        <a:rPr lang="en-US" sz="1000" b="0" i="0" u="none" strike="noStrike" kern="1200" noProof="0" dirty="0">
                          <a:solidFill>
                            <a:schemeClr val="tx1"/>
                          </a:solidFill>
                          <a:effectLst/>
                          <a:latin typeface="+mn-lt"/>
                          <a:ea typeface="+mn-ea"/>
                          <a:cs typeface="+mn-cs"/>
                        </a:rPr>
                        <a:t>Factory team would be conducting the calls for internal preparation and for customer kick-off.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529327">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SAP RISE/Grow integration with Azure and SAP Go-live </a:t>
                      </a:r>
                      <a:r>
                        <a:rPr lang="en-US" sz="1000" b="0" i="0" u="none" strike="noStrike" kern="1200" noProof="0" dirty="0">
                          <a:solidFill>
                            <a:schemeClr val="tx1"/>
                          </a:solidFill>
                          <a:effectLst/>
                          <a:latin typeface="+mn-lt"/>
                          <a:ea typeface="+mn-ea"/>
                          <a:cs typeface="+mn-cs"/>
                        </a:rPr>
                        <a:t>Factory team would lead the </a:t>
                      </a:r>
                      <a:r>
                        <a:rPr lang="en-US" sz="1000" b="0" i="0" u="none" strike="noStrike" kern="1200" noProof="0" dirty="0">
                          <a:solidFill>
                            <a:schemeClr val="tx1"/>
                          </a:solidFill>
                          <a:effectLst/>
                          <a:latin typeface="+mj-lt"/>
                          <a:ea typeface="+mn-ea"/>
                          <a:cs typeface="+mn-cs"/>
                        </a:rPr>
                        <a:t>networking, governance, identity and security </a:t>
                      </a:r>
                      <a:r>
                        <a:rPr lang="en-US" sz="1000" b="0" i="0" u="none" strike="noStrike" kern="1200" noProof="0" dirty="0">
                          <a:solidFill>
                            <a:schemeClr val="tx1"/>
                          </a:solidFill>
                          <a:effectLst/>
                          <a:latin typeface="+mn-lt"/>
                          <a:ea typeface="+mn-ea"/>
                          <a:cs typeface="+mn-cs"/>
                        </a:rPr>
                        <a:t>with the customer gathering inputs leveraging the WAF assessment sheet.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7991533"/>
                  </a:ext>
                </a:extLst>
              </a:tr>
              <a:tr h="715717">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SAP Go-live – </a:t>
                      </a:r>
                      <a:r>
                        <a:rPr lang="en-US" sz="1000" b="0" i="0" u="none" strike="noStrike" kern="1200" noProof="0" dirty="0">
                          <a:solidFill>
                            <a:schemeClr val="tx1"/>
                          </a:solidFill>
                          <a:effectLst/>
                          <a:latin typeface="+mn-lt"/>
                          <a:ea typeface="+mn-ea"/>
                          <a:cs typeface="+mn-cs"/>
                        </a:rPr>
                        <a:t>In addition to the WAF assessment, Factory team will conduct the Azure platform health checks leveraging the Workload explorer tool</a:t>
                      </a:r>
                      <a:r>
                        <a:rPr lang="en-US" sz="1000" b="0" i="0" u="none" strike="noStrike" kern="1200" noProof="0" dirty="0">
                          <a:solidFill>
                            <a:schemeClr val="tx1"/>
                          </a:solidFill>
                          <a:effectLst/>
                          <a:latin typeface="+mj-lt"/>
                          <a:ea typeface="+mn-ea"/>
                          <a:cs typeface="+mn-cs"/>
                        </a:rPr>
                        <a:t>.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529327">
                <a:tc>
                  <a:txBody>
                    <a:bodyPr/>
                    <a:lstStyle/>
                    <a:p>
                      <a:pPr algn="ctr"/>
                      <a:r>
                        <a:rPr lang="en-US" sz="1050" b="0" noProof="0" dirty="0">
                          <a:solidFill>
                            <a:schemeClr val="tx2"/>
                          </a:solidFill>
                          <a:latin typeface="+mj-lt"/>
                        </a:rPr>
                        <a:t>5</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Factory team will perform offline reporting, </a:t>
                      </a:r>
                      <a:r>
                        <a:rPr lang="en-US" sz="1000" b="0" i="0" u="none" strike="noStrike" kern="1200" noProof="0" dirty="0">
                          <a:solidFill>
                            <a:schemeClr val="tx1"/>
                          </a:solidFill>
                          <a:effectLst/>
                          <a:latin typeface="+mn-lt"/>
                          <a:ea typeface="+mn-ea"/>
                          <a:cs typeface="+mn-cs"/>
                        </a:rPr>
                        <a:t>Create the final report with observations.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902107">
                <a:tc>
                  <a:txBody>
                    <a:bodyPr/>
                    <a:lstStyle/>
                    <a:p>
                      <a:pPr algn="ctr"/>
                      <a:r>
                        <a:rPr lang="en-US" sz="1050" b="0" noProof="0" dirty="0">
                          <a:solidFill>
                            <a:schemeClr val="tx2"/>
                          </a:solidFill>
                          <a:latin typeface="+mj-lt"/>
                        </a:rPr>
                        <a:t>6</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Handover </a:t>
                      </a:r>
                    </a:p>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WAF Assessment </a:t>
                      </a:r>
                      <a:r>
                        <a:rPr lang="en-US" sz="1000" b="0" i="0" u="none" strike="sngStrike" kern="1200" noProof="0" dirty="0">
                          <a:solidFill>
                            <a:schemeClr val="tx1"/>
                          </a:solidFill>
                          <a:effectLst/>
                          <a:latin typeface="+mj-lt"/>
                          <a:ea typeface="+mn-ea"/>
                          <a:cs typeface="+mn-cs"/>
                        </a:rPr>
                        <a:t>–</a:t>
                      </a:r>
                      <a:r>
                        <a:rPr lang="en-US" sz="1000" b="0" i="0" u="none" strike="noStrike" kern="1200" noProof="0" dirty="0">
                          <a:solidFill>
                            <a:schemeClr val="tx1"/>
                          </a:solidFill>
                          <a:effectLst/>
                          <a:latin typeface="+mn-lt"/>
                          <a:ea typeface="+mn-ea"/>
                          <a:cs typeface="+mn-cs"/>
                        </a:rPr>
                        <a:t> Factory team would present the report to the customer for WAF Assessment</a:t>
                      </a:r>
                      <a:r>
                        <a:rPr lang="en-US" sz="1000" b="0" i="0" u="none" strike="noStrike" kern="1200" noProof="0" dirty="0">
                          <a:solidFill>
                            <a:schemeClr val="tx1"/>
                          </a:solidFill>
                          <a:effectLst/>
                          <a:latin typeface="+mj-lt"/>
                          <a:ea typeface="+mn-ea"/>
                          <a:cs typeface="+mn-cs"/>
                        </a:rPr>
                        <a:t>.</a:t>
                      </a:r>
                    </a:p>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Platform health check – </a:t>
                      </a:r>
                      <a:r>
                        <a:rPr lang="en-US" sz="1000" b="0" i="0" u="none" strike="noStrike" kern="1200" noProof="0" dirty="0">
                          <a:solidFill>
                            <a:schemeClr val="tx1"/>
                          </a:solidFill>
                          <a:effectLst/>
                          <a:latin typeface="+mn-lt"/>
                          <a:ea typeface="+mn-ea"/>
                          <a:cs typeface="+mn-cs"/>
                        </a:rPr>
                        <a:t>Factory would present the report to SAP ECS team who may choose to share with the Customer.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996170"/>
                  </a:ext>
                </a:extLst>
              </a:tr>
              <a:tr h="53743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noProof="0" dirty="0">
                          <a:solidFill>
                            <a:schemeClr val="tx1"/>
                          </a:solidFill>
                          <a:effectLst/>
                          <a:latin typeface="+mn-lt"/>
                          <a:ea typeface="+mn-ea"/>
                          <a:cs typeface="+mn-cs"/>
                        </a:rPr>
                        <a:t>Estimated duration for completing Integration is 12 hours and 14 hours for Go-live.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 b="0" i="0" u="none" strike="sngStrike" kern="1200" cap="none" spc="0" normalizeH="0" baseline="0" noProof="0" dirty="0">
                        <a:ln>
                          <a:noFill/>
                        </a:ln>
                        <a:solidFill>
                          <a:schemeClr val="tx1"/>
                        </a:solidFill>
                        <a:effectLst/>
                        <a:uLnTx/>
                        <a:uFillTx/>
                        <a:latin typeface="+mn-lt"/>
                        <a:ea typeface="+mn-ea"/>
                        <a:cs typeface="+mn-cs"/>
                      </a:endParaRP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588116728"/>
                  </a:ext>
                </a:extLst>
              </a:tr>
            </a:tbl>
          </a:graphicData>
        </a:graphic>
      </p:graphicFrame>
      <p:sp>
        <p:nvSpPr>
          <p:cNvPr id="18" name="Rounded Rectangle 55">
            <a:extLst>
              <a:ext uri="{FF2B5EF4-FFF2-40B4-BE49-F238E27FC236}">
                <a16:creationId xmlns:a16="http://schemas.microsoft.com/office/drawing/2014/main" id="{D850E9DE-8470-CDDB-DC19-2A107C4CF7FA}"/>
              </a:ext>
              <a:ext uri="{C183D7F6-B498-43B3-948B-1728B52AA6E4}">
                <adec:decorative xmlns:adec="http://schemas.microsoft.com/office/drawing/2017/decorative" val="1"/>
              </a:ext>
            </a:extLst>
          </p:cNvPr>
          <p:cNvSpPr/>
          <p:nvPr/>
        </p:nvSpPr>
        <p:spPr bwMode="auto">
          <a:xfrm>
            <a:off x="9154160" y="1155032"/>
            <a:ext cx="2448877" cy="5323590"/>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9" name="Rounded Rectangle 55">
            <a:extLst>
              <a:ext uri="{FF2B5EF4-FFF2-40B4-BE49-F238E27FC236}">
                <a16:creationId xmlns:a16="http://schemas.microsoft.com/office/drawing/2014/main" id="{EC4B9331-FF0C-BD3A-BD74-49E1BDD600A5}"/>
              </a:ext>
              <a:ext uri="{C183D7F6-B498-43B3-948B-1728B52AA6E4}">
                <adec:decorative xmlns:adec="http://schemas.microsoft.com/office/drawing/2017/decorative" val="1"/>
              </a:ext>
            </a:extLst>
          </p:cNvPr>
          <p:cNvSpPr/>
          <p:nvPr/>
        </p:nvSpPr>
        <p:spPr bwMode="auto">
          <a:xfrm>
            <a:off x="588961" y="1155032"/>
            <a:ext cx="8443279" cy="5323590"/>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0" name="Title 1">
            <a:extLst>
              <a:ext uri="{FF2B5EF4-FFF2-40B4-BE49-F238E27FC236}">
                <a16:creationId xmlns:a16="http://schemas.microsoft.com/office/drawing/2014/main" id="{9E948DD3-5290-E937-C73B-CFD97D6FE0C6}"/>
              </a:ext>
            </a:extLst>
          </p:cNvPr>
          <p:cNvSpPr>
            <a:spLocks noGrp="1"/>
          </p:cNvSpPr>
          <p:nvPr>
            <p:ph type="title"/>
          </p:nvPr>
        </p:nvSpPr>
        <p:spPr>
          <a:xfrm>
            <a:off x="588964" y="510314"/>
            <a:ext cx="8358186" cy="559796"/>
          </a:xfrm>
        </p:spPr>
        <p:txBody>
          <a:bodyPr/>
          <a:lstStyle/>
          <a:p>
            <a:r>
              <a:rPr lang="en-US" sz="3000" noProof="0" dirty="0"/>
              <a:t>SAP RISE/Grow Acceleration Program (SAP RAP)</a:t>
            </a:r>
            <a:br>
              <a:rPr lang="en-US" sz="1800" noProof="0" dirty="0">
                <a:solidFill>
                  <a:schemeClr val="tx1"/>
                </a:solidFill>
              </a:rPr>
            </a:br>
            <a:endParaRPr lang="en-US" sz="1800" noProof="0" dirty="0">
              <a:solidFill>
                <a:schemeClr val="tx1"/>
              </a:solidFill>
            </a:endParaRPr>
          </a:p>
        </p:txBody>
      </p:sp>
      <p:sp>
        <p:nvSpPr>
          <p:cNvPr id="21" name="Content Placeholder 4">
            <a:extLst>
              <a:ext uri="{FF2B5EF4-FFF2-40B4-BE49-F238E27FC236}">
                <a16:creationId xmlns:a16="http://schemas.microsoft.com/office/drawing/2014/main" id="{204F3958-D57D-611A-3C85-974F1BA0C0BB}"/>
              </a:ext>
            </a:extLst>
          </p:cNvPr>
          <p:cNvSpPr txBox="1">
            <a:spLocks/>
          </p:cNvSpPr>
          <p:nvPr/>
        </p:nvSpPr>
        <p:spPr>
          <a:xfrm>
            <a:off x="9250410" y="1695380"/>
            <a:ext cx="2448877" cy="2239074"/>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3" indent="0" algn="l" defTabSz="932742" rtl="0" eaLnBrk="1" fontAlgn="auto" latinLnBrk="0" hangingPunct="1">
              <a:lnSpc>
                <a:spcPct val="100000"/>
              </a:lnSpc>
              <a:spcBef>
                <a:spcPts val="0"/>
              </a:spcBef>
              <a:spcAft>
                <a:spcPts val="30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Requirements to leveraging </a:t>
            </a:r>
            <a:b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this service:</a:t>
            </a:r>
          </a:p>
          <a:p>
            <a:pPr marL="203200" marR="0" lvl="0" indent="-14605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The customer must be officially nominated and approved under the RAP Scale tier</a:t>
            </a:r>
          </a:p>
          <a:p>
            <a:pPr marL="203200" marR="0" lvl="0" indent="-14605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RAP Time zone Lead has all the contact details for SAP ECS (Enterprise Cloud Services) and customer teams for the nominated customer. </a:t>
            </a:r>
          </a:p>
          <a:p>
            <a:pPr marL="203200" marR="0" lvl="0" indent="-14605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RAP TZ lead nominates the customer for Factory. </a:t>
            </a:r>
          </a:p>
        </p:txBody>
      </p:sp>
      <p:sp>
        <p:nvSpPr>
          <p:cNvPr id="23" name="TextBox 22">
            <a:extLst>
              <a:ext uri="{FF2B5EF4-FFF2-40B4-BE49-F238E27FC236}">
                <a16:creationId xmlns:a16="http://schemas.microsoft.com/office/drawing/2014/main" id="{47343957-7E6D-9538-8A98-4839BB858787}"/>
              </a:ext>
            </a:extLst>
          </p:cNvPr>
          <p:cNvSpPr txBox="1"/>
          <p:nvPr/>
        </p:nvSpPr>
        <p:spPr>
          <a:xfrm>
            <a:off x="674050" y="1263821"/>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4" name="Graphic 22">
            <a:extLst>
              <a:ext uri="{FF2B5EF4-FFF2-40B4-BE49-F238E27FC236}">
                <a16:creationId xmlns:a16="http://schemas.microsoft.com/office/drawing/2014/main" id="{1C5C90E4-E6AF-790D-CA85-9E88E4082A36}"/>
              </a:ext>
            </a:extLst>
          </p:cNvPr>
          <p:cNvSpPr/>
          <p:nvPr/>
        </p:nvSpPr>
        <p:spPr>
          <a:xfrm>
            <a:off x="3882572" y="13132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25" name="TextBox 24">
            <a:extLst>
              <a:ext uri="{FF2B5EF4-FFF2-40B4-BE49-F238E27FC236}">
                <a16:creationId xmlns:a16="http://schemas.microsoft.com/office/drawing/2014/main" id="{F9404D10-4416-097C-5BC5-69009F34B7A0}"/>
              </a:ext>
            </a:extLst>
          </p:cNvPr>
          <p:cNvSpPr txBox="1"/>
          <p:nvPr/>
        </p:nvSpPr>
        <p:spPr>
          <a:xfrm>
            <a:off x="9241631" y="1263821"/>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6" name="Graphic 25">
            <a:extLst>
              <a:ext uri="{FF2B5EF4-FFF2-40B4-BE49-F238E27FC236}">
                <a16:creationId xmlns:a16="http://schemas.microsoft.com/office/drawing/2014/main" id="{1FB3D850-26C0-0002-BC4E-6A8FB42EC8CA}"/>
              </a:ext>
            </a:extLst>
          </p:cNvPr>
          <p:cNvSpPr/>
          <p:nvPr/>
        </p:nvSpPr>
        <p:spPr>
          <a:xfrm>
            <a:off x="9900150" y="13200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3" name="TextBox 2">
            <a:extLst>
              <a:ext uri="{FF2B5EF4-FFF2-40B4-BE49-F238E27FC236}">
                <a16:creationId xmlns:a16="http://schemas.microsoft.com/office/drawing/2014/main" id="{2E99E675-6658-479D-172F-1E01F1BAF575}"/>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528189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F3707-CC73-FDC0-C0AD-A22361E424D6}"/>
            </a:ext>
          </a:extLst>
        </p:cNvPr>
        <p:cNvGrpSpPr/>
        <p:nvPr/>
      </p:nvGrpSpPr>
      <p:grpSpPr>
        <a:xfrm>
          <a:off x="0" y="0"/>
          <a:ext cx="0" cy="0"/>
          <a:chOff x="0" y="0"/>
          <a:chExt cx="0" cy="0"/>
        </a:xfrm>
      </p:grpSpPr>
      <p:sp>
        <p:nvSpPr>
          <p:cNvPr id="102" name="Title 101">
            <a:extLst>
              <a:ext uri="{FF2B5EF4-FFF2-40B4-BE49-F238E27FC236}">
                <a16:creationId xmlns:a16="http://schemas.microsoft.com/office/drawing/2014/main" id="{ED1ED51E-892A-A6F9-E00C-310EEB6FCB6F}"/>
              </a:ext>
            </a:extLst>
          </p:cNvPr>
          <p:cNvSpPr>
            <a:spLocks noGrp="1"/>
          </p:cNvSpPr>
          <p:nvPr>
            <p:ph type="title"/>
          </p:nvPr>
        </p:nvSpPr>
        <p:spPr>
          <a:xfrm>
            <a:off x="588963" y="315692"/>
            <a:ext cx="7504450" cy="789688"/>
          </a:xfrm>
        </p:spPr>
        <p:txBody>
          <a:bodyPr>
            <a:noAutofit/>
          </a:bodyPr>
          <a:lstStyle/>
          <a:p>
            <a:br>
              <a:rPr lang="en-US" sz="1800" noProof="0" dirty="0">
                <a:solidFill>
                  <a:schemeClr val="tx1"/>
                </a:solidFill>
              </a:rPr>
            </a:br>
            <a:r>
              <a:rPr lang="en-US" sz="2800" noProof="0" dirty="0"/>
              <a:t>SAP RISE/Grow Acceleration Program Scope</a:t>
            </a:r>
            <a:br>
              <a:rPr lang="en-US" sz="3200" noProof="0" dirty="0"/>
            </a:br>
            <a:br>
              <a:rPr lang="en-US" sz="3000" noProof="0" dirty="0"/>
            </a:br>
            <a:endParaRPr lang="en-US" sz="3000" noProof="0" dirty="0"/>
          </a:p>
        </p:txBody>
      </p:sp>
      <p:sp>
        <p:nvSpPr>
          <p:cNvPr id="77" name="Rounded Rectangle 76">
            <a:extLst>
              <a:ext uri="{FF2B5EF4-FFF2-40B4-BE49-F238E27FC236}">
                <a16:creationId xmlns:a16="http://schemas.microsoft.com/office/drawing/2014/main" id="{0E3ABE41-1E43-66A9-4753-413DFE497CB8}"/>
              </a:ext>
              <a:ext uri="{C183D7F6-B498-43B3-948B-1728B52AA6E4}">
                <adec:decorative xmlns:adec="http://schemas.microsoft.com/office/drawing/2017/decorative" val="1"/>
              </a:ext>
            </a:extLst>
          </p:cNvPr>
          <p:cNvSpPr>
            <a:spLocks/>
          </p:cNvSpPr>
          <p:nvPr/>
        </p:nvSpPr>
        <p:spPr bwMode="auto">
          <a:xfrm>
            <a:off x="6363307" y="1194566"/>
            <a:ext cx="5483812" cy="4504431"/>
          </a:xfrm>
          <a:prstGeom prst="roundRect">
            <a:avLst>
              <a:gd name="adj" fmla="val 2514"/>
            </a:avLst>
          </a:prstGeom>
          <a:noFill/>
          <a:ln w="9525" cap="rnd" cmpd="sng" algn="ctr">
            <a:solidFill>
              <a:schemeClr val="bg1">
                <a:lumMod val="85000"/>
              </a:schemeClr>
            </a:solidFill>
            <a:prstDash val="solid"/>
            <a:headEnd type="none" w="lg" len="sm"/>
            <a:tailEnd type="none" w="lg" len="sm"/>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sp>
        <p:nvSpPr>
          <p:cNvPr id="78" name="Rounded Rectangle 77">
            <a:extLst>
              <a:ext uri="{FF2B5EF4-FFF2-40B4-BE49-F238E27FC236}">
                <a16:creationId xmlns:a16="http://schemas.microsoft.com/office/drawing/2014/main" id="{5B02DF2A-AFA6-FB56-532D-C9C7C7249F07}"/>
              </a:ext>
              <a:ext uri="{C183D7F6-B498-43B3-948B-1728B52AA6E4}">
                <adec:decorative xmlns:adec="http://schemas.microsoft.com/office/drawing/2017/decorative" val="1"/>
              </a:ext>
            </a:extLst>
          </p:cNvPr>
          <p:cNvSpPr>
            <a:spLocks/>
          </p:cNvSpPr>
          <p:nvPr/>
        </p:nvSpPr>
        <p:spPr bwMode="auto">
          <a:xfrm>
            <a:off x="585048" y="1195100"/>
            <a:ext cx="5440680" cy="4504431"/>
          </a:xfrm>
          <a:prstGeom prst="roundRect">
            <a:avLst>
              <a:gd name="adj" fmla="val 2400"/>
            </a:avLst>
          </a:prstGeom>
          <a:noFill/>
          <a:ln w="9525" cap="rnd" cmpd="sng" algn="ctr">
            <a:solidFill>
              <a:schemeClr val="bg1">
                <a:lumMod val="85000"/>
              </a:schemeClr>
            </a:solidFill>
            <a:prstDash val="solid"/>
            <a:headEnd type="none" w="lg" len="sm"/>
            <a:tailEnd type="none" w="lg" len="sm"/>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mn-ea"/>
              <a:cs typeface="Segoe Sans Text" pitchFamily="2" charset="0"/>
            </a:endParaRPr>
          </a:p>
        </p:txBody>
      </p:sp>
      <p:cxnSp>
        <p:nvCxnSpPr>
          <p:cNvPr id="121" name="Straight Connector 120">
            <a:extLst>
              <a:ext uri="{FF2B5EF4-FFF2-40B4-BE49-F238E27FC236}">
                <a16:creationId xmlns:a16="http://schemas.microsoft.com/office/drawing/2014/main" id="{928CA8F2-97F0-88B4-05E3-95B69A07BB10}"/>
              </a:ext>
              <a:ext uri="{C183D7F6-B498-43B3-948B-1728B52AA6E4}">
                <adec:decorative xmlns:adec="http://schemas.microsoft.com/office/drawing/2017/decorative" val="1"/>
              </a:ext>
            </a:extLst>
          </p:cNvPr>
          <p:cNvCxnSpPr>
            <a:cxnSpLocks/>
          </p:cNvCxnSpPr>
          <p:nvPr/>
        </p:nvCxnSpPr>
        <p:spPr>
          <a:xfrm>
            <a:off x="1095228" y="2513652"/>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4B424F4-FB58-7129-588C-0848804AE22D}"/>
              </a:ext>
              <a:ext uri="{C183D7F6-B498-43B3-948B-1728B52AA6E4}">
                <adec:decorative xmlns:adec="http://schemas.microsoft.com/office/drawing/2017/decorative" val="1"/>
              </a:ext>
            </a:extLst>
          </p:cNvPr>
          <p:cNvCxnSpPr>
            <a:cxnSpLocks/>
          </p:cNvCxnSpPr>
          <p:nvPr/>
        </p:nvCxnSpPr>
        <p:spPr>
          <a:xfrm>
            <a:off x="1095228" y="3273460"/>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7BD666B-C13E-1F63-CFA4-B3F8E91E2352}"/>
              </a:ext>
              <a:ext uri="{C183D7F6-B498-43B3-948B-1728B52AA6E4}">
                <adec:decorative xmlns:adec="http://schemas.microsoft.com/office/drawing/2017/decorative" val="1"/>
              </a:ext>
            </a:extLst>
          </p:cNvPr>
          <p:cNvCxnSpPr>
            <a:cxnSpLocks/>
          </p:cNvCxnSpPr>
          <p:nvPr/>
        </p:nvCxnSpPr>
        <p:spPr>
          <a:xfrm>
            <a:off x="1095228" y="4351786"/>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61763475-A1BC-457E-AE58-B11385859D76}"/>
              </a:ext>
            </a:extLst>
          </p:cNvPr>
          <p:cNvSpPr txBox="1"/>
          <p:nvPr/>
        </p:nvSpPr>
        <p:spPr>
          <a:xfrm>
            <a:off x="1046209" y="1870784"/>
            <a:ext cx="4860157" cy="57451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mn-cs"/>
              </a:rPr>
              <a:t>Scenarios:</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SAP RISE/Grow Integration with Azure (Well architected assessment)</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SAP Go-live for RISE on Azure (Go-Live health check)</a:t>
            </a:r>
          </a:p>
        </p:txBody>
      </p:sp>
      <p:sp>
        <p:nvSpPr>
          <p:cNvPr id="127" name="TextBox 126">
            <a:extLst>
              <a:ext uri="{FF2B5EF4-FFF2-40B4-BE49-F238E27FC236}">
                <a16:creationId xmlns:a16="http://schemas.microsoft.com/office/drawing/2014/main" id="{2C90B1C7-DDA4-C128-6415-1F78495BE2C9}"/>
              </a:ext>
            </a:extLst>
          </p:cNvPr>
          <p:cNvSpPr txBox="1"/>
          <p:nvPr/>
        </p:nvSpPr>
        <p:spPr>
          <a:xfrm>
            <a:off x="1046209" y="2636814"/>
            <a:ext cx="4870846" cy="54886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mn-cs"/>
              </a:rPr>
              <a:t>Well Architected Framework (WAF) Assessment </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WAF for customer‘s Azure Integration to RISE assessment covering networking, identity and security</a:t>
            </a:r>
          </a:p>
        </p:txBody>
      </p:sp>
      <p:sp>
        <p:nvSpPr>
          <p:cNvPr id="148" name="TextBox 147">
            <a:extLst>
              <a:ext uri="{FF2B5EF4-FFF2-40B4-BE49-F238E27FC236}">
                <a16:creationId xmlns:a16="http://schemas.microsoft.com/office/drawing/2014/main" id="{90D9A0BE-1439-C1B4-5169-96892B93901E}"/>
              </a:ext>
            </a:extLst>
          </p:cNvPr>
          <p:cNvSpPr txBox="1"/>
          <p:nvPr/>
        </p:nvSpPr>
        <p:spPr>
          <a:xfrm>
            <a:off x="1046209" y="3377196"/>
            <a:ext cx="4860157" cy="88742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mn-cs"/>
              </a:rPr>
              <a:t>Azure Platform Health checks for Go-live</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Azure Platform Health Checks leveraging </a:t>
            </a:r>
            <a:r>
              <a:rPr kumimoji="0" lang="en-US" sz="1050" b="0" i="0" u="none" strike="noStrike" kern="0" cap="none" spc="0" normalizeH="0" baseline="0" noProof="0" dirty="0">
                <a:ln>
                  <a:noFill/>
                </a:ln>
                <a:solidFill>
                  <a:srgbClr val="000000"/>
                </a:solidFill>
                <a:effectLst/>
                <a:uLnTx/>
                <a:uFillTx/>
                <a:latin typeface="Segoe Sans Text Semibold"/>
                <a:ea typeface="+mn-ea"/>
                <a:cs typeface="+mn-cs"/>
              </a:rPr>
              <a:t>aka.ms/workloadx </a:t>
            </a:r>
            <a:r>
              <a:rPr kumimoji="0" lang="en-US" sz="1050" b="0" i="0" u="none" strike="noStrike" kern="0" cap="none" spc="0" normalizeH="0" baseline="0" noProof="0" dirty="0">
                <a:ln>
                  <a:noFill/>
                </a:ln>
                <a:solidFill>
                  <a:srgbClr val="000000"/>
                </a:solidFill>
                <a:effectLst/>
                <a:uLnTx/>
                <a:uFillTx/>
                <a:latin typeface="Segoe Sans Text"/>
                <a:ea typeface="+mn-ea"/>
                <a:cs typeface="+mn-cs"/>
              </a:rPr>
              <a:t>tool covering host health, live migrations, networking, Azure maintenance ARM Operations, VM limits, storage, and compute proximity, MS support tickets , General performance overview</a:t>
            </a:r>
          </a:p>
        </p:txBody>
      </p:sp>
      <p:cxnSp>
        <p:nvCxnSpPr>
          <p:cNvPr id="6" name="Straight Connector 5">
            <a:extLst>
              <a:ext uri="{FF2B5EF4-FFF2-40B4-BE49-F238E27FC236}">
                <a16:creationId xmlns:a16="http://schemas.microsoft.com/office/drawing/2014/main" id="{F932719A-DA41-C476-8683-1E72F3210344}"/>
              </a:ext>
              <a:ext uri="{C183D7F6-B498-43B3-948B-1728B52AA6E4}">
                <adec:decorative xmlns:adec="http://schemas.microsoft.com/office/drawing/2017/decorative" val="1"/>
              </a:ext>
            </a:extLst>
          </p:cNvPr>
          <p:cNvCxnSpPr>
            <a:cxnSpLocks/>
          </p:cNvCxnSpPr>
          <p:nvPr/>
        </p:nvCxnSpPr>
        <p:spPr>
          <a:xfrm>
            <a:off x="1095228" y="5119435"/>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8256BA9-1CBB-748D-585C-7A8462523E59}"/>
              </a:ext>
            </a:extLst>
          </p:cNvPr>
          <p:cNvSpPr txBox="1"/>
          <p:nvPr/>
        </p:nvSpPr>
        <p:spPr>
          <a:xfrm>
            <a:off x="1046209" y="4456132"/>
            <a:ext cx="4778270" cy="55912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mn-cs"/>
              </a:rPr>
              <a:t>Scoping and close out calls</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Scoping calls with SAP ECS and customers</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Close out calls with SAP ECS for Go-live and with customer for WAF Assessment. </a:t>
            </a:r>
          </a:p>
        </p:txBody>
      </p:sp>
      <p:sp>
        <p:nvSpPr>
          <p:cNvPr id="185" name="TextBox 184">
            <a:extLst>
              <a:ext uri="{FF2B5EF4-FFF2-40B4-BE49-F238E27FC236}">
                <a16:creationId xmlns:a16="http://schemas.microsoft.com/office/drawing/2014/main" id="{5B540655-4D0B-86E7-6C60-4DBA4694BC6E}"/>
              </a:ext>
            </a:extLst>
          </p:cNvPr>
          <p:cNvSpPr txBox="1"/>
          <p:nvPr/>
        </p:nvSpPr>
        <p:spPr>
          <a:xfrm>
            <a:off x="1046209" y="5206774"/>
            <a:ext cx="4860157" cy="37189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mn-cs"/>
              </a:rPr>
              <a:t>Reports preparation</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egoe Sans Text"/>
                <a:ea typeface="+mn-ea"/>
                <a:cs typeface="+mn-cs"/>
              </a:rPr>
              <a:t>Preparation of the offline reports for WAF assessment and platform health checks</a:t>
            </a:r>
          </a:p>
        </p:txBody>
      </p:sp>
      <p:sp>
        <p:nvSpPr>
          <p:cNvPr id="7" name="TextBox 6">
            <a:extLst>
              <a:ext uri="{FF2B5EF4-FFF2-40B4-BE49-F238E27FC236}">
                <a16:creationId xmlns:a16="http://schemas.microsoft.com/office/drawing/2014/main" id="{73B2BB96-B8B9-810D-D8E6-1910594F7E74}"/>
              </a:ext>
            </a:extLst>
          </p:cNvPr>
          <p:cNvSpPr txBox="1"/>
          <p:nvPr/>
        </p:nvSpPr>
        <p:spPr>
          <a:xfrm>
            <a:off x="6814481" y="1874264"/>
            <a:ext cx="4941459" cy="18466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a:ea typeface="+mn-ea"/>
                <a:cs typeface="+mn-cs"/>
              </a:rPr>
              <a:t>Remediation is conducted by SAP ECS team/customer</a:t>
            </a:r>
            <a:endParaRPr kumimoji="0" lang="en-US" sz="1050" b="0" i="0" u="none" strike="noStrike" kern="0" cap="none" spc="0" normalizeH="0" baseline="0" noProof="0" dirty="0">
              <a:ln>
                <a:noFill/>
              </a:ln>
              <a:solidFill>
                <a:srgbClr val="000000"/>
              </a:solidFill>
              <a:effectLst/>
              <a:uLnTx/>
              <a:uFillTx/>
              <a:latin typeface="Segoe Sans Text"/>
              <a:ea typeface="+mn-ea"/>
              <a:cs typeface="+mn-cs"/>
            </a:endParaRPr>
          </a:p>
        </p:txBody>
      </p:sp>
      <p:sp>
        <p:nvSpPr>
          <p:cNvPr id="10" name="Oval 9">
            <a:extLst>
              <a:ext uri="{FF2B5EF4-FFF2-40B4-BE49-F238E27FC236}">
                <a16:creationId xmlns:a16="http://schemas.microsoft.com/office/drawing/2014/main" id="{750DE810-EE28-7B48-1CA6-C1B448C0771E}"/>
              </a:ext>
            </a:extLst>
          </p:cNvPr>
          <p:cNvSpPr>
            <a:spLocks noChangeAspect="1"/>
          </p:cNvSpPr>
          <p:nvPr/>
        </p:nvSpPr>
        <p:spPr bwMode="auto">
          <a:xfrm>
            <a:off x="771522" y="1870784"/>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Oval 10">
            <a:extLst>
              <a:ext uri="{FF2B5EF4-FFF2-40B4-BE49-F238E27FC236}">
                <a16:creationId xmlns:a16="http://schemas.microsoft.com/office/drawing/2014/main" id="{68DBDB98-7179-D828-AF27-7A8BDED4E1F5}"/>
              </a:ext>
            </a:extLst>
          </p:cNvPr>
          <p:cNvSpPr>
            <a:spLocks noChangeAspect="1"/>
          </p:cNvSpPr>
          <p:nvPr/>
        </p:nvSpPr>
        <p:spPr bwMode="auto">
          <a:xfrm>
            <a:off x="771522" y="2652929"/>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46FADBDA-8D2F-C2C5-A8C7-290AD49BA533}"/>
              </a:ext>
            </a:extLst>
          </p:cNvPr>
          <p:cNvSpPr>
            <a:spLocks noChangeAspect="1"/>
          </p:cNvSpPr>
          <p:nvPr/>
        </p:nvSpPr>
        <p:spPr bwMode="auto">
          <a:xfrm>
            <a:off x="772639" y="3404567"/>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D373D82A-83AF-0B83-7A10-47F2612F7D2E}"/>
              </a:ext>
            </a:extLst>
          </p:cNvPr>
          <p:cNvSpPr>
            <a:spLocks noChangeAspect="1"/>
          </p:cNvSpPr>
          <p:nvPr/>
        </p:nvSpPr>
        <p:spPr bwMode="auto">
          <a:xfrm>
            <a:off x="769238" y="4474932"/>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AE4FDB97-0182-870E-78E7-E37ED3FDF466}"/>
              </a:ext>
            </a:extLst>
          </p:cNvPr>
          <p:cNvSpPr>
            <a:spLocks noChangeAspect="1"/>
          </p:cNvSpPr>
          <p:nvPr/>
        </p:nvSpPr>
        <p:spPr bwMode="auto">
          <a:xfrm>
            <a:off x="769238" y="5226570"/>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3ECBEA71-E8E1-AEE5-BFA1-4D0CFFC1FB95}"/>
              </a:ext>
            </a:extLst>
          </p:cNvPr>
          <p:cNvSpPr>
            <a:spLocks noChangeAspect="1"/>
          </p:cNvSpPr>
          <p:nvPr/>
        </p:nvSpPr>
        <p:spPr bwMode="auto">
          <a:xfrm>
            <a:off x="6595155" y="1874264"/>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8E595496-03BD-A984-692B-EA5C82069F18}"/>
              </a:ext>
            </a:extLst>
          </p:cNvPr>
          <p:cNvSpPr txBox="1">
            <a:spLocks/>
          </p:cNvSpPr>
          <p:nvPr/>
        </p:nvSpPr>
        <p:spPr>
          <a:xfrm>
            <a:off x="672987" y="1293657"/>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20" name="TextBox 19">
            <a:extLst>
              <a:ext uri="{FF2B5EF4-FFF2-40B4-BE49-F238E27FC236}">
                <a16:creationId xmlns:a16="http://schemas.microsoft.com/office/drawing/2014/main" id="{FCB39575-90ED-C6E1-1F76-82C930D9A14D}"/>
              </a:ext>
            </a:extLst>
          </p:cNvPr>
          <p:cNvSpPr txBox="1">
            <a:spLocks/>
          </p:cNvSpPr>
          <p:nvPr/>
        </p:nvSpPr>
        <p:spPr>
          <a:xfrm>
            <a:off x="6467657" y="1282045"/>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8" name="TextBox 7">
            <a:extLst>
              <a:ext uri="{FF2B5EF4-FFF2-40B4-BE49-F238E27FC236}">
                <a16:creationId xmlns:a16="http://schemas.microsoft.com/office/drawing/2014/main" id="{AFF98A26-5382-F8AB-6F0C-FBB1610BDC25}"/>
              </a:ext>
            </a:extLst>
          </p:cNvPr>
          <p:cNvSpPr txBox="1"/>
          <p:nvPr/>
        </p:nvSpPr>
        <p:spPr>
          <a:xfrm>
            <a:off x="6581253" y="1619910"/>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9" name="TextBox 8">
            <a:extLst>
              <a:ext uri="{FF2B5EF4-FFF2-40B4-BE49-F238E27FC236}">
                <a16:creationId xmlns:a16="http://schemas.microsoft.com/office/drawing/2014/main" id="{6C004304-7726-5F57-E8A6-1511E2B77B2A}"/>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extBox 2">
            <a:extLst>
              <a:ext uri="{FF2B5EF4-FFF2-40B4-BE49-F238E27FC236}">
                <a16:creationId xmlns:a16="http://schemas.microsoft.com/office/drawing/2014/main" id="{E44DE5CF-788F-F183-FD02-990B1C7D76A6}"/>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605385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DD3E9-5735-A467-3600-BEE62F14055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BD77D6E-0A9A-5D71-6C43-D741A12F5EAF}"/>
              </a:ext>
            </a:extLst>
          </p:cNvPr>
          <p:cNvSpPr>
            <a:spLocks noGrp="1"/>
          </p:cNvSpPr>
          <p:nvPr>
            <p:ph type="title"/>
          </p:nvPr>
        </p:nvSpPr>
        <p:spPr>
          <a:xfrm>
            <a:off x="588963" y="315692"/>
            <a:ext cx="4425799" cy="839215"/>
          </a:xfrm>
        </p:spPr>
        <p:txBody>
          <a:bodyPr>
            <a:noAutofit/>
          </a:bodyPr>
          <a:lstStyle/>
          <a:p>
            <a:r>
              <a:rPr lang="en-US" sz="2800" noProof="0" dirty="0"/>
              <a:t>Key Deliverables</a:t>
            </a:r>
            <a:br>
              <a:rPr lang="en-US" sz="2800" noProof="0" dirty="0"/>
            </a:br>
            <a:r>
              <a:rPr lang="en-US" sz="1800" noProof="0" dirty="0">
                <a:solidFill>
                  <a:schemeClr val="tx1"/>
                </a:solidFill>
              </a:rPr>
              <a:t>SAP RAP VBD Offer</a:t>
            </a:r>
            <a:br>
              <a:rPr lang="en-US" sz="2800" noProof="0" dirty="0"/>
            </a:br>
            <a:endParaRPr lang="en-US" sz="2800" noProof="0" dirty="0"/>
          </a:p>
        </p:txBody>
      </p:sp>
      <p:sp>
        <p:nvSpPr>
          <p:cNvPr id="16" name="Rounded Rectangle 55">
            <a:extLst>
              <a:ext uri="{FF2B5EF4-FFF2-40B4-BE49-F238E27FC236}">
                <a16:creationId xmlns:a16="http://schemas.microsoft.com/office/drawing/2014/main" id="{8370DCD3-89A3-87B9-1078-2C72849F40AF}"/>
              </a:ext>
              <a:ext uri="{C183D7F6-B498-43B3-948B-1728B52AA6E4}">
                <adec:decorative xmlns:adec="http://schemas.microsoft.com/office/drawing/2017/decorative" val="1"/>
              </a:ext>
            </a:extLst>
          </p:cNvPr>
          <p:cNvSpPr/>
          <p:nvPr/>
        </p:nvSpPr>
        <p:spPr bwMode="auto">
          <a:xfrm>
            <a:off x="588964" y="1445519"/>
            <a:ext cx="2464498" cy="4567059"/>
          </a:xfrm>
          <a:prstGeom prst="roundRect">
            <a:avLst>
              <a:gd name="adj" fmla="val 3807"/>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7" name="Content Placeholder 4">
            <a:extLst>
              <a:ext uri="{FF2B5EF4-FFF2-40B4-BE49-F238E27FC236}">
                <a16:creationId xmlns:a16="http://schemas.microsoft.com/office/drawing/2014/main" id="{AC6EEF41-F371-64E1-6C6F-67C3842D0C79}"/>
              </a:ext>
            </a:extLst>
          </p:cNvPr>
          <p:cNvSpPr txBox="1">
            <a:spLocks/>
          </p:cNvSpPr>
          <p:nvPr/>
        </p:nvSpPr>
        <p:spPr>
          <a:xfrm>
            <a:off x="652056" y="1843951"/>
            <a:ext cx="2448877" cy="1585049"/>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WAF for customer‘s Azure Integration to RISE Assessment. </a:t>
            </a:r>
          </a:p>
          <a:p>
            <a:pPr marL="228600" marR="0" lvl="0" indent="-22860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Azure Platform Health checks</a:t>
            </a:r>
          </a:p>
          <a:p>
            <a:pPr marL="228600" marR="0" lvl="0" indent="-22860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Segoe UI" panose="020B0502040204020203" pitchFamily="34" charset="0"/>
              </a:rPr>
              <a:t>Provide actionable and prioritized observations to address identified risks. </a:t>
            </a:r>
          </a:p>
        </p:txBody>
      </p:sp>
      <p:sp>
        <p:nvSpPr>
          <p:cNvPr id="20" name="TextBox 19">
            <a:extLst>
              <a:ext uri="{FF2B5EF4-FFF2-40B4-BE49-F238E27FC236}">
                <a16:creationId xmlns:a16="http://schemas.microsoft.com/office/drawing/2014/main" id="{17D1F514-FF44-DE9D-2B52-7AD04501B3BD}"/>
              </a:ext>
            </a:extLst>
          </p:cNvPr>
          <p:cNvSpPr txBox="1"/>
          <p:nvPr/>
        </p:nvSpPr>
        <p:spPr>
          <a:xfrm>
            <a:off x="3241098" y="1590439"/>
            <a:ext cx="4075618" cy="4098558"/>
          </a:xfrm>
          <a:prstGeom prst="rect">
            <a:avLst/>
          </a:prstGeom>
          <a:noFill/>
        </p:spPr>
        <p:txBody>
          <a:bodyPr wrap="square">
            <a:spAutoFit/>
          </a:bodyPr>
          <a:lstStyle/>
          <a:p>
            <a:pPr marL="231775" marR="0" lvl="1" indent="-231775" algn="l" defTabSz="914400" rtl="0" eaLnBrk="1" fontAlgn="auto" latinLnBrk="0" hangingPunct="1">
              <a:lnSpc>
                <a:spcPct val="100000"/>
              </a:lnSpc>
              <a:spcBef>
                <a:spcPts val="0"/>
              </a:spcBef>
              <a:spcAft>
                <a:spcPts val="200"/>
              </a:spcAft>
              <a:buClrTx/>
              <a:buSzTx/>
              <a:buFont typeface="+mj-lt"/>
              <a:buAutoNum type="arabicPeriod"/>
              <a:tabLst/>
              <a:defRPr/>
            </a:pPr>
            <a:r>
              <a:rPr kumimoji="0" lang="en-US" sz="1400" b="0" i="0" u="none" strike="noStrike" kern="0" cap="none" spc="0" normalizeH="0" baseline="0" noProof="0" dirty="0">
                <a:ln>
                  <a:noFill/>
                </a:ln>
                <a:solidFill>
                  <a:srgbClr val="0078D4"/>
                </a:solidFill>
                <a:effectLst/>
                <a:uLnTx/>
                <a:uFillTx/>
                <a:latin typeface="Segoe Sans Text Semibold"/>
                <a:ea typeface="+mn-ea"/>
                <a:cs typeface="+mn-cs"/>
              </a:rPr>
              <a:t>WAF</a:t>
            </a:r>
            <a:r>
              <a:rPr kumimoji="0" lang="en-US" sz="1400" b="0" i="0" u="none" strike="noStrike" kern="1200" cap="none" spc="0" normalizeH="0" baseline="0" noProof="0" dirty="0">
                <a:ln w="3175">
                  <a:noFill/>
                </a:ln>
                <a:solidFill>
                  <a:srgbClr val="0078D4"/>
                </a:solidFill>
                <a:effectLst/>
                <a:uLnTx/>
                <a:uFillTx/>
                <a:latin typeface="Segoe Sans Text Semibold"/>
                <a:ea typeface="+mn-ea"/>
                <a:cs typeface="+mn-cs"/>
              </a:rPr>
              <a:t> </a:t>
            </a:r>
            <a:r>
              <a:rPr kumimoji="0" lang="en-US" sz="1400" b="0" i="0" u="none" strike="noStrike" kern="1200" cap="none" spc="0" normalizeH="0" baseline="0" noProof="0" dirty="0">
                <a:ln>
                  <a:noFill/>
                </a:ln>
                <a:solidFill>
                  <a:srgbClr val="0078D4"/>
                </a:solidFill>
                <a:effectLst/>
                <a:uLnTx/>
                <a:uFillTx/>
                <a:latin typeface="Segoe Sans Text Semibold"/>
                <a:ea typeface="+mn-ea"/>
                <a:cs typeface="+mn-cs"/>
              </a:rPr>
              <a:t>for customer‘s Azure Integration to RISE </a:t>
            </a:r>
            <a:r>
              <a:rPr kumimoji="0" lang="en-US" sz="1400" b="0" i="0" u="none" strike="noStrike" kern="1200" cap="none" spc="0" normalizeH="0" baseline="0" noProof="0" dirty="0">
                <a:ln w="3175">
                  <a:noFill/>
                </a:ln>
                <a:solidFill>
                  <a:srgbClr val="0078D4"/>
                </a:solidFill>
                <a:effectLst/>
                <a:uLnTx/>
                <a:uFillTx/>
                <a:latin typeface="Segoe Sans Text Semibold"/>
                <a:ea typeface="+mn-ea"/>
                <a:cs typeface="+mn-cs"/>
              </a:rPr>
              <a:t>Assessment </a:t>
            </a:r>
            <a:endParaRPr kumimoji="0" lang="en-US" sz="1400" b="0" i="0" u="none" strike="noStrike" kern="0" cap="none" spc="0" normalizeH="0" baseline="0" noProof="0" dirty="0">
              <a:ln>
                <a:noFill/>
              </a:ln>
              <a:solidFill>
                <a:srgbClr val="0078D4"/>
              </a:solidFill>
              <a:effectLst/>
              <a:uLnTx/>
              <a:uFillTx/>
              <a:latin typeface="Segoe Sans Text Semibold"/>
              <a:ea typeface="+mn-ea"/>
              <a:cs typeface="+mn-cs"/>
            </a:endParaRPr>
          </a:p>
          <a:p>
            <a:pPr marL="511175" marR="0" lvl="1" indent="-1841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The Well Architected Framework Assessment for customer‘s Azure Integration to RISE predominantly focuses on Azure outside of the customer‘s RISE subscription, but in some instances, questions will cross over into the RISE environment which have been pre-screened by SAP ECS. </a:t>
            </a:r>
          </a:p>
          <a:p>
            <a:pPr marL="511175" marR="0" lvl="1" indent="-184150" algn="l" defTabSz="914400" rtl="0" eaLnBrk="1" fontAlgn="auto" latinLnBrk="0" hangingPunct="1">
              <a:lnSpc>
                <a:spcPct val="100000"/>
              </a:lnSpc>
              <a:spcBef>
                <a:spcPts val="6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Each question is identified by its scope in column C of each questionnaire:</a:t>
            </a:r>
          </a:p>
          <a:p>
            <a:pPr marL="762000" marR="0" lvl="2" indent="-190500" algn="l" defTabSz="914400" rtl="0" eaLnBrk="1" fontAlgn="auto" latinLnBrk="0" hangingPunct="1">
              <a:lnSpc>
                <a:spcPct val="100000"/>
              </a:lnSpc>
              <a:spcBef>
                <a:spcPts val="0"/>
              </a:spcBef>
              <a:spcAft>
                <a:spcPts val="600"/>
              </a:spcAft>
              <a:buClrTx/>
              <a:buSzTx/>
              <a:buFont typeface="Segoe Sans Text" pitchFamily="2"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Native tenant – applicable to Azure resources and services running in the customer-owned tenant (such as landing zone, hub network, Entra ID tenant)</a:t>
            </a:r>
          </a:p>
          <a:p>
            <a:pPr marL="762000" marR="0" lvl="2" indent="-190500" algn="l" defTabSz="914400" rtl="0" eaLnBrk="1" fontAlgn="auto" latinLnBrk="0" hangingPunct="1">
              <a:lnSpc>
                <a:spcPct val="100000"/>
              </a:lnSpc>
              <a:spcBef>
                <a:spcPts val="0"/>
              </a:spcBef>
              <a:spcAft>
                <a:spcPts val="600"/>
              </a:spcAft>
              <a:buClrTx/>
              <a:buSzTx/>
              <a:buFont typeface="Segoe Sans Text" pitchFamily="2"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Hybrid – applicable for integrations between the customer native tenant and the RISE subscription (such as configuring EntraID for MFA and sign-on to RISE systems)</a:t>
            </a:r>
          </a:p>
          <a:p>
            <a:pPr marL="517525" marR="0" lvl="1" indent="-182563" algn="l" defTabSz="914400" rtl="0" eaLnBrk="1" fontAlgn="auto" latinLnBrk="0" hangingPunct="1">
              <a:lnSpc>
                <a:spcPct val="100000"/>
              </a:lnSpc>
              <a:spcBef>
                <a:spcPts val="60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There are three questionnaires:</a:t>
            </a:r>
          </a:p>
          <a:p>
            <a:pPr marL="752475" marR="0" lvl="2" indent="-190500" algn="l" defTabSz="914400" rtl="0" eaLnBrk="1" fontAlgn="auto" latinLnBrk="0" hangingPunct="1">
              <a:lnSpc>
                <a:spcPct val="100000"/>
              </a:lnSpc>
              <a:spcBef>
                <a:spcPts val="0"/>
              </a:spcBef>
              <a:spcAft>
                <a:spcPts val="200"/>
              </a:spcAft>
              <a:buClrTx/>
              <a:buSzTx/>
              <a:buFont typeface="Segoe Sans Text" pitchFamily="2"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Security</a:t>
            </a:r>
          </a:p>
          <a:p>
            <a:pPr marL="752475" marR="0" lvl="2" indent="-190500" algn="l" defTabSz="914400" rtl="0" eaLnBrk="1" fontAlgn="auto" latinLnBrk="0" hangingPunct="1">
              <a:lnSpc>
                <a:spcPct val="100000"/>
              </a:lnSpc>
              <a:spcBef>
                <a:spcPts val="0"/>
              </a:spcBef>
              <a:spcAft>
                <a:spcPts val="200"/>
              </a:spcAft>
              <a:buClrTx/>
              <a:buSzTx/>
              <a:buFont typeface="Segoe Sans Text" pitchFamily="2"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Networking </a:t>
            </a:r>
          </a:p>
          <a:p>
            <a:pPr marL="752475" marR="0" lvl="2" indent="-190500" algn="l" defTabSz="914400" rtl="0" eaLnBrk="1" fontAlgn="auto" latinLnBrk="0" hangingPunct="1">
              <a:lnSpc>
                <a:spcPct val="100000"/>
              </a:lnSpc>
              <a:spcBef>
                <a:spcPts val="0"/>
              </a:spcBef>
              <a:spcAft>
                <a:spcPts val="200"/>
              </a:spcAft>
              <a:buClrTx/>
              <a:buSzTx/>
              <a:buFont typeface="Segoe Sans Text" pitchFamily="2"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Identity </a:t>
            </a:r>
          </a:p>
        </p:txBody>
      </p:sp>
      <p:sp>
        <p:nvSpPr>
          <p:cNvPr id="22" name="TextBox 21">
            <a:extLst>
              <a:ext uri="{FF2B5EF4-FFF2-40B4-BE49-F238E27FC236}">
                <a16:creationId xmlns:a16="http://schemas.microsoft.com/office/drawing/2014/main" id="{E0CFB7E1-5917-6428-FAB7-0B980EB460BE}"/>
              </a:ext>
            </a:extLst>
          </p:cNvPr>
          <p:cNvSpPr txBox="1"/>
          <p:nvPr/>
        </p:nvSpPr>
        <p:spPr>
          <a:xfrm>
            <a:off x="7715115" y="1590439"/>
            <a:ext cx="3849995" cy="2467342"/>
          </a:xfrm>
          <a:prstGeom prst="rect">
            <a:avLst/>
          </a:prstGeom>
          <a:noFill/>
        </p:spPr>
        <p:txBody>
          <a:bodyPr wrap="square">
            <a:spAutoFit/>
          </a:bodyPr>
          <a:lstStyle/>
          <a:p>
            <a:pPr marL="255588" marR="0" lvl="1" indent="-255588"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solidFill>
                  <a:srgbClr val="0078D4"/>
                </a:solidFill>
                <a:effectLst/>
                <a:uLnTx/>
                <a:uFillTx/>
                <a:latin typeface="Segoe Sans Text Semibold"/>
                <a:ea typeface="+mn-ea"/>
                <a:cs typeface="+mn-cs"/>
              </a:rPr>
              <a:t>2. Azure Platform Health checks </a:t>
            </a:r>
          </a:p>
          <a:p>
            <a:pPr marL="479425" marR="0" lvl="1" indent="-158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Segoe Sans Text"/>
                <a:ea typeface="+mn-ea"/>
                <a:cs typeface="+mn-cs"/>
              </a:rPr>
              <a:t>SAP RISE/Grow Platform Health checks using workload Explorer covering</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Physical Host Health</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ARM operations</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Live migration</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Platform Initiated downtime</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Networking</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Azure maintenance</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MS support tickets </a:t>
            </a:r>
          </a:p>
          <a:p>
            <a:pPr marL="715963" marR="0" lvl="2" indent="-166688" algn="l" defTabSz="914400" rtl="0" eaLnBrk="1" fontAlgn="auto" latinLnBrk="0" hangingPunct="1">
              <a:lnSpc>
                <a:spcPct val="100000"/>
              </a:lnSpc>
              <a:spcBef>
                <a:spcPts val="200"/>
              </a:spcBef>
              <a:spcAft>
                <a:spcPts val="200"/>
              </a:spcAft>
              <a:buClrTx/>
              <a:buSzTx/>
              <a:buFont typeface="Segoe Sans Text" pitchFamily="2" charset="0"/>
              <a:buChar char="–"/>
              <a:tabLst/>
              <a:defRPr/>
            </a:pPr>
            <a:r>
              <a:rPr kumimoji="0" lang="en-US" sz="1100" b="0" i="0" u="none" strike="noStrike" kern="1200" cap="none" spc="0" normalizeH="0" baseline="0" noProof="0" dirty="0">
                <a:ln>
                  <a:noFill/>
                </a:ln>
                <a:solidFill>
                  <a:srgbClr val="000000"/>
                </a:solidFill>
                <a:effectLst/>
                <a:uLnTx/>
                <a:uFillTx/>
                <a:latin typeface="Segoe Sans Text"/>
                <a:ea typeface="+mn-ea"/>
                <a:cs typeface="+mn-cs"/>
              </a:rPr>
              <a:t>General performance overview </a:t>
            </a:r>
          </a:p>
        </p:txBody>
      </p:sp>
      <p:sp>
        <p:nvSpPr>
          <p:cNvPr id="23" name="TextBox 22">
            <a:extLst>
              <a:ext uri="{FF2B5EF4-FFF2-40B4-BE49-F238E27FC236}">
                <a16:creationId xmlns:a16="http://schemas.microsoft.com/office/drawing/2014/main" id="{30C391F0-A15B-803A-B319-112A03604366}"/>
              </a:ext>
            </a:extLst>
          </p:cNvPr>
          <p:cNvSpPr txBox="1"/>
          <p:nvPr/>
        </p:nvSpPr>
        <p:spPr>
          <a:xfrm>
            <a:off x="7715115" y="4138608"/>
            <a:ext cx="384999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78D4"/>
                </a:solidFill>
                <a:effectLst/>
                <a:uLnTx/>
                <a:uFillTx/>
                <a:latin typeface="Segoe Sans Text Semibold"/>
                <a:ea typeface="+mn-ea"/>
                <a:cs typeface="+mn-cs"/>
              </a:rPr>
              <a:t>3. </a:t>
            </a:r>
            <a:r>
              <a:rPr kumimoji="0" lang="en-US" sz="1400" b="0" i="0" u="none" strike="noStrike" kern="1200" cap="none" spc="0" normalizeH="0" baseline="0" noProof="0" dirty="0">
                <a:ln>
                  <a:noFill/>
                </a:ln>
                <a:solidFill>
                  <a:srgbClr val="0078D4"/>
                </a:solidFill>
                <a:effectLst/>
                <a:uLnTx/>
                <a:uFillTx/>
                <a:latin typeface="Segoe Sans Text Semibold"/>
                <a:ea typeface="+mn-ea"/>
                <a:cs typeface="+mn-cs"/>
              </a:rPr>
              <a:t>Provide actionable and prioritized observations to address identified risks</a:t>
            </a: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4" name="TextBox 3">
            <a:extLst>
              <a:ext uri="{FF2B5EF4-FFF2-40B4-BE49-F238E27FC236}">
                <a16:creationId xmlns:a16="http://schemas.microsoft.com/office/drawing/2014/main" id="{A20B88D7-5A80-EEBC-75D7-DEBC4AB6E175}"/>
              </a:ext>
            </a:extLst>
          </p:cNvPr>
          <p:cNvSpPr txBox="1"/>
          <p:nvPr/>
        </p:nvSpPr>
        <p:spPr>
          <a:xfrm>
            <a:off x="700953" y="1513687"/>
            <a:ext cx="2309042"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5" name="Graphic 23">
            <a:extLst>
              <a:ext uri="{FF2B5EF4-FFF2-40B4-BE49-F238E27FC236}">
                <a16:creationId xmlns:a16="http://schemas.microsoft.com/office/drawing/2014/main" id="{07880C02-FC99-B65E-2F68-EEE7BFFB7BC0}"/>
              </a:ext>
              <a:ext uri="{C183D7F6-B498-43B3-948B-1728B52AA6E4}">
                <adec:decorative xmlns:adec="http://schemas.microsoft.com/office/drawing/2017/decorative" val="1"/>
              </a:ext>
            </a:extLst>
          </p:cNvPr>
          <p:cNvSpPr/>
          <p:nvPr/>
        </p:nvSpPr>
        <p:spPr>
          <a:xfrm>
            <a:off x="679933" y="193418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 name="Graphic 23">
            <a:extLst>
              <a:ext uri="{FF2B5EF4-FFF2-40B4-BE49-F238E27FC236}">
                <a16:creationId xmlns:a16="http://schemas.microsoft.com/office/drawing/2014/main" id="{62B98403-71FA-D1F5-8F10-7D2095567AD9}"/>
              </a:ext>
              <a:ext uri="{C183D7F6-B498-43B3-948B-1728B52AA6E4}">
                <adec:decorative xmlns:adec="http://schemas.microsoft.com/office/drawing/2017/decorative" val="1"/>
              </a:ext>
            </a:extLst>
          </p:cNvPr>
          <p:cNvSpPr/>
          <p:nvPr/>
        </p:nvSpPr>
        <p:spPr>
          <a:xfrm>
            <a:off x="679933" y="2551888"/>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Graphic 23">
            <a:extLst>
              <a:ext uri="{FF2B5EF4-FFF2-40B4-BE49-F238E27FC236}">
                <a16:creationId xmlns:a16="http://schemas.microsoft.com/office/drawing/2014/main" id="{9EB5D656-BA2C-CDE5-E13C-BBE046292E9B}"/>
              </a:ext>
              <a:ext uri="{C183D7F6-B498-43B3-948B-1728B52AA6E4}">
                <adec:decorative xmlns:adec="http://schemas.microsoft.com/office/drawing/2017/decorative" val="1"/>
              </a:ext>
            </a:extLst>
          </p:cNvPr>
          <p:cNvSpPr/>
          <p:nvPr/>
        </p:nvSpPr>
        <p:spPr>
          <a:xfrm>
            <a:off x="677306" y="2828863"/>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6119D55C-093B-9CC9-FE66-2DE2EE363496}"/>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7" name="Group 6">
            <a:extLst>
              <a:ext uri="{FF2B5EF4-FFF2-40B4-BE49-F238E27FC236}">
                <a16:creationId xmlns:a16="http://schemas.microsoft.com/office/drawing/2014/main" id="{696EEEDD-3FC7-5B42-EBD3-1386048D6535}"/>
              </a:ext>
            </a:extLst>
          </p:cNvPr>
          <p:cNvGrpSpPr/>
          <p:nvPr/>
        </p:nvGrpSpPr>
        <p:grpSpPr>
          <a:xfrm>
            <a:off x="3131911" y="1445519"/>
            <a:ext cx="8354749" cy="4567060"/>
            <a:chOff x="3122613" y="2481106"/>
            <a:chExt cx="8521464" cy="4920648"/>
          </a:xfrm>
        </p:grpSpPr>
        <p:grpSp>
          <p:nvGrpSpPr>
            <p:cNvPr id="9" name="Group 8">
              <a:extLst>
                <a:ext uri="{FF2B5EF4-FFF2-40B4-BE49-F238E27FC236}">
                  <a16:creationId xmlns:a16="http://schemas.microsoft.com/office/drawing/2014/main" id="{1F965BAD-0652-F7B1-6853-934CB731F7F9}"/>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12" name="Rectangle: Rounded Corners 11">
                <a:extLst>
                  <a:ext uri="{FF2B5EF4-FFF2-40B4-BE49-F238E27FC236}">
                    <a16:creationId xmlns:a16="http://schemas.microsoft.com/office/drawing/2014/main" id="{5084D17E-0E81-CD35-624D-A1F9D03D9C4F}"/>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ectangle: Rounded Corners 12">
                <a:extLst>
                  <a:ext uri="{FF2B5EF4-FFF2-40B4-BE49-F238E27FC236}">
                    <a16:creationId xmlns:a16="http://schemas.microsoft.com/office/drawing/2014/main" id="{B944E5D3-8481-84F9-767B-AFF4EE2DF99D}"/>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11" name="Arrow: Bent 10">
              <a:extLst>
                <a:ext uri="{FF2B5EF4-FFF2-40B4-BE49-F238E27FC236}">
                  <a16:creationId xmlns:a16="http://schemas.microsoft.com/office/drawing/2014/main" id="{4CA65ABF-A84A-EE20-3DEB-9E28B351705E}"/>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21132637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4F18B-03C9-92E1-C199-B23D718ABBD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2846E77-58DA-9A11-69A4-7D8CE994CE29}"/>
              </a:ext>
              <a:ext uri="{C183D7F6-B498-43B3-948B-1728B52AA6E4}">
                <adec:decorative xmlns:adec="http://schemas.microsoft.com/office/drawing/2017/decorative" val="1"/>
              </a:ext>
            </a:extLst>
          </p:cNvPr>
          <p:cNvGrpSpPr/>
          <p:nvPr/>
        </p:nvGrpSpPr>
        <p:grpSpPr>
          <a:xfrm>
            <a:off x="3807940" y="470535"/>
            <a:ext cx="7947970" cy="5109166"/>
            <a:chOff x="4173102" y="672997"/>
            <a:chExt cx="7947970" cy="5109166"/>
          </a:xfrm>
        </p:grpSpPr>
        <p:grpSp>
          <p:nvGrpSpPr>
            <p:cNvPr id="66" name="Group 65">
              <a:extLst>
                <a:ext uri="{FF2B5EF4-FFF2-40B4-BE49-F238E27FC236}">
                  <a16:creationId xmlns:a16="http://schemas.microsoft.com/office/drawing/2014/main" id="{B8B8576E-E456-5CB7-50AC-F825635ACCA9}"/>
                </a:ext>
                <a:ext uri="{C183D7F6-B498-43B3-948B-1728B52AA6E4}">
                  <adec:decorative xmlns:adec="http://schemas.microsoft.com/office/drawing/2017/decorative" val="1"/>
                </a:ext>
              </a:extLst>
            </p:cNvPr>
            <p:cNvGrpSpPr/>
            <p:nvPr/>
          </p:nvGrpSpPr>
          <p:grpSpPr>
            <a:xfrm>
              <a:off x="4173102" y="672997"/>
              <a:ext cx="7947970" cy="5109166"/>
              <a:chOff x="4173102" y="925984"/>
              <a:chExt cx="7947970" cy="5109166"/>
            </a:xfrm>
          </p:grpSpPr>
          <p:grpSp>
            <p:nvGrpSpPr>
              <p:cNvPr id="67" name="Group 66" descr="Venn diagram of three intersecting circles, labeled partner, customer, and Microsoft. The intersection of all three circles is labeled joint governance. 23 small circles around the edge show who is responsible for different tasks.">
                <a:extLst>
                  <a:ext uri="{FF2B5EF4-FFF2-40B4-BE49-F238E27FC236}">
                    <a16:creationId xmlns:a16="http://schemas.microsoft.com/office/drawing/2014/main" id="{0F2292B7-F605-705A-ADFC-5216B8A56802}"/>
                  </a:ext>
                </a:extLst>
              </p:cNvPr>
              <p:cNvGrpSpPr/>
              <p:nvPr/>
            </p:nvGrpSpPr>
            <p:grpSpPr>
              <a:xfrm>
                <a:off x="4173102" y="925984"/>
                <a:ext cx="7947970" cy="5109166"/>
                <a:chOff x="4022721" y="722264"/>
                <a:chExt cx="7947970" cy="5109166"/>
              </a:xfrm>
            </p:grpSpPr>
            <p:sp>
              <p:nvSpPr>
                <p:cNvPr id="71" name="Freeform: Shape 70">
                  <a:extLst>
                    <a:ext uri="{FF2B5EF4-FFF2-40B4-BE49-F238E27FC236}">
                      <a16:creationId xmlns:a16="http://schemas.microsoft.com/office/drawing/2014/main" id="{353A6FA9-C391-277B-E676-131067C8CFC8}"/>
                    </a:ext>
                  </a:extLst>
                </p:cNvPr>
                <p:cNvSpPr/>
                <p:nvPr/>
              </p:nvSpPr>
              <p:spPr>
                <a:xfrm>
                  <a:off x="6648051" y="1338072"/>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2" name="Freeform: Shape 71">
                  <a:extLst>
                    <a:ext uri="{FF2B5EF4-FFF2-40B4-BE49-F238E27FC236}">
                      <a16:creationId xmlns:a16="http://schemas.microsoft.com/office/drawing/2014/main" id="{0507679B-CA23-BE54-60A3-3D48D39924A0}"/>
                    </a:ext>
                  </a:extLst>
                </p:cNvPr>
                <p:cNvSpPr/>
                <p:nvPr/>
              </p:nvSpPr>
              <p:spPr>
                <a:xfrm>
                  <a:off x="7623385" y="2953191"/>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3" name="Freeform: Shape 72">
                  <a:extLst>
                    <a:ext uri="{FF2B5EF4-FFF2-40B4-BE49-F238E27FC236}">
                      <a16:creationId xmlns:a16="http://schemas.microsoft.com/office/drawing/2014/main" id="{DB507937-4718-7C53-E1A0-CA181C74B69C}"/>
                    </a:ext>
                  </a:extLst>
                </p:cNvPr>
                <p:cNvSpPr/>
                <p:nvPr/>
              </p:nvSpPr>
              <p:spPr>
                <a:xfrm>
                  <a:off x="5737001" y="2990233"/>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4" name="Freeform: Shape 73">
                  <a:extLst>
                    <a:ext uri="{FF2B5EF4-FFF2-40B4-BE49-F238E27FC236}">
                      <a16:creationId xmlns:a16="http://schemas.microsoft.com/office/drawing/2014/main" id="{FEEB340B-0053-6765-1FCD-F21DB404E107}"/>
                    </a:ext>
                  </a:extLst>
                </p:cNvPr>
                <p:cNvSpPr/>
                <p:nvPr/>
              </p:nvSpPr>
              <p:spPr>
                <a:xfrm>
                  <a:off x="5717907" y="1318978"/>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37576">
                      <a:srgbClr val="416DCD"/>
                    </a:gs>
                    <a:gs pos="77000">
                      <a:srgbClr val="1A7385"/>
                    </a:gs>
                    <a:gs pos="100000">
                      <a:srgbClr val="41B8A4"/>
                    </a:gs>
                    <a:gs pos="0">
                      <a:srgbClr val="004981"/>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Display Semibold" pitchFamily="2" charset="0"/>
                    <a:ea typeface="+mn-ea"/>
                    <a:cs typeface="+mn-cs"/>
                  </a:endParaRPr>
                </a:p>
              </p:txBody>
            </p:sp>
            <p:sp>
              <p:nvSpPr>
                <p:cNvPr id="75" name="Freeform: Shape 74">
                  <a:extLst>
                    <a:ext uri="{FF2B5EF4-FFF2-40B4-BE49-F238E27FC236}">
                      <a16:creationId xmlns:a16="http://schemas.microsoft.com/office/drawing/2014/main" id="{F90D111B-D22E-599A-4ADF-AAE97836BA43}"/>
                    </a:ext>
                  </a:extLst>
                </p:cNvPr>
                <p:cNvSpPr/>
                <p:nvPr/>
              </p:nvSpPr>
              <p:spPr>
                <a:xfrm>
                  <a:off x="7441990" y="3198233"/>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0">
                        <a:srgbClr val="0078D4"/>
                      </a:gs>
                      <a:gs pos="71000">
                        <a:srgbClr val="0E6083"/>
                      </a:gs>
                      <a:gs pos="100000">
                        <a:srgbClr val="41B8A4"/>
                      </a:gs>
                    </a:gsLst>
                    <a:path path="circle">
                      <a:fillToRect r="100000" b="100000"/>
                    </a:path>
                    <a:tileRect l="-100000" t="-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WAF</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 Assessment </a:t>
                  </a:r>
                </a:p>
              </p:txBody>
            </p:sp>
            <p:grpSp>
              <p:nvGrpSpPr>
                <p:cNvPr id="77" name="Group 7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84B8E919-65F6-4145-D7F3-C7F5F65720F8}"/>
                    </a:ext>
                  </a:extLst>
                </p:cNvPr>
                <p:cNvGrpSpPr/>
                <p:nvPr/>
              </p:nvGrpSpPr>
              <p:grpSpPr>
                <a:xfrm>
                  <a:off x="4027008" y="727997"/>
                  <a:ext cx="6033147" cy="4401118"/>
                  <a:chOff x="3669200" y="727997"/>
                  <a:chExt cx="6033147" cy="4401118"/>
                </a:xfrm>
              </p:grpSpPr>
              <p:grpSp>
                <p:nvGrpSpPr>
                  <p:cNvPr id="110" name="Group 109">
                    <a:extLst>
                      <a:ext uri="{FF2B5EF4-FFF2-40B4-BE49-F238E27FC236}">
                        <a16:creationId xmlns:a16="http://schemas.microsoft.com/office/drawing/2014/main" id="{34A0B51F-BBFB-0307-4369-32A4A9A9EB66}"/>
                      </a:ext>
                    </a:extLst>
                  </p:cNvPr>
                  <p:cNvGrpSpPr/>
                  <p:nvPr/>
                </p:nvGrpSpPr>
                <p:grpSpPr>
                  <a:xfrm>
                    <a:off x="5392257" y="1295777"/>
                    <a:ext cx="4310090" cy="3833338"/>
                    <a:chOff x="5392257" y="1295777"/>
                    <a:chExt cx="4310090" cy="3833338"/>
                  </a:xfrm>
                </p:grpSpPr>
                <p:grpSp>
                  <p:nvGrpSpPr>
                    <p:cNvPr id="112" name="Group 111">
                      <a:extLst>
                        <a:ext uri="{FF2B5EF4-FFF2-40B4-BE49-F238E27FC236}">
                          <a16:creationId xmlns:a16="http://schemas.microsoft.com/office/drawing/2014/main" id="{F8F01601-8FBC-0F63-9896-0A848556DC7C}"/>
                        </a:ext>
                      </a:extLst>
                    </p:cNvPr>
                    <p:cNvGrpSpPr/>
                    <p:nvPr/>
                  </p:nvGrpSpPr>
                  <p:grpSpPr>
                    <a:xfrm>
                      <a:off x="5392257" y="1295777"/>
                      <a:ext cx="3489107" cy="3833338"/>
                      <a:chOff x="5392257" y="1295777"/>
                      <a:chExt cx="3489107" cy="3833338"/>
                    </a:xfrm>
                  </p:grpSpPr>
                  <p:sp>
                    <p:nvSpPr>
                      <p:cNvPr id="135" name="Oval 134">
                        <a:extLst>
                          <a:ext uri="{FF2B5EF4-FFF2-40B4-BE49-F238E27FC236}">
                            <a16:creationId xmlns:a16="http://schemas.microsoft.com/office/drawing/2014/main" id="{A76FEA8D-9D65-5721-B665-692A84B28CB0}"/>
                          </a:ext>
                        </a:extLst>
                      </p:cNvPr>
                      <p:cNvSpPr>
                        <a:spLocks noChangeAspect="1"/>
                      </p:cNvSpPr>
                      <p:nvPr/>
                    </p:nvSpPr>
                    <p:spPr>
                      <a:xfrm>
                        <a:off x="7748280" y="1295777"/>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3" name="Oval 122">
                        <a:extLst>
                          <a:ext uri="{FF2B5EF4-FFF2-40B4-BE49-F238E27FC236}">
                            <a16:creationId xmlns:a16="http://schemas.microsoft.com/office/drawing/2014/main" id="{F7311663-CCB8-1679-22E9-384365651227}"/>
                          </a:ext>
                        </a:extLst>
                      </p:cNvPr>
                      <p:cNvSpPr>
                        <a:spLocks noChangeAspect="1"/>
                      </p:cNvSpPr>
                      <p:nvPr/>
                    </p:nvSpPr>
                    <p:spPr>
                      <a:xfrm>
                        <a:off x="6785419" y="1502838"/>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4" name="Oval 123">
                        <a:extLst>
                          <a:ext uri="{FF2B5EF4-FFF2-40B4-BE49-F238E27FC236}">
                            <a16:creationId xmlns:a16="http://schemas.microsoft.com/office/drawing/2014/main" id="{729F97BB-1221-7CC0-CF55-5D4A763CE56F}"/>
                          </a:ext>
                        </a:extLst>
                      </p:cNvPr>
                      <p:cNvSpPr>
                        <a:spLocks noChangeAspect="1"/>
                      </p:cNvSpPr>
                      <p:nvPr/>
                    </p:nvSpPr>
                    <p:spPr>
                      <a:xfrm>
                        <a:off x="8411817" y="1637204"/>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6" name="Oval 125">
                        <a:extLst>
                          <a:ext uri="{FF2B5EF4-FFF2-40B4-BE49-F238E27FC236}">
                            <a16:creationId xmlns:a16="http://schemas.microsoft.com/office/drawing/2014/main" id="{7B099D4D-B15B-F2E7-119A-4EA965190BD1}"/>
                          </a:ext>
                        </a:extLst>
                      </p:cNvPr>
                      <p:cNvSpPr>
                        <a:spLocks noChangeAspect="1"/>
                      </p:cNvSpPr>
                      <p:nvPr/>
                    </p:nvSpPr>
                    <p:spPr>
                      <a:xfrm>
                        <a:off x="8753782" y="2185925"/>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7" name="Oval 126">
                        <a:extLst>
                          <a:ext uri="{FF2B5EF4-FFF2-40B4-BE49-F238E27FC236}">
                            <a16:creationId xmlns:a16="http://schemas.microsoft.com/office/drawing/2014/main" id="{83DBEBF0-8E22-70F2-41BA-7785C72A2BBA}"/>
                          </a:ext>
                        </a:extLst>
                      </p:cNvPr>
                      <p:cNvSpPr>
                        <a:spLocks noChangeAspect="1"/>
                      </p:cNvSpPr>
                      <p:nvPr/>
                    </p:nvSpPr>
                    <p:spPr>
                      <a:xfrm>
                        <a:off x="6276978" y="2198099"/>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31" name="Oval 130">
                        <a:extLst>
                          <a:ext uri="{FF2B5EF4-FFF2-40B4-BE49-F238E27FC236}">
                            <a16:creationId xmlns:a16="http://schemas.microsoft.com/office/drawing/2014/main" id="{B31191FD-7278-F84D-DEEF-77241F136254}"/>
                          </a:ext>
                        </a:extLst>
                      </p:cNvPr>
                      <p:cNvSpPr>
                        <a:spLocks noChangeAspect="1"/>
                      </p:cNvSpPr>
                      <p:nvPr/>
                    </p:nvSpPr>
                    <p:spPr>
                      <a:xfrm>
                        <a:off x="5592874" y="5001533"/>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33" name="Oval 132">
                        <a:extLst>
                          <a:ext uri="{FF2B5EF4-FFF2-40B4-BE49-F238E27FC236}">
                            <a16:creationId xmlns:a16="http://schemas.microsoft.com/office/drawing/2014/main" id="{4305A4FF-C8A3-DC13-2C38-FF3AEE71BAF4}"/>
                          </a:ext>
                        </a:extLst>
                      </p:cNvPr>
                      <p:cNvSpPr>
                        <a:spLocks noChangeAspect="1"/>
                      </p:cNvSpPr>
                      <p:nvPr/>
                    </p:nvSpPr>
                    <p:spPr>
                      <a:xfrm>
                        <a:off x="5392257" y="3776310"/>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13" name="TextBox 112">
                      <a:extLst>
                        <a:ext uri="{FF2B5EF4-FFF2-40B4-BE49-F238E27FC236}">
                          <a16:creationId xmlns:a16="http://schemas.microsoft.com/office/drawing/2014/main" id="{8EB4EE1E-005C-E6EA-9BCD-FE8D4F1FE6D6}"/>
                        </a:ext>
                      </a:extLst>
                    </p:cNvPr>
                    <p:cNvSpPr txBox="1"/>
                    <p:nvPr/>
                  </p:nvSpPr>
                  <p:spPr>
                    <a:xfrm>
                      <a:off x="8416479" y="4210750"/>
                      <a:ext cx="1285868" cy="184666"/>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RAP account team</a:t>
                      </a:r>
                    </a:p>
                  </p:txBody>
                </p:sp>
                <p:sp>
                  <p:nvSpPr>
                    <p:cNvPr id="114" name="TextBox 113">
                      <a:extLst>
                        <a:ext uri="{FF2B5EF4-FFF2-40B4-BE49-F238E27FC236}">
                          <a16:creationId xmlns:a16="http://schemas.microsoft.com/office/drawing/2014/main" id="{30E5618A-649E-954C-8CF1-9D658C187F25}"/>
                        </a:ext>
                      </a:extLst>
                    </p:cNvPr>
                    <p:cNvSpPr txBox="1"/>
                    <p:nvPr/>
                  </p:nvSpPr>
                  <p:spPr>
                    <a:xfrm>
                      <a:off x="8416479" y="4526148"/>
                      <a:ext cx="1243580" cy="369332"/>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18" name="TextBox 117">
                      <a:extLst>
                        <a:ext uri="{FF2B5EF4-FFF2-40B4-BE49-F238E27FC236}">
                          <a16:creationId xmlns:a16="http://schemas.microsoft.com/office/drawing/2014/main" id="{AA4F1BB7-AD2C-E1F8-2459-5A49E73A60CC}"/>
                        </a:ext>
                      </a:extLst>
                    </p:cNvPr>
                    <p:cNvSpPr txBox="1"/>
                    <p:nvPr/>
                  </p:nvSpPr>
                  <p:spPr>
                    <a:xfrm>
                      <a:off x="5708897" y="4111594"/>
                      <a:ext cx="1356192"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Sans Text Semibold"/>
                          <a:ea typeface="+mn-ea"/>
                          <a:cs typeface="+mn-cs"/>
                        </a:rPr>
                        <a:t>Customer</a:t>
                      </a:r>
                    </a:p>
                  </p:txBody>
                </p:sp>
                <p:sp>
                  <p:nvSpPr>
                    <p:cNvPr id="119" name="TextBox 118">
                      <a:extLst>
                        <a:ext uri="{FF2B5EF4-FFF2-40B4-BE49-F238E27FC236}">
                          <a16:creationId xmlns:a16="http://schemas.microsoft.com/office/drawing/2014/main" id="{D0490721-A4AC-48A6-0D96-F105D7B2576B}"/>
                        </a:ext>
                      </a:extLst>
                    </p:cNvPr>
                    <p:cNvSpPr txBox="1"/>
                    <p:nvPr/>
                  </p:nvSpPr>
                  <p:spPr>
                    <a:xfrm>
                      <a:off x="8175515" y="3833673"/>
                      <a:ext cx="1383816" cy="307777"/>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Sans Text Semibold"/>
                          <a:ea typeface="+mn-ea"/>
                          <a:cs typeface="+mn-cs"/>
                        </a:rPr>
                        <a:t>Microsoft</a:t>
                      </a:r>
                    </a:p>
                  </p:txBody>
                </p:sp>
                <p:sp>
                  <p:nvSpPr>
                    <p:cNvPr id="120" name="Oval 119">
                      <a:extLst>
                        <a:ext uri="{FF2B5EF4-FFF2-40B4-BE49-F238E27FC236}">
                          <a16:creationId xmlns:a16="http://schemas.microsoft.com/office/drawing/2014/main" id="{F24D49CC-2FDD-BDCD-E38F-071403CB2B0D}"/>
                        </a:ext>
                      </a:extLst>
                    </p:cNvPr>
                    <p:cNvSpPr>
                      <a:spLocks noChangeAspect="1"/>
                    </p:cNvSpPr>
                    <p:nvPr/>
                  </p:nvSpPr>
                  <p:spPr>
                    <a:xfrm>
                      <a:off x="8194132" y="4565683"/>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1" name="Oval 120">
                      <a:extLst>
                        <a:ext uri="{FF2B5EF4-FFF2-40B4-BE49-F238E27FC236}">
                          <a16:creationId xmlns:a16="http://schemas.microsoft.com/office/drawing/2014/main" id="{41D6212B-3F07-BF42-72CB-3A77B4CC1770}"/>
                        </a:ext>
                      </a:extLst>
                    </p:cNvPr>
                    <p:cNvSpPr>
                      <a:spLocks noChangeAspect="1"/>
                    </p:cNvSpPr>
                    <p:nvPr/>
                  </p:nvSpPr>
                  <p:spPr>
                    <a:xfrm>
                      <a:off x="8194132" y="4254681"/>
                      <a:ext cx="127582" cy="127582"/>
                    </a:xfrm>
                    <a:prstGeom prst="ellipse">
                      <a:avLst/>
                    </a:prstGeom>
                    <a:solidFill>
                      <a:srgbClr val="8DC8E8"/>
                    </a:solidFill>
                    <a:ln w="19050">
                      <a:solidFill>
                        <a:srgbClr val="0064A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11" name="Rectangle 110">
                    <a:extLst>
                      <a:ext uri="{FF2B5EF4-FFF2-40B4-BE49-F238E27FC236}">
                        <a16:creationId xmlns:a16="http://schemas.microsoft.com/office/drawing/2014/main" id="{D021F1E8-C502-5763-4EAA-C9951F3B9948}"/>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78" name="Rectangle 77" descr="Partner ">
                  <a:extLst>
                    <a:ext uri="{FF2B5EF4-FFF2-40B4-BE49-F238E27FC236}">
                      <a16:creationId xmlns:a16="http://schemas.microsoft.com/office/drawing/2014/main" id="{133281C5-13DB-9191-2A6E-EF53B88120ED}"/>
                    </a:ext>
                  </a:extLst>
                </p:cNvPr>
                <p:cNvSpPr/>
                <p:nvPr/>
              </p:nvSpPr>
              <p:spPr bwMode="auto">
                <a:xfrm>
                  <a:off x="4671007" y="722264"/>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80" name="TextBox 79">
                  <a:extLst>
                    <a:ext uri="{FF2B5EF4-FFF2-40B4-BE49-F238E27FC236}">
                      <a16:creationId xmlns:a16="http://schemas.microsoft.com/office/drawing/2014/main" id="{303FE352-39D1-A784-81F5-BFA8C5A2CD8D}"/>
                    </a:ext>
                  </a:extLst>
                </p:cNvPr>
                <p:cNvSpPr txBox="1"/>
                <p:nvPr/>
              </p:nvSpPr>
              <p:spPr>
                <a:xfrm>
                  <a:off x="8343640" y="1073242"/>
                  <a:ext cx="1931619"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Confirm SAP applications in scope</a:t>
                  </a:r>
                </a:p>
              </p:txBody>
            </p:sp>
            <p:sp>
              <p:nvSpPr>
                <p:cNvPr id="81" name="TextBox 80">
                  <a:extLst>
                    <a:ext uri="{FF2B5EF4-FFF2-40B4-BE49-F238E27FC236}">
                      <a16:creationId xmlns:a16="http://schemas.microsoft.com/office/drawing/2014/main" id="{B6FBDF3B-52F0-6DD8-9F46-6171764E0B36}"/>
                    </a:ext>
                  </a:extLst>
                </p:cNvPr>
                <p:cNvSpPr txBox="1"/>
                <p:nvPr/>
              </p:nvSpPr>
              <p:spPr>
                <a:xfrm>
                  <a:off x="5096679" y="1386606"/>
                  <a:ext cx="1864739" cy="307777"/>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Participation in WAF assessment &amp; Go-live workshops</a:t>
                  </a:r>
                </a:p>
              </p:txBody>
            </p:sp>
            <p:sp>
              <p:nvSpPr>
                <p:cNvPr id="82" name="TextBox 81">
                  <a:extLst>
                    <a:ext uri="{FF2B5EF4-FFF2-40B4-BE49-F238E27FC236}">
                      <a16:creationId xmlns:a16="http://schemas.microsoft.com/office/drawing/2014/main" id="{56A25CC6-13C8-89A3-0D25-B9CB5EF7B8AE}"/>
                    </a:ext>
                  </a:extLst>
                </p:cNvPr>
                <p:cNvSpPr txBox="1"/>
                <p:nvPr/>
              </p:nvSpPr>
              <p:spPr>
                <a:xfrm>
                  <a:off x="9059531" y="1565713"/>
                  <a:ext cx="2563202"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Provide subscription ID and production VMs, </a:t>
                  </a:r>
                </a:p>
              </p:txBody>
            </p:sp>
            <p:sp>
              <p:nvSpPr>
                <p:cNvPr id="84" name="TextBox 83">
                  <a:extLst>
                    <a:ext uri="{FF2B5EF4-FFF2-40B4-BE49-F238E27FC236}">
                      <a16:creationId xmlns:a16="http://schemas.microsoft.com/office/drawing/2014/main" id="{12C81855-5054-31DE-681D-F05327A05A91}"/>
                    </a:ext>
                  </a:extLst>
                </p:cNvPr>
                <p:cNvSpPr txBox="1"/>
                <p:nvPr/>
              </p:nvSpPr>
              <p:spPr>
                <a:xfrm>
                  <a:off x="9412696" y="2125761"/>
                  <a:ext cx="2007905"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Provide details – Key milestones and current pain points</a:t>
                  </a:r>
                </a:p>
              </p:txBody>
            </p:sp>
            <p:sp>
              <p:nvSpPr>
                <p:cNvPr id="85" name="TextBox 84">
                  <a:extLst>
                    <a:ext uri="{FF2B5EF4-FFF2-40B4-BE49-F238E27FC236}">
                      <a16:creationId xmlns:a16="http://schemas.microsoft.com/office/drawing/2014/main" id="{2C4A0F44-60AA-99FF-7AF3-A098B7C883CD}"/>
                    </a:ext>
                  </a:extLst>
                </p:cNvPr>
                <p:cNvSpPr txBox="1"/>
                <p:nvPr/>
              </p:nvSpPr>
              <p:spPr>
                <a:xfrm>
                  <a:off x="4660958" y="2040946"/>
                  <a:ext cx="1841628" cy="461665"/>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Liaising with customer and providing account-based customer contact Information </a:t>
                  </a:r>
                </a:p>
              </p:txBody>
            </p:sp>
            <p:sp>
              <p:nvSpPr>
                <p:cNvPr id="87" name="Rectangle 86" descr="Customer ">
                  <a:extLst>
                    <a:ext uri="{FF2B5EF4-FFF2-40B4-BE49-F238E27FC236}">
                      <a16:creationId xmlns:a16="http://schemas.microsoft.com/office/drawing/2014/main" id="{7CD6C2F9-8F82-24B9-8CF1-FD651B10A20C}"/>
                    </a:ext>
                  </a:extLst>
                </p:cNvPr>
                <p:cNvSpPr/>
                <p:nvPr/>
              </p:nvSpPr>
              <p:spPr bwMode="auto">
                <a:xfrm>
                  <a:off x="4022721" y="311387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89" name="TextBox 88">
                  <a:extLst>
                    <a:ext uri="{FF2B5EF4-FFF2-40B4-BE49-F238E27FC236}">
                      <a16:creationId xmlns:a16="http://schemas.microsoft.com/office/drawing/2014/main" id="{57EB6094-468D-7605-432D-C957ADC6B372}"/>
                    </a:ext>
                  </a:extLst>
                </p:cNvPr>
                <p:cNvSpPr txBox="1"/>
                <p:nvPr/>
              </p:nvSpPr>
              <p:spPr>
                <a:xfrm>
                  <a:off x="4206827" y="3674532"/>
                  <a:ext cx="1373126" cy="461665"/>
                </a:xfrm>
                <a:prstGeom prst="rect">
                  <a:avLst/>
                </a:prstGeom>
                <a:noFill/>
              </p:spPr>
              <p:txBody>
                <a:bodyPr wrap="squar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Participate and provide inputs in WAF assessment workshop</a:t>
                  </a:r>
                </a:p>
              </p:txBody>
            </p:sp>
            <p:sp>
              <p:nvSpPr>
                <p:cNvPr id="91" name="TextBox 90">
                  <a:extLst>
                    <a:ext uri="{FF2B5EF4-FFF2-40B4-BE49-F238E27FC236}">
                      <a16:creationId xmlns:a16="http://schemas.microsoft.com/office/drawing/2014/main" id="{56EC11E0-49E6-0B61-DDAC-22EF88A557AF}"/>
                    </a:ext>
                  </a:extLst>
                </p:cNvPr>
                <p:cNvSpPr txBox="1"/>
                <p:nvPr/>
              </p:nvSpPr>
              <p:spPr>
                <a:xfrm>
                  <a:off x="4533428" y="4905259"/>
                  <a:ext cx="1280799" cy="307777"/>
                </a:xfrm>
                <a:prstGeom prst="rect">
                  <a:avLst/>
                </a:prstGeom>
                <a:noFill/>
              </p:spPr>
              <p:txBody>
                <a:bodyPr wrap="non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Resources for scoping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close-out calls </a:t>
                  </a:r>
                </a:p>
              </p:txBody>
            </p:sp>
            <p:sp>
              <p:nvSpPr>
                <p:cNvPr id="93" name="Rectangle 92" descr="Microsoft: Account team and Migration Factory ">
                  <a:extLst>
                    <a:ext uri="{FF2B5EF4-FFF2-40B4-BE49-F238E27FC236}">
                      <a16:creationId xmlns:a16="http://schemas.microsoft.com/office/drawing/2014/main" id="{4CEDEE24-E54F-A88D-9FF9-0020D8A3F61F}"/>
                    </a:ext>
                  </a:extLst>
                </p:cNvPr>
                <p:cNvSpPr/>
                <p:nvPr/>
              </p:nvSpPr>
              <p:spPr bwMode="auto">
                <a:xfrm>
                  <a:off x="9099824" y="2907163"/>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94" name="Oval 93" descr="Account team  ">
                  <a:extLst>
                    <a:ext uri="{FF2B5EF4-FFF2-40B4-BE49-F238E27FC236}">
                      <a16:creationId xmlns:a16="http://schemas.microsoft.com/office/drawing/2014/main" id="{F3C53E09-9B66-9268-BB41-B8F38787AF87}"/>
                    </a:ext>
                  </a:extLst>
                </p:cNvPr>
                <p:cNvSpPr>
                  <a:spLocks noChangeAspect="1"/>
                </p:cNvSpPr>
                <p:nvPr/>
              </p:nvSpPr>
              <p:spPr>
                <a:xfrm>
                  <a:off x="9672973" y="3189038"/>
                  <a:ext cx="127582" cy="127582"/>
                </a:xfrm>
                <a:prstGeom prst="ellipse">
                  <a:avLst/>
                </a:prstGeom>
                <a:solidFill>
                  <a:srgbClr val="FFA38B"/>
                </a:solidFill>
                <a:ln w="19050">
                  <a:solidFill>
                    <a:srgbClr val="D5399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95" name="TextBox 94">
                  <a:extLst>
                    <a:ext uri="{FF2B5EF4-FFF2-40B4-BE49-F238E27FC236}">
                      <a16:creationId xmlns:a16="http://schemas.microsoft.com/office/drawing/2014/main" id="{0257AB9B-7F39-BB09-7EDB-F59C902480DD}"/>
                    </a:ext>
                  </a:extLst>
                </p:cNvPr>
                <p:cNvSpPr txBox="1"/>
                <p:nvPr/>
              </p:nvSpPr>
              <p:spPr>
                <a:xfrm>
                  <a:off x="9917035" y="3062422"/>
                  <a:ext cx="1383816"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Communication with SAP and customer </a:t>
                  </a:r>
                </a:p>
              </p:txBody>
            </p:sp>
            <p:sp>
              <p:nvSpPr>
                <p:cNvPr id="98" name="Oval 97">
                  <a:extLst>
                    <a:ext uri="{FF2B5EF4-FFF2-40B4-BE49-F238E27FC236}">
                      <a16:creationId xmlns:a16="http://schemas.microsoft.com/office/drawing/2014/main" id="{A579FDC9-1F51-5B73-4CC8-949490709983}"/>
                    </a:ext>
                    <a:ext uri="{C183D7F6-B498-43B3-948B-1728B52AA6E4}">
                      <adec:decorative xmlns:adec="http://schemas.microsoft.com/office/drawing/2017/decorative" val="1"/>
                    </a:ext>
                  </a:extLst>
                </p:cNvPr>
                <p:cNvSpPr>
                  <a:spLocks noChangeAspect="1"/>
                </p:cNvSpPr>
                <p:nvPr/>
              </p:nvSpPr>
              <p:spPr>
                <a:xfrm>
                  <a:off x="10048511" y="3735964"/>
                  <a:ext cx="127582" cy="127582"/>
                </a:xfrm>
                <a:prstGeom prst="ellipse">
                  <a:avLst/>
                </a:prstGeom>
                <a:solidFill>
                  <a:srgbClr val="8DC8E8"/>
                </a:solidFill>
                <a:ln w="19050">
                  <a:solidFill>
                    <a:srgbClr val="0064A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99" name="TextBox 98">
                  <a:extLst>
                    <a:ext uri="{FF2B5EF4-FFF2-40B4-BE49-F238E27FC236}">
                      <a16:creationId xmlns:a16="http://schemas.microsoft.com/office/drawing/2014/main" id="{7639CD5A-F78A-4AFF-ABBD-9C8E2FC58361}"/>
                    </a:ext>
                  </a:extLst>
                </p:cNvPr>
                <p:cNvSpPr txBox="1"/>
                <p:nvPr/>
              </p:nvSpPr>
              <p:spPr>
                <a:xfrm>
                  <a:off x="10317006" y="3568923"/>
                  <a:ext cx="146276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Nominations for Factory and coordination with SAP ECS</a:t>
                  </a:r>
                </a:p>
              </p:txBody>
            </p:sp>
            <p:sp>
              <p:nvSpPr>
                <p:cNvPr id="106" name="Oval 105">
                  <a:extLst>
                    <a:ext uri="{FF2B5EF4-FFF2-40B4-BE49-F238E27FC236}">
                      <a16:creationId xmlns:a16="http://schemas.microsoft.com/office/drawing/2014/main" id="{44C2EBCB-B572-1581-32C7-B8C9D8B9A4D1}"/>
                    </a:ext>
                    <a:ext uri="{C183D7F6-B498-43B3-948B-1728B52AA6E4}">
                      <adec:decorative xmlns:adec="http://schemas.microsoft.com/office/drawing/2017/decorative" val="1"/>
                    </a:ext>
                  </a:extLst>
                </p:cNvPr>
                <p:cNvSpPr>
                  <a:spLocks noChangeAspect="1"/>
                </p:cNvSpPr>
                <p:nvPr/>
              </p:nvSpPr>
              <p:spPr>
                <a:xfrm>
                  <a:off x="9018555" y="543931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7" name="TextBox 106">
                  <a:extLst>
                    <a:ext uri="{FF2B5EF4-FFF2-40B4-BE49-F238E27FC236}">
                      <a16:creationId xmlns:a16="http://schemas.microsoft.com/office/drawing/2014/main" id="{EFDEBF3D-2D99-108C-24BB-E806CE924F7E}"/>
                    </a:ext>
                    <a:ext uri="{C183D7F6-B498-43B3-948B-1728B52AA6E4}">
                      <adec:decorative xmlns:adec="http://schemas.microsoft.com/office/drawing/2017/decorative" val="1"/>
                    </a:ext>
                  </a:extLst>
                </p:cNvPr>
                <p:cNvSpPr txBox="1"/>
                <p:nvPr/>
              </p:nvSpPr>
              <p:spPr>
                <a:xfrm>
                  <a:off x="8695850" y="5677542"/>
                  <a:ext cx="1285868"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WAF assessment </a:t>
                  </a:r>
                </a:p>
              </p:txBody>
            </p:sp>
            <p:sp>
              <p:nvSpPr>
                <p:cNvPr id="108" name="Oval 107">
                  <a:extLst>
                    <a:ext uri="{FF2B5EF4-FFF2-40B4-BE49-F238E27FC236}">
                      <a16:creationId xmlns:a16="http://schemas.microsoft.com/office/drawing/2014/main" id="{B8F3B86A-2EA8-4A83-09DF-156B327B41D0}"/>
                    </a:ext>
                    <a:ext uri="{C183D7F6-B498-43B3-948B-1728B52AA6E4}">
                      <adec:decorative xmlns:adec="http://schemas.microsoft.com/office/drawing/2017/decorative" val="1"/>
                    </a:ext>
                  </a:extLst>
                </p:cNvPr>
                <p:cNvSpPr>
                  <a:spLocks noChangeAspect="1"/>
                </p:cNvSpPr>
                <p:nvPr/>
              </p:nvSpPr>
              <p:spPr>
                <a:xfrm>
                  <a:off x="10045025" y="45999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9" name="TextBox 108">
                  <a:extLst>
                    <a:ext uri="{FF2B5EF4-FFF2-40B4-BE49-F238E27FC236}">
                      <a16:creationId xmlns:a16="http://schemas.microsoft.com/office/drawing/2014/main" id="{C29F6117-93D4-AB8C-4C2E-90F1A06137D6}"/>
                    </a:ext>
                  </a:extLst>
                </p:cNvPr>
                <p:cNvSpPr txBox="1"/>
                <p:nvPr/>
              </p:nvSpPr>
              <p:spPr>
                <a:xfrm>
                  <a:off x="10249964" y="4509838"/>
                  <a:ext cx="1720727"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Report preparation and providing observations</a:t>
                  </a:r>
                </a:p>
              </p:txBody>
            </p:sp>
          </p:grpSp>
          <p:sp>
            <p:nvSpPr>
              <p:cNvPr id="68" name="TextBox 67">
                <a:extLst>
                  <a:ext uri="{FF2B5EF4-FFF2-40B4-BE49-F238E27FC236}">
                    <a16:creationId xmlns:a16="http://schemas.microsoft.com/office/drawing/2014/main" id="{7362FB3F-D426-1FAD-3AAE-0777A708A6C7}"/>
                  </a:ext>
                </a:extLst>
              </p:cNvPr>
              <p:cNvSpPr txBox="1"/>
              <p:nvPr/>
            </p:nvSpPr>
            <p:spPr>
              <a:xfrm>
                <a:off x="7014644" y="2401819"/>
                <a:ext cx="2195268" cy="307777"/>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Sans Text Semibold"/>
                    <a:ea typeface="+mn-ea"/>
                    <a:cs typeface="+mn-cs"/>
                  </a:rPr>
                  <a:t>SAP</a:t>
                </a:r>
              </a:p>
            </p:txBody>
          </p:sp>
          <p:sp>
            <p:nvSpPr>
              <p:cNvPr id="69" name="Oval 68">
                <a:extLst>
                  <a:ext uri="{FF2B5EF4-FFF2-40B4-BE49-F238E27FC236}">
                    <a16:creationId xmlns:a16="http://schemas.microsoft.com/office/drawing/2014/main" id="{8C5B4DD1-BC10-0C33-770B-3A7E8874D710}"/>
                  </a:ext>
                  <a:ext uri="{C183D7F6-B498-43B3-948B-1728B52AA6E4}">
                    <adec:decorative xmlns:adec="http://schemas.microsoft.com/office/drawing/2017/decorative" val="1"/>
                  </a:ext>
                </a:extLst>
              </p:cNvPr>
              <p:cNvSpPr>
                <a:spLocks noChangeAspect="1"/>
              </p:cNvSpPr>
              <p:nvPr/>
            </p:nvSpPr>
            <p:spPr>
              <a:xfrm>
                <a:off x="9759042" y="5390075"/>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70" name="TextBox 69">
                <a:extLst>
                  <a:ext uri="{FF2B5EF4-FFF2-40B4-BE49-F238E27FC236}">
                    <a16:creationId xmlns:a16="http://schemas.microsoft.com/office/drawing/2014/main" id="{E32DB494-0690-7D7D-7024-7AD39EC3ADAE}"/>
                  </a:ext>
                  <a:ext uri="{C183D7F6-B498-43B3-948B-1728B52AA6E4}">
                    <adec:decorative xmlns:adec="http://schemas.microsoft.com/office/drawing/2017/decorative" val="1"/>
                  </a:ext>
                </a:extLst>
              </p:cNvPr>
              <p:cNvSpPr txBox="1"/>
              <p:nvPr/>
            </p:nvSpPr>
            <p:spPr>
              <a:xfrm>
                <a:off x="9974840" y="5432040"/>
                <a:ext cx="1285868"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Platform health checks</a:t>
                </a:r>
              </a:p>
            </p:txBody>
          </p:sp>
        </p:grpSp>
        <p:sp>
          <p:nvSpPr>
            <p:cNvPr id="42" name="TextBox 41">
              <a:extLst>
                <a:ext uri="{FF2B5EF4-FFF2-40B4-BE49-F238E27FC236}">
                  <a16:creationId xmlns:a16="http://schemas.microsoft.com/office/drawing/2014/main" id="{0DCB6E2A-EEBA-9E9A-BDA8-9EB956A9142A}"/>
                </a:ext>
              </a:extLst>
            </p:cNvPr>
            <p:cNvSpPr txBox="1"/>
            <p:nvPr/>
          </p:nvSpPr>
          <p:spPr>
            <a:xfrm>
              <a:off x="8470737" y="3039599"/>
              <a:ext cx="646439" cy="323165"/>
            </a:xfrm>
            <a:prstGeom prst="rect">
              <a:avLst/>
            </a:prstGeom>
            <a:noFill/>
          </p:spPr>
          <p:txBody>
            <a:bodyPr wrap="squar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ADR, Go-live and joint governance</a:t>
              </a:r>
            </a:p>
          </p:txBody>
        </p:sp>
      </p:grpSp>
      <p:sp>
        <p:nvSpPr>
          <p:cNvPr id="6" name="Rectangle: Rounded Corners 5">
            <a:extLst>
              <a:ext uri="{FF2B5EF4-FFF2-40B4-BE49-F238E27FC236}">
                <a16:creationId xmlns:a16="http://schemas.microsoft.com/office/drawing/2014/main" id="{183765CA-B7A7-2DAE-6F9F-DD3D8F1739C0}"/>
              </a:ext>
            </a:extLst>
          </p:cNvPr>
          <p:cNvSpPr>
            <a:spLocks/>
          </p:cNvSpPr>
          <p:nvPr/>
        </p:nvSpPr>
        <p:spPr bwMode="auto">
          <a:xfrm>
            <a:off x="3943350" y="513396"/>
            <a:ext cx="7677150" cy="5342753"/>
          </a:xfrm>
          <a:prstGeom prst="roundRect">
            <a:avLst>
              <a:gd name="adj" fmla="val 251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04" name="Freeform: Shape 32">
            <a:extLst>
              <a:ext uri="{FF2B5EF4-FFF2-40B4-BE49-F238E27FC236}">
                <a16:creationId xmlns:a16="http://schemas.microsoft.com/office/drawing/2014/main" id="{BE42EB07-1FCB-14BF-7FE2-89000084685A}"/>
              </a:ext>
              <a:ext uri="{C183D7F6-B498-43B3-948B-1728B52AA6E4}">
                <adec:decorative xmlns:adec="http://schemas.microsoft.com/office/drawing/2017/decorative" val="1"/>
              </a:ext>
            </a:extLst>
          </p:cNvPr>
          <p:cNvSpPr/>
          <p:nvPr/>
        </p:nvSpPr>
        <p:spPr bwMode="auto">
          <a:xfrm>
            <a:off x="0" y="0"/>
            <a:ext cx="3819933"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105" name="Title 61">
            <a:extLst>
              <a:ext uri="{FF2B5EF4-FFF2-40B4-BE49-F238E27FC236}">
                <a16:creationId xmlns:a16="http://schemas.microsoft.com/office/drawing/2014/main" id="{B9DB2A12-CBAB-1FBE-1922-E263BD022AC4}"/>
              </a:ext>
            </a:extLst>
          </p:cNvPr>
          <p:cNvSpPr txBox="1">
            <a:spLocks/>
          </p:cNvSpPr>
          <p:nvPr/>
        </p:nvSpPr>
        <p:spPr>
          <a:xfrm>
            <a:off x="419100" y="419100"/>
            <a:ext cx="3162300" cy="2400657"/>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50" normalizeH="0" baseline="0" noProof="0" dirty="0">
                <a:ln w="3175">
                  <a:noFill/>
                </a:ln>
                <a:solidFill>
                  <a:srgbClr val="FFFFFF"/>
                </a:solidFill>
                <a:effectLst/>
                <a:uLnTx/>
                <a:uFillTx/>
                <a:latin typeface="Segoe Sans Text Semibold"/>
                <a:ea typeface="+mn-ea"/>
                <a:cs typeface="Segoe Sans Text" pitchFamily="2" charset="0"/>
              </a:rPr>
              <a:t>Cloud Accelerate Factory </a:t>
            </a:r>
            <a:br>
              <a:rPr kumimoji="0" lang="en-US" sz="3000" b="0" i="0" u="none" strike="noStrike" kern="1200" cap="none" spc="-50" normalizeH="0" baseline="0" noProof="0" dirty="0">
                <a:ln w="3175">
                  <a:noFill/>
                </a:ln>
                <a:solidFill>
                  <a:srgbClr val="FFFFFF"/>
                </a:solidFill>
                <a:effectLst/>
                <a:uLnTx/>
                <a:uFillTx/>
                <a:latin typeface="Segoe Sans Text Semibold"/>
                <a:ea typeface="+mn-ea"/>
                <a:cs typeface="Segoe Sans Text" pitchFamily="2" charset="0"/>
              </a:rPr>
            </a:br>
            <a:r>
              <a:rPr kumimoji="0" lang="en-US" sz="3000" b="0" i="0" u="none" strike="noStrike" kern="1200" cap="none" spc="-50" normalizeH="0" baseline="0" noProof="0" dirty="0">
                <a:ln w="3175">
                  <a:noFill/>
                </a:ln>
                <a:solidFill>
                  <a:srgbClr val="FFFFFF"/>
                </a:solidFill>
                <a:effectLst/>
                <a:uLnTx/>
                <a:uFillTx/>
                <a:latin typeface="Segoe Sans Text"/>
                <a:ea typeface="+mn-ea"/>
                <a:cs typeface="Segoe Sans Text" pitchFamily="2" charset="0"/>
              </a:rPr>
              <a:t>SAP RISE/Grow Acceleration Program (RAP)</a:t>
            </a:r>
          </a:p>
        </p:txBody>
      </p:sp>
      <p:sp>
        <p:nvSpPr>
          <p:cNvPr id="116" name="Title 23">
            <a:extLst>
              <a:ext uri="{FF2B5EF4-FFF2-40B4-BE49-F238E27FC236}">
                <a16:creationId xmlns:a16="http://schemas.microsoft.com/office/drawing/2014/main" id="{D8EC2936-D9A7-1A24-0C8A-3A3FE2DDA6C0}"/>
              </a:ext>
            </a:extLst>
          </p:cNvPr>
          <p:cNvSpPr txBox="1">
            <a:spLocks/>
          </p:cNvSpPr>
          <p:nvPr/>
        </p:nvSpPr>
        <p:spPr>
          <a:xfrm>
            <a:off x="419100" y="3697928"/>
            <a:ext cx="2994025" cy="369332"/>
          </a:xfrm>
          <a:prstGeom prst="rect">
            <a:avLst/>
          </a:prstGeom>
        </p:spPr>
        <p:txBody>
          <a:bodyPr vert="horz" wrap="square" lIns="0" tIns="0" rIns="0" bIns="0" rtlCol="0" anchor="t">
            <a:spAutoFit/>
          </a:bodyPr>
          <a:lstStyle>
            <a:lvl1pPr marL="0" algn="l" defTabSz="932742" rtl="0" eaLnBrk="1" latinLnBrk="0" hangingPunct="1">
              <a:lnSpc>
                <a:spcPct val="100000"/>
              </a:lnSpc>
              <a:spcBef>
                <a:spcPct val="0"/>
              </a:spcBef>
              <a:buNone/>
              <a:defRPr lang="en-US" sz="3200" b="0" kern="1200" cap="none" spc="-50" baseline="0" dirty="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w="3175">
                  <a:noFill/>
                </a:ln>
                <a:solidFill>
                  <a:srgbClr val="FFFFFF"/>
                </a:solidFill>
                <a:effectLst/>
                <a:uLnTx/>
                <a:uFillTx/>
                <a:latin typeface="Segoe Sans Text"/>
                <a:ea typeface="+mn-ea"/>
                <a:cs typeface="Segoe UI" pitchFamily="34" charset="0"/>
              </a:rPr>
              <a:t>Joint delivery model</a:t>
            </a:r>
          </a:p>
        </p:txBody>
      </p:sp>
      <p:cxnSp>
        <p:nvCxnSpPr>
          <p:cNvPr id="117" name="Straight Connector 116">
            <a:extLst>
              <a:ext uri="{FF2B5EF4-FFF2-40B4-BE49-F238E27FC236}">
                <a16:creationId xmlns:a16="http://schemas.microsoft.com/office/drawing/2014/main" id="{D1840ED1-C3F9-5724-4E83-91D4B31274C5}"/>
              </a:ext>
            </a:extLst>
          </p:cNvPr>
          <p:cNvCxnSpPr/>
          <p:nvPr/>
        </p:nvCxnSpPr>
        <p:spPr>
          <a:xfrm>
            <a:off x="419100" y="3258842"/>
            <a:ext cx="884237" cy="0"/>
          </a:xfrm>
          <a:prstGeom prst="line">
            <a:avLst/>
          </a:prstGeom>
          <a:ln w="381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 name="Text Box 3" descr="This is a copyright notice that should be included on the final slide.">
            <a:extLst>
              <a:ext uri="{FF2B5EF4-FFF2-40B4-BE49-F238E27FC236}">
                <a16:creationId xmlns:a16="http://schemas.microsoft.com/office/drawing/2014/main" id="{77139D49-C9CF-C853-E5B6-AED6278B9BBF}"/>
              </a:ext>
            </a:extLst>
          </p:cNvPr>
          <p:cNvSpPr txBox="1">
            <a:spLocks noChangeArrowheads="1"/>
          </p:cNvSpPr>
          <p:nvPr/>
        </p:nvSpPr>
        <p:spPr bwMode="blackWhite">
          <a:xfrm>
            <a:off x="419100" y="6541751"/>
            <a:ext cx="2529539" cy="123111"/>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no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Segoe Sans Text"/>
                <a:ea typeface="+mn-ea"/>
                <a:cs typeface="Segoe Sans Text" pitchFamily="2" charset="0"/>
              </a:rPr>
              <a:t>© Copyright Microsoft Corporation. All rights reserved. </a:t>
            </a:r>
          </a:p>
        </p:txBody>
      </p:sp>
      <p:sp>
        <p:nvSpPr>
          <p:cNvPr id="4" name="TextBox 3">
            <a:extLst>
              <a:ext uri="{FF2B5EF4-FFF2-40B4-BE49-F238E27FC236}">
                <a16:creationId xmlns:a16="http://schemas.microsoft.com/office/drawing/2014/main" id="{68835B60-D761-411F-3D8F-0CA7DC0EE982}"/>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3789620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5469-EAE1-41D3-5C45-3AFF6FC65625}"/>
            </a:ext>
          </a:extLst>
        </p:cNvPr>
        <p:cNvGrpSpPr/>
        <p:nvPr/>
      </p:nvGrpSpPr>
      <p:grpSpPr>
        <a:xfrm>
          <a:off x="0" y="0"/>
          <a:ext cx="0" cy="0"/>
          <a:chOff x="0" y="0"/>
          <a:chExt cx="0" cy="0"/>
        </a:xfrm>
      </p:grpSpPr>
      <p:graphicFrame>
        <p:nvGraphicFramePr>
          <p:cNvPr id="33" name="Table 32" title="Exchange Online Technet Guidance">
            <a:extLst>
              <a:ext uri="{FF2B5EF4-FFF2-40B4-BE49-F238E27FC236}">
                <a16:creationId xmlns:a16="http://schemas.microsoft.com/office/drawing/2014/main" id="{86916262-D605-8F67-595F-55031F46A8C5}"/>
              </a:ext>
            </a:extLst>
          </p:cNvPr>
          <p:cNvGraphicFramePr>
            <a:graphicFrameLocks noGrp="1"/>
          </p:cNvGraphicFramePr>
          <p:nvPr>
            <p:extLst>
              <p:ext uri="{D42A27DB-BD31-4B8C-83A1-F6EECF244321}">
                <p14:modId xmlns:p14="http://schemas.microsoft.com/office/powerpoint/2010/main" val="2647218864"/>
              </p:ext>
            </p:extLst>
          </p:nvPr>
        </p:nvGraphicFramePr>
        <p:xfrm>
          <a:off x="679179" y="1733478"/>
          <a:ext cx="8363469" cy="4830066"/>
        </p:xfrm>
        <a:graphic>
          <a:graphicData uri="http://schemas.openxmlformats.org/drawingml/2006/table">
            <a:tbl>
              <a:tblPr firstRow="1" bandRow="1">
                <a:tableStyleId>{5C22544A-7EE6-4342-B048-85BDC9FD1C3A}</a:tableStyleId>
              </a:tblPr>
              <a:tblGrid>
                <a:gridCol w="274320">
                  <a:extLst>
                    <a:ext uri="{9D8B030D-6E8A-4147-A177-3AD203B41FA5}">
                      <a16:colId xmlns:a16="http://schemas.microsoft.com/office/drawing/2014/main" val="920430407"/>
                    </a:ext>
                  </a:extLst>
                </a:gridCol>
                <a:gridCol w="8089149">
                  <a:extLst>
                    <a:ext uri="{9D8B030D-6E8A-4147-A177-3AD203B41FA5}">
                      <a16:colId xmlns:a16="http://schemas.microsoft.com/office/drawing/2014/main" val="125040094"/>
                    </a:ext>
                  </a:extLst>
                </a:gridCol>
              </a:tblGrid>
              <a:tr h="530437">
                <a:tc gridSpan="2">
                  <a:txBody>
                    <a:bodyPr/>
                    <a:lstStyle/>
                    <a:p>
                      <a:pPr marL="0" marR="0" lvl="0" indent="0" algn="l" rtl="0" eaLnBrk="1" fontAlgn="auto" latinLnBrk="0" hangingPunct="1">
                        <a:lnSpc>
                          <a:spcPct val="100000"/>
                        </a:lnSpc>
                        <a:spcBef>
                          <a:spcPts val="0"/>
                        </a:spcBef>
                        <a:spcAft>
                          <a:spcPts val="0"/>
                        </a:spcAft>
                        <a:buClrTx/>
                        <a:buSzTx/>
                        <a:buFontTx/>
                        <a:buNone/>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will deliver the bidirectional </a:t>
                      </a:r>
                      <a:r>
                        <a:rPr kumimoji="0" lang="en-US" sz="1050" b="1" i="0" u="none" strike="noStrike" kern="1200" cap="none" spc="0" normalizeH="0" baseline="0" noProof="0" dirty="0">
                          <a:ln>
                            <a:noFill/>
                          </a:ln>
                          <a:solidFill>
                            <a:schemeClr val="tx1"/>
                          </a:solidFill>
                          <a:effectLst/>
                          <a:uLnTx/>
                          <a:uFillTx/>
                          <a:latin typeface="+mn-lt"/>
                          <a:ea typeface="+mn-ea"/>
                          <a:cs typeface="+mn-cs"/>
                        </a:rPr>
                        <a:t>technical integration of SAP Joule and M365 co-pilot </a:t>
                      </a:r>
                      <a:r>
                        <a:rPr kumimoji="0" lang="en-US" sz="1050" b="0" i="0" u="none" strike="noStrike" kern="1200" cap="none" spc="0" normalizeH="0" baseline="0" noProof="0" dirty="0">
                          <a:ln>
                            <a:noFill/>
                          </a:ln>
                          <a:solidFill>
                            <a:schemeClr val="tx1"/>
                          </a:solidFill>
                          <a:effectLst/>
                          <a:uLnTx/>
                          <a:uFillTx/>
                          <a:latin typeface="+mn-lt"/>
                          <a:ea typeface="+mn-ea"/>
                          <a:cs typeface="+mn-cs"/>
                        </a:rPr>
                        <a:t>for SAP RISE/Grow Customers. </a:t>
                      </a:r>
                      <a:endParaRPr kumimoji="0" lang="en-US" sz="2000" noProof="0" dirty="0">
                        <a:solidFill>
                          <a:schemeClr val="tx1"/>
                        </a:solidFill>
                        <a:latin typeface="+mn-lt"/>
                      </a:endParaRP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556393">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000" b="0" noProof="0" dirty="0">
                          <a:solidFill>
                            <a:schemeClr val="tx1"/>
                          </a:solidFill>
                          <a:latin typeface="+mj-lt"/>
                        </a:rPr>
                        <a:t>Scoping: </a:t>
                      </a:r>
                      <a:r>
                        <a:rPr lang="en-US" sz="1000" b="0" noProof="0" dirty="0">
                          <a:solidFill>
                            <a:schemeClr val="tx1"/>
                          </a:solidFill>
                          <a:latin typeface="+mn-lt"/>
                        </a:rPr>
                        <a:t>Factory team to Conduct scoping calls with SAP, Customer or the Partner who nominated the opp. to gather the context of the engagement.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529327">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Microsoft preparation(internal) and customer kick-off – </a:t>
                      </a:r>
                      <a:r>
                        <a:rPr lang="en-US" sz="1000" b="0" i="0" u="none" strike="noStrike" kern="1200" noProof="0" dirty="0">
                          <a:solidFill>
                            <a:schemeClr val="tx1"/>
                          </a:solidFill>
                          <a:effectLst/>
                          <a:latin typeface="+mn-lt"/>
                          <a:ea typeface="+mn-ea"/>
                          <a:cs typeface="+mn-cs"/>
                        </a:rPr>
                        <a:t>Factory team would be conducting the calls for internal preparation and for customer kick-off.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529327">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SAP Joule integration with Azure with M365 Copilot  - </a:t>
                      </a:r>
                      <a:r>
                        <a:rPr lang="en-US" sz="1000" b="0" i="0" u="none" strike="noStrike" kern="1200" noProof="0" dirty="0">
                          <a:solidFill>
                            <a:schemeClr val="tx1"/>
                          </a:solidFill>
                          <a:effectLst/>
                          <a:latin typeface="+mn-lt"/>
                          <a:ea typeface="+mn-ea"/>
                          <a:cs typeface="+mn-cs"/>
                        </a:rPr>
                        <a:t>Factory team would lead the technical configuration ( Entra App. OIDC, BTP formation Joule formation &amp; deploy app)  </a:t>
                      </a:r>
                      <a:r>
                        <a:rPr lang="en-US" sz="1000" b="0" i="0" u="none" strike="noStrike" kern="1200" noProof="0" dirty="0">
                          <a:solidFill>
                            <a:schemeClr val="tx1"/>
                          </a:solidFill>
                          <a:effectLst/>
                          <a:latin typeface="+mj-lt"/>
                          <a:ea typeface="+mn-ea"/>
                          <a:cs typeface="+mn-cs"/>
                        </a:rPr>
                        <a:t> </a:t>
                      </a:r>
                      <a:r>
                        <a:rPr lang="en-US" sz="1000" b="0" i="0" u="none" strike="noStrike" kern="1200" noProof="0" dirty="0">
                          <a:solidFill>
                            <a:schemeClr val="tx1"/>
                          </a:solidFill>
                          <a:effectLst/>
                          <a:latin typeface="+mn-lt"/>
                          <a:ea typeface="+mn-ea"/>
                          <a:cs typeface="+mn-cs"/>
                        </a:rPr>
                        <a:t>with the customer gathering inputs leveraging runbooks.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7991533"/>
                  </a:ext>
                </a:extLst>
              </a:tr>
              <a:tr h="715717">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Bidirectional flow Validation – </a:t>
                      </a:r>
                      <a:r>
                        <a:rPr lang="en-US" sz="1000" b="0" i="0" u="none" strike="noStrike" kern="1200" noProof="0" dirty="0">
                          <a:solidFill>
                            <a:schemeClr val="tx1"/>
                          </a:solidFill>
                          <a:effectLst/>
                          <a:latin typeface="+mn-lt"/>
                          <a:ea typeface="+mn-ea"/>
                          <a:cs typeface="+mn-cs"/>
                        </a:rPr>
                        <a:t>Post Technical config, Factory team to validate the technical flow in both directions. ( SAP joule to M365 Copilot, M365 Copilot to SAP Joule)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529327">
                <a:tc>
                  <a:txBody>
                    <a:bodyPr/>
                    <a:lstStyle/>
                    <a:p>
                      <a:pPr algn="ctr"/>
                      <a:r>
                        <a:rPr lang="en-US" sz="1050" b="0" noProof="0" dirty="0">
                          <a:solidFill>
                            <a:schemeClr val="tx2"/>
                          </a:solidFill>
                          <a:latin typeface="+mj-lt"/>
                        </a:rPr>
                        <a:t>5</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Factory team will perform offline reporting, </a:t>
                      </a:r>
                      <a:r>
                        <a:rPr lang="en-US" sz="1000" b="0" i="0" u="none" strike="noStrike" kern="1200" noProof="0" dirty="0">
                          <a:solidFill>
                            <a:schemeClr val="tx1"/>
                          </a:solidFill>
                          <a:effectLst/>
                          <a:latin typeface="+mn-lt"/>
                          <a:ea typeface="+mn-ea"/>
                          <a:cs typeface="+mn-cs"/>
                        </a:rPr>
                        <a:t>Create the final report with any observations.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902107">
                <a:tc>
                  <a:txBody>
                    <a:bodyPr/>
                    <a:lstStyle/>
                    <a:p>
                      <a:pPr algn="ctr"/>
                      <a:endParaRPr lang="en-US" sz="1050" b="0" noProof="0" dirty="0">
                        <a:solidFill>
                          <a:schemeClr val="tx2"/>
                        </a:solidFill>
                        <a:latin typeface="+mj-lt"/>
                      </a:endParaRP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endParaRPr lang="en-US" sz="1000" b="0" i="0" u="none" strike="noStrike" kern="1200" noProof="0" dirty="0">
                        <a:solidFill>
                          <a:schemeClr val="tx1"/>
                        </a:solidFill>
                        <a:effectLst/>
                        <a:latin typeface="+mn-lt"/>
                        <a:ea typeface="+mn-ea"/>
                        <a:cs typeface="+mn-cs"/>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996170"/>
                  </a:ext>
                </a:extLst>
              </a:tr>
              <a:tr h="53743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noProof="0" dirty="0">
                          <a:solidFill>
                            <a:schemeClr val="tx1"/>
                          </a:solidFill>
                          <a:effectLst/>
                          <a:latin typeface="+mn-lt"/>
                          <a:ea typeface="+mn-ea"/>
                          <a:cs typeface="+mn-cs"/>
                        </a:rPr>
                        <a:t>Estimated duration for completing Integration and testing is 12 to 24 hours. </a:t>
                      </a:r>
                      <a:endParaRPr kumimoji="0" lang="en-US" sz="200" b="0" i="0" u="none" strike="sngStrike" kern="1200" cap="none" spc="0" normalizeH="0" baseline="0" noProof="0" dirty="0">
                        <a:ln>
                          <a:noFill/>
                        </a:ln>
                        <a:solidFill>
                          <a:schemeClr val="tx1"/>
                        </a:solidFill>
                        <a:effectLst/>
                        <a:uLnTx/>
                        <a:uFillTx/>
                        <a:latin typeface="+mn-lt"/>
                        <a:ea typeface="+mn-ea"/>
                        <a:cs typeface="+mn-cs"/>
                      </a:endParaRP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588116728"/>
                  </a:ext>
                </a:extLst>
              </a:tr>
            </a:tbl>
          </a:graphicData>
        </a:graphic>
      </p:graphicFrame>
      <p:sp>
        <p:nvSpPr>
          <p:cNvPr id="18" name="Rounded Rectangle 55">
            <a:extLst>
              <a:ext uri="{FF2B5EF4-FFF2-40B4-BE49-F238E27FC236}">
                <a16:creationId xmlns:a16="http://schemas.microsoft.com/office/drawing/2014/main" id="{DD7FF778-F676-7F04-F8C2-A5CDF5B7888E}"/>
              </a:ext>
              <a:ext uri="{C183D7F6-B498-43B3-948B-1728B52AA6E4}">
                <adec:decorative xmlns:adec="http://schemas.microsoft.com/office/drawing/2017/decorative" val="1"/>
              </a:ext>
            </a:extLst>
          </p:cNvPr>
          <p:cNvSpPr/>
          <p:nvPr/>
        </p:nvSpPr>
        <p:spPr bwMode="auto">
          <a:xfrm>
            <a:off x="9154160" y="1155032"/>
            <a:ext cx="2448877" cy="5323590"/>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9" name="Rounded Rectangle 55">
            <a:extLst>
              <a:ext uri="{FF2B5EF4-FFF2-40B4-BE49-F238E27FC236}">
                <a16:creationId xmlns:a16="http://schemas.microsoft.com/office/drawing/2014/main" id="{5D7E48A1-8F5D-1BB9-BE05-28BE0FA37062}"/>
              </a:ext>
              <a:ext uri="{C183D7F6-B498-43B3-948B-1728B52AA6E4}">
                <adec:decorative xmlns:adec="http://schemas.microsoft.com/office/drawing/2017/decorative" val="1"/>
              </a:ext>
            </a:extLst>
          </p:cNvPr>
          <p:cNvSpPr/>
          <p:nvPr/>
        </p:nvSpPr>
        <p:spPr bwMode="auto">
          <a:xfrm>
            <a:off x="588961" y="1155032"/>
            <a:ext cx="8443279" cy="5323590"/>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0" name="Title 1">
            <a:extLst>
              <a:ext uri="{FF2B5EF4-FFF2-40B4-BE49-F238E27FC236}">
                <a16:creationId xmlns:a16="http://schemas.microsoft.com/office/drawing/2014/main" id="{3F418E02-FE63-96D3-4F42-91FA2D167A73}"/>
              </a:ext>
            </a:extLst>
          </p:cNvPr>
          <p:cNvSpPr>
            <a:spLocks noGrp="1"/>
          </p:cNvSpPr>
          <p:nvPr>
            <p:ph type="title"/>
          </p:nvPr>
        </p:nvSpPr>
        <p:spPr>
          <a:xfrm>
            <a:off x="588964" y="229195"/>
            <a:ext cx="8016772" cy="1286827"/>
          </a:xfrm>
        </p:spPr>
        <p:txBody>
          <a:bodyPr/>
          <a:lstStyle/>
          <a:p>
            <a:br>
              <a:rPr lang="en-US" sz="3000" noProof="0" dirty="0"/>
            </a:br>
            <a:r>
              <a:rPr lang="en-US" sz="3000" noProof="0" dirty="0"/>
              <a:t>SAP Joule integration with M365 CoPilot</a:t>
            </a:r>
            <a:br>
              <a:rPr lang="en-US" sz="1800" noProof="0" dirty="0">
                <a:solidFill>
                  <a:schemeClr val="tx1"/>
                </a:solidFill>
              </a:rPr>
            </a:br>
            <a:endParaRPr lang="en-US" sz="1800" noProof="0" dirty="0">
              <a:solidFill>
                <a:schemeClr val="tx1"/>
              </a:solidFill>
            </a:endParaRPr>
          </a:p>
        </p:txBody>
      </p:sp>
      <p:sp>
        <p:nvSpPr>
          <p:cNvPr id="21" name="Content Placeholder 4">
            <a:extLst>
              <a:ext uri="{FF2B5EF4-FFF2-40B4-BE49-F238E27FC236}">
                <a16:creationId xmlns:a16="http://schemas.microsoft.com/office/drawing/2014/main" id="{624F91F3-CC36-099F-7C24-BF42BF69ACA1}"/>
              </a:ext>
            </a:extLst>
          </p:cNvPr>
          <p:cNvSpPr txBox="1">
            <a:spLocks/>
          </p:cNvSpPr>
          <p:nvPr/>
        </p:nvSpPr>
        <p:spPr>
          <a:xfrm>
            <a:off x="9171713" y="1709945"/>
            <a:ext cx="2448877" cy="1623521"/>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300"/>
              </a:spcAft>
              <a:defRPr/>
            </a:pPr>
            <a:r>
              <a:rPr lang="en-US" sz="1200" noProof="0" dirty="0">
                <a:latin typeface="+mj-lt"/>
                <a:ea typeface="+mj-ea"/>
                <a:cs typeface="+mj-cs"/>
              </a:rPr>
              <a:t>Requirements to leveraging </a:t>
            </a:r>
            <a:br>
              <a:rPr lang="en-US" sz="1200" noProof="0" dirty="0">
                <a:latin typeface="+mj-lt"/>
                <a:ea typeface="+mj-ea"/>
                <a:cs typeface="+mj-cs"/>
              </a:rPr>
            </a:br>
            <a:r>
              <a:rPr lang="en-US" sz="1200" noProof="0" dirty="0">
                <a:latin typeface="+mj-lt"/>
                <a:ea typeface="+mj-ea"/>
                <a:cs typeface="+mj-cs"/>
              </a:rPr>
              <a:t>this service:</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The customer must be officially nominated and approved under SAP RISE/Grow opportunity.</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The Customer/partner has followed in the intake pre-requisites.  </a:t>
            </a:r>
          </a:p>
          <a:p>
            <a:pPr marL="57150" indent="0">
              <a:lnSpc>
                <a:spcPct val="100000"/>
              </a:lnSpc>
              <a:spcBef>
                <a:spcPts val="0"/>
              </a:spcBef>
              <a:spcAft>
                <a:spcPts val="600"/>
              </a:spcAft>
              <a:buSzPct val="100000"/>
              <a:buNone/>
            </a:pPr>
            <a:r>
              <a:rPr lang="en-US" sz="1000" noProof="0" dirty="0"/>
              <a:t> </a:t>
            </a:r>
          </a:p>
        </p:txBody>
      </p:sp>
      <p:sp>
        <p:nvSpPr>
          <p:cNvPr id="23" name="TextBox 22">
            <a:extLst>
              <a:ext uri="{FF2B5EF4-FFF2-40B4-BE49-F238E27FC236}">
                <a16:creationId xmlns:a16="http://schemas.microsoft.com/office/drawing/2014/main" id="{CE0948B1-51CD-6F89-C68F-A3A5BCBA9E6C}"/>
              </a:ext>
            </a:extLst>
          </p:cNvPr>
          <p:cNvSpPr txBox="1"/>
          <p:nvPr/>
        </p:nvSpPr>
        <p:spPr>
          <a:xfrm>
            <a:off x="674050" y="1263821"/>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4" name="Graphic 22">
            <a:extLst>
              <a:ext uri="{FF2B5EF4-FFF2-40B4-BE49-F238E27FC236}">
                <a16:creationId xmlns:a16="http://schemas.microsoft.com/office/drawing/2014/main" id="{8BDAF8E8-D4A0-F922-ECF8-F29ED4F59AE6}"/>
              </a:ext>
            </a:extLst>
          </p:cNvPr>
          <p:cNvSpPr/>
          <p:nvPr/>
        </p:nvSpPr>
        <p:spPr>
          <a:xfrm>
            <a:off x="3882572" y="13132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5" name="TextBox 24">
            <a:extLst>
              <a:ext uri="{FF2B5EF4-FFF2-40B4-BE49-F238E27FC236}">
                <a16:creationId xmlns:a16="http://schemas.microsoft.com/office/drawing/2014/main" id="{AF025B83-3FBA-0974-D783-876808E1231E}"/>
              </a:ext>
            </a:extLst>
          </p:cNvPr>
          <p:cNvSpPr txBox="1"/>
          <p:nvPr/>
        </p:nvSpPr>
        <p:spPr>
          <a:xfrm>
            <a:off x="9241631" y="1263821"/>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6" name="Graphic 25">
            <a:extLst>
              <a:ext uri="{FF2B5EF4-FFF2-40B4-BE49-F238E27FC236}">
                <a16:creationId xmlns:a16="http://schemas.microsoft.com/office/drawing/2014/main" id="{093E395A-5545-8D5D-BBFC-8E87133830E6}"/>
              </a:ext>
            </a:extLst>
          </p:cNvPr>
          <p:cNvSpPr/>
          <p:nvPr/>
        </p:nvSpPr>
        <p:spPr>
          <a:xfrm>
            <a:off x="9900150" y="13200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3" name="TextBox 2">
            <a:extLst>
              <a:ext uri="{FF2B5EF4-FFF2-40B4-BE49-F238E27FC236}">
                <a16:creationId xmlns:a16="http://schemas.microsoft.com/office/drawing/2014/main" id="{A4E20568-971D-317D-E4AF-057602C5A8EF}"/>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8511151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FD99-767F-8084-C9A3-05E733630035}"/>
            </a:ext>
          </a:extLst>
        </p:cNvPr>
        <p:cNvGrpSpPr/>
        <p:nvPr/>
      </p:nvGrpSpPr>
      <p:grpSpPr>
        <a:xfrm>
          <a:off x="0" y="0"/>
          <a:ext cx="0" cy="0"/>
          <a:chOff x="0" y="0"/>
          <a:chExt cx="0" cy="0"/>
        </a:xfrm>
      </p:grpSpPr>
      <p:sp>
        <p:nvSpPr>
          <p:cNvPr id="102" name="Title 101">
            <a:extLst>
              <a:ext uri="{FF2B5EF4-FFF2-40B4-BE49-F238E27FC236}">
                <a16:creationId xmlns:a16="http://schemas.microsoft.com/office/drawing/2014/main" id="{35A9A25A-BA75-4CAA-9FB9-AAB968960A3A}"/>
              </a:ext>
            </a:extLst>
          </p:cNvPr>
          <p:cNvSpPr>
            <a:spLocks noGrp="1"/>
          </p:cNvSpPr>
          <p:nvPr>
            <p:ph type="title"/>
          </p:nvPr>
        </p:nvSpPr>
        <p:spPr>
          <a:xfrm>
            <a:off x="588963" y="315692"/>
            <a:ext cx="7627667" cy="789688"/>
          </a:xfrm>
        </p:spPr>
        <p:txBody>
          <a:bodyPr>
            <a:noAutofit/>
          </a:bodyPr>
          <a:lstStyle/>
          <a:p>
            <a:br>
              <a:rPr lang="en-US" sz="1800" noProof="0" dirty="0">
                <a:solidFill>
                  <a:schemeClr val="tx1"/>
                </a:solidFill>
              </a:rPr>
            </a:br>
            <a:r>
              <a:rPr lang="en-US" sz="2800" noProof="0" dirty="0"/>
              <a:t>SAP Joule Integration with M365 Copilot</a:t>
            </a:r>
            <a:br>
              <a:rPr lang="en-US" sz="3200" noProof="0" dirty="0"/>
            </a:br>
            <a:br>
              <a:rPr lang="en-US" sz="3000" noProof="0" dirty="0"/>
            </a:br>
            <a:endParaRPr lang="en-US" sz="3000" noProof="0" dirty="0"/>
          </a:p>
        </p:txBody>
      </p:sp>
      <p:sp>
        <p:nvSpPr>
          <p:cNvPr id="77" name="Rounded Rectangle 76">
            <a:extLst>
              <a:ext uri="{FF2B5EF4-FFF2-40B4-BE49-F238E27FC236}">
                <a16:creationId xmlns:a16="http://schemas.microsoft.com/office/drawing/2014/main" id="{F97A8F91-67FF-78C2-3146-D5959CA709DF}"/>
              </a:ext>
              <a:ext uri="{C183D7F6-B498-43B3-948B-1728B52AA6E4}">
                <adec:decorative xmlns:adec="http://schemas.microsoft.com/office/drawing/2017/decorative" val="1"/>
              </a:ext>
            </a:extLst>
          </p:cNvPr>
          <p:cNvSpPr>
            <a:spLocks/>
          </p:cNvSpPr>
          <p:nvPr/>
        </p:nvSpPr>
        <p:spPr bwMode="auto">
          <a:xfrm>
            <a:off x="6363307" y="1194566"/>
            <a:ext cx="5483812" cy="4504431"/>
          </a:xfrm>
          <a:prstGeom prst="roundRect">
            <a:avLst>
              <a:gd name="adj" fmla="val 2514"/>
            </a:avLst>
          </a:prstGeom>
          <a:noFill/>
          <a:ln w="9525" cap="rnd" cmpd="sng" algn="ctr">
            <a:solidFill>
              <a:schemeClr val="bg1">
                <a:lumMod val="85000"/>
              </a:schemeClr>
            </a:solidFill>
            <a:prstDash val="solid"/>
            <a:headEnd type="none" w="lg" len="sm"/>
            <a:tailEnd type="none" w="lg" len="sm"/>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sp>
        <p:nvSpPr>
          <p:cNvPr id="78" name="Rounded Rectangle 77">
            <a:extLst>
              <a:ext uri="{FF2B5EF4-FFF2-40B4-BE49-F238E27FC236}">
                <a16:creationId xmlns:a16="http://schemas.microsoft.com/office/drawing/2014/main" id="{04E50C52-056D-650F-B186-8D85C442F7A7}"/>
              </a:ext>
              <a:ext uri="{C183D7F6-B498-43B3-948B-1728B52AA6E4}">
                <adec:decorative xmlns:adec="http://schemas.microsoft.com/office/drawing/2017/decorative" val="1"/>
              </a:ext>
            </a:extLst>
          </p:cNvPr>
          <p:cNvSpPr>
            <a:spLocks/>
          </p:cNvSpPr>
          <p:nvPr/>
        </p:nvSpPr>
        <p:spPr bwMode="auto">
          <a:xfrm>
            <a:off x="585048" y="1195100"/>
            <a:ext cx="5440680" cy="4504431"/>
          </a:xfrm>
          <a:prstGeom prst="roundRect">
            <a:avLst>
              <a:gd name="adj" fmla="val 2400"/>
            </a:avLst>
          </a:prstGeom>
          <a:noFill/>
          <a:ln w="9525" cap="rnd" cmpd="sng" algn="ctr">
            <a:solidFill>
              <a:schemeClr val="bg1">
                <a:lumMod val="85000"/>
              </a:schemeClr>
            </a:solidFill>
            <a:prstDash val="solid"/>
            <a:headEnd type="none" w="lg" len="sm"/>
            <a:tailEnd type="none" w="lg" len="sm"/>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Sans Text" pitchFamily="2" charset="0"/>
            </a:endParaRPr>
          </a:p>
        </p:txBody>
      </p:sp>
      <p:cxnSp>
        <p:nvCxnSpPr>
          <p:cNvPr id="121" name="Straight Connector 120">
            <a:extLst>
              <a:ext uri="{FF2B5EF4-FFF2-40B4-BE49-F238E27FC236}">
                <a16:creationId xmlns:a16="http://schemas.microsoft.com/office/drawing/2014/main" id="{430A9123-6369-3148-E357-829BB9C51EA3}"/>
              </a:ext>
              <a:ext uri="{C183D7F6-B498-43B3-948B-1728B52AA6E4}">
                <adec:decorative xmlns:adec="http://schemas.microsoft.com/office/drawing/2017/decorative" val="1"/>
              </a:ext>
            </a:extLst>
          </p:cNvPr>
          <p:cNvCxnSpPr>
            <a:cxnSpLocks/>
          </p:cNvCxnSpPr>
          <p:nvPr/>
        </p:nvCxnSpPr>
        <p:spPr>
          <a:xfrm>
            <a:off x="1095228" y="2513652"/>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D7A53FBB-C08C-3436-C82B-0AE0BBF5FE64}"/>
              </a:ext>
              <a:ext uri="{C183D7F6-B498-43B3-948B-1728B52AA6E4}">
                <adec:decorative xmlns:adec="http://schemas.microsoft.com/office/drawing/2017/decorative" val="1"/>
              </a:ext>
            </a:extLst>
          </p:cNvPr>
          <p:cNvCxnSpPr>
            <a:cxnSpLocks/>
          </p:cNvCxnSpPr>
          <p:nvPr/>
        </p:nvCxnSpPr>
        <p:spPr>
          <a:xfrm>
            <a:off x="1095228" y="3273460"/>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584B7790-45B1-4884-2044-26949E98ABB4}"/>
              </a:ext>
              <a:ext uri="{C183D7F6-B498-43B3-948B-1728B52AA6E4}">
                <adec:decorative xmlns:adec="http://schemas.microsoft.com/office/drawing/2017/decorative" val="1"/>
              </a:ext>
            </a:extLst>
          </p:cNvPr>
          <p:cNvCxnSpPr>
            <a:cxnSpLocks/>
          </p:cNvCxnSpPr>
          <p:nvPr/>
        </p:nvCxnSpPr>
        <p:spPr>
          <a:xfrm>
            <a:off x="1095228" y="4351786"/>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35AAF31D-D76E-BBE9-CBB8-86DA8E5FF49B}"/>
              </a:ext>
            </a:extLst>
          </p:cNvPr>
          <p:cNvSpPr txBox="1"/>
          <p:nvPr/>
        </p:nvSpPr>
        <p:spPr>
          <a:xfrm>
            <a:off x="1046209" y="1870784"/>
            <a:ext cx="4860157" cy="3718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200" i="0" u="none" strike="noStrike" kern="0" cap="none" normalizeH="0" baseline="0" noProof="0" dirty="0">
                <a:ln>
                  <a:noFill/>
                </a:ln>
                <a:effectLst/>
                <a:uLnTx/>
                <a:uFillTx/>
                <a:latin typeface="+mj-lt"/>
                <a:ea typeface="+mj-ea"/>
                <a:cs typeface="+mj-cs"/>
              </a:rPr>
              <a:t>Scenarios:</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rPr>
              <a:t>SAP Joule Integration with M365 copilot. </a:t>
            </a:r>
          </a:p>
        </p:txBody>
      </p:sp>
      <p:sp>
        <p:nvSpPr>
          <p:cNvPr id="127" name="TextBox 126">
            <a:extLst>
              <a:ext uri="{FF2B5EF4-FFF2-40B4-BE49-F238E27FC236}">
                <a16:creationId xmlns:a16="http://schemas.microsoft.com/office/drawing/2014/main" id="{A42E2CD0-4ECA-39DE-7509-952BAED8558C}"/>
              </a:ext>
            </a:extLst>
          </p:cNvPr>
          <p:cNvSpPr txBox="1"/>
          <p:nvPr/>
        </p:nvSpPr>
        <p:spPr>
          <a:xfrm>
            <a:off x="1046209" y="2636814"/>
            <a:ext cx="4870846" cy="53347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200" kern="0" noProof="0" dirty="0">
                <a:latin typeface="+mj-lt"/>
                <a:ea typeface="+mj-ea"/>
                <a:cs typeface="+mj-cs"/>
              </a:rPr>
              <a:t>SAP Joule Integration with M365 Copilot</a:t>
            </a:r>
            <a:endParaRPr kumimoji="0" lang="en-US" sz="1200" i="0" u="none" strike="noStrike" kern="0" cap="none" normalizeH="0" baseline="0" noProof="0" dirty="0">
              <a:ln>
                <a:noFill/>
              </a:ln>
              <a:effectLst/>
              <a:uLnTx/>
              <a:uFillTx/>
              <a:latin typeface="+mj-lt"/>
              <a:ea typeface="+mj-ea"/>
              <a:cs typeface="+mj-cs"/>
            </a:endParaRP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50" kern="0" noProof="0" dirty="0"/>
              <a:t>Technical configuration to setup bidirectional integration between SAP Joule and M365 copilot. </a:t>
            </a:r>
            <a:endParaRPr kumimoji="0" lang="en-US" sz="1050" b="0" i="0" u="none" strike="noStrike" kern="0" cap="none" normalizeH="0" baseline="0" noProof="0" dirty="0">
              <a:ln>
                <a:noFill/>
              </a:ln>
              <a:effectLst/>
              <a:uLnTx/>
              <a:uFillTx/>
            </a:endParaRPr>
          </a:p>
        </p:txBody>
      </p:sp>
      <p:sp>
        <p:nvSpPr>
          <p:cNvPr id="148" name="TextBox 147">
            <a:extLst>
              <a:ext uri="{FF2B5EF4-FFF2-40B4-BE49-F238E27FC236}">
                <a16:creationId xmlns:a16="http://schemas.microsoft.com/office/drawing/2014/main" id="{AEBECC27-7354-C7D8-0701-3EED4D65DCFF}"/>
              </a:ext>
            </a:extLst>
          </p:cNvPr>
          <p:cNvSpPr txBox="1"/>
          <p:nvPr/>
        </p:nvSpPr>
        <p:spPr>
          <a:xfrm>
            <a:off x="1046209" y="3377196"/>
            <a:ext cx="4860157" cy="18466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200" kern="0" noProof="0" dirty="0">
                <a:latin typeface="+mj-lt"/>
                <a:ea typeface="+mj-ea"/>
                <a:cs typeface="+mj-cs"/>
              </a:rPr>
              <a:t>Scoping and close out calls</a:t>
            </a:r>
            <a:endParaRPr kumimoji="0" lang="en-US" sz="1200" i="0" u="none" strike="noStrike" kern="0" cap="none" normalizeH="0" baseline="0" noProof="0" dirty="0">
              <a:ln>
                <a:noFill/>
              </a:ln>
              <a:effectLst/>
              <a:uLnTx/>
              <a:uFillTx/>
              <a:latin typeface="+mj-lt"/>
              <a:ea typeface="+mj-ea"/>
              <a:cs typeface="+mj-cs"/>
            </a:endParaRPr>
          </a:p>
        </p:txBody>
      </p:sp>
      <p:cxnSp>
        <p:nvCxnSpPr>
          <p:cNvPr id="6" name="Straight Connector 5">
            <a:extLst>
              <a:ext uri="{FF2B5EF4-FFF2-40B4-BE49-F238E27FC236}">
                <a16:creationId xmlns:a16="http://schemas.microsoft.com/office/drawing/2014/main" id="{DDC0A89C-83D9-3262-B78C-9DF388936B9E}"/>
              </a:ext>
              <a:ext uri="{C183D7F6-B498-43B3-948B-1728B52AA6E4}">
                <adec:decorative xmlns:adec="http://schemas.microsoft.com/office/drawing/2017/decorative" val="1"/>
              </a:ext>
            </a:extLst>
          </p:cNvPr>
          <p:cNvCxnSpPr>
            <a:cxnSpLocks/>
          </p:cNvCxnSpPr>
          <p:nvPr/>
        </p:nvCxnSpPr>
        <p:spPr>
          <a:xfrm>
            <a:off x="1095228" y="5119435"/>
            <a:ext cx="477826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51EB7F4-1DAE-16CF-B13A-F5AB12C9B926}"/>
              </a:ext>
            </a:extLst>
          </p:cNvPr>
          <p:cNvSpPr txBox="1"/>
          <p:nvPr/>
        </p:nvSpPr>
        <p:spPr>
          <a:xfrm>
            <a:off x="6814481" y="1887234"/>
            <a:ext cx="4941459"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normalizeH="0" baseline="0" noProof="0" dirty="0">
                <a:ln>
                  <a:noFill/>
                </a:ln>
                <a:effectLst/>
                <a:uLnTx/>
                <a:uFillTx/>
              </a:rPr>
              <a:t>Remediation is conducted together with SAP contacts, Customer or Partner </a:t>
            </a:r>
            <a:endParaRPr kumimoji="0" lang="en-US" sz="1050" b="0" i="0" u="none" strike="noStrike" kern="0" cap="none" normalizeH="0" baseline="0" noProof="0" dirty="0">
              <a:ln>
                <a:noFill/>
              </a:ln>
              <a:effectLst/>
              <a:uLnTx/>
              <a:uFillTx/>
            </a:endParaRPr>
          </a:p>
        </p:txBody>
      </p:sp>
      <p:sp>
        <p:nvSpPr>
          <p:cNvPr id="10" name="Oval 9">
            <a:extLst>
              <a:ext uri="{FF2B5EF4-FFF2-40B4-BE49-F238E27FC236}">
                <a16:creationId xmlns:a16="http://schemas.microsoft.com/office/drawing/2014/main" id="{B4BD18FB-C6BF-E572-A220-52E641A0E86F}"/>
              </a:ext>
            </a:extLst>
          </p:cNvPr>
          <p:cNvSpPr>
            <a:spLocks noChangeAspect="1"/>
          </p:cNvSpPr>
          <p:nvPr/>
        </p:nvSpPr>
        <p:spPr bwMode="auto">
          <a:xfrm>
            <a:off x="771522" y="1870784"/>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Oval 10">
            <a:extLst>
              <a:ext uri="{FF2B5EF4-FFF2-40B4-BE49-F238E27FC236}">
                <a16:creationId xmlns:a16="http://schemas.microsoft.com/office/drawing/2014/main" id="{2C29761E-E970-F37E-B098-8076D7396220}"/>
              </a:ext>
            </a:extLst>
          </p:cNvPr>
          <p:cNvSpPr>
            <a:spLocks noChangeAspect="1"/>
          </p:cNvSpPr>
          <p:nvPr/>
        </p:nvSpPr>
        <p:spPr bwMode="auto">
          <a:xfrm>
            <a:off x="771522" y="2652929"/>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1714B974-05D4-0F2B-D1F3-CCF66A0662A7}"/>
              </a:ext>
            </a:extLst>
          </p:cNvPr>
          <p:cNvSpPr>
            <a:spLocks noChangeAspect="1"/>
          </p:cNvSpPr>
          <p:nvPr/>
        </p:nvSpPr>
        <p:spPr bwMode="auto">
          <a:xfrm>
            <a:off x="772639" y="3404567"/>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F91DA7CD-4DC7-FC96-0B40-2409CC34BFB0}"/>
              </a:ext>
            </a:extLst>
          </p:cNvPr>
          <p:cNvSpPr>
            <a:spLocks noChangeAspect="1"/>
          </p:cNvSpPr>
          <p:nvPr/>
        </p:nvSpPr>
        <p:spPr bwMode="auto">
          <a:xfrm>
            <a:off x="769238" y="4474932"/>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AFE4788F-FE52-2D64-4A44-5ABB599BB817}"/>
              </a:ext>
            </a:extLst>
          </p:cNvPr>
          <p:cNvSpPr>
            <a:spLocks noChangeAspect="1"/>
          </p:cNvSpPr>
          <p:nvPr/>
        </p:nvSpPr>
        <p:spPr bwMode="auto">
          <a:xfrm>
            <a:off x="6595155" y="1887234"/>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6405C966-7853-D057-720C-1BBEC0755673}"/>
              </a:ext>
            </a:extLst>
          </p:cNvPr>
          <p:cNvSpPr txBox="1">
            <a:spLocks/>
          </p:cNvSpPr>
          <p:nvPr/>
        </p:nvSpPr>
        <p:spPr>
          <a:xfrm>
            <a:off x="672987" y="1293657"/>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20" name="TextBox 19">
            <a:extLst>
              <a:ext uri="{FF2B5EF4-FFF2-40B4-BE49-F238E27FC236}">
                <a16:creationId xmlns:a16="http://schemas.microsoft.com/office/drawing/2014/main" id="{F8A65A95-CB90-D5F1-9132-597B98C436B0}"/>
              </a:ext>
            </a:extLst>
          </p:cNvPr>
          <p:cNvSpPr txBox="1">
            <a:spLocks/>
          </p:cNvSpPr>
          <p:nvPr/>
        </p:nvSpPr>
        <p:spPr>
          <a:xfrm>
            <a:off x="6467657" y="1282045"/>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8" name="TextBox 7">
            <a:extLst>
              <a:ext uri="{FF2B5EF4-FFF2-40B4-BE49-F238E27FC236}">
                <a16:creationId xmlns:a16="http://schemas.microsoft.com/office/drawing/2014/main" id="{4594722F-F2EC-C1D1-722C-63EC9411E32C}"/>
              </a:ext>
            </a:extLst>
          </p:cNvPr>
          <p:cNvSpPr txBox="1"/>
          <p:nvPr/>
        </p:nvSpPr>
        <p:spPr>
          <a:xfrm>
            <a:off x="1087152" y="3599438"/>
            <a:ext cx="4778270" cy="34881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050" kern="0" noProof="0" dirty="0"/>
              <a:t>Scoping calls with SAP, Customer or Partner who has nominated the opp. </a:t>
            </a:r>
          </a:p>
          <a:p>
            <a:pPr marL="0" marR="0" lvl="0" indent="0" algn="l" defTabSz="914400" rtl="0" eaLnBrk="1" fontAlgn="auto" latinLnBrk="0" hangingPunct="1">
              <a:lnSpc>
                <a:spcPct val="100000"/>
              </a:lnSpc>
              <a:spcBef>
                <a:spcPts val="0"/>
              </a:spcBef>
              <a:spcAft>
                <a:spcPts val="200"/>
              </a:spcAft>
              <a:buClrTx/>
              <a:buSzTx/>
              <a:buFontTx/>
              <a:buNone/>
              <a:tabLst/>
              <a:defRPr/>
            </a:pPr>
            <a:endParaRPr lang="en-US" sz="1050" kern="0" noProof="0" dirty="0"/>
          </a:p>
        </p:txBody>
      </p:sp>
      <p:sp>
        <p:nvSpPr>
          <p:cNvPr id="16" name="TextBox 15">
            <a:extLst>
              <a:ext uri="{FF2B5EF4-FFF2-40B4-BE49-F238E27FC236}">
                <a16:creationId xmlns:a16="http://schemas.microsoft.com/office/drawing/2014/main" id="{7E156138-2079-CEEA-6646-7D8FA3A12940}"/>
              </a:ext>
            </a:extLst>
          </p:cNvPr>
          <p:cNvSpPr txBox="1"/>
          <p:nvPr/>
        </p:nvSpPr>
        <p:spPr>
          <a:xfrm>
            <a:off x="1093780" y="4435916"/>
            <a:ext cx="4860157" cy="53347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200" kern="0" noProof="0" dirty="0">
                <a:latin typeface="+mj-lt"/>
                <a:ea typeface="+mj-ea"/>
                <a:cs typeface="+mj-cs"/>
              </a:rPr>
              <a:t>Reports preparation</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normalizeH="0" baseline="0" noProof="0" dirty="0">
                <a:ln>
                  <a:noFill/>
                </a:ln>
                <a:effectLst/>
                <a:uLnTx/>
                <a:uFillTx/>
              </a:rPr>
              <a:t>Preparation an offline report covering steps configured, results of each step and validation of bi-directional integration. </a:t>
            </a:r>
          </a:p>
        </p:txBody>
      </p:sp>
      <p:sp>
        <p:nvSpPr>
          <p:cNvPr id="5" name="TextBox 4">
            <a:extLst>
              <a:ext uri="{FF2B5EF4-FFF2-40B4-BE49-F238E27FC236}">
                <a16:creationId xmlns:a16="http://schemas.microsoft.com/office/drawing/2014/main" id="{158E5213-F05E-5A2C-1CE8-FB7BACAA7774}"/>
              </a:ext>
            </a:extLst>
          </p:cNvPr>
          <p:cNvSpPr txBox="1"/>
          <p:nvPr/>
        </p:nvSpPr>
        <p:spPr>
          <a:xfrm>
            <a:off x="6636333" y="1655340"/>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9" name="TextBox 8">
            <a:extLst>
              <a:ext uri="{FF2B5EF4-FFF2-40B4-BE49-F238E27FC236}">
                <a16:creationId xmlns:a16="http://schemas.microsoft.com/office/drawing/2014/main" id="{05724A15-22A5-9DFC-202F-3600A415AEC8}"/>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extBox 2">
            <a:extLst>
              <a:ext uri="{FF2B5EF4-FFF2-40B4-BE49-F238E27FC236}">
                <a16:creationId xmlns:a16="http://schemas.microsoft.com/office/drawing/2014/main" id="{FE8BD42D-5AC5-AA7A-61FD-997B8F512941}"/>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008072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6E493-853D-BA81-2E99-CE273AD218C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1ED365-5E4F-B0B7-5387-14D86CCB28E7}"/>
              </a:ext>
            </a:extLst>
          </p:cNvPr>
          <p:cNvSpPr>
            <a:spLocks noGrp="1"/>
          </p:cNvSpPr>
          <p:nvPr>
            <p:ph type="title"/>
          </p:nvPr>
        </p:nvSpPr>
        <p:spPr>
          <a:xfrm>
            <a:off x="588963" y="315692"/>
            <a:ext cx="4425799" cy="839215"/>
          </a:xfrm>
        </p:spPr>
        <p:txBody>
          <a:bodyPr>
            <a:noAutofit/>
          </a:bodyPr>
          <a:lstStyle/>
          <a:p>
            <a:r>
              <a:rPr lang="en-US" sz="2800" noProof="0" dirty="0"/>
              <a:t>Key Deliverables</a:t>
            </a:r>
            <a:br>
              <a:rPr lang="en-US" sz="2800" noProof="0" dirty="0"/>
            </a:br>
            <a:r>
              <a:rPr lang="en-US" sz="1800" noProof="0" dirty="0">
                <a:solidFill>
                  <a:schemeClr val="tx1"/>
                </a:solidFill>
              </a:rPr>
              <a:t>SAP Joule Integration</a:t>
            </a:r>
            <a:br>
              <a:rPr lang="en-US" sz="2800" noProof="0" dirty="0"/>
            </a:br>
            <a:endParaRPr lang="en-US" sz="2800" noProof="0" dirty="0"/>
          </a:p>
        </p:txBody>
      </p:sp>
      <p:sp>
        <p:nvSpPr>
          <p:cNvPr id="16" name="Rounded Rectangle 55">
            <a:extLst>
              <a:ext uri="{FF2B5EF4-FFF2-40B4-BE49-F238E27FC236}">
                <a16:creationId xmlns:a16="http://schemas.microsoft.com/office/drawing/2014/main" id="{F7D5E5D7-5EF9-EBAE-2CAE-17317022061A}"/>
              </a:ext>
              <a:ext uri="{C183D7F6-B498-43B3-948B-1728B52AA6E4}">
                <adec:decorative xmlns:adec="http://schemas.microsoft.com/office/drawing/2017/decorative" val="1"/>
              </a:ext>
            </a:extLst>
          </p:cNvPr>
          <p:cNvSpPr/>
          <p:nvPr/>
        </p:nvSpPr>
        <p:spPr bwMode="auto">
          <a:xfrm>
            <a:off x="579036" y="1445519"/>
            <a:ext cx="2448877" cy="4567059"/>
          </a:xfrm>
          <a:prstGeom prst="roundRect">
            <a:avLst>
              <a:gd name="adj" fmla="val 3807"/>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Content Placeholder 4">
            <a:extLst>
              <a:ext uri="{FF2B5EF4-FFF2-40B4-BE49-F238E27FC236}">
                <a16:creationId xmlns:a16="http://schemas.microsoft.com/office/drawing/2014/main" id="{4F1A76F8-AF50-8F1F-70F3-C34F87C62BB5}"/>
              </a:ext>
            </a:extLst>
          </p:cNvPr>
          <p:cNvSpPr txBox="1">
            <a:spLocks/>
          </p:cNvSpPr>
          <p:nvPr/>
        </p:nvSpPr>
        <p:spPr>
          <a:xfrm>
            <a:off x="600056" y="1848108"/>
            <a:ext cx="2448877" cy="507831"/>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00000"/>
              </a:lnSpc>
              <a:spcBef>
                <a:spcPts val="0"/>
              </a:spcBef>
              <a:spcAft>
                <a:spcPts val="600"/>
              </a:spcAft>
              <a:buSzTx/>
              <a:buFont typeface="Wingdings" panose="05000000000000000000" pitchFamily="2" charset="2"/>
              <a:buChar char="ü"/>
              <a:defRPr/>
            </a:pPr>
            <a:r>
              <a:rPr lang="en-US" sz="1200" noProof="0" dirty="0"/>
              <a:t>Bi-directional integration of SAP joule with M365 CoPilot</a:t>
            </a:r>
          </a:p>
        </p:txBody>
      </p:sp>
      <p:sp>
        <p:nvSpPr>
          <p:cNvPr id="20" name="TextBox 19">
            <a:extLst>
              <a:ext uri="{FF2B5EF4-FFF2-40B4-BE49-F238E27FC236}">
                <a16:creationId xmlns:a16="http://schemas.microsoft.com/office/drawing/2014/main" id="{392F2007-6C79-7247-93C0-2BB338DDF5AC}"/>
              </a:ext>
            </a:extLst>
          </p:cNvPr>
          <p:cNvSpPr txBox="1"/>
          <p:nvPr/>
        </p:nvSpPr>
        <p:spPr>
          <a:xfrm>
            <a:off x="3246147" y="1554183"/>
            <a:ext cx="4075618" cy="3011081"/>
          </a:xfrm>
          <a:prstGeom prst="rect">
            <a:avLst/>
          </a:prstGeom>
          <a:noFill/>
        </p:spPr>
        <p:txBody>
          <a:bodyPr wrap="square">
            <a:spAutoFit/>
          </a:bodyPr>
          <a:lstStyle/>
          <a:p>
            <a:pPr marL="231775" lvl="1" indent="-231775">
              <a:spcAft>
                <a:spcPts val="200"/>
              </a:spcAft>
              <a:buFont typeface="+mj-lt"/>
              <a:buAutoNum type="arabicPeriod"/>
              <a:defRPr/>
            </a:pPr>
            <a:r>
              <a:rPr lang="en-US" sz="1400" kern="0" noProof="0" dirty="0">
                <a:solidFill>
                  <a:schemeClr val="tx2"/>
                </a:solidFill>
                <a:latin typeface="+mj-lt"/>
              </a:rPr>
              <a:t>SAP Joule Integration with M365 Copilot</a:t>
            </a:r>
          </a:p>
          <a:p>
            <a:pPr marL="511175" lvl="1" indent="-184150">
              <a:spcAft>
                <a:spcPts val="600"/>
              </a:spcAft>
              <a:buFont typeface="Arial" panose="020B0604020202020204" pitchFamily="34" charset="0"/>
              <a:buChar char="•"/>
            </a:pPr>
            <a:r>
              <a:rPr lang="en-US" sz="1100" noProof="0" dirty="0"/>
              <a:t>This engagement delivers the Bidirectional integration of SAP Joule with Microsoft 365 Copilot. The objective is to validate, demonstrate, and de-risk the end-to-end integration before production rollout. </a:t>
            </a:r>
          </a:p>
          <a:p>
            <a:pPr marL="511175" lvl="1" indent="-184150">
              <a:spcAft>
                <a:spcPts val="600"/>
              </a:spcAft>
              <a:buFont typeface="Arial" panose="020B0604020202020204" pitchFamily="34" charset="0"/>
              <a:buChar char="•"/>
            </a:pPr>
            <a:r>
              <a:rPr lang="en-US" sz="1100" noProof="0" dirty="0"/>
              <a:t>Validate that SAP Joule can be accessed from within Microsoft 365 Copilot Chat via the SAP Joule M365 Custom Engine Agent</a:t>
            </a:r>
          </a:p>
          <a:p>
            <a:pPr marL="511175" lvl="1" indent="-184150">
              <a:spcAft>
                <a:spcPts val="600"/>
              </a:spcAft>
              <a:buFont typeface="Arial" panose="020B0604020202020204" pitchFamily="34" charset="0"/>
              <a:buChar char="•"/>
            </a:pPr>
            <a:r>
              <a:rPr lang="en-US" sz="1100" noProof="0" dirty="0"/>
              <a:t>Demonstrate bidirectional interaction — users can invoke Joule from M365 Copilot and vice versa</a:t>
            </a:r>
          </a:p>
          <a:p>
            <a:pPr marL="511175" lvl="1" indent="-184150">
              <a:spcAft>
                <a:spcPts val="600"/>
              </a:spcAft>
              <a:buFont typeface="Arial" panose="020B0604020202020204" pitchFamily="34" charset="0"/>
              <a:buChar char="•"/>
            </a:pPr>
            <a:r>
              <a:rPr lang="en-US" sz="1100" noProof="0" dirty="0"/>
              <a:t>Validate identity federation between Microsoft Entra ID and SAP Cloud Identity Services (IAS) using OIDC</a:t>
            </a:r>
          </a:p>
          <a:p>
            <a:pPr marL="511175" lvl="1" indent="-184150">
              <a:spcAft>
                <a:spcPts val="600"/>
              </a:spcAft>
              <a:buFont typeface="Arial" panose="020B0604020202020204" pitchFamily="34" charset="0"/>
              <a:buChar char="•"/>
            </a:pPr>
            <a:r>
              <a:rPr lang="en-US" sz="1100" noProof="0" dirty="0"/>
              <a:t>Showcase Line-of-Business (LoB) data access (example S/4HANA or SuccessFactors) through conversational AI in M365 Copilot</a:t>
            </a:r>
          </a:p>
        </p:txBody>
      </p:sp>
      <p:sp>
        <p:nvSpPr>
          <p:cNvPr id="23" name="TextBox 22">
            <a:extLst>
              <a:ext uri="{FF2B5EF4-FFF2-40B4-BE49-F238E27FC236}">
                <a16:creationId xmlns:a16="http://schemas.microsoft.com/office/drawing/2014/main" id="{65925EAB-0E0B-12B7-D03A-BD179075E9EC}"/>
              </a:ext>
            </a:extLst>
          </p:cNvPr>
          <p:cNvSpPr txBox="1"/>
          <p:nvPr/>
        </p:nvSpPr>
        <p:spPr>
          <a:xfrm>
            <a:off x="7476564" y="1575127"/>
            <a:ext cx="3849995" cy="1585049"/>
          </a:xfrm>
          <a:prstGeom prst="rect">
            <a:avLst/>
          </a:prstGeom>
          <a:noFill/>
        </p:spPr>
        <p:txBody>
          <a:bodyPr wrap="square">
            <a:spAutoFit/>
          </a:bodyPr>
          <a:lstStyle/>
          <a:p>
            <a:pPr>
              <a:defRPr/>
            </a:pPr>
            <a:r>
              <a:rPr lang="en-US" sz="1400" kern="0" noProof="0" dirty="0">
                <a:solidFill>
                  <a:schemeClr val="tx2"/>
                </a:solidFill>
                <a:latin typeface="+mj-lt"/>
              </a:rPr>
              <a:t>2. </a:t>
            </a:r>
            <a:r>
              <a:rPr lang="en-US" sz="1400" noProof="0" dirty="0">
                <a:solidFill>
                  <a:schemeClr val="tx2"/>
                </a:solidFill>
                <a:latin typeface="+mj-lt"/>
              </a:rPr>
              <a:t>Provide actionable and prioritized observations </a:t>
            </a:r>
          </a:p>
          <a:p>
            <a:pPr marL="511175" lvl="1" indent="-184150">
              <a:spcAft>
                <a:spcPts val="600"/>
              </a:spcAft>
              <a:buFont typeface="Arial" panose="020B0604020202020204" pitchFamily="34" charset="0"/>
              <a:buChar char="•"/>
            </a:pPr>
            <a:r>
              <a:rPr lang="en-US" sz="1100" noProof="0" dirty="0"/>
              <a:t>De-risk production adoption by surfacing identity, connectivity, and licensing gaps early. </a:t>
            </a:r>
          </a:p>
          <a:p>
            <a:pPr marL="327025" lvl="1">
              <a:spcAft>
                <a:spcPts val="600"/>
              </a:spcAft>
            </a:pPr>
            <a:r>
              <a:rPr lang="en-US" sz="1100" noProof="0" dirty="0"/>
              <a:t> </a:t>
            </a:r>
          </a:p>
          <a:p>
            <a:pPr>
              <a:defRPr/>
            </a:pPr>
            <a:endParaRPr lang="en-US" sz="1400" noProof="0" dirty="0">
              <a:solidFill>
                <a:schemeClr val="tx2"/>
              </a:solidFill>
              <a:latin typeface="+mj-lt"/>
            </a:endParaRPr>
          </a:p>
          <a:p>
            <a:pPr>
              <a:defRPr/>
            </a:pPr>
            <a:endParaRPr lang="en-US" sz="1200" noProof="0" dirty="0">
              <a:solidFill>
                <a:schemeClr val="tx2"/>
              </a:solidFill>
              <a:latin typeface="+mj-lt"/>
            </a:endParaRPr>
          </a:p>
        </p:txBody>
      </p:sp>
      <p:sp>
        <p:nvSpPr>
          <p:cNvPr id="4" name="TextBox 3">
            <a:extLst>
              <a:ext uri="{FF2B5EF4-FFF2-40B4-BE49-F238E27FC236}">
                <a16:creationId xmlns:a16="http://schemas.microsoft.com/office/drawing/2014/main" id="{C5F95432-AB55-F296-0E4D-17E9A4B40839}"/>
              </a:ext>
            </a:extLst>
          </p:cNvPr>
          <p:cNvSpPr txBox="1"/>
          <p:nvPr/>
        </p:nvSpPr>
        <p:spPr>
          <a:xfrm>
            <a:off x="648953" y="1517844"/>
            <a:ext cx="2309042"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 name="TextBox 1">
            <a:extLst>
              <a:ext uri="{FF2B5EF4-FFF2-40B4-BE49-F238E27FC236}">
                <a16:creationId xmlns:a16="http://schemas.microsoft.com/office/drawing/2014/main" id="{08292979-3400-7B9A-0A8B-4B9F55CB6A87}"/>
              </a:ext>
            </a:extLst>
          </p:cNvPr>
          <p:cNvSpPr txBox="1"/>
          <p:nvPr/>
        </p:nvSpPr>
        <p:spPr>
          <a:xfrm>
            <a:off x="9163455" y="14293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5" name="Graphic 23">
            <a:extLst>
              <a:ext uri="{FF2B5EF4-FFF2-40B4-BE49-F238E27FC236}">
                <a16:creationId xmlns:a16="http://schemas.microsoft.com/office/drawing/2014/main" id="{545AEC5C-FA35-7A6D-70C7-A5EA4C0E43CB}"/>
              </a:ext>
              <a:ext uri="{C183D7F6-B498-43B3-948B-1728B52AA6E4}">
                <adec:decorative xmlns:adec="http://schemas.microsoft.com/office/drawing/2017/decorative" val="1"/>
              </a:ext>
            </a:extLst>
          </p:cNvPr>
          <p:cNvSpPr/>
          <p:nvPr/>
        </p:nvSpPr>
        <p:spPr>
          <a:xfrm>
            <a:off x="627933" y="1938346"/>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grpSp>
        <p:nvGrpSpPr>
          <p:cNvPr id="3" name="Group 2">
            <a:extLst>
              <a:ext uri="{FF2B5EF4-FFF2-40B4-BE49-F238E27FC236}">
                <a16:creationId xmlns:a16="http://schemas.microsoft.com/office/drawing/2014/main" id="{15E26EBD-6DB6-E956-A15F-CDF0B708E55F}"/>
              </a:ext>
            </a:extLst>
          </p:cNvPr>
          <p:cNvGrpSpPr/>
          <p:nvPr/>
        </p:nvGrpSpPr>
        <p:grpSpPr>
          <a:xfrm>
            <a:off x="3131911" y="1445519"/>
            <a:ext cx="8354749" cy="4567060"/>
            <a:chOff x="3122613" y="2481106"/>
            <a:chExt cx="8521464" cy="4920648"/>
          </a:xfrm>
        </p:grpSpPr>
        <p:grpSp>
          <p:nvGrpSpPr>
            <p:cNvPr id="7" name="Group 6">
              <a:extLst>
                <a:ext uri="{FF2B5EF4-FFF2-40B4-BE49-F238E27FC236}">
                  <a16:creationId xmlns:a16="http://schemas.microsoft.com/office/drawing/2014/main" id="{4848C9E9-EA2E-245B-1528-52488E8B019F}"/>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9" name="Rectangle: Rounded Corners 8">
                <a:extLst>
                  <a:ext uri="{FF2B5EF4-FFF2-40B4-BE49-F238E27FC236}">
                    <a16:creationId xmlns:a16="http://schemas.microsoft.com/office/drawing/2014/main" id="{DB5C5C82-D2E1-B901-E055-5A61531C3960}"/>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 name="Rectangle: Rounded Corners 9">
                <a:extLst>
                  <a:ext uri="{FF2B5EF4-FFF2-40B4-BE49-F238E27FC236}">
                    <a16:creationId xmlns:a16="http://schemas.microsoft.com/office/drawing/2014/main" id="{E80A550F-68A2-B1AF-C38D-59AF8C24D418}"/>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8" name="Arrow: Bent 7">
              <a:extLst>
                <a:ext uri="{FF2B5EF4-FFF2-40B4-BE49-F238E27FC236}">
                  <a16:creationId xmlns:a16="http://schemas.microsoft.com/office/drawing/2014/main" id="{FA58CB54-6C9B-0EF3-7474-E3CA524F47DA}"/>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7509001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1BDF7-0A85-AC92-1579-BE947C4AD7B1}"/>
            </a:ext>
          </a:extLst>
        </p:cNvPr>
        <p:cNvGrpSpPr/>
        <p:nvPr/>
      </p:nvGrpSpPr>
      <p:grpSpPr>
        <a:xfrm>
          <a:off x="0" y="0"/>
          <a:ext cx="0" cy="0"/>
          <a:chOff x="0" y="0"/>
          <a:chExt cx="0" cy="0"/>
        </a:xfrm>
      </p:grpSpPr>
      <p:grpSp>
        <p:nvGrpSpPr>
          <p:cNvPr id="66" name="Group 65">
            <a:extLst>
              <a:ext uri="{FF2B5EF4-FFF2-40B4-BE49-F238E27FC236}">
                <a16:creationId xmlns:a16="http://schemas.microsoft.com/office/drawing/2014/main" id="{1FFE74A8-5BB2-19B8-B67F-93AB96359494}"/>
              </a:ext>
              <a:ext uri="{C183D7F6-B498-43B3-948B-1728B52AA6E4}">
                <adec:decorative xmlns:adec="http://schemas.microsoft.com/office/drawing/2017/decorative" val="1"/>
              </a:ext>
            </a:extLst>
          </p:cNvPr>
          <p:cNvGrpSpPr/>
          <p:nvPr/>
        </p:nvGrpSpPr>
        <p:grpSpPr>
          <a:xfrm>
            <a:off x="3807940" y="470535"/>
            <a:ext cx="7947970" cy="5329732"/>
            <a:chOff x="4173102" y="925984"/>
            <a:chExt cx="7947970" cy="5329732"/>
          </a:xfrm>
        </p:grpSpPr>
        <p:grpSp>
          <p:nvGrpSpPr>
            <p:cNvPr id="67" name="Group 66" descr="Venn diagram of three intersecting circles, labeled partner, customer, and Microsoft. The intersection of all three circles is labeled joint governance. 23 small circles around the edge show who is responsible for different tasks.">
              <a:extLst>
                <a:ext uri="{FF2B5EF4-FFF2-40B4-BE49-F238E27FC236}">
                  <a16:creationId xmlns:a16="http://schemas.microsoft.com/office/drawing/2014/main" id="{F79E2B76-D76E-41C9-DF60-2414985ED60D}"/>
                </a:ext>
              </a:extLst>
            </p:cNvPr>
            <p:cNvGrpSpPr/>
            <p:nvPr/>
          </p:nvGrpSpPr>
          <p:grpSpPr>
            <a:xfrm>
              <a:off x="4173102" y="925984"/>
              <a:ext cx="7947970" cy="5329732"/>
              <a:chOff x="4022721" y="722264"/>
              <a:chExt cx="7947970" cy="5329732"/>
            </a:xfrm>
          </p:grpSpPr>
          <p:sp>
            <p:nvSpPr>
              <p:cNvPr id="71" name="Freeform: Shape 70">
                <a:extLst>
                  <a:ext uri="{FF2B5EF4-FFF2-40B4-BE49-F238E27FC236}">
                    <a16:creationId xmlns:a16="http://schemas.microsoft.com/office/drawing/2014/main" id="{622BD455-FD9C-F32E-A640-9A2F554E9500}"/>
                  </a:ext>
                </a:extLst>
              </p:cNvPr>
              <p:cNvSpPr/>
              <p:nvPr/>
            </p:nvSpPr>
            <p:spPr>
              <a:xfrm>
                <a:off x="6648051" y="1338072"/>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2" name="Freeform: Shape 71">
                <a:extLst>
                  <a:ext uri="{FF2B5EF4-FFF2-40B4-BE49-F238E27FC236}">
                    <a16:creationId xmlns:a16="http://schemas.microsoft.com/office/drawing/2014/main" id="{A6A3B182-361E-F4AA-217D-9D95F3397241}"/>
                  </a:ext>
                </a:extLst>
              </p:cNvPr>
              <p:cNvSpPr/>
              <p:nvPr/>
            </p:nvSpPr>
            <p:spPr>
              <a:xfrm>
                <a:off x="7623385" y="2953191"/>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3" name="Freeform: Shape 72">
                <a:extLst>
                  <a:ext uri="{FF2B5EF4-FFF2-40B4-BE49-F238E27FC236}">
                    <a16:creationId xmlns:a16="http://schemas.microsoft.com/office/drawing/2014/main" id="{A2C2BACB-DD44-F240-83F4-E02064CEC409}"/>
                  </a:ext>
                </a:extLst>
              </p:cNvPr>
              <p:cNvSpPr/>
              <p:nvPr/>
            </p:nvSpPr>
            <p:spPr>
              <a:xfrm>
                <a:off x="5737001" y="2990233"/>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4" name="Freeform: Shape 73">
                <a:extLst>
                  <a:ext uri="{FF2B5EF4-FFF2-40B4-BE49-F238E27FC236}">
                    <a16:creationId xmlns:a16="http://schemas.microsoft.com/office/drawing/2014/main" id="{5826198D-4ACE-1394-5A1F-58F502E5932E}"/>
                  </a:ext>
                </a:extLst>
              </p:cNvPr>
              <p:cNvSpPr/>
              <p:nvPr/>
            </p:nvSpPr>
            <p:spPr>
              <a:xfrm>
                <a:off x="5717907" y="1318978"/>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36960">
                    <a:srgbClr val="005FA5"/>
                  </a:gs>
                  <a:gs pos="77000">
                    <a:srgbClr val="0C5C82"/>
                  </a:gs>
                  <a:gs pos="100000">
                    <a:srgbClr val="3FB3A0"/>
                  </a:gs>
                  <a:gs pos="0">
                    <a:srgbClr val="004A83"/>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defTabSz="932742"/>
                <a:endParaRPr lang="en-US" sz="1400" noProof="0" dirty="0">
                  <a:solidFill>
                    <a:srgbClr val="FFFFFF"/>
                  </a:solidFill>
                  <a:latin typeface="Segoe Sans Display Semibold" pitchFamily="2" charset="0"/>
                </a:endParaRPr>
              </a:p>
            </p:txBody>
          </p:sp>
          <p:sp>
            <p:nvSpPr>
              <p:cNvPr id="75" name="Freeform: Shape 74">
                <a:extLst>
                  <a:ext uri="{FF2B5EF4-FFF2-40B4-BE49-F238E27FC236}">
                    <a16:creationId xmlns:a16="http://schemas.microsoft.com/office/drawing/2014/main" id="{B691936B-E0E5-780B-7DEF-43C03BEE5205}"/>
                  </a:ext>
                </a:extLst>
              </p:cNvPr>
              <p:cNvSpPr/>
              <p:nvPr/>
            </p:nvSpPr>
            <p:spPr>
              <a:xfrm>
                <a:off x="7441990" y="3198233"/>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0">
                      <a:srgbClr val="004A83"/>
                    </a:gs>
                    <a:gs pos="71000">
                      <a:srgbClr val="0064AD"/>
                    </a:gs>
                    <a:gs pos="100000">
                      <a:srgbClr val="3FB3A0"/>
                    </a:gs>
                  </a:gsLst>
                  <a:path path="circle">
                    <a:fillToRect r="100000" b="100000"/>
                  </a:path>
                  <a:tileRect l="-100000" t="-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defTabSz="932742"/>
                <a:r>
                  <a:rPr lang="en-US" sz="1200" noProof="0" dirty="0">
                    <a:solidFill>
                      <a:schemeClr val="tx1"/>
                    </a:solidFill>
                    <a:latin typeface="+mj-lt"/>
                  </a:rPr>
                  <a:t> Joule Integration</a:t>
                </a:r>
              </a:p>
            </p:txBody>
          </p:sp>
          <p:grpSp>
            <p:nvGrpSpPr>
              <p:cNvPr id="77" name="Group 7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0E678811-B0B9-3D59-5A80-ABEA4BE8514F}"/>
                  </a:ext>
                </a:extLst>
              </p:cNvPr>
              <p:cNvGrpSpPr/>
              <p:nvPr/>
            </p:nvGrpSpPr>
            <p:grpSpPr>
              <a:xfrm>
                <a:off x="4027008" y="727997"/>
                <a:ext cx="5917773" cy="4401118"/>
                <a:chOff x="3669200" y="727997"/>
                <a:chExt cx="5917773" cy="4401118"/>
              </a:xfrm>
            </p:grpSpPr>
            <p:grpSp>
              <p:nvGrpSpPr>
                <p:cNvPr id="110" name="Group 109">
                  <a:extLst>
                    <a:ext uri="{FF2B5EF4-FFF2-40B4-BE49-F238E27FC236}">
                      <a16:creationId xmlns:a16="http://schemas.microsoft.com/office/drawing/2014/main" id="{7F24EC28-FC4A-B954-6CAD-BE593E1352D4}"/>
                    </a:ext>
                  </a:extLst>
                </p:cNvPr>
                <p:cNvGrpSpPr/>
                <p:nvPr/>
              </p:nvGrpSpPr>
              <p:grpSpPr>
                <a:xfrm>
                  <a:off x="5392257" y="1295777"/>
                  <a:ext cx="4194716" cy="3833338"/>
                  <a:chOff x="5392257" y="1295777"/>
                  <a:chExt cx="4194716" cy="3833338"/>
                </a:xfrm>
              </p:grpSpPr>
              <p:grpSp>
                <p:nvGrpSpPr>
                  <p:cNvPr id="112" name="Group 111">
                    <a:extLst>
                      <a:ext uri="{FF2B5EF4-FFF2-40B4-BE49-F238E27FC236}">
                        <a16:creationId xmlns:a16="http://schemas.microsoft.com/office/drawing/2014/main" id="{A1EAE480-A749-5848-57D0-68B6B0A900E4}"/>
                      </a:ext>
                    </a:extLst>
                  </p:cNvPr>
                  <p:cNvGrpSpPr/>
                  <p:nvPr/>
                </p:nvGrpSpPr>
                <p:grpSpPr>
                  <a:xfrm>
                    <a:off x="5392257" y="1295777"/>
                    <a:ext cx="3489107" cy="3833338"/>
                    <a:chOff x="5392257" y="1295777"/>
                    <a:chExt cx="3489107" cy="3833338"/>
                  </a:xfrm>
                </p:grpSpPr>
                <p:sp>
                  <p:nvSpPr>
                    <p:cNvPr id="135" name="Oval 134">
                      <a:extLst>
                        <a:ext uri="{FF2B5EF4-FFF2-40B4-BE49-F238E27FC236}">
                          <a16:creationId xmlns:a16="http://schemas.microsoft.com/office/drawing/2014/main" id="{3895F543-2CB5-4EE4-F54F-A86394CC8DF8}"/>
                        </a:ext>
                      </a:extLst>
                    </p:cNvPr>
                    <p:cNvSpPr>
                      <a:spLocks noChangeAspect="1"/>
                    </p:cNvSpPr>
                    <p:nvPr/>
                  </p:nvSpPr>
                  <p:spPr>
                    <a:xfrm>
                      <a:off x="7748280" y="1295777"/>
                      <a:ext cx="127582" cy="127582"/>
                    </a:xfrm>
                    <a:prstGeom prst="ellipse">
                      <a:avLst/>
                    </a:prstGeom>
                    <a:solidFill>
                      <a:srgbClr val="F4F3F5"/>
                    </a:solidFill>
                    <a:ln w="19050">
                      <a:solidFill>
                        <a:srgbClr val="1A738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3" name="Oval 122">
                      <a:extLst>
                        <a:ext uri="{FF2B5EF4-FFF2-40B4-BE49-F238E27FC236}">
                          <a16:creationId xmlns:a16="http://schemas.microsoft.com/office/drawing/2014/main" id="{5E132923-AAFA-7D1A-9762-B6D621E72F65}"/>
                        </a:ext>
                      </a:extLst>
                    </p:cNvPr>
                    <p:cNvSpPr>
                      <a:spLocks noChangeAspect="1"/>
                    </p:cNvSpPr>
                    <p:nvPr/>
                  </p:nvSpPr>
                  <p:spPr>
                    <a:xfrm>
                      <a:off x="6785419" y="1502838"/>
                      <a:ext cx="127582" cy="127582"/>
                    </a:xfrm>
                    <a:prstGeom prst="ellipse">
                      <a:avLst/>
                    </a:prstGeom>
                    <a:solidFill>
                      <a:srgbClr val="F4F3F5"/>
                    </a:solidFill>
                    <a:ln w="19050">
                      <a:solidFill>
                        <a:srgbClr val="1A738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4" name="Oval 123">
                      <a:extLst>
                        <a:ext uri="{FF2B5EF4-FFF2-40B4-BE49-F238E27FC236}">
                          <a16:creationId xmlns:a16="http://schemas.microsoft.com/office/drawing/2014/main" id="{FD7CDB9C-C41C-61DA-341E-3BC2B3F3202B}"/>
                        </a:ext>
                      </a:extLst>
                    </p:cNvPr>
                    <p:cNvSpPr>
                      <a:spLocks noChangeAspect="1"/>
                    </p:cNvSpPr>
                    <p:nvPr/>
                  </p:nvSpPr>
                  <p:spPr>
                    <a:xfrm>
                      <a:off x="8411817" y="1637204"/>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6" name="Oval 125">
                      <a:extLst>
                        <a:ext uri="{FF2B5EF4-FFF2-40B4-BE49-F238E27FC236}">
                          <a16:creationId xmlns:a16="http://schemas.microsoft.com/office/drawing/2014/main" id="{07F1E6D5-1A34-7732-E351-0C991D53F888}"/>
                        </a:ext>
                      </a:extLst>
                    </p:cNvPr>
                    <p:cNvSpPr>
                      <a:spLocks noChangeAspect="1"/>
                    </p:cNvSpPr>
                    <p:nvPr/>
                  </p:nvSpPr>
                  <p:spPr>
                    <a:xfrm>
                      <a:off x="8753782" y="2185925"/>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7" name="Oval 126">
                      <a:extLst>
                        <a:ext uri="{FF2B5EF4-FFF2-40B4-BE49-F238E27FC236}">
                          <a16:creationId xmlns:a16="http://schemas.microsoft.com/office/drawing/2014/main" id="{4D8FF8C5-2B9A-6169-6944-8616E0C4F7F7}"/>
                        </a:ext>
                      </a:extLst>
                    </p:cNvPr>
                    <p:cNvSpPr>
                      <a:spLocks noChangeAspect="1"/>
                    </p:cNvSpPr>
                    <p:nvPr/>
                  </p:nvSpPr>
                  <p:spPr>
                    <a:xfrm>
                      <a:off x="6276978" y="2198099"/>
                      <a:ext cx="127582" cy="127582"/>
                    </a:xfrm>
                    <a:prstGeom prst="ellipse">
                      <a:avLst/>
                    </a:prstGeom>
                    <a:solidFill>
                      <a:srgbClr val="F4F3F5"/>
                    </a:solidFill>
                    <a:ln w="19050">
                      <a:solidFill>
                        <a:srgbClr val="1A738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31" name="Oval 130">
                      <a:extLst>
                        <a:ext uri="{FF2B5EF4-FFF2-40B4-BE49-F238E27FC236}">
                          <a16:creationId xmlns:a16="http://schemas.microsoft.com/office/drawing/2014/main" id="{8DDC5EAF-D0D0-EB03-C10D-593D2C61D5C5}"/>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33" name="Oval 132">
                      <a:extLst>
                        <a:ext uri="{FF2B5EF4-FFF2-40B4-BE49-F238E27FC236}">
                          <a16:creationId xmlns:a16="http://schemas.microsoft.com/office/drawing/2014/main" id="{6ECD11F7-D6B4-F974-F42E-0B13914D8BA2}"/>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18" name="TextBox 117">
                    <a:extLst>
                      <a:ext uri="{FF2B5EF4-FFF2-40B4-BE49-F238E27FC236}">
                        <a16:creationId xmlns:a16="http://schemas.microsoft.com/office/drawing/2014/main" id="{7AD207D8-54EC-A936-97BA-4E5818C7A0F6}"/>
                      </a:ext>
                    </a:extLst>
                  </p:cNvPr>
                  <p:cNvSpPr txBox="1"/>
                  <p:nvPr/>
                </p:nvSpPr>
                <p:spPr>
                  <a:xfrm>
                    <a:off x="5708897" y="4111594"/>
                    <a:ext cx="1356192" cy="615553"/>
                  </a:xfrm>
                  <a:prstGeom prst="rect">
                    <a:avLst/>
                  </a:prstGeom>
                  <a:noFill/>
                </p:spPr>
                <p:txBody>
                  <a:bodyPr wrap="square" lIns="0" tIns="0" rIns="0" bIns="0" rtlCol="0">
                    <a:spAutoFit/>
                  </a:bodyPr>
                  <a:lstStyle/>
                  <a:p>
                    <a:pPr marR="0" lvl="0" indent="0" algn="ctr" fontAlgn="auto">
                      <a:lnSpc>
                        <a:spcPct val="100000"/>
                      </a:lnSpc>
                      <a:spcBef>
                        <a:spcPts val="0"/>
                      </a:spcBef>
                      <a:spcAft>
                        <a:spcPts val="0"/>
                      </a:spcAft>
                      <a:buClrTx/>
                      <a:buSzTx/>
                      <a:buFontTx/>
                      <a:buNone/>
                      <a:tabLst/>
                      <a:defRPr/>
                    </a:pPr>
                    <a:r>
                      <a:rPr lang="en-US" sz="2000" noProof="0" dirty="0">
                        <a:solidFill>
                          <a:schemeClr val="tx2"/>
                        </a:solidFill>
                        <a:latin typeface="+mj-lt"/>
                      </a:rPr>
                      <a:t>Customer/Partner</a:t>
                    </a:r>
                  </a:p>
                </p:txBody>
              </p:sp>
              <p:sp>
                <p:nvSpPr>
                  <p:cNvPr id="119" name="TextBox 118">
                    <a:extLst>
                      <a:ext uri="{FF2B5EF4-FFF2-40B4-BE49-F238E27FC236}">
                        <a16:creationId xmlns:a16="http://schemas.microsoft.com/office/drawing/2014/main" id="{1C5A1E50-64D3-B6D0-C46E-DE9AB8FD2219}"/>
                      </a:ext>
                    </a:extLst>
                  </p:cNvPr>
                  <p:cNvSpPr txBox="1"/>
                  <p:nvPr/>
                </p:nvSpPr>
                <p:spPr>
                  <a:xfrm>
                    <a:off x="8203157" y="4266237"/>
                    <a:ext cx="1383816" cy="307777"/>
                  </a:xfrm>
                  <a:prstGeom prst="rect">
                    <a:avLst/>
                  </a:prstGeom>
                  <a:noFill/>
                  <a:ln>
                    <a:noFill/>
                  </a:ln>
                </p:spPr>
                <p:txBody>
                  <a:bodyPr wrap="square" lIns="0" tIns="0" rIns="0" bIns="0" rtlCol="0">
                    <a:spAutoFit/>
                  </a:bodyPr>
                  <a:lstStyle/>
                  <a:p>
                    <a:pPr marR="0" lvl="0" indent="0" fontAlgn="auto">
                      <a:lnSpc>
                        <a:spcPct val="100000"/>
                      </a:lnSpc>
                      <a:spcBef>
                        <a:spcPts val="0"/>
                      </a:spcBef>
                      <a:spcAft>
                        <a:spcPts val="0"/>
                      </a:spcAft>
                      <a:buClrTx/>
                      <a:buSzTx/>
                      <a:buFontTx/>
                      <a:buNone/>
                      <a:tabLst/>
                      <a:defRPr/>
                    </a:pPr>
                    <a:r>
                      <a:rPr lang="en-US" sz="2000" noProof="0" dirty="0">
                        <a:solidFill>
                          <a:schemeClr val="tx2"/>
                        </a:solidFill>
                        <a:latin typeface="+mj-lt"/>
                      </a:rPr>
                      <a:t>Microsoft</a:t>
                    </a:r>
                  </a:p>
                </p:txBody>
              </p:sp>
            </p:grpSp>
            <p:sp>
              <p:nvSpPr>
                <p:cNvPr id="111" name="Rectangle 110">
                  <a:extLst>
                    <a:ext uri="{FF2B5EF4-FFF2-40B4-BE49-F238E27FC236}">
                      <a16:creationId xmlns:a16="http://schemas.microsoft.com/office/drawing/2014/main" id="{7BAAB9C5-A619-225D-043C-A8452F13B639}"/>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78" name="Rectangle 77" descr="Partner ">
                <a:extLst>
                  <a:ext uri="{FF2B5EF4-FFF2-40B4-BE49-F238E27FC236}">
                    <a16:creationId xmlns:a16="http://schemas.microsoft.com/office/drawing/2014/main" id="{99676B66-14A0-9E5C-A5C4-AA5EA2C3339A}"/>
                  </a:ext>
                </a:extLst>
              </p:cNvPr>
              <p:cNvSpPr/>
              <p:nvPr/>
            </p:nvSpPr>
            <p:spPr bwMode="auto">
              <a:xfrm>
                <a:off x="4671007" y="722264"/>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80" name="TextBox 79">
                <a:extLst>
                  <a:ext uri="{FF2B5EF4-FFF2-40B4-BE49-F238E27FC236}">
                    <a16:creationId xmlns:a16="http://schemas.microsoft.com/office/drawing/2014/main" id="{D577449E-1366-9C2F-AB53-CD79BEDD37BA}"/>
                  </a:ext>
                </a:extLst>
              </p:cNvPr>
              <p:cNvSpPr txBox="1"/>
              <p:nvPr/>
            </p:nvSpPr>
            <p:spPr>
              <a:xfrm>
                <a:off x="8343640" y="1073242"/>
                <a:ext cx="1931619" cy="153888"/>
              </a:xfrm>
              <a:prstGeom prst="rect">
                <a:avLst/>
              </a:prstGeom>
              <a:noFill/>
            </p:spPr>
            <p:txBody>
              <a:bodyPr wrap="non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Confirm SAP application in scope</a:t>
                </a:r>
              </a:p>
            </p:txBody>
          </p:sp>
          <p:sp>
            <p:nvSpPr>
              <p:cNvPr id="81" name="TextBox 80">
                <a:extLst>
                  <a:ext uri="{FF2B5EF4-FFF2-40B4-BE49-F238E27FC236}">
                    <a16:creationId xmlns:a16="http://schemas.microsoft.com/office/drawing/2014/main" id="{E8E70514-CC20-1880-C60D-072C9429FB6A}"/>
                  </a:ext>
                </a:extLst>
              </p:cNvPr>
              <p:cNvSpPr txBox="1"/>
              <p:nvPr/>
            </p:nvSpPr>
            <p:spPr>
              <a:xfrm>
                <a:off x="5096679" y="1386606"/>
                <a:ext cx="1864739" cy="307777"/>
              </a:xfrm>
              <a:prstGeom prst="rect">
                <a:avLst/>
              </a:prstGeom>
              <a:noFill/>
            </p:spPr>
            <p:txBody>
              <a:bodyPr wrap="squar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noProof="0" dirty="0"/>
                  <a:t>Entra ID configured as OIDC   corporate IDP in SAP IAS </a:t>
                </a:r>
                <a:endParaRPr kumimoji="0" lang="en-US" sz="1000" b="0" i="0" u="none" strike="noStrike" kern="1200" cap="none" spc="0" normalizeH="0" baseline="0" noProof="0" dirty="0">
                  <a:ln>
                    <a:noFill/>
                  </a:ln>
                  <a:effectLst/>
                  <a:uLnTx/>
                  <a:uFillTx/>
                </a:endParaRPr>
              </a:p>
            </p:txBody>
          </p:sp>
          <p:sp>
            <p:nvSpPr>
              <p:cNvPr id="82" name="TextBox 81">
                <a:extLst>
                  <a:ext uri="{FF2B5EF4-FFF2-40B4-BE49-F238E27FC236}">
                    <a16:creationId xmlns:a16="http://schemas.microsoft.com/office/drawing/2014/main" id="{1A730546-AD60-DBE8-B71D-7F2367E9C890}"/>
                  </a:ext>
                </a:extLst>
              </p:cNvPr>
              <p:cNvSpPr txBox="1"/>
              <p:nvPr/>
            </p:nvSpPr>
            <p:spPr>
              <a:xfrm>
                <a:off x="9059531" y="1565713"/>
                <a:ext cx="2628925" cy="153888"/>
              </a:xfrm>
              <a:prstGeom prst="rect">
                <a:avLst/>
              </a:prstGeom>
              <a:noFill/>
            </p:spPr>
            <p:txBody>
              <a:bodyPr wrap="non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noProof="0" dirty="0"/>
                  <a:t>SAP joule already deployed and operational </a:t>
                </a:r>
                <a:r>
                  <a:rPr kumimoji="0" lang="en-US" sz="1000" b="0" i="0" u="none" strike="noStrike" kern="1200" cap="none" spc="0" normalizeH="0" baseline="0" noProof="0" dirty="0">
                    <a:ln>
                      <a:noFill/>
                    </a:ln>
                    <a:effectLst/>
                    <a:uLnTx/>
                    <a:uFillTx/>
                  </a:rPr>
                  <a:t> </a:t>
                </a:r>
              </a:p>
            </p:txBody>
          </p:sp>
          <p:sp>
            <p:nvSpPr>
              <p:cNvPr id="84" name="TextBox 83">
                <a:extLst>
                  <a:ext uri="{FF2B5EF4-FFF2-40B4-BE49-F238E27FC236}">
                    <a16:creationId xmlns:a16="http://schemas.microsoft.com/office/drawing/2014/main" id="{D8B9A15D-298A-343E-E077-CA8D1F3AFB75}"/>
                  </a:ext>
                </a:extLst>
              </p:cNvPr>
              <p:cNvSpPr txBox="1"/>
              <p:nvPr/>
            </p:nvSpPr>
            <p:spPr>
              <a:xfrm>
                <a:off x="9412696" y="2125761"/>
                <a:ext cx="2007905" cy="307777"/>
              </a:xfrm>
              <a:prstGeom prst="rect">
                <a:avLst/>
              </a:prstGeom>
              <a:noFill/>
            </p:spPr>
            <p:txBody>
              <a:bodyPr wrap="squar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SAP Basis admin owns BTP landscape access</a:t>
                </a:r>
              </a:p>
            </p:txBody>
          </p:sp>
          <p:sp>
            <p:nvSpPr>
              <p:cNvPr id="85" name="TextBox 84">
                <a:extLst>
                  <a:ext uri="{FF2B5EF4-FFF2-40B4-BE49-F238E27FC236}">
                    <a16:creationId xmlns:a16="http://schemas.microsoft.com/office/drawing/2014/main" id="{434F6C39-7CFE-B6F1-49F5-B7589358BE31}"/>
                  </a:ext>
                </a:extLst>
              </p:cNvPr>
              <p:cNvSpPr txBox="1"/>
              <p:nvPr/>
            </p:nvSpPr>
            <p:spPr>
              <a:xfrm>
                <a:off x="4660958" y="2194834"/>
                <a:ext cx="1841628" cy="153888"/>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0" noProof="0" dirty="0"/>
                  <a:t>T</a:t>
                </a:r>
                <a:r>
                  <a:rPr kumimoji="0" lang="en-US" sz="1000" b="0" i="0" u="none" strike="noStrike" kern="1200" cap="none" spc="0" normalizeH="0" baseline="0" noProof="0" dirty="0">
                    <a:ln>
                      <a:noFill/>
                    </a:ln>
                    <a:effectLst/>
                    <a:uLnTx/>
                    <a:uFillTx/>
                  </a:rPr>
                  <a:t>est users available </a:t>
                </a:r>
              </a:p>
            </p:txBody>
          </p:sp>
          <p:sp>
            <p:nvSpPr>
              <p:cNvPr id="87" name="Rectangle 86" descr="Customer ">
                <a:extLst>
                  <a:ext uri="{FF2B5EF4-FFF2-40B4-BE49-F238E27FC236}">
                    <a16:creationId xmlns:a16="http://schemas.microsoft.com/office/drawing/2014/main" id="{2BF6C556-4F7F-2DC9-3933-11C28E9C6D1B}"/>
                  </a:ext>
                </a:extLst>
              </p:cNvPr>
              <p:cNvSpPr/>
              <p:nvPr/>
            </p:nvSpPr>
            <p:spPr bwMode="auto">
              <a:xfrm>
                <a:off x="4022721" y="311387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89" name="TextBox 88">
                <a:extLst>
                  <a:ext uri="{FF2B5EF4-FFF2-40B4-BE49-F238E27FC236}">
                    <a16:creationId xmlns:a16="http://schemas.microsoft.com/office/drawing/2014/main" id="{9CCBAC96-921E-0134-6680-EC09241152C5}"/>
                  </a:ext>
                </a:extLst>
              </p:cNvPr>
              <p:cNvSpPr txBox="1"/>
              <p:nvPr/>
            </p:nvSpPr>
            <p:spPr>
              <a:xfrm>
                <a:off x="4206827" y="3751476"/>
                <a:ext cx="1373126" cy="307777"/>
              </a:xfrm>
              <a:prstGeom prst="rect">
                <a:avLst/>
              </a:prstGeom>
              <a:noFill/>
            </p:spPr>
            <p:txBody>
              <a:bodyPr wrap="squar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IAS admin confirms Test users in IAS user store</a:t>
                </a:r>
              </a:p>
            </p:txBody>
          </p:sp>
          <p:sp>
            <p:nvSpPr>
              <p:cNvPr id="91" name="TextBox 90">
                <a:extLst>
                  <a:ext uri="{FF2B5EF4-FFF2-40B4-BE49-F238E27FC236}">
                    <a16:creationId xmlns:a16="http://schemas.microsoft.com/office/drawing/2014/main" id="{BC3387D6-3776-88ED-DB03-91BFAC27C6A9}"/>
                  </a:ext>
                </a:extLst>
              </p:cNvPr>
              <p:cNvSpPr txBox="1"/>
              <p:nvPr/>
            </p:nvSpPr>
            <p:spPr>
              <a:xfrm>
                <a:off x="4533428" y="4905259"/>
                <a:ext cx="1280799" cy="307777"/>
              </a:xfrm>
              <a:prstGeom prst="rect">
                <a:avLst/>
              </a:prstGeom>
              <a:noFill/>
            </p:spPr>
            <p:txBody>
              <a:bodyPr wrap="non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Resources for scoping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and close-out calls </a:t>
                </a:r>
              </a:p>
            </p:txBody>
          </p:sp>
          <p:sp>
            <p:nvSpPr>
              <p:cNvPr id="93" name="Rectangle 92" descr="Microsoft: Account team and Migration Factory ">
                <a:extLst>
                  <a:ext uri="{FF2B5EF4-FFF2-40B4-BE49-F238E27FC236}">
                    <a16:creationId xmlns:a16="http://schemas.microsoft.com/office/drawing/2014/main" id="{883D994B-6714-EB3D-3418-7CB4B743611D}"/>
                  </a:ext>
                </a:extLst>
              </p:cNvPr>
              <p:cNvSpPr/>
              <p:nvPr/>
            </p:nvSpPr>
            <p:spPr bwMode="auto">
              <a:xfrm>
                <a:off x="9099824" y="2907163"/>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94" name="Oval 93" descr="Account team  ">
                <a:extLst>
                  <a:ext uri="{FF2B5EF4-FFF2-40B4-BE49-F238E27FC236}">
                    <a16:creationId xmlns:a16="http://schemas.microsoft.com/office/drawing/2014/main" id="{EEE82B57-9D88-FB24-7A38-899D313A1741}"/>
                  </a:ext>
                </a:extLst>
              </p:cNvPr>
              <p:cNvSpPr>
                <a:spLocks noChangeAspect="1"/>
              </p:cNvSpPr>
              <p:nvPr/>
            </p:nvSpPr>
            <p:spPr>
              <a:xfrm>
                <a:off x="9672973" y="3189038"/>
                <a:ext cx="127582" cy="127582"/>
              </a:xfrm>
              <a:prstGeom prst="ellipse">
                <a:avLst/>
              </a:prstGeom>
              <a:solidFill>
                <a:srgbClr val="FFA38B"/>
              </a:solidFill>
              <a:ln w="19050">
                <a:solidFill>
                  <a:srgbClr val="D5399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algn="ctr"/>
                <a:endParaRPr lang="en-US" sz="1200" noProof="0" dirty="0">
                  <a:solidFill>
                    <a:srgbClr val="0078D4"/>
                  </a:solidFill>
                  <a:latin typeface="Segoe Sans Text Semibold"/>
                </a:endParaRPr>
              </a:p>
            </p:txBody>
          </p:sp>
          <p:sp>
            <p:nvSpPr>
              <p:cNvPr id="95" name="TextBox 94">
                <a:extLst>
                  <a:ext uri="{FF2B5EF4-FFF2-40B4-BE49-F238E27FC236}">
                    <a16:creationId xmlns:a16="http://schemas.microsoft.com/office/drawing/2014/main" id="{D4FA2C1D-3E38-11D3-4D0D-870FF95E30F3}"/>
                  </a:ext>
                </a:extLst>
              </p:cNvPr>
              <p:cNvSpPr txBox="1"/>
              <p:nvPr/>
            </p:nvSpPr>
            <p:spPr>
              <a:xfrm>
                <a:off x="9917035" y="3062422"/>
                <a:ext cx="1383816"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t>Configure Entra App registration</a:t>
                </a:r>
                <a:endParaRPr kumimoji="0" lang="en-US" sz="1000" b="0" i="0" u="none" strike="noStrike" kern="1200" cap="none" spc="0" normalizeH="0" baseline="0" noProof="0" dirty="0">
                  <a:ln>
                    <a:noFill/>
                  </a:ln>
                  <a:effectLst/>
                  <a:uLnTx/>
                  <a:uFillTx/>
                </a:endParaRPr>
              </a:p>
            </p:txBody>
          </p:sp>
          <p:sp>
            <p:nvSpPr>
              <p:cNvPr id="98" name="Oval 97">
                <a:extLst>
                  <a:ext uri="{FF2B5EF4-FFF2-40B4-BE49-F238E27FC236}">
                    <a16:creationId xmlns:a16="http://schemas.microsoft.com/office/drawing/2014/main" id="{4516F1CD-458B-F121-08E3-E51E31F08151}"/>
                  </a:ext>
                  <a:ext uri="{C183D7F6-B498-43B3-948B-1728B52AA6E4}">
                    <adec:decorative xmlns:adec="http://schemas.microsoft.com/office/drawing/2017/decorative" val="1"/>
                  </a:ext>
                </a:extLst>
              </p:cNvPr>
              <p:cNvSpPr>
                <a:spLocks noChangeAspect="1"/>
              </p:cNvSpPr>
              <p:nvPr/>
            </p:nvSpPr>
            <p:spPr>
              <a:xfrm>
                <a:off x="10048511" y="3735964"/>
                <a:ext cx="127582" cy="127582"/>
              </a:xfrm>
              <a:prstGeom prst="ellipse">
                <a:avLst/>
              </a:prstGeom>
              <a:solidFill>
                <a:srgbClr val="8DC8E8"/>
              </a:solidFill>
              <a:ln w="19050">
                <a:solidFill>
                  <a:srgbClr val="1A738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99" name="TextBox 98">
                <a:extLst>
                  <a:ext uri="{FF2B5EF4-FFF2-40B4-BE49-F238E27FC236}">
                    <a16:creationId xmlns:a16="http://schemas.microsoft.com/office/drawing/2014/main" id="{57AAC148-8742-8D0D-F345-967BAD183DA5}"/>
                  </a:ext>
                </a:extLst>
              </p:cNvPr>
              <p:cNvSpPr txBox="1"/>
              <p:nvPr/>
            </p:nvSpPr>
            <p:spPr>
              <a:xfrm>
                <a:off x="10317006" y="3568923"/>
                <a:ext cx="146276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Validate OIDC trust between Entra &amp; SAP Cloud </a:t>
                </a:r>
                <a:r>
                  <a:rPr lang="en-US" sz="1000" noProof="0" dirty="0"/>
                  <a:t>Identity Services</a:t>
                </a:r>
                <a:endParaRPr kumimoji="0" lang="en-US" sz="1000" b="0" i="0" u="none" strike="noStrike" kern="1200" cap="none" spc="0" normalizeH="0" baseline="0" noProof="0" dirty="0">
                  <a:ln>
                    <a:noFill/>
                  </a:ln>
                  <a:effectLst/>
                  <a:uLnTx/>
                  <a:uFillTx/>
                </a:endParaRPr>
              </a:p>
            </p:txBody>
          </p:sp>
          <p:sp>
            <p:nvSpPr>
              <p:cNvPr id="106" name="Oval 105">
                <a:extLst>
                  <a:ext uri="{FF2B5EF4-FFF2-40B4-BE49-F238E27FC236}">
                    <a16:creationId xmlns:a16="http://schemas.microsoft.com/office/drawing/2014/main" id="{F8EDCCD5-9026-E8BF-56CF-A32DDCD36F54}"/>
                  </a:ext>
                  <a:ext uri="{C183D7F6-B498-43B3-948B-1728B52AA6E4}">
                    <adec:decorative xmlns:adec="http://schemas.microsoft.com/office/drawing/2017/decorative" val="1"/>
                  </a:ext>
                </a:extLst>
              </p:cNvPr>
              <p:cNvSpPr>
                <a:spLocks noChangeAspect="1"/>
              </p:cNvSpPr>
              <p:nvPr/>
            </p:nvSpPr>
            <p:spPr>
              <a:xfrm>
                <a:off x="8452202" y="5375038"/>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algn="ctr"/>
                <a:endParaRPr lang="en-US" sz="1200" noProof="0" dirty="0">
                  <a:solidFill>
                    <a:srgbClr val="0078D4"/>
                  </a:solidFill>
                  <a:latin typeface="Segoe Sans Text Semibold"/>
                </a:endParaRPr>
              </a:p>
            </p:txBody>
          </p:sp>
          <p:sp>
            <p:nvSpPr>
              <p:cNvPr id="107" name="TextBox 106">
                <a:extLst>
                  <a:ext uri="{FF2B5EF4-FFF2-40B4-BE49-F238E27FC236}">
                    <a16:creationId xmlns:a16="http://schemas.microsoft.com/office/drawing/2014/main" id="{DD937113-57AF-33F1-5191-8E168677D009}"/>
                  </a:ext>
                  <a:ext uri="{C183D7F6-B498-43B3-948B-1728B52AA6E4}">
                    <adec:decorative xmlns:adec="http://schemas.microsoft.com/office/drawing/2017/decorative" val="1"/>
                  </a:ext>
                </a:extLst>
              </p:cNvPr>
              <p:cNvSpPr txBox="1"/>
              <p:nvPr/>
            </p:nvSpPr>
            <p:spPr>
              <a:xfrm>
                <a:off x="8322793" y="5590331"/>
                <a:ext cx="1285868"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Install SAP Joule agent via M365 Admin Center</a:t>
                </a:r>
              </a:p>
            </p:txBody>
          </p:sp>
          <p:sp>
            <p:nvSpPr>
              <p:cNvPr id="108" name="Oval 107">
                <a:extLst>
                  <a:ext uri="{FF2B5EF4-FFF2-40B4-BE49-F238E27FC236}">
                    <a16:creationId xmlns:a16="http://schemas.microsoft.com/office/drawing/2014/main" id="{368E0D6F-8855-2A27-1C3A-2589DFBBF4ED}"/>
                  </a:ext>
                  <a:ext uri="{C183D7F6-B498-43B3-948B-1728B52AA6E4}">
                    <adec:decorative xmlns:adec="http://schemas.microsoft.com/office/drawing/2017/decorative" val="1"/>
                  </a:ext>
                </a:extLst>
              </p:cNvPr>
              <p:cNvSpPr>
                <a:spLocks noChangeAspect="1"/>
              </p:cNvSpPr>
              <p:nvPr/>
            </p:nvSpPr>
            <p:spPr>
              <a:xfrm>
                <a:off x="10045025" y="45999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9" name="TextBox 108">
                <a:extLst>
                  <a:ext uri="{FF2B5EF4-FFF2-40B4-BE49-F238E27FC236}">
                    <a16:creationId xmlns:a16="http://schemas.microsoft.com/office/drawing/2014/main" id="{64D708D0-D865-6732-F8B7-A2F2E4DB457D}"/>
                  </a:ext>
                </a:extLst>
              </p:cNvPr>
              <p:cNvSpPr txBox="1"/>
              <p:nvPr/>
            </p:nvSpPr>
            <p:spPr>
              <a:xfrm>
                <a:off x="10249964" y="4586782"/>
                <a:ext cx="1720727"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Add M365 Copilot to SAP BTP</a:t>
                </a:r>
              </a:p>
            </p:txBody>
          </p:sp>
        </p:grpSp>
        <p:sp>
          <p:nvSpPr>
            <p:cNvPr id="68" name="TextBox 67">
              <a:extLst>
                <a:ext uri="{FF2B5EF4-FFF2-40B4-BE49-F238E27FC236}">
                  <a16:creationId xmlns:a16="http://schemas.microsoft.com/office/drawing/2014/main" id="{217E8A25-224F-4BD2-A25B-2D1224F5484F}"/>
                </a:ext>
              </a:extLst>
            </p:cNvPr>
            <p:cNvSpPr txBox="1"/>
            <p:nvPr/>
          </p:nvSpPr>
          <p:spPr>
            <a:xfrm>
              <a:off x="7014644" y="2401819"/>
              <a:ext cx="2195268" cy="307777"/>
            </a:xfrm>
            <a:prstGeom prst="rect">
              <a:avLst/>
            </a:prstGeom>
            <a:noFill/>
            <a:ln>
              <a:noFill/>
            </a:ln>
          </p:spPr>
          <p:txBody>
            <a:bodyPr wrap="square" lIns="0" tIns="0" rIns="0" bIns="0" rtlCol="0" anchor="t">
              <a:spAutoFit/>
            </a:bodyPr>
            <a:lstStyle/>
            <a:p>
              <a:pPr marR="0" lvl="0" indent="0" algn="ctr" fontAlgn="auto">
                <a:lnSpc>
                  <a:spcPct val="100000"/>
                </a:lnSpc>
                <a:spcBef>
                  <a:spcPts val="0"/>
                </a:spcBef>
                <a:spcAft>
                  <a:spcPts val="0"/>
                </a:spcAft>
                <a:buClrTx/>
                <a:buSzTx/>
                <a:buFontTx/>
                <a:buNone/>
                <a:tabLst/>
                <a:defRPr/>
              </a:pPr>
              <a:r>
                <a:rPr lang="en-US" sz="2000" noProof="0" dirty="0">
                  <a:solidFill>
                    <a:schemeClr val="tx2"/>
                  </a:solidFill>
                  <a:latin typeface="+mj-lt"/>
                </a:rPr>
                <a:t>SAP/Partner</a:t>
              </a:r>
            </a:p>
          </p:txBody>
        </p:sp>
        <p:sp>
          <p:nvSpPr>
            <p:cNvPr id="69" name="Oval 68">
              <a:extLst>
                <a:ext uri="{FF2B5EF4-FFF2-40B4-BE49-F238E27FC236}">
                  <a16:creationId xmlns:a16="http://schemas.microsoft.com/office/drawing/2014/main" id="{1E11FF0F-29C8-7573-334E-6772C68603B7}"/>
                </a:ext>
                <a:ext uri="{C183D7F6-B498-43B3-948B-1728B52AA6E4}">
                  <adec:decorative xmlns:adec="http://schemas.microsoft.com/office/drawing/2017/decorative" val="1"/>
                </a:ext>
              </a:extLst>
            </p:cNvPr>
            <p:cNvSpPr>
              <a:spLocks noChangeAspect="1"/>
            </p:cNvSpPr>
            <p:nvPr/>
          </p:nvSpPr>
          <p:spPr>
            <a:xfrm>
              <a:off x="9759042" y="5390075"/>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algn="ctr"/>
              <a:endParaRPr lang="en-US" sz="1200" noProof="0" dirty="0">
                <a:solidFill>
                  <a:srgbClr val="0078D4"/>
                </a:solidFill>
                <a:latin typeface="Segoe Sans Text Semibold"/>
              </a:endParaRPr>
            </a:p>
          </p:txBody>
        </p:sp>
        <p:sp>
          <p:nvSpPr>
            <p:cNvPr id="70" name="TextBox 69">
              <a:extLst>
                <a:ext uri="{FF2B5EF4-FFF2-40B4-BE49-F238E27FC236}">
                  <a16:creationId xmlns:a16="http://schemas.microsoft.com/office/drawing/2014/main" id="{EA4A5D56-BC10-CEBF-0D2C-A5118DFE8059}"/>
                </a:ext>
                <a:ext uri="{C183D7F6-B498-43B3-948B-1728B52AA6E4}">
                  <adec:decorative xmlns:adec="http://schemas.microsoft.com/office/drawing/2017/decorative" val="1"/>
                </a:ext>
              </a:extLst>
            </p:cNvPr>
            <p:cNvSpPr txBox="1"/>
            <p:nvPr/>
          </p:nvSpPr>
          <p:spPr>
            <a:xfrm>
              <a:off x="10005503" y="5405263"/>
              <a:ext cx="1285868"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Include M365 copilot in existing Joule formation</a:t>
              </a:r>
            </a:p>
          </p:txBody>
        </p:sp>
      </p:grpSp>
      <p:sp>
        <p:nvSpPr>
          <p:cNvPr id="6" name="Rectangle: Rounded Corners 5">
            <a:extLst>
              <a:ext uri="{FF2B5EF4-FFF2-40B4-BE49-F238E27FC236}">
                <a16:creationId xmlns:a16="http://schemas.microsoft.com/office/drawing/2014/main" id="{2850A680-379E-0685-DC87-174A12EB6AED}"/>
              </a:ext>
            </a:extLst>
          </p:cNvPr>
          <p:cNvSpPr>
            <a:spLocks/>
          </p:cNvSpPr>
          <p:nvPr/>
        </p:nvSpPr>
        <p:spPr bwMode="auto">
          <a:xfrm>
            <a:off x="3863767" y="513396"/>
            <a:ext cx="8023433" cy="5342753"/>
          </a:xfrm>
          <a:prstGeom prst="roundRect">
            <a:avLst>
              <a:gd name="adj" fmla="val 251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4" name="Freeform: Shape 32">
            <a:extLst>
              <a:ext uri="{FF2B5EF4-FFF2-40B4-BE49-F238E27FC236}">
                <a16:creationId xmlns:a16="http://schemas.microsoft.com/office/drawing/2014/main" id="{C240E87D-AFCE-2C45-06A1-996514C0B016}"/>
              </a:ext>
              <a:ext uri="{C183D7F6-B498-43B3-948B-1728B52AA6E4}">
                <adec:decorative xmlns:adec="http://schemas.microsoft.com/office/drawing/2017/decorative" val="1"/>
              </a:ext>
            </a:extLst>
          </p:cNvPr>
          <p:cNvSpPr/>
          <p:nvPr/>
        </p:nvSpPr>
        <p:spPr bwMode="auto">
          <a:xfrm>
            <a:off x="0" y="0"/>
            <a:ext cx="3819933"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105" name="Title 61">
            <a:extLst>
              <a:ext uri="{FF2B5EF4-FFF2-40B4-BE49-F238E27FC236}">
                <a16:creationId xmlns:a16="http://schemas.microsoft.com/office/drawing/2014/main" id="{DE21D081-B4EB-3835-EEEC-242CC7B92953}"/>
              </a:ext>
            </a:extLst>
          </p:cNvPr>
          <p:cNvSpPr txBox="1">
            <a:spLocks/>
          </p:cNvSpPr>
          <p:nvPr/>
        </p:nvSpPr>
        <p:spPr>
          <a:xfrm>
            <a:off x="419100" y="419100"/>
            <a:ext cx="3162300" cy="2400657"/>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a:t>
            </a:r>
            <a:br>
              <a:rPr lang="en-US" sz="3000" noProof="0" dirty="0">
                <a:solidFill>
                  <a:schemeClr val="bg1"/>
                </a:solidFill>
              </a:rPr>
            </a:br>
            <a:r>
              <a:rPr lang="en-US" sz="3000" noProof="0" dirty="0">
                <a:solidFill>
                  <a:schemeClr val="bg1"/>
                </a:solidFill>
              </a:rPr>
              <a:t>SAP Joule Integration with M365 Copilot</a:t>
            </a:r>
            <a:endParaRPr lang="en-US" sz="3000" noProof="0" dirty="0">
              <a:solidFill>
                <a:schemeClr val="bg1"/>
              </a:solidFill>
              <a:latin typeface="+mn-lt"/>
            </a:endParaRPr>
          </a:p>
        </p:txBody>
      </p:sp>
      <p:sp>
        <p:nvSpPr>
          <p:cNvPr id="116" name="Title 23">
            <a:extLst>
              <a:ext uri="{FF2B5EF4-FFF2-40B4-BE49-F238E27FC236}">
                <a16:creationId xmlns:a16="http://schemas.microsoft.com/office/drawing/2014/main" id="{ED92D58C-467E-0045-2052-F3CD668BECB6}"/>
              </a:ext>
            </a:extLst>
          </p:cNvPr>
          <p:cNvSpPr txBox="1">
            <a:spLocks/>
          </p:cNvSpPr>
          <p:nvPr/>
        </p:nvSpPr>
        <p:spPr>
          <a:xfrm>
            <a:off x="419100" y="3697928"/>
            <a:ext cx="2994025" cy="369332"/>
          </a:xfrm>
          <a:prstGeom prst="rect">
            <a:avLst/>
          </a:prstGeom>
        </p:spPr>
        <p:txBody>
          <a:bodyPr vert="horz" wrap="square" lIns="0" tIns="0" rIns="0" bIns="0" rtlCol="0" anchor="t">
            <a:spAutoFit/>
          </a:bodyPr>
          <a:lstStyle>
            <a:lvl1pPr marL="0" algn="l" defTabSz="932742" rtl="0" eaLnBrk="1" latinLnBrk="0" hangingPunct="1">
              <a:lnSpc>
                <a:spcPct val="100000"/>
              </a:lnSpc>
              <a:spcBef>
                <a:spcPct val="0"/>
              </a:spcBef>
              <a:buNone/>
              <a:defRPr lang="en-US" sz="3200" b="0" kern="1200" cap="none" spc="-50" baseline="0" dirty="0">
                <a:ln w="3175">
                  <a:noFill/>
                </a:ln>
                <a:solidFill>
                  <a:schemeClr val="tx2"/>
                </a:solidFill>
                <a:effectLst/>
                <a:latin typeface="+mj-lt"/>
                <a:ea typeface="+mn-ea"/>
                <a:cs typeface="Segoe UI" pitchFamily="34" charset="0"/>
              </a:defRPr>
            </a:lvl1pPr>
          </a:lstStyle>
          <a:p>
            <a:pPr marL="0" marR="0" lvl="0" indent="0" defTabSz="932742"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w="3175">
                  <a:noFill/>
                </a:ln>
                <a:solidFill>
                  <a:schemeClr val="bg1"/>
                </a:solidFill>
                <a:effectLst/>
                <a:uLnTx/>
                <a:uFillTx/>
                <a:latin typeface="+mn-lt"/>
                <a:cs typeface="+mn-cs"/>
              </a:rPr>
              <a:t>Joint delivery model</a:t>
            </a:r>
          </a:p>
        </p:txBody>
      </p:sp>
      <p:cxnSp>
        <p:nvCxnSpPr>
          <p:cNvPr id="117" name="Straight Connector 116">
            <a:extLst>
              <a:ext uri="{FF2B5EF4-FFF2-40B4-BE49-F238E27FC236}">
                <a16:creationId xmlns:a16="http://schemas.microsoft.com/office/drawing/2014/main" id="{B8CF7A78-BFA1-3C7C-71DB-56CD619BB76C}"/>
              </a:ext>
            </a:extLst>
          </p:cNvPr>
          <p:cNvCxnSpPr/>
          <p:nvPr/>
        </p:nvCxnSpPr>
        <p:spPr>
          <a:xfrm>
            <a:off x="419100" y="3258842"/>
            <a:ext cx="884237" cy="0"/>
          </a:xfrm>
          <a:prstGeom prst="line">
            <a:avLst/>
          </a:prstGeom>
          <a:ln w="381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2" name="Text Box 3" descr="This is a copyright notice that should be included on the final slide.">
            <a:extLst>
              <a:ext uri="{FF2B5EF4-FFF2-40B4-BE49-F238E27FC236}">
                <a16:creationId xmlns:a16="http://schemas.microsoft.com/office/drawing/2014/main" id="{DD99444F-0B15-F261-4B5A-81CEEA1DF225}"/>
              </a:ext>
            </a:extLst>
          </p:cNvPr>
          <p:cNvSpPr txBox="1">
            <a:spLocks noChangeArrowheads="1"/>
          </p:cNvSpPr>
          <p:nvPr/>
        </p:nvSpPr>
        <p:spPr bwMode="blackWhite">
          <a:xfrm>
            <a:off x="419100" y="6541751"/>
            <a:ext cx="2529539" cy="123111"/>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noAutofit/>
          </a:bodyPr>
          <a:lstStyle/>
          <a:p>
            <a:pPr marL="0" marR="0" lvl="0" indent="0" defTabSz="93229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ea typeface="+mn-ea"/>
                <a:cs typeface="Segoe Sans Text" pitchFamily="2" charset="0"/>
              </a:rPr>
              <a:t>© Copyright Microsoft Corporation. All rights reserved. </a:t>
            </a:r>
          </a:p>
        </p:txBody>
      </p:sp>
      <p:sp>
        <p:nvSpPr>
          <p:cNvPr id="5" name="Oval 4">
            <a:extLst>
              <a:ext uri="{FF2B5EF4-FFF2-40B4-BE49-F238E27FC236}">
                <a16:creationId xmlns:a16="http://schemas.microsoft.com/office/drawing/2014/main" id="{9C97BC83-F949-8B3A-E478-00AE835B3E18}"/>
              </a:ext>
            </a:extLst>
          </p:cNvPr>
          <p:cNvSpPr>
            <a:spLocks noChangeAspect="1"/>
          </p:cNvSpPr>
          <p:nvPr/>
        </p:nvSpPr>
        <p:spPr>
          <a:xfrm>
            <a:off x="5462263" y="3961473"/>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8" name="TextBox 7">
            <a:extLst>
              <a:ext uri="{FF2B5EF4-FFF2-40B4-BE49-F238E27FC236}">
                <a16:creationId xmlns:a16="http://schemas.microsoft.com/office/drawing/2014/main" id="{63819C9B-CA04-94E6-E1F1-B5A75CB07EE2}"/>
              </a:ext>
            </a:extLst>
          </p:cNvPr>
          <p:cNvSpPr txBox="1"/>
          <p:nvPr/>
        </p:nvSpPr>
        <p:spPr>
          <a:xfrm>
            <a:off x="3925476" y="4048564"/>
            <a:ext cx="1864739" cy="307777"/>
          </a:xfrm>
          <a:prstGeom prst="rect">
            <a:avLst/>
          </a:prstGeom>
          <a:noFill/>
        </p:spPr>
        <p:txBody>
          <a:bodyPr wrap="squar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noProof="0" dirty="0"/>
              <a:t>Entra ID configured as OIDC   corporate IDP in SAP IAS </a:t>
            </a:r>
            <a:endParaRPr kumimoji="0" lang="en-US" sz="1000" b="0" i="0" u="none" strike="noStrike" kern="1200" cap="none" spc="0" normalizeH="0" baseline="0" noProof="0" dirty="0">
              <a:ln>
                <a:noFill/>
              </a:ln>
              <a:effectLst/>
              <a:uLnTx/>
              <a:uFillTx/>
            </a:endParaRPr>
          </a:p>
        </p:txBody>
      </p:sp>
      <p:sp>
        <p:nvSpPr>
          <p:cNvPr id="12" name="Oval 11">
            <a:extLst>
              <a:ext uri="{FF2B5EF4-FFF2-40B4-BE49-F238E27FC236}">
                <a16:creationId xmlns:a16="http://schemas.microsoft.com/office/drawing/2014/main" id="{569C59D7-58D1-7A83-9BBE-0C4C969C1515}"/>
              </a:ext>
            </a:extLst>
          </p:cNvPr>
          <p:cNvSpPr>
            <a:spLocks noChangeAspect="1"/>
          </p:cNvSpPr>
          <p:nvPr/>
        </p:nvSpPr>
        <p:spPr>
          <a:xfrm>
            <a:off x="6092263" y="5030651"/>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TextBox 13">
            <a:extLst>
              <a:ext uri="{FF2B5EF4-FFF2-40B4-BE49-F238E27FC236}">
                <a16:creationId xmlns:a16="http://schemas.microsoft.com/office/drawing/2014/main" id="{FA59095B-74FC-27CF-683E-CB5818A89754}"/>
              </a:ext>
            </a:extLst>
          </p:cNvPr>
          <p:cNvSpPr txBox="1"/>
          <p:nvPr/>
        </p:nvSpPr>
        <p:spPr>
          <a:xfrm>
            <a:off x="4034227" y="5319755"/>
            <a:ext cx="2515112" cy="153888"/>
          </a:xfrm>
          <a:prstGeom prst="rect">
            <a:avLst/>
          </a:prstGeom>
          <a:noFill/>
        </p:spPr>
        <p:txBody>
          <a:bodyPr wrap="non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M365 copilot licenses assigned to Test Users</a:t>
            </a:r>
          </a:p>
        </p:txBody>
      </p:sp>
      <p:sp>
        <p:nvSpPr>
          <p:cNvPr id="16" name="TextBox 15">
            <a:extLst>
              <a:ext uri="{FF2B5EF4-FFF2-40B4-BE49-F238E27FC236}">
                <a16:creationId xmlns:a16="http://schemas.microsoft.com/office/drawing/2014/main" id="{426B4441-9865-36C3-B44B-063736F9C13E}"/>
              </a:ext>
            </a:extLst>
          </p:cNvPr>
          <p:cNvSpPr txBox="1"/>
          <p:nvPr/>
        </p:nvSpPr>
        <p:spPr>
          <a:xfrm>
            <a:off x="6674249" y="809361"/>
            <a:ext cx="1107676" cy="153888"/>
          </a:xfrm>
          <a:prstGeom prst="rect">
            <a:avLst/>
          </a:prstGeom>
          <a:noFill/>
        </p:spPr>
        <p:txBody>
          <a:bodyPr wrap="non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noProof="0" dirty="0"/>
              <a:t>BTP Cockpit access </a:t>
            </a:r>
            <a:endParaRPr kumimoji="0" lang="en-US" sz="1000" b="0" i="0" u="none" strike="noStrike" kern="1200" cap="none" spc="0" normalizeH="0" baseline="0" noProof="0" dirty="0">
              <a:ln>
                <a:noFill/>
              </a:ln>
              <a:effectLst/>
              <a:uLnTx/>
              <a:uFillTx/>
            </a:endParaRPr>
          </a:p>
        </p:txBody>
      </p:sp>
      <p:sp>
        <p:nvSpPr>
          <p:cNvPr id="20" name="Oval 19">
            <a:extLst>
              <a:ext uri="{FF2B5EF4-FFF2-40B4-BE49-F238E27FC236}">
                <a16:creationId xmlns:a16="http://schemas.microsoft.com/office/drawing/2014/main" id="{83FF0F87-5B1C-1E5B-67E4-A2A3E30A43E7}"/>
              </a:ext>
            </a:extLst>
          </p:cNvPr>
          <p:cNvSpPr>
            <a:spLocks noChangeAspect="1"/>
          </p:cNvSpPr>
          <p:nvPr/>
        </p:nvSpPr>
        <p:spPr>
          <a:xfrm>
            <a:off x="7348928" y="1067249"/>
            <a:ext cx="127582" cy="127582"/>
          </a:xfrm>
          <a:prstGeom prst="ellipse">
            <a:avLst/>
          </a:prstGeom>
          <a:solidFill>
            <a:srgbClr val="F4F3F5"/>
          </a:solidFill>
          <a:ln w="19050">
            <a:solidFill>
              <a:srgbClr val="0C5C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 name="TextBox 1">
            <a:extLst>
              <a:ext uri="{FF2B5EF4-FFF2-40B4-BE49-F238E27FC236}">
                <a16:creationId xmlns:a16="http://schemas.microsoft.com/office/drawing/2014/main" id="{FAF86FC3-1E3F-2EE4-89AD-210513AC2344}"/>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978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707C8-0112-893D-DBF2-7BA9F05B1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354F9-1C2C-06AF-8B48-AE761A770A3A}"/>
              </a:ext>
            </a:extLst>
          </p:cNvPr>
          <p:cNvSpPr>
            <a:spLocks noGrp="1"/>
          </p:cNvSpPr>
          <p:nvPr>
            <p:ph type="title"/>
          </p:nvPr>
        </p:nvSpPr>
        <p:spPr>
          <a:xfrm>
            <a:off x="585788" y="2362637"/>
            <a:ext cx="9144000" cy="1169551"/>
          </a:xfrm>
        </p:spPr>
        <p:txBody>
          <a:bodyPr/>
          <a:lstStyle/>
          <a:p>
            <a:r>
              <a:rPr lang="en-US"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6" name="TextBox 5">
            <a:extLst>
              <a:ext uri="{FF2B5EF4-FFF2-40B4-BE49-F238E27FC236}">
                <a16:creationId xmlns:a16="http://schemas.microsoft.com/office/drawing/2014/main" id="{92E525C5-C76E-34C0-B578-E1414AC237BE}"/>
              </a:ext>
            </a:extLst>
          </p:cNvPr>
          <p:cNvSpPr txBox="1"/>
          <p:nvPr/>
        </p:nvSpPr>
        <p:spPr>
          <a:xfrm>
            <a:off x="584200" y="4173052"/>
            <a:ext cx="3974152" cy="535136"/>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defRPr sz="1200">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Azure Virtual Desktop</a:t>
            </a:r>
          </a:p>
          <a:p>
            <a:pPr algn="ctr"/>
            <a:r>
              <a:rPr lang="en-US" noProof="0" dirty="0"/>
              <a:t>(RDS/Citrix VDI to AVD, Windows to W365)</a:t>
            </a:r>
          </a:p>
        </p:txBody>
      </p:sp>
      <p:sp>
        <p:nvSpPr>
          <p:cNvPr id="10" name="TextBox 9">
            <a:extLst>
              <a:ext uri="{FF2B5EF4-FFF2-40B4-BE49-F238E27FC236}">
                <a16:creationId xmlns:a16="http://schemas.microsoft.com/office/drawing/2014/main" id="{A268096A-EEAA-23E6-B507-21BD290D5787}"/>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4" name="Image 10" descr="Home (outlined)">
            <a:hlinkClick r:id="rId3" action="ppaction://hlinksldjump" tooltip="Home"/>
            <a:extLst>
              <a:ext uri="{FF2B5EF4-FFF2-40B4-BE49-F238E27FC236}">
                <a16:creationId xmlns:a16="http://schemas.microsoft.com/office/drawing/2014/main" id="{0099E047-4D44-D819-B955-00B5078F6307}"/>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455044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 presetClass="emph" presetSubtype="0" fill="hold" grpId="1" nodeType="withEffect">
                                  <p:stCondLst>
                                    <p:cond delay="0"/>
                                  </p:stCondLst>
                                  <p:childTnLst>
                                    <p:animScale>
                                      <p:cBhvr>
                                        <p:cTn id="9" dur="100" fill="hold"/>
                                        <p:tgtEl>
                                          <p:spTgt spid="6"/>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6"/>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10" grpId="0" animBg="1"/>
      <p:bldP spid="10" grpId="1" animBg="1"/>
      <p:bldP spid="10" grpId="2"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55F5-8100-A72F-3B92-3F9274108E65}"/>
            </a:ext>
          </a:extLst>
        </p:cNvPr>
        <p:cNvGrpSpPr/>
        <p:nvPr/>
      </p:nvGrpSpPr>
      <p:grpSpPr>
        <a:xfrm>
          <a:off x="0" y="0"/>
          <a:ext cx="0" cy="0"/>
          <a:chOff x="0" y="0"/>
          <a:chExt cx="0" cy="0"/>
        </a:xfrm>
      </p:grpSpPr>
      <p:sp>
        <p:nvSpPr>
          <p:cNvPr id="10" name="Rounded Rectangle 55">
            <a:extLst>
              <a:ext uri="{FF2B5EF4-FFF2-40B4-BE49-F238E27FC236}">
                <a16:creationId xmlns:a16="http://schemas.microsoft.com/office/drawing/2014/main" id="{911211BE-AAEF-5182-0F12-12E43F1DE255}"/>
              </a:ext>
              <a:ext uri="{C183D7F6-B498-43B3-948B-1728B52AA6E4}">
                <adec:decorative xmlns:adec="http://schemas.microsoft.com/office/drawing/2017/decorative" val="1"/>
              </a:ext>
            </a:extLst>
          </p:cNvPr>
          <p:cNvSpPr/>
          <p:nvPr/>
        </p:nvSpPr>
        <p:spPr bwMode="auto">
          <a:xfrm>
            <a:off x="9154160" y="1196662"/>
            <a:ext cx="2448877" cy="5494594"/>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59000F79-DFF8-75EE-5F3A-B132066F5DF4}"/>
              </a:ext>
              <a:ext uri="{C183D7F6-B498-43B3-948B-1728B52AA6E4}">
                <adec:decorative xmlns:adec="http://schemas.microsoft.com/office/drawing/2017/decorative" val="1"/>
              </a:ext>
            </a:extLst>
          </p:cNvPr>
          <p:cNvSpPr/>
          <p:nvPr/>
        </p:nvSpPr>
        <p:spPr bwMode="auto">
          <a:xfrm>
            <a:off x="588961" y="1196662"/>
            <a:ext cx="8443279" cy="5494594"/>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7A20872B-F1E2-0B01-848F-902B0D5AA862}"/>
              </a:ext>
            </a:extLst>
          </p:cNvPr>
          <p:cNvSpPr>
            <a:spLocks noGrp="1"/>
          </p:cNvSpPr>
          <p:nvPr>
            <p:ph type="title"/>
          </p:nvPr>
        </p:nvSpPr>
        <p:spPr>
          <a:xfrm>
            <a:off x="636104" y="410092"/>
            <a:ext cx="8574492" cy="113877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Virtual Desktop Migration to Azure </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RDS and Citrix VDI to AVD Migration</a:t>
            </a:r>
            <a:b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br>
            <a:endParaRPr lang="en-US" sz="2800" noProof="0" dirty="0"/>
          </a:p>
        </p:txBody>
      </p:sp>
      <p:sp>
        <p:nvSpPr>
          <p:cNvPr id="19" name="TextBox 18">
            <a:extLst>
              <a:ext uri="{FF2B5EF4-FFF2-40B4-BE49-F238E27FC236}">
                <a16:creationId xmlns:a16="http://schemas.microsoft.com/office/drawing/2014/main" id="{9E1DF616-3681-FB93-6039-CC19132893C9}"/>
              </a:ext>
            </a:extLst>
          </p:cNvPr>
          <p:cNvSpPr txBox="1">
            <a:spLocks noChangeAspect="1"/>
          </p:cNvSpPr>
          <p:nvPr/>
        </p:nvSpPr>
        <p:spPr>
          <a:xfrm>
            <a:off x="674049" y="1325259"/>
            <a:ext cx="8189981" cy="34231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0" name="Graphic 22">
            <a:extLst>
              <a:ext uri="{FF2B5EF4-FFF2-40B4-BE49-F238E27FC236}">
                <a16:creationId xmlns:a16="http://schemas.microsoft.com/office/drawing/2014/main" id="{F4AB4EC5-DC7F-C649-5FA8-DC15AF037EE6}"/>
              </a:ext>
            </a:extLst>
          </p:cNvPr>
          <p:cNvSpPr/>
          <p:nvPr/>
        </p:nvSpPr>
        <p:spPr>
          <a:xfrm>
            <a:off x="3597775"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1" name="TextBox 20">
            <a:extLst>
              <a:ext uri="{FF2B5EF4-FFF2-40B4-BE49-F238E27FC236}">
                <a16:creationId xmlns:a16="http://schemas.microsoft.com/office/drawing/2014/main" id="{DB3F7730-C968-1941-0390-C95B04561004}"/>
              </a:ext>
            </a:extLst>
          </p:cNvPr>
          <p:cNvSpPr txBox="1">
            <a:spLocks noChangeAspect="1"/>
          </p:cNvSpPr>
          <p:nvPr/>
        </p:nvSpPr>
        <p:spPr>
          <a:xfrm>
            <a:off x="9194396" y="1322443"/>
            <a:ext cx="2355219" cy="30901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2" name="Graphic 25">
            <a:extLst>
              <a:ext uri="{FF2B5EF4-FFF2-40B4-BE49-F238E27FC236}">
                <a16:creationId xmlns:a16="http://schemas.microsoft.com/office/drawing/2014/main" id="{1783DD95-1C00-C1C1-A59A-2D54D8193570}"/>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graphicFrame>
        <p:nvGraphicFramePr>
          <p:cNvPr id="28" name="Table 27" title="Exchange Online Technet Guidance">
            <a:extLst>
              <a:ext uri="{FF2B5EF4-FFF2-40B4-BE49-F238E27FC236}">
                <a16:creationId xmlns:a16="http://schemas.microsoft.com/office/drawing/2014/main" id="{6BCE5C63-27E2-BDEF-2810-CCBAD6EABAAA}"/>
              </a:ext>
            </a:extLst>
          </p:cNvPr>
          <p:cNvGraphicFramePr>
            <a:graphicFrameLocks noGrp="1"/>
          </p:cNvGraphicFramePr>
          <p:nvPr>
            <p:extLst>
              <p:ext uri="{D42A27DB-BD31-4B8C-83A1-F6EECF244321}">
                <p14:modId xmlns:p14="http://schemas.microsoft.com/office/powerpoint/2010/main" val="237917525"/>
              </p:ext>
            </p:extLst>
          </p:nvPr>
        </p:nvGraphicFramePr>
        <p:xfrm>
          <a:off x="667096" y="1757832"/>
          <a:ext cx="8287008" cy="4789424"/>
        </p:xfrm>
        <a:graphic>
          <a:graphicData uri="http://schemas.openxmlformats.org/drawingml/2006/table">
            <a:tbl>
              <a:tblPr firstRow="1" bandRow="1">
                <a:tableStyleId>{5C22544A-7EE6-4342-B048-85BDC9FD1C3A}</a:tableStyleId>
              </a:tblPr>
              <a:tblGrid>
                <a:gridCol w="274320">
                  <a:extLst>
                    <a:ext uri="{9D8B030D-6E8A-4147-A177-3AD203B41FA5}">
                      <a16:colId xmlns:a16="http://schemas.microsoft.com/office/drawing/2014/main" val="920430407"/>
                    </a:ext>
                  </a:extLst>
                </a:gridCol>
                <a:gridCol w="8012688">
                  <a:extLst>
                    <a:ext uri="{9D8B030D-6E8A-4147-A177-3AD203B41FA5}">
                      <a16:colId xmlns:a16="http://schemas.microsoft.com/office/drawing/2014/main" val="125040094"/>
                    </a:ext>
                  </a:extLst>
                </a:gridCol>
              </a:tblGrid>
              <a:tr h="339379">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RDS and Citrix VDI to AVD migration</a:t>
                      </a:r>
                    </a:p>
                  </a:txBody>
                  <a:tcPr marT="82296" marB="82296">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1169360">
                <a:tc>
                  <a:txBody>
                    <a:bodyPr/>
                    <a:lstStyle/>
                    <a:p>
                      <a:pPr algn="ctr"/>
                      <a:r>
                        <a:rPr lang="en-US" sz="1050" b="0" noProof="0" dirty="0">
                          <a:solidFill>
                            <a:schemeClr val="tx2"/>
                          </a:solidFill>
                          <a:latin typeface="+mj-lt"/>
                        </a:rPr>
                        <a:t>1</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noProof="0" dirty="0">
                          <a:solidFill>
                            <a:schemeClr val="tx1"/>
                          </a:solidFill>
                          <a:latin typeface="+mj-lt"/>
                        </a:rPr>
                        <a:t>Publish applications/desktops with Azure Virtual Desktops </a:t>
                      </a:r>
                      <a:r>
                        <a:rPr lang="en-US" sz="1000" noProof="0" dirty="0">
                          <a:solidFill>
                            <a:schemeClr val="tx1"/>
                          </a:solidFill>
                          <a:latin typeface="+mn-lt"/>
                        </a:rPr>
                        <a:t>and provision and configure users’ assignment. </a:t>
                      </a:r>
                      <a:br>
                        <a:rPr lang="en-US" sz="1000" noProof="0" dirty="0">
                          <a:solidFill>
                            <a:schemeClr val="tx1"/>
                          </a:solidFill>
                          <a:latin typeface="+mn-lt"/>
                        </a:rPr>
                      </a:br>
                      <a:r>
                        <a:rPr lang="en-US" sz="1000" noProof="0" dirty="0">
                          <a:solidFill>
                            <a:schemeClr val="tx1"/>
                          </a:solidFill>
                          <a:latin typeface="+mn-lt"/>
                        </a:rPr>
                        <a:t>Supported scenarios: </a:t>
                      </a:r>
                    </a:p>
                    <a:p>
                      <a:pPr marL="195263" marR="0" lvl="0" indent="-138113"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rPr>
                        <a:t>RDS to AVD</a:t>
                      </a:r>
                    </a:p>
                    <a:p>
                      <a:pPr marL="195263" marR="0" lvl="0" indent="-138113"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rPr>
                        <a:t>Citrix VDI to AVD</a:t>
                      </a:r>
                    </a:p>
                    <a:p>
                      <a:pPr marL="195263" marR="0" lvl="0" indent="-138113"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rPr>
                        <a:t>New Standard AVD deployment</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984915">
                <a:tc>
                  <a:txBody>
                    <a:bodyPr/>
                    <a:lstStyle/>
                    <a:p>
                      <a:pPr algn="ctr"/>
                      <a:r>
                        <a:rPr lang="en-US" sz="1050" b="0" noProof="0" dirty="0">
                          <a:solidFill>
                            <a:schemeClr val="tx2"/>
                          </a:solidFill>
                          <a:latin typeface="+mj-lt"/>
                        </a:rPr>
                        <a:t>2</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Configure the customers specific images</a:t>
                      </a:r>
                      <a:r>
                        <a:rPr kumimoji="0" lang="en-US" sz="1000" b="0" i="0" u="none" strike="noStrike" kern="0" cap="none" spc="0" normalizeH="0" baseline="0" noProof="0" dirty="0">
                          <a:ln>
                            <a:noFill/>
                          </a:ln>
                          <a:solidFill>
                            <a:schemeClr val="tx1"/>
                          </a:solidFill>
                          <a:effectLst/>
                          <a:uLnTx/>
                          <a:uFillTx/>
                          <a:latin typeface="+mn-lt"/>
                          <a:ea typeface="+mn-ea"/>
                          <a:cs typeface="+mn-cs"/>
                        </a:rPr>
                        <a:t>, supported scenarios:</a:t>
                      </a:r>
                    </a:p>
                    <a:p>
                      <a:pPr marL="195263" marR="0" lvl="2"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lift and shift of customers’ RDS environment (Server or Client OS into AVD).</a:t>
                      </a:r>
                    </a:p>
                    <a:p>
                      <a:pPr marL="195263" marR="0" lvl="2"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Applications installed as part of existing RDS image will be migrated as part of lift &amp; Shift</a:t>
                      </a:r>
                    </a:p>
                    <a:p>
                      <a:pPr marL="195263" marR="0" lvl="2"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Create new image from Marketplace without customization</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800470">
                <a:tc>
                  <a:txBody>
                    <a:bodyPr/>
                    <a:lstStyle/>
                    <a:p>
                      <a:pPr algn="ctr"/>
                      <a:r>
                        <a:rPr lang="en-US" sz="1050" b="0" noProof="0" dirty="0">
                          <a:solidFill>
                            <a:schemeClr val="tx2"/>
                          </a:solidFill>
                          <a:latin typeface="+mj-lt"/>
                        </a:rPr>
                        <a:t>3</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Assign user profiles with the following tools: </a:t>
                      </a:r>
                    </a:p>
                    <a:p>
                      <a:pPr marL="195263" marR="0" lvl="0" indent="-138113" algn="just" rtl="0" eaLnBrk="1" fontAlgn="auto" latinLnBrk="0" hangingPunct="1">
                        <a:lnSpc>
                          <a:spcPct val="100000"/>
                        </a:lnSpc>
                        <a:spcBef>
                          <a:spcPts val="0"/>
                        </a:spcBef>
                        <a:spcAft>
                          <a:spcPts val="200"/>
                        </a:spcAft>
                        <a:buFont typeface="Arial" panose="020B0604020202020204" pitchFamily="34" charset="0"/>
                        <a:buChar char="•"/>
                      </a:pPr>
                      <a:r>
                        <a:rPr lang="en-US" sz="1000" b="0" i="0" u="none" strike="noStrike" kern="1200" noProof="0" dirty="0">
                          <a:solidFill>
                            <a:schemeClr val="tx1"/>
                          </a:solidFill>
                          <a:effectLst/>
                          <a:latin typeface="+mn-lt"/>
                          <a:ea typeface="+mn-ea"/>
                          <a:cs typeface="+mn-cs"/>
                        </a:rPr>
                        <a:t>Azure Storage Provisioning for user profile (FSLogix)</a:t>
                      </a:r>
                    </a:p>
                    <a:p>
                      <a:pPr marL="195263" marR="0" lvl="0" indent="-138113" algn="just" rtl="0" eaLnBrk="1" fontAlgn="auto" latinLnBrk="0" hangingPunct="1">
                        <a:lnSpc>
                          <a:spcPct val="100000"/>
                        </a:lnSpc>
                        <a:spcBef>
                          <a:spcPts val="0"/>
                        </a:spcBef>
                        <a:spcAft>
                          <a:spcPts val="200"/>
                        </a:spcAft>
                        <a:buFont typeface="Arial" panose="020B0604020202020204" pitchFamily="34" charset="0"/>
                        <a:buChar char="•"/>
                      </a:pPr>
                      <a:r>
                        <a:rPr lang="en-US" sz="1000" b="0" i="0" u="none" strike="noStrike" kern="1200" noProof="0" dirty="0">
                          <a:solidFill>
                            <a:schemeClr val="tx1"/>
                          </a:solidFill>
                          <a:effectLst/>
                          <a:latin typeface="+mn-lt"/>
                          <a:ea typeface="+mn-ea"/>
                          <a:cs typeface="+mn-cs"/>
                        </a:rPr>
                        <a:t>Create new user profile management using FSLogix</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447652">
                <a:tc>
                  <a:txBody>
                    <a:bodyPr/>
                    <a:lstStyle/>
                    <a:p>
                      <a:pPr marL="0" algn="ctr" defTabSz="932742" rtl="0" eaLnBrk="1" latinLnBrk="0" hangingPunct="1"/>
                      <a:r>
                        <a:rPr lang="en-US" sz="1050" b="0" kern="1200" noProof="0" dirty="0">
                          <a:solidFill>
                            <a:schemeClr val="tx2"/>
                          </a:solidFill>
                          <a:latin typeface="+mj-lt"/>
                          <a:ea typeface="+mn-ea"/>
                          <a:cs typeface="+mn-cs"/>
                        </a:rPr>
                        <a:t>4</a:t>
                      </a:r>
                    </a:p>
                  </a:txBody>
                  <a:tcPr marT="82296" marB="82296">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0"/>
                        </a:spcAft>
                        <a:buFont typeface="Arial" panose="020B0604020202020204" pitchFamily="34" charset="0"/>
                        <a:buNone/>
                      </a:pPr>
                      <a:r>
                        <a:rPr kumimoji="0" lang="en-US" sz="1000" b="0" i="0" u="none" strike="noStrike" kern="0" cap="none" spc="0" normalizeH="0" baseline="0" noProof="0" dirty="0">
                          <a:ln>
                            <a:noFill/>
                          </a:ln>
                          <a:solidFill>
                            <a:schemeClr val="tx1"/>
                          </a:solidFill>
                          <a:effectLst/>
                          <a:uLnTx/>
                          <a:uFillTx/>
                          <a:latin typeface="+mj-lt"/>
                          <a:ea typeface="+mn-ea"/>
                          <a:cs typeface="+mn-cs"/>
                        </a:rPr>
                        <a:t>Handover </a:t>
                      </a:r>
                      <a:r>
                        <a:rPr kumimoji="0" lang="en-US" sz="1000" b="0" i="0" u="none" strike="noStrike" kern="0" cap="none" spc="0" normalizeH="0" baseline="0" noProof="0" dirty="0">
                          <a:ln>
                            <a:noFill/>
                          </a:ln>
                          <a:solidFill>
                            <a:schemeClr val="tx1"/>
                          </a:solidFill>
                          <a:effectLst/>
                          <a:uLnTx/>
                          <a:uFillTx/>
                          <a:latin typeface="+mn-lt"/>
                          <a:ea typeface="+mn-ea"/>
                          <a:cs typeface="+mn-cs"/>
                        </a:rPr>
                        <a:t>to customer/ISD/Partner for post-migration activities</a:t>
                      </a:r>
                    </a:p>
                  </a:txBody>
                  <a:tcPr marT="82296" marB="82296">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0700591"/>
                  </a:ext>
                </a:extLst>
              </a:tr>
              <a:tr h="59760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partners are responsible for: configuring recommended settings and executing needed remediations when applicable; </a:t>
                      </a:r>
                      <a:br>
                        <a:rPr kumimoji="0" lang="en-US" sz="900" b="0" i="0" u="none" strike="noStrike" kern="1200" cap="none" spc="0" normalizeH="0" baseline="0" noProof="0" dirty="0">
                          <a:ln>
                            <a:noFill/>
                          </a:ln>
                          <a:solidFill>
                            <a:schemeClr val="tx1"/>
                          </a:solidFill>
                          <a:effectLst/>
                          <a:uLnTx/>
                          <a:uFillTx/>
                          <a:latin typeface="+mn-lt"/>
                          <a:ea typeface="+mn-ea"/>
                          <a:cs typeface="+mn-cs"/>
                        </a:rPr>
                      </a:br>
                      <a:r>
                        <a:rPr kumimoji="0" lang="en-US" sz="900" b="0" i="0" u="none" strike="noStrike" kern="1200" cap="none" spc="0" normalizeH="0" baseline="0" noProof="0" dirty="0">
                          <a:ln>
                            <a:noFill/>
                          </a:ln>
                          <a:solidFill>
                            <a:schemeClr val="tx1"/>
                          </a:solidFill>
                          <a:effectLst/>
                          <a:uLnTx/>
                          <a:uFillTx/>
                          <a:latin typeface="+mn-lt"/>
                          <a:ea typeface="+mn-ea"/>
                          <a:cs typeface="+mn-cs"/>
                        </a:rPr>
                        <a:t>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pitchFamily="2" charset="0"/>
                        </a:rPr>
                        <a:t>attending checkpoint meetings; and implementing user communications, documentation, training, and change management. </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T="82296" marB="82296">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r h="450046">
                <a:tc gridSpan="2">
                  <a:txBody>
                    <a:bodyPr/>
                    <a:lstStyle/>
                    <a:p>
                      <a:pPr lvl="0" algn="l">
                        <a:lnSpc>
                          <a:spcPct val="100000"/>
                        </a:lnSpc>
                        <a:spcBef>
                          <a:spcPts val="0"/>
                        </a:spcBef>
                        <a:spcAft>
                          <a:spcPts val="0"/>
                        </a:spcAft>
                        <a:buNone/>
                      </a:pPr>
                      <a:r>
                        <a:rPr lang="en-US" sz="900" b="0" i="0" u="none" strike="noStrike" kern="1200" cap="none" spc="0" normalizeH="0" baseline="0" noProof="0" dirty="0">
                          <a:ln>
                            <a:noFill/>
                          </a:ln>
                          <a:solidFill>
                            <a:schemeClr val="tx1"/>
                          </a:solidFill>
                          <a:effectLst/>
                          <a:uLnTx/>
                          <a:uFillTx/>
                          <a:latin typeface="+mn-lt"/>
                        </a:rPr>
                        <a:t>Estimated duration for completing all activities in a typical engagement is within three weeks when all the requirements are met, and customer and partner are ready for execution</a:t>
                      </a:r>
                    </a:p>
                  </a:txBody>
                  <a:tcPr marT="82296" marB="82296">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684667060"/>
                  </a:ext>
                </a:extLst>
              </a:tr>
            </a:tbl>
          </a:graphicData>
        </a:graphic>
      </p:graphicFrame>
      <p:sp>
        <p:nvSpPr>
          <p:cNvPr id="26" name="Content Placeholder 4">
            <a:extLst>
              <a:ext uri="{FF2B5EF4-FFF2-40B4-BE49-F238E27FC236}">
                <a16:creationId xmlns:a16="http://schemas.microsoft.com/office/drawing/2014/main" id="{5D50A18E-D780-AD31-799C-DBC33BC5355B}"/>
              </a:ext>
            </a:extLst>
          </p:cNvPr>
          <p:cNvSpPr txBox="1">
            <a:spLocks/>
          </p:cNvSpPr>
          <p:nvPr/>
        </p:nvSpPr>
        <p:spPr>
          <a:xfrm>
            <a:off x="9258243" y="1667566"/>
            <a:ext cx="2448877" cy="2239074"/>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300"/>
              </a:spcAft>
              <a:defRPr/>
            </a:pPr>
            <a:r>
              <a:rPr lang="en-US" sz="1200" noProof="0" dirty="0">
                <a:latin typeface="+mj-lt"/>
                <a:ea typeface="+mj-ea"/>
                <a:cs typeface="+mj-cs"/>
              </a:rPr>
              <a:t>Requirements to leveraging </a:t>
            </a:r>
            <a:br>
              <a:rPr lang="en-US" sz="1200" noProof="0" dirty="0">
                <a:latin typeface="+mj-lt"/>
                <a:ea typeface="+mj-ea"/>
                <a:cs typeface="+mj-cs"/>
              </a:rPr>
            </a:br>
            <a:r>
              <a:rPr lang="en-US" sz="1200" noProof="0" dirty="0">
                <a:latin typeface="+mj-lt"/>
                <a:ea typeface="+mj-ea"/>
                <a:cs typeface="+mj-cs"/>
              </a:rPr>
              <a:t>this service:</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Customer must provide current VDI infrastructure and desired AVD end state </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Standard AVD architecture must be available in the customer’s environment. If not, Cloud Factory can help the customer establish one </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Internet bandwidth availability must meet minimum Factory requirements </a:t>
            </a:r>
          </a:p>
        </p:txBody>
      </p:sp>
      <p:sp>
        <p:nvSpPr>
          <p:cNvPr id="27" name="Content Placeholder 4 - 1">
            <a:extLst>
              <a:ext uri="{FF2B5EF4-FFF2-40B4-BE49-F238E27FC236}">
                <a16:creationId xmlns:a16="http://schemas.microsoft.com/office/drawing/2014/main" id="{BA64CED4-D9CB-A7C9-E1F1-1A3E9ECD5314}"/>
              </a:ext>
            </a:extLst>
          </p:cNvPr>
          <p:cNvSpPr txBox="1">
            <a:spLocks/>
          </p:cNvSpPr>
          <p:nvPr/>
        </p:nvSpPr>
        <p:spPr>
          <a:xfrm>
            <a:off x="9258243" y="3906640"/>
            <a:ext cx="2448877" cy="669414"/>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300"/>
              </a:spcAft>
              <a:defRPr/>
            </a:pPr>
            <a:r>
              <a:rPr lang="en-US" sz="1200" noProof="0" dirty="0">
                <a:latin typeface="+mj-lt"/>
                <a:ea typeface="+mj-ea"/>
                <a:cs typeface="+mj-cs"/>
              </a:rPr>
              <a:t>For more information: </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Visit &lt;link for future collection page&gt;</a:t>
            </a:r>
          </a:p>
        </p:txBody>
      </p:sp>
      <p:sp>
        <p:nvSpPr>
          <p:cNvPr id="3" name="TextBox 2">
            <a:extLst>
              <a:ext uri="{FF2B5EF4-FFF2-40B4-BE49-F238E27FC236}">
                <a16:creationId xmlns:a16="http://schemas.microsoft.com/office/drawing/2014/main" id="{705091E9-9726-D29E-13AA-971F6CEFC5EF}"/>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766140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Title 75">
            <a:extLst>
              <a:ext uri="{FF2B5EF4-FFF2-40B4-BE49-F238E27FC236}">
                <a16:creationId xmlns:a16="http://schemas.microsoft.com/office/drawing/2014/main" id="{9DFFE579-DB93-13EA-BF5D-2A7F76B30092}"/>
              </a:ext>
            </a:extLst>
          </p:cNvPr>
          <p:cNvSpPr>
            <a:spLocks noGrp="1"/>
          </p:cNvSpPr>
          <p:nvPr>
            <p:ph type="title"/>
          </p:nvPr>
        </p:nvSpPr>
        <p:spPr>
          <a:xfrm>
            <a:off x="588963" y="315692"/>
            <a:ext cx="9792166" cy="837510"/>
          </a:xfrm>
        </p:spPr>
        <p:txBody>
          <a:bodyPr>
            <a:noAutofit/>
          </a:bodyPr>
          <a:lstStyle/>
          <a:p>
            <a:r>
              <a:rPr lang="en-US" sz="2800" noProof="0" dirty="0"/>
              <a:t>Virtual Desktop Migration to Azure </a:t>
            </a:r>
            <a:br>
              <a:rPr lang="en-US" sz="2800" noProof="0" dirty="0"/>
            </a:br>
            <a:r>
              <a:rPr lang="en-US" sz="1800" spc="0" noProof="0" dirty="0">
                <a:ln>
                  <a:noFill/>
                </a:ln>
                <a:solidFill>
                  <a:srgbClr val="000000"/>
                </a:solidFill>
              </a:rPr>
              <a:t>RDS and Citrix VDI to AVD Migration</a:t>
            </a:r>
            <a:endParaRPr lang="en-US" sz="1800" noProof="0" dirty="0">
              <a:highlight>
                <a:srgbClr val="FFFF00"/>
              </a:highlight>
            </a:endParaRPr>
          </a:p>
        </p:txBody>
      </p:sp>
      <p:sp>
        <p:nvSpPr>
          <p:cNvPr id="11" name="Rounded Rectangle 55">
            <a:extLst>
              <a:ext uri="{FF2B5EF4-FFF2-40B4-BE49-F238E27FC236}">
                <a16:creationId xmlns:a16="http://schemas.microsoft.com/office/drawing/2014/main" id="{7A991B2A-FDF1-3A17-AFF2-0713FA257F6A}"/>
              </a:ext>
              <a:ext uri="{C183D7F6-B498-43B3-948B-1728B52AA6E4}">
                <adec:decorative xmlns:adec="http://schemas.microsoft.com/office/drawing/2017/decorative" val="1"/>
              </a:ext>
            </a:extLst>
          </p:cNvPr>
          <p:cNvSpPr>
            <a:spLocks/>
          </p:cNvSpPr>
          <p:nvPr/>
        </p:nvSpPr>
        <p:spPr bwMode="auto">
          <a:xfrm>
            <a:off x="6152452" y="1120929"/>
            <a:ext cx="5453761" cy="5138436"/>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80A3ABB6-636B-9F80-C91C-02DE9C60E50B}"/>
              </a:ext>
              <a:ext uri="{C183D7F6-B498-43B3-948B-1728B52AA6E4}">
                <adec:decorative xmlns:adec="http://schemas.microsoft.com/office/drawing/2017/decorative" val="1"/>
              </a:ext>
            </a:extLst>
          </p:cNvPr>
          <p:cNvSpPr>
            <a:spLocks/>
          </p:cNvSpPr>
          <p:nvPr/>
        </p:nvSpPr>
        <p:spPr bwMode="auto">
          <a:xfrm>
            <a:off x="588963" y="1120929"/>
            <a:ext cx="5453761" cy="5138436"/>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4" name="Oval 13">
            <a:extLst>
              <a:ext uri="{FF2B5EF4-FFF2-40B4-BE49-F238E27FC236}">
                <a16:creationId xmlns:a16="http://schemas.microsoft.com/office/drawing/2014/main" id="{512B0235-3A01-EF21-D20A-55672C5BE427}"/>
              </a:ext>
            </a:extLst>
          </p:cNvPr>
          <p:cNvSpPr/>
          <p:nvPr/>
        </p:nvSpPr>
        <p:spPr bwMode="auto">
          <a:xfrm>
            <a:off x="6320111" y="18304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Oval 18">
            <a:extLst>
              <a:ext uri="{FF2B5EF4-FFF2-40B4-BE49-F238E27FC236}">
                <a16:creationId xmlns:a16="http://schemas.microsoft.com/office/drawing/2014/main" id="{C53E01BF-15B8-6775-73C2-0337250E46D6}"/>
              </a:ext>
            </a:extLst>
          </p:cNvPr>
          <p:cNvSpPr/>
          <p:nvPr/>
        </p:nvSpPr>
        <p:spPr bwMode="auto">
          <a:xfrm>
            <a:off x="775653" y="17541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TextBox 53">
            <a:extLst>
              <a:ext uri="{FF2B5EF4-FFF2-40B4-BE49-F238E27FC236}">
                <a16:creationId xmlns:a16="http://schemas.microsoft.com/office/drawing/2014/main" id="{764042BD-0757-CDE0-50BF-951B68117396}"/>
              </a:ext>
            </a:extLst>
          </p:cNvPr>
          <p:cNvSpPr txBox="1"/>
          <p:nvPr/>
        </p:nvSpPr>
        <p:spPr>
          <a:xfrm>
            <a:off x="6608440" y="1818224"/>
            <a:ext cx="2462535" cy="484748"/>
          </a:xfrm>
          <a:prstGeom prst="rect">
            <a:avLst/>
          </a:prstGeom>
          <a:noFill/>
        </p:spPr>
        <p:txBody>
          <a:bodyPr wrap="square" lIns="0" tIns="0" rIns="0" bIns="0">
            <a:spAutoFit/>
          </a:bodyPr>
          <a:lstStyle/>
          <a:p>
            <a:pPr lvl="0">
              <a:defRPr/>
            </a:pPr>
            <a:r>
              <a:rPr lang="en-US" sz="1050" kern="0" noProof="0" dirty="0">
                <a:ea typeface="Calibri"/>
                <a:cs typeface="Segoe Sans Text" pitchFamily="2" charset="0"/>
              </a:rPr>
              <a:t>Configuration changes to customer’s existing Network, Azure AD, AD, firewall, </a:t>
            </a:r>
            <a:br>
              <a:rPr lang="en-US" sz="1050" kern="0" noProof="0" dirty="0">
                <a:ea typeface="Calibri"/>
                <a:cs typeface="Segoe Sans Text" pitchFamily="2" charset="0"/>
              </a:rPr>
            </a:br>
            <a:r>
              <a:rPr lang="en-US" sz="1050" kern="0" noProof="0" dirty="0">
                <a:ea typeface="Calibri"/>
                <a:cs typeface="Segoe Sans Text" pitchFamily="2" charset="0"/>
              </a:rPr>
              <a:t>and security</a:t>
            </a:r>
            <a:endParaRPr lang="en-US" sz="1050" kern="0" noProof="0" dirty="0">
              <a:cs typeface="Segoe Sans Text" pitchFamily="2" charset="0"/>
            </a:endParaRPr>
          </a:p>
        </p:txBody>
      </p:sp>
      <p:sp>
        <p:nvSpPr>
          <p:cNvPr id="55" name="TextBox 54">
            <a:extLst>
              <a:ext uri="{FF2B5EF4-FFF2-40B4-BE49-F238E27FC236}">
                <a16:creationId xmlns:a16="http://schemas.microsoft.com/office/drawing/2014/main" id="{2F326CBA-BFCE-5212-7FB4-E8E74E0C2086}"/>
              </a:ext>
            </a:extLst>
          </p:cNvPr>
          <p:cNvSpPr txBox="1"/>
          <p:nvPr/>
        </p:nvSpPr>
        <p:spPr>
          <a:xfrm>
            <a:off x="1044951" y="1754191"/>
            <a:ext cx="4906333" cy="518091"/>
          </a:xfrm>
          <a:prstGeom prst="rect">
            <a:avLst/>
          </a:prstGeom>
          <a:noFill/>
        </p:spPr>
        <p:txBody>
          <a:bodyPr wrap="square" lIns="0" tIns="0" rIns="0" bIns="0" anchor="t">
            <a:spAutoFit/>
          </a:bodyPr>
          <a:lstStyle/>
          <a:p>
            <a:pPr lvl="0">
              <a:defRPr/>
            </a:pPr>
            <a:r>
              <a:rPr lang="en-US" sz="1100" kern="0" noProof="0" dirty="0">
                <a:latin typeface="+mj-lt"/>
                <a:cs typeface="Segoe Sans Text" pitchFamily="2" charset="0"/>
              </a:rPr>
              <a:t>Scenarios:</a:t>
            </a:r>
          </a:p>
          <a:p>
            <a:pPr marL="200025" lvl="1" indent="-142875">
              <a:spcAft>
                <a:spcPts val="200"/>
              </a:spcAft>
              <a:buFont typeface="Arial" panose="020B0604020202020204" pitchFamily="34" charset="0"/>
              <a:buChar char="•"/>
              <a:defRPr/>
            </a:pPr>
            <a:r>
              <a:rPr lang="en-US" sz="1050" kern="0" noProof="0" dirty="0">
                <a:cs typeface="Segoe Sans Text" pitchFamily="2" charset="0"/>
              </a:rPr>
              <a:t>Remote Desktop Services (RDS) to Azure Virtual Desktop (AVD)</a:t>
            </a:r>
          </a:p>
          <a:p>
            <a:pPr marL="200025" lvl="1" indent="-142875">
              <a:spcAft>
                <a:spcPts val="200"/>
              </a:spcAft>
              <a:buFont typeface="Arial" panose="020B0604020202020204" pitchFamily="34" charset="0"/>
              <a:buChar char="•"/>
              <a:defRPr/>
            </a:pPr>
            <a:r>
              <a:rPr lang="en-US" sz="1050" noProof="0" dirty="0">
                <a:cs typeface="Segoe Sans Text" pitchFamily="2" charset="0"/>
              </a:rPr>
              <a:t>Citrix on prem to AVD</a:t>
            </a:r>
            <a:endParaRPr lang="en-US" sz="1050" kern="0" noProof="0" dirty="0">
              <a:cs typeface="Segoe Sans Text" pitchFamily="2" charset="0"/>
            </a:endParaRPr>
          </a:p>
        </p:txBody>
      </p:sp>
      <p:sp>
        <p:nvSpPr>
          <p:cNvPr id="56" name="TextBox 8">
            <a:extLst>
              <a:ext uri="{FF2B5EF4-FFF2-40B4-BE49-F238E27FC236}">
                <a16:creationId xmlns:a16="http://schemas.microsoft.com/office/drawing/2014/main" id="{172793E6-D272-39F0-FC9D-158BE8CB1BB1}"/>
              </a:ext>
            </a:extLst>
          </p:cNvPr>
          <p:cNvSpPr txBox="1">
            <a:spLocks/>
          </p:cNvSpPr>
          <p:nvPr/>
        </p:nvSpPr>
        <p:spPr>
          <a:xfrm>
            <a:off x="1039559" y="2348384"/>
            <a:ext cx="4911979" cy="984885"/>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0" cap="none" normalizeH="0" baseline="0" noProof="0" dirty="0">
                <a:ln>
                  <a:noFill/>
                </a:ln>
                <a:effectLst/>
                <a:uLnTx/>
                <a:uFillTx/>
                <a:latin typeface="+mj-lt"/>
                <a:ea typeface="+mn-ea"/>
                <a:cs typeface="Segoe Sans Text" pitchFamily="2" charset="0"/>
              </a:rPr>
              <a:t>Images:</a:t>
            </a:r>
          </a:p>
          <a:p>
            <a:pPr marL="207963" marR="0" lvl="2" indent="-1508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lt"/>
                <a:cs typeface="Segoe Sans Text" pitchFamily="2" charset="0"/>
              </a:rPr>
              <a:t>Lift and shift of customers’ RDS environment (server or client OS into AVD).</a:t>
            </a:r>
            <a:endParaRPr kumimoji="0" lang="en-US" sz="1050" b="0" i="0" u="none" strike="noStrike" kern="0" cap="none" normalizeH="0" baseline="0" noProof="0" dirty="0">
              <a:ln>
                <a:noFill/>
              </a:ln>
              <a:effectLst/>
              <a:uLnTx/>
              <a:uFillTx/>
              <a:ea typeface="Calibri"/>
              <a:cs typeface="Segoe Sans Text" pitchFamily="2" charset="0"/>
            </a:endParaRPr>
          </a:p>
          <a:p>
            <a:pPr marL="207963" marR="0" lvl="2" indent="-1508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Calibri"/>
                <a:cs typeface="Segoe Sans Text" pitchFamily="2" charset="0"/>
              </a:rPr>
              <a:t>Applications installed as part of Existing RDS image will be migrated as part of lift and shift</a:t>
            </a:r>
          </a:p>
          <a:p>
            <a:pPr marL="207963" marR="0" lvl="2" indent="-1508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lt"/>
                <a:cs typeface="Segoe Sans Text" pitchFamily="2" charset="0"/>
              </a:rPr>
              <a:t>Create new image from Marketplace without customization</a:t>
            </a:r>
          </a:p>
          <a:p>
            <a:pPr marL="228600" marR="0" lvl="1" indent="-1206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900" b="0" i="0" u="none" strike="noStrike" kern="0" cap="none" normalizeH="0" baseline="30000" noProof="0" dirty="0">
              <a:ln>
                <a:noFill/>
              </a:ln>
              <a:effectLst/>
              <a:uLnTx/>
              <a:uFillTx/>
              <a:latin typeface="Segoe Sans Text" pitchFamily="2" charset="0"/>
              <a:ea typeface="+mn-ea"/>
              <a:cs typeface="Segoe Sans Text" pitchFamily="2" charset="0"/>
            </a:endParaRPr>
          </a:p>
        </p:txBody>
      </p:sp>
      <p:sp>
        <p:nvSpPr>
          <p:cNvPr id="68" name="TextBox 8">
            <a:extLst>
              <a:ext uri="{FF2B5EF4-FFF2-40B4-BE49-F238E27FC236}">
                <a16:creationId xmlns:a16="http://schemas.microsoft.com/office/drawing/2014/main" id="{7692E610-A335-E48B-A254-1E05565A5A3D}"/>
              </a:ext>
            </a:extLst>
          </p:cNvPr>
          <p:cNvSpPr txBox="1">
            <a:spLocks/>
          </p:cNvSpPr>
          <p:nvPr/>
        </p:nvSpPr>
        <p:spPr>
          <a:xfrm>
            <a:off x="1039559" y="3332427"/>
            <a:ext cx="4801765" cy="518091"/>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0" cap="none" normalizeH="0" baseline="0" noProof="0" dirty="0">
                <a:ln>
                  <a:noFill/>
                </a:ln>
                <a:effectLst/>
                <a:uLnTx/>
                <a:uFillTx/>
                <a:latin typeface="+mj-lt"/>
                <a:ea typeface="+mn-ea"/>
                <a:cs typeface="Segoe Sans Text" pitchFamily="2" charset="0"/>
              </a:rPr>
              <a:t>User profiles </a:t>
            </a:r>
            <a:r>
              <a:rPr lang="en-US" sz="1100" kern="0" noProof="0" dirty="0">
                <a:solidFill>
                  <a:schemeClr val="tx2"/>
                </a:solidFill>
                <a:latin typeface="+mj-lt"/>
                <a:ea typeface="Calibri"/>
                <a:cs typeface="Segoe Sans Text" pitchFamily="2" charset="0"/>
                <a:hlinkClick r:id="rId3">
                  <a:extLst>
                    <a:ext uri="{A12FA001-AC4F-418D-AE19-62706E023703}">
                      <ahyp:hlinkClr xmlns:ahyp="http://schemas.microsoft.com/office/drawing/2018/hyperlinkcolor" val="tx"/>
                    </a:ext>
                  </a:extLst>
                </a:hlinkClick>
              </a:rPr>
              <a:t>here</a:t>
            </a:r>
            <a:r>
              <a:rPr kumimoji="0" lang="en-US" sz="1100" i="0" u="none" strike="noStrike" kern="0" cap="none" normalizeH="0" baseline="0" noProof="0" dirty="0">
                <a:ln>
                  <a:noFill/>
                </a:ln>
                <a:solidFill>
                  <a:schemeClr val="tx2"/>
                </a:solidFill>
                <a:effectLst/>
                <a:uLnTx/>
                <a:uFillTx/>
                <a:latin typeface="+mj-lt"/>
                <a:ea typeface="+mn-ea"/>
                <a:cs typeface="Segoe Sans Text" pitchFamily="2" charset="0"/>
              </a:rPr>
              <a:t>: </a:t>
            </a:r>
          </a:p>
          <a:p>
            <a:pPr marL="209550" marR="0" lvl="1" indent="-1524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ea"/>
                <a:cs typeface="Segoe Sans Text" pitchFamily="2" charset="0"/>
              </a:rPr>
              <a:t>Azure Storage Provisioning for user profile (FSLogix)</a:t>
            </a:r>
          </a:p>
          <a:p>
            <a:pPr marL="209550" marR="0" lvl="1" indent="-1524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ea"/>
                <a:cs typeface="Segoe Sans Text" pitchFamily="2" charset="0"/>
              </a:rPr>
              <a:t>Create new user profile management using FSLogix</a:t>
            </a:r>
          </a:p>
        </p:txBody>
      </p:sp>
      <p:sp>
        <p:nvSpPr>
          <p:cNvPr id="74" name="TextBox 8">
            <a:extLst>
              <a:ext uri="{FF2B5EF4-FFF2-40B4-BE49-F238E27FC236}">
                <a16:creationId xmlns:a16="http://schemas.microsoft.com/office/drawing/2014/main" id="{8E8F6BE3-F3AA-16D7-5635-02AA5F81065B}"/>
              </a:ext>
            </a:extLst>
          </p:cNvPr>
          <p:cNvSpPr txBox="1">
            <a:spLocks/>
          </p:cNvSpPr>
          <p:nvPr/>
        </p:nvSpPr>
        <p:spPr>
          <a:xfrm>
            <a:off x="1068241" y="3926620"/>
            <a:ext cx="4801764" cy="1028487"/>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0" cap="none" normalizeH="0" baseline="0" noProof="0" dirty="0">
                <a:ln>
                  <a:noFill/>
                </a:ln>
                <a:effectLst/>
                <a:uLnTx/>
                <a:uFillTx/>
                <a:latin typeface="+mj-lt"/>
                <a:ea typeface="+mn-ea"/>
                <a:cs typeface="Segoe Sans Text" pitchFamily="2" charset="0"/>
              </a:rPr>
              <a:t>Supported OS </a:t>
            </a:r>
            <a:r>
              <a:rPr lang="en-US" sz="1100" kern="0" noProof="0" dirty="0">
                <a:solidFill>
                  <a:schemeClr val="tx2"/>
                </a:solidFill>
                <a:latin typeface="+mj-lt"/>
                <a:ea typeface="+mn-lt"/>
                <a:cs typeface="Segoe Sans Text" pitchFamily="2" charset="0"/>
                <a:hlinkClick r:id="rId4">
                  <a:extLst>
                    <a:ext uri="{A12FA001-AC4F-418D-AE19-62706E023703}">
                      <ahyp:hlinkClr xmlns:ahyp="http://schemas.microsoft.com/office/drawing/2018/hyperlinkcolor" val="tx"/>
                    </a:ext>
                  </a:extLst>
                </a:hlinkClick>
              </a:rPr>
              <a:t>here</a:t>
            </a:r>
            <a:r>
              <a:rPr kumimoji="0" lang="en-US" sz="1100" i="0" u="none" strike="noStrike" kern="0" cap="none" normalizeH="0" baseline="0" noProof="0" dirty="0">
                <a:ln>
                  <a:noFill/>
                </a:ln>
                <a:solidFill>
                  <a:schemeClr val="tx2"/>
                </a:solidFill>
                <a:effectLst/>
                <a:uLnTx/>
                <a:uFillTx/>
                <a:latin typeface="+mj-lt"/>
                <a:ea typeface="+mn-ea"/>
                <a:cs typeface="Segoe Sans Text" pitchFamily="2" charset="0"/>
              </a:rPr>
              <a:t>: </a:t>
            </a:r>
          </a:p>
          <a:p>
            <a:pPr marL="161925" marR="0" lvl="2"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lt"/>
                <a:cs typeface="Segoe Sans Text" pitchFamily="2" charset="0"/>
              </a:rPr>
              <a:t>Client OS</a:t>
            </a:r>
            <a:r>
              <a:rPr kumimoji="0" lang="en-US" sz="1050" i="0" u="none" strike="noStrike" kern="0" cap="none" normalizeH="0" baseline="0" noProof="0" dirty="0">
                <a:ln>
                  <a:noFill/>
                </a:ln>
                <a:effectLst/>
                <a:uLnTx/>
                <a:uFillTx/>
                <a:latin typeface="+mj-lt"/>
                <a:ea typeface="+mn-lt"/>
                <a:cs typeface="Segoe Sans Text" pitchFamily="2" charset="0"/>
              </a:rPr>
              <a:t>:</a:t>
            </a:r>
            <a:r>
              <a:rPr kumimoji="0" lang="en-US" sz="1050" b="0" i="0" u="none" strike="noStrike" kern="0" cap="none" normalizeH="0" baseline="0" noProof="0" dirty="0">
                <a:ln>
                  <a:noFill/>
                </a:ln>
                <a:effectLst/>
                <a:uLnTx/>
                <a:uFillTx/>
                <a:ea typeface="+mn-lt"/>
                <a:cs typeface="Segoe Sans Text" pitchFamily="2" charset="0"/>
              </a:rPr>
              <a:t> Windows 10, Windows 11.</a:t>
            </a:r>
            <a:endParaRPr kumimoji="0" lang="en-US" sz="1050" b="0" i="0" u="none" strike="noStrike" kern="1200" cap="none" normalizeH="0" baseline="0" noProof="0" dirty="0">
              <a:ln>
                <a:noFill/>
              </a:ln>
              <a:effectLst/>
              <a:uLnTx/>
              <a:uFillTx/>
              <a:ea typeface="+mn-ea"/>
              <a:cs typeface="Segoe Sans Text" pitchFamily="2" charset="0"/>
            </a:endParaRPr>
          </a:p>
          <a:p>
            <a:pPr marL="161925" marR="0" lvl="2"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lt"/>
                <a:cs typeface="Segoe Sans Text" pitchFamily="2" charset="0"/>
              </a:rPr>
              <a:t>Multisession supported OS: Windows 10 or Windows 11- multisession Marketplace image.</a:t>
            </a:r>
            <a:endParaRPr kumimoji="0" lang="en-US" sz="1050" b="0" i="0" u="none" strike="noStrike" kern="1200" cap="none" normalizeH="0" baseline="0" noProof="0" dirty="0">
              <a:ln>
                <a:noFill/>
              </a:ln>
              <a:effectLst/>
              <a:uLnTx/>
              <a:uFillTx/>
              <a:ea typeface="Calibri"/>
              <a:cs typeface="Segoe Sans Text" pitchFamily="2" charset="0"/>
            </a:endParaRPr>
          </a:p>
          <a:p>
            <a:pPr marL="161925" marR="0" lvl="2"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Calibri"/>
                <a:cs typeface="Segoe Sans Text" pitchFamily="2" charset="0"/>
              </a:rPr>
              <a:t>Server OS</a:t>
            </a:r>
            <a:r>
              <a:rPr kumimoji="0" lang="en-US" sz="1050" i="0" u="none" strike="noStrike" kern="0" cap="none" normalizeH="0" baseline="0" noProof="0" dirty="0">
                <a:ln>
                  <a:noFill/>
                </a:ln>
                <a:effectLst/>
                <a:uLnTx/>
                <a:uFillTx/>
                <a:latin typeface="+mj-lt"/>
                <a:ea typeface="Calibri"/>
                <a:cs typeface="Segoe Sans Text" pitchFamily="2" charset="0"/>
              </a:rPr>
              <a:t>:</a:t>
            </a:r>
            <a:r>
              <a:rPr kumimoji="0" lang="en-US" sz="1050" b="0" i="0" u="none" strike="noStrike" kern="0" cap="none" normalizeH="0" baseline="0" noProof="0" dirty="0">
                <a:ln>
                  <a:noFill/>
                </a:ln>
                <a:effectLst/>
                <a:uLnTx/>
                <a:uFillTx/>
                <a:ea typeface="Calibri"/>
                <a:cs typeface="Segoe Sans Text" pitchFamily="2" charset="0"/>
              </a:rPr>
              <a:t> Windows Server 2022, Windows Server 2019, Windows Server 2016, Windows Server 2012 R2</a:t>
            </a:r>
            <a:endParaRPr kumimoji="0" lang="en-US" sz="1050" b="0" i="0" u="none" strike="noStrike" kern="1200" cap="none" normalizeH="0" baseline="0" noProof="0" dirty="0">
              <a:ln>
                <a:noFill/>
              </a:ln>
              <a:effectLst/>
              <a:uLnTx/>
              <a:uFillTx/>
              <a:ea typeface="+mn-ea"/>
              <a:cs typeface="Segoe Sans Text" pitchFamily="2" charset="0"/>
            </a:endParaRPr>
          </a:p>
        </p:txBody>
      </p:sp>
      <p:sp>
        <p:nvSpPr>
          <p:cNvPr id="79" name="TextBox 8">
            <a:extLst>
              <a:ext uri="{FF2B5EF4-FFF2-40B4-BE49-F238E27FC236}">
                <a16:creationId xmlns:a16="http://schemas.microsoft.com/office/drawing/2014/main" id="{99833963-EF6D-6740-A080-30CD33AE499F}"/>
              </a:ext>
            </a:extLst>
          </p:cNvPr>
          <p:cNvSpPr txBox="1">
            <a:spLocks/>
          </p:cNvSpPr>
          <p:nvPr/>
        </p:nvSpPr>
        <p:spPr>
          <a:xfrm>
            <a:off x="1035532" y="4979913"/>
            <a:ext cx="4801765" cy="874598"/>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0" cap="none" normalizeH="0" baseline="0" noProof="0" dirty="0">
                <a:ln>
                  <a:noFill/>
                </a:ln>
                <a:effectLst/>
                <a:uLnTx/>
                <a:uFillTx/>
                <a:latin typeface="+mj-lt"/>
                <a:ea typeface="+mn-ea"/>
                <a:cs typeface="Segoe Sans Text" pitchFamily="2" charset="0"/>
              </a:rPr>
              <a:t>Supported storage options </a:t>
            </a:r>
            <a:r>
              <a:rPr kumimoji="0" lang="en-US" sz="1100" i="0" u="none" strike="noStrike" kern="0" cap="none" normalizeH="0" baseline="0" noProof="0" dirty="0">
                <a:ln>
                  <a:noFill/>
                </a:ln>
                <a:solidFill>
                  <a:schemeClr val="tx2"/>
                </a:solidFill>
                <a:effectLst/>
                <a:uLnTx/>
                <a:uFillTx/>
                <a:latin typeface="+mj-lt"/>
                <a:ea typeface="+mn-lt"/>
                <a:cs typeface="Segoe Sans Text" pitchFamily="2" charset="0"/>
                <a:hlinkClick r:id="rId5">
                  <a:extLst>
                    <a:ext uri="{A12FA001-AC4F-418D-AE19-62706E023703}">
                      <ahyp:hlinkClr xmlns:ahyp="http://schemas.microsoft.com/office/drawing/2018/hyperlinkcolor" val="tx"/>
                    </a:ext>
                  </a:extLst>
                </a:hlinkClick>
              </a:rPr>
              <a:t>here</a:t>
            </a:r>
            <a:r>
              <a:rPr kumimoji="0" lang="en-US" sz="1100" i="0" u="none" strike="noStrike" kern="0" cap="none" normalizeH="0" baseline="0" noProof="0" dirty="0">
                <a:ln>
                  <a:noFill/>
                </a:ln>
                <a:solidFill>
                  <a:schemeClr val="tx2"/>
                </a:solidFill>
                <a:effectLst/>
                <a:uLnTx/>
                <a:uFillTx/>
                <a:latin typeface="+mj-lt"/>
                <a:ea typeface="+mn-lt"/>
                <a:cs typeface="Segoe Sans Text" pitchFamily="2" charset="0"/>
              </a:rPr>
              <a:t>:</a:t>
            </a:r>
            <a:endParaRPr kumimoji="0" lang="en-US" sz="1100" i="0" u="none" strike="noStrike" kern="0" cap="none" normalizeH="0" baseline="0" noProof="0" dirty="0">
              <a:ln>
                <a:noFill/>
              </a:ln>
              <a:solidFill>
                <a:schemeClr val="tx2"/>
              </a:solidFill>
              <a:effectLst/>
              <a:uLnTx/>
              <a:uFillTx/>
              <a:latin typeface="+mj-lt"/>
              <a:ea typeface="Calibri"/>
              <a:cs typeface="Segoe Sans Text" pitchFamily="2" charset="0"/>
            </a:endParaRPr>
          </a:p>
          <a:p>
            <a:pPr marL="212725" marR="0" lvl="0" indent="-1460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ea"/>
                <a:cs typeface="Segoe Sans Text" pitchFamily="2" charset="0"/>
              </a:rPr>
              <a:t>Azure Files is the recommended solution for AVD profile containers in storage account. </a:t>
            </a:r>
          </a:p>
          <a:p>
            <a:pPr marL="212725" marR="0" lvl="1" indent="-1460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0" cap="none" normalizeH="0" baseline="0" noProof="0" dirty="0">
                <a:ln>
                  <a:noFill/>
                </a:ln>
                <a:effectLst/>
                <a:uLnTx/>
                <a:uFillTx/>
                <a:ea typeface="+mn-ea"/>
                <a:cs typeface="Segoe Sans Text" pitchFamily="2" charset="0"/>
              </a:rPr>
              <a:t>Azure Files with premium (SSD) or standard (HDD) file shares. </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100" i="0" u="none" strike="noStrike" kern="0" cap="none" normalizeH="0" baseline="0" noProof="0" dirty="0">
                <a:ln>
                  <a:noFill/>
                </a:ln>
                <a:effectLst/>
                <a:uLnTx/>
                <a:uFillTx/>
                <a:latin typeface="+mj-lt"/>
                <a:ea typeface="+mn-ea"/>
                <a:cs typeface="Segoe Sans Text" pitchFamily="2" charset="0"/>
              </a:rPr>
              <a:t>Supported Remote Desktop clients </a:t>
            </a:r>
            <a:r>
              <a:rPr kumimoji="0" lang="en-US" sz="1100" i="0" u="none" strike="noStrike" kern="0" cap="none" normalizeH="0" baseline="0" noProof="0" dirty="0">
                <a:ln>
                  <a:noFill/>
                </a:ln>
                <a:solidFill>
                  <a:schemeClr val="tx2"/>
                </a:solidFill>
                <a:effectLst/>
                <a:uLnTx/>
                <a:uFillTx/>
                <a:latin typeface="+mj-lt"/>
                <a:ea typeface="+mn-ea"/>
                <a:cs typeface="Segoe Sans Text" pitchFamily="2" charset="0"/>
                <a:hlinkClick r:id="rId6">
                  <a:extLst>
                    <a:ext uri="{A12FA001-AC4F-418D-AE19-62706E023703}">
                      <ahyp:hlinkClr xmlns:ahyp="http://schemas.microsoft.com/office/drawing/2018/hyperlinkcolor" val="tx"/>
                    </a:ext>
                  </a:extLst>
                </a:hlinkClick>
              </a:rPr>
              <a:t>here </a:t>
            </a:r>
            <a:endParaRPr kumimoji="0" lang="en-US" sz="1100" i="0" u="none" strike="noStrike" kern="0" cap="none" normalizeH="0" baseline="0" noProof="0" dirty="0">
              <a:ln>
                <a:noFill/>
              </a:ln>
              <a:solidFill>
                <a:schemeClr val="tx2"/>
              </a:solidFill>
              <a:effectLst/>
              <a:uLnTx/>
              <a:uFillTx/>
              <a:latin typeface="+mj-lt"/>
              <a:ea typeface="+mn-ea"/>
              <a:cs typeface="Segoe Sans Text" pitchFamily="2" charset="0"/>
            </a:endParaRPr>
          </a:p>
        </p:txBody>
      </p:sp>
      <p:sp>
        <p:nvSpPr>
          <p:cNvPr id="80" name="TextBox 8">
            <a:extLst>
              <a:ext uri="{FF2B5EF4-FFF2-40B4-BE49-F238E27FC236}">
                <a16:creationId xmlns:a16="http://schemas.microsoft.com/office/drawing/2014/main" id="{7B807AE5-7139-4267-7BCE-2D19BD79C87D}"/>
              </a:ext>
            </a:extLst>
          </p:cNvPr>
          <p:cNvSpPr txBox="1">
            <a:spLocks/>
          </p:cNvSpPr>
          <p:nvPr/>
        </p:nvSpPr>
        <p:spPr>
          <a:xfrm>
            <a:off x="1039559" y="5904964"/>
            <a:ext cx="4801765" cy="330860"/>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0" cap="none" normalizeH="0" baseline="0" noProof="0" dirty="0">
                <a:ln>
                  <a:noFill/>
                </a:ln>
                <a:effectLst/>
                <a:uLnTx/>
                <a:uFillTx/>
                <a:latin typeface="+mj-lt"/>
                <a:ea typeface="Calibri"/>
                <a:cs typeface="Segoe Sans Text" pitchFamily="2" charset="0"/>
              </a:rPr>
              <a:t>Publish applications/desktops </a:t>
            </a:r>
            <a:r>
              <a:rPr kumimoji="0" lang="en-US" sz="1050" b="0" i="0" u="none" strike="noStrike" kern="0" cap="none" normalizeH="0" baseline="0" noProof="0" dirty="0">
                <a:ln>
                  <a:noFill/>
                </a:ln>
                <a:effectLst/>
                <a:uLnTx/>
                <a:uFillTx/>
                <a:ea typeface="Calibri"/>
                <a:cs typeface="Segoe Sans Text" pitchFamily="2" charset="0"/>
              </a:rPr>
              <a:t>with Azure Virtual Desktops and user's assignment</a:t>
            </a:r>
            <a:endParaRPr kumimoji="0" lang="en-US" sz="1050" b="0" i="0" u="none" strike="noStrike" kern="0" cap="none" normalizeH="0" baseline="0" noProof="0" dirty="0">
              <a:ln>
                <a:noFill/>
              </a:ln>
              <a:effectLst/>
              <a:uLnTx/>
              <a:uFillTx/>
              <a:ea typeface="+mn-ea"/>
              <a:cs typeface="Segoe Sans Text" pitchFamily="2" charset="0"/>
            </a:endParaRPr>
          </a:p>
        </p:txBody>
      </p:sp>
      <p:cxnSp>
        <p:nvCxnSpPr>
          <p:cNvPr id="91" name="Straight Connector 90">
            <a:extLst>
              <a:ext uri="{FF2B5EF4-FFF2-40B4-BE49-F238E27FC236}">
                <a16:creationId xmlns:a16="http://schemas.microsoft.com/office/drawing/2014/main" id="{ABFF815C-0915-4959-4C38-F12973C76EF7}"/>
              </a:ext>
              <a:ext uri="{C183D7F6-B498-43B3-948B-1728B52AA6E4}">
                <adec:decorative xmlns:adec="http://schemas.microsoft.com/office/drawing/2017/decorative" val="1"/>
              </a:ext>
            </a:extLst>
          </p:cNvPr>
          <p:cNvCxnSpPr>
            <a:cxnSpLocks/>
          </p:cNvCxnSpPr>
          <p:nvPr/>
        </p:nvCxnSpPr>
        <p:spPr>
          <a:xfrm>
            <a:off x="1035532" y="232228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7B406DCE-0456-BD94-989A-8A1FA901DD9A}"/>
              </a:ext>
            </a:extLst>
          </p:cNvPr>
          <p:cNvSpPr txBox="1">
            <a:spLocks/>
          </p:cNvSpPr>
          <p:nvPr/>
        </p:nvSpPr>
        <p:spPr>
          <a:xfrm>
            <a:off x="6608440" y="2418051"/>
            <a:ext cx="2285059" cy="161583"/>
          </a:xfrm>
          <a:prstGeom prst="rect">
            <a:avLst/>
          </a:prstGeom>
          <a:noFill/>
        </p:spPr>
        <p:txBody>
          <a:bodyPr wrap="square" lIns="0" tIns="0" rIns="0" bIns="0" anchor="ctr">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mn-ea"/>
                <a:cs typeface="Segoe Sans Text" pitchFamily="2" charset="0"/>
              </a:rPr>
              <a:t>Third-party tools integration</a:t>
            </a:r>
          </a:p>
        </p:txBody>
      </p:sp>
      <p:sp>
        <p:nvSpPr>
          <p:cNvPr id="93" name="TextBox 92">
            <a:extLst>
              <a:ext uri="{FF2B5EF4-FFF2-40B4-BE49-F238E27FC236}">
                <a16:creationId xmlns:a16="http://schemas.microsoft.com/office/drawing/2014/main" id="{7AC88C37-741E-A1B1-6EED-75238EE856EE}"/>
              </a:ext>
            </a:extLst>
          </p:cNvPr>
          <p:cNvSpPr txBox="1">
            <a:spLocks/>
          </p:cNvSpPr>
          <p:nvPr/>
        </p:nvSpPr>
        <p:spPr>
          <a:xfrm>
            <a:off x="6608440" y="2694713"/>
            <a:ext cx="2285059" cy="484748"/>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mn-ea"/>
                <a:cs typeface="Segoe Sans Text" pitchFamily="2" charset="0"/>
              </a:rPr>
              <a:t>Image Customization and SOE Application installations (In case of Marketplace image)</a:t>
            </a:r>
          </a:p>
        </p:txBody>
      </p:sp>
      <p:sp>
        <p:nvSpPr>
          <p:cNvPr id="94" name="TextBox 93">
            <a:extLst>
              <a:ext uri="{FF2B5EF4-FFF2-40B4-BE49-F238E27FC236}">
                <a16:creationId xmlns:a16="http://schemas.microsoft.com/office/drawing/2014/main" id="{D7019EA6-581C-2CC2-B869-15849774A094}"/>
              </a:ext>
            </a:extLst>
          </p:cNvPr>
          <p:cNvSpPr txBox="1">
            <a:spLocks/>
          </p:cNvSpPr>
          <p:nvPr/>
        </p:nvSpPr>
        <p:spPr>
          <a:xfrm>
            <a:off x="6608440" y="3294540"/>
            <a:ext cx="2285059" cy="484748"/>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mn-ea"/>
                <a:cs typeface="Segoe Sans Text" pitchFamily="2" charset="0"/>
              </a:rPr>
              <a:t>Application Virtualization, certification of existing image and packaging/testing</a:t>
            </a:r>
          </a:p>
        </p:txBody>
      </p:sp>
      <p:sp>
        <p:nvSpPr>
          <p:cNvPr id="95" name="TextBox 9">
            <a:extLst>
              <a:ext uri="{FF2B5EF4-FFF2-40B4-BE49-F238E27FC236}">
                <a16:creationId xmlns:a16="http://schemas.microsoft.com/office/drawing/2014/main" id="{D9566596-BBD2-FE4F-E656-142144AEF27C}"/>
              </a:ext>
            </a:extLst>
          </p:cNvPr>
          <p:cNvSpPr txBox="1">
            <a:spLocks/>
          </p:cNvSpPr>
          <p:nvPr/>
        </p:nvSpPr>
        <p:spPr>
          <a:xfrm>
            <a:off x="6608440" y="3894367"/>
            <a:ext cx="2285059" cy="161583"/>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mn-ea"/>
                <a:cs typeface="Segoe Sans Text" pitchFamily="2" charset="0"/>
              </a:rPr>
              <a:t>User/application performance analysis</a:t>
            </a:r>
          </a:p>
        </p:txBody>
      </p:sp>
      <p:sp>
        <p:nvSpPr>
          <p:cNvPr id="96" name="TextBox 95">
            <a:extLst>
              <a:ext uri="{FF2B5EF4-FFF2-40B4-BE49-F238E27FC236}">
                <a16:creationId xmlns:a16="http://schemas.microsoft.com/office/drawing/2014/main" id="{2954CEB2-251F-D3CE-6BF2-0FDACDF14D2F}"/>
              </a:ext>
            </a:extLst>
          </p:cNvPr>
          <p:cNvSpPr txBox="1">
            <a:spLocks/>
          </p:cNvSpPr>
          <p:nvPr/>
        </p:nvSpPr>
        <p:spPr>
          <a:xfrm>
            <a:off x="6608440" y="4171029"/>
            <a:ext cx="2285059" cy="323165"/>
          </a:xfrm>
          <a:prstGeom prst="rect">
            <a:avLst/>
          </a:prstGeom>
          <a:noFill/>
        </p:spPr>
        <p:txBody>
          <a:bodyPr wrap="square" lIns="0" tIns="0" rIns="0" bIns="0" anchor="ctr">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mn-ea"/>
                <a:cs typeface="Segoe Sans Text" pitchFamily="2" charset="0"/>
              </a:rPr>
              <a:t>File share, mapped drive or any user data migration</a:t>
            </a:r>
          </a:p>
        </p:txBody>
      </p:sp>
      <p:sp>
        <p:nvSpPr>
          <p:cNvPr id="97" name="TextBox 96">
            <a:extLst>
              <a:ext uri="{FF2B5EF4-FFF2-40B4-BE49-F238E27FC236}">
                <a16:creationId xmlns:a16="http://schemas.microsoft.com/office/drawing/2014/main" id="{13145D0C-E3F1-A62F-0C83-76FE481F1847}"/>
              </a:ext>
            </a:extLst>
          </p:cNvPr>
          <p:cNvSpPr txBox="1">
            <a:spLocks/>
          </p:cNvSpPr>
          <p:nvPr/>
        </p:nvSpPr>
        <p:spPr>
          <a:xfrm>
            <a:off x="6608440" y="4690064"/>
            <a:ext cx="2285059" cy="484748"/>
          </a:xfrm>
          <a:prstGeom prst="rect">
            <a:avLst/>
          </a:prstGeom>
          <a:noFill/>
        </p:spPr>
        <p:txBody>
          <a:bodyPr wrap="square" lIns="0" tIns="0" rIns="0" bIns="0" anchor="ctr">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mn-ea"/>
                <a:cs typeface="Segoe Sans Text" pitchFamily="2" charset="0"/>
              </a:rPr>
              <a:t>Change request process, including internal communication, end user training,</a:t>
            </a:r>
            <a:r>
              <a:rPr lang="en-US" sz="1050" kern="0" noProof="0" dirty="0">
                <a:cs typeface="Segoe Sans Text" pitchFamily="2" charset="0"/>
              </a:rPr>
              <a:t> </a:t>
            </a:r>
            <a:r>
              <a:rPr kumimoji="0" lang="en-US" sz="1050" b="0" i="0" u="none" strike="noStrike" kern="0" cap="none" normalizeH="0" baseline="0" noProof="0" dirty="0">
                <a:ln>
                  <a:noFill/>
                </a:ln>
                <a:effectLst/>
                <a:uLnTx/>
                <a:uFillTx/>
                <a:ea typeface="+mn-ea"/>
                <a:cs typeface="Segoe Sans Text" pitchFamily="2" charset="0"/>
              </a:rPr>
              <a:t>endpoint readiness</a:t>
            </a:r>
          </a:p>
        </p:txBody>
      </p:sp>
      <p:sp>
        <p:nvSpPr>
          <p:cNvPr id="98" name="TextBox 97">
            <a:extLst>
              <a:ext uri="{FF2B5EF4-FFF2-40B4-BE49-F238E27FC236}">
                <a16:creationId xmlns:a16="http://schemas.microsoft.com/office/drawing/2014/main" id="{6A70B821-D634-0919-5143-460ADF284BC1}"/>
              </a:ext>
            </a:extLst>
          </p:cNvPr>
          <p:cNvSpPr txBox="1">
            <a:spLocks/>
          </p:cNvSpPr>
          <p:nvPr/>
        </p:nvSpPr>
        <p:spPr>
          <a:xfrm>
            <a:off x="6608440" y="5370681"/>
            <a:ext cx="2227836" cy="646331"/>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Calibri"/>
                <a:cs typeface="Segoe Sans Text" pitchFamily="2" charset="0"/>
              </a:rPr>
              <a:t>Customer is responsible for testing of dependencies (e.g., applications, mapped databases) and source system changes</a:t>
            </a:r>
            <a:endParaRPr kumimoji="0" lang="en-US" sz="1050" b="0" i="0" u="none" strike="noStrike" kern="0" cap="none" normalizeH="0" baseline="0" noProof="0" dirty="0">
              <a:ln>
                <a:noFill/>
              </a:ln>
              <a:effectLst/>
              <a:uLnTx/>
              <a:uFillTx/>
              <a:ea typeface="+mn-lt"/>
              <a:cs typeface="Segoe Sans Text" pitchFamily="2" charset="0"/>
              <a:hlinkClick r:id="rId7">
                <a:extLst>
                  <a:ext uri="{A12FA001-AC4F-418D-AE19-62706E023703}">
                    <ahyp:hlinkClr xmlns:ahyp="http://schemas.microsoft.com/office/drawing/2018/hyperlinkcolor" val="tx"/>
                  </a:ext>
                </a:extLst>
              </a:hlinkClick>
            </a:endParaRPr>
          </a:p>
        </p:txBody>
      </p:sp>
      <p:sp>
        <p:nvSpPr>
          <p:cNvPr id="100" name="Oval 99">
            <a:extLst>
              <a:ext uri="{FF2B5EF4-FFF2-40B4-BE49-F238E27FC236}">
                <a16:creationId xmlns:a16="http://schemas.microsoft.com/office/drawing/2014/main" id="{83C6A091-764F-CFC9-C9C4-27CB7C55363E}"/>
              </a:ext>
            </a:extLst>
          </p:cNvPr>
          <p:cNvSpPr/>
          <p:nvPr/>
        </p:nvSpPr>
        <p:spPr bwMode="auto">
          <a:xfrm>
            <a:off x="9072891" y="183231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1" name="TextBox 100">
            <a:extLst>
              <a:ext uri="{FF2B5EF4-FFF2-40B4-BE49-F238E27FC236}">
                <a16:creationId xmlns:a16="http://schemas.microsoft.com/office/drawing/2014/main" id="{12C56BA3-8995-20A3-02C0-84192D77967D}"/>
              </a:ext>
            </a:extLst>
          </p:cNvPr>
          <p:cNvSpPr txBox="1"/>
          <p:nvPr/>
        </p:nvSpPr>
        <p:spPr>
          <a:xfrm>
            <a:off x="9361220" y="1818224"/>
            <a:ext cx="2215289" cy="646331"/>
          </a:xfrm>
          <a:prstGeom prst="rect">
            <a:avLst/>
          </a:prstGeom>
          <a:noFill/>
        </p:spPr>
        <p:txBody>
          <a:bodyPr wrap="square" lIns="0" tIns="0" rIns="0" bIns="0">
            <a:spAutoFit/>
          </a:bodyPr>
          <a:lstStyle/>
          <a:p>
            <a:pPr lvl="0">
              <a:defRPr/>
            </a:pPr>
            <a:r>
              <a:rPr lang="en-US" sz="1050" kern="0" noProof="0" dirty="0">
                <a:ea typeface="Calibri"/>
                <a:cs typeface="Segoe Sans Text" pitchFamily="2" charset="0"/>
              </a:rPr>
              <a:t>Advisory and consulting services. troubleshooting unrelated to migration please file a ticket via CSS channel</a:t>
            </a:r>
          </a:p>
        </p:txBody>
      </p:sp>
      <p:sp>
        <p:nvSpPr>
          <p:cNvPr id="103" name="TextBox 102">
            <a:extLst>
              <a:ext uri="{FF2B5EF4-FFF2-40B4-BE49-F238E27FC236}">
                <a16:creationId xmlns:a16="http://schemas.microsoft.com/office/drawing/2014/main" id="{D9E30EF2-B86E-D23E-32B2-47875FE31A32}"/>
              </a:ext>
            </a:extLst>
          </p:cNvPr>
          <p:cNvSpPr txBox="1">
            <a:spLocks/>
          </p:cNvSpPr>
          <p:nvPr/>
        </p:nvSpPr>
        <p:spPr>
          <a:xfrm>
            <a:off x="9355723" y="3311863"/>
            <a:ext cx="2215289" cy="484748"/>
          </a:xfrm>
          <a:prstGeom prst="rect">
            <a:avLst/>
          </a:prstGeom>
          <a:noFill/>
        </p:spPr>
        <p:txBody>
          <a:bodyPr wrap="square" lIns="0" tIns="0" rIns="0" bIns="0" anchor="ctr">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mn-ea"/>
                <a:cs typeface="Segoe Sans Text" pitchFamily="2" charset="0"/>
              </a:rPr>
              <a:t>Any application/services related configurations and testing (</a:t>
            </a:r>
            <a:r>
              <a:rPr lang="en-US" sz="1050" kern="0" noProof="0" dirty="0">
                <a:cs typeface="Segoe Sans Text" pitchFamily="2" charset="0"/>
              </a:rPr>
              <a:t>p</a:t>
            </a:r>
            <a:r>
              <a:rPr kumimoji="0" lang="en-US" sz="1050" b="0" i="0" u="none" strike="noStrike" kern="0" cap="none" normalizeH="0" baseline="0" noProof="0" dirty="0">
                <a:ln>
                  <a:noFill/>
                </a:ln>
                <a:effectLst/>
                <a:uLnTx/>
                <a:uFillTx/>
                <a:ea typeface="+mn-ea"/>
                <a:cs typeface="Segoe Sans Text" pitchFamily="2" charset="0"/>
              </a:rPr>
              <a:t>re- and </a:t>
            </a:r>
            <a:br>
              <a:rPr kumimoji="0" lang="en-US" sz="1050" b="0" i="0" u="none" strike="noStrike" kern="0" cap="none" normalizeH="0" baseline="0" noProof="0" dirty="0">
                <a:ln>
                  <a:noFill/>
                </a:ln>
                <a:effectLst/>
                <a:uLnTx/>
                <a:uFillTx/>
                <a:ea typeface="+mn-ea"/>
                <a:cs typeface="Segoe Sans Text" pitchFamily="2" charset="0"/>
              </a:rPr>
            </a:br>
            <a:r>
              <a:rPr kumimoji="0" lang="en-US" sz="1050" b="0" i="0" u="none" strike="noStrike" kern="0" cap="none" normalizeH="0" baseline="0" noProof="0" dirty="0">
                <a:ln>
                  <a:noFill/>
                </a:ln>
                <a:effectLst/>
                <a:uLnTx/>
                <a:uFillTx/>
                <a:ea typeface="+mn-ea"/>
                <a:cs typeface="Segoe Sans Text" pitchFamily="2" charset="0"/>
              </a:rPr>
              <a:t>post-migration)</a:t>
            </a:r>
          </a:p>
        </p:txBody>
      </p:sp>
      <p:sp>
        <p:nvSpPr>
          <p:cNvPr id="104" name="TextBox 103">
            <a:extLst>
              <a:ext uri="{FF2B5EF4-FFF2-40B4-BE49-F238E27FC236}">
                <a16:creationId xmlns:a16="http://schemas.microsoft.com/office/drawing/2014/main" id="{2A08794D-AD07-B26F-6523-04D39E42E1B4}"/>
              </a:ext>
            </a:extLst>
          </p:cNvPr>
          <p:cNvSpPr txBox="1">
            <a:spLocks/>
          </p:cNvSpPr>
          <p:nvPr/>
        </p:nvSpPr>
        <p:spPr>
          <a:xfrm>
            <a:off x="9355722" y="3977891"/>
            <a:ext cx="2215289" cy="161583"/>
          </a:xfrm>
          <a:prstGeom prst="rect">
            <a:avLst/>
          </a:prstGeom>
          <a:noFill/>
        </p:spPr>
        <p:txBody>
          <a:bodyPr wrap="square" lIns="0" tIns="0" rIns="0" bIns="0" anchor="ctr">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Calibri"/>
                <a:cs typeface="Segoe Sans Text" pitchFamily="2" charset="0"/>
              </a:rPr>
              <a:t>Performing and configuring backups</a:t>
            </a:r>
            <a:endParaRPr kumimoji="0" lang="en-US" sz="1050" b="0" i="0" u="none" strike="noStrike" kern="0" cap="none" normalizeH="0" baseline="0" noProof="0" dirty="0">
              <a:ln>
                <a:noFill/>
              </a:ln>
              <a:effectLst/>
              <a:uLnTx/>
              <a:uFillTx/>
              <a:ea typeface="+mn-ea"/>
              <a:cs typeface="Segoe Sans Text" pitchFamily="2" charset="0"/>
            </a:endParaRPr>
          </a:p>
        </p:txBody>
      </p:sp>
      <p:sp>
        <p:nvSpPr>
          <p:cNvPr id="105" name="TextBox 104">
            <a:extLst>
              <a:ext uri="{FF2B5EF4-FFF2-40B4-BE49-F238E27FC236}">
                <a16:creationId xmlns:a16="http://schemas.microsoft.com/office/drawing/2014/main" id="{15C8FFA9-ECD1-7A68-C874-607092D75808}"/>
              </a:ext>
            </a:extLst>
          </p:cNvPr>
          <p:cNvSpPr txBox="1">
            <a:spLocks/>
          </p:cNvSpPr>
          <p:nvPr/>
        </p:nvSpPr>
        <p:spPr>
          <a:xfrm>
            <a:off x="9355722" y="4320754"/>
            <a:ext cx="2215289" cy="32316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Calibri"/>
                <a:cs typeface="Segoe Sans Text" pitchFamily="2" charset="0"/>
              </a:rPr>
              <a:t>Monitoring and alerts (</a:t>
            </a:r>
            <a:r>
              <a:rPr lang="en-US" sz="1050" kern="0" noProof="0" dirty="0">
                <a:cs typeface="Segoe Sans Text" pitchFamily="2" charset="0"/>
              </a:rPr>
              <a:t>p</a:t>
            </a:r>
            <a:r>
              <a:rPr kumimoji="0" lang="en-US" sz="1050" b="0" i="0" u="none" strike="noStrike" kern="0" cap="none" normalizeH="0" baseline="0" noProof="0" dirty="0">
                <a:ln>
                  <a:noFill/>
                </a:ln>
                <a:effectLst/>
                <a:uLnTx/>
                <a:uFillTx/>
                <a:ea typeface="+mn-ea"/>
                <a:cs typeface="Segoe Sans Text" pitchFamily="2" charset="0"/>
              </a:rPr>
              <a:t>re- and </a:t>
            </a:r>
            <a:br>
              <a:rPr kumimoji="0" lang="en-US" sz="1050" b="0" i="0" u="none" strike="noStrike" kern="0" cap="none" normalizeH="0" baseline="0" noProof="0" dirty="0">
                <a:ln>
                  <a:noFill/>
                </a:ln>
                <a:effectLst/>
                <a:uLnTx/>
                <a:uFillTx/>
                <a:ea typeface="+mn-ea"/>
                <a:cs typeface="Segoe Sans Text" pitchFamily="2" charset="0"/>
              </a:rPr>
            </a:br>
            <a:r>
              <a:rPr kumimoji="0" lang="en-US" sz="1050" b="0" i="0" u="none" strike="noStrike" kern="0" cap="none" normalizeH="0" baseline="0" noProof="0" dirty="0">
                <a:ln>
                  <a:noFill/>
                </a:ln>
                <a:effectLst/>
                <a:uLnTx/>
                <a:uFillTx/>
                <a:ea typeface="+mn-ea"/>
                <a:cs typeface="Segoe Sans Text" pitchFamily="2" charset="0"/>
              </a:rPr>
              <a:t>post-migration</a:t>
            </a:r>
            <a:r>
              <a:rPr kumimoji="0" lang="en-US" sz="1050" b="0" i="0" u="none" strike="noStrike" kern="0" cap="none" normalizeH="0" baseline="0" noProof="0" dirty="0">
                <a:ln>
                  <a:noFill/>
                </a:ln>
                <a:effectLst/>
                <a:uLnTx/>
                <a:uFillTx/>
                <a:ea typeface="Calibri"/>
                <a:cs typeface="Segoe Sans Text" pitchFamily="2" charset="0"/>
              </a:rPr>
              <a:t>)</a:t>
            </a:r>
          </a:p>
        </p:txBody>
      </p:sp>
      <p:sp>
        <p:nvSpPr>
          <p:cNvPr id="106" name="TextBox 105">
            <a:extLst>
              <a:ext uri="{FF2B5EF4-FFF2-40B4-BE49-F238E27FC236}">
                <a16:creationId xmlns:a16="http://schemas.microsoft.com/office/drawing/2014/main" id="{463BCFC0-46EE-D23F-DA31-CFA53653F5F3}"/>
              </a:ext>
            </a:extLst>
          </p:cNvPr>
          <p:cNvSpPr txBox="1">
            <a:spLocks/>
          </p:cNvSpPr>
          <p:nvPr/>
        </p:nvSpPr>
        <p:spPr>
          <a:xfrm>
            <a:off x="9355722" y="4744408"/>
            <a:ext cx="2215289" cy="32316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Calibri"/>
                <a:cs typeface="Segoe Sans Text" pitchFamily="2" charset="0"/>
              </a:rPr>
              <a:t>Disaster recovery setup, configuration</a:t>
            </a:r>
          </a:p>
        </p:txBody>
      </p:sp>
      <p:sp>
        <p:nvSpPr>
          <p:cNvPr id="107" name="TextBox 106">
            <a:extLst>
              <a:ext uri="{FF2B5EF4-FFF2-40B4-BE49-F238E27FC236}">
                <a16:creationId xmlns:a16="http://schemas.microsoft.com/office/drawing/2014/main" id="{50B1ED02-20D6-139C-C9AD-51C78E38E656}"/>
              </a:ext>
            </a:extLst>
          </p:cNvPr>
          <p:cNvSpPr txBox="1">
            <a:spLocks/>
          </p:cNvSpPr>
          <p:nvPr/>
        </p:nvSpPr>
        <p:spPr>
          <a:xfrm>
            <a:off x="9355722" y="5168061"/>
            <a:ext cx="2159051" cy="32316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normalizeH="0" baseline="0" noProof="0" dirty="0">
                <a:ln>
                  <a:noFill/>
                </a:ln>
                <a:effectLst/>
                <a:uLnTx/>
                <a:uFillTx/>
                <a:ea typeface="Calibri"/>
                <a:cs typeface="Segoe Sans Text" pitchFamily="2" charset="0"/>
              </a:rPr>
              <a:t>Any other migration path not listed in the scope</a:t>
            </a:r>
          </a:p>
        </p:txBody>
      </p:sp>
      <p:sp>
        <p:nvSpPr>
          <p:cNvPr id="108" name="TextBox 107">
            <a:extLst>
              <a:ext uri="{FF2B5EF4-FFF2-40B4-BE49-F238E27FC236}">
                <a16:creationId xmlns:a16="http://schemas.microsoft.com/office/drawing/2014/main" id="{64F41ED3-E1DA-D1BC-463F-1E7BE88A7FF8}"/>
              </a:ext>
            </a:extLst>
          </p:cNvPr>
          <p:cNvSpPr txBox="1"/>
          <p:nvPr/>
        </p:nvSpPr>
        <p:spPr>
          <a:xfrm>
            <a:off x="9361220" y="2645835"/>
            <a:ext cx="2215289" cy="484748"/>
          </a:xfrm>
          <a:prstGeom prst="rect">
            <a:avLst/>
          </a:prstGeom>
          <a:noFill/>
        </p:spPr>
        <p:txBody>
          <a:bodyPr wrap="square" lIns="0" tIns="0" rIns="0" bIns="0">
            <a:spAutoFit/>
          </a:bodyPr>
          <a:lstStyle/>
          <a:p>
            <a:pPr marL="0" lvl="1">
              <a:defRPr/>
            </a:pPr>
            <a:r>
              <a:rPr lang="en-US" sz="1050" kern="0" noProof="0" dirty="0">
                <a:cs typeface="Segoe Sans Text" pitchFamily="2" charset="0"/>
              </a:rPr>
              <a:t>Any changes in the source (any time) and target environments (after handover)</a:t>
            </a:r>
          </a:p>
        </p:txBody>
      </p:sp>
      <p:sp>
        <p:nvSpPr>
          <p:cNvPr id="109" name="Oval 108">
            <a:extLst>
              <a:ext uri="{FF2B5EF4-FFF2-40B4-BE49-F238E27FC236}">
                <a16:creationId xmlns:a16="http://schemas.microsoft.com/office/drawing/2014/main" id="{6BF6C2F7-54D7-1010-CF73-7C42B93FBEEF}"/>
              </a:ext>
            </a:extLst>
          </p:cNvPr>
          <p:cNvSpPr/>
          <p:nvPr/>
        </p:nvSpPr>
        <p:spPr bwMode="auto">
          <a:xfrm>
            <a:off x="775653" y="237762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0" name="Oval 109">
            <a:extLst>
              <a:ext uri="{FF2B5EF4-FFF2-40B4-BE49-F238E27FC236}">
                <a16:creationId xmlns:a16="http://schemas.microsoft.com/office/drawing/2014/main" id="{4EA759E5-7B71-EA01-EF24-B0B9370BB2FF}"/>
              </a:ext>
            </a:extLst>
          </p:cNvPr>
          <p:cNvSpPr/>
          <p:nvPr/>
        </p:nvSpPr>
        <p:spPr bwMode="auto">
          <a:xfrm>
            <a:off x="775653" y="335738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1" name="Oval 110">
            <a:extLst>
              <a:ext uri="{FF2B5EF4-FFF2-40B4-BE49-F238E27FC236}">
                <a16:creationId xmlns:a16="http://schemas.microsoft.com/office/drawing/2014/main" id="{596ABDFE-0F7C-D896-51AD-54A7E97777E9}"/>
              </a:ext>
            </a:extLst>
          </p:cNvPr>
          <p:cNvSpPr/>
          <p:nvPr/>
        </p:nvSpPr>
        <p:spPr bwMode="auto">
          <a:xfrm>
            <a:off x="775653" y="396901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2" name="Oval 111">
            <a:extLst>
              <a:ext uri="{FF2B5EF4-FFF2-40B4-BE49-F238E27FC236}">
                <a16:creationId xmlns:a16="http://schemas.microsoft.com/office/drawing/2014/main" id="{35A555AF-1B66-7B5B-E6D7-F60D6910935C}"/>
              </a:ext>
            </a:extLst>
          </p:cNvPr>
          <p:cNvSpPr/>
          <p:nvPr/>
        </p:nvSpPr>
        <p:spPr bwMode="auto">
          <a:xfrm>
            <a:off x="775653" y="501534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3" name="Oval 112">
            <a:extLst>
              <a:ext uri="{FF2B5EF4-FFF2-40B4-BE49-F238E27FC236}">
                <a16:creationId xmlns:a16="http://schemas.microsoft.com/office/drawing/2014/main" id="{99824019-8FEA-2356-4A09-FA2363A20124}"/>
              </a:ext>
            </a:extLst>
          </p:cNvPr>
          <p:cNvSpPr/>
          <p:nvPr/>
        </p:nvSpPr>
        <p:spPr bwMode="auto">
          <a:xfrm>
            <a:off x="775653" y="593323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4" name="Oval 113">
            <a:extLst>
              <a:ext uri="{FF2B5EF4-FFF2-40B4-BE49-F238E27FC236}">
                <a16:creationId xmlns:a16="http://schemas.microsoft.com/office/drawing/2014/main" id="{8E3BE74D-CB12-8C6E-C3DA-B4311B2DCA7A}"/>
              </a:ext>
            </a:extLst>
          </p:cNvPr>
          <p:cNvSpPr/>
          <p:nvPr/>
        </p:nvSpPr>
        <p:spPr bwMode="auto">
          <a:xfrm>
            <a:off x="6320111" y="244247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5" name="Oval 114">
            <a:extLst>
              <a:ext uri="{FF2B5EF4-FFF2-40B4-BE49-F238E27FC236}">
                <a16:creationId xmlns:a16="http://schemas.microsoft.com/office/drawing/2014/main" id="{8DA1DBCB-71DC-8A73-9AD8-E27297508D31}"/>
              </a:ext>
            </a:extLst>
          </p:cNvPr>
          <p:cNvSpPr/>
          <p:nvPr/>
        </p:nvSpPr>
        <p:spPr bwMode="auto">
          <a:xfrm>
            <a:off x="6320111" y="270468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6" name="Oval 115">
            <a:extLst>
              <a:ext uri="{FF2B5EF4-FFF2-40B4-BE49-F238E27FC236}">
                <a16:creationId xmlns:a16="http://schemas.microsoft.com/office/drawing/2014/main" id="{66CF99E0-5FCE-29E8-EEB6-84AFC6B1FDCE}"/>
              </a:ext>
            </a:extLst>
          </p:cNvPr>
          <p:cNvSpPr/>
          <p:nvPr/>
        </p:nvSpPr>
        <p:spPr bwMode="auto">
          <a:xfrm>
            <a:off x="6320111" y="329977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7" name="Oval 116">
            <a:extLst>
              <a:ext uri="{FF2B5EF4-FFF2-40B4-BE49-F238E27FC236}">
                <a16:creationId xmlns:a16="http://schemas.microsoft.com/office/drawing/2014/main" id="{321730AA-C8CF-D63F-C877-F4AFBA7EA461}"/>
              </a:ext>
            </a:extLst>
          </p:cNvPr>
          <p:cNvSpPr/>
          <p:nvPr/>
        </p:nvSpPr>
        <p:spPr bwMode="auto">
          <a:xfrm>
            <a:off x="6320111" y="391536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8" name="Oval 117">
            <a:extLst>
              <a:ext uri="{FF2B5EF4-FFF2-40B4-BE49-F238E27FC236}">
                <a16:creationId xmlns:a16="http://schemas.microsoft.com/office/drawing/2014/main" id="{E9C7B776-EFDA-D2B9-1839-B117366E589F}"/>
              </a:ext>
            </a:extLst>
          </p:cNvPr>
          <p:cNvSpPr/>
          <p:nvPr/>
        </p:nvSpPr>
        <p:spPr bwMode="auto">
          <a:xfrm>
            <a:off x="6320111" y="41710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9" name="Oval 118">
            <a:extLst>
              <a:ext uri="{FF2B5EF4-FFF2-40B4-BE49-F238E27FC236}">
                <a16:creationId xmlns:a16="http://schemas.microsoft.com/office/drawing/2014/main" id="{FAFE0F09-55CF-0DDC-D29C-CB1CAD470864}"/>
              </a:ext>
            </a:extLst>
          </p:cNvPr>
          <p:cNvSpPr/>
          <p:nvPr/>
        </p:nvSpPr>
        <p:spPr bwMode="auto">
          <a:xfrm>
            <a:off x="6320111" y="469006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0" name="Oval 119">
            <a:extLst>
              <a:ext uri="{FF2B5EF4-FFF2-40B4-BE49-F238E27FC236}">
                <a16:creationId xmlns:a16="http://schemas.microsoft.com/office/drawing/2014/main" id="{94E0E851-269B-34C5-9F30-7CD3C990F321}"/>
              </a:ext>
            </a:extLst>
          </p:cNvPr>
          <p:cNvSpPr/>
          <p:nvPr/>
        </p:nvSpPr>
        <p:spPr bwMode="auto">
          <a:xfrm>
            <a:off x="6320111" y="53959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1" name="Oval 120">
            <a:extLst>
              <a:ext uri="{FF2B5EF4-FFF2-40B4-BE49-F238E27FC236}">
                <a16:creationId xmlns:a16="http://schemas.microsoft.com/office/drawing/2014/main" id="{2ACC861F-977C-451E-5A55-2978F258CC12}"/>
              </a:ext>
            </a:extLst>
          </p:cNvPr>
          <p:cNvSpPr/>
          <p:nvPr/>
        </p:nvSpPr>
        <p:spPr bwMode="auto">
          <a:xfrm>
            <a:off x="9072891" y="26458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2" name="Oval 121">
            <a:extLst>
              <a:ext uri="{FF2B5EF4-FFF2-40B4-BE49-F238E27FC236}">
                <a16:creationId xmlns:a16="http://schemas.microsoft.com/office/drawing/2014/main" id="{EEE85972-D951-BC7A-8984-341A9B38AF58}"/>
              </a:ext>
            </a:extLst>
          </p:cNvPr>
          <p:cNvSpPr/>
          <p:nvPr/>
        </p:nvSpPr>
        <p:spPr bwMode="auto">
          <a:xfrm>
            <a:off x="9072891" y="331186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3" name="Oval 122">
            <a:extLst>
              <a:ext uri="{FF2B5EF4-FFF2-40B4-BE49-F238E27FC236}">
                <a16:creationId xmlns:a16="http://schemas.microsoft.com/office/drawing/2014/main" id="{F1E8F07B-2842-8B56-E6FB-D5985E996C29}"/>
              </a:ext>
            </a:extLst>
          </p:cNvPr>
          <p:cNvSpPr/>
          <p:nvPr/>
        </p:nvSpPr>
        <p:spPr bwMode="auto">
          <a:xfrm>
            <a:off x="9072891" y="39778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4" name="Oval 123">
            <a:extLst>
              <a:ext uri="{FF2B5EF4-FFF2-40B4-BE49-F238E27FC236}">
                <a16:creationId xmlns:a16="http://schemas.microsoft.com/office/drawing/2014/main" id="{10AFB507-9FA8-B2E6-DA0A-CC774DD13664}"/>
              </a:ext>
            </a:extLst>
          </p:cNvPr>
          <p:cNvSpPr/>
          <p:nvPr/>
        </p:nvSpPr>
        <p:spPr bwMode="auto">
          <a:xfrm>
            <a:off x="9072891" y="432075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5" name="Oval 124">
            <a:extLst>
              <a:ext uri="{FF2B5EF4-FFF2-40B4-BE49-F238E27FC236}">
                <a16:creationId xmlns:a16="http://schemas.microsoft.com/office/drawing/2014/main" id="{E60A86E5-594F-463F-5FF7-30DDBA20287C}"/>
              </a:ext>
            </a:extLst>
          </p:cNvPr>
          <p:cNvSpPr/>
          <p:nvPr/>
        </p:nvSpPr>
        <p:spPr bwMode="auto">
          <a:xfrm>
            <a:off x="9072891" y="47444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6" name="Oval 125">
            <a:extLst>
              <a:ext uri="{FF2B5EF4-FFF2-40B4-BE49-F238E27FC236}">
                <a16:creationId xmlns:a16="http://schemas.microsoft.com/office/drawing/2014/main" id="{CA6F3B6B-470E-3A24-A48C-547C1C1D6B66}"/>
              </a:ext>
            </a:extLst>
          </p:cNvPr>
          <p:cNvSpPr/>
          <p:nvPr/>
        </p:nvSpPr>
        <p:spPr bwMode="auto">
          <a:xfrm>
            <a:off x="9072891" y="516806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28" name="Straight Connector 127">
            <a:extLst>
              <a:ext uri="{FF2B5EF4-FFF2-40B4-BE49-F238E27FC236}">
                <a16:creationId xmlns:a16="http://schemas.microsoft.com/office/drawing/2014/main" id="{C133005B-4E17-B12E-8248-7505DEB41ADD}"/>
              </a:ext>
              <a:ext uri="{C183D7F6-B498-43B3-948B-1728B52AA6E4}">
                <adec:decorative xmlns:adec="http://schemas.microsoft.com/office/drawing/2017/decorative" val="1"/>
              </a:ext>
            </a:extLst>
          </p:cNvPr>
          <p:cNvCxnSpPr>
            <a:cxnSpLocks/>
          </p:cNvCxnSpPr>
          <p:nvPr/>
        </p:nvCxnSpPr>
        <p:spPr>
          <a:xfrm>
            <a:off x="1035532" y="326794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9FA2D242-4FDD-1E48-26DA-1AACDB832256}"/>
              </a:ext>
              <a:ext uri="{C183D7F6-B498-43B3-948B-1728B52AA6E4}">
                <adec:decorative xmlns:adec="http://schemas.microsoft.com/office/drawing/2017/decorative" val="1"/>
              </a:ext>
            </a:extLst>
          </p:cNvPr>
          <p:cNvCxnSpPr>
            <a:cxnSpLocks/>
          </p:cNvCxnSpPr>
          <p:nvPr/>
        </p:nvCxnSpPr>
        <p:spPr>
          <a:xfrm>
            <a:off x="1035532" y="389024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63B06B7-77F8-26D7-76BC-B2C9D0CAFB73}"/>
              </a:ext>
              <a:ext uri="{C183D7F6-B498-43B3-948B-1728B52AA6E4}">
                <adec:decorative xmlns:adec="http://schemas.microsoft.com/office/drawing/2017/decorative" val="1"/>
              </a:ext>
            </a:extLst>
          </p:cNvPr>
          <p:cNvCxnSpPr>
            <a:cxnSpLocks/>
          </p:cNvCxnSpPr>
          <p:nvPr/>
        </p:nvCxnSpPr>
        <p:spPr>
          <a:xfrm>
            <a:off x="1035532" y="496974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072A810-17DC-36A7-16FF-9455B4307F39}"/>
              </a:ext>
              <a:ext uri="{C183D7F6-B498-43B3-948B-1728B52AA6E4}">
                <adec:decorative xmlns:adec="http://schemas.microsoft.com/office/drawing/2017/decorative" val="1"/>
              </a:ext>
            </a:extLst>
          </p:cNvPr>
          <p:cNvCxnSpPr>
            <a:cxnSpLocks/>
          </p:cNvCxnSpPr>
          <p:nvPr/>
        </p:nvCxnSpPr>
        <p:spPr>
          <a:xfrm>
            <a:off x="1035532" y="589938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864F5F-C0A9-3F38-1EA1-11BB2B6E2062}"/>
              </a:ext>
              <a:ext uri="{C183D7F6-B498-43B3-948B-1728B52AA6E4}">
                <adec:decorative xmlns:adec="http://schemas.microsoft.com/office/drawing/2017/decorative" val="1"/>
              </a:ext>
            </a:extLst>
          </p:cNvPr>
          <p:cNvCxnSpPr>
            <a:cxnSpLocks/>
          </p:cNvCxnSpPr>
          <p:nvPr/>
        </p:nvCxnSpPr>
        <p:spPr>
          <a:xfrm>
            <a:off x="6615757" y="2355785"/>
            <a:ext cx="2321508" cy="9452"/>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1538BFE-D7FE-3030-00D3-3D5E2323924E}"/>
              </a:ext>
              <a:ext uri="{C183D7F6-B498-43B3-948B-1728B52AA6E4}">
                <adec:decorative xmlns:adec="http://schemas.microsoft.com/office/drawing/2017/decorative" val="1"/>
              </a:ext>
            </a:extLst>
          </p:cNvPr>
          <p:cNvCxnSpPr>
            <a:cxnSpLocks/>
          </p:cNvCxnSpPr>
          <p:nvPr/>
        </p:nvCxnSpPr>
        <p:spPr>
          <a:xfrm>
            <a:off x="6615757" y="2629011"/>
            <a:ext cx="2321508" cy="9452"/>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4CAE31B-8BD9-6543-273D-BAFCF2CB41AA}"/>
              </a:ext>
              <a:ext uri="{C183D7F6-B498-43B3-948B-1728B52AA6E4}">
                <adec:decorative xmlns:adec="http://schemas.microsoft.com/office/drawing/2017/decorative" val="1"/>
              </a:ext>
            </a:extLst>
          </p:cNvPr>
          <p:cNvCxnSpPr>
            <a:cxnSpLocks/>
          </p:cNvCxnSpPr>
          <p:nvPr/>
        </p:nvCxnSpPr>
        <p:spPr>
          <a:xfrm>
            <a:off x="6615757" y="3223621"/>
            <a:ext cx="2321508" cy="9452"/>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027CFE3-B18F-1455-E4FC-D31DDA8398A0}"/>
              </a:ext>
              <a:ext uri="{C183D7F6-B498-43B3-948B-1728B52AA6E4}">
                <adec:decorative xmlns:adec="http://schemas.microsoft.com/office/drawing/2017/decorative" val="1"/>
              </a:ext>
            </a:extLst>
          </p:cNvPr>
          <p:cNvCxnSpPr>
            <a:cxnSpLocks/>
          </p:cNvCxnSpPr>
          <p:nvPr/>
        </p:nvCxnSpPr>
        <p:spPr>
          <a:xfrm>
            <a:off x="6615757" y="3833391"/>
            <a:ext cx="2321508" cy="9452"/>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6C8A6B4-84DC-4CB3-1167-6A0823D0DC96}"/>
              </a:ext>
              <a:ext uri="{C183D7F6-B498-43B3-948B-1728B52AA6E4}">
                <adec:decorative xmlns:adec="http://schemas.microsoft.com/office/drawing/2017/decorative" val="1"/>
              </a:ext>
            </a:extLst>
          </p:cNvPr>
          <p:cNvCxnSpPr>
            <a:cxnSpLocks/>
          </p:cNvCxnSpPr>
          <p:nvPr/>
        </p:nvCxnSpPr>
        <p:spPr>
          <a:xfrm>
            <a:off x="6615757" y="4592504"/>
            <a:ext cx="2321508" cy="9452"/>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4342120-A135-1D18-1FD8-1ABF03971AC8}"/>
              </a:ext>
              <a:ext uri="{C183D7F6-B498-43B3-948B-1728B52AA6E4}">
                <adec:decorative xmlns:adec="http://schemas.microsoft.com/office/drawing/2017/decorative" val="1"/>
              </a:ext>
            </a:extLst>
          </p:cNvPr>
          <p:cNvCxnSpPr>
            <a:cxnSpLocks/>
          </p:cNvCxnSpPr>
          <p:nvPr/>
        </p:nvCxnSpPr>
        <p:spPr>
          <a:xfrm>
            <a:off x="6615757" y="5262921"/>
            <a:ext cx="2321508" cy="9452"/>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BA8C086-D6A9-3304-CB5F-E456C802AD53}"/>
              </a:ext>
              <a:ext uri="{C183D7F6-B498-43B3-948B-1728B52AA6E4}">
                <adec:decorative xmlns:adec="http://schemas.microsoft.com/office/drawing/2017/decorative" val="1"/>
              </a:ext>
            </a:extLst>
          </p:cNvPr>
          <p:cNvCxnSpPr>
            <a:cxnSpLocks/>
          </p:cNvCxnSpPr>
          <p:nvPr/>
        </p:nvCxnSpPr>
        <p:spPr>
          <a:xfrm>
            <a:off x="9339261" y="2548853"/>
            <a:ext cx="2175512" cy="13456"/>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4B33217B-1FFF-B953-8258-89D709EBA2FE}"/>
              </a:ext>
              <a:ext uri="{C183D7F6-B498-43B3-948B-1728B52AA6E4}">
                <adec:decorative xmlns:adec="http://schemas.microsoft.com/office/drawing/2017/decorative" val="1"/>
              </a:ext>
            </a:extLst>
          </p:cNvPr>
          <p:cNvCxnSpPr>
            <a:cxnSpLocks/>
          </p:cNvCxnSpPr>
          <p:nvPr/>
        </p:nvCxnSpPr>
        <p:spPr>
          <a:xfrm>
            <a:off x="9339261" y="3225594"/>
            <a:ext cx="2175512" cy="13456"/>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D443EDC3-7EA7-191C-2111-E82220A88444}"/>
              </a:ext>
              <a:ext uri="{C183D7F6-B498-43B3-948B-1728B52AA6E4}">
                <adec:decorative xmlns:adec="http://schemas.microsoft.com/office/drawing/2017/decorative" val="1"/>
              </a:ext>
            </a:extLst>
          </p:cNvPr>
          <p:cNvCxnSpPr>
            <a:cxnSpLocks/>
          </p:cNvCxnSpPr>
          <p:nvPr/>
        </p:nvCxnSpPr>
        <p:spPr>
          <a:xfrm>
            <a:off x="9339261" y="3894469"/>
            <a:ext cx="2175512" cy="13456"/>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92081BD3-1C12-2DFA-0B59-E6C3F3ACAC35}"/>
              </a:ext>
              <a:ext uri="{C183D7F6-B498-43B3-948B-1728B52AA6E4}">
                <adec:decorative xmlns:adec="http://schemas.microsoft.com/office/drawing/2017/decorative" val="1"/>
              </a:ext>
            </a:extLst>
          </p:cNvPr>
          <p:cNvCxnSpPr>
            <a:cxnSpLocks/>
          </p:cNvCxnSpPr>
          <p:nvPr/>
        </p:nvCxnSpPr>
        <p:spPr>
          <a:xfrm>
            <a:off x="9339261" y="4218927"/>
            <a:ext cx="2175512" cy="13456"/>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0107E48-C769-3428-06AA-9ED18A9AEC33}"/>
              </a:ext>
              <a:ext uri="{C183D7F6-B498-43B3-948B-1728B52AA6E4}">
                <adec:decorative xmlns:adec="http://schemas.microsoft.com/office/drawing/2017/decorative" val="1"/>
              </a:ext>
            </a:extLst>
          </p:cNvPr>
          <p:cNvCxnSpPr>
            <a:cxnSpLocks/>
          </p:cNvCxnSpPr>
          <p:nvPr/>
        </p:nvCxnSpPr>
        <p:spPr>
          <a:xfrm>
            <a:off x="9339261" y="4713735"/>
            <a:ext cx="2175512" cy="13456"/>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4A226AB6-6C02-F675-7A1D-49A867748A78}"/>
              </a:ext>
              <a:ext uri="{C183D7F6-B498-43B3-948B-1728B52AA6E4}">
                <adec:decorative xmlns:adec="http://schemas.microsoft.com/office/drawing/2017/decorative" val="1"/>
              </a:ext>
            </a:extLst>
          </p:cNvPr>
          <p:cNvCxnSpPr>
            <a:cxnSpLocks/>
          </p:cNvCxnSpPr>
          <p:nvPr/>
        </p:nvCxnSpPr>
        <p:spPr>
          <a:xfrm>
            <a:off x="9339261" y="5135314"/>
            <a:ext cx="2175512" cy="13456"/>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35C044-A8CD-C8E6-4F76-556FF93F85A1}"/>
              </a:ext>
            </a:extLst>
          </p:cNvPr>
          <p:cNvSpPr txBox="1">
            <a:spLocks/>
          </p:cNvSpPr>
          <p:nvPr/>
        </p:nvSpPr>
        <p:spPr>
          <a:xfrm>
            <a:off x="719229" y="1227234"/>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5" name="TextBox 4">
            <a:extLst>
              <a:ext uri="{FF2B5EF4-FFF2-40B4-BE49-F238E27FC236}">
                <a16:creationId xmlns:a16="http://schemas.microsoft.com/office/drawing/2014/main" id="{95D11328-2D7A-3D45-E079-E1EE988EB1C4}"/>
              </a:ext>
            </a:extLst>
          </p:cNvPr>
          <p:cNvSpPr txBox="1">
            <a:spLocks/>
          </p:cNvSpPr>
          <p:nvPr/>
        </p:nvSpPr>
        <p:spPr>
          <a:xfrm>
            <a:off x="6231561" y="1228947"/>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4" name="TextBox 3">
            <a:extLst>
              <a:ext uri="{FF2B5EF4-FFF2-40B4-BE49-F238E27FC236}">
                <a16:creationId xmlns:a16="http://schemas.microsoft.com/office/drawing/2014/main" id="{5D7F5B73-1FB1-9810-D92B-551DC2A16CBB}"/>
              </a:ext>
            </a:extLst>
          </p:cNvPr>
          <p:cNvSpPr txBox="1"/>
          <p:nvPr/>
        </p:nvSpPr>
        <p:spPr>
          <a:xfrm>
            <a:off x="6388691" y="1600300"/>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6" name="TextBox 5">
            <a:extLst>
              <a:ext uri="{FF2B5EF4-FFF2-40B4-BE49-F238E27FC236}">
                <a16:creationId xmlns:a16="http://schemas.microsoft.com/office/drawing/2014/main" id="{80D36D88-FA1F-8D14-916D-0005C1DD9CCA}"/>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EFB3FCE4-6F3E-E940-6FE2-9E98A6369F9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97968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DCBC-3ACC-656A-6F64-6366262D256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42D5C8-8A24-8193-7DC2-7EF9A5663912}"/>
              </a:ext>
            </a:extLst>
          </p:cNvPr>
          <p:cNvSpPr>
            <a:spLocks noGrp="1"/>
          </p:cNvSpPr>
          <p:nvPr>
            <p:ph type="title"/>
          </p:nvPr>
        </p:nvSpPr>
        <p:spPr>
          <a:xfrm>
            <a:off x="462579" y="396142"/>
            <a:ext cx="11093626" cy="781588"/>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Segoe UI Semibold"/>
              </a:rPr>
              <a:t>RDS and Citrix VDI to AVD Migration</a:t>
            </a:r>
            <a:b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br>
            <a:endParaRPr lang="en-US" sz="2800" noProof="0" dirty="0"/>
          </a:p>
        </p:txBody>
      </p:sp>
      <p:sp>
        <p:nvSpPr>
          <p:cNvPr id="14" name="Rounded Rectangle 55">
            <a:extLst>
              <a:ext uri="{FF2B5EF4-FFF2-40B4-BE49-F238E27FC236}">
                <a16:creationId xmlns:a16="http://schemas.microsoft.com/office/drawing/2014/main" id="{ADEA50F2-03D2-B2BE-1B1E-796968466496}"/>
              </a:ext>
              <a:ext uri="{C183D7F6-B498-43B3-948B-1728B52AA6E4}">
                <adec:decorative xmlns:adec="http://schemas.microsoft.com/office/drawing/2017/decorative" val="1"/>
              </a:ext>
            </a:extLst>
          </p:cNvPr>
          <p:cNvSpPr/>
          <p:nvPr/>
        </p:nvSpPr>
        <p:spPr bwMode="auto">
          <a:xfrm>
            <a:off x="471201" y="1445519"/>
            <a:ext cx="2564291" cy="4567059"/>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6" name="Content Placeholder 4">
            <a:extLst>
              <a:ext uri="{FF2B5EF4-FFF2-40B4-BE49-F238E27FC236}">
                <a16:creationId xmlns:a16="http://schemas.microsoft.com/office/drawing/2014/main" id="{10508383-46DA-D6A8-26A1-CE79E691D789}"/>
              </a:ext>
            </a:extLst>
          </p:cNvPr>
          <p:cNvSpPr txBox="1">
            <a:spLocks/>
          </p:cNvSpPr>
          <p:nvPr/>
        </p:nvSpPr>
        <p:spPr>
          <a:xfrm>
            <a:off x="629647" y="1838583"/>
            <a:ext cx="2544620" cy="1636345"/>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100000"/>
              </a:lnSpc>
              <a:spcAft>
                <a:spcPts val="200"/>
              </a:spcAft>
              <a:buFont typeface="Wingdings" panose="05000000000000000000" pitchFamily="2" charset="2"/>
              <a:buChar char="ü"/>
              <a:defRPr/>
            </a:pPr>
            <a:r>
              <a:rPr lang="en-US" sz="1200" noProof="0" dirty="0"/>
              <a:t>Lift and shift RDS Environment to AVD </a:t>
            </a:r>
          </a:p>
          <a:p>
            <a:pPr lvl="0">
              <a:lnSpc>
                <a:spcPct val="100000"/>
              </a:lnSpc>
              <a:spcAft>
                <a:spcPts val="200"/>
              </a:spcAft>
              <a:buFont typeface="Wingdings" panose="05000000000000000000" pitchFamily="2" charset="2"/>
              <a:buChar char="ü"/>
              <a:defRPr/>
            </a:pPr>
            <a:r>
              <a:rPr lang="en-US" sz="1200" noProof="0" dirty="0"/>
              <a:t>Migration existing Citrix </a:t>
            </a:r>
            <a:br>
              <a:rPr lang="en-US" sz="1200" noProof="0" dirty="0"/>
            </a:br>
            <a:r>
              <a:rPr lang="en-US" sz="1200" noProof="0" dirty="0"/>
              <a:t>to AVD</a:t>
            </a:r>
          </a:p>
          <a:p>
            <a:pPr lvl="0">
              <a:lnSpc>
                <a:spcPct val="100000"/>
              </a:lnSpc>
              <a:spcAft>
                <a:spcPts val="200"/>
              </a:spcAft>
              <a:buFont typeface="Wingdings" panose="05000000000000000000" pitchFamily="2" charset="2"/>
              <a:buChar char="ü"/>
              <a:defRPr/>
            </a:pPr>
            <a:r>
              <a:rPr lang="en-US" sz="1200" noProof="0" dirty="0"/>
              <a:t>Create a new </a:t>
            </a:r>
            <a:br>
              <a:rPr lang="en-US" sz="1200" noProof="0" dirty="0"/>
            </a:br>
            <a:r>
              <a:rPr lang="en-US" sz="1200" noProof="0" dirty="0"/>
              <a:t>AVD deployment </a:t>
            </a:r>
            <a:br>
              <a:rPr lang="en-US" sz="1200" noProof="0" dirty="0"/>
            </a:br>
            <a:r>
              <a:rPr lang="en-US" sz="1200" noProof="0" dirty="0"/>
              <a:t>(standard deployment</a:t>
            </a:r>
            <a:r>
              <a:rPr lang="en-US" sz="1100" noProof="0" dirty="0"/>
              <a:t>)</a:t>
            </a:r>
          </a:p>
        </p:txBody>
      </p:sp>
      <p:sp>
        <p:nvSpPr>
          <p:cNvPr id="18" name="TextBox 17">
            <a:extLst>
              <a:ext uri="{FF2B5EF4-FFF2-40B4-BE49-F238E27FC236}">
                <a16:creationId xmlns:a16="http://schemas.microsoft.com/office/drawing/2014/main" id="{BC4A625A-9F37-9CB4-3638-FDCA78E5AD18}"/>
              </a:ext>
            </a:extLst>
          </p:cNvPr>
          <p:cNvSpPr txBox="1"/>
          <p:nvPr/>
        </p:nvSpPr>
        <p:spPr>
          <a:xfrm>
            <a:off x="3269643" y="1635720"/>
            <a:ext cx="8342585" cy="3647152"/>
          </a:xfrm>
          <a:prstGeom prst="rect">
            <a:avLst/>
          </a:prstGeom>
          <a:noFill/>
        </p:spPr>
        <p:txBody>
          <a:bodyPr wrap="square">
            <a:spAutoFit/>
          </a:bodyPr>
          <a:lstStyle/>
          <a:p>
            <a:pPr marL="0" lvl="1">
              <a:spcAft>
                <a:spcPts val="200"/>
              </a:spcAft>
              <a:defRPr/>
            </a:pPr>
            <a:r>
              <a:rPr lang="en-US" sz="1400" kern="0" noProof="0" dirty="0">
                <a:solidFill>
                  <a:schemeClr val="tx2"/>
                </a:solidFill>
                <a:latin typeface="+mj-lt"/>
              </a:rPr>
              <a:t>Every Citrix migration to AVD:</a:t>
            </a:r>
          </a:p>
          <a:p>
            <a:pPr marL="247650" lvl="1" indent="-152400">
              <a:spcAft>
                <a:spcPts val="1200"/>
              </a:spcAft>
              <a:buFont typeface="Arial" panose="020B0604020202020204" pitchFamily="34" charset="0"/>
              <a:buChar char="•"/>
              <a:defRPr/>
            </a:pPr>
            <a:r>
              <a:rPr lang="en-US" sz="1200" kern="0" noProof="0" dirty="0"/>
              <a:t>Create a parallel AVD setup for testing evaluation without impacting existing Citrix environments</a:t>
            </a:r>
          </a:p>
          <a:p>
            <a:pPr marL="0" lvl="1">
              <a:spcAft>
                <a:spcPts val="200"/>
              </a:spcAft>
              <a:defRPr/>
            </a:pPr>
            <a:r>
              <a:rPr lang="en-US" sz="1400" kern="0" noProof="0" dirty="0">
                <a:solidFill>
                  <a:schemeClr val="tx2"/>
                </a:solidFill>
                <a:latin typeface="+mj-lt"/>
              </a:rPr>
              <a:t>FSLogix for profile containers</a:t>
            </a:r>
          </a:p>
          <a:p>
            <a:pPr marL="247650" lvl="1" indent="-152400">
              <a:spcAft>
                <a:spcPts val="1200"/>
              </a:spcAft>
              <a:buFont typeface="Arial" panose="020B0604020202020204" pitchFamily="34" charset="0"/>
              <a:buChar char="•"/>
              <a:defRPr/>
            </a:pPr>
            <a:r>
              <a:rPr lang="en-US" sz="1200" kern="0" noProof="0" dirty="0"/>
              <a:t>FSLogix standard configuration for profile containers</a:t>
            </a:r>
          </a:p>
          <a:p>
            <a:pPr marL="0" lvl="1">
              <a:spcAft>
                <a:spcPts val="200"/>
              </a:spcAft>
              <a:defRPr/>
            </a:pPr>
            <a:r>
              <a:rPr lang="en-US" sz="1400" kern="0" noProof="0" dirty="0">
                <a:solidFill>
                  <a:schemeClr val="tx2"/>
                </a:solidFill>
                <a:latin typeface="+mj-lt"/>
              </a:rPr>
              <a:t>Application/desktop deployment through AVD</a:t>
            </a:r>
          </a:p>
          <a:p>
            <a:pPr marL="247650" lvl="1" indent="-152400">
              <a:spcAft>
                <a:spcPts val="1200"/>
              </a:spcAft>
              <a:buFont typeface="Arial" panose="020B0604020202020204" pitchFamily="34" charset="0"/>
              <a:buChar char="•"/>
              <a:defRPr/>
            </a:pPr>
            <a:r>
              <a:rPr lang="en-US" sz="1200" kern="0" noProof="0" dirty="0"/>
              <a:t>Application/desktop publishing, user access setup, and validation</a:t>
            </a:r>
          </a:p>
          <a:p>
            <a:pPr marL="231775" lvl="1" indent="-231775">
              <a:spcBef>
                <a:spcPts val="600"/>
              </a:spcBef>
              <a:spcAft>
                <a:spcPts val="200"/>
              </a:spcAft>
              <a:buFont typeface="+mj-lt"/>
              <a:buAutoNum type="arabicPeriod"/>
              <a:defRPr/>
            </a:pPr>
            <a:r>
              <a:rPr lang="en-US" sz="1400" kern="0" noProof="0" dirty="0">
                <a:solidFill>
                  <a:schemeClr val="tx2"/>
                </a:solidFill>
                <a:latin typeface="+mj-lt"/>
              </a:rPr>
              <a:t>Lift and shift RDS environment to AVD </a:t>
            </a:r>
          </a:p>
          <a:p>
            <a:pPr marL="466725" lvl="1" indent="-142875">
              <a:spcAft>
                <a:spcPts val="1200"/>
              </a:spcAft>
              <a:buFont typeface="Segoe Sans Text" pitchFamily="2" charset="0"/>
              <a:buChar char="–"/>
              <a:defRPr/>
            </a:pPr>
            <a:r>
              <a:rPr lang="en-US" sz="1200" kern="0" noProof="0" dirty="0"/>
              <a:t>Migration of server or client OS from on-premises to AVD with minimal reconfiguration</a:t>
            </a:r>
          </a:p>
          <a:p>
            <a:pPr marL="225425" lvl="1" indent="-225425">
              <a:spcBef>
                <a:spcPts val="400"/>
              </a:spcBef>
              <a:spcAft>
                <a:spcPts val="200"/>
              </a:spcAft>
              <a:buFont typeface="+mj-lt"/>
              <a:buAutoNum type="arabicPeriod" startAt="2"/>
              <a:defRPr/>
            </a:pPr>
            <a:r>
              <a:rPr lang="en-US" sz="1400" kern="0" noProof="0" dirty="0">
                <a:solidFill>
                  <a:schemeClr val="tx2"/>
                </a:solidFill>
                <a:latin typeface="+mj-lt"/>
              </a:rPr>
              <a:t>Migration existing Citrix to AVD</a:t>
            </a:r>
          </a:p>
          <a:p>
            <a:pPr marL="466725" lvl="1" indent="-142875">
              <a:spcAft>
                <a:spcPts val="1200"/>
              </a:spcAft>
              <a:buFont typeface="Segoe Sans Text" pitchFamily="2" charset="0"/>
              <a:buChar char="–"/>
              <a:defRPr/>
            </a:pPr>
            <a:r>
              <a:rPr lang="en-US" sz="1200" kern="0" noProof="0" dirty="0"/>
              <a:t>Migrate existing Citrix to AVD</a:t>
            </a:r>
          </a:p>
          <a:p>
            <a:pPr marL="225425" lvl="1" indent="-225425">
              <a:spcBef>
                <a:spcPts val="400"/>
              </a:spcBef>
              <a:spcAft>
                <a:spcPts val="200"/>
              </a:spcAft>
              <a:buFont typeface="+mj-lt"/>
              <a:buAutoNum type="arabicPeriod" startAt="3"/>
              <a:defRPr/>
            </a:pPr>
            <a:r>
              <a:rPr lang="en-US" sz="1400" kern="0" noProof="0" dirty="0">
                <a:solidFill>
                  <a:schemeClr val="tx2"/>
                </a:solidFill>
                <a:latin typeface="+mj-lt"/>
              </a:rPr>
              <a:t>Create a new AVD deployment (standard deployment)</a:t>
            </a:r>
          </a:p>
          <a:p>
            <a:pPr marL="466725" lvl="1" indent="-142875">
              <a:spcAft>
                <a:spcPts val="1200"/>
              </a:spcAft>
              <a:buFont typeface="Segoe Sans Text" pitchFamily="2" charset="0"/>
              <a:buChar char="–"/>
              <a:defRPr/>
            </a:pPr>
            <a:r>
              <a:rPr lang="en-US" sz="1200" kern="0" noProof="0" dirty="0"/>
              <a:t>Create new AVD images from the Azure Marketplace</a:t>
            </a:r>
          </a:p>
        </p:txBody>
      </p:sp>
      <p:sp>
        <p:nvSpPr>
          <p:cNvPr id="2" name="TextBox 1">
            <a:extLst>
              <a:ext uri="{FF2B5EF4-FFF2-40B4-BE49-F238E27FC236}">
                <a16:creationId xmlns:a16="http://schemas.microsoft.com/office/drawing/2014/main" id="{FDA9292B-03E6-AFDB-739F-A076718E594D}"/>
              </a:ext>
            </a:extLst>
          </p:cNvPr>
          <p:cNvSpPr txBox="1"/>
          <p:nvPr/>
        </p:nvSpPr>
        <p:spPr>
          <a:xfrm>
            <a:off x="608384" y="1519077"/>
            <a:ext cx="2309042"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8" name="Graphic 23">
            <a:extLst>
              <a:ext uri="{FF2B5EF4-FFF2-40B4-BE49-F238E27FC236}">
                <a16:creationId xmlns:a16="http://schemas.microsoft.com/office/drawing/2014/main" id="{D0423B68-7C1D-F832-DEF3-17336293DB0C}"/>
              </a:ext>
              <a:ext uri="{C183D7F6-B498-43B3-948B-1728B52AA6E4}">
                <adec:decorative xmlns:adec="http://schemas.microsoft.com/office/drawing/2017/decorative" val="1"/>
              </a:ext>
            </a:extLst>
          </p:cNvPr>
          <p:cNvSpPr/>
          <p:nvPr/>
        </p:nvSpPr>
        <p:spPr>
          <a:xfrm>
            <a:off x="666139" y="286703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Graphic 23">
            <a:extLst>
              <a:ext uri="{FF2B5EF4-FFF2-40B4-BE49-F238E27FC236}">
                <a16:creationId xmlns:a16="http://schemas.microsoft.com/office/drawing/2014/main" id="{FB287F3D-8D60-330C-7BD2-3B4ABA8D4B51}"/>
              </a:ext>
              <a:ext uri="{C183D7F6-B498-43B3-948B-1728B52AA6E4}">
                <adec:decorative xmlns:adec="http://schemas.microsoft.com/office/drawing/2017/decorative" val="1"/>
              </a:ext>
            </a:extLst>
          </p:cNvPr>
          <p:cNvSpPr/>
          <p:nvPr/>
        </p:nvSpPr>
        <p:spPr>
          <a:xfrm>
            <a:off x="666139" y="194679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Graphic 23">
            <a:extLst>
              <a:ext uri="{FF2B5EF4-FFF2-40B4-BE49-F238E27FC236}">
                <a16:creationId xmlns:a16="http://schemas.microsoft.com/office/drawing/2014/main" id="{4323F79D-5526-4CE8-813D-0A4BE7AAF09E}"/>
              </a:ext>
              <a:ext uri="{C183D7F6-B498-43B3-948B-1728B52AA6E4}">
                <adec:decorative xmlns:adec="http://schemas.microsoft.com/office/drawing/2017/decorative" val="1"/>
              </a:ext>
            </a:extLst>
          </p:cNvPr>
          <p:cNvSpPr/>
          <p:nvPr/>
        </p:nvSpPr>
        <p:spPr>
          <a:xfrm>
            <a:off x="666139" y="2392015"/>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C4702C77-7148-947C-3A0C-6058D77E0940}"/>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4" name="Group 3">
            <a:extLst>
              <a:ext uri="{FF2B5EF4-FFF2-40B4-BE49-F238E27FC236}">
                <a16:creationId xmlns:a16="http://schemas.microsoft.com/office/drawing/2014/main" id="{B7DBD5DE-1B57-4E80-88D4-01EC87D25045}"/>
              </a:ext>
            </a:extLst>
          </p:cNvPr>
          <p:cNvGrpSpPr/>
          <p:nvPr/>
        </p:nvGrpSpPr>
        <p:grpSpPr>
          <a:xfrm>
            <a:off x="3131911" y="1445519"/>
            <a:ext cx="8354749" cy="4567060"/>
            <a:chOff x="3122613" y="2481106"/>
            <a:chExt cx="8521464" cy="4920648"/>
          </a:xfrm>
        </p:grpSpPr>
        <p:grpSp>
          <p:nvGrpSpPr>
            <p:cNvPr id="5" name="Group 4">
              <a:extLst>
                <a:ext uri="{FF2B5EF4-FFF2-40B4-BE49-F238E27FC236}">
                  <a16:creationId xmlns:a16="http://schemas.microsoft.com/office/drawing/2014/main" id="{DBFED114-7B77-8BE5-0FA6-96036B097A14}"/>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9" name="Rectangle: Rounded Corners 8">
                <a:extLst>
                  <a:ext uri="{FF2B5EF4-FFF2-40B4-BE49-F238E27FC236}">
                    <a16:creationId xmlns:a16="http://schemas.microsoft.com/office/drawing/2014/main" id="{0D0ACD33-DA5E-4DF7-417F-5F907E5844C6}"/>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1" name="Rectangle: Rounded Corners 10">
                <a:extLst>
                  <a:ext uri="{FF2B5EF4-FFF2-40B4-BE49-F238E27FC236}">
                    <a16:creationId xmlns:a16="http://schemas.microsoft.com/office/drawing/2014/main" id="{3B545345-826E-C9BD-BDB7-D434BA9345A7}"/>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7" name="Arrow: Bent 6">
              <a:extLst>
                <a:ext uri="{FF2B5EF4-FFF2-40B4-BE49-F238E27FC236}">
                  <a16:creationId xmlns:a16="http://schemas.microsoft.com/office/drawing/2014/main" id="{B6995589-0B25-501D-8331-3B847226B72F}"/>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26487191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4A71-1884-0A09-C683-1B402DA9C766}"/>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A4EEBEE6-154B-88EC-C005-3B2DBFC7E511}"/>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E030D666-6795-619A-98BE-C06B327A2820}"/>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78634F83-B9D7-81EB-79E7-EA6CBE86337D}"/>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2DDC80CB-1098-CF91-0FDA-F59AF07B3A99}"/>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172F3BC6-9D1D-8D84-E367-B7E3D740996F}"/>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5017EF61-9E25-1AB1-4540-419E08B0406C}"/>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A4FBDBDC-6D8A-A14E-35DD-60E340C6FCE8}"/>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519B5289-7A52-E40F-005B-99A72CB204D8}"/>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1B97C12C-BB6D-8C80-9AF3-9BD62570B28C}"/>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E3C0E30E-60D4-F2BE-24F5-6B9B9EA750B4}"/>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DC24DCF9-1119-ED57-FBBA-942504EFF3CB}"/>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DF6FF4D4-CC33-11AE-0675-CED944111C86}"/>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FD1CC90F-51A1-9A98-C0F7-060C9AA139E4}"/>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03F19015-B2B1-9450-0704-FA479E629196}"/>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9968BDD4-6A19-8437-BB69-1B45EA088361}"/>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60F474BA-51C2-96A7-0775-788724410167}"/>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FBE50056-9205-D6D8-ECA5-9F6643CE6099}"/>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170E6EFC-F827-8179-3AE4-C79F82A7E7D2}"/>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A95D42CD-F3D7-274D-0338-5E5852B9BA6A}"/>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A97C086B-FF7E-79A5-0413-768B2A792A7D}"/>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FA025017-152D-3EBD-4A1B-3065E2C4A516}"/>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EB110567-C505-C573-CA8A-AEE72E71747D}"/>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33B66E77-12B4-5A8B-2C85-804383595D45}"/>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F7682C61-F034-80D4-6346-88505123782F}"/>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C2073B5B-538D-D22B-C4F1-EE8886F1A16F}"/>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3448D4D4-BEA1-3374-C392-18532C58232D}"/>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527C9A60-AFAB-4CA1-BA1E-9690D0906E94}"/>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5B9DDE95-FB09-1B6E-C609-DC6A5F16720E}"/>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7457B47C-CFA3-FAC9-BB5C-D21CE49CAEC3}"/>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048CD6AE-5A0E-6437-9782-8AD4F395A9D0}"/>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03B39477-921D-9EDB-2AC4-930E8ECB7245}"/>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1FDCD214-00E3-CF19-F7E5-0EA529389750}"/>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6A3703A6-F67F-9980-10D4-6C645E71367C}"/>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5AA2DA70-BC0B-80C6-9387-FF91368877FD}"/>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48212B05-7DF7-E76D-D73E-768A5A2C53E7}"/>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DFB16EE3-CBDE-AE02-4D2E-21BE882B2622}"/>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00EF366D-881E-8386-CCE7-E2631456A59A}"/>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1A85E0E7-3A01-6A3A-C188-DFF048F5696C}"/>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9AB51519-D893-51CC-A1FE-21DF560ED1AF}"/>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6" name="TextBox 135">
            <a:extLst>
              <a:ext uri="{FF2B5EF4-FFF2-40B4-BE49-F238E27FC236}">
                <a16:creationId xmlns:a16="http://schemas.microsoft.com/office/drawing/2014/main" id="{3EE1EDA3-0B34-75D6-9417-E1E8101CCF7D}"/>
              </a:ext>
            </a:extLst>
          </p:cNvPr>
          <p:cNvSpPr txBox="1"/>
          <p:nvPr/>
        </p:nvSpPr>
        <p:spPr>
          <a:xfrm>
            <a:off x="4878310" y="2864494"/>
            <a:ext cx="121026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 of applications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for migration</a:t>
            </a:r>
          </a:p>
        </p:txBody>
      </p:sp>
      <p:sp>
        <p:nvSpPr>
          <p:cNvPr id="137" name="TextBox 136">
            <a:extLst>
              <a:ext uri="{FF2B5EF4-FFF2-40B4-BE49-F238E27FC236}">
                <a16:creationId xmlns:a16="http://schemas.microsoft.com/office/drawing/2014/main" id="{B2A0C1EF-5808-4463-84C9-5F39C14ABDAC}"/>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AD244A46-1856-53D4-1540-C7768C255BA8}"/>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1CE3DE6A-5C96-22B0-3F97-4D3D7709A0A5}"/>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E0CCD8FC-833B-864E-B680-0E1BCCABAFF5}"/>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36BC2EAB-FF8A-721A-3EC8-D738C4BE4772}"/>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1FC27B85-0E92-9A2E-BAEE-12B8BDB8D206}"/>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675500D6-4712-4F84-D257-187B43F53430}"/>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53C9F681-B6D7-8849-E8FE-12B70FE1930B}"/>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8BB15D95-246E-B327-F6F2-FBF7855EE7FE}"/>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BE9D6AF3-3DA6-052D-9491-9E2FD26DB597}"/>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C197BDF5-3F65-2622-4124-BC6F1F18B88E}"/>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F349E539-4F3C-855A-8B20-98AA16F40779}"/>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4CC28293-D325-A11A-32C4-96E3A0B92FF9}"/>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CBFA9800-1F97-E606-9333-98F27B114726}"/>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7A52B0E8-D487-E2D4-C09F-E90EAC9032E1}"/>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4B100E4C-6BB8-B766-BF9F-EA14C0DD2A53}"/>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C0F840ED-2E12-31E1-6848-FC3EC115A514}"/>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286AE6B0-C5A7-0C65-454A-02C2DA55F3B5}"/>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5A1B87E7-235C-901C-F26C-B1644606ADEB}"/>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07DCB19A-BD15-5922-E45B-1A1B2A170F0C}"/>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F3BE7C3D-DF28-BFF5-E805-464AFA22D665}"/>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7975D41A-163F-7F2A-C924-CB716333940A}"/>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F976E436-9426-2B31-5B27-EA5A617C669C}"/>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BF0717EA-F9F4-B59E-25E2-786AAB5D18A9}"/>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6E764716-1731-A06B-2BEE-D4865A5464B9}"/>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13" name="Title 61">
            <a:extLst>
              <a:ext uri="{FF2B5EF4-FFF2-40B4-BE49-F238E27FC236}">
                <a16:creationId xmlns:a16="http://schemas.microsoft.com/office/drawing/2014/main" id="{7AD01956-E499-0871-0C8C-C438DC09AC3E}"/>
              </a:ext>
            </a:extLst>
          </p:cNvPr>
          <p:cNvSpPr txBox="1">
            <a:spLocks/>
          </p:cNvSpPr>
          <p:nvPr/>
        </p:nvSpPr>
        <p:spPr>
          <a:xfrm>
            <a:off x="419100" y="419100"/>
            <a:ext cx="3162300" cy="3077766"/>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Virtual Desktop migration to Azure </a:t>
            </a:r>
            <a:r>
              <a:rPr lang="en-US" sz="2200" noProof="0" dirty="0">
                <a:solidFill>
                  <a:schemeClr val="bg1"/>
                </a:solidFill>
                <a:latin typeface="+mn-lt"/>
                <a:cs typeface="+mn-cs"/>
              </a:rPr>
              <a:t>–</a:t>
            </a:r>
            <a:r>
              <a:rPr lang="en-US" sz="3000" noProof="0" dirty="0">
                <a:solidFill>
                  <a:schemeClr val="bg1"/>
                </a:solidFill>
              </a:rPr>
              <a:t> </a:t>
            </a:r>
            <a:r>
              <a:rPr lang="en-US" sz="2200" noProof="0" dirty="0">
                <a:solidFill>
                  <a:schemeClr val="bg1"/>
                </a:solidFill>
                <a:latin typeface="+mn-lt"/>
                <a:cs typeface="+mn-cs"/>
              </a:rPr>
              <a:t>RDS </a:t>
            </a:r>
            <a:br>
              <a:rPr lang="en-US" sz="2200" noProof="0" dirty="0">
                <a:solidFill>
                  <a:schemeClr val="bg1"/>
                </a:solidFill>
                <a:latin typeface="+mn-lt"/>
                <a:cs typeface="+mn-cs"/>
              </a:rPr>
            </a:br>
            <a:r>
              <a:rPr lang="en-US" sz="2200" noProof="0" dirty="0">
                <a:solidFill>
                  <a:schemeClr val="bg1"/>
                </a:solidFill>
                <a:latin typeface="+mn-lt"/>
                <a:cs typeface="+mn-cs"/>
              </a:rPr>
              <a:t>and Citrix VDI to </a:t>
            </a:r>
            <a:br>
              <a:rPr lang="en-US" sz="2200" noProof="0" dirty="0">
                <a:solidFill>
                  <a:schemeClr val="bg1"/>
                </a:solidFill>
                <a:latin typeface="+mn-lt"/>
                <a:cs typeface="+mn-cs"/>
              </a:rPr>
            </a:br>
            <a:r>
              <a:rPr lang="en-US" sz="2200" noProof="0" dirty="0">
                <a:solidFill>
                  <a:schemeClr val="bg1"/>
                </a:solidFill>
                <a:latin typeface="+mn-lt"/>
                <a:cs typeface="+mn-cs"/>
              </a:rPr>
              <a:t>AVD Migration</a:t>
            </a:r>
          </a:p>
        </p:txBody>
      </p:sp>
      <p:sp>
        <p:nvSpPr>
          <p:cNvPr id="17" name="TextBox 16">
            <a:extLst>
              <a:ext uri="{FF2B5EF4-FFF2-40B4-BE49-F238E27FC236}">
                <a16:creationId xmlns:a16="http://schemas.microsoft.com/office/drawing/2014/main" id="{5CFD3AF8-2CCA-A7B5-A681-CCD027FA4AF1}"/>
              </a:ext>
            </a:extLst>
          </p:cNvPr>
          <p:cNvSpPr txBox="1"/>
          <p:nvPr/>
        </p:nvSpPr>
        <p:spPr>
          <a:xfrm>
            <a:off x="9252080" y="5309436"/>
            <a:ext cx="1207609"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AVD implementation and execution</a:t>
            </a:r>
          </a:p>
        </p:txBody>
      </p:sp>
      <p:sp>
        <p:nvSpPr>
          <p:cNvPr id="21" name="TextBox 20">
            <a:extLst>
              <a:ext uri="{FF2B5EF4-FFF2-40B4-BE49-F238E27FC236}">
                <a16:creationId xmlns:a16="http://schemas.microsoft.com/office/drawing/2014/main" id="{54477A95-7FD5-F6E0-BC8F-086FC67E4004}"/>
              </a:ext>
              <a:ext uri="{C183D7F6-B498-43B3-948B-1728B52AA6E4}">
                <adec:decorative xmlns:adec="http://schemas.microsoft.com/office/drawing/2017/decorative" val="1"/>
              </a:ext>
            </a:extLst>
          </p:cNvPr>
          <p:cNvSpPr txBox="1"/>
          <p:nvPr/>
        </p:nvSpPr>
        <p:spPr>
          <a:xfrm>
            <a:off x="7932192" y="5335066"/>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lgn="l">
              <a:defRPr/>
            </a:pPr>
            <a:r>
              <a:rPr lang="en-US" sz="1000" noProof="0" dirty="0"/>
              <a:t>Dev-test-deploy</a:t>
            </a:r>
          </a:p>
          <a:p>
            <a:pPr lvl="0" algn="l">
              <a:defRPr/>
            </a:pPr>
            <a:r>
              <a:rPr lang="en-US" sz="1000" noProof="0" dirty="0"/>
              <a:t>scoped workloads</a:t>
            </a:r>
          </a:p>
        </p:txBody>
      </p:sp>
      <p:sp>
        <p:nvSpPr>
          <p:cNvPr id="23" name="TextBox 22">
            <a:extLst>
              <a:ext uri="{FF2B5EF4-FFF2-40B4-BE49-F238E27FC236}">
                <a16:creationId xmlns:a16="http://schemas.microsoft.com/office/drawing/2014/main" id="{559E7E50-E986-8258-F6FB-C5553404923E}"/>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61091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6" presetClass="emph" presetSubtype="0" fill="hold" grpId="1" nodeType="withEffect">
                                  <p:stCondLst>
                                    <p:cond delay="0"/>
                                  </p:stCondLst>
                                  <p:childTnLst>
                                    <p:animScale>
                                      <p:cBhvr>
                                        <p:cTn id="9" dur="100" fill="hold"/>
                                        <p:tgtEl>
                                          <p:spTgt spid="2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3" grpId="2"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68F5-28FC-15B4-2F31-986041F98A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AD0756-3905-E647-F3F7-27ABDCAE54BA}"/>
              </a:ext>
            </a:extLst>
          </p:cNvPr>
          <p:cNvSpPr txBox="1"/>
          <p:nvPr/>
        </p:nvSpPr>
        <p:spPr>
          <a:xfrm>
            <a:off x="584200" y="4173052"/>
            <a:ext cx="5397740"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Oracle Database@Azure [ODAA] Migration</a:t>
            </a:r>
          </a:p>
        </p:txBody>
      </p:sp>
      <p:sp>
        <p:nvSpPr>
          <p:cNvPr id="8" name="Title 1">
            <a:extLst>
              <a:ext uri="{FF2B5EF4-FFF2-40B4-BE49-F238E27FC236}">
                <a16:creationId xmlns:a16="http://schemas.microsoft.com/office/drawing/2014/main" id="{790209A0-18D6-4495-1047-E794780BE8B6}"/>
              </a:ext>
            </a:extLst>
          </p:cNvPr>
          <p:cNvSpPr>
            <a:spLocks noGrp="1"/>
          </p:cNvSpPr>
          <p:nvPr>
            <p:ph type="title"/>
          </p:nvPr>
        </p:nvSpPr>
        <p:spPr>
          <a:xfrm>
            <a:off x="585788" y="2362637"/>
            <a:ext cx="9144000" cy="1169551"/>
          </a:xfrm>
        </p:spPr>
        <p:txBody>
          <a:bodyPr/>
          <a:lstStyle/>
          <a:p>
            <a:r>
              <a:rPr lang="en-US" noProof="0" dirty="0"/>
              <a:t>Cloud Accelerate Factory </a:t>
            </a:r>
            <a:br>
              <a:rPr lang="en-US" noProof="0" dirty="0"/>
            </a:br>
            <a:r>
              <a:rPr lang="en-US" sz="3600" noProof="0" dirty="0">
                <a:solidFill>
                  <a:schemeClr val="tx1"/>
                </a:solidFill>
              </a:rPr>
              <a:t>Modernize with Confidence</a:t>
            </a:r>
            <a:endParaRPr lang="en-US" noProof="0" dirty="0">
              <a:solidFill>
                <a:schemeClr val="tx1"/>
              </a:solidFill>
            </a:endParaRPr>
          </a:p>
        </p:txBody>
      </p:sp>
      <p:sp>
        <p:nvSpPr>
          <p:cNvPr id="10" name="TextBox 9">
            <a:extLst>
              <a:ext uri="{FF2B5EF4-FFF2-40B4-BE49-F238E27FC236}">
                <a16:creationId xmlns:a16="http://schemas.microsoft.com/office/drawing/2014/main" id="{D6639363-7AED-D2C5-A349-146C17974729}"/>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4" name="Image 10" descr="Home (outlined)">
            <a:hlinkClick r:id="rId3" action="ppaction://hlinksldjump" tooltip="Home"/>
            <a:extLst>
              <a:ext uri="{FF2B5EF4-FFF2-40B4-BE49-F238E27FC236}">
                <a16:creationId xmlns:a16="http://schemas.microsoft.com/office/drawing/2014/main" id="{D88C0E6D-119C-8AB4-776E-A521A13C780C}"/>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84073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10" grpId="0" animBg="1"/>
      <p:bldP spid="10" grpId="1" animBg="1"/>
      <p:bldP spid="10" grpId="2"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A81B-625A-A926-01D8-9ACB8E4FAE61}"/>
            </a:ext>
          </a:extLst>
        </p:cNvPr>
        <p:cNvGrpSpPr/>
        <p:nvPr/>
      </p:nvGrpSpPr>
      <p:grpSpPr>
        <a:xfrm>
          <a:off x="0" y="0"/>
          <a:ext cx="0" cy="0"/>
          <a:chOff x="0" y="0"/>
          <a:chExt cx="0" cy="0"/>
        </a:xfrm>
      </p:grpSpPr>
      <p:sp>
        <p:nvSpPr>
          <p:cNvPr id="16" name="Rounded Rectangle 55">
            <a:extLst>
              <a:ext uri="{FF2B5EF4-FFF2-40B4-BE49-F238E27FC236}">
                <a16:creationId xmlns:a16="http://schemas.microsoft.com/office/drawing/2014/main" id="{8114E0CB-326D-257B-1AD9-80201EED39CB}"/>
              </a:ext>
              <a:ext uri="{C183D7F6-B498-43B3-948B-1728B52AA6E4}">
                <adec:decorative xmlns:adec="http://schemas.microsoft.com/office/drawing/2017/decorative" val="1"/>
              </a:ext>
            </a:extLst>
          </p:cNvPr>
          <p:cNvSpPr/>
          <p:nvPr/>
        </p:nvSpPr>
        <p:spPr bwMode="auto">
          <a:xfrm>
            <a:off x="9154160" y="1334814"/>
            <a:ext cx="2448877" cy="5381296"/>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Rounded Rectangle 55">
            <a:extLst>
              <a:ext uri="{FF2B5EF4-FFF2-40B4-BE49-F238E27FC236}">
                <a16:creationId xmlns:a16="http://schemas.microsoft.com/office/drawing/2014/main" id="{5585447B-DA19-21A9-EAE9-96FB7E4C08ED}"/>
              </a:ext>
              <a:ext uri="{C183D7F6-B498-43B3-948B-1728B52AA6E4}">
                <adec:decorative xmlns:adec="http://schemas.microsoft.com/office/drawing/2017/decorative" val="1"/>
              </a:ext>
            </a:extLst>
          </p:cNvPr>
          <p:cNvSpPr/>
          <p:nvPr/>
        </p:nvSpPr>
        <p:spPr bwMode="auto">
          <a:xfrm>
            <a:off x="588961" y="1334814"/>
            <a:ext cx="8443279" cy="5381296"/>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8" name="Title 1">
            <a:extLst>
              <a:ext uri="{FF2B5EF4-FFF2-40B4-BE49-F238E27FC236}">
                <a16:creationId xmlns:a16="http://schemas.microsoft.com/office/drawing/2014/main" id="{26BD02E2-0351-10ED-23A9-B9F05999234A}"/>
              </a:ext>
            </a:extLst>
          </p:cNvPr>
          <p:cNvSpPr>
            <a:spLocks noGrp="1"/>
          </p:cNvSpPr>
          <p:nvPr>
            <p:ph type="title"/>
          </p:nvPr>
        </p:nvSpPr>
        <p:spPr>
          <a:xfrm>
            <a:off x="588962" y="457794"/>
            <a:ext cx="6071241" cy="560368"/>
          </a:xfrm>
        </p:spPr>
        <p:txBody>
          <a:bodyPr/>
          <a:lstStyle/>
          <a:p>
            <a:pPr lvl="0" defTabSz="914400">
              <a:spcBef>
                <a:spcPts val="0"/>
              </a:spcBef>
              <a:defRPr/>
            </a:pPr>
            <a:r>
              <a:rPr lang="en-US" sz="2800" noProof="0" dirty="0"/>
              <a:t>Oracle Database@Azure [ODAA]</a:t>
            </a:r>
            <a:br>
              <a:rPr lang="en-US" sz="2800" noProof="0" dirty="0"/>
            </a:br>
            <a:endParaRPr lang="en-US" sz="2800" noProof="0" dirty="0"/>
          </a:p>
        </p:txBody>
      </p:sp>
      <p:sp>
        <p:nvSpPr>
          <p:cNvPr id="19" name="Content Placeholder 4">
            <a:extLst>
              <a:ext uri="{FF2B5EF4-FFF2-40B4-BE49-F238E27FC236}">
                <a16:creationId xmlns:a16="http://schemas.microsoft.com/office/drawing/2014/main" id="{42F8B644-816E-318B-B22D-0EC7442BBF3F}"/>
              </a:ext>
            </a:extLst>
          </p:cNvPr>
          <p:cNvSpPr txBox="1">
            <a:spLocks/>
          </p:cNvSpPr>
          <p:nvPr/>
        </p:nvSpPr>
        <p:spPr>
          <a:xfrm>
            <a:off x="9241631" y="1800590"/>
            <a:ext cx="2448877" cy="4455066"/>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300"/>
              </a:spcAft>
              <a:defRPr/>
            </a:pPr>
            <a:r>
              <a:rPr lang="en-US" sz="1200" noProof="0" dirty="0">
                <a:latin typeface="+mj-lt"/>
                <a:ea typeface="+mj-ea"/>
                <a:cs typeface="+mj-cs"/>
              </a:rPr>
              <a:t>Requirements to leveraging </a:t>
            </a:r>
            <a:br>
              <a:rPr lang="en-US" sz="1200" noProof="0" dirty="0">
                <a:latin typeface="+mj-lt"/>
                <a:ea typeface="+mj-ea"/>
                <a:cs typeface="+mj-cs"/>
              </a:rPr>
            </a:br>
            <a:r>
              <a:rPr lang="en-US" sz="1200" noProof="0" dirty="0">
                <a:latin typeface="+mj-lt"/>
                <a:ea typeface="+mj-ea"/>
                <a:cs typeface="+mj-cs"/>
              </a:rPr>
              <a:t>this service:</a:t>
            </a:r>
          </a:p>
          <a:p>
            <a:pPr marL="203200" indent="-146050">
              <a:lnSpc>
                <a:spcPct val="100000"/>
              </a:lnSpc>
              <a:spcBef>
                <a:spcPts val="0"/>
              </a:spcBef>
              <a:spcAft>
                <a:spcPts val="600"/>
              </a:spcAft>
              <a:buSzPct val="100000"/>
              <a:buFont typeface="Arial" panose="020B0604020202020204" pitchFamily="34" charset="0"/>
              <a:buChar char="•"/>
            </a:pPr>
            <a:r>
              <a:rPr lang="en-US" sz="900" noProof="0" dirty="0"/>
              <a:t>Customer and OCI must have collaborated in advance ensure contract in place and purchase is completed.</a:t>
            </a:r>
          </a:p>
          <a:p>
            <a:pPr marL="203200" indent="-146050">
              <a:lnSpc>
                <a:spcPct val="100000"/>
              </a:lnSpc>
              <a:spcBef>
                <a:spcPts val="0"/>
              </a:spcBef>
              <a:spcAft>
                <a:spcPts val="600"/>
              </a:spcAft>
              <a:buSzPct val="100000"/>
              <a:buFont typeface="Arial" panose="020B0604020202020204" pitchFamily="34" charset="0"/>
              <a:buChar char="•"/>
            </a:pPr>
            <a:r>
              <a:rPr lang="en-US" sz="900" noProof="0" dirty="0"/>
              <a:t>Customer not signed for OCI CES | LIFT or any other services from OCI for Migration. If signed, customer, OCI and CAF alignment with clear RACI &amp; OCI acceptance on CAF for customer is mandatory.</a:t>
            </a:r>
          </a:p>
          <a:p>
            <a:pPr marL="203200" indent="-146050">
              <a:lnSpc>
                <a:spcPct val="100000"/>
              </a:lnSpc>
              <a:spcBef>
                <a:spcPts val="0"/>
              </a:spcBef>
              <a:spcAft>
                <a:spcPts val="600"/>
              </a:spcAft>
              <a:buSzPct val="100000"/>
              <a:buFont typeface="Arial" panose="020B0604020202020204" pitchFamily="34" charset="0"/>
              <a:buChar char="•"/>
            </a:pPr>
            <a:r>
              <a:rPr lang="en-US" sz="900" noProof="0" dirty="0"/>
              <a:t>Non-negotiable approach to ensure non-competing or non-conflicting alignment with OCI or Partner</a:t>
            </a:r>
          </a:p>
          <a:p>
            <a:pPr marL="203200" indent="-146050">
              <a:lnSpc>
                <a:spcPct val="100000"/>
              </a:lnSpc>
              <a:spcBef>
                <a:spcPts val="0"/>
              </a:spcBef>
              <a:spcAft>
                <a:spcPts val="600"/>
              </a:spcAft>
              <a:buSzPct val="100000"/>
              <a:buFont typeface="Arial" panose="020B0604020202020204" pitchFamily="34" charset="0"/>
              <a:buChar char="•"/>
            </a:pPr>
            <a:r>
              <a:rPr lang="en-US" sz="900" noProof="0" dirty="0"/>
              <a:t>Customer‘s buy-in on the Factory Engagement Model is thoroughly discussed and agreed upon (validated by Microsoft Account Team)</a:t>
            </a:r>
          </a:p>
          <a:p>
            <a:pPr marL="203200" indent="-146050">
              <a:lnSpc>
                <a:spcPct val="100000"/>
              </a:lnSpc>
              <a:spcBef>
                <a:spcPts val="0"/>
              </a:spcBef>
              <a:spcAft>
                <a:spcPts val="600"/>
              </a:spcAft>
              <a:buSzPct val="100000"/>
              <a:buFont typeface="Arial" panose="020B0604020202020204" pitchFamily="34" charset="0"/>
              <a:buChar char="•"/>
            </a:pPr>
            <a:r>
              <a:rPr lang="en-US" sz="900" noProof="0" dirty="0"/>
              <a:t>Customer must also fulfill all the respective requirements and prerequisites, which are detailed in the respective Section of either ”Infrastructure and Database Migration (Windows &amp; Linux)” or ”Infrastructure and Database Migration (AVS)”or ”Apps modernization &amp; Database Migration” Factory Service Offerings (*), depending on the case</a:t>
            </a:r>
          </a:p>
        </p:txBody>
      </p:sp>
      <p:sp>
        <p:nvSpPr>
          <p:cNvPr id="21" name="TextBox 20">
            <a:extLst>
              <a:ext uri="{FF2B5EF4-FFF2-40B4-BE49-F238E27FC236}">
                <a16:creationId xmlns:a16="http://schemas.microsoft.com/office/drawing/2014/main" id="{4FE93E47-80EC-265A-0ED5-A3CF23ED14A6}"/>
              </a:ext>
            </a:extLst>
          </p:cNvPr>
          <p:cNvSpPr txBox="1"/>
          <p:nvPr/>
        </p:nvSpPr>
        <p:spPr>
          <a:xfrm>
            <a:off x="674050" y="1491509"/>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2" name="Graphic 22">
            <a:extLst>
              <a:ext uri="{FF2B5EF4-FFF2-40B4-BE49-F238E27FC236}">
                <a16:creationId xmlns:a16="http://schemas.microsoft.com/office/drawing/2014/main" id="{FF0A6CD8-AA3E-F57A-E6ED-1BC202ADA659}"/>
              </a:ext>
            </a:extLst>
          </p:cNvPr>
          <p:cNvSpPr/>
          <p:nvPr/>
        </p:nvSpPr>
        <p:spPr>
          <a:xfrm>
            <a:off x="3834447" y="1540909"/>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3" name="TextBox 22">
            <a:extLst>
              <a:ext uri="{FF2B5EF4-FFF2-40B4-BE49-F238E27FC236}">
                <a16:creationId xmlns:a16="http://schemas.microsoft.com/office/drawing/2014/main" id="{A0DFAD00-7E26-75E5-2739-D322D5ABD7C8}"/>
              </a:ext>
            </a:extLst>
          </p:cNvPr>
          <p:cNvSpPr txBox="1"/>
          <p:nvPr/>
        </p:nvSpPr>
        <p:spPr>
          <a:xfrm>
            <a:off x="9241631" y="1491509"/>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4" name="Graphic 25">
            <a:extLst>
              <a:ext uri="{FF2B5EF4-FFF2-40B4-BE49-F238E27FC236}">
                <a16:creationId xmlns:a16="http://schemas.microsoft.com/office/drawing/2014/main" id="{189633FE-0904-6F6A-5B34-8DA127C0378A}"/>
              </a:ext>
            </a:extLst>
          </p:cNvPr>
          <p:cNvSpPr/>
          <p:nvPr/>
        </p:nvSpPr>
        <p:spPr>
          <a:xfrm>
            <a:off x="9852025" y="1547736"/>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graphicFrame>
        <p:nvGraphicFramePr>
          <p:cNvPr id="29" name="Table 28" title="Exchange Online Technet Guidance">
            <a:extLst>
              <a:ext uri="{FF2B5EF4-FFF2-40B4-BE49-F238E27FC236}">
                <a16:creationId xmlns:a16="http://schemas.microsoft.com/office/drawing/2014/main" id="{24B53894-5440-1B18-9166-59E1536CDF93}"/>
              </a:ext>
            </a:extLst>
          </p:cNvPr>
          <p:cNvGraphicFramePr>
            <a:graphicFrameLocks noGrp="1"/>
          </p:cNvGraphicFramePr>
          <p:nvPr>
            <p:extLst>
              <p:ext uri="{D42A27DB-BD31-4B8C-83A1-F6EECF244321}">
                <p14:modId xmlns:p14="http://schemas.microsoft.com/office/powerpoint/2010/main" val="1195982972"/>
              </p:ext>
            </p:extLst>
          </p:nvPr>
        </p:nvGraphicFramePr>
        <p:xfrm>
          <a:off x="582929" y="1838689"/>
          <a:ext cx="8443279" cy="4300298"/>
        </p:xfrm>
        <a:graphic>
          <a:graphicData uri="http://schemas.openxmlformats.org/drawingml/2006/table">
            <a:tbl>
              <a:tblPr firstRow="1" bandRow="1">
                <a:tableStyleId>{5C22544A-7EE6-4342-B048-85BDC9FD1C3A}</a:tableStyleId>
              </a:tblPr>
              <a:tblGrid>
                <a:gridCol w="276938">
                  <a:extLst>
                    <a:ext uri="{9D8B030D-6E8A-4147-A177-3AD203B41FA5}">
                      <a16:colId xmlns:a16="http://schemas.microsoft.com/office/drawing/2014/main" val="920430407"/>
                    </a:ext>
                  </a:extLst>
                </a:gridCol>
                <a:gridCol w="8166341">
                  <a:extLst>
                    <a:ext uri="{9D8B030D-6E8A-4147-A177-3AD203B41FA5}">
                      <a16:colId xmlns:a16="http://schemas.microsoft.com/office/drawing/2014/main" val="125040094"/>
                    </a:ext>
                  </a:extLst>
                </a:gridCol>
              </a:tblGrid>
              <a:tr h="1041688">
                <a:tc gridSpan="2">
                  <a:txBody>
                    <a:bodyPr/>
                    <a:lstStyle/>
                    <a:p>
                      <a:pPr marL="0" marR="0" lvl="0" indent="0" algn="l" rtl="0" eaLnBrk="1" fontAlgn="auto" latinLnBrk="0" hangingPunct="1">
                        <a:lnSpc>
                          <a:spcPct val="100000"/>
                        </a:lnSpc>
                        <a:spcBef>
                          <a:spcPts val="0"/>
                        </a:spcBef>
                        <a:spcAft>
                          <a:spcPts val="0"/>
                        </a:spcAft>
                        <a:buClrTx/>
                        <a:buSzTx/>
                        <a:buFontTx/>
                        <a:buNone/>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a:t>
                      </a:r>
                      <a:r>
                        <a:rPr lang="en-US" sz="1050" b="0" kern="1200" baseline="0" noProof="0" dirty="0">
                          <a:solidFill>
                            <a:schemeClr val="tx1"/>
                          </a:solidFill>
                          <a:effectLst/>
                          <a:latin typeface="+mj-lt"/>
                          <a:ea typeface="+mn-ea"/>
                          <a:cs typeface="+mn-cs"/>
                        </a:rPr>
                        <a:t> </a:t>
                      </a:r>
                      <a:r>
                        <a:rPr lang="en-US" sz="1050" b="0" i="0" u="none" strike="noStrike" kern="1200" baseline="0" noProof="0" dirty="0">
                          <a:solidFill>
                            <a:schemeClr val="tx1"/>
                          </a:solidFill>
                          <a:effectLst/>
                          <a:latin typeface="+mn-lt"/>
                          <a:ea typeface="+mn-ea"/>
                          <a:cs typeface="+mn-cs"/>
                        </a:rPr>
                        <a:t>Migration of the on premises or any public cloud Oracle database estate to Oracle Database@Azure [ODAA] service which includes Exadata, Exascale, Autonomous &amp; Base DB Database Service on Azure. Migration to ODAA also includes scope of infrastructure migration which hosts applications connected to Oracle database estate including Applications on VMs (Windows/Linux) or AVS (*) or Modernization of application on VMs to containerized applications or rehosting applications with git co-pilot supported refactor if applicable.</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462972">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i="0" u="none" strike="noStrike" kern="1200" noProof="0" dirty="0">
                          <a:solidFill>
                            <a:schemeClr val="tx1"/>
                          </a:solidFill>
                          <a:effectLst/>
                          <a:latin typeface="+mj-lt"/>
                          <a:ea typeface="+mn-ea"/>
                          <a:cs typeface="+mn-cs"/>
                        </a:rPr>
                        <a:t>Determine the in-scope ODAA associated Infrastructure landscape </a:t>
                      </a:r>
                      <a:r>
                        <a:rPr lang="en-US" sz="1000" b="0" i="0" u="none" strike="noStrike" kern="1200" noProof="0" dirty="0">
                          <a:solidFill>
                            <a:schemeClr val="tx1"/>
                          </a:solidFill>
                          <a:effectLst/>
                          <a:latin typeface="+mn-lt"/>
                          <a:ea typeface="+mn-ea"/>
                          <a:cs typeface="+mn-cs"/>
                        </a:rPr>
                        <a:t>with the customer, scope the Oracle estate connected infrastructure to be included as the part of the migration.</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462972">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Determine the in-scope ODAA migration landscape </a:t>
                      </a:r>
                      <a:r>
                        <a:rPr lang="en-US" sz="1000" b="0" i="0" u="none" strike="noStrike" kern="1200" noProof="0" dirty="0">
                          <a:solidFill>
                            <a:schemeClr val="tx1"/>
                          </a:solidFill>
                          <a:effectLst/>
                          <a:latin typeface="+mn-lt"/>
                          <a:ea typeface="+mn-ea"/>
                          <a:cs typeface="+mn-cs"/>
                        </a:rPr>
                        <a:t>with the customer, to finalize the database landscape to be migrated as part of the data migration plan</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0527895"/>
                  </a:ext>
                </a:extLst>
              </a:tr>
              <a:tr h="462972">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Provide the needed ODAA Landing Zone guidance and requirements, </a:t>
                      </a:r>
                      <a:r>
                        <a:rPr lang="en-US" sz="1000" b="0" i="0" u="none" strike="noStrike" kern="1200" noProof="0" dirty="0">
                          <a:solidFill>
                            <a:schemeClr val="tx1"/>
                          </a:solidFill>
                          <a:effectLst/>
                          <a:latin typeface="+mn-lt"/>
                          <a:ea typeface="+mn-ea"/>
                          <a:cs typeface="+mn-cs"/>
                        </a:rPr>
                        <a:t>to proceed with the deployment of the ODAA Architecture, migration methodology &amp; other design areas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293809">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Provision Oracle Database@Azure Services on Azure: </a:t>
                      </a:r>
                      <a:r>
                        <a:rPr lang="en-US" sz="1000" b="0" i="0" u="none" strike="noStrike" kern="1200" noProof="0" dirty="0">
                          <a:solidFill>
                            <a:schemeClr val="tx1"/>
                          </a:solidFill>
                          <a:effectLst/>
                          <a:latin typeface="+mn-lt"/>
                          <a:ea typeface="+mn-ea"/>
                          <a:cs typeface="+mn-cs"/>
                        </a:rPr>
                        <a:t>Prepare/Provision infrastructure on Azure</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996170"/>
                  </a:ext>
                </a:extLst>
              </a:tr>
              <a:tr h="293809">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5</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b="0" i="0" u="none" strike="noStrike" kern="1200" noProof="0" dirty="0">
                          <a:solidFill>
                            <a:schemeClr val="tx1"/>
                          </a:solidFill>
                          <a:effectLst/>
                          <a:latin typeface="+mj-lt"/>
                          <a:ea typeface="+mn-ea"/>
                          <a:cs typeface="+mn-cs"/>
                        </a:rPr>
                        <a:t>Data Migration: </a:t>
                      </a:r>
                      <a:r>
                        <a:rPr lang="en-US" sz="1000" b="0" i="0" u="none" strike="noStrike" kern="1200" noProof="0" dirty="0">
                          <a:solidFill>
                            <a:schemeClr val="tx1"/>
                          </a:solidFill>
                          <a:effectLst/>
                          <a:latin typeface="+mn-lt"/>
                          <a:ea typeface="+mn-ea"/>
                          <a:cs typeface="+mn-cs"/>
                        </a:rPr>
                        <a:t>Migrate data from </a:t>
                      </a:r>
                      <a:r>
                        <a:rPr kumimoji="0" lang="en-US" sz="1000" b="0" i="0" u="none" strike="noStrike" kern="1200" cap="none" spc="0" normalizeH="0" baseline="0" noProof="0" dirty="0">
                          <a:ln>
                            <a:noFill/>
                          </a:ln>
                          <a:solidFill>
                            <a:schemeClr val="tx1"/>
                          </a:solidFill>
                          <a:effectLst/>
                          <a:uLnTx/>
                          <a:uFillTx/>
                          <a:latin typeface="+mn-lt"/>
                          <a:ea typeface="+mn-ea"/>
                          <a:cs typeface="+mn-cs"/>
                        </a:rPr>
                        <a:t>on premise/public cloud Oracle estate to ODAA</a:t>
                      </a:r>
                      <a:endParaRPr lang="en-US" sz="1000" b="0" i="0" u="none" strike="noStrike" kern="1200" noProof="0" dirty="0">
                        <a:solidFill>
                          <a:schemeClr val="tx1"/>
                        </a:solidFill>
                        <a:effectLst/>
                        <a:latin typeface="+mn-lt"/>
                        <a:ea typeface="+mn-ea"/>
                        <a:cs typeface="+mn-cs"/>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61545"/>
                  </a:ext>
                </a:extLst>
              </a:tr>
              <a:tr h="293809">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6</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000" b="0" i="0" u="none" strike="noStrike" kern="1200" noProof="0" dirty="0">
                          <a:solidFill>
                            <a:schemeClr val="tx1"/>
                          </a:solidFill>
                          <a:effectLst/>
                          <a:latin typeface="+mj-lt"/>
                          <a:ea typeface="+mn-ea"/>
                          <a:cs typeface="+mn-cs"/>
                        </a:rPr>
                        <a:t>Application testing: </a:t>
                      </a:r>
                      <a:r>
                        <a:rPr lang="en-US" sz="1000" b="0" i="0" u="none" strike="noStrike" kern="1200" noProof="0" dirty="0">
                          <a:solidFill>
                            <a:schemeClr val="tx1"/>
                          </a:solidFill>
                          <a:effectLst/>
                          <a:latin typeface="+mn-lt"/>
                          <a:ea typeface="+mn-ea"/>
                          <a:cs typeface="+mn-cs"/>
                        </a:rPr>
                        <a:t>Check connectivity of application (migrated/Modernized/net new) with </a:t>
                      </a:r>
                      <a:r>
                        <a:rPr kumimoji="0" lang="en-US" sz="1000" b="0" i="0" u="none" strike="noStrike" kern="1200" cap="none" spc="0" normalizeH="0" baseline="0" noProof="0" dirty="0">
                          <a:ln>
                            <a:noFill/>
                          </a:ln>
                          <a:solidFill>
                            <a:schemeClr val="tx1"/>
                          </a:solidFill>
                          <a:effectLst/>
                          <a:uLnTx/>
                          <a:uFillTx/>
                          <a:latin typeface="+mn-lt"/>
                          <a:ea typeface="+mn-ea"/>
                          <a:cs typeface="+mn-cs"/>
                        </a:rPr>
                        <a:t>ODAA</a:t>
                      </a:r>
                      <a:endParaRPr lang="en-US" sz="1000" b="0" i="0" u="none" strike="noStrike" kern="1200" noProof="0" dirty="0">
                        <a:solidFill>
                          <a:schemeClr val="tx1"/>
                        </a:solidFill>
                        <a:effectLst/>
                        <a:latin typeface="+mn-lt"/>
                        <a:ea typeface="+mn-ea"/>
                        <a:cs typeface="+mn-cs"/>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5508279"/>
                  </a:ext>
                </a:extLst>
              </a:tr>
              <a:tr h="293809">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7</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b="0" i="0" u="none" strike="noStrike" kern="1200" noProof="0" dirty="0">
                          <a:solidFill>
                            <a:schemeClr val="tx1"/>
                          </a:solidFill>
                          <a:effectLst/>
                          <a:latin typeface="+mj-lt"/>
                          <a:ea typeface="+mn-ea"/>
                          <a:cs typeface="+mn-cs"/>
                        </a:rPr>
                        <a:t>Handover </a:t>
                      </a:r>
                      <a:r>
                        <a:rPr lang="en-US" sz="1000" b="0" i="0" u="none" strike="noStrike" kern="1200" noProof="0" dirty="0">
                          <a:solidFill>
                            <a:schemeClr val="tx1"/>
                          </a:solidFill>
                          <a:effectLst/>
                          <a:latin typeface="+mn-lt"/>
                          <a:ea typeface="+mn-ea"/>
                          <a:cs typeface="+mn-cs"/>
                        </a:rPr>
                        <a:t>to Customer/Partner/ISD after cut-over of Database and Applications, for post-Migration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6490456"/>
                  </a:ext>
                </a:extLst>
              </a:tr>
              <a:tr h="427359">
                <a:tc gridSpan="2">
                  <a:txBody>
                    <a:bodyPr/>
                    <a:lstStyle/>
                    <a:p>
                      <a:pPr marL="0" lvl="0" indent="0" algn="l">
                        <a:lnSpc>
                          <a:spcPct val="100000"/>
                        </a:lnSpc>
                        <a:buNone/>
                      </a:pPr>
                      <a:r>
                        <a:rPr kumimoji="0" lang="en-US" sz="900" b="0" i="0" u="none" strike="noStrike" kern="1200" cap="none" spc="0" normalizeH="0" baseline="0" noProof="0" dirty="0">
                          <a:ln>
                            <a:noFill/>
                          </a:ln>
                          <a:solidFill>
                            <a:schemeClr val="tx1"/>
                          </a:solidFill>
                          <a:effectLst/>
                          <a:uLnTx/>
                          <a:uFillTx/>
                          <a:latin typeface="+mn-lt"/>
                        </a:rPr>
                        <a:t>Engagements are led by factory or partners or customers. During the scoping RACI metrics are discussed and aligned with factory and customers or/and partners. Based on this factory will execute the migrations</a:t>
                      </a:r>
                      <a:endParaRPr lang="en-US" sz="900" noProof="0" dirty="0">
                        <a:solidFill>
                          <a:schemeClr val="tx1"/>
                        </a:solidFill>
                        <a:latin typeface="+mn-lt"/>
                      </a:endParaRP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588116728"/>
                  </a:ext>
                </a:extLst>
              </a:tr>
              <a:tr h="267099">
                <a:tc gridSpan="2">
                  <a:txBody>
                    <a:bodyPr/>
                    <a:lstStyle/>
                    <a:p>
                      <a:pPr lvl="0" algn="l">
                        <a:lnSpc>
                          <a:spcPct val="100000"/>
                        </a:lnSpc>
                        <a:spcBef>
                          <a:spcPts val="0"/>
                        </a:spcBef>
                        <a:spcAft>
                          <a:spcPts val="0"/>
                        </a:spcAft>
                        <a:buNone/>
                      </a:pPr>
                      <a:r>
                        <a:rPr lang="en-US" sz="900" b="0" i="0" u="none" strike="noStrike" kern="1200" cap="none" spc="0" normalizeH="0" baseline="0" noProof="0" dirty="0">
                          <a:ln>
                            <a:noFill/>
                          </a:ln>
                          <a:solidFill>
                            <a:schemeClr val="tx1"/>
                          </a:solidFill>
                          <a:effectLst/>
                          <a:uLnTx/>
                          <a:uFillTx/>
                          <a:latin typeface="+mn-lt"/>
                        </a:rPr>
                        <a:t>Estimated duration for completing all activities depends upon migration plan discussed and agreed with customer. Factory recommendation is 6–8 weeks.</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30" name="TextBox 29">
            <a:extLst>
              <a:ext uri="{FF2B5EF4-FFF2-40B4-BE49-F238E27FC236}">
                <a16:creationId xmlns:a16="http://schemas.microsoft.com/office/drawing/2014/main" id="{AD0D5746-8392-95A4-A518-879E0CD97721}"/>
              </a:ext>
            </a:extLst>
          </p:cNvPr>
          <p:cNvSpPr txBox="1"/>
          <p:nvPr/>
        </p:nvSpPr>
        <p:spPr>
          <a:xfrm>
            <a:off x="582929" y="6268644"/>
            <a:ext cx="84432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r>
              <a:rPr lang="en-US" sz="900" noProof="0" dirty="0">
                <a:latin typeface="+mj-lt"/>
                <a:cs typeface="Segoe Sans Text"/>
              </a:rPr>
              <a:t>(*)</a:t>
            </a:r>
            <a:r>
              <a:rPr lang="en-US" sz="900" noProof="0" dirty="0">
                <a:cs typeface="Segoe Sans Text"/>
              </a:rPr>
              <a:t> For more information on the </a:t>
            </a:r>
            <a:r>
              <a:rPr lang="en-US" sz="900" noProof="0" dirty="0">
                <a:latin typeface="+mj-lt"/>
                <a:cs typeface="Segoe Sans Text"/>
              </a:rPr>
              <a:t>”Infrastructure and Database Migration (Windows &amp; Linux)”</a:t>
            </a:r>
            <a:r>
              <a:rPr lang="en-US" sz="900" noProof="0" dirty="0">
                <a:cs typeface="Segoe Sans Text"/>
              </a:rPr>
              <a:t> or </a:t>
            </a:r>
            <a:r>
              <a:rPr lang="en-US" sz="900" noProof="0" dirty="0">
                <a:latin typeface="+mj-lt"/>
                <a:cs typeface="Segoe Sans Text"/>
              </a:rPr>
              <a:t>”Infrastructure and Database Migration (AVS) or Apps Modernization”</a:t>
            </a:r>
            <a:r>
              <a:rPr lang="en-US" sz="900" noProof="0" dirty="0">
                <a:cs typeface="Segoe Sans Text"/>
              </a:rPr>
              <a:t> Factory Service Offerings, please refer to the respective Sections of this presentation</a:t>
            </a:r>
            <a:endParaRPr lang="en-US" sz="900" noProof="0" dirty="0"/>
          </a:p>
        </p:txBody>
      </p:sp>
      <p:sp>
        <p:nvSpPr>
          <p:cNvPr id="2" name="TextBox 1">
            <a:extLst>
              <a:ext uri="{FF2B5EF4-FFF2-40B4-BE49-F238E27FC236}">
                <a16:creationId xmlns:a16="http://schemas.microsoft.com/office/drawing/2014/main" id="{11ABFDEB-2AF3-C7C4-04AF-27CED9FD75B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9750428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98490-7A32-0F9F-C595-52E2E7151586}"/>
            </a:ext>
          </a:extLst>
        </p:cNvPr>
        <p:cNvGrpSpPr/>
        <p:nvPr/>
      </p:nvGrpSpPr>
      <p:grpSpPr>
        <a:xfrm>
          <a:off x="0" y="0"/>
          <a:ext cx="0" cy="0"/>
          <a:chOff x="0" y="0"/>
          <a:chExt cx="0" cy="0"/>
        </a:xfrm>
      </p:grpSpPr>
      <p:sp>
        <p:nvSpPr>
          <p:cNvPr id="9" name="Rounded Rectangle 55">
            <a:extLst>
              <a:ext uri="{FF2B5EF4-FFF2-40B4-BE49-F238E27FC236}">
                <a16:creationId xmlns:a16="http://schemas.microsoft.com/office/drawing/2014/main" id="{FB5796E7-0AD6-E2BA-FE6A-B2B9D1A24525}"/>
              </a:ext>
              <a:ext uri="{C183D7F6-B498-43B3-948B-1728B52AA6E4}">
                <adec:decorative xmlns:adec="http://schemas.microsoft.com/office/drawing/2017/decorative" val="1"/>
              </a:ext>
            </a:extLst>
          </p:cNvPr>
          <p:cNvSpPr/>
          <p:nvPr/>
        </p:nvSpPr>
        <p:spPr bwMode="auto">
          <a:xfrm>
            <a:off x="588961" y="1303283"/>
            <a:ext cx="11014076" cy="4626263"/>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 name="TextBox 9">
            <a:extLst>
              <a:ext uri="{FF2B5EF4-FFF2-40B4-BE49-F238E27FC236}">
                <a16:creationId xmlns:a16="http://schemas.microsoft.com/office/drawing/2014/main" id="{8441B019-02DD-376F-331C-721A39F42DEB}"/>
              </a:ext>
            </a:extLst>
          </p:cNvPr>
          <p:cNvSpPr txBox="1"/>
          <p:nvPr/>
        </p:nvSpPr>
        <p:spPr>
          <a:xfrm>
            <a:off x="674050" y="1438955"/>
            <a:ext cx="10831834"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 </a:t>
            </a:r>
          </a:p>
        </p:txBody>
      </p:sp>
      <p:graphicFrame>
        <p:nvGraphicFramePr>
          <p:cNvPr id="12" name="Table 11" title="Exchange Online Technet Guidance">
            <a:extLst>
              <a:ext uri="{FF2B5EF4-FFF2-40B4-BE49-F238E27FC236}">
                <a16:creationId xmlns:a16="http://schemas.microsoft.com/office/drawing/2014/main" id="{1B6F8211-3C36-53A6-CE8A-CE46D7D964C2}"/>
              </a:ext>
            </a:extLst>
          </p:cNvPr>
          <p:cNvGraphicFramePr>
            <a:graphicFrameLocks noGrp="1"/>
          </p:cNvGraphicFramePr>
          <p:nvPr>
            <p:extLst>
              <p:ext uri="{D42A27DB-BD31-4B8C-83A1-F6EECF244321}">
                <p14:modId xmlns:p14="http://schemas.microsoft.com/office/powerpoint/2010/main" val="1006600503"/>
              </p:ext>
            </p:extLst>
          </p:nvPr>
        </p:nvGraphicFramePr>
        <p:xfrm>
          <a:off x="686412" y="1894564"/>
          <a:ext cx="10927136" cy="3882328"/>
        </p:xfrm>
        <a:graphic>
          <a:graphicData uri="http://schemas.openxmlformats.org/drawingml/2006/table">
            <a:tbl>
              <a:tblPr firstRow="1" bandRow="1">
                <a:tableStyleId>{5C22544A-7EE6-4342-B048-85BDC9FD1C3A}</a:tableStyleId>
              </a:tblPr>
              <a:tblGrid>
                <a:gridCol w="274320">
                  <a:extLst>
                    <a:ext uri="{9D8B030D-6E8A-4147-A177-3AD203B41FA5}">
                      <a16:colId xmlns:a16="http://schemas.microsoft.com/office/drawing/2014/main" val="920430407"/>
                    </a:ext>
                  </a:extLst>
                </a:gridCol>
                <a:gridCol w="10652816">
                  <a:extLst>
                    <a:ext uri="{9D8B030D-6E8A-4147-A177-3AD203B41FA5}">
                      <a16:colId xmlns:a16="http://schemas.microsoft.com/office/drawing/2014/main" val="125040094"/>
                    </a:ext>
                  </a:extLst>
                </a:gridCol>
              </a:tblGrid>
              <a:tr h="306070">
                <a:tc gridSpan="2">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0" kern="1200" baseline="0" noProof="0" dirty="0">
                          <a:solidFill>
                            <a:schemeClr val="tx1"/>
                          </a:solidFill>
                          <a:latin typeface="+mj-lt"/>
                          <a:ea typeface="+mn-ea"/>
                          <a:cs typeface="+mn-cs"/>
                        </a:rPr>
                        <a:t>Microsoft Cloud Accelerate Factory (Factory) </a:t>
                      </a:r>
                      <a:r>
                        <a:rPr lang="en-US" sz="1050" b="0" kern="1200" baseline="0" noProof="0" dirty="0">
                          <a:solidFill>
                            <a:schemeClr val="tx1"/>
                          </a:solidFill>
                          <a:latin typeface="+mn-lt"/>
                          <a:ea typeface="+mn-ea"/>
                          <a:cs typeface="+mn-cs"/>
                        </a:rPr>
                        <a:t>Migration of the on-premise/public cloud Oracle data estate to </a:t>
                      </a:r>
                      <a:r>
                        <a:rPr lang="en-US" sz="1050" b="0" kern="1200" baseline="0" noProof="0" dirty="0">
                          <a:solidFill>
                            <a:schemeClr val="tx1"/>
                          </a:solidFill>
                          <a:latin typeface="+mj-lt"/>
                          <a:ea typeface="+mn-ea"/>
                          <a:cs typeface="+mn-cs"/>
                        </a:rPr>
                        <a:t>ODAA</a:t>
                      </a:r>
                      <a:r>
                        <a:rPr lang="en-US" sz="1050" b="0" kern="1200" baseline="0" noProof="0" dirty="0">
                          <a:solidFill>
                            <a:schemeClr val="tx1"/>
                          </a:solidFill>
                          <a:latin typeface="+mn-lt"/>
                          <a:ea typeface="+mn-ea"/>
                          <a:cs typeface="+mn-cs"/>
                        </a:rPr>
                        <a:t> requires following prerequisite to be checked and validated before it‘s nominations to Cloud Accelerate Factory</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766007">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kern="1200" noProof="0" dirty="0">
                          <a:solidFill>
                            <a:schemeClr val="tx1"/>
                          </a:solidFill>
                          <a:latin typeface="+mj-lt"/>
                          <a:ea typeface="+mn-ea"/>
                          <a:cs typeface="+mn-cs"/>
                        </a:rPr>
                        <a:t>Customer migration readiness: </a:t>
                      </a:r>
                      <a:r>
                        <a:rPr lang="en-US" sz="1000" b="0" kern="1200" noProof="0" dirty="0">
                          <a:solidFill>
                            <a:schemeClr val="tx1"/>
                          </a:solidFill>
                          <a:latin typeface="+mn-lt"/>
                          <a:ea typeface="+mn-ea"/>
                          <a:cs typeface="+mn-cs"/>
                        </a:rPr>
                        <a:t>A critical assessment to understand the migration readiness of the customer. Following are some important aspects to be checked with customer:</a:t>
                      </a:r>
                    </a:p>
                    <a:p>
                      <a:pPr marL="171450" marR="0" lvl="0" indent="-114300" algn="l" defTabSz="914367"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000" b="0" noProof="0" dirty="0">
                          <a:solidFill>
                            <a:schemeClr val="tx1"/>
                          </a:solidFill>
                          <a:latin typeface="+mn-lt"/>
                        </a:rPr>
                        <a:t>POC Status: Planned | Progress | Completed</a:t>
                      </a:r>
                    </a:p>
                    <a:p>
                      <a:pPr marL="171450" marR="0" lvl="0" indent="-114300" algn="l" defTabSz="914367"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000" b="0" noProof="0" dirty="0">
                          <a:solidFill>
                            <a:schemeClr val="tx1"/>
                          </a:solidFill>
                          <a:latin typeface="+mn-lt"/>
                        </a:rPr>
                        <a:t>Pre-prod migration commitment and timelines.</a:t>
                      </a:r>
                    </a:p>
                    <a:p>
                      <a:pPr marL="171450" marR="0" lvl="0" indent="-114300" algn="l" defTabSz="914367"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000" b="0" noProof="0" dirty="0">
                          <a:solidFill>
                            <a:schemeClr val="tx1"/>
                          </a:solidFill>
                          <a:latin typeface="+mn-lt"/>
                        </a:rPr>
                        <a:t>Production migration commitment and timelines.</a:t>
                      </a:r>
                    </a:p>
                    <a:p>
                      <a:pPr marL="171450" marR="0" lvl="0" indent="-114300" algn="l" defTabSz="914367"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000" b="0" noProof="0" dirty="0">
                          <a:solidFill>
                            <a:schemeClr val="tx1"/>
                          </a:solidFill>
                          <a:latin typeface="+mn-lt"/>
                        </a:rPr>
                        <a:t>Customer DC exit or on-premise Oracle database HW sunset plan and commitment</a:t>
                      </a:r>
                    </a:p>
                    <a:p>
                      <a:pPr marL="171450" marR="0" lvl="0" indent="-114300" algn="l" defTabSz="914367"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000" b="0" noProof="0" dirty="0">
                          <a:solidFill>
                            <a:schemeClr val="tx1"/>
                          </a:solidFill>
                          <a:latin typeface="+mn-lt"/>
                        </a:rPr>
                        <a:t>Customer OCI contract for migration support needs to be understood ensure no conflict of interest between CAF and OCI services (CES | LIFT)</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550832">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300"/>
                        </a:spcAft>
                        <a:buClrTx/>
                        <a:buSzTx/>
                        <a:buFontTx/>
                        <a:buNone/>
                      </a:pPr>
                      <a:r>
                        <a:rPr lang="en-US" sz="1000" b="0" i="0" u="none" strike="noStrike" kern="1200" noProof="0" dirty="0">
                          <a:solidFill>
                            <a:schemeClr val="tx1"/>
                          </a:solidFill>
                          <a:effectLst/>
                          <a:latin typeface="+mj-lt"/>
                          <a:ea typeface="+mn-ea"/>
                          <a:cs typeface="+mn-cs"/>
                        </a:rPr>
                        <a:t>Sizing and Assessment completion</a:t>
                      </a:r>
                      <a:r>
                        <a:rPr lang="en-US" sz="1000" b="0" i="0" u="none" strike="noStrike" kern="1200" noProof="0" dirty="0">
                          <a:solidFill>
                            <a:schemeClr val="tx1"/>
                          </a:solidFill>
                          <a:effectLst/>
                          <a:latin typeface="+mn-lt"/>
                          <a:ea typeface="+mn-ea"/>
                          <a:cs typeface="+mn-cs"/>
                        </a:rPr>
                        <a:t>: </a:t>
                      </a:r>
                      <a:r>
                        <a:rPr lang="en-US" sz="1000" noProof="0" dirty="0">
                          <a:solidFill>
                            <a:schemeClr val="tx1"/>
                          </a:solidFill>
                          <a:latin typeface="+mn-lt"/>
                        </a:rPr>
                        <a:t>Customer and OCI work together to discover sizing of the on-premise/public cloud Oracle databases and required sizing for ODAA Service on Azure.</a:t>
                      </a:r>
                    </a:p>
                    <a:p>
                      <a:pPr marL="171450" marR="0" lvl="0" indent="-114300" algn="l" defTabSz="914367"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000" b="0" kern="1200" noProof="0" dirty="0">
                          <a:solidFill>
                            <a:schemeClr val="tx1"/>
                          </a:solidFill>
                          <a:latin typeface="+mn-lt"/>
                          <a:ea typeface="+mn-ea"/>
                          <a:cs typeface="+mn-cs"/>
                        </a:rPr>
                        <a:t>Having sizing discussion with OCI and Customer agreeing for the sizing is the key for migration</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354947">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200"/>
                        </a:spcAft>
                        <a:buFontTx/>
                        <a:buNone/>
                      </a:pPr>
                      <a:r>
                        <a:rPr lang="en-US" sz="1000" b="0" i="0" u="none" strike="noStrike" kern="1200" noProof="0" dirty="0">
                          <a:solidFill>
                            <a:schemeClr val="tx1"/>
                          </a:solidFill>
                          <a:effectLst/>
                          <a:latin typeface="+mj-lt"/>
                          <a:ea typeface="+mn-ea"/>
                          <a:cs typeface="+mn-cs"/>
                        </a:rPr>
                        <a:t>Private Offer or PAYG readiness &amp; Acceptance: </a:t>
                      </a:r>
                      <a:r>
                        <a:rPr lang="en-US" sz="1000" b="0" i="0" u="none" strike="noStrike" kern="1200" noProof="0" dirty="0">
                          <a:solidFill>
                            <a:schemeClr val="tx1"/>
                          </a:solidFill>
                          <a:effectLst/>
                          <a:latin typeface="+mn-lt"/>
                          <a:ea typeface="+mn-ea"/>
                          <a:cs typeface="+mn-cs"/>
                        </a:rPr>
                        <a:t>Customer acceptance of private offer/PAYG is key prerequisite to nominate customer for factory.</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271121">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rtl="0" eaLnBrk="1" fontAlgn="auto" latinLnBrk="0" hangingPunct="1">
                        <a:lnSpc>
                          <a:spcPct val="100000"/>
                        </a:lnSpc>
                        <a:spcBef>
                          <a:spcPts val="0"/>
                        </a:spcBef>
                        <a:spcAft>
                          <a:spcPts val="300"/>
                        </a:spcAft>
                        <a:buFontTx/>
                        <a:buNone/>
                      </a:pPr>
                      <a:r>
                        <a:rPr lang="en-US" sz="1000" b="0" kern="1200" noProof="0" dirty="0">
                          <a:solidFill>
                            <a:schemeClr val="tx1"/>
                          </a:solidFill>
                          <a:latin typeface="+mj-lt"/>
                          <a:ea typeface="+mn-ea"/>
                          <a:cs typeface="+mn-cs"/>
                        </a:rPr>
                        <a:t>Customer Readiness to use:</a:t>
                      </a:r>
                    </a:p>
                    <a:p>
                      <a:pPr marL="171450" marR="0" lvl="0" indent="-114300" algn="l" defTabSz="914367"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lang="en-US" sz="1000" b="0" kern="1200" noProof="0" dirty="0">
                          <a:solidFill>
                            <a:schemeClr val="tx1"/>
                          </a:solidFill>
                          <a:latin typeface="+mn-lt"/>
                          <a:ea typeface="+mn-ea"/>
                          <a:cs typeface="+mn-cs"/>
                        </a:rPr>
                        <a:t>Azure subscription identified to provision ODAA service [Deal sign-off]</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335795">
                <a:tc>
                  <a:txBody>
                    <a:bodyPr/>
                    <a:lstStyle/>
                    <a:p>
                      <a:pPr algn="ctr"/>
                      <a:r>
                        <a:rPr lang="en-US" sz="1050" b="0" noProof="0" dirty="0">
                          <a:solidFill>
                            <a:schemeClr val="tx2"/>
                          </a:solidFill>
                          <a:latin typeface="+mj-lt"/>
                        </a:rPr>
                        <a:t>5</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FontTx/>
                        <a:buNone/>
                      </a:pPr>
                      <a:r>
                        <a:rPr lang="en-US" sz="1000" b="0" i="0" u="none" strike="noStrike" kern="1200" noProof="0" dirty="0">
                          <a:solidFill>
                            <a:schemeClr val="tx1"/>
                          </a:solidFill>
                          <a:effectLst/>
                          <a:latin typeface="+mj-lt"/>
                          <a:ea typeface="+mn-ea"/>
                          <a:cs typeface="+mn-cs"/>
                        </a:rPr>
                        <a:t>Project kickoff meeting with customer, </a:t>
                      </a:r>
                      <a:r>
                        <a:rPr lang="en-US" sz="1000" b="0" i="0" u="none" strike="noStrike" kern="1200" noProof="0" dirty="0">
                          <a:solidFill>
                            <a:schemeClr val="tx1"/>
                          </a:solidFill>
                          <a:effectLst/>
                          <a:latin typeface="+mn-lt"/>
                          <a:ea typeface="+mn-ea"/>
                          <a:cs typeface="+mn-cs"/>
                        </a:rPr>
                        <a:t>to proceed with nomination to Factory, OCI, MS sales team, MS Account team must have a project kick-off meeting secure customer commitment on migration as well RACI between OCI or partner if engaged for migration.</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996170"/>
                  </a:ext>
                </a:extLst>
              </a:tr>
              <a:tr h="55084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latin typeface="+mn-lt"/>
                        </a:rPr>
                        <a:t>The prerequisite defined above are critical for the factory team to seamlessly migrate. Customer migration commitment and purchase of Exadata Database Service on Azure through private offer are most critical prerequisite to be validated and secure.</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588116728"/>
                  </a:ext>
                </a:extLst>
              </a:tr>
            </a:tbl>
          </a:graphicData>
        </a:graphic>
      </p:graphicFrame>
      <p:sp>
        <p:nvSpPr>
          <p:cNvPr id="6" name="Title 1">
            <a:extLst>
              <a:ext uri="{FF2B5EF4-FFF2-40B4-BE49-F238E27FC236}">
                <a16:creationId xmlns:a16="http://schemas.microsoft.com/office/drawing/2014/main" id="{E945A7FB-2597-2B99-C86D-F9BD107C87A3}"/>
              </a:ext>
            </a:extLst>
          </p:cNvPr>
          <p:cNvSpPr txBox="1">
            <a:spLocks/>
          </p:cNvSpPr>
          <p:nvPr/>
        </p:nvSpPr>
        <p:spPr>
          <a:xfrm>
            <a:off x="588962" y="457794"/>
            <a:ext cx="6071241" cy="861774"/>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defTabSz="914400">
              <a:spcBef>
                <a:spcPts val="0"/>
              </a:spcBef>
              <a:defRPr/>
            </a:pPr>
            <a:r>
              <a:rPr lang="en-US" sz="2800" noProof="0" dirty="0"/>
              <a:t>Oracle Database@Azure [ODAA]</a:t>
            </a:r>
            <a:br>
              <a:rPr lang="en-US" sz="2800" noProof="0" dirty="0"/>
            </a:br>
            <a:endParaRPr lang="en-US" sz="2800" noProof="0" dirty="0"/>
          </a:p>
        </p:txBody>
      </p:sp>
      <p:sp>
        <p:nvSpPr>
          <p:cNvPr id="7" name="TextBox 6">
            <a:extLst>
              <a:ext uri="{FF2B5EF4-FFF2-40B4-BE49-F238E27FC236}">
                <a16:creationId xmlns:a16="http://schemas.microsoft.com/office/drawing/2014/main" id="{DB70AB3F-414E-A78C-E87E-F4668A4AD6C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3906870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55">
            <a:extLst>
              <a:ext uri="{FF2B5EF4-FFF2-40B4-BE49-F238E27FC236}">
                <a16:creationId xmlns:a16="http://schemas.microsoft.com/office/drawing/2014/main" id="{2AB9F84E-2A30-B63C-2CFF-1210C7BA4AB1}"/>
              </a:ext>
              <a:ext uri="{C183D7F6-B498-43B3-948B-1728B52AA6E4}">
                <adec:decorative xmlns:adec="http://schemas.microsoft.com/office/drawing/2017/decorative" val="1"/>
              </a:ext>
            </a:extLst>
          </p:cNvPr>
          <p:cNvSpPr>
            <a:spLocks/>
          </p:cNvSpPr>
          <p:nvPr/>
        </p:nvSpPr>
        <p:spPr bwMode="auto">
          <a:xfrm>
            <a:off x="588963" y="831197"/>
            <a:ext cx="5453761" cy="4991753"/>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8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07" name="TextBox 106">
            <a:extLst>
              <a:ext uri="{FF2B5EF4-FFF2-40B4-BE49-F238E27FC236}">
                <a16:creationId xmlns:a16="http://schemas.microsoft.com/office/drawing/2014/main" id="{F9F0059F-E173-8DE4-0EC7-9C645234470F}"/>
              </a:ext>
            </a:extLst>
          </p:cNvPr>
          <p:cNvSpPr txBox="1"/>
          <p:nvPr/>
        </p:nvSpPr>
        <p:spPr>
          <a:xfrm>
            <a:off x="1031786" y="1318229"/>
            <a:ext cx="4919472" cy="1154162"/>
          </a:xfrm>
          <a:prstGeom prst="rect">
            <a:avLst/>
          </a:prstGeom>
          <a:noFill/>
        </p:spPr>
        <p:txBody>
          <a:bodyPr wrap="square" lIns="0" tIns="0" rIns="0" bIns="0" anchor="t">
            <a:spAutoFit/>
          </a:bodyPr>
          <a:lstStyle/>
          <a:p>
            <a:pPr lvl="0">
              <a:spcAft>
                <a:spcPts val="200"/>
              </a:spcAft>
              <a:defRPr/>
            </a:pPr>
            <a:r>
              <a:rPr lang="en-US" sz="900" kern="0" noProof="0" dirty="0">
                <a:solidFill>
                  <a:srgbClr val="000000"/>
                </a:solidFill>
                <a:latin typeface="+mj-lt"/>
                <a:cs typeface="Segoe Sans Text Semibold"/>
              </a:rPr>
              <a:t>Oracle Exadata , Exascale, Autonomous, Base DB on Azure</a:t>
            </a:r>
          </a:p>
          <a:p>
            <a:pPr marL="195263" lvl="1" indent="-123825">
              <a:spcAft>
                <a:spcPts val="200"/>
              </a:spcAft>
              <a:buFont typeface="Arial" panose="020B0604020202020204" pitchFamily="34" charset="0"/>
              <a:buChar char="•"/>
              <a:defRPr/>
            </a:pPr>
            <a:r>
              <a:rPr lang="en-US" sz="800" kern="0" noProof="0" dirty="0">
                <a:solidFill>
                  <a:srgbClr val="000000"/>
                </a:solidFill>
                <a:cs typeface="Segoe Sans Text"/>
              </a:rPr>
              <a:t>Onboarding &amp; Provisioning of ODAA Infrastructure on Azure</a:t>
            </a:r>
          </a:p>
          <a:p>
            <a:pPr marL="195263" lvl="1" indent="-123825">
              <a:spcAft>
                <a:spcPts val="200"/>
              </a:spcAft>
              <a:buFont typeface="Arial" panose="020B0604020202020204" pitchFamily="34" charset="0"/>
              <a:buChar char="•"/>
              <a:defRPr/>
            </a:pPr>
            <a:r>
              <a:rPr lang="en-US" sz="800" kern="0" noProof="0" dirty="0">
                <a:solidFill>
                  <a:srgbClr val="000000"/>
                </a:solidFill>
                <a:cs typeface="Segoe Sans Text"/>
              </a:rPr>
              <a:t>Configuring DNS &amp; Azure Key Vault services</a:t>
            </a:r>
          </a:p>
          <a:p>
            <a:pPr marL="195263" lvl="1" indent="-123825">
              <a:spcAft>
                <a:spcPts val="200"/>
              </a:spcAft>
              <a:buFont typeface="Arial" panose="020B0604020202020204" pitchFamily="34" charset="0"/>
              <a:buChar char="•"/>
              <a:defRPr/>
            </a:pPr>
            <a:r>
              <a:rPr lang="en-US" sz="800" kern="0" noProof="0" dirty="0">
                <a:solidFill>
                  <a:srgbClr val="000000"/>
                </a:solidFill>
                <a:cs typeface="Segoe Sans Text"/>
              </a:rPr>
              <a:t>Configure long term back up on Azure Storage account [Blob, ANF or Files]</a:t>
            </a:r>
          </a:p>
          <a:p>
            <a:pPr marL="195263" lvl="1" indent="-123825">
              <a:spcAft>
                <a:spcPts val="200"/>
              </a:spcAft>
              <a:buFont typeface="Arial" panose="020B0604020202020204" pitchFamily="34" charset="0"/>
              <a:buChar char="•"/>
              <a:defRPr/>
            </a:pPr>
            <a:r>
              <a:rPr lang="en-US" sz="800" kern="0" noProof="0" dirty="0">
                <a:solidFill>
                  <a:srgbClr val="000000"/>
                </a:solidFill>
                <a:cs typeface="Segoe Sans Text"/>
              </a:rPr>
              <a:t>Configure Autonomous Recovery Service – ARS on Azure for DR (Disaster recovery)</a:t>
            </a:r>
          </a:p>
          <a:p>
            <a:pPr marL="195263" lvl="1" indent="-123825">
              <a:spcAft>
                <a:spcPts val="200"/>
              </a:spcAft>
              <a:buFont typeface="Arial" panose="020B0604020202020204" pitchFamily="34" charset="0"/>
              <a:buChar char="•"/>
              <a:defRPr/>
            </a:pPr>
            <a:r>
              <a:rPr lang="en-US" sz="800" kern="0" noProof="0" dirty="0">
                <a:solidFill>
                  <a:srgbClr val="000000"/>
                </a:solidFill>
                <a:cs typeface="Segoe Sans Text"/>
              </a:rPr>
              <a:t>Configuring HA/DR as per Landing zone guidance for ODAA</a:t>
            </a:r>
          </a:p>
          <a:p>
            <a:pPr marL="195263" lvl="1" indent="-123825">
              <a:spcAft>
                <a:spcPts val="200"/>
              </a:spcAft>
              <a:buFont typeface="Arial" panose="020B0604020202020204" pitchFamily="34" charset="0"/>
              <a:buChar char="•"/>
              <a:defRPr/>
            </a:pPr>
            <a:r>
              <a:rPr lang="en-US" sz="800" kern="0" noProof="0" dirty="0">
                <a:solidFill>
                  <a:srgbClr val="000000"/>
                </a:solidFill>
                <a:cs typeface="Segoe Sans Text"/>
              </a:rPr>
              <a:t>Setting up </a:t>
            </a:r>
            <a:r>
              <a:rPr kumimoji="0" lang="en-US" sz="800" b="0" i="0" u="none" strike="noStrike" kern="0" cap="none" normalizeH="0" baseline="0" noProof="0" dirty="0">
                <a:ln>
                  <a:noFill/>
                </a:ln>
                <a:solidFill>
                  <a:srgbClr val="000000"/>
                </a:solidFill>
                <a:effectLst/>
                <a:uLnTx/>
                <a:uFillTx/>
                <a:latin typeface="Segoe Sans Text"/>
                <a:cs typeface="Segoe Sans Text"/>
              </a:rPr>
              <a:t>of </a:t>
            </a:r>
            <a:r>
              <a:rPr lang="en-US" sz="800" kern="0" noProof="0" dirty="0">
                <a:solidFill>
                  <a:srgbClr val="000000"/>
                </a:solidFill>
                <a:cs typeface="Segoe Sans Text"/>
              </a:rPr>
              <a:t>data migration, based on the following tools/methodologies (choice of customer) for Oracle Exadata Database @Azure:</a:t>
            </a:r>
          </a:p>
        </p:txBody>
      </p:sp>
      <p:sp>
        <p:nvSpPr>
          <p:cNvPr id="20" name="Rounded Rectangle 55">
            <a:extLst>
              <a:ext uri="{FF2B5EF4-FFF2-40B4-BE49-F238E27FC236}">
                <a16:creationId xmlns:a16="http://schemas.microsoft.com/office/drawing/2014/main" id="{5672623A-F826-FB2C-EB77-276C561677E2}"/>
              </a:ext>
              <a:ext uri="{C183D7F6-B498-43B3-948B-1728B52AA6E4}">
                <adec:decorative xmlns:adec="http://schemas.microsoft.com/office/drawing/2017/decorative" val="1"/>
              </a:ext>
            </a:extLst>
          </p:cNvPr>
          <p:cNvSpPr>
            <a:spLocks/>
          </p:cNvSpPr>
          <p:nvPr/>
        </p:nvSpPr>
        <p:spPr bwMode="auto">
          <a:xfrm>
            <a:off x="6152452" y="831197"/>
            <a:ext cx="5453761" cy="4991753"/>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8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7" name="Oval 6">
            <a:extLst>
              <a:ext uri="{FF2B5EF4-FFF2-40B4-BE49-F238E27FC236}">
                <a16:creationId xmlns:a16="http://schemas.microsoft.com/office/drawing/2014/main" id="{4A31A7D0-D08D-E2D1-5EF4-B2F1F4DA204C}"/>
              </a:ext>
            </a:extLst>
          </p:cNvPr>
          <p:cNvSpPr/>
          <p:nvPr/>
        </p:nvSpPr>
        <p:spPr bwMode="auto">
          <a:xfrm>
            <a:off x="6320111" y="14173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 name="Oval 7">
            <a:extLst>
              <a:ext uri="{FF2B5EF4-FFF2-40B4-BE49-F238E27FC236}">
                <a16:creationId xmlns:a16="http://schemas.microsoft.com/office/drawing/2014/main" id="{1CEA8029-B9AA-0BB6-A27D-D5D1B844A4F5}"/>
              </a:ext>
            </a:extLst>
          </p:cNvPr>
          <p:cNvSpPr/>
          <p:nvPr/>
        </p:nvSpPr>
        <p:spPr bwMode="auto">
          <a:xfrm>
            <a:off x="6320111" y="187389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Oval 8">
            <a:extLst>
              <a:ext uri="{FF2B5EF4-FFF2-40B4-BE49-F238E27FC236}">
                <a16:creationId xmlns:a16="http://schemas.microsoft.com/office/drawing/2014/main" id="{64C3D99E-8512-BF54-4B47-F2A290CE4C21}"/>
              </a:ext>
            </a:extLst>
          </p:cNvPr>
          <p:cNvSpPr/>
          <p:nvPr/>
        </p:nvSpPr>
        <p:spPr bwMode="auto">
          <a:xfrm>
            <a:off x="6320111" y="410626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EB518F2E-4A82-55E6-A538-CBE9BE204E0E}"/>
              </a:ext>
            </a:extLst>
          </p:cNvPr>
          <p:cNvSpPr/>
          <p:nvPr/>
        </p:nvSpPr>
        <p:spPr bwMode="auto">
          <a:xfrm>
            <a:off x="6320111" y="46462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4EFF82A6-56A3-464A-871E-AB90ED52B95D}"/>
              </a:ext>
            </a:extLst>
          </p:cNvPr>
          <p:cNvSpPr/>
          <p:nvPr/>
        </p:nvSpPr>
        <p:spPr bwMode="auto">
          <a:xfrm>
            <a:off x="775653" y="13216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5DE039D4-A947-B36C-4F9B-07918A767869}"/>
              </a:ext>
            </a:extLst>
          </p:cNvPr>
          <p:cNvSpPr/>
          <p:nvPr/>
        </p:nvSpPr>
        <p:spPr bwMode="auto">
          <a:xfrm>
            <a:off x="6320111" y="539457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FAEEEA5D-76BD-3F05-408C-2AE291A32152}"/>
              </a:ext>
            </a:extLst>
          </p:cNvPr>
          <p:cNvSpPr/>
          <p:nvPr/>
        </p:nvSpPr>
        <p:spPr bwMode="auto">
          <a:xfrm>
            <a:off x="775653" y="302851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0E0C95A0-519D-0C05-5311-5011137DDAE6}"/>
              </a:ext>
            </a:extLst>
          </p:cNvPr>
          <p:cNvSpPr/>
          <p:nvPr/>
        </p:nvSpPr>
        <p:spPr bwMode="auto">
          <a:xfrm>
            <a:off x="775653" y="548047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Oval 18">
            <a:extLst>
              <a:ext uri="{FF2B5EF4-FFF2-40B4-BE49-F238E27FC236}">
                <a16:creationId xmlns:a16="http://schemas.microsoft.com/office/drawing/2014/main" id="{2683CF2D-7805-4C2D-FB3B-AA78A66EF759}"/>
              </a:ext>
            </a:extLst>
          </p:cNvPr>
          <p:cNvSpPr/>
          <p:nvPr/>
        </p:nvSpPr>
        <p:spPr bwMode="auto">
          <a:xfrm>
            <a:off x="6320111" y="356498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654C58D0-00E5-A82E-36D3-46F0CD68079E}"/>
              </a:ext>
            </a:extLst>
          </p:cNvPr>
          <p:cNvSpPr/>
          <p:nvPr/>
        </p:nvSpPr>
        <p:spPr bwMode="auto">
          <a:xfrm>
            <a:off x="6320111" y="295512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 name="Oval 21">
            <a:extLst>
              <a:ext uri="{FF2B5EF4-FFF2-40B4-BE49-F238E27FC236}">
                <a16:creationId xmlns:a16="http://schemas.microsoft.com/office/drawing/2014/main" id="{7437668C-A9EC-7935-568C-93F316B48B3D}"/>
              </a:ext>
            </a:extLst>
          </p:cNvPr>
          <p:cNvSpPr/>
          <p:nvPr/>
        </p:nvSpPr>
        <p:spPr bwMode="auto">
          <a:xfrm>
            <a:off x="6320111" y="24844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4" name="Oval 23">
            <a:extLst>
              <a:ext uri="{FF2B5EF4-FFF2-40B4-BE49-F238E27FC236}">
                <a16:creationId xmlns:a16="http://schemas.microsoft.com/office/drawing/2014/main" id="{5D2F01A3-B71C-1B1C-FBE7-D94CAF03FF88}"/>
              </a:ext>
            </a:extLst>
          </p:cNvPr>
          <p:cNvSpPr/>
          <p:nvPr/>
        </p:nvSpPr>
        <p:spPr bwMode="auto">
          <a:xfrm>
            <a:off x="9206531" y="14173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5" name="Oval 24">
            <a:extLst>
              <a:ext uri="{FF2B5EF4-FFF2-40B4-BE49-F238E27FC236}">
                <a16:creationId xmlns:a16="http://schemas.microsoft.com/office/drawing/2014/main" id="{8B96E12D-4DBE-D7FE-D5A6-09C4984068E5}"/>
              </a:ext>
            </a:extLst>
          </p:cNvPr>
          <p:cNvSpPr/>
          <p:nvPr/>
        </p:nvSpPr>
        <p:spPr bwMode="auto">
          <a:xfrm>
            <a:off x="9206531" y="194381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6" name="Oval 25">
            <a:extLst>
              <a:ext uri="{FF2B5EF4-FFF2-40B4-BE49-F238E27FC236}">
                <a16:creationId xmlns:a16="http://schemas.microsoft.com/office/drawing/2014/main" id="{8F881966-99CC-1FB0-58AE-7F90FE8BA121}"/>
              </a:ext>
            </a:extLst>
          </p:cNvPr>
          <p:cNvSpPr/>
          <p:nvPr/>
        </p:nvSpPr>
        <p:spPr bwMode="auto">
          <a:xfrm>
            <a:off x="9206531" y="389784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7" name="Oval 26">
            <a:extLst>
              <a:ext uri="{FF2B5EF4-FFF2-40B4-BE49-F238E27FC236}">
                <a16:creationId xmlns:a16="http://schemas.microsoft.com/office/drawing/2014/main" id="{C9E410E7-CD9E-73FA-0DC1-153EA3FB8F4B}"/>
              </a:ext>
            </a:extLst>
          </p:cNvPr>
          <p:cNvSpPr/>
          <p:nvPr/>
        </p:nvSpPr>
        <p:spPr bwMode="auto">
          <a:xfrm>
            <a:off x="9206531" y="47847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8" name="Oval 27">
            <a:extLst>
              <a:ext uri="{FF2B5EF4-FFF2-40B4-BE49-F238E27FC236}">
                <a16:creationId xmlns:a16="http://schemas.microsoft.com/office/drawing/2014/main" id="{A8A0805C-F564-D2DF-A719-5FDAC7F64E9D}"/>
              </a:ext>
            </a:extLst>
          </p:cNvPr>
          <p:cNvSpPr/>
          <p:nvPr/>
        </p:nvSpPr>
        <p:spPr bwMode="auto">
          <a:xfrm>
            <a:off x="9206531" y="553374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2" name="Oval 31">
            <a:extLst>
              <a:ext uri="{FF2B5EF4-FFF2-40B4-BE49-F238E27FC236}">
                <a16:creationId xmlns:a16="http://schemas.microsoft.com/office/drawing/2014/main" id="{2A73730E-1E3F-CE82-F888-20BF7875C234}"/>
              </a:ext>
            </a:extLst>
          </p:cNvPr>
          <p:cNvSpPr/>
          <p:nvPr/>
        </p:nvSpPr>
        <p:spPr bwMode="auto">
          <a:xfrm>
            <a:off x="9206531" y="356498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3" name="Oval 32">
            <a:extLst>
              <a:ext uri="{FF2B5EF4-FFF2-40B4-BE49-F238E27FC236}">
                <a16:creationId xmlns:a16="http://schemas.microsoft.com/office/drawing/2014/main" id="{F9470B9D-1730-F96C-32CC-7A10753B0564}"/>
              </a:ext>
            </a:extLst>
          </p:cNvPr>
          <p:cNvSpPr/>
          <p:nvPr/>
        </p:nvSpPr>
        <p:spPr bwMode="auto">
          <a:xfrm>
            <a:off x="9206531" y="302437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4" name="Oval 33">
            <a:extLst>
              <a:ext uri="{FF2B5EF4-FFF2-40B4-BE49-F238E27FC236}">
                <a16:creationId xmlns:a16="http://schemas.microsoft.com/office/drawing/2014/main" id="{BD2292F9-5C35-040E-10E1-B80B26A22A2D}"/>
              </a:ext>
            </a:extLst>
          </p:cNvPr>
          <p:cNvSpPr/>
          <p:nvPr/>
        </p:nvSpPr>
        <p:spPr bwMode="auto">
          <a:xfrm>
            <a:off x="9206531" y="234526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5" name="Oval 34">
            <a:extLst>
              <a:ext uri="{FF2B5EF4-FFF2-40B4-BE49-F238E27FC236}">
                <a16:creationId xmlns:a16="http://schemas.microsoft.com/office/drawing/2014/main" id="{AEFED28C-2CDA-C059-B8BF-7FF1B3FBA564}"/>
              </a:ext>
            </a:extLst>
          </p:cNvPr>
          <p:cNvSpPr/>
          <p:nvPr/>
        </p:nvSpPr>
        <p:spPr bwMode="auto">
          <a:xfrm>
            <a:off x="775653" y="35366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71BE3E16-282A-CC31-E483-58FFE8FC20B1}"/>
              </a:ext>
            </a:extLst>
          </p:cNvPr>
          <p:cNvSpPr/>
          <p:nvPr/>
        </p:nvSpPr>
        <p:spPr bwMode="auto">
          <a:xfrm>
            <a:off x="775653" y="39089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7" name="Oval 36">
            <a:extLst>
              <a:ext uri="{FF2B5EF4-FFF2-40B4-BE49-F238E27FC236}">
                <a16:creationId xmlns:a16="http://schemas.microsoft.com/office/drawing/2014/main" id="{83D327C6-2102-2ABF-0567-67CA1045E132}"/>
              </a:ext>
            </a:extLst>
          </p:cNvPr>
          <p:cNvSpPr/>
          <p:nvPr/>
        </p:nvSpPr>
        <p:spPr bwMode="auto">
          <a:xfrm>
            <a:off x="775653" y="455418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8" name="Oval 37">
            <a:extLst>
              <a:ext uri="{FF2B5EF4-FFF2-40B4-BE49-F238E27FC236}">
                <a16:creationId xmlns:a16="http://schemas.microsoft.com/office/drawing/2014/main" id="{07093886-5C60-8EBB-ADD5-D8D5E528D7F5}"/>
              </a:ext>
            </a:extLst>
          </p:cNvPr>
          <p:cNvSpPr/>
          <p:nvPr/>
        </p:nvSpPr>
        <p:spPr bwMode="auto">
          <a:xfrm>
            <a:off x="775653" y="524344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3" name="TextBox 172">
            <a:extLst>
              <a:ext uri="{FF2B5EF4-FFF2-40B4-BE49-F238E27FC236}">
                <a16:creationId xmlns:a16="http://schemas.microsoft.com/office/drawing/2014/main" id="{69D961CD-5F6C-9078-8812-A5F369B4F136}"/>
              </a:ext>
            </a:extLst>
          </p:cNvPr>
          <p:cNvSpPr txBox="1"/>
          <p:nvPr/>
        </p:nvSpPr>
        <p:spPr>
          <a:xfrm>
            <a:off x="565656" y="5894728"/>
            <a:ext cx="11040557" cy="3847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900" noProof="0" dirty="0">
                <a:latin typeface="+mj-lt"/>
                <a:cs typeface="Segoe Sans Text"/>
              </a:rPr>
              <a:t>IMPORTANT: </a:t>
            </a:r>
            <a:r>
              <a:rPr lang="en-US" sz="800" noProof="0" dirty="0">
                <a:cs typeface="Segoe Sans Text"/>
              </a:rPr>
              <a:t>To deliver comprehensive end-to-end migration experience, in addition to the </a:t>
            </a:r>
            <a:r>
              <a:rPr lang="en-US" sz="800" noProof="0" dirty="0">
                <a:latin typeface="+mj-lt"/>
                <a:cs typeface="Segoe Sans Text"/>
              </a:rPr>
              <a:t>Exadata DB Migration</a:t>
            </a:r>
            <a:r>
              <a:rPr lang="en-US" sz="800" noProof="0" dirty="0">
                <a:cs typeface="Segoe Sans Text"/>
              </a:rPr>
              <a:t>, the Factory will also perform </a:t>
            </a:r>
            <a:r>
              <a:rPr lang="en-US" sz="800" noProof="0" dirty="0">
                <a:latin typeface="+mj-lt"/>
                <a:cs typeface="Segoe Sans Text"/>
              </a:rPr>
              <a:t>VM migrations to either Azure IaaS or AVS, for the non-Exadata application tiers. </a:t>
            </a:r>
            <a:r>
              <a:rPr lang="en-US" sz="800" noProof="0" dirty="0">
                <a:cs typeface="Segoe Sans Text"/>
              </a:rPr>
              <a:t>For further details on the </a:t>
            </a:r>
            <a:r>
              <a:rPr lang="en-US" sz="800" noProof="0" dirty="0">
                <a:latin typeface="+mj-lt"/>
                <a:cs typeface="Segoe Sans Text"/>
              </a:rPr>
              <a:t>in-scope/out-of-scope </a:t>
            </a:r>
            <a:r>
              <a:rPr lang="en-US" sz="800" noProof="0" dirty="0">
                <a:cs typeface="Segoe Sans Text"/>
              </a:rPr>
              <a:t>parts and activities, of either the </a:t>
            </a:r>
            <a:r>
              <a:rPr lang="en-US" sz="800" noProof="0" dirty="0">
                <a:latin typeface="+mj-lt"/>
                <a:cs typeface="Segoe Sans Text"/>
              </a:rPr>
              <a:t>”Infrastructure and Database Migration (Windows &amp; Linux)” </a:t>
            </a:r>
            <a:r>
              <a:rPr lang="en-US" sz="800" noProof="0" dirty="0">
                <a:cs typeface="Segoe Sans Text"/>
              </a:rPr>
              <a:t>or the</a:t>
            </a:r>
            <a:r>
              <a:rPr lang="en-US" sz="800" noProof="0" dirty="0">
                <a:latin typeface="+mj-lt"/>
                <a:cs typeface="Segoe Sans Text"/>
              </a:rPr>
              <a:t> ”Infrastructure and Database Migration (AVS)” </a:t>
            </a:r>
            <a:r>
              <a:rPr lang="en-US" sz="800" noProof="0" dirty="0">
                <a:cs typeface="Segoe Sans Text"/>
              </a:rPr>
              <a:t>Factory Service Offerings, please refer to the respective sections of this presentation</a:t>
            </a:r>
            <a:endParaRPr lang="en-US" sz="900" noProof="0" dirty="0"/>
          </a:p>
        </p:txBody>
      </p:sp>
      <p:cxnSp>
        <p:nvCxnSpPr>
          <p:cNvPr id="88" name="Straight Connector 87">
            <a:extLst>
              <a:ext uri="{FF2B5EF4-FFF2-40B4-BE49-F238E27FC236}">
                <a16:creationId xmlns:a16="http://schemas.microsoft.com/office/drawing/2014/main" id="{C5FD5D7E-8F0D-B73B-B93E-3F53ADB3CDCD}"/>
              </a:ext>
              <a:ext uri="{C183D7F6-B498-43B3-948B-1728B52AA6E4}">
                <adec:decorative xmlns:adec="http://schemas.microsoft.com/office/drawing/2017/decorative" val="1"/>
              </a:ext>
            </a:extLst>
          </p:cNvPr>
          <p:cNvCxnSpPr>
            <a:cxnSpLocks/>
          </p:cNvCxnSpPr>
          <p:nvPr/>
        </p:nvCxnSpPr>
        <p:spPr>
          <a:xfrm>
            <a:off x="1031786" y="3490820"/>
            <a:ext cx="49194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AFC9BF3A-846D-F8D3-4EA1-D82294FB5EB6}"/>
              </a:ext>
              <a:ext uri="{C183D7F6-B498-43B3-948B-1728B52AA6E4}">
                <adec:decorative xmlns:adec="http://schemas.microsoft.com/office/drawing/2017/decorative" val="1"/>
              </a:ext>
            </a:extLst>
          </p:cNvPr>
          <p:cNvCxnSpPr>
            <a:cxnSpLocks/>
          </p:cNvCxnSpPr>
          <p:nvPr/>
        </p:nvCxnSpPr>
        <p:spPr>
          <a:xfrm>
            <a:off x="9450630" y="4549027"/>
            <a:ext cx="2066544"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AA450266-1187-EF97-6DAE-B1D2B00723F6}"/>
              </a:ext>
            </a:extLst>
          </p:cNvPr>
          <p:cNvSpPr txBox="1"/>
          <p:nvPr/>
        </p:nvSpPr>
        <p:spPr>
          <a:xfrm>
            <a:off x="1031786" y="3032443"/>
            <a:ext cx="4919472" cy="410369"/>
          </a:xfrm>
          <a:prstGeom prst="rect">
            <a:avLst/>
          </a:prstGeom>
          <a:noFill/>
        </p:spPr>
        <p:txBody>
          <a:bodyPr wrap="square" lIns="0" tIns="0" rIns="0" bIns="0" anchor="t">
            <a:spAutoFit/>
          </a:bodyPr>
          <a:lstStyle/>
          <a:p>
            <a:pPr>
              <a:spcAft>
                <a:spcPts val="200"/>
              </a:spcAft>
              <a:defRPr/>
            </a:pPr>
            <a:r>
              <a:rPr kumimoji="0" lang="en-US" sz="900" b="0" i="0" u="none" strike="noStrike" kern="0" cap="none" normalizeH="0" baseline="0" noProof="0" dirty="0">
                <a:ln>
                  <a:noFill/>
                </a:ln>
                <a:solidFill>
                  <a:srgbClr val="000000"/>
                </a:solidFill>
                <a:effectLst/>
                <a:uLnTx/>
                <a:uFillTx/>
                <a:latin typeface="+mj-lt"/>
                <a:cs typeface="Segoe Sans Text Semibold"/>
              </a:rPr>
              <a:t>Supported </a:t>
            </a:r>
            <a:r>
              <a:rPr lang="en-US" sz="900" kern="0" noProof="0" dirty="0">
                <a:solidFill>
                  <a:srgbClr val="000000"/>
                </a:solidFill>
                <a:latin typeface="+mj-lt"/>
                <a:cs typeface="Segoe Sans Text Semibold"/>
              </a:rPr>
              <a:t>reference MAA architectures</a:t>
            </a:r>
          </a:p>
          <a:p>
            <a:pPr marL="195263" lvl="0" indent="-123825">
              <a:spcAft>
                <a:spcPts val="200"/>
              </a:spcAft>
              <a:buFont typeface="Arial"/>
              <a:buChar char="•"/>
              <a:defRPr/>
            </a:pPr>
            <a:r>
              <a:rPr lang="en-US" sz="800" kern="0" noProof="0" dirty="0">
                <a:solidFill>
                  <a:srgbClr val="000000"/>
                </a:solidFill>
                <a:cs typeface="Segoe Sans Text"/>
              </a:rPr>
              <a:t>Gold Based BCDR Recommendations for Oracle on Azure Landing Zone Accelerator and configuration of the Data Guard with recommended network setup</a:t>
            </a:r>
          </a:p>
        </p:txBody>
      </p:sp>
      <p:sp>
        <p:nvSpPr>
          <p:cNvPr id="112" name="TextBox 111">
            <a:extLst>
              <a:ext uri="{FF2B5EF4-FFF2-40B4-BE49-F238E27FC236}">
                <a16:creationId xmlns:a16="http://schemas.microsoft.com/office/drawing/2014/main" id="{EB3D1FAC-ED5A-0DEC-8D84-5BDC68A62710}"/>
              </a:ext>
            </a:extLst>
          </p:cNvPr>
          <p:cNvSpPr txBox="1"/>
          <p:nvPr/>
        </p:nvSpPr>
        <p:spPr>
          <a:xfrm>
            <a:off x="1031786" y="3538828"/>
            <a:ext cx="4919472" cy="287258"/>
          </a:xfrm>
          <a:prstGeom prst="rect">
            <a:avLst/>
          </a:prstGeom>
          <a:noFill/>
        </p:spPr>
        <p:txBody>
          <a:bodyPr wrap="square" lIns="0" tIns="0" rIns="0" bIns="0" anchor="t">
            <a:spAutoFit/>
          </a:bodyPr>
          <a:lstStyle/>
          <a:p>
            <a:pPr>
              <a:spcAft>
                <a:spcPts val="200"/>
              </a:spcAft>
              <a:defRPr/>
            </a:pPr>
            <a:r>
              <a:rPr kumimoji="0" lang="en-US" sz="900" b="0" i="0" u="none" strike="noStrike" kern="0" cap="none" normalizeH="0" baseline="0" noProof="0" dirty="0">
                <a:ln>
                  <a:noFill/>
                </a:ln>
                <a:solidFill>
                  <a:srgbClr val="000000"/>
                </a:solidFill>
                <a:effectLst/>
                <a:uLnTx/>
                <a:uFillTx/>
                <a:latin typeface="+mj-lt"/>
                <a:ea typeface="+mn-ea"/>
                <a:cs typeface="Segoe Sans Text Semibold"/>
              </a:rPr>
              <a:t>Supported </a:t>
            </a:r>
            <a:r>
              <a:rPr lang="en-US" sz="900" kern="0" noProof="0" dirty="0">
                <a:solidFill>
                  <a:srgbClr val="000000"/>
                </a:solidFill>
                <a:latin typeface="+mj-lt"/>
                <a:cs typeface="Segoe Sans Text Semibold"/>
              </a:rPr>
              <a:t>Oracle Database version</a:t>
            </a:r>
            <a:r>
              <a:rPr kumimoji="0" lang="en-US" sz="900" b="0" i="0" u="none" strike="noStrike" kern="0" cap="none" normalizeH="0" baseline="0" noProof="0" dirty="0">
                <a:ln>
                  <a:noFill/>
                </a:ln>
                <a:solidFill>
                  <a:srgbClr val="000000"/>
                </a:solidFill>
                <a:effectLst/>
                <a:uLnTx/>
                <a:uFillTx/>
                <a:latin typeface="+mj-lt"/>
                <a:cs typeface="Segoe Sans Text Semibold"/>
              </a:rPr>
              <a:t>(</a:t>
            </a:r>
            <a:r>
              <a:rPr lang="en-US" sz="900" kern="0" noProof="0" dirty="0">
                <a:solidFill>
                  <a:srgbClr val="000000"/>
                </a:solidFill>
                <a:latin typeface="+mj-lt"/>
                <a:cs typeface="Segoe Sans Text Semibold"/>
              </a:rPr>
              <a:t>s</a:t>
            </a:r>
            <a:r>
              <a:rPr kumimoji="0" lang="en-US" sz="900" b="0" i="0" u="none" strike="noStrike" kern="0" cap="none" normalizeH="0" baseline="0" noProof="0" dirty="0">
                <a:ln>
                  <a:noFill/>
                </a:ln>
                <a:solidFill>
                  <a:srgbClr val="000000"/>
                </a:solidFill>
                <a:effectLst/>
                <a:uLnTx/>
                <a:uFillTx/>
                <a:latin typeface="+mj-lt"/>
                <a:cs typeface="Segoe Sans Text Semibold"/>
              </a:rPr>
              <a:t>)</a:t>
            </a:r>
            <a:endParaRPr lang="en-US" sz="900" b="0" i="0" u="none" strike="noStrike" kern="0" cap="none" normalizeH="0" baseline="0" noProof="0" dirty="0">
              <a:ln>
                <a:noFill/>
              </a:ln>
              <a:solidFill>
                <a:srgbClr val="000000"/>
              </a:solidFill>
              <a:effectLst/>
              <a:uLnTx/>
              <a:uFillTx/>
              <a:latin typeface="+mj-lt"/>
              <a:cs typeface="Segoe Sans Text Semibold"/>
            </a:endParaRPr>
          </a:p>
          <a:p>
            <a:pPr marL="195263" indent="-123825">
              <a:spcAft>
                <a:spcPts val="200"/>
              </a:spcAft>
              <a:buFont typeface="Arial"/>
              <a:buChar char="•"/>
              <a:defRPr/>
            </a:pPr>
            <a:r>
              <a:rPr lang="en-US" sz="800" kern="0" noProof="0" dirty="0">
                <a:solidFill>
                  <a:srgbClr val="000000"/>
                </a:solidFill>
                <a:cs typeface="Segoe Sans Text"/>
              </a:rPr>
              <a:t>Oracle Database 19c, 23AI</a:t>
            </a:r>
          </a:p>
        </p:txBody>
      </p:sp>
      <p:sp>
        <p:nvSpPr>
          <p:cNvPr id="114" name="TextBox 113">
            <a:extLst>
              <a:ext uri="{FF2B5EF4-FFF2-40B4-BE49-F238E27FC236}">
                <a16:creationId xmlns:a16="http://schemas.microsoft.com/office/drawing/2014/main" id="{27B8179C-3EDD-48DC-5851-F7FE0C459EA6}"/>
              </a:ext>
            </a:extLst>
          </p:cNvPr>
          <p:cNvSpPr txBox="1"/>
          <p:nvPr/>
        </p:nvSpPr>
        <p:spPr>
          <a:xfrm>
            <a:off x="1031786" y="3922102"/>
            <a:ext cx="4919472" cy="533479"/>
          </a:xfrm>
          <a:prstGeom prst="rect">
            <a:avLst/>
          </a:prstGeom>
          <a:noFill/>
        </p:spPr>
        <p:txBody>
          <a:bodyPr wrap="square" lIns="0" tIns="0" rIns="0" bIns="0" anchor="t">
            <a:spAutoFit/>
          </a:bodyPr>
          <a:lstStyle/>
          <a:p>
            <a:pPr>
              <a:spcAft>
                <a:spcPts val="200"/>
              </a:spcAft>
              <a:defRPr/>
            </a:pPr>
            <a:r>
              <a:rPr lang="en-US" sz="900" kern="0" noProof="0" dirty="0">
                <a:solidFill>
                  <a:srgbClr val="000000"/>
                </a:solidFill>
                <a:latin typeface="+mj-lt"/>
                <a:cs typeface="Segoe Sans Text Semibold"/>
              </a:rPr>
              <a:t>Additional migrations included in Factory scope</a:t>
            </a:r>
            <a:endParaRPr lang="en-US" sz="900" b="0" i="0" u="none" strike="noStrike" kern="0" cap="none" normalizeH="0" baseline="0" noProof="0" dirty="0">
              <a:ln>
                <a:noFill/>
              </a:ln>
              <a:solidFill>
                <a:srgbClr val="000000"/>
              </a:solidFill>
              <a:effectLst/>
              <a:uLnTx/>
              <a:uFillTx/>
              <a:latin typeface="+mj-lt"/>
              <a:cs typeface="Segoe Sans Text Semibold"/>
            </a:endParaRPr>
          </a:p>
          <a:p>
            <a:pPr marL="195263" lvl="0" indent="-123825">
              <a:spcAft>
                <a:spcPts val="200"/>
              </a:spcAft>
              <a:buFont typeface="Arial"/>
              <a:buChar char="•"/>
              <a:defRPr/>
            </a:pPr>
            <a:r>
              <a:rPr lang="en-US" sz="800" kern="0" noProof="0" dirty="0">
                <a:solidFill>
                  <a:srgbClr val="000000"/>
                </a:solidFill>
                <a:cs typeface="Segoe Sans Text"/>
              </a:rPr>
              <a:t>Factory will also migrate the Application tier associated with customer oracle estate which includes VMS (Windows/Linux VMs or AVS or Apps Modernization), if they fit within the Factory’s respective </a:t>
            </a:r>
            <a:br>
              <a:rPr lang="en-US" sz="800" kern="0" noProof="0" dirty="0">
                <a:solidFill>
                  <a:srgbClr val="000000"/>
                </a:solidFill>
                <a:cs typeface="Segoe Sans Text"/>
              </a:rPr>
            </a:br>
            <a:r>
              <a:rPr lang="en-US" sz="800" kern="0" noProof="0" dirty="0">
                <a:solidFill>
                  <a:srgbClr val="000000"/>
                </a:solidFill>
                <a:cs typeface="Segoe Sans Text"/>
              </a:rPr>
              <a:t>workload scope.</a:t>
            </a:r>
          </a:p>
        </p:txBody>
      </p:sp>
      <p:sp>
        <p:nvSpPr>
          <p:cNvPr id="117" name="TextBox 116">
            <a:extLst>
              <a:ext uri="{FF2B5EF4-FFF2-40B4-BE49-F238E27FC236}">
                <a16:creationId xmlns:a16="http://schemas.microsoft.com/office/drawing/2014/main" id="{B33FCAEE-35A2-B481-5845-DD0F5A9BA893}"/>
              </a:ext>
            </a:extLst>
          </p:cNvPr>
          <p:cNvSpPr txBox="1"/>
          <p:nvPr/>
        </p:nvSpPr>
        <p:spPr>
          <a:xfrm>
            <a:off x="1031786" y="4551597"/>
            <a:ext cx="4919472" cy="138499"/>
          </a:xfrm>
          <a:prstGeom prst="rect">
            <a:avLst/>
          </a:prstGeom>
          <a:noFill/>
        </p:spPr>
        <p:txBody>
          <a:bodyPr wrap="square" lIns="0" tIns="0" rIns="0" bIns="0" anchor="t">
            <a:spAutoFit/>
          </a:bodyPr>
          <a:lstStyle/>
          <a:p>
            <a:pPr>
              <a:defRPr/>
            </a:pPr>
            <a:r>
              <a:rPr lang="en-US" sz="900" kern="0" noProof="0" dirty="0">
                <a:solidFill>
                  <a:srgbClr val="000000"/>
                </a:solidFill>
                <a:latin typeface="+mj-lt"/>
                <a:cs typeface="Segoe Sans Text Semibold"/>
              </a:rPr>
              <a:t>Supported migration tools/methodologies</a:t>
            </a:r>
            <a:endParaRPr lang="en-US" sz="900" noProof="0" dirty="0">
              <a:latin typeface="+mj-lt"/>
            </a:endParaRPr>
          </a:p>
        </p:txBody>
      </p:sp>
      <p:sp>
        <p:nvSpPr>
          <p:cNvPr id="120" name="TextBox 119">
            <a:extLst>
              <a:ext uri="{FF2B5EF4-FFF2-40B4-BE49-F238E27FC236}">
                <a16:creationId xmlns:a16="http://schemas.microsoft.com/office/drawing/2014/main" id="{66EA96A3-ED70-81AE-BD37-E97D28DB38EA}"/>
              </a:ext>
            </a:extLst>
          </p:cNvPr>
          <p:cNvSpPr txBox="1"/>
          <p:nvPr/>
        </p:nvSpPr>
        <p:spPr>
          <a:xfrm>
            <a:off x="1031786" y="5477296"/>
            <a:ext cx="4919472" cy="287258"/>
          </a:xfrm>
          <a:prstGeom prst="rect">
            <a:avLst/>
          </a:prstGeom>
          <a:noFill/>
        </p:spPr>
        <p:txBody>
          <a:bodyPr wrap="square" lIns="0" tIns="0" rIns="0" bIns="0" anchor="t">
            <a:spAutoFit/>
          </a:bodyPr>
          <a:lstStyle/>
          <a:p>
            <a:pPr>
              <a:spcAft>
                <a:spcPts val="200"/>
              </a:spcAft>
              <a:defRPr/>
            </a:pPr>
            <a:r>
              <a:rPr lang="en-US" sz="900" kern="0" noProof="0" dirty="0">
                <a:solidFill>
                  <a:srgbClr val="000000"/>
                </a:solidFill>
                <a:latin typeface="+mj-lt"/>
                <a:cs typeface="Segoe Sans Text Semibold"/>
              </a:rPr>
              <a:t>Regions in scope</a:t>
            </a:r>
          </a:p>
          <a:p>
            <a:pPr marL="195263" indent="-123825">
              <a:spcAft>
                <a:spcPts val="200"/>
              </a:spcAft>
              <a:buFont typeface="Arial"/>
              <a:buChar char="•"/>
              <a:defRPr/>
            </a:pPr>
            <a:r>
              <a:rPr lang="en-US" sz="800" kern="0" noProof="0" dirty="0">
                <a:solidFill>
                  <a:srgbClr val="000000"/>
                </a:solidFill>
                <a:cs typeface="Segoe Sans Text"/>
              </a:rPr>
              <a:t>As per </a:t>
            </a:r>
            <a:r>
              <a:rPr lang="en-US" sz="800" kern="0" noProof="0" dirty="0">
                <a:solidFill>
                  <a:schemeClr val="tx2"/>
                </a:solidFill>
                <a:cs typeface="Segoe Sans Text"/>
                <a:hlinkClick r:id="rId3">
                  <a:extLst>
                    <a:ext uri="{A12FA001-AC4F-418D-AE19-62706E023703}">
                      <ahyp:hlinkClr xmlns:ahyp="http://schemas.microsoft.com/office/drawing/2018/hyperlinkcolor" val="tx"/>
                    </a:ext>
                  </a:extLst>
                </a:hlinkClick>
              </a:rPr>
              <a:t>Overview – Oracle Database@Azure | Microsoft Learn</a:t>
            </a:r>
            <a:endParaRPr lang="en-US" sz="800" kern="0" noProof="0" dirty="0">
              <a:solidFill>
                <a:schemeClr val="tx2"/>
              </a:solidFill>
              <a:cs typeface="Segoe Sans Text"/>
            </a:endParaRPr>
          </a:p>
        </p:txBody>
      </p:sp>
      <p:sp>
        <p:nvSpPr>
          <p:cNvPr id="121" name="TextBox 120">
            <a:extLst>
              <a:ext uri="{FF2B5EF4-FFF2-40B4-BE49-F238E27FC236}">
                <a16:creationId xmlns:a16="http://schemas.microsoft.com/office/drawing/2014/main" id="{3DBE6227-EAD1-6914-866E-CC9F8E7821B2}"/>
              </a:ext>
            </a:extLst>
          </p:cNvPr>
          <p:cNvSpPr txBox="1"/>
          <p:nvPr/>
        </p:nvSpPr>
        <p:spPr>
          <a:xfrm>
            <a:off x="6579191" y="1402534"/>
            <a:ext cx="2523744" cy="276999"/>
          </a:xfrm>
          <a:prstGeom prst="rect">
            <a:avLst/>
          </a:prstGeom>
          <a:noFill/>
        </p:spPr>
        <p:txBody>
          <a:bodyPr wrap="square" lIns="0" tIns="0" rIns="0" bIns="0" anchor="t">
            <a:spAutoFit/>
          </a:bodyPr>
          <a:lstStyle/>
          <a:p>
            <a:pPr lvl="0">
              <a:defRPr/>
            </a:pPr>
            <a:r>
              <a:rPr lang="en-US" sz="900" kern="0" noProof="0" dirty="0">
                <a:solidFill>
                  <a:srgbClr val="000000"/>
                </a:solidFill>
                <a:cs typeface="Segoe Sans Text"/>
              </a:rPr>
              <a:t>OCI Console based Administration, Configuration &amp; Management except DB creation, DG &amp; ARS</a:t>
            </a:r>
            <a:endParaRPr lang="en-US" sz="900" noProof="0" dirty="0">
              <a:solidFill>
                <a:srgbClr val="000000"/>
              </a:solidFill>
            </a:endParaRPr>
          </a:p>
        </p:txBody>
      </p:sp>
      <p:sp>
        <p:nvSpPr>
          <p:cNvPr id="131" name="TextBox 130">
            <a:extLst>
              <a:ext uri="{FF2B5EF4-FFF2-40B4-BE49-F238E27FC236}">
                <a16:creationId xmlns:a16="http://schemas.microsoft.com/office/drawing/2014/main" id="{4922AC0C-49DE-42F1-5C8E-B72420F5C1DF}"/>
              </a:ext>
            </a:extLst>
          </p:cNvPr>
          <p:cNvSpPr txBox="1"/>
          <p:nvPr/>
        </p:nvSpPr>
        <p:spPr>
          <a:xfrm>
            <a:off x="9450630" y="1402534"/>
            <a:ext cx="2066544" cy="276999"/>
          </a:xfrm>
          <a:prstGeom prst="rect">
            <a:avLst/>
          </a:prstGeom>
          <a:noFill/>
        </p:spPr>
        <p:txBody>
          <a:bodyPr wrap="square" lIns="0" tIns="0" rIns="0" bIns="0" anchor="t">
            <a:spAutoFit/>
          </a:bodyPr>
          <a:lstStyle/>
          <a:p>
            <a:pPr>
              <a:defRPr/>
            </a:pPr>
            <a:r>
              <a:rPr lang="en-US" sz="900" kern="0" noProof="0" dirty="0">
                <a:solidFill>
                  <a:srgbClr val="000000"/>
                </a:solidFill>
              </a:rPr>
              <a:t>Monitoring and alerts </a:t>
            </a:r>
            <a:r>
              <a:rPr kumimoji="0" lang="en-US" sz="900" b="0" i="0" u="none" strike="noStrike" kern="0" cap="none" normalizeH="0" baseline="0" noProof="0" dirty="0">
                <a:ln>
                  <a:noFill/>
                </a:ln>
                <a:solidFill>
                  <a:srgbClr val="000000"/>
                </a:solidFill>
                <a:effectLst/>
                <a:uLnTx/>
                <a:uFillTx/>
                <a:ea typeface="+mn-ea"/>
                <a:cs typeface="+mn-cs"/>
              </a:rPr>
              <a:t>(</a:t>
            </a:r>
            <a:r>
              <a:rPr lang="en-US" sz="900" kern="0" noProof="0" dirty="0">
                <a:solidFill>
                  <a:srgbClr val="000000"/>
                </a:solidFill>
              </a:rPr>
              <a:t>pre- and post- migration</a:t>
            </a:r>
            <a:r>
              <a:rPr kumimoji="0" lang="en-US" sz="900" b="0" i="0" u="none" strike="noStrike" kern="0" cap="none" normalizeH="0" baseline="0" noProof="0" dirty="0">
                <a:ln>
                  <a:noFill/>
                </a:ln>
                <a:solidFill>
                  <a:srgbClr val="000000"/>
                </a:solidFill>
                <a:effectLst/>
                <a:uLnTx/>
                <a:uFillTx/>
                <a:ea typeface="+mn-ea"/>
                <a:cs typeface="+mn-cs"/>
              </a:rPr>
              <a:t>)</a:t>
            </a:r>
            <a:r>
              <a:rPr lang="en-US" sz="900" kern="0" noProof="0" dirty="0">
                <a:solidFill>
                  <a:srgbClr val="000000"/>
                </a:solidFill>
              </a:rPr>
              <a:t> </a:t>
            </a:r>
            <a:endParaRPr lang="en-US" sz="900" noProof="0" dirty="0">
              <a:ea typeface="+mn-ea"/>
              <a:cs typeface="+mn-cs"/>
            </a:endParaRPr>
          </a:p>
        </p:txBody>
      </p:sp>
      <p:sp>
        <p:nvSpPr>
          <p:cNvPr id="122" name="TextBox 121">
            <a:extLst>
              <a:ext uri="{FF2B5EF4-FFF2-40B4-BE49-F238E27FC236}">
                <a16:creationId xmlns:a16="http://schemas.microsoft.com/office/drawing/2014/main" id="{15D79071-A3DF-3328-64BD-B0E98FA2C816}"/>
              </a:ext>
            </a:extLst>
          </p:cNvPr>
          <p:cNvSpPr txBox="1"/>
          <p:nvPr/>
        </p:nvSpPr>
        <p:spPr>
          <a:xfrm>
            <a:off x="6579191" y="1873897"/>
            <a:ext cx="2523744" cy="276999"/>
          </a:xfrm>
          <a:prstGeom prst="rect">
            <a:avLst/>
          </a:prstGeom>
          <a:noFill/>
        </p:spPr>
        <p:txBody>
          <a:bodyPr wrap="square" lIns="0" tIns="0" rIns="0" bIns="0" anchor="t">
            <a:spAutoFit/>
          </a:bodyPr>
          <a:lstStyle/>
          <a:p>
            <a:pPr lvl="0">
              <a:defRPr/>
            </a:pPr>
            <a:r>
              <a:rPr lang="en-US" sz="900" kern="0" noProof="0" dirty="0">
                <a:solidFill>
                  <a:srgbClr val="000000"/>
                </a:solidFill>
                <a:cs typeface="Segoe Sans Text"/>
              </a:rPr>
              <a:t>Support in Azure Region where the Oracle Database@Azure Service is not (yet) available</a:t>
            </a:r>
          </a:p>
        </p:txBody>
      </p:sp>
      <p:sp>
        <p:nvSpPr>
          <p:cNvPr id="132" name="TextBox 131">
            <a:extLst>
              <a:ext uri="{FF2B5EF4-FFF2-40B4-BE49-F238E27FC236}">
                <a16:creationId xmlns:a16="http://schemas.microsoft.com/office/drawing/2014/main" id="{FA9BA7B2-53E3-28E0-872B-0BF162730905}"/>
              </a:ext>
            </a:extLst>
          </p:cNvPr>
          <p:cNvSpPr txBox="1"/>
          <p:nvPr/>
        </p:nvSpPr>
        <p:spPr>
          <a:xfrm>
            <a:off x="9450630" y="1943147"/>
            <a:ext cx="2066544" cy="138499"/>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Database </a:t>
            </a:r>
            <a:r>
              <a:rPr lang="en-US" sz="900" kern="0" noProof="0" dirty="0">
                <a:solidFill>
                  <a:srgbClr val="000000"/>
                </a:solidFill>
              </a:rPr>
              <a:t>version upgrade </a:t>
            </a:r>
            <a:r>
              <a:rPr kumimoji="0" lang="en-US" sz="900" b="0" i="0" u="none" strike="noStrike" kern="0" cap="none" normalizeH="0" baseline="0" noProof="0" dirty="0">
                <a:ln>
                  <a:noFill/>
                </a:ln>
                <a:solidFill>
                  <a:srgbClr val="000000"/>
                </a:solidFill>
                <a:effectLst/>
                <a:uLnTx/>
                <a:uFillTx/>
                <a:ea typeface="+mn-ea"/>
                <a:cs typeface="+mn-cs"/>
              </a:rPr>
              <a:t>and </a:t>
            </a:r>
            <a:r>
              <a:rPr lang="en-US" sz="900" kern="0" noProof="0" dirty="0">
                <a:solidFill>
                  <a:srgbClr val="000000"/>
                </a:solidFill>
              </a:rPr>
              <a:t>patching </a:t>
            </a:r>
            <a:endParaRPr lang="en-US" sz="900" noProof="0" dirty="0">
              <a:ea typeface="+mn-ea"/>
              <a:cs typeface="+mn-cs"/>
            </a:endParaRPr>
          </a:p>
        </p:txBody>
      </p:sp>
      <p:sp>
        <p:nvSpPr>
          <p:cNvPr id="125" name="TextBox 124">
            <a:extLst>
              <a:ext uri="{FF2B5EF4-FFF2-40B4-BE49-F238E27FC236}">
                <a16:creationId xmlns:a16="http://schemas.microsoft.com/office/drawing/2014/main" id="{C6926A0D-3A35-48D1-B158-54EA239C2722}"/>
              </a:ext>
            </a:extLst>
          </p:cNvPr>
          <p:cNvSpPr txBox="1"/>
          <p:nvPr/>
        </p:nvSpPr>
        <p:spPr>
          <a:xfrm>
            <a:off x="6579191" y="2483760"/>
            <a:ext cx="2523744" cy="138499"/>
          </a:xfrm>
          <a:prstGeom prst="rect">
            <a:avLst/>
          </a:prstGeom>
          <a:noFill/>
        </p:spPr>
        <p:txBody>
          <a:bodyPr wrap="square" lIns="0" tIns="0" rIns="0" bIns="0" anchor="t">
            <a:spAutoFit/>
          </a:bodyPr>
          <a:lstStyle/>
          <a:p>
            <a:pPr>
              <a:defRPr/>
            </a:pPr>
            <a:r>
              <a:rPr lang="en-US" sz="900" kern="0" noProof="0" dirty="0">
                <a:cs typeface="Segoe Sans Text"/>
              </a:rPr>
              <a:t>Oracle Database on Azure VM(IaaS)</a:t>
            </a:r>
          </a:p>
        </p:txBody>
      </p:sp>
      <p:sp>
        <p:nvSpPr>
          <p:cNvPr id="133" name="TextBox 132">
            <a:extLst>
              <a:ext uri="{FF2B5EF4-FFF2-40B4-BE49-F238E27FC236}">
                <a16:creationId xmlns:a16="http://schemas.microsoft.com/office/drawing/2014/main" id="{9EF340C9-6120-BCA4-A158-712BD10E4FC0}"/>
              </a:ext>
            </a:extLst>
          </p:cNvPr>
          <p:cNvSpPr txBox="1"/>
          <p:nvPr/>
        </p:nvSpPr>
        <p:spPr>
          <a:xfrm>
            <a:off x="9450630" y="2345260"/>
            <a:ext cx="2066544" cy="415498"/>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Application/services related configurations and testing (pre and post migration)</a:t>
            </a:r>
            <a:endParaRPr lang="en-US" sz="900" noProof="0" dirty="0">
              <a:ea typeface="+mn-ea"/>
              <a:cs typeface="+mn-cs"/>
            </a:endParaRPr>
          </a:p>
        </p:txBody>
      </p:sp>
      <p:sp>
        <p:nvSpPr>
          <p:cNvPr id="126" name="TextBox 125">
            <a:extLst>
              <a:ext uri="{FF2B5EF4-FFF2-40B4-BE49-F238E27FC236}">
                <a16:creationId xmlns:a16="http://schemas.microsoft.com/office/drawing/2014/main" id="{460A218B-E46F-FED9-0139-5B19BAB9C4BC}"/>
              </a:ext>
            </a:extLst>
          </p:cNvPr>
          <p:cNvSpPr txBox="1"/>
          <p:nvPr/>
        </p:nvSpPr>
        <p:spPr>
          <a:xfrm>
            <a:off x="6579191" y="2955122"/>
            <a:ext cx="2523744" cy="415498"/>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Testing </a:t>
            </a:r>
            <a:r>
              <a:rPr kumimoji="0" lang="en-US" sz="900" b="0" i="0" u="none" strike="noStrike" kern="0" cap="none" normalizeH="0" baseline="0" noProof="0" dirty="0">
                <a:ln>
                  <a:noFill/>
                </a:ln>
                <a:solidFill>
                  <a:srgbClr val="000000"/>
                </a:solidFill>
                <a:effectLst/>
                <a:uLnTx/>
                <a:uFillTx/>
                <a:cs typeface="Segoe Sans Text"/>
              </a:rPr>
              <a:t>of </a:t>
            </a:r>
            <a:r>
              <a:rPr lang="en-US" sz="900" kern="0" noProof="0" dirty="0">
                <a:solidFill>
                  <a:srgbClr val="000000"/>
                </a:solidFill>
                <a:cs typeface="Segoe Sans Text"/>
              </a:rPr>
              <a:t>dependencies (e.g. applications, migration) </a:t>
            </a:r>
            <a:r>
              <a:rPr kumimoji="0" lang="en-US" sz="900" b="0" i="0" u="none" strike="noStrike" kern="0" cap="none" normalizeH="0" baseline="0" noProof="0" dirty="0">
                <a:ln>
                  <a:noFill/>
                </a:ln>
                <a:solidFill>
                  <a:srgbClr val="000000"/>
                </a:solidFill>
                <a:effectLst/>
                <a:uLnTx/>
                <a:uFillTx/>
                <a:cs typeface="Segoe Sans Text"/>
              </a:rPr>
              <a:t>and </a:t>
            </a:r>
            <a:r>
              <a:rPr lang="en-US" sz="900" kern="0" noProof="0" dirty="0">
                <a:solidFill>
                  <a:srgbClr val="000000"/>
                </a:solidFill>
                <a:cs typeface="Segoe Sans Text"/>
              </a:rPr>
              <a:t>source system changes are customer’s responsibility</a:t>
            </a:r>
            <a:endParaRPr lang="en-US" sz="900" noProof="0" dirty="0">
              <a:ea typeface="+mn-ea"/>
              <a:cs typeface="+mn-cs"/>
            </a:endParaRPr>
          </a:p>
        </p:txBody>
      </p:sp>
      <p:sp>
        <p:nvSpPr>
          <p:cNvPr id="134" name="TextBox 133">
            <a:extLst>
              <a:ext uri="{FF2B5EF4-FFF2-40B4-BE49-F238E27FC236}">
                <a16:creationId xmlns:a16="http://schemas.microsoft.com/office/drawing/2014/main" id="{F6B10B81-EFCD-3C66-32BD-F2476E3B2C69}"/>
              </a:ext>
            </a:extLst>
          </p:cNvPr>
          <p:cNvSpPr txBox="1"/>
          <p:nvPr/>
        </p:nvSpPr>
        <p:spPr>
          <a:xfrm>
            <a:off x="9450630" y="3024372"/>
            <a:ext cx="2066544" cy="276999"/>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Cross platform [Sparc Solaris, IBM P series] migrations to Exadata</a:t>
            </a:r>
            <a:endParaRPr lang="en-US" sz="900" noProof="0" dirty="0">
              <a:ea typeface="+mn-ea"/>
              <a:cs typeface="+mn-cs"/>
            </a:endParaRPr>
          </a:p>
        </p:txBody>
      </p:sp>
      <p:sp>
        <p:nvSpPr>
          <p:cNvPr id="127" name="TextBox 126">
            <a:extLst>
              <a:ext uri="{FF2B5EF4-FFF2-40B4-BE49-F238E27FC236}">
                <a16:creationId xmlns:a16="http://schemas.microsoft.com/office/drawing/2014/main" id="{26324921-F663-8A4B-42C3-B277BA897580}"/>
              </a:ext>
            </a:extLst>
          </p:cNvPr>
          <p:cNvSpPr txBox="1"/>
          <p:nvPr/>
        </p:nvSpPr>
        <p:spPr>
          <a:xfrm>
            <a:off x="6579191" y="3564984"/>
            <a:ext cx="2523744" cy="138499"/>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Any additional advisory services and consulting</a:t>
            </a:r>
            <a:endParaRPr lang="en-US" sz="900" noProof="0" dirty="0">
              <a:ea typeface="+mn-ea"/>
              <a:cs typeface="+mn-cs"/>
            </a:endParaRPr>
          </a:p>
        </p:txBody>
      </p:sp>
      <p:sp>
        <p:nvSpPr>
          <p:cNvPr id="135" name="TextBox 134">
            <a:extLst>
              <a:ext uri="{FF2B5EF4-FFF2-40B4-BE49-F238E27FC236}">
                <a16:creationId xmlns:a16="http://schemas.microsoft.com/office/drawing/2014/main" id="{5D64BD17-D8E2-414B-F8F0-8EDA9B50B150}"/>
              </a:ext>
            </a:extLst>
          </p:cNvPr>
          <p:cNvSpPr txBox="1"/>
          <p:nvPr/>
        </p:nvSpPr>
        <p:spPr>
          <a:xfrm>
            <a:off x="9450630" y="3564984"/>
            <a:ext cx="2066544" cy="138499"/>
          </a:xfrm>
          <a:prstGeom prst="rect">
            <a:avLst/>
          </a:prstGeom>
          <a:noFill/>
        </p:spPr>
        <p:txBody>
          <a:bodyPr wrap="square" lIns="0" tIns="0" rIns="0" bIns="0" anchor="t">
            <a:spAutoFit/>
          </a:bodyPr>
          <a:lstStyle/>
          <a:p>
            <a:pPr>
              <a:defRPr/>
            </a:pPr>
            <a:r>
              <a:rPr kumimoji="0" lang="en-US" sz="900" b="0" i="0" u="none" strike="noStrike" kern="0" cap="none" normalizeH="0" baseline="0" noProof="0" dirty="0">
                <a:ln>
                  <a:noFill/>
                </a:ln>
                <a:solidFill>
                  <a:srgbClr val="000000"/>
                </a:solidFill>
                <a:effectLst/>
                <a:uLnTx/>
                <a:uFillTx/>
                <a:cs typeface="Segoe Sans Text"/>
              </a:rPr>
              <a:t>Any </a:t>
            </a:r>
            <a:r>
              <a:rPr lang="en-US" sz="900" kern="0" noProof="0" dirty="0">
                <a:solidFill>
                  <a:srgbClr val="000000"/>
                </a:solidFill>
                <a:cs typeface="Segoe Sans Text"/>
              </a:rPr>
              <a:t>kind of database tuning</a:t>
            </a:r>
            <a:endParaRPr lang="en-US" sz="900" noProof="0" dirty="0">
              <a:ea typeface="+mn-ea"/>
              <a:cs typeface="+mn-cs"/>
            </a:endParaRPr>
          </a:p>
        </p:txBody>
      </p:sp>
      <p:sp>
        <p:nvSpPr>
          <p:cNvPr id="128" name="TextBox 127">
            <a:extLst>
              <a:ext uri="{FF2B5EF4-FFF2-40B4-BE49-F238E27FC236}">
                <a16:creationId xmlns:a16="http://schemas.microsoft.com/office/drawing/2014/main" id="{C7CB7CBE-6054-E48B-AB16-E5B1EDB8F040}"/>
              </a:ext>
            </a:extLst>
          </p:cNvPr>
          <p:cNvSpPr txBox="1"/>
          <p:nvPr/>
        </p:nvSpPr>
        <p:spPr>
          <a:xfrm>
            <a:off x="6579191" y="4036347"/>
            <a:ext cx="2523744" cy="276999"/>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Any changes in the source (any time) and target environments (after handover)</a:t>
            </a:r>
          </a:p>
        </p:txBody>
      </p:sp>
      <p:sp>
        <p:nvSpPr>
          <p:cNvPr id="136" name="TextBox 135">
            <a:extLst>
              <a:ext uri="{FF2B5EF4-FFF2-40B4-BE49-F238E27FC236}">
                <a16:creationId xmlns:a16="http://schemas.microsoft.com/office/drawing/2014/main" id="{D1FF1228-AEC9-534A-043A-2306A093D0ED}"/>
              </a:ext>
            </a:extLst>
          </p:cNvPr>
          <p:cNvSpPr txBox="1"/>
          <p:nvPr/>
        </p:nvSpPr>
        <p:spPr>
          <a:xfrm>
            <a:off x="9450630" y="3897847"/>
            <a:ext cx="2066544" cy="553998"/>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Third-party DNS configuration and integration; on-premise or Azure-based DNS resolver installation and configuration</a:t>
            </a:r>
            <a:endParaRPr lang="en-US" sz="900" noProof="0" dirty="0">
              <a:ea typeface="+mn-ea"/>
              <a:cs typeface="+mn-cs"/>
            </a:endParaRPr>
          </a:p>
        </p:txBody>
      </p:sp>
      <p:sp>
        <p:nvSpPr>
          <p:cNvPr id="129" name="TextBox 128">
            <a:extLst>
              <a:ext uri="{FF2B5EF4-FFF2-40B4-BE49-F238E27FC236}">
                <a16:creationId xmlns:a16="http://schemas.microsoft.com/office/drawing/2014/main" id="{BB2A6A71-2AE2-BA4B-B167-5F41584042C6}"/>
              </a:ext>
            </a:extLst>
          </p:cNvPr>
          <p:cNvSpPr txBox="1"/>
          <p:nvPr/>
        </p:nvSpPr>
        <p:spPr>
          <a:xfrm>
            <a:off x="6579191" y="4646209"/>
            <a:ext cx="2523744" cy="553998"/>
          </a:xfrm>
          <a:prstGeom prst="rect">
            <a:avLst/>
          </a:prstGeom>
          <a:noFill/>
        </p:spPr>
        <p:txBody>
          <a:bodyPr wrap="square" lIns="0" tIns="0" rIns="0" bIns="0" anchor="t">
            <a:spAutoFit/>
          </a:bodyPr>
          <a:lstStyle/>
          <a:p>
            <a:pPr>
              <a:defRPr/>
            </a:pPr>
            <a:r>
              <a:rPr lang="en-US" sz="900" kern="0" noProof="0" dirty="0">
                <a:solidFill>
                  <a:srgbClr val="000000"/>
                </a:solidFill>
                <a:cs typeface="Segoe Sans Text"/>
              </a:rPr>
              <a:t>Any Oracle License cost or Azure cost involved during the data migration; such costs are considered part of customer's commitment, which is secured before the migration</a:t>
            </a:r>
            <a:endParaRPr lang="en-US" sz="900" noProof="0" dirty="0">
              <a:ea typeface="+mn-ea"/>
              <a:cs typeface="+mn-cs"/>
            </a:endParaRPr>
          </a:p>
        </p:txBody>
      </p:sp>
      <p:sp>
        <p:nvSpPr>
          <p:cNvPr id="137" name="TextBox 136">
            <a:extLst>
              <a:ext uri="{FF2B5EF4-FFF2-40B4-BE49-F238E27FC236}">
                <a16:creationId xmlns:a16="http://schemas.microsoft.com/office/drawing/2014/main" id="{9A699A07-29BE-3055-22C2-0C88A311AF94}"/>
              </a:ext>
            </a:extLst>
          </p:cNvPr>
          <p:cNvSpPr txBox="1"/>
          <p:nvPr/>
        </p:nvSpPr>
        <p:spPr>
          <a:xfrm>
            <a:off x="9450630" y="4784709"/>
            <a:ext cx="2066544" cy="276999"/>
          </a:xfrm>
          <a:prstGeom prst="rect">
            <a:avLst/>
          </a:prstGeom>
          <a:noFill/>
        </p:spPr>
        <p:txBody>
          <a:bodyPr wrap="square" lIns="0" tIns="0" rIns="0" bIns="0" anchor="t">
            <a:spAutoFit/>
          </a:bodyPr>
          <a:lstStyle/>
          <a:p>
            <a:pPr lvl="0">
              <a:defRPr/>
            </a:pPr>
            <a:r>
              <a:rPr lang="en-US" sz="900" kern="0" noProof="0" dirty="0">
                <a:solidFill>
                  <a:srgbClr val="000000"/>
                </a:solidFill>
                <a:cs typeface="Segoe Sans Text"/>
              </a:rPr>
              <a:t>Application switchover &amp; post migration checks</a:t>
            </a:r>
            <a:endParaRPr lang="en-US" sz="900" noProof="0" dirty="0">
              <a:solidFill>
                <a:srgbClr val="000000"/>
              </a:solidFill>
            </a:endParaRPr>
          </a:p>
        </p:txBody>
      </p:sp>
      <p:cxnSp>
        <p:nvCxnSpPr>
          <p:cNvPr id="139" name="Straight Connector 138">
            <a:extLst>
              <a:ext uri="{FF2B5EF4-FFF2-40B4-BE49-F238E27FC236}">
                <a16:creationId xmlns:a16="http://schemas.microsoft.com/office/drawing/2014/main" id="{3CCE9B14-72B2-77C4-B06B-B30E48826E66}"/>
              </a:ext>
              <a:ext uri="{C183D7F6-B498-43B3-948B-1728B52AA6E4}">
                <adec:decorative xmlns:adec="http://schemas.microsoft.com/office/drawing/2017/decorative" val="1"/>
              </a:ext>
            </a:extLst>
          </p:cNvPr>
          <p:cNvCxnSpPr>
            <a:cxnSpLocks/>
          </p:cNvCxnSpPr>
          <p:nvPr/>
        </p:nvCxnSpPr>
        <p:spPr>
          <a:xfrm>
            <a:off x="1031786" y="4503589"/>
            <a:ext cx="49194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7C7A54A7-E828-FA0E-CC03-341AC10E650B}"/>
              </a:ext>
              <a:ext uri="{C183D7F6-B498-43B3-948B-1728B52AA6E4}">
                <adec:decorative xmlns:adec="http://schemas.microsoft.com/office/drawing/2017/decorative" val="1"/>
              </a:ext>
            </a:extLst>
          </p:cNvPr>
          <p:cNvCxnSpPr>
            <a:cxnSpLocks/>
          </p:cNvCxnSpPr>
          <p:nvPr/>
        </p:nvCxnSpPr>
        <p:spPr>
          <a:xfrm>
            <a:off x="1031786" y="2984435"/>
            <a:ext cx="49194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09072C4-A26D-215C-2A03-7133274278D1}"/>
              </a:ext>
              <a:ext uri="{C183D7F6-B498-43B3-948B-1728B52AA6E4}">
                <adec:decorative xmlns:adec="http://schemas.microsoft.com/office/drawing/2017/decorative" val="1"/>
              </a:ext>
            </a:extLst>
          </p:cNvPr>
          <p:cNvCxnSpPr>
            <a:cxnSpLocks/>
          </p:cNvCxnSpPr>
          <p:nvPr/>
        </p:nvCxnSpPr>
        <p:spPr>
          <a:xfrm>
            <a:off x="1031786" y="3874094"/>
            <a:ext cx="49194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3FAE909-5986-F071-F541-3F14F65294F9}"/>
              </a:ext>
              <a:ext uri="{C183D7F6-B498-43B3-948B-1728B52AA6E4}">
                <adec:decorative xmlns:adec="http://schemas.microsoft.com/office/drawing/2017/decorative" val="1"/>
              </a:ext>
            </a:extLst>
          </p:cNvPr>
          <p:cNvCxnSpPr>
            <a:cxnSpLocks/>
          </p:cNvCxnSpPr>
          <p:nvPr/>
        </p:nvCxnSpPr>
        <p:spPr>
          <a:xfrm>
            <a:off x="1031786" y="5429281"/>
            <a:ext cx="49194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0DA754F5-D9F8-832C-14DF-7A190ED76B76}"/>
              </a:ext>
              <a:ext uri="{C183D7F6-B498-43B3-948B-1728B52AA6E4}">
                <adec:decorative xmlns:adec="http://schemas.microsoft.com/office/drawing/2017/decorative" val="1"/>
              </a:ext>
            </a:extLst>
          </p:cNvPr>
          <p:cNvCxnSpPr>
            <a:cxnSpLocks/>
          </p:cNvCxnSpPr>
          <p:nvPr/>
        </p:nvCxnSpPr>
        <p:spPr>
          <a:xfrm>
            <a:off x="9450630" y="3800665"/>
            <a:ext cx="2066544"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30B13F6-773F-AB28-BD62-5126D6812574}"/>
              </a:ext>
              <a:ext uri="{C183D7F6-B498-43B3-948B-1728B52AA6E4}">
                <adec:decorative xmlns:adec="http://schemas.microsoft.com/office/drawing/2017/decorative" val="1"/>
              </a:ext>
            </a:extLst>
          </p:cNvPr>
          <p:cNvCxnSpPr>
            <a:cxnSpLocks/>
          </p:cNvCxnSpPr>
          <p:nvPr/>
        </p:nvCxnSpPr>
        <p:spPr>
          <a:xfrm>
            <a:off x="1031786" y="5194766"/>
            <a:ext cx="49194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336C3BD4-7728-BEFD-2D9A-DF322E4F5EA5}"/>
              </a:ext>
            </a:extLst>
          </p:cNvPr>
          <p:cNvSpPr txBox="1"/>
          <p:nvPr/>
        </p:nvSpPr>
        <p:spPr>
          <a:xfrm>
            <a:off x="1031786" y="5242774"/>
            <a:ext cx="4919472" cy="138499"/>
          </a:xfrm>
          <a:prstGeom prst="rect">
            <a:avLst/>
          </a:prstGeom>
          <a:noFill/>
        </p:spPr>
        <p:txBody>
          <a:bodyPr wrap="square" lIns="0" tIns="0" rIns="0" bIns="0" anchor="t">
            <a:spAutoFit/>
          </a:bodyPr>
          <a:lstStyle/>
          <a:p>
            <a:pPr>
              <a:spcAft>
                <a:spcPts val="200"/>
              </a:spcAft>
              <a:defRPr/>
            </a:pPr>
            <a:r>
              <a:rPr lang="en-US" sz="900" kern="0" noProof="0" dirty="0">
                <a:solidFill>
                  <a:srgbClr val="000000"/>
                </a:solidFill>
                <a:latin typeface="+mj-lt"/>
                <a:cs typeface="Segoe Sans Text Semibold"/>
              </a:rPr>
              <a:t>Cut over from on-premise database to Oracle Database@Azure </a:t>
            </a:r>
          </a:p>
        </p:txBody>
      </p:sp>
      <p:sp>
        <p:nvSpPr>
          <p:cNvPr id="130" name="TextBox 129">
            <a:extLst>
              <a:ext uri="{FF2B5EF4-FFF2-40B4-BE49-F238E27FC236}">
                <a16:creationId xmlns:a16="http://schemas.microsoft.com/office/drawing/2014/main" id="{8EF07E1D-05A2-F2A4-5A96-743F6AADC85C}"/>
              </a:ext>
            </a:extLst>
          </p:cNvPr>
          <p:cNvSpPr txBox="1"/>
          <p:nvPr/>
        </p:nvSpPr>
        <p:spPr>
          <a:xfrm>
            <a:off x="6579191" y="5394571"/>
            <a:ext cx="2523744" cy="415498"/>
          </a:xfrm>
          <a:prstGeom prst="rect">
            <a:avLst/>
          </a:prstGeom>
          <a:noFill/>
        </p:spPr>
        <p:txBody>
          <a:bodyPr wrap="square" lIns="0" tIns="0" rIns="0" bIns="0" anchor="t">
            <a:spAutoFit/>
          </a:bodyPr>
          <a:lstStyle/>
          <a:p>
            <a:pPr>
              <a:defRPr/>
            </a:pPr>
            <a:r>
              <a:rPr lang="en-US" sz="900" kern="0" noProof="0" dirty="0">
                <a:solidFill>
                  <a:srgbClr val="000000"/>
                </a:solidFill>
                <a:cs typeface="Segoe UI"/>
              </a:rPr>
              <a:t>Usage </a:t>
            </a:r>
            <a:r>
              <a:rPr kumimoji="0" lang="en-US" sz="900" b="0" i="0" u="none" strike="noStrike" kern="0" cap="none" normalizeH="0" baseline="0" noProof="0" dirty="0">
                <a:ln>
                  <a:noFill/>
                </a:ln>
                <a:solidFill>
                  <a:srgbClr val="000000"/>
                </a:solidFill>
                <a:effectLst/>
                <a:uLnTx/>
                <a:uFillTx/>
                <a:cs typeface="Segoe UI"/>
              </a:rPr>
              <a:t>of </a:t>
            </a:r>
            <a:r>
              <a:rPr lang="en-US" sz="900" kern="0" noProof="0" dirty="0">
                <a:solidFill>
                  <a:srgbClr val="000000"/>
                </a:solidFill>
                <a:cs typeface="Segoe UI"/>
              </a:rPr>
              <a:t>”not supported”network topologies </a:t>
            </a:r>
            <a:r>
              <a:rPr kumimoji="0" lang="en-US" sz="900" b="0" i="0" u="none" strike="noStrike" kern="0" cap="none" normalizeH="0" baseline="0" noProof="0" dirty="0">
                <a:ln>
                  <a:noFill/>
                </a:ln>
                <a:solidFill>
                  <a:srgbClr val="000000"/>
                </a:solidFill>
                <a:effectLst/>
                <a:uLnTx/>
                <a:uFillTx/>
                <a:cs typeface="Segoe UI"/>
              </a:rPr>
              <a:t>(</a:t>
            </a:r>
            <a:r>
              <a:rPr lang="en-US" sz="900" kern="0" noProof="0" dirty="0">
                <a:solidFill>
                  <a:srgbClr val="000000"/>
                </a:solidFill>
                <a:cs typeface="Segoe UI"/>
              </a:rPr>
              <a:t>as ”per” </a:t>
            </a:r>
            <a:r>
              <a:rPr lang="en-US" sz="900" kern="0" noProof="0" dirty="0">
                <a:solidFill>
                  <a:schemeClr val="tx2"/>
                </a:solidFill>
                <a:cs typeface="Segoe UI"/>
                <a:hlinkClick r:id="rId4">
                  <a:extLst>
                    <a:ext uri="{A12FA001-AC4F-418D-AE19-62706E023703}">
                      <ahyp:hlinkClr xmlns:ahyp="http://schemas.microsoft.com/office/drawing/2018/hyperlinkcolor" val="tx"/>
                    </a:ext>
                  </a:extLst>
                </a:hlinkClick>
              </a:rPr>
              <a:t>Network planning for Oracle Database@Azure | Microsoft Learn</a:t>
            </a:r>
            <a:r>
              <a:rPr lang="en-US" sz="900" kern="0" noProof="0" dirty="0">
                <a:solidFill>
                  <a:schemeClr val="tx2"/>
                </a:solidFill>
                <a:cs typeface="Segoe UI"/>
              </a:rPr>
              <a:t>”</a:t>
            </a:r>
            <a:r>
              <a:rPr kumimoji="0" lang="en-US" sz="900" b="0" i="0" u="none" strike="noStrike" kern="0" cap="none" normalizeH="0" baseline="0" noProof="0" dirty="0">
                <a:ln>
                  <a:noFill/>
                </a:ln>
                <a:solidFill>
                  <a:schemeClr val="tx2"/>
                </a:solidFill>
                <a:effectLst/>
                <a:uLnTx/>
                <a:uFillTx/>
                <a:cs typeface="Segoe UI"/>
              </a:rPr>
              <a:t>)</a:t>
            </a:r>
            <a:endParaRPr lang="en-US" sz="900" noProof="0" dirty="0">
              <a:solidFill>
                <a:schemeClr val="tx2"/>
              </a:solidFill>
              <a:cs typeface="Segoe UI"/>
            </a:endParaRPr>
          </a:p>
        </p:txBody>
      </p:sp>
      <p:sp>
        <p:nvSpPr>
          <p:cNvPr id="153" name="TextBox 152">
            <a:extLst>
              <a:ext uri="{FF2B5EF4-FFF2-40B4-BE49-F238E27FC236}">
                <a16:creationId xmlns:a16="http://schemas.microsoft.com/office/drawing/2014/main" id="{1D1050A8-464D-B7DF-E425-09F83B4DE98F}"/>
              </a:ext>
            </a:extLst>
          </p:cNvPr>
          <p:cNvSpPr txBox="1"/>
          <p:nvPr/>
        </p:nvSpPr>
        <p:spPr>
          <a:xfrm>
            <a:off x="9450630" y="5533071"/>
            <a:ext cx="2066544"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normalizeH="0" baseline="0" noProof="0" dirty="0">
                <a:ln>
                  <a:noFill/>
                </a:ln>
                <a:solidFill>
                  <a:srgbClr val="000000"/>
                </a:solidFill>
                <a:effectLst/>
                <a:uLnTx/>
                <a:uFillTx/>
                <a:ea typeface="+mn-ea"/>
                <a:cs typeface="Segoe Sans Text"/>
              </a:rPr>
              <a:t>ACFS based </a:t>
            </a:r>
            <a:r>
              <a:rPr lang="en-US" sz="900" kern="0" noProof="0" dirty="0">
                <a:solidFill>
                  <a:srgbClr val="000000"/>
                </a:solidFill>
                <a:cs typeface="Segoe Sans Text"/>
              </a:rPr>
              <a:t>data</a:t>
            </a:r>
            <a:r>
              <a:rPr kumimoji="0" lang="en-US" sz="900" b="0" i="0" u="none" strike="noStrike" kern="0" cap="none" normalizeH="0" baseline="0" noProof="0" dirty="0">
                <a:ln>
                  <a:noFill/>
                </a:ln>
                <a:solidFill>
                  <a:srgbClr val="000000"/>
                </a:solidFill>
                <a:effectLst/>
                <a:uLnTx/>
                <a:uFillTx/>
                <a:ea typeface="+mn-ea"/>
                <a:cs typeface="Segoe Sans Text"/>
              </a:rPr>
              <a:t> migration</a:t>
            </a:r>
            <a:endParaRPr kumimoji="0" lang="en-US" sz="900" b="0" i="0" u="none" strike="noStrike" kern="1200" cap="none" normalizeH="0" baseline="0" noProof="0" dirty="0">
              <a:ln>
                <a:noFill/>
              </a:ln>
              <a:solidFill>
                <a:srgbClr val="000000"/>
              </a:solidFill>
              <a:effectLst/>
              <a:uLnTx/>
              <a:uFillTx/>
              <a:ea typeface="+mn-ea"/>
              <a:cs typeface="+mn-cs"/>
            </a:endParaRPr>
          </a:p>
        </p:txBody>
      </p:sp>
      <p:sp>
        <p:nvSpPr>
          <p:cNvPr id="158" name="TextBox 157">
            <a:extLst>
              <a:ext uri="{FF2B5EF4-FFF2-40B4-BE49-F238E27FC236}">
                <a16:creationId xmlns:a16="http://schemas.microsoft.com/office/drawing/2014/main" id="{1717DAAE-286B-FC39-D86A-9837FC040A3B}"/>
              </a:ext>
            </a:extLst>
          </p:cNvPr>
          <p:cNvSpPr txBox="1"/>
          <p:nvPr/>
        </p:nvSpPr>
        <p:spPr>
          <a:xfrm>
            <a:off x="1285875" y="2520399"/>
            <a:ext cx="4665382" cy="416028"/>
          </a:xfrm>
          <a:prstGeom prst="rect">
            <a:avLst/>
          </a:prstGeom>
          <a:noFill/>
        </p:spPr>
        <p:txBody>
          <a:bodyPr wrap="square" lIns="0" tIns="0" rIns="0" bIns="0" numCol="2" spcCol="365760" rtlCol="0">
            <a:noAutofit/>
          </a:bodyPr>
          <a:lstStyle/>
          <a:p>
            <a:pPr marL="123825" lvl="2" indent="-123825">
              <a:spcAft>
                <a:spcPts val="200"/>
              </a:spcAft>
              <a:buFont typeface="Segoe Sans Text" pitchFamily="2" charset="0"/>
              <a:buChar char="–"/>
              <a:defRPr/>
            </a:pPr>
            <a:r>
              <a:rPr lang="en-US" sz="800" kern="0" noProof="0" dirty="0">
                <a:solidFill>
                  <a:srgbClr val="000000"/>
                </a:solidFill>
                <a:cs typeface="Segoe Sans Text"/>
              </a:rPr>
              <a:t>RMAN</a:t>
            </a:r>
          </a:p>
          <a:p>
            <a:pPr marL="123825" lvl="2" indent="-123825">
              <a:spcAft>
                <a:spcPts val="200"/>
              </a:spcAft>
              <a:buFont typeface="Segoe Sans Text" pitchFamily="2" charset="0"/>
              <a:buChar char="–"/>
              <a:defRPr/>
            </a:pPr>
            <a:r>
              <a:rPr lang="en-US" sz="800" kern="0" noProof="0" dirty="0">
                <a:solidFill>
                  <a:srgbClr val="000000"/>
                </a:solidFill>
                <a:cs typeface="Segoe Sans Text"/>
              </a:rPr>
              <a:t>Data Guard</a:t>
            </a:r>
          </a:p>
          <a:p>
            <a:pPr marL="123825" lvl="2" indent="-123825">
              <a:spcAft>
                <a:spcPts val="200"/>
              </a:spcAft>
              <a:buFont typeface="Segoe Sans Text" pitchFamily="2" charset="0"/>
              <a:buChar char="–"/>
              <a:defRPr/>
            </a:pPr>
            <a:r>
              <a:rPr lang="en-US" sz="800" kern="0" noProof="0" dirty="0">
                <a:solidFill>
                  <a:srgbClr val="000000"/>
                </a:solidFill>
                <a:cs typeface="Segoe Sans Text"/>
              </a:rPr>
              <a:t>Datapump </a:t>
            </a:r>
          </a:p>
          <a:p>
            <a:pPr marL="123825" lvl="2" indent="-123825">
              <a:spcAft>
                <a:spcPts val="200"/>
              </a:spcAft>
              <a:buFont typeface="Segoe Sans Text" pitchFamily="2" charset="0"/>
              <a:buChar char="–"/>
              <a:defRPr/>
            </a:pPr>
            <a:r>
              <a:rPr lang="en-US" sz="800" kern="0" noProof="0" dirty="0">
                <a:solidFill>
                  <a:srgbClr val="000000"/>
                </a:solidFill>
                <a:cs typeface="Segoe Sans Text"/>
              </a:rPr>
              <a:t>ZDM</a:t>
            </a:r>
          </a:p>
          <a:p>
            <a:pPr marL="123825" lvl="2" indent="-123825">
              <a:spcAft>
                <a:spcPts val="200"/>
              </a:spcAft>
              <a:buFont typeface="Segoe Sans Text" pitchFamily="2" charset="0"/>
              <a:buChar char="–"/>
              <a:defRPr/>
            </a:pPr>
            <a:r>
              <a:rPr lang="en-US" sz="800" kern="0" noProof="0" dirty="0">
                <a:solidFill>
                  <a:srgbClr val="000000"/>
                </a:solidFill>
                <a:cs typeface="Segoe Sans Text"/>
              </a:rPr>
              <a:t>ZDM + Golden Gate</a:t>
            </a:r>
            <a:endParaRPr lang="en-US" sz="800" noProof="0" dirty="0">
              <a:solidFill>
                <a:srgbClr val="000000"/>
              </a:solidFill>
              <a:cs typeface="Segoe Sans Text"/>
            </a:endParaRPr>
          </a:p>
        </p:txBody>
      </p:sp>
      <p:cxnSp>
        <p:nvCxnSpPr>
          <p:cNvPr id="169" name="Straight Connector 168">
            <a:extLst>
              <a:ext uri="{FF2B5EF4-FFF2-40B4-BE49-F238E27FC236}">
                <a16:creationId xmlns:a16="http://schemas.microsoft.com/office/drawing/2014/main" id="{5D2F5A9B-BD22-CBD5-9727-636AF923BCE5}"/>
              </a:ext>
              <a:ext uri="{C183D7F6-B498-43B3-948B-1728B52AA6E4}">
                <adec:decorative xmlns:adec="http://schemas.microsoft.com/office/drawing/2017/decorative" val="1"/>
              </a:ext>
            </a:extLst>
          </p:cNvPr>
          <p:cNvCxnSpPr>
            <a:cxnSpLocks/>
          </p:cNvCxnSpPr>
          <p:nvPr/>
        </p:nvCxnSpPr>
        <p:spPr>
          <a:xfrm>
            <a:off x="9450630" y="1776715"/>
            <a:ext cx="2066544"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1871592F-DF3A-CF61-A2CF-53832C9C224D}"/>
              </a:ext>
              <a:ext uri="{C183D7F6-B498-43B3-948B-1728B52AA6E4}">
                <adec:decorative xmlns:adec="http://schemas.microsoft.com/office/drawing/2017/decorative" val="1"/>
              </a:ext>
            </a:extLst>
          </p:cNvPr>
          <p:cNvCxnSpPr>
            <a:cxnSpLocks/>
          </p:cNvCxnSpPr>
          <p:nvPr/>
        </p:nvCxnSpPr>
        <p:spPr>
          <a:xfrm>
            <a:off x="9450630" y="2248078"/>
            <a:ext cx="2066544"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23AA93B-E8D1-3D41-B162-A1EC332722A8}"/>
              </a:ext>
            </a:extLst>
          </p:cNvPr>
          <p:cNvSpPr txBox="1"/>
          <p:nvPr/>
        </p:nvSpPr>
        <p:spPr>
          <a:xfrm>
            <a:off x="1099503" y="4738104"/>
            <a:ext cx="5038126" cy="408654"/>
          </a:xfrm>
          <a:prstGeom prst="rect">
            <a:avLst/>
          </a:prstGeom>
          <a:noFill/>
        </p:spPr>
        <p:txBody>
          <a:bodyPr wrap="square" lIns="0" tIns="0" rIns="0" bIns="0" numCol="2" spcCol="457200" rtlCol="0">
            <a:noAutofit/>
          </a:bodyPr>
          <a:lstStyle/>
          <a:p>
            <a:pPr marL="123825" lvl="0" indent="-123825">
              <a:spcAft>
                <a:spcPts val="200"/>
              </a:spcAft>
              <a:buFont typeface="Arial" panose="020B0604020202020204" pitchFamily="34" charset="0"/>
              <a:buChar char="•"/>
              <a:defRPr/>
            </a:pPr>
            <a:r>
              <a:rPr lang="en-US" sz="800" kern="0" noProof="0" dirty="0">
                <a:solidFill>
                  <a:srgbClr val="000000"/>
                </a:solidFill>
                <a:cs typeface="Segoe Sans Text"/>
              </a:rPr>
              <a:t>ZDM for Physical Online/Offline Data Migration</a:t>
            </a:r>
          </a:p>
          <a:p>
            <a:pPr marL="123825" lvl="0" indent="-123825">
              <a:spcAft>
                <a:spcPts val="200"/>
              </a:spcAft>
              <a:buFont typeface="Arial" panose="020B0604020202020204" pitchFamily="34" charset="0"/>
              <a:buChar char="•"/>
              <a:defRPr/>
            </a:pPr>
            <a:r>
              <a:rPr lang="en-US" sz="800" kern="0" noProof="0" dirty="0">
                <a:solidFill>
                  <a:srgbClr val="000000"/>
                </a:solidFill>
                <a:cs typeface="Segoe Sans Text"/>
              </a:rPr>
              <a:t>ZDM + Golden Gate for Logical Online/Offline Data Migration</a:t>
            </a:r>
          </a:p>
          <a:p>
            <a:pPr marL="123825" lvl="0" indent="-123825">
              <a:spcAft>
                <a:spcPts val="200"/>
              </a:spcAft>
              <a:buFont typeface="Arial" panose="020B0604020202020204" pitchFamily="34" charset="0"/>
              <a:buChar char="•"/>
              <a:defRPr/>
            </a:pPr>
            <a:r>
              <a:rPr lang="en-US" sz="800" kern="0" noProof="0" dirty="0">
                <a:solidFill>
                  <a:srgbClr val="000000"/>
                </a:solidFill>
                <a:cs typeface="Segoe Sans Text"/>
              </a:rPr>
              <a:t>RMAN, Data pump – Offline Data Migration</a:t>
            </a:r>
          </a:p>
          <a:p>
            <a:pPr marL="123825" lvl="0" indent="-123825">
              <a:spcAft>
                <a:spcPts val="200"/>
              </a:spcAft>
              <a:buFont typeface="Arial" panose="020B0604020202020204" pitchFamily="34" charset="0"/>
              <a:buChar char="•"/>
              <a:defRPr/>
            </a:pPr>
            <a:r>
              <a:rPr lang="en-US" sz="800" kern="0" noProof="0" dirty="0">
                <a:solidFill>
                  <a:srgbClr val="000000"/>
                </a:solidFill>
                <a:cs typeface="Segoe Sans Text"/>
              </a:rPr>
              <a:t>Data Guard Physical Online Data Migration</a:t>
            </a:r>
            <a:endParaRPr lang="en-US" sz="800" noProof="0" dirty="0"/>
          </a:p>
        </p:txBody>
      </p:sp>
      <p:cxnSp>
        <p:nvCxnSpPr>
          <p:cNvPr id="175" name="Straight Connector 174">
            <a:extLst>
              <a:ext uri="{FF2B5EF4-FFF2-40B4-BE49-F238E27FC236}">
                <a16:creationId xmlns:a16="http://schemas.microsoft.com/office/drawing/2014/main" id="{B937770E-A568-806C-D710-1BA6C09AD55B}"/>
              </a:ext>
              <a:ext uri="{C183D7F6-B498-43B3-948B-1728B52AA6E4}">
                <adec:decorative xmlns:adec="http://schemas.microsoft.com/office/drawing/2017/decorative" val="1"/>
              </a:ext>
            </a:extLst>
          </p:cNvPr>
          <p:cNvCxnSpPr>
            <a:cxnSpLocks/>
          </p:cNvCxnSpPr>
          <p:nvPr/>
        </p:nvCxnSpPr>
        <p:spPr>
          <a:xfrm>
            <a:off x="9450630" y="3467802"/>
            <a:ext cx="2066544"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27AED8C-1F41-5DC4-AFF4-ABC993C8EF7B}"/>
              </a:ext>
              <a:ext uri="{C183D7F6-B498-43B3-948B-1728B52AA6E4}">
                <adec:decorative xmlns:adec="http://schemas.microsoft.com/office/drawing/2017/decorative" val="1"/>
              </a:ext>
            </a:extLst>
          </p:cNvPr>
          <p:cNvCxnSpPr>
            <a:cxnSpLocks/>
          </p:cNvCxnSpPr>
          <p:nvPr/>
        </p:nvCxnSpPr>
        <p:spPr>
          <a:xfrm>
            <a:off x="9450630" y="2857940"/>
            <a:ext cx="2066544"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B7E9920-DBA1-F632-3DB8-C097A80FED51}"/>
              </a:ext>
              <a:ext uri="{C183D7F6-B498-43B3-948B-1728B52AA6E4}">
                <adec:decorative xmlns:adec="http://schemas.microsoft.com/office/drawing/2017/decorative" val="1"/>
              </a:ext>
            </a:extLst>
          </p:cNvPr>
          <p:cNvCxnSpPr>
            <a:cxnSpLocks/>
          </p:cNvCxnSpPr>
          <p:nvPr/>
        </p:nvCxnSpPr>
        <p:spPr>
          <a:xfrm>
            <a:off x="9450630" y="5297389"/>
            <a:ext cx="2066544"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04AAFAC-87BF-C1DD-3565-9AB99D4E7420}"/>
              </a:ext>
              <a:ext uri="{C183D7F6-B498-43B3-948B-1728B52AA6E4}">
                <adec:decorative xmlns:adec="http://schemas.microsoft.com/office/drawing/2017/decorative" val="1"/>
              </a:ext>
            </a:extLst>
          </p:cNvPr>
          <p:cNvCxnSpPr>
            <a:cxnSpLocks/>
          </p:cNvCxnSpPr>
          <p:nvPr/>
        </p:nvCxnSpPr>
        <p:spPr>
          <a:xfrm>
            <a:off x="6579190" y="4549027"/>
            <a:ext cx="252040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9E1EEB3-08B6-0147-F912-2E9E2705A649}"/>
              </a:ext>
              <a:ext uri="{C183D7F6-B498-43B3-948B-1728B52AA6E4}">
                <adec:decorative xmlns:adec="http://schemas.microsoft.com/office/drawing/2017/decorative" val="1"/>
              </a:ext>
            </a:extLst>
          </p:cNvPr>
          <p:cNvCxnSpPr>
            <a:cxnSpLocks/>
          </p:cNvCxnSpPr>
          <p:nvPr/>
        </p:nvCxnSpPr>
        <p:spPr>
          <a:xfrm>
            <a:off x="6579190" y="3800665"/>
            <a:ext cx="252040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B4EFB73-B0C8-40D1-6813-0CDFBB26156F}"/>
              </a:ext>
              <a:ext uri="{C183D7F6-B498-43B3-948B-1728B52AA6E4}">
                <adec:decorative xmlns:adec="http://schemas.microsoft.com/office/drawing/2017/decorative" val="1"/>
              </a:ext>
            </a:extLst>
          </p:cNvPr>
          <p:cNvCxnSpPr>
            <a:cxnSpLocks/>
          </p:cNvCxnSpPr>
          <p:nvPr/>
        </p:nvCxnSpPr>
        <p:spPr>
          <a:xfrm>
            <a:off x="6579190" y="1776715"/>
            <a:ext cx="252040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D0A4742-1C78-B8D8-8978-5F871BBC6A97}"/>
              </a:ext>
              <a:ext uri="{C183D7F6-B498-43B3-948B-1728B52AA6E4}">
                <adec:decorative xmlns:adec="http://schemas.microsoft.com/office/drawing/2017/decorative" val="1"/>
              </a:ext>
            </a:extLst>
          </p:cNvPr>
          <p:cNvCxnSpPr>
            <a:cxnSpLocks/>
          </p:cNvCxnSpPr>
          <p:nvPr/>
        </p:nvCxnSpPr>
        <p:spPr>
          <a:xfrm>
            <a:off x="6579190" y="2248078"/>
            <a:ext cx="252040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DA03CC2-3BE5-4CD2-D73E-0D397A3E3BF7}"/>
              </a:ext>
              <a:ext uri="{C183D7F6-B498-43B3-948B-1728B52AA6E4}">
                <adec:decorative xmlns:adec="http://schemas.microsoft.com/office/drawing/2017/decorative" val="1"/>
              </a:ext>
            </a:extLst>
          </p:cNvPr>
          <p:cNvCxnSpPr>
            <a:cxnSpLocks/>
          </p:cNvCxnSpPr>
          <p:nvPr/>
        </p:nvCxnSpPr>
        <p:spPr>
          <a:xfrm>
            <a:off x="6579190" y="3467802"/>
            <a:ext cx="252040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FF178FC-39BD-6D01-61CE-9E7167E35A8C}"/>
              </a:ext>
              <a:ext uri="{C183D7F6-B498-43B3-948B-1728B52AA6E4}">
                <adec:decorative xmlns:adec="http://schemas.microsoft.com/office/drawing/2017/decorative" val="1"/>
              </a:ext>
            </a:extLst>
          </p:cNvPr>
          <p:cNvCxnSpPr>
            <a:cxnSpLocks/>
          </p:cNvCxnSpPr>
          <p:nvPr/>
        </p:nvCxnSpPr>
        <p:spPr>
          <a:xfrm>
            <a:off x="6579190" y="2857940"/>
            <a:ext cx="252040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55AA206-2383-1531-2EFC-0944328DB44D}"/>
              </a:ext>
              <a:ext uri="{C183D7F6-B498-43B3-948B-1728B52AA6E4}">
                <adec:decorative xmlns:adec="http://schemas.microsoft.com/office/drawing/2017/decorative" val="1"/>
              </a:ext>
            </a:extLst>
          </p:cNvPr>
          <p:cNvCxnSpPr>
            <a:cxnSpLocks/>
          </p:cNvCxnSpPr>
          <p:nvPr/>
        </p:nvCxnSpPr>
        <p:spPr>
          <a:xfrm>
            <a:off x="6579190" y="5297389"/>
            <a:ext cx="2520401"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CE9A99E-9212-CD5A-66B4-065E9CE0AEBF}"/>
              </a:ext>
            </a:extLst>
          </p:cNvPr>
          <p:cNvSpPr txBox="1">
            <a:spLocks/>
          </p:cNvSpPr>
          <p:nvPr/>
        </p:nvSpPr>
        <p:spPr>
          <a:xfrm>
            <a:off x="708782" y="883315"/>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15" name="TextBox 14">
            <a:extLst>
              <a:ext uri="{FF2B5EF4-FFF2-40B4-BE49-F238E27FC236}">
                <a16:creationId xmlns:a16="http://schemas.microsoft.com/office/drawing/2014/main" id="{01C20CDB-15EE-C413-0F03-40674EC8A8D5}"/>
              </a:ext>
            </a:extLst>
          </p:cNvPr>
          <p:cNvSpPr txBox="1">
            <a:spLocks/>
          </p:cNvSpPr>
          <p:nvPr/>
        </p:nvSpPr>
        <p:spPr>
          <a:xfrm>
            <a:off x="6259601" y="884171"/>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6" name="TextBox 5">
            <a:extLst>
              <a:ext uri="{FF2B5EF4-FFF2-40B4-BE49-F238E27FC236}">
                <a16:creationId xmlns:a16="http://schemas.microsoft.com/office/drawing/2014/main" id="{82400912-2F3F-98A7-B945-2CD8CD77CCFC}"/>
              </a:ext>
            </a:extLst>
          </p:cNvPr>
          <p:cNvSpPr txBox="1"/>
          <p:nvPr/>
        </p:nvSpPr>
        <p:spPr>
          <a:xfrm>
            <a:off x="6372072" y="1205093"/>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9" name="TextBox 28">
            <a:extLst>
              <a:ext uri="{FF2B5EF4-FFF2-40B4-BE49-F238E27FC236}">
                <a16:creationId xmlns:a16="http://schemas.microsoft.com/office/drawing/2014/main" id="{BFDC9E82-0E01-F807-9EF8-B91BE6FBBCE6}"/>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itle 1">
            <a:extLst>
              <a:ext uri="{FF2B5EF4-FFF2-40B4-BE49-F238E27FC236}">
                <a16:creationId xmlns:a16="http://schemas.microsoft.com/office/drawing/2014/main" id="{5CFF4061-9106-4B1C-D1C0-6DD490A3555F}"/>
              </a:ext>
            </a:extLst>
          </p:cNvPr>
          <p:cNvSpPr txBox="1">
            <a:spLocks/>
          </p:cNvSpPr>
          <p:nvPr/>
        </p:nvSpPr>
        <p:spPr>
          <a:xfrm>
            <a:off x="582945" y="295610"/>
            <a:ext cx="8284129" cy="861774"/>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defTabSz="914400">
              <a:spcBef>
                <a:spcPts val="0"/>
              </a:spcBef>
              <a:defRPr/>
            </a:pPr>
            <a:r>
              <a:rPr lang="en-US" sz="2800" noProof="0" dirty="0"/>
              <a:t>Oracle Database@Azure [ODAA] Migration Scope</a:t>
            </a:r>
            <a:br>
              <a:rPr lang="en-US" sz="2800" noProof="0" dirty="0"/>
            </a:br>
            <a:endParaRPr lang="en-US" sz="2800" noProof="0" dirty="0"/>
          </a:p>
        </p:txBody>
      </p:sp>
      <p:sp>
        <p:nvSpPr>
          <p:cNvPr id="18" name="TextBox 17">
            <a:extLst>
              <a:ext uri="{FF2B5EF4-FFF2-40B4-BE49-F238E27FC236}">
                <a16:creationId xmlns:a16="http://schemas.microsoft.com/office/drawing/2014/main" id="{81801FA2-C3A3-C70E-03A3-C8A9C1C018E4}"/>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321403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6" presetClass="emph" presetSubtype="0" fill="hold" grpId="1" nodeType="withEffect">
                                  <p:stCondLst>
                                    <p:cond delay="0"/>
                                  </p:stCondLst>
                                  <p:childTnLst>
                                    <p:animScale>
                                      <p:cBhvr>
                                        <p:cTn id="9" dur="100" fill="hold"/>
                                        <p:tgtEl>
                                          <p:spTgt spid="18"/>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8"/>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8" grpId="2"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391E5-1295-BFDB-AF96-3F8D17E0EA51}"/>
            </a:ext>
          </a:extLst>
        </p:cNvPr>
        <p:cNvGrpSpPr/>
        <p:nvPr/>
      </p:nvGrpSpPr>
      <p:grpSpPr>
        <a:xfrm>
          <a:off x="0" y="0"/>
          <a:ext cx="0" cy="0"/>
          <a:chOff x="0" y="0"/>
          <a:chExt cx="0" cy="0"/>
        </a:xfrm>
      </p:grpSpPr>
      <p:sp>
        <p:nvSpPr>
          <p:cNvPr id="18" name="Content Placeholder 4">
            <a:extLst>
              <a:ext uri="{FF2B5EF4-FFF2-40B4-BE49-F238E27FC236}">
                <a16:creationId xmlns:a16="http://schemas.microsoft.com/office/drawing/2014/main" id="{13FB1156-4561-CE10-257E-E8B0708526C7}"/>
              </a:ext>
            </a:extLst>
          </p:cNvPr>
          <p:cNvSpPr txBox="1">
            <a:spLocks/>
          </p:cNvSpPr>
          <p:nvPr/>
        </p:nvSpPr>
        <p:spPr>
          <a:xfrm>
            <a:off x="704185" y="1836677"/>
            <a:ext cx="2606455" cy="4175502"/>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03200" indent="-203200">
              <a:lnSpc>
                <a:spcPct val="100000"/>
              </a:lnSpc>
              <a:spcAft>
                <a:spcPts val="200"/>
              </a:spcAft>
              <a:buFont typeface="Wingdings" panose="05000000000000000000" pitchFamily="2" charset="2"/>
              <a:buChar char="ü"/>
              <a:tabLst>
                <a:tab pos="1200150" algn="l"/>
              </a:tabLst>
              <a:defRPr/>
            </a:pPr>
            <a:r>
              <a:rPr lang="en-US" sz="1100" noProof="0" dirty="0"/>
              <a:t>All outcome and deliverables detailed in either the ”Infrastructure and Database Migration (Windows and Linux)” or the ”Infrastructure and Database Migration (AVS)” Factory Service Offering (depending on case – for the non-Exadata Application tiers) (*)</a:t>
            </a:r>
          </a:p>
          <a:p>
            <a:pPr marL="203200" indent="-203200">
              <a:lnSpc>
                <a:spcPct val="100000"/>
              </a:lnSpc>
              <a:spcAft>
                <a:spcPts val="200"/>
              </a:spcAft>
              <a:buFont typeface="Wingdings" panose="05000000000000000000" pitchFamily="2" charset="2"/>
              <a:buChar char="ü"/>
              <a:tabLst>
                <a:tab pos="1200150" algn="l"/>
              </a:tabLst>
              <a:defRPr/>
            </a:pPr>
            <a:r>
              <a:rPr lang="en-US" sz="1100" noProof="0" dirty="0"/>
              <a:t>Deployment of the required ODAA Infrastructure and VM Cluster in Azure to facilitate the DB migration, based on initially captured deployment parameters</a:t>
            </a:r>
          </a:p>
          <a:p>
            <a:pPr marL="0" indent="0">
              <a:lnSpc>
                <a:spcPct val="100000"/>
              </a:lnSpc>
              <a:spcAft>
                <a:spcPts val="600"/>
              </a:spcAft>
              <a:buNone/>
              <a:tabLst>
                <a:tab pos="1200150" algn="l"/>
              </a:tabLst>
              <a:defRPr/>
            </a:pPr>
            <a:r>
              <a:rPr lang="en-US" sz="1100" noProof="0" dirty="0"/>
              <a:t>ODAA migrations via:</a:t>
            </a:r>
          </a:p>
          <a:p>
            <a:pPr marL="233363" lvl="1" indent="-144463">
              <a:lnSpc>
                <a:spcPct val="100000"/>
              </a:lnSpc>
              <a:spcBef>
                <a:spcPts val="0"/>
              </a:spcBef>
              <a:spcAft>
                <a:spcPts val="400"/>
              </a:spcAft>
              <a:buFont typeface="Arial" panose="020B0604020202020204" pitchFamily="34" charset="0"/>
              <a:buChar char="•"/>
              <a:tabLst>
                <a:tab pos="1200150" algn="l"/>
              </a:tabLst>
              <a:defRPr/>
            </a:pPr>
            <a:r>
              <a:rPr lang="en-US" sz="1000" noProof="0" dirty="0"/>
              <a:t>Oracle ZDM solution for Physical Online/Offline Data Migration </a:t>
            </a:r>
          </a:p>
          <a:p>
            <a:pPr marL="233363" lvl="1" indent="-144463">
              <a:lnSpc>
                <a:spcPct val="100000"/>
              </a:lnSpc>
              <a:spcBef>
                <a:spcPts val="0"/>
              </a:spcBef>
              <a:spcAft>
                <a:spcPts val="400"/>
              </a:spcAft>
              <a:buFont typeface="Arial" panose="020B0604020202020204" pitchFamily="34" charset="0"/>
              <a:buChar char="•"/>
              <a:tabLst>
                <a:tab pos="1200150" algn="l"/>
              </a:tabLst>
              <a:defRPr/>
            </a:pPr>
            <a:r>
              <a:rPr lang="en-US" sz="1000" noProof="0" dirty="0"/>
              <a:t>Oracle ZDM solution for Logical Online/Offline Data Migration </a:t>
            </a:r>
          </a:p>
          <a:p>
            <a:pPr marL="233363" lvl="1" indent="-144463">
              <a:lnSpc>
                <a:spcPct val="100000"/>
              </a:lnSpc>
              <a:spcBef>
                <a:spcPts val="0"/>
              </a:spcBef>
              <a:spcAft>
                <a:spcPts val="400"/>
              </a:spcAft>
              <a:buFont typeface="Arial" panose="020B0604020202020204" pitchFamily="34" charset="0"/>
              <a:buChar char="•"/>
              <a:tabLst>
                <a:tab pos="1200150" algn="l"/>
              </a:tabLst>
              <a:defRPr/>
            </a:pPr>
            <a:r>
              <a:rPr lang="en-US" sz="1000" noProof="0" dirty="0"/>
              <a:t>RMAN, Datapump – Offline Data Migration</a:t>
            </a:r>
          </a:p>
          <a:p>
            <a:pPr marL="233363" lvl="1" indent="-144463">
              <a:lnSpc>
                <a:spcPct val="100000"/>
              </a:lnSpc>
              <a:spcBef>
                <a:spcPts val="0"/>
              </a:spcBef>
              <a:spcAft>
                <a:spcPts val="400"/>
              </a:spcAft>
              <a:buFont typeface="Arial" panose="020B0604020202020204" pitchFamily="34" charset="0"/>
              <a:buChar char="•"/>
              <a:tabLst>
                <a:tab pos="1200150" algn="l"/>
              </a:tabLst>
              <a:defRPr/>
            </a:pPr>
            <a:r>
              <a:rPr lang="en-US" sz="1000" noProof="0" dirty="0"/>
              <a:t>Data Guard + Golden Gate Logical Online Data Migration </a:t>
            </a:r>
          </a:p>
        </p:txBody>
      </p:sp>
      <p:sp>
        <p:nvSpPr>
          <p:cNvPr id="6" name="Title 5">
            <a:extLst>
              <a:ext uri="{FF2B5EF4-FFF2-40B4-BE49-F238E27FC236}">
                <a16:creationId xmlns:a16="http://schemas.microsoft.com/office/drawing/2014/main" id="{F933B39F-941B-422B-8C55-DD0AD385FCCB}"/>
              </a:ext>
            </a:extLst>
          </p:cNvPr>
          <p:cNvSpPr>
            <a:spLocks noGrp="1"/>
          </p:cNvSpPr>
          <p:nvPr>
            <p:ph type="title"/>
          </p:nvPr>
        </p:nvSpPr>
        <p:spPr>
          <a:xfrm>
            <a:off x="711220" y="404974"/>
            <a:ext cx="6946954"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Oracle Database@Azure [ODAA]</a:t>
            </a:r>
            <a:endParaRPr lang="en-US" sz="2800" noProof="0" dirty="0"/>
          </a:p>
        </p:txBody>
      </p:sp>
      <p:sp>
        <p:nvSpPr>
          <p:cNvPr id="16" name="Rounded Rectangle 55">
            <a:extLst>
              <a:ext uri="{FF2B5EF4-FFF2-40B4-BE49-F238E27FC236}">
                <a16:creationId xmlns:a16="http://schemas.microsoft.com/office/drawing/2014/main" id="{6276FEA9-3AFA-C8CD-2F92-EF4B36263D28}"/>
              </a:ext>
              <a:ext uri="{C183D7F6-B498-43B3-948B-1728B52AA6E4}">
                <adec:decorative xmlns:adec="http://schemas.microsoft.com/office/drawing/2017/decorative" val="1"/>
              </a:ext>
            </a:extLst>
          </p:cNvPr>
          <p:cNvSpPr/>
          <p:nvPr/>
        </p:nvSpPr>
        <p:spPr bwMode="auto">
          <a:xfrm>
            <a:off x="671503" y="1437006"/>
            <a:ext cx="2513018" cy="4749784"/>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1" name="TextBox 20">
            <a:extLst>
              <a:ext uri="{FF2B5EF4-FFF2-40B4-BE49-F238E27FC236}">
                <a16:creationId xmlns:a16="http://schemas.microsoft.com/office/drawing/2014/main" id="{54AE1B0A-D5A5-8ACB-E74B-B5745CDA1DD8}"/>
              </a:ext>
            </a:extLst>
          </p:cNvPr>
          <p:cNvSpPr txBox="1"/>
          <p:nvPr/>
        </p:nvSpPr>
        <p:spPr>
          <a:xfrm>
            <a:off x="3398430" y="1580462"/>
            <a:ext cx="8471174" cy="4488408"/>
          </a:xfrm>
          <a:prstGeom prst="rect">
            <a:avLst/>
          </a:prstGeom>
          <a:noFill/>
        </p:spPr>
        <p:txBody>
          <a:bodyPr wrap="square">
            <a:spAutoFit/>
          </a:bodyPr>
          <a:lstStyle/>
          <a:p>
            <a:pPr marL="198438" lvl="1" indent="-198438">
              <a:spcAft>
                <a:spcPts val="200"/>
              </a:spcAft>
              <a:buFontTx/>
              <a:buAutoNum type="arabicPeriod"/>
              <a:defRPr/>
            </a:pPr>
            <a:r>
              <a:rPr lang="en-US" sz="1200" kern="0" noProof="0" dirty="0">
                <a:solidFill>
                  <a:schemeClr val="tx2"/>
                </a:solidFill>
                <a:latin typeface="+mj-lt"/>
              </a:rPr>
              <a:t>Oracle associated application Infrastructure Migration –( VMs, AVS or Apps Modernization)</a:t>
            </a:r>
            <a:endParaRPr lang="en-US" sz="1200" noProof="0" dirty="0">
              <a:solidFill>
                <a:schemeClr val="tx2"/>
              </a:solidFill>
              <a:latin typeface="+mj-lt"/>
            </a:endParaRPr>
          </a:p>
          <a:p>
            <a:pPr marL="463550" lvl="1" indent="-142875">
              <a:spcAft>
                <a:spcPts val="400"/>
              </a:spcAft>
              <a:buFont typeface="Arial" panose="020B0604020202020204" pitchFamily="34" charset="0"/>
              <a:buChar char="•"/>
              <a:defRPr/>
            </a:pPr>
            <a:r>
              <a:rPr lang="en-US" sz="1100" kern="0" noProof="0" dirty="0"/>
              <a:t>Deliver a comprehensive and seamless application migration experience, along with the on-premises or public cloud Oracle databases migration to ODAA.</a:t>
            </a:r>
          </a:p>
          <a:p>
            <a:pPr marL="198438" lvl="1" indent="-198438">
              <a:spcBef>
                <a:spcPts val="600"/>
              </a:spcBef>
              <a:spcAft>
                <a:spcPts val="200"/>
              </a:spcAft>
              <a:buFont typeface="+mj-lt"/>
              <a:buAutoNum type="arabicPeriod" startAt="2"/>
              <a:defRPr/>
            </a:pPr>
            <a:r>
              <a:rPr lang="en-US" sz="1200" kern="0" noProof="0" dirty="0">
                <a:solidFill>
                  <a:schemeClr val="tx2"/>
                </a:solidFill>
                <a:latin typeface="+mj-lt"/>
              </a:rPr>
              <a:t>ODAA infrastructure deployment</a:t>
            </a:r>
          </a:p>
          <a:p>
            <a:pPr marL="463550" lvl="1" indent="-142875">
              <a:spcAft>
                <a:spcPts val="400"/>
              </a:spcAft>
              <a:buFont typeface="Arial" panose="020B0604020202020204" pitchFamily="34" charset="0"/>
              <a:buChar char="•"/>
              <a:defRPr/>
            </a:pPr>
            <a:r>
              <a:rPr lang="en-US" sz="1100" kern="0" noProof="0" dirty="0"/>
              <a:t>Capture all required deployment parameters (based on Customer‘s input and OCI-delivered sizing)</a:t>
            </a:r>
          </a:p>
          <a:p>
            <a:pPr marL="463550" lvl="1" indent="-142875">
              <a:spcAft>
                <a:spcPts val="400"/>
              </a:spcAft>
              <a:buFont typeface="Arial" panose="020B0604020202020204" pitchFamily="34" charset="0"/>
              <a:buChar char="•"/>
              <a:defRPr/>
            </a:pPr>
            <a:r>
              <a:rPr lang="en-US" sz="1100" kern="0" noProof="0" dirty="0"/>
              <a:t>Create required/suitable VNet/Subnet and CIDER IP ranges</a:t>
            </a:r>
          </a:p>
          <a:p>
            <a:pPr marL="463550" lvl="1" indent="-142875">
              <a:spcAft>
                <a:spcPts val="400"/>
              </a:spcAft>
              <a:buFont typeface="Arial" panose="020B0604020202020204" pitchFamily="34" charset="0"/>
              <a:buChar char="•"/>
              <a:defRPr/>
            </a:pPr>
            <a:r>
              <a:rPr lang="en-US" sz="1100" kern="0" noProof="0" dirty="0"/>
              <a:t>Deploy the required ODAA Infrastructure, based on Customer‘s detailed input</a:t>
            </a:r>
          </a:p>
          <a:p>
            <a:pPr marL="463550" lvl="1" indent="-142875">
              <a:spcAft>
                <a:spcPts val="400"/>
              </a:spcAft>
              <a:buFont typeface="Arial" panose="020B0604020202020204" pitchFamily="34" charset="0"/>
              <a:buChar char="•"/>
              <a:defRPr/>
            </a:pPr>
            <a:r>
              <a:rPr lang="en-US" sz="1100" kern="0" noProof="0" dirty="0"/>
              <a:t>Perform customer preferred DNS configuration activities &amp; Azure Key Vault configuration</a:t>
            </a:r>
          </a:p>
          <a:p>
            <a:pPr marL="463550" lvl="1" indent="-142875">
              <a:spcAft>
                <a:spcPts val="400"/>
              </a:spcAft>
              <a:buFont typeface="Arial" panose="020B0604020202020204" pitchFamily="34" charset="0"/>
              <a:buChar char="•"/>
              <a:defRPr/>
            </a:pPr>
            <a:r>
              <a:rPr lang="en-US" sz="1100" kern="0" noProof="0" dirty="0"/>
              <a:t>Creation of databases (CDB | PDB | Others)</a:t>
            </a:r>
          </a:p>
          <a:p>
            <a:pPr marL="463550" lvl="1" indent="-142875">
              <a:spcAft>
                <a:spcPts val="800"/>
              </a:spcAft>
              <a:buFont typeface="Arial" panose="020B0604020202020204" pitchFamily="34" charset="0"/>
              <a:buChar char="•"/>
              <a:defRPr/>
            </a:pPr>
            <a:r>
              <a:rPr lang="en-US" sz="1100" kern="0" noProof="0" dirty="0"/>
              <a:t>Other Configurations – HA/DR, Backup, Security, Monitoring</a:t>
            </a:r>
          </a:p>
          <a:p>
            <a:pPr marL="198438" lvl="1" indent="-198438">
              <a:spcBef>
                <a:spcPts val="600"/>
              </a:spcBef>
              <a:spcAft>
                <a:spcPts val="200"/>
              </a:spcAft>
              <a:buFont typeface="+mj-lt"/>
              <a:buAutoNum type="arabicPeriod" startAt="3"/>
              <a:defRPr/>
            </a:pPr>
            <a:r>
              <a:rPr lang="en-US" sz="1200" kern="0" noProof="0" dirty="0">
                <a:solidFill>
                  <a:schemeClr val="tx2"/>
                </a:solidFill>
                <a:latin typeface="+mj-lt"/>
              </a:rPr>
              <a:t>ODAA migration setup and implementation</a:t>
            </a:r>
          </a:p>
          <a:p>
            <a:pPr marL="463550" lvl="1" indent="-120650">
              <a:spcAft>
                <a:spcPts val="400"/>
              </a:spcAft>
              <a:buFont typeface="Arial" panose="020B0604020202020204" pitchFamily="34" charset="0"/>
              <a:buChar char="•"/>
              <a:defRPr/>
            </a:pPr>
            <a:r>
              <a:rPr lang="en-US" sz="1100" kern="0" noProof="0" dirty="0"/>
              <a:t>Conclude overall Migration Planning, based on the combined outcome of Azure Migrate Discovery and Assessment (Oracle estate associated application infrastructure), Database Inventory scoped for migration</a:t>
            </a:r>
          </a:p>
          <a:p>
            <a:pPr marL="463550" lvl="1" indent="-120650">
              <a:spcAft>
                <a:spcPts val="400"/>
              </a:spcAft>
              <a:buFont typeface="Arial" panose="020B0604020202020204" pitchFamily="34" charset="0"/>
              <a:buChar char="•"/>
              <a:defRPr/>
            </a:pPr>
            <a:r>
              <a:rPr lang="en-US" sz="1100" kern="0" noProof="0" dirty="0"/>
              <a:t>Deploy and configure suitably the respective migration tool of Customer‘s choice:</a:t>
            </a:r>
          </a:p>
          <a:p>
            <a:pPr marL="685800" lvl="0" indent="-144463">
              <a:spcAft>
                <a:spcPts val="400"/>
              </a:spcAft>
              <a:buFont typeface="Segoe Sans Text" pitchFamily="2" charset="0"/>
              <a:buChar char="–"/>
              <a:defRPr/>
            </a:pPr>
            <a:r>
              <a:rPr lang="en-US" sz="1000" kern="0" noProof="0" dirty="0"/>
              <a:t>Oracle ZDM solution for Physical Online/Offline Data Migration </a:t>
            </a:r>
          </a:p>
          <a:p>
            <a:pPr marL="685800" indent="-144463">
              <a:spcAft>
                <a:spcPts val="400"/>
              </a:spcAft>
              <a:buFont typeface="Segoe Sans Text" pitchFamily="2" charset="0"/>
              <a:buChar char="–"/>
              <a:defRPr/>
            </a:pPr>
            <a:r>
              <a:rPr lang="en-US" sz="1000" kern="0" noProof="0" dirty="0"/>
              <a:t>Oracle ZDM + Golden Gate solution for Logical Online/Offline Data Migration </a:t>
            </a:r>
          </a:p>
          <a:p>
            <a:pPr marL="685800" lvl="2" indent="-144463">
              <a:spcAft>
                <a:spcPts val="400"/>
              </a:spcAft>
              <a:buFont typeface="Segoe Sans Text" pitchFamily="2" charset="0"/>
              <a:buChar char="–"/>
              <a:defRPr/>
            </a:pPr>
            <a:r>
              <a:rPr lang="en-US" sz="1000" kern="0" noProof="0" dirty="0"/>
              <a:t>RMAN, Datapump – Offline Data Migration</a:t>
            </a:r>
          </a:p>
          <a:p>
            <a:pPr marL="685800" lvl="2" indent="-144463">
              <a:spcAft>
                <a:spcPts val="400"/>
              </a:spcAft>
              <a:buFont typeface="Segoe Sans Text" pitchFamily="2" charset="0"/>
              <a:buChar char="–"/>
              <a:defRPr/>
            </a:pPr>
            <a:r>
              <a:rPr lang="en-US" sz="1000" kern="0" noProof="0" dirty="0"/>
              <a:t>Data Guard Physical Online Data Migration </a:t>
            </a:r>
          </a:p>
          <a:p>
            <a:pPr marL="463550" lvl="1" indent="-120650">
              <a:spcAft>
                <a:spcPts val="400"/>
              </a:spcAft>
              <a:buFont typeface="Arial" panose="020B0604020202020204" pitchFamily="34" charset="0"/>
              <a:buChar char="•"/>
              <a:defRPr/>
            </a:pPr>
            <a:r>
              <a:rPr lang="en-US" sz="1100" kern="0" noProof="0" dirty="0"/>
              <a:t>Perform Oracle estate migrations from on-premises/public cloud to ODAA based Customer‘s preferred migration tool/methodology.</a:t>
            </a:r>
          </a:p>
        </p:txBody>
      </p:sp>
      <p:sp>
        <p:nvSpPr>
          <p:cNvPr id="3" name="TextBox 2">
            <a:extLst>
              <a:ext uri="{FF2B5EF4-FFF2-40B4-BE49-F238E27FC236}">
                <a16:creationId xmlns:a16="http://schemas.microsoft.com/office/drawing/2014/main" id="{4099CBEC-BD5F-A336-D519-85ED5611A332}"/>
              </a:ext>
            </a:extLst>
          </p:cNvPr>
          <p:cNvSpPr txBox="1"/>
          <p:nvPr/>
        </p:nvSpPr>
        <p:spPr>
          <a:xfrm>
            <a:off x="815865" y="1506413"/>
            <a:ext cx="2309042"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 name="TextBox 1">
            <a:extLst>
              <a:ext uri="{FF2B5EF4-FFF2-40B4-BE49-F238E27FC236}">
                <a16:creationId xmlns:a16="http://schemas.microsoft.com/office/drawing/2014/main" id="{4B7285F4-038F-BC1D-6708-C3AE417D04D7}"/>
              </a:ext>
            </a:extLst>
          </p:cNvPr>
          <p:cNvSpPr txBox="1"/>
          <p:nvPr/>
        </p:nvSpPr>
        <p:spPr>
          <a:xfrm>
            <a:off x="691840" y="6570916"/>
            <a:ext cx="11018520" cy="123111"/>
          </a:xfrm>
          <a:prstGeom prst="rect">
            <a:avLst/>
          </a:prstGeom>
          <a:noFill/>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r>
              <a:rPr lang="en-US" sz="800" noProof="0" dirty="0">
                <a:latin typeface="+mj-lt"/>
                <a:cs typeface="Segoe Sans Text"/>
              </a:rPr>
              <a:t>(*)</a:t>
            </a:r>
            <a:r>
              <a:rPr lang="en-US" sz="800" noProof="0" dirty="0">
                <a:cs typeface="Segoe Sans Text"/>
              </a:rPr>
              <a:t> For more information on the </a:t>
            </a:r>
            <a:r>
              <a:rPr lang="en-US" sz="800" noProof="0" dirty="0">
                <a:latin typeface="+mj-lt"/>
                <a:cs typeface="Segoe Sans Text"/>
              </a:rPr>
              <a:t>“Infrastructure and Database Migration (Windows and Linux)”</a:t>
            </a:r>
            <a:r>
              <a:rPr lang="en-US" sz="800" noProof="0" dirty="0">
                <a:cs typeface="Segoe Sans Text"/>
              </a:rPr>
              <a:t> or </a:t>
            </a:r>
            <a:r>
              <a:rPr lang="en-US" sz="800" noProof="0" dirty="0">
                <a:latin typeface="+mj-lt"/>
                <a:cs typeface="Segoe Sans Text"/>
              </a:rPr>
              <a:t>”Infrastructure and Database Migration (AVS)”</a:t>
            </a:r>
            <a:r>
              <a:rPr lang="en-US" sz="800" noProof="0" dirty="0">
                <a:cs typeface="Segoe Sans Text"/>
              </a:rPr>
              <a:t> Factory service offerings, please refer to the respective sections of this presentation</a:t>
            </a:r>
          </a:p>
        </p:txBody>
      </p:sp>
      <p:sp>
        <p:nvSpPr>
          <p:cNvPr id="8" name="Graphic 23">
            <a:extLst>
              <a:ext uri="{FF2B5EF4-FFF2-40B4-BE49-F238E27FC236}">
                <a16:creationId xmlns:a16="http://schemas.microsoft.com/office/drawing/2014/main" id="{089963D7-8FE3-77BD-9312-FD82D2BF7D36}"/>
              </a:ext>
              <a:ext uri="{C183D7F6-B498-43B3-948B-1728B52AA6E4}">
                <adec:decorative xmlns:adec="http://schemas.microsoft.com/office/drawing/2017/decorative" val="1"/>
              </a:ext>
            </a:extLst>
          </p:cNvPr>
          <p:cNvSpPr/>
          <p:nvPr/>
        </p:nvSpPr>
        <p:spPr>
          <a:xfrm>
            <a:off x="720615" y="191405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Graphic 23">
            <a:extLst>
              <a:ext uri="{FF2B5EF4-FFF2-40B4-BE49-F238E27FC236}">
                <a16:creationId xmlns:a16="http://schemas.microsoft.com/office/drawing/2014/main" id="{4865DF51-BF36-0940-7FC0-4009C8D96C9B}"/>
              </a:ext>
              <a:ext uri="{C183D7F6-B498-43B3-948B-1728B52AA6E4}">
                <adec:decorative xmlns:adec="http://schemas.microsoft.com/office/drawing/2017/decorative" val="1"/>
              </a:ext>
            </a:extLst>
          </p:cNvPr>
          <p:cNvSpPr/>
          <p:nvPr/>
        </p:nvSpPr>
        <p:spPr>
          <a:xfrm>
            <a:off x="722215" y="3336171"/>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B555759-FE66-E285-1A55-0C94807543D1}"/>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5" name="Group 4">
            <a:extLst>
              <a:ext uri="{FF2B5EF4-FFF2-40B4-BE49-F238E27FC236}">
                <a16:creationId xmlns:a16="http://schemas.microsoft.com/office/drawing/2014/main" id="{EF940D0A-5197-C67F-B8D6-CE711B2ABE4F}"/>
              </a:ext>
            </a:extLst>
          </p:cNvPr>
          <p:cNvGrpSpPr/>
          <p:nvPr/>
        </p:nvGrpSpPr>
        <p:grpSpPr>
          <a:xfrm>
            <a:off x="3271149" y="1437005"/>
            <a:ext cx="8531745" cy="4749785"/>
            <a:chOff x="3122613" y="2481106"/>
            <a:chExt cx="8521464" cy="4920648"/>
          </a:xfrm>
        </p:grpSpPr>
        <p:grpSp>
          <p:nvGrpSpPr>
            <p:cNvPr id="7" name="Group 6">
              <a:extLst>
                <a:ext uri="{FF2B5EF4-FFF2-40B4-BE49-F238E27FC236}">
                  <a16:creationId xmlns:a16="http://schemas.microsoft.com/office/drawing/2014/main" id="{87283C57-8B1A-6D8C-894A-5C95E075301B}"/>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12" name="Rectangle: Rounded Corners 11">
                <a:extLst>
                  <a:ext uri="{FF2B5EF4-FFF2-40B4-BE49-F238E27FC236}">
                    <a16:creationId xmlns:a16="http://schemas.microsoft.com/office/drawing/2014/main" id="{1D27C3DE-6137-B336-BCA5-1D6E0C04F2E4}"/>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ectangle: Rounded Corners 12">
                <a:extLst>
                  <a:ext uri="{FF2B5EF4-FFF2-40B4-BE49-F238E27FC236}">
                    <a16:creationId xmlns:a16="http://schemas.microsoft.com/office/drawing/2014/main" id="{F8083D6D-2CDB-F756-D98D-4F22F53352C9}"/>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9" name="Arrow: Bent 8">
              <a:extLst>
                <a:ext uri="{FF2B5EF4-FFF2-40B4-BE49-F238E27FC236}">
                  <a16:creationId xmlns:a16="http://schemas.microsoft.com/office/drawing/2014/main" id="{0FC70703-477A-99B0-37E5-F15A0574620A}"/>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2627588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C95AC-C6AE-350C-496C-973AD8DF7226}"/>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5D82766C-87E9-6519-2AA5-EB4E43D6EB86}"/>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AC7D5431-780E-3422-61AD-0461C9C547A1}"/>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308A269A-ADAC-5767-46AA-DD7B624EE62E}"/>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5BB1DB1C-EC40-6D10-DAF0-939ABDE00249}"/>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00B91207-783A-8E86-C183-2C1A867553D5}"/>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31BC2970-B271-569B-C2D0-FA69C0BA762A}"/>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97E3040E-EA30-DCE3-44DE-C1968E6E290C}"/>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C8B3D1CB-260C-7E71-0AA8-7C7C2A43996E}"/>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A03A967B-3885-C8BA-2C53-883933309E97}"/>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A6441670-EE0F-DAF3-F842-934D3F2934F5}"/>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816D58B6-985F-8786-3163-83B1EA2724E0}"/>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79F237A0-8BE0-CA63-5049-27F7078FEDEA}"/>
                </a:ext>
              </a:extLst>
            </p:cNvPr>
            <p:cNvGrpSpPr/>
            <p:nvPr/>
          </p:nvGrpSpPr>
          <p:grpSpPr>
            <a:xfrm>
              <a:off x="5332078" y="1451118"/>
              <a:ext cx="4227253" cy="4133302"/>
              <a:chOff x="5332078" y="1451118"/>
              <a:chExt cx="4227253" cy="4133302"/>
            </a:xfrm>
          </p:grpSpPr>
          <p:grpSp>
            <p:nvGrpSpPr>
              <p:cNvPr id="160" name="Group 159">
                <a:extLst>
                  <a:ext uri="{FF2B5EF4-FFF2-40B4-BE49-F238E27FC236}">
                    <a16:creationId xmlns:a16="http://schemas.microsoft.com/office/drawing/2014/main" id="{DAAD5FEC-4FD3-BB2D-AB77-FB8E01627E58}"/>
                  </a:ext>
                </a:extLst>
              </p:cNvPr>
              <p:cNvGrpSpPr/>
              <p:nvPr/>
            </p:nvGrpSpPr>
            <p:grpSpPr>
              <a:xfrm>
                <a:off x="5332078" y="1451118"/>
                <a:ext cx="3389528" cy="4133302"/>
                <a:chOff x="5332078" y="1451118"/>
                <a:chExt cx="3389528" cy="4133302"/>
              </a:xfrm>
            </p:grpSpPr>
            <p:sp>
              <p:nvSpPr>
                <p:cNvPr id="170" name="Oval 169">
                  <a:extLst>
                    <a:ext uri="{FF2B5EF4-FFF2-40B4-BE49-F238E27FC236}">
                      <a16:creationId xmlns:a16="http://schemas.microsoft.com/office/drawing/2014/main" id="{34F05725-59BC-5FE9-6E8A-4DF4358091A4}"/>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4FA3A787-0774-3B37-338C-5FD28C78A422}"/>
                    </a:ext>
                  </a:extLst>
                </p:cNvPr>
                <p:cNvSpPr>
                  <a:spLocks noChangeAspect="1"/>
                </p:cNvSpPr>
                <p:nvPr/>
              </p:nvSpPr>
              <p:spPr>
                <a:xfrm>
                  <a:off x="8151031" y="145111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2" name="Oval 171">
                  <a:extLst>
                    <a:ext uri="{FF2B5EF4-FFF2-40B4-BE49-F238E27FC236}">
                      <a16:creationId xmlns:a16="http://schemas.microsoft.com/office/drawing/2014/main" id="{DB007D61-0E5B-E57B-02D9-37B281791140}"/>
                    </a:ext>
                  </a:extLst>
                </p:cNvPr>
                <p:cNvSpPr>
                  <a:spLocks noChangeAspect="1"/>
                </p:cNvSpPr>
                <p:nvPr/>
              </p:nvSpPr>
              <p:spPr>
                <a:xfrm>
                  <a:off x="6240850" y="2518067"/>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649A49EB-C63D-0671-1B81-9B2B5C278D13}"/>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416D33F2-1C18-B1E4-0DA6-EEFCB6E7E3B2}"/>
                    </a:ext>
                  </a:extLst>
                </p:cNvPr>
                <p:cNvSpPr>
                  <a:spLocks noChangeAspect="1"/>
                </p:cNvSpPr>
                <p:nvPr/>
              </p:nvSpPr>
              <p:spPr>
                <a:xfrm>
                  <a:off x="8594024" y="1867127"/>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8DE4E6F6-3E16-6926-3035-DE95DFFAA93A}"/>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79F2BC51-79C2-67A3-C523-D1B41CA403A3}"/>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B90D8295-336B-DCA7-A9BF-82DF099711DE}"/>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1FB3C374-8D44-9121-075C-5275E9BCAE9C}"/>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E42F64E6-9429-865F-5036-9C72A0C30051}"/>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D3B1A123-6040-47BC-C139-93C475F1CF11}"/>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ECD48C3B-A590-D80C-91B3-844A6D4947E9}"/>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16E7A505-145E-07DB-283E-09D48B45DBEC}"/>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AC777BCD-90C3-70B7-5EBF-0FAE624DDE80}"/>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817F2BCE-B1A6-0D5A-1C12-F3B91DC6807E}"/>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40DDCFDC-64D3-D807-394E-CC406A3DE7E0}"/>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7AD7A570-4BCF-EC9E-3306-3D6FCF55C777}"/>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545E7992-B44F-9779-E77E-69172195F897}"/>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0A281BB6-74DD-A728-1747-70BFF2E87C5B}"/>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0B37B217-1E6B-AE9F-2089-5FFE64495537}"/>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564D38AF-614A-CF17-6143-CE6F5F843BF3}"/>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0" name="TextBox 129">
            <a:extLst>
              <a:ext uri="{FF2B5EF4-FFF2-40B4-BE49-F238E27FC236}">
                <a16:creationId xmlns:a16="http://schemas.microsoft.com/office/drawing/2014/main" id="{76936075-5EA5-B05D-AF90-A0D0EF1532D6}"/>
              </a:ext>
            </a:extLst>
          </p:cNvPr>
          <p:cNvSpPr txBox="1"/>
          <p:nvPr/>
        </p:nvSpPr>
        <p:spPr>
          <a:xfrm>
            <a:off x="8999070" y="1004996"/>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1" name="TextBox 130">
            <a:extLst>
              <a:ext uri="{FF2B5EF4-FFF2-40B4-BE49-F238E27FC236}">
                <a16:creationId xmlns:a16="http://schemas.microsoft.com/office/drawing/2014/main" id="{11B53749-A24F-0B31-1702-E20EDC4A08BB}"/>
              </a:ext>
            </a:extLst>
          </p:cNvPr>
          <p:cNvSpPr txBox="1"/>
          <p:nvPr/>
        </p:nvSpPr>
        <p:spPr>
          <a:xfrm>
            <a:off x="4471284" y="2102902"/>
            <a:ext cx="2118676" cy="461665"/>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Post-migration services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support (including +5 days Hypercare)</a:t>
            </a:r>
          </a:p>
        </p:txBody>
      </p:sp>
      <p:sp>
        <p:nvSpPr>
          <p:cNvPr id="132" name="TextBox 131">
            <a:extLst>
              <a:ext uri="{FF2B5EF4-FFF2-40B4-BE49-F238E27FC236}">
                <a16:creationId xmlns:a16="http://schemas.microsoft.com/office/drawing/2014/main" id="{84702DA9-F7AF-9B8C-0FA1-F6C7FDBE914F}"/>
              </a:ext>
            </a:extLst>
          </p:cNvPr>
          <p:cNvSpPr txBox="1"/>
          <p:nvPr/>
        </p:nvSpPr>
        <p:spPr>
          <a:xfrm>
            <a:off x="9597784" y="2323531"/>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11434C55-2F7F-2410-FD40-087716224899}"/>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5" name="Rectangle 134" descr="Customer ">
            <a:extLst>
              <a:ext uri="{FF2B5EF4-FFF2-40B4-BE49-F238E27FC236}">
                <a16:creationId xmlns:a16="http://schemas.microsoft.com/office/drawing/2014/main" id="{991A2F86-0936-4576-E97A-151466FDBA03}"/>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6" name="TextBox 135">
            <a:extLst>
              <a:ext uri="{FF2B5EF4-FFF2-40B4-BE49-F238E27FC236}">
                <a16:creationId xmlns:a16="http://schemas.microsoft.com/office/drawing/2014/main" id="{8FFDC18E-77C8-03D3-0851-B6B53B485134}"/>
              </a:ext>
            </a:extLst>
          </p:cNvPr>
          <p:cNvSpPr txBox="1"/>
          <p:nvPr/>
        </p:nvSpPr>
        <p:spPr>
          <a:xfrm>
            <a:off x="4878310" y="2864494"/>
            <a:ext cx="121026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Scope of applications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for migration</a:t>
            </a:r>
          </a:p>
        </p:txBody>
      </p:sp>
      <p:sp>
        <p:nvSpPr>
          <p:cNvPr id="137" name="TextBox 136">
            <a:extLst>
              <a:ext uri="{FF2B5EF4-FFF2-40B4-BE49-F238E27FC236}">
                <a16:creationId xmlns:a16="http://schemas.microsoft.com/office/drawing/2014/main" id="{FFB3398A-F37A-9A95-25C8-1114E02CB5D2}"/>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9E9354D4-F707-8CE3-8DC6-E4BA4D38F53E}"/>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760A64C2-3B87-CA9D-118F-DC5C325E553F}"/>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DC7CFD6C-1F3F-AEDA-CFF1-CA58523A5BBC}"/>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3C66207A-2305-4986-8F91-0FE67C99E7DC}"/>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D2EFD9B9-D25A-4AB5-F479-6B9C5A2CE04C}"/>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2328435D-1BE6-F3A4-F715-CF46AFD35A0D}"/>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79B9EE51-92A7-C5B7-2773-66A609FCC0F7}"/>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BC577370-C122-C94B-0268-61107E81E4DA}"/>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FCC1693B-3B1F-09E1-270F-6E392A6FF4CF}"/>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C8ED67FA-C463-85AB-D4C5-F61E4F2DADD3}"/>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320DB2F9-22DE-8D96-B4C7-5B19D0CE2A35}"/>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D94AC72C-806D-04DB-76B3-32874AB565E6}"/>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AF017361-D5AB-E497-9833-32D3F52B76B3}"/>
              </a:ext>
            </a:extLst>
          </p:cNvPr>
          <p:cNvSpPr txBox="1"/>
          <p:nvPr/>
        </p:nvSpPr>
        <p:spPr>
          <a:xfrm>
            <a:off x="7076458" y="1933035"/>
            <a:ext cx="2195268" cy="830997"/>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a:p>
            <a:pPr lvl="0" algn="ctr">
              <a:defRPr/>
            </a:pPr>
            <a:r>
              <a:rPr lang="en-US" dirty="0">
                <a:solidFill>
                  <a:schemeClr val="accent3"/>
                </a:solidFill>
              </a:rPr>
              <a:t>+ OCI</a:t>
            </a:r>
            <a:endPar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endParaRPr>
          </a:p>
        </p:txBody>
      </p:sp>
      <p:sp>
        <p:nvSpPr>
          <p:cNvPr id="4" name="TextBox 3">
            <a:extLst>
              <a:ext uri="{FF2B5EF4-FFF2-40B4-BE49-F238E27FC236}">
                <a16:creationId xmlns:a16="http://schemas.microsoft.com/office/drawing/2014/main" id="{86E34AEB-A546-26A8-E928-3CCAB098D191}"/>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4EEB82C6-C497-EE69-0A31-E7226751F163}"/>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04913A43-A4CA-7471-45BE-6FF22D5E6331}"/>
              </a:ext>
            </a:extLst>
          </p:cNvPr>
          <p:cNvSpPr>
            <a:spLocks noChangeAspect="1"/>
          </p:cNvSpPr>
          <p:nvPr/>
        </p:nvSpPr>
        <p:spPr>
          <a:xfrm>
            <a:off x="9325965" y="197532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2" name="Oval 11">
            <a:extLst>
              <a:ext uri="{FF2B5EF4-FFF2-40B4-BE49-F238E27FC236}">
                <a16:creationId xmlns:a16="http://schemas.microsoft.com/office/drawing/2014/main" id="{30B48DDC-2683-A8B2-7268-B7E3D1B9F2AA}"/>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F2F7401A-9AB5-E362-0BB2-67AFF509E145}"/>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9CAF1F53-7E00-723F-F496-16E92B3F6D2E}"/>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EA8BDAEF-0E28-0BF2-5F9D-515FA3882599}"/>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BCBBBFF3-1137-0862-282C-7F959412A560}"/>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A39CF644-004E-5124-7125-384FB9D786EA}"/>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F8D3A9C3-48B1-1D31-DA60-21D2C14BC633}"/>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13" name="Title 61">
            <a:extLst>
              <a:ext uri="{FF2B5EF4-FFF2-40B4-BE49-F238E27FC236}">
                <a16:creationId xmlns:a16="http://schemas.microsoft.com/office/drawing/2014/main" id="{E33F0846-2096-C0D8-A04D-D4EEB6D278CF}"/>
              </a:ext>
            </a:extLst>
          </p:cNvPr>
          <p:cNvSpPr txBox="1">
            <a:spLocks/>
          </p:cNvSpPr>
          <p:nvPr/>
        </p:nvSpPr>
        <p:spPr>
          <a:xfrm>
            <a:off x="419100" y="419100"/>
            <a:ext cx="3162300" cy="2308324"/>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a:t>
            </a:r>
            <a:br>
              <a:rPr lang="en-US" sz="3000" noProof="0" dirty="0">
                <a:solidFill>
                  <a:schemeClr val="bg1"/>
                </a:solidFill>
              </a:rPr>
            </a:br>
            <a:r>
              <a:rPr lang="en-US" sz="2800" noProof="0" dirty="0">
                <a:solidFill>
                  <a:schemeClr val="bg1"/>
                </a:solidFill>
                <a:latin typeface="+mn-lt"/>
              </a:rPr>
              <a:t>Oracle Database@Azure [ODAA] Migration</a:t>
            </a:r>
            <a:endParaRPr lang="en-US" sz="3000" noProof="0" dirty="0">
              <a:solidFill>
                <a:schemeClr val="bg1"/>
              </a:solidFill>
              <a:latin typeface="+mn-lt"/>
            </a:endParaRPr>
          </a:p>
        </p:txBody>
      </p:sp>
      <p:sp>
        <p:nvSpPr>
          <p:cNvPr id="17" name="TextBox 16">
            <a:extLst>
              <a:ext uri="{FF2B5EF4-FFF2-40B4-BE49-F238E27FC236}">
                <a16:creationId xmlns:a16="http://schemas.microsoft.com/office/drawing/2014/main" id="{9E447215-BDC6-8F9D-0925-594201D51EAA}"/>
              </a:ext>
              <a:ext uri="{C183D7F6-B498-43B3-948B-1728B52AA6E4}">
                <adec:decorative xmlns:adec="http://schemas.microsoft.com/office/drawing/2017/decorative" val="1"/>
              </a:ext>
            </a:extLst>
          </p:cNvPr>
          <p:cNvSpPr txBox="1"/>
          <p:nvPr/>
        </p:nvSpPr>
        <p:spPr>
          <a:xfrm>
            <a:off x="9217384" y="5378788"/>
            <a:ext cx="1532471"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OD@A infrastructure and VM Cluster deployment</a:t>
            </a:r>
          </a:p>
        </p:txBody>
      </p:sp>
      <p:sp>
        <p:nvSpPr>
          <p:cNvPr id="21" name="TextBox 20">
            <a:extLst>
              <a:ext uri="{FF2B5EF4-FFF2-40B4-BE49-F238E27FC236}">
                <a16:creationId xmlns:a16="http://schemas.microsoft.com/office/drawing/2014/main" id="{9D5CA085-33BB-D6CE-65F7-AF15F4599C73}"/>
              </a:ext>
              <a:ext uri="{C183D7F6-B498-43B3-948B-1728B52AA6E4}">
                <adec:decorative xmlns:adec="http://schemas.microsoft.com/office/drawing/2017/decorative" val="1"/>
              </a:ext>
            </a:extLst>
          </p:cNvPr>
          <p:cNvSpPr txBox="1"/>
          <p:nvPr/>
        </p:nvSpPr>
        <p:spPr>
          <a:xfrm>
            <a:off x="7934223" y="5188029"/>
            <a:ext cx="1114012" cy="769441"/>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Migration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Execution via supported </a:t>
            </a:r>
            <a:br>
              <a:rPr kumimoji="0" lang="en-US" sz="1000" b="0" i="0" u="none" strike="noStrike" kern="1200" cap="none" spc="0" normalizeH="0" baseline="0" noProof="0" dirty="0">
                <a:ln>
                  <a:noFill/>
                </a:ln>
                <a:effectLst/>
                <a:uLnTx/>
                <a:uFillTx/>
              </a:rPr>
            </a:br>
            <a:r>
              <a:rPr kumimoji="0" lang="en-US" sz="1000" b="0" i="0" u="none" strike="noStrike" kern="1200" cap="none" spc="0" normalizeH="0" baseline="0" noProof="0" dirty="0">
                <a:ln>
                  <a:noFill/>
                </a:ln>
                <a:effectLst/>
                <a:uLnTx/>
                <a:uFillTx/>
              </a:rPr>
              <a:t>migration tools </a:t>
            </a:r>
            <a:br>
              <a:rPr kumimoji="0" lang="en-US" sz="1000" b="0" i="0" u="none" strike="noStrike" kern="1200" cap="none" spc="0" normalizeH="0" baseline="0" noProof="0" dirty="0">
                <a:ln>
                  <a:noFill/>
                </a:ln>
                <a:effectLst/>
                <a:uLnTx/>
                <a:uFillTx/>
              </a:rPr>
            </a:br>
            <a:r>
              <a:rPr kumimoji="0" lang="en-US" sz="1000" b="0" i="0" u="none" strike="noStrike" kern="1200" cap="none" spc="0" normalizeH="0" baseline="0" noProof="0" dirty="0">
                <a:ln>
                  <a:noFill/>
                </a:ln>
                <a:effectLst/>
                <a:uLnTx/>
                <a:uFillTx/>
              </a:rPr>
              <a:t>(see Scoping slide)</a:t>
            </a:r>
          </a:p>
        </p:txBody>
      </p:sp>
      <p:sp>
        <p:nvSpPr>
          <p:cNvPr id="27" name="TextBox 26">
            <a:extLst>
              <a:ext uri="{FF2B5EF4-FFF2-40B4-BE49-F238E27FC236}">
                <a16:creationId xmlns:a16="http://schemas.microsoft.com/office/drawing/2014/main" id="{70355698-6547-5B2F-4A90-7AE128BF0A44}"/>
              </a:ext>
            </a:extLst>
          </p:cNvPr>
          <p:cNvSpPr txBox="1"/>
          <p:nvPr/>
        </p:nvSpPr>
        <p:spPr>
          <a:xfrm>
            <a:off x="9506107" y="1450018"/>
            <a:ext cx="1676741" cy="307777"/>
          </a:xfrm>
          <a:prstGeom prst="rect">
            <a:avLst/>
          </a:prstGeom>
          <a:noFill/>
        </p:spPr>
        <p:txBody>
          <a:bodyPr wrap="squar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Oracle licensing questions and Oracle cost analysis</a:t>
            </a:r>
          </a:p>
        </p:txBody>
      </p:sp>
      <p:sp>
        <p:nvSpPr>
          <p:cNvPr id="29" name="TextBox 28">
            <a:extLst>
              <a:ext uri="{FF2B5EF4-FFF2-40B4-BE49-F238E27FC236}">
                <a16:creationId xmlns:a16="http://schemas.microsoft.com/office/drawing/2014/main" id="{72085183-8453-E1EA-B944-D0984872A8F7}"/>
              </a:ext>
            </a:extLst>
          </p:cNvPr>
          <p:cNvSpPr txBox="1"/>
          <p:nvPr/>
        </p:nvSpPr>
        <p:spPr>
          <a:xfrm>
            <a:off x="9627066" y="1802756"/>
            <a:ext cx="2038878" cy="461665"/>
          </a:xfrm>
          <a:prstGeom prst="rect">
            <a:avLst/>
          </a:prstGeom>
          <a:noFill/>
        </p:spPr>
        <p:txBody>
          <a:bodyPr wrap="squar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Capacity planning, Exadata Database inventory and commercial (private) offer preparation</a:t>
            </a:r>
          </a:p>
        </p:txBody>
      </p:sp>
      <p:sp>
        <p:nvSpPr>
          <p:cNvPr id="33" name="TextBox 32">
            <a:extLst>
              <a:ext uri="{FF2B5EF4-FFF2-40B4-BE49-F238E27FC236}">
                <a16:creationId xmlns:a16="http://schemas.microsoft.com/office/drawing/2014/main" id="{BD82E0D1-DE3B-3F64-E8A9-E80C72C44685}"/>
              </a:ext>
            </a:extLst>
          </p:cNvPr>
          <p:cNvSpPr txBox="1"/>
          <p:nvPr/>
        </p:nvSpPr>
        <p:spPr>
          <a:xfrm>
            <a:off x="5378260" y="1103498"/>
            <a:ext cx="1827917" cy="307777"/>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Server &amp; Exadata DB Lists and Wave planning/orchestration</a:t>
            </a:r>
          </a:p>
        </p:txBody>
      </p:sp>
      <p:sp>
        <p:nvSpPr>
          <p:cNvPr id="34" name="TextBox 33">
            <a:extLst>
              <a:ext uri="{FF2B5EF4-FFF2-40B4-BE49-F238E27FC236}">
                <a16:creationId xmlns:a16="http://schemas.microsoft.com/office/drawing/2014/main" id="{770E9CD4-D5A4-DCDE-E1C2-354FA8FBA76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40191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6" presetClass="emph" presetSubtype="0" fill="hold" grpId="1" nodeType="withEffect">
                                  <p:stCondLst>
                                    <p:cond delay="0"/>
                                  </p:stCondLst>
                                  <p:childTnLst>
                                    <p:animScale>
                                      <p:cBhvr>
                                        <p:cTn id="9" dur="100" fill="hold"/>
                                        <p:tgtEl>
                                          <p:spTgt spid="3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4" grpId="2"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E5613-BCE4-49A8-0AFA-00BDCE062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4D0FC-3690-6D77-CEE0-7C8005F1D25E}"/>
              </a:ext>
            </a:extLst>
          </p:cNvPr>
          <p:cNvSpPr>
            <a:spLocks noGrp="1"/>
          </p:cNvSpPr>
          <p:nvPr>
            <p:ph type="title"/>
          </p:nvPr>
        </p:nvSpPr>
        <p:spPr>
          <a:xfrm>
            <a:off x="585787" y="2485749"/>
            <a:ext cx="10948263" cy="1046440"/>
          </a:xfrm>
        </p:spPr>
        <p:txBody>
          <a:bodyPr/>
          <a:lstStyle/>
          <a:p>
            <a:r>
              <a:rPr lang="en-US" noProof="0" dirty="0"/>
              <a:t>Cloud Accelerate Factory</a:t>
            </a:r>
            <a:br>
              <a:rPr lang="en-US" noProof="0" dirty="0"/>
            </a:br>
            <a:r>
              <a:rPr lang="en-US" sz="2800" noProof="0" dirty="0">
                <a:solidFill>
                  <a:schemeClr val="tx1"/>
                </a:solidFill>
              </a:rPr>
              <a:t>Ubiquitous Innovation | Amplify Your Intelligence</a:t>
            </a:r>
            <a:endParaRPr lang="en-US" sz="2800" noProof="0" dirty="0"/>
          </a:p>
        </p:txBody>
      </p:sp>
      <p:sp>
        <p:nvSpPr>
          <p:cNvPr id="3" name="TextBox 2">
            <a:extLst>
              <a:ext uri="{FF2B5EF4-FFF2-40B4-BE49-F238E27FC236}">
                <a16:creationId xmlns:a16="http://schemas.microsoft.com/office/drawing/2014/main" id="{961C86C1-05F6-F381-FC67-04B4260329E3}"/>
              </a:ext>
            </a:extLst>
          </p:cNvPr>
          <p:cNvSpPr txBox="1"/>
          <p:nvPr/>
        </p:nvSpPr>
        <p:spPr>
          <a:xfrm>
            <a:off x="645224" y="4434671"/>
            <a:ext cx="3707352" cy="523238"/>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defRPr sz="1200">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GitHub Migration (repos only)</a:t>
            </a:r>
          </a:p>
          <a:p>
            <a:pPr algn="ctr"/>
            <a:r>
              <a:rPr lang="en-US" noProof="0" dirty="0"/>
              <a:t>(ADO, Bitbucket, GitLab, GHES)</a:t>
            </a:r>
          </a:p>
        </p:txBody>
      </p:sp>
      <p:sp>
        <p:nvSpPr>
          <p:cNvPr id="10" name="TextBox 9">
            <a:extLst>
              <a:ext uri="{FF2B5EF4-FFF2-40B4-BE49-F238E27FC236}">
                <a16:creationId xmlns:a16="http://schemas.microsoft.com/office/drawing/2014/main" id="{6EA65918-323A-CCB2-1718-C95190BEA8A8}"/>
              </a:ext>
            </a:extLst>
          </p:cNvPr>
          <p:cNvSpPr txBox="1"/>
          <p:nvPr/>
        </p:nvSpPr>
        <p:spPr>
          <a:xfrm>
            <a:off x="9193695"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5" name="Image 10" descr="Home (outlined)">
            <a:hlinkClick r:id="rId3" action="ppaction://hlinksldjump" tooltip="Home"/>
            <a:extLst>
              <a:ext uri="{FF2B5EF4-FFF2-40B4-BE49-F238E27FC236}">
                <a16:creationId xmlns:a16="http://schemas.microsoft.com/office/drawing/2014/main" id="{27EA9AB0-9510-AD20-B1FB-1FA1C332246B}"/>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6596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10" grpId="0" animBg="1"/>
      <p:bldP spid="10" grpId="1" animBg="1"/>
      <p:bldP spid="10" grpId="2"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0C651-3640-AF10-54D0-43BF7C1B6B12}"/>
            </a:ext>
          </a:extLst>
        </p:cNvPr>
        <p:cNvGrpSpPr/>
        <p:nvPr/>
      </p:nvGrpSpPr>
      <p:grpSpPr>
        <a:xfrm>
          <a:off x="0" y="0"/>
          <a:ext cx="0" cy="0"/>
          <a:chOff x="0" y="0"/>
          <a:chExt cx="0" cy="0"/>
        </a:xfrm>
      </p:grpSpPr>
      <p:sp>
        <p:nvSpPr>
          <p:cNvPr id="10" name="Rounded Rectangle 55">
            <a:extLst>
              <a:ext uri="{FF2B5EF4-FFF2-40B4-BE49-F238E27FC236}">
                <a16:creationId xmlns:a16="http://schemas.microsoft.com/office/drawing/2014/main" id="{4DBA598B-8F26-F72A-5843-54410F725D87}"/>
              </a:ext>
              <a:ext uri="{C183D7F6-B498-43B3-948B-1728B52AA6E4}">
                <adec:decorative xmlns:adec="http://schemas.microsoft.com/office/drawing/2017/decorative" val="1"/>
              </a:ext>
            </a:extLst>
          </p:cNvPr>
          <p:cNvSpPr/>
          <p:nvPr/>
        </p:nvSpPr>
        <p:spPr bwMode="auto">
          <a:xfrm>
            <a:off x="9154160" y="1456056"/>
            <a:ext cx="2448877" cy="5249544"/>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CF801A52-651E-3467-6001-C88C770561C6}"/>
              </a:ext>
              <a:ext uri="{C183D7F6-B498-43B3-948B-1728B52AA6E4}">
                <adec:decorative xmlns:adec="http://schemas.microsoft.com/office/drawing/2017/decorative" val="1"/>
              </a:ext>
            </a:extLst>
          </p:cNvPr>
          <p:cNvSpPr/>
          <p:nvPr/>
        </p:nvSpPr>
        <p:spPr bwMode="auto">
          <a:xfrm>
            <a:off x="588961" y="1456056"/>
            <a:ext cx="8443279" cy="5249544"/>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A45B6A67-7DFE-9D30-45D7-9786D240FA6A}"/>
              </a:ext>
            </a:extLst>
          </p:cNvPr>
          <p:cNvSpPr>
            <a:spLocks noGrp="1"/>
          </p:cNvSpPr>
          <p:nvPr>
            <p:ph type="title"/>
          </p:nvPr>
        </p:nvSpPr>
        <p:spPr>
          <a:xfrm>
            <a:off x="588961" y="671971"/>
            <a:ext cx="8323811"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GitHub Migration </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Azure DevOps(ADO) Services/Bitbucket Server/GitLab Server/GHES to GitHub</a:t>
            </a:r>
            <a:endParaRPr lang="en-US" sz="2800" noProof="0" dirty="0"/>
          </a:p>
        </p:txBody>
      </p:sp>
      <p:sp>
        <p:nvSpPr>
          <p:cNvPr id="18" name="Content Placeholder 4">
            <a:extLst>
              <a:ext uri="{FF2B5EF4-FFF2-40B4-BE49-F238E27FC236}">
                <a16:creationId xmlns:a16="http://schemas.microsoft.com/office/drawing/2014/main" id="{8E8E926E-0B72-7CFB-ABD7-2ED77647937A}"/>
              </a:ext>
            </a:extLst>
          </p:cNvPr>
          <p:cNvSpPr txBox="1">
            <a:spLocks/>
          </p:cNvSpPr>
          <p:nvPr/>
        </p:nvSpPr>
        <p:spPr>
          <a:xfrm>
            <a:off x="9154160" y="1976090"/>
            <a:ext cx="2448877" cy="4636654"/>
          </a:xfrm>
          <a:prstGeom prst="rect">
            <a:avLst/>
          </a:prstGeom>
        </p:spPr>
        <p:txBody>
          <a:bodyPr vert="horz" wrap="square" lIns="91440" tIns="91440" rIns="91440" bIns="73152"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To participate in this engagement the </a:t>
            </a:r>
            <a:br>
              <a:rPr lang="en-US" sz="900" noProof="0" dirty="0">
                <a:ln w="3175">
                  <a:noFill/>
                </a:ln>
                <a:solidFill>
                  <a:prstClr val="black"/>
                </a:solidFill>
                <a:cs typeface="+mn-cs"/>
              </a:rPr>
            </a:br>
            <a:r>
              <a:rPr lang="en-US" sz="900" noProof="0" dirty="0">
                <a:ln w="3175">
                  <a:noFill/>
                </a:ln>
                <a:solidFill>
                  <a:prstClr val="black"/>
                </a:solidFill>
                <a:cs typeface="+mn-cs"/>
              </a:rPr>
              <a:t>customer must have an Azure DevOps (ADO) Services/Bitbucket Server/GitLab Server and GitHub Enterprise Cloud/ EMU/Data Residency</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GitHub Organization have been created &amp; configured</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Customer to provide PAT tokens for Azure DevOps (ADO) Services/Bitbucket Server/GitLab Server and GitHub with required permissions. </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Customer to provide Bitbucket server Username/Password &amp; SSH Key to access Bitbucket server host</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Enable GHES Storage for Local Storage, Configure GitHub Runners &amp; Secrets in GHEC</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HOK (hands-on-keyboard): ADO</a:t>
            </a:r>
            <a:r>
              <a:rPr lang="en-US" sz="900" noProof="0" dirty="0">
                <a:ln w="3175">
                  <a:noFill/>
                </a:ln>
                <a:solidFill>
                  <a:prstClr val="black"/>
                </a:solidFill>
                <a:cs typeface="+mn-cs"/>
                <a:sym typeface="Wingdings" panose="05000000000000000000" pitchFamily="2" charset="2"/>
              </a:rPr>
              <a:t></a:t>
            </a:r>
            <a:r>
              <a:rPr lang="en-US" sz="900" noProof="0" dirty="0">
                <a:ln w="3175">
                  <a:noFill/>
                </a:ln>
                <a:solidFill>
                  <a:prstClr val="black"/>
                </a:solidFill>
                <a:cs typeface="+mn-cs"/>
              </a:rPr>
              <a:t>GH migration will use ADO pipelines. BB</a:t>
            </a:r>
            <a:r>
              <a:rPr lang="en-US" sz="900" noProof="0" dirty="0">
                <a:ln w="3175">
                  <a:noFill/>
                </a:ln>
                <a:solidFill>
                  <a:prstClr val="black"/>
                </a:solidFill>
                <a:cs typeface="+mn-cs"/>
                <a:sym typeface="Wingdings" panose="05000000000000000000" pitchFamily="2" charset="2"/>
              </a:rPr>
              <a:t></a:t>
            </a:r>
            <a:r>
              <a:rPr lang="en-US" sz="900" noProof="0" dirty="0">
                <a:ln w="3175">
                  <a:noFill/>
                </a:ln>
                <a:solidFill>
                  <a:prstClr val="black"/>
                </a:solidFill>
                <a:cs typeface="+mn-cs"/>
              </a:rPr>
              <a:t>GH and GL</a:t>
            </a:r>
            <a:r>
              <a:rPr lang="en-US" sz="900" noProof="0" dirty="0">
                <a:ln w="3175">
                  <a:noFill/>
                </a:ln>
                <a:solidFill>
                  <a:prstClr val="black"/>
                </a:solidFill>
                <a:cs typeface="+mn-cs"/>
                <a:sym typeface="Wingdings" panose="05000000000000000000" pitchFamily="2" charset="2"/>
              </a:rPr>
              <a:t></a:t>
            </a:r>
            <a:r>
              <a:rPr lang="en-US" sz="900" noProof="0" dirty="0">
                <a:ln w="3175">
                  <a:noFill/>
                </a:ln>
                <a:solidFill>
                  <a:prstClr val="black"/>
                </a:solidFill>
                <a:cs typeface="+mn-cs"/>
              </a:rPr>
              <a:t>GH require the customer to provide VMs with the necessary access to install, configure, and run migration tools.</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The customer is required to review the inventory and complete all post-migration activities </a:t>
            </a:r>
          </a:p>
        </p:txBody>
      </p:sp>
      <p:sp>
        <p:nvSpPr>
          <p:cNvPr id="20" name="TextBox 19">
            <a:extLst>
              <a:ext uri="{FF2B5EF4-FFF2-40B4-BE49-F238E27FC236}">
                <a16:creationId xmlns:a16="http://schemas.microsoft.com/office/drawing/2014/main" id="{F24D5187-185D-4E92-CB8F-651B027A00AC}"/>
              </a:ext>
            </a:extLst>
          </p:cNvPr>
          <p:cNvSpPr txBox="1"/>
          <p:nvPr/>
        </p:nvSpPr>
        <p:spPr>
          <a:xfrm>
            <a:off x="672663" y="1590790"/>
            <a:ext cx="8317537"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60B472E3-9FD0-4537-8802-55B2BA3359AF}"/>
              </a:ext>
            </a:extLst>
          </p:cNvPr>
          <p:cNvSpPr/>
          <p:nvPr/>
        </p:nvSpPr>
        <p:spPr>
          <a:xfrm>
            <a:off x="3707318" y="1640190"/>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F440EABA-6027-B3F0-3BB3-5A82E14F10F3}"/>
              </a:ext>
            </a:extLst>
          </p:cNvPr>
          <p:cNvSpPr txBox="1"/>
          <p:nvPr/>
        </p:nvSpPr>
        <p:spPr>
          <a:xfrm>
            <a:off x="9185690" y="1590635"/>
            <a:ext cx="2365177" cy="29260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665F34D7-ED18-E2FF-A7CE-BC74C94FF965}"/>
              </a:ext>
            </a:extLst>
          </p:cNvPr>
          <p:cNvSpPr/>
          <p:nvPr/>
        </p:nvSpPr>
        <p:spPr>
          <a:xfrm>
            <a:off x="9796084" y="1643017"/>
            <a:ext cx="156391" cy="183989"/>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graphicFrame>
        <p:nvGraphicFramePr>
          <p:cNvPr id="27" name="Table 26" title="Exchange Online Technet Guidance">
            <a:extLst>
              <a:ext uri="{FF2B5EF4-FFF2-40B4-BE49-F238E27FC236}">
                <a16:creationId xmlns:a16="http://schemas.microsoft.com/office/drawing/2014/main" id="{6E4C941D-3F41-64F7-30C6-A25D7C4E349F}"/>
              </a:ext>
            </a:extLst>
          </p:cNvPr>
          <p:cNvGraphicFramePr>
            <a:graphicFrameLocks noGrp="1"/>
          </p:cNvGraphicFramePr>
          <p:nvPr>
            <p:extLst>
              <p:ext uri="{D42A27DB-BD31-4B8C-83A1-F6EECF244321}">
                <p14:modId xmlns:p14="http://schemas.microsoft.com/office/powerpoint/2010/main" val="2621619084"/>
              </p:ext>
            </p:extLst>
          </p:nvPr>
        </p:nvGraphicFramePr>
        <p:xfrm>
          <a:off x="609791" y="2073148"/>
          <a:ext cx="8443279" cy="4600922"/>
        </p:xfrm>
        <a:graphic>
          <a:graphicData uri="http://schemas.openxmlformats.org/drawingml/2006/table">
            <a:tbl>
              <a:tblPr firstRow="1" bandRow="1">
                <a:tableStyleId>{5C22544A-7EE6-4342-B048-85BDC9FD1C3A}</a:tableStyleId>
              </a:tblPr>
              <a:tblGrid>
                <a:gridCol w="276938">
                  <a:extLst>
                    <a:ext uri="{9D8B030D-6E8A-4147-A177-3AD203B41FA5}">
                      <a16:colId xmlns:a16="http://schemas.microsoft.com/office/drawing/2014/main" val="920430407"/>
                    </a:ext>
                  </a:extLst>
                </a:gridCol>
                <a:gridCol w="8166341">
                  <a:extLst>
                    <a:ext uri="{9D8B030D-6E8A-4147-A177-3AD203B41FA5}">
                      <a16:colId xmlns:a16="http://schemas.microsoft.com/office/drawing/2014/main" val="125040094"/>
                    </a:ext>
                  </a:extLst>
                </a:gridCol>
              </a:tblGrid>
              <a:tr h="247566">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GitHub Repository Migration</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740198">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367" rtl="0" eaLnBrk="1" fontAlgn="auto" latinLnBrk="0" hangingPunct="1">
                        <a:lnSpc>
                          <a:spcPct val="100000"/>
                        </a:lnSpc>
                        <a:spcBef>
                          <a:spcPts val="0"/>
                        </a:spcBef>
                        <a:spcAft>
                          <a:spcPts val="200"/>
                        </a:spcAft>
                        <a:buClrTx/>
                        <a:buSzTx/>
                        <a:buFontTx/>
                        <a:buNone/>
                        <a:tabLst/>
                        <a:defRPr/>
                      </a:pPr>
                      <a:r>
                        <a:rPr lang="en-US" sz="1000" b="0" noProof="0" dirty="0">
                          <a:solidFill>
                            <a:schemeClr val="tx1"/>
                          </a:solidFill>
                          <a:latin typeface="+mj-lt"/>
                        </a:rPr>
                        <a:t>Assessment and Planning </a:t>
                      </a:r>
                      <a:endParaRPr lang="en-US" sz="1000" b="0" noProof="0" dirty="0">
                        <a:solidFill>
                          <a:schemeClr val="tx1"/>
                        </a:solidFill>
                        <a:latin typeface="+mn-lt"/>
                      </a:endParaRPr>
                    </a:p>
                    <a:p>
                      <a:pPr marL="209550" marR="0" lvl="0" indent="-130175" algn="just"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b="0" noProof="0" dirty="0">
                          <a:solidFill>
                            <a:schemeClr val="tx1"/>
                          </a:solidFill>
                          <a:latin typeface="+mn-lt"/>
                        </a:rPr>
                        <a:t>Generate an inventory report</a:t>
                      </a:r>
                    </a:p>
                    <a:p>
                      <a:pPr marL="209550" marR="0" lvl="0" indent="-130175" algn="just" rtl="0" eaLnBrk="1" fontAlgn="auto" latinLnBrk="0" hangingPunct="1">
                        <a:lnSpc>
                          <a:spcPct val="100000"/>
                        </a:lnSpc>
                        <a:spcBef>
                          <a:spcPts val="0"/>
                        </a:spcBef>
                        <a:spcAft>
                          <a:spcPts val="200"/>
                        </a:spcAft>
                        <a:buClrTx/>
                        <a:buSzTx/>
                        <a:buFont typeface="Arial" panose="020B0604020202020204" pitchFamily="34" charset="0"/>
                        <a:buChar char="•"/>
                      </a:pPr>
                      <a:r>
                        <a:rPr lang="en-US" sz="1000" b="0" i="0" u="none" strike="noStrike" noProof="0" dirty="0">
                          <a:solidFill>
                            <a:schemeClr val="tx1"/>
                          </a:solidFill>
                          <a:latin typeface="+mn-lt"/>
                          <a:cs typeface="Segoe Sans Text"/>
                        </a:rPr>
                        <a:t>Analyze repositories, </a:t>
                      </a:r>
                      <a:r>
                        <a:rPr lang="en-US" sz="1000" b="0" i="0" u="none" strike="noStrike" noProof="0" dirty="0">
                          <a:solidFill>
                            <a:schemeClr val="tx1"/>
                          </a:solidFill>
                          <a:latin typeface="+mn-lt"/>
                          <a:cs typeface="Segoe UI"/>
                        </a:rPr>
                        <a:t>pipeline workflow dependencies (for GHES-GHEC only) </a:t>
                      </a:r>
                      <a:r>
                        <a:rPr lang="en-US" sz="1000" b="0" i="0" u="none" strike="noStrike" noProof="0" dirty="0">
                          <a:solidFill>
                            <a:schemeClr val="tx1"/>
                          </a:solidFill>
                          <a:latin typeface="+mn-lt"/>
                          <a:cs typeface="Segoe Sans Text"/>
                        </a:rPr>
                        <a:t>and finalize the migration scope in collaboration with the customer</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940251">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POC</a:t>
                      </a:r>
                      <a:r>
                        <a:rPr kumimoji="0" lang="en-US" sz="1000" b="0" i="0" u="none" strike="noStrike" kern="0" cap="none" spc="0" normalizeH="0" baseline="0" noProof="0" dirty="0">
                          <a:ln>
                            <a:noFill/>
                          </a:ln>
                          <a:solidFill>
                            <a:schemeClr val="tx1"/>
                          </a:solidFill>
                          <a:effectLst/>
                          <a:uLnTx/>
                          <a:uFillTx/>
                          <a:latin typeface="+mn-lt"/>
                          <a:ea typeface="+mn-ea"/>
                          <a:cs typeface="+mn-cs"/>
                        </a:rPr>
                        <a:t> </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Identify and migrate pilot repo (1–2 repos)</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Review the end-to-end migration workflow</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Post-migration validation steps</a:t>
                      </a:r>
                    </a:p>
                    <a:p>
                      <a:pPr marL="209550" marR="0" lvl="0" indent="-130175" algn="just">
                        <a:lnSpc>
                          <a:spcPct val="100000"/>
                        </a:lnSpc>
                        <a:spcBef>
                          <a:spcPts val="0"/>
                        </a:spcBef>
                        <a:spcAft>
                          <a:spcPts val="200"/>
                        </a:spcAft>
                        <a:buClrTx/>
                        <a:buSzTx/>
                        <a:buFont typeface="Arial" panose="020B0604020202020204" pitchFamily="34" charset="0"/>
                        <a:buChar char="•"/>
                      </a:pPr>
                      <a:r>
                        <a:rPr lang="en-US" sz="1000" b="0" i="0" u="none" strike="noStrike" kern="0" cap="none" spc="0" normalizeH="0" baseline="0" noProof="0" dirty="0">
                          <a:ln>
                            <a:noFill/>
                          </a:ln>
                          <a:solidFill>
                            <a:schemeClr val="tx1"/>
                          </a:solidFill>
                          <a:effectLst/>
                          <a:uLnTx/>
                          <a:uFillTx/>
                          <a:latin typeface="+mn-lt"/>
                          <a:ea typeface="+mn-ea"/>
                          <a:cs typeface="Segoe Sans Text"/>
                        </a:rPr>
                        <a:t>Configure Environments, Variables (GHES-GHEC only)</a:t>
                      </a:r>
                      <a:endParaRPr lang="en-US" sz="1000" b="0" i="0" u="none" strike="noStrike" kern="0" cap="none" spc="0" normalizeH="0" baseline="0" noProof="0" dirty="0">
                        <a:ln>
                          <a:noFill/>
                        </a:ln>
                        <a:solidFill>
                          <a:schemeClr val="tx1"/>
                        </a:solidFill>
                        <a:effectLst/>
                        <a:uLnTx/>
                        <a:uFillTx/>
                        <a:latin typeface="+mn-lt"/>
                        <a:ea typeface="+mn-ea"/>
                        <a:cs typeface="+mn-cs"/>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1115298">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Migration Execution </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Perform repositories migration </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Post migration validations and mannequin reclaims</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Azure boards integration (ADO – GitHub only)</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b="0" i="0" u="none" strike="noStrike" kern="0" cap="none" spc="0" normalizeH="0" baseline="0" noProof="0" dirty="0">
                          <a:ln>
                            <a:noFill/>
                          </a:ln>
                          <a:solidFill>
                            <a:schemeClr val="tx1"/>
                          </a:solidFill>
                          <a:effectLst/>
                          <a:uLnTx/>
                          <a:uFillTx/>
                          <a:latin typeface="+mn-lt"/>
                          <a:ea typeface="+mn-ea"/>
                          <a:cs typeface="+mn-cs"/>
                        </a:rPr>
                        <a:t>Azure</a:t>
                      </a:r>
                      <a:r>
                        <a:rPr kumimoji="0" lang="en-US" sz="1000" b="0" i="0" u="none" strike="noStrike" kern="0" cap="none" spc="0" normalizeH="0" baseline="0" noProof="0" dirty="0">
                          <a:ln>
                            <a:noFill/>
                          </a:ln>
                          <a:solidFill>
                            <a:schemeClr val="tx1"/>
                          </a:solidFill>
                          <a:effectLst/>
                          <a:uLnTx/>
                          <a:uFillTx/>
                          <a:latin typeface="+mn-lt"/>
                          <a:ea typeface="+mn-ea"/>
                          <a:cs typeface="+mn-cs"/>
                        </a:rPr>
                        <a:t> Pipeline rewiring (ADO – GitHub, Guidance for few repos only)</a:t>
                      </a:r>
                    </a:p>
                    <a:p>
                      <a:pPr marL="209550" marR="0" lvl="0" indent="-130175" algn="just">
                        <a:lnSpc>
                          <a:spcPct val="100000"/>
                        </a:lnSpc>
                        <a:spcBef>
                          <a:spcPts val="0"/>
                        </a:spcBef>
                        <a:spcAft>
                          <a:spcPts val="200"/>
                        </a:spcAft>
                        <a:buClrTx/>
                        <a:buSzTx/>
                        <a:buFont typeface="Arial" panose="020B0604020202020204" pitchFamily="34" charset="0"/>
                        <a:buChar char="•"/>
                      </a:pPr>
                      <a:r>
                        <a:rPr lang="en-US" sz="1000" b="0" i="0" u="none" strike="noStrike" kern="0" cap="none" spc="0" normalizeH="0" baseline="0" noProof="0" dirty="0">
                          <a:ln>
                            <a:noFill/>
                          </a:ln>
                          <a:solidFill>
                            <a:schemeClr val="tx1"/>
                          </a:solidFill>
                          <a:effectLst/>
                          <a:uLnTx/>
                          <a:uFillTx/>
                          <a:latin typeface="+mn-lt"/>
                          <a:ea typeface="+mn-ea"/>
                          <a:cs typeface="Segoe Sans Text"/>
                        </a:rPr>
                        <a:t>Pipeline dependencies migration (environments, variables migrations) (GHES – GHEC only)</a:t>
                      </a:r>
                      <a:endParaRPr lang="en-US" sz="1000" b="0" i="0" u="none" strike="noStrike" kern="0" cap="none" spc="0" normalizeH="0" baseline="0" noProof="0" dirty="0">
                        <a:ln>
                          <a:noFill/>
                        </a:ln>
                        <a:solidFill>
                          <a:schemeClr val="tx1"/>
                        </a:solidFill>
                        <a:effectLst/>
                        <a:uLnTx/>
                        <a:uFillTx/>
                        <a:latin typeface="+mn-lt"/>
                        <a:ea typeface="+mn-ea"/>
                        <a:cs typeface="+mn-cs"/>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526103">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200"/>
                        </a:spcAft>
                        <a:buClrTx/>
                        <a:buSzTx/>
                        <a:buFontTx/>
                        <a:buNone/>
                        <a:tabLst/>
                        <a:defRPr/>
                      </a:pPr>
                      <a:r>
                        <a:rPr lang="en-US" sz="1000" b="0" kern="1200" noProof="0" dirty="0">
                          <a:solidFill>
                            <a:schemeClr val="tx1"/>
                          </a:solidFill>
                          <a:latin typeface="+mj-lt"/>
                          <a:ea typeface="+mn-ea"/>
                          <a:cs typeface="+mn-cs"/>
                        </a:rPr>
                        <a:t>Signoff </a:t>
                      </a:r>
                    </a:p>
                    <a:p>
                      <a:pPr marL="209550" marR="0" lvl="0" indent="-13017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b="0" kern="1200" noProof="0" dirty="0">
                          <a:solidFill>
                            <a:schemeClr val="tx1"/>
                          </a:solidFill>
                          <a:latin typeface="+mn-lt"/>
                          <a:ea typeface="+mn-ea"/>
                          <a:cs typeface="+mn-cs"/>
                        </a:rPr>
                        <a:t>Review the migration with the customer and obtain signoff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49513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Customer/Partners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a:rPr>
                        <a:t>attending checkpoint meetings; and implementing user communications, documentation, training, and change management. </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L w="12700"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9781948"/>
                  </a:ext>
                </a:extLst>
              </a:tr>
              <a:tr h="480719">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kern="1200" noProof="0" dirty="0">
                          <a:solidFill>
                            <a:schemeClr val="tx1"/>
                          </a:solidFill>
                          <a:latin typeface="+mn-lt"/>
                          <a:ea typeface="+mn-ea"/>
                          <a:cs typeface="+mn-cs"/>
                        </a:rPr>
                        <a:t>Estimated duration for completing all activities in a typical engagement is within 7–8 weeks </a:t>
                      </a:r>
                      <a:r>
                        <a:rPr lang="en-US" sz="900" b="0" kern="1200" noProof="0" dirty="0">
                          <a:solidFill>
                            <a:schemeClr val="tx1"/>
                          </a:solidFill>
                          <a:latin typeface="+mn-lt"/>
                          <a:ea typeface="+mn-ea"/>
                          <a:cs typeface="+mn-cs"/>
                        </a:rPr>
                        <a:t>(500–1000 repository) </a:t>
                      </a:r>
                      <a:r>
                        <a:rPr lang="en-US" sz="900" kern="1200" noProof="0" dirty="0">
                          <a:solidFill>
                            <a:schemeClr val="tx1"/>
                          </a:solidFill>
                          <a:latin typeface="+mn-lt"/>
                          <a:ea typeface="+mn-ea"/>
                          <a:cs typeface="+mn-cs"/>
                        </a:rPr>
                        <a:t>when all the requirements are met, and Customer and Partner are ready for execution</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bl>
          </a:graphicData>
        </a:graphic>
      </p:graphicFrame>
      <p:sp>
        <p:nvSpPr>
          <p:cNvPr id="2" name="TextBox 1">
            <a:extLst>
              <a:ext uri="{FF2B5EF4-FFF2-40B4-BE49-F238E27FC236}">
                <a16:creationId xmlns:a16="http://schemas.microsoft.com/office/drawing/2014/main" id="{49DF1080-BBAC-0490-4C17-4F2C71926B7B}"/>
              </a:ext>
            </a:extLst>
          </p:cNvPr>
          <p:cNvSpPr txBox="1"/>
          <p:nvPr/>
        </p:nvSpPr>
        <p:spPr>
          <a:xfrm>
            <a:off x="9195951"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416967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B988F-39A7-A058-DD13-E513D572DB90}"/>
            </a:ext>
          </a:extLst>
        </p:cNvPr>
        <p:cNvGrpSpPr/>
        <p:nvPr/>
      </p:nvGrpSpPr>
      <p:grpSpPr>
        <a:xfrm>
          <a:off x="0" y="0"/>
          <a:ext cx="0" cy="0"/>
          <a:chOff x="0" y="0"/>
          <a:chExt cx="0" cy="0"/>
        </a:xfrm>
      </p:grpSpPr>
      <p:sp>
        <p:nvSpPr>
          <p:cNvPr id="46" name="Rounded Rectangle 55">
            <a:extLst>
              <a:ext uri="{FF2B5EF4-FFF2-40B4-BE49-F238E27FC236}">
                <a16:creationId xmlns:a16="http://schemas.microsoft.com/office/drawing/2014/main" id="{09F17F75-FF33-C6A4-1E93-3D60BF5BF54A}"/>
              </a:ext>
              <a:ext uri="{C183D7F6-B498-43B3-948B-1728B52AA6E4}">
                <adec:decorative xmlns:adec="http://schemas.microsoft.com/office/drawing/2017/decorative" val="1"/>
              </a:ext>
            </a:extLst>
          </p:cNvPr>
          <p:cNvSpPr>
            <a:spLocks/>
          </p:cNvSpPr>
          <p:nvPr/>
        </p:nvSpPr>
        <p:spPr bwMode="auto">
          <a:xfrm>
            <a:off x="6250051" y="1272540"/>
            <a:ext cx="5453761" cy="4625339"/>
          </a:xfrm>
          <a:prstGeom prst="roundRect">
            <a:avLst>
              <a:gd name="adj" fmla="val 2470"/>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43" name="Rounded Rectangle 55">
            <a:extLst>
              <a:ext uri="{FF2B5EF4-FFF2-40B4-BE49-F238E27FC236}">
                <a16:creationId xmlns:a16="http://schemas.microsoft.com/office/drawing/2014/main" id="{412320F7-6732-1B62-D1F9-BB91A731A732}"/>
              </a:ext>
              <a:ext uri="{C183D7F6-B498-43B3-948B-1728B52AA6E4}">
                <adec:decorative xmlns:adec="http://schemas.microsoft.com/office/drawing/2017/decorative" val="1"/>
              </a:ext>
            </a:extLst>
          </p:cNvPr>
          <p:cNvSpPr>
            <a:spLocks/>
          </p:cNvSpPr>
          <p:nvPr/>
        </p:nvSpPr>
        <p:spPr bwMode="auto">
          <a:xfrm>
            <a:off x="586740" y="1272540"/>
            <a:ext cx="5453761" cy="4625339"/>
          </a:xfrm>
          <a:prstGeom prst="roundRect">
            <a:avLst>
              <a:gd name="adj" fmla="val 2470"/>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4" name="Title 101">
            <a:extLst>
              <a:ext uri="{FF2B5EF4-FFF2-40B4-BE49-F238E27FC236}">
                <a16:creationId xmlns:a16="http://schemas.microsoft.com/office/drawing/2014/main" id="{012CB78E-D84E-2D98-7B76-EA91D911B564}"/>
              </a:ext>
            </a:extLst>
          </p:cNvPr>
          <p:cNvSpPr>
            <a:spLocks noGrp="1"/>
          </p:cNvSpPr>
          <p:nvPr>
            <p:ph type="title"/>
          </p:nvPr>
        </p:nvSpPr>
        <p:spPr>
          <a:xfrm>
            <a:off x="586740" y="363719"/>
            <a:ext cx="7402911" cy="861774"/>
          </a:xfrm>
        </p:spPr>
        <p:txBody>
          <a:bodyPr/>
          <a:lstStyle/>
          <a:p>
            <a:r>
              <a:rPr lang="en-US" sz="2800" noProof="0" dirty="0"/>
              <a:t>Azure DevOps(ADO) Services/Bitbucket Server/GitLab Server/GHES to GitHub</a:t>
            </a:r>
          </a:p>
        </p:txBody>
      </p:sp>
      <p:sp>
        <p:nvSpPr>
          <p:cNvPr id="23" name="Oval 22">
            <a:extLst>
              <a:ext uri="{FF2B5EF4-FFF2-40B4-BE49-F238E27FC236}">
                <a16:creationId xmlns:a16="http://schemas.microsoft.com/office/drawing/2014/main" id="{3914D536-3F07-1871-8C60-C6F191AA6FAB}"/>
              </a:ext>
            </a:extLst>
          </p:cNvPr>
          <p:cNvSpPr/>
          <p:nvPr/>
        </p:nvSpPr>
        <p:spPr bwMode="auto">
          <a:xfrm>
            <a:off x="775653" y="17864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7" name="TextBox 26">
            <a:extLst>
              <a:ext uri="{FF2B5EF4-FFF2-40B4-BE49-F238E27FC236}">
                <a16:creationId xmlns:a16="http://schemas.microsoft.com/office/drawing/2014/main" id="{A3FB4211-1384-5808-7099-9B145D9078FB}"/>
              </a:ext>
            </a:extLst>
          </p:cNvPr>
          <p:cNvSpPr txBox="1"/>
          <p:nvPr/>
        </p:nvSpPr>
        <p:spPr>
          <a:xfrm>
            <a:off x="1044951" y="1786465"/>
            <a:ext cx="4910328" cy="318036"/>
          </a:xfrm>
          <a:prstGeom prst="rect">
            <a:avLst/>
          </a:prstGeom>
          <a:noFill/>
        </p:spPr>
        <p:txBody>
          <a:bodyPr wrap="square" lIns="0" tIns="0" rIns="0" bIns="0">
            <a:spAutoFit/>
          </a:bodyPr>
          <a:lstStyle/>
          <a:p>
            <a:pPr lvl="0">
              <a:spcAft>
                <a:spcPts val="200"/>
              </a:spcAft>
              <a:defRPr/>
            </a:pPr>
            <a:r>
              <a:rPr lang="en-US" sz="1000" kern="0" noProof="0" dirty="0">
                <a:latin typeface="+mj-lt"/>
              </a:rPr>
              <a:t>Scenario:</a:t>
            </a:r>
          </a:p>
          <a:p>
            <a:pPr marL="185738" lvl="0" indent="-119063">
              <a:spcAft>
                <a:spcPts val="200"/>
              </a:spcAft>
              <a:buFont typeface="Arial" panose="020B0604020202020204" pitchFamily="34" charset="0"/>
              <a:buChar char="•"/>
              <a:tabLst>
                <a:tab pos="228600" algn="l"/>
              </a:tabLst>
              <a:defRPr/>
            </a:pPr>
            <a:r>
              <a:rPr lang="en-US" sz="900" kern="0" noProof="0" dirty="0"/>
              <a:t>Repository Migration from Azure DevOps to GitHub</a:t>
            </a:r>
          </a:p>
        </p:txBody>
      </p:sp>
      <p:sp>
        <p:nvSpPr>
          <p:cNvPr id="28" name="TextBox 27">
            <a:extLst>
              <a:ext uri="{FF2B5EF4-FFF2-40B4-BE49-F238E27FC236}">
                <a16:creationId xmlns:a16="http://schemas.microsoft.com/office/drawing/2014/main" id="{EF224E87-B6AB-FD2D-78F2-99E538422EF7}"/>
              </a:ext>
            </a:extLst>
          </p:cNvPr>
          <p:cNvSpPr txBox="1"/>
          <p:nvPr/>
        </p:nvSpPr>
        <p:spPr>
          <a:xfrm>
            <a:off x="6706039" y="1934803"/>
            <a:ext cx="2404872" cy="276999"/>
          </a:xfrm>
          <a:prstGeom prst="rect">
            <a:avLst/>
          </a:prstGeom>
          <a:noFill/>
        </p:spPr>
        <p:txBody>
          <a:bodyPr wrap="square" lIns="0" tIns="0" rIns="0" bIns="0">
            <a:spAutoFit/>
          </a:bodyPr>
          <a:lstStyle/>
          <a:p>
            <a:pPr marL="0" lvl="1">
              <a:defRPr/>
            </a:pPr>
            <a:r>
              <a:rPr lang="en-US" sz="900" kern="0" noProof="0" dirty="0"/>
              <a:t>Migration of Pipelines, Work item, Test plans, Artifacts, Permissions and Dashboards</a:t>
            </a:r>
          </a:p>
        </p:txBody>
      </p:sp>
      <p:sp>
        <p:nvSpPr>
          <p:cNvPr id="30" name="TextBox 29">
            <a:extLst>
              <a:ext uri="{FF2B5EF4-FFF2-40B4-BE49-F238E27FC236}">
                <a16:creationId xmlns:a16="http://schemas.microsoft.com/office/drawing/2014/main" id="{E485DB81-3D50-BD9D-CA41-F33E5741D32D}"/>
              </a:ext>
            </a:extLst>
          </p:cNvPr>
          <p:cNvSpPr txBox="1"/>
          <p:nvPr/>
        </p:nvSpPr>
        <p:spPr>
          <a:xfrm>
            <a:off x="1044951" y="2211297"/>
            <a:ext cx="4910328" cy="482183"/>
          </a:xfrm>
          <a:prstGeom prst="rect">
            <a:avLst/>
          </a:prstGeom>
          <a:noFill/>
        </p:spPr>
        <p:txBody>
          <a:bodyPr wrap="square" lIns="0" tIns="0" rIns="0" bIns="0">
            <a:spAutoFit/>
          </a:bodyPr>
          <a:lstStyle/>
          <a:p>
            <a:pPr lvl="0">
              <a:spcAft>
                <a:spcPts val="200"/>
              </a:spcAft>
              <a:defRPr/>
            </a:pPr>
            <a:r>
              <a:rPr lang="en-US" sz="1000" b="1" kern="0" noProof="0" dirty="0">
                <a:latin typeface="+mj-lt"/>
              </a:rPr>
              <a:t>Artifacts Migrated:</a:t>
            </a:r>
          </a:p>
          <a:p>
            <a:pPr marL="185738" lvl="2" indent="-119063">
              <a:spcAft>
                <a:spcPts val="200"/>
              </a:spcAft>
              <a:buFont typeface="Arial" panose="020B0604020202020204" pitchFamily="34" charset="0"/>
              <a:buChar char="•"/>
              <a:tabLst>
                <a:tab pos="161925" algn="l"/>
              </a:tabLst>
              <a:defRPr/>
            </a:pPr>
            <a:r>
              <a:rPr lang="en-US" sz="900" kern="0" noProof="0" dirty="0">
                <a:ea typeface="+mn-lt"/>
                <a:cs typeface="Segoe UI"/>
              </a:rPr>
              <a:t>Repository – Commits, Branches, History and Tags</a:t>
            </a:r>
          </a:p>
          <a:p>
            <a:pPr marL="185738" lvl="2" indent="-119063">
              <a:spcAft>
                <a:spcPts val="200"/>
              </a:spcAft>
              <a:buFont typeface="Arial" panose="020B0604020202020204" pitchFamily="34" charset="0"/>
              <a:buChar char="•"/>
              <a:tabLst>
                <a:tab pos="161925" algn="l"/>
              </a:tabLst>
              <a:defRPr/>
            </a:pPr>
            <a:r>
              <a:rPr lang="en-US" sz="900" kern="0" noProof="0" dirty="0">
                <a:ea typeface="+mn-lt"/>
                <a:cs typeface="Segoe UI"/>
              </a:rPr>
              <a:t>Pull Requests – Closed PRs, Comments, Reviews, Status Checks</a:t>
            </a:r>
            <a:endParaRPr lang="en-US" sz="900" kern="0" noProof="0" dirty="0">
              <a:ea typeface="Calibri"/>
              <a:cs typeface="Segoe UI"/>
            </a:endParaRPr>
          </a:p>
        </p:txBody>
      </p:sp>
      <p:sp>
        <p:nvSpPr>
          <p:cNvPr id="31" name="TextBox 30">
            <a:extLst>
              <a:ext uri="{FF2B5EF4-FFF2-40B4-BE49-F238E27FC236}">
                <a16:creationId xmlns:a16="http://schemas.microsoft.com/office/drawing/2014/main" id="{F35E4B79-9B3C-E7B4-A5CC-C49227D450DB}"/>
              </a:ext>
            </a:extLst>
          </p:cNvPr>
          <p:cNvSpPr txBox="1"/>
          <p:nvPr/>
        </p:nvSpPr>
        <p:spPr>
          <a:xfrm>
            <a:off x="1044951" y="2800276"/>
            <a:ext cx="4910328" cy="482183"/>
          </a:xfrm>
          <a:prstGeom prst="rect">
            <a:avLst/>
          </a:prstGeom>
          <a:noFill/>
        </p:spPr>
        <p:txBody>
          <a:bodyPr wrap="square" lIns="0" tIns="0" rIns="0" bIns="0">
            <a:spAutoFit/>
          </a:bodyPr>
          <a:lstStyle/>
          <a:p>
            <a:pPr lvl="0">
              <a:spcAft>
                <a:spcPts val="200"/>
              </a:spcAft>
              <a:defRPr/>
            </a:pPr>
            <a:r>
              <a:rPr lang="en-US" sz="1000" b="1" kern="0" noProof="0" dirty="0">
                <a:latin typeface="+mj-lt"/>
              </a:rPr>
              <a:t>Supported Platform: </a:t>
            </a:r>
          </a:p>
          <a:p>
            <a:pPr marL="195263" lvl="1" indent="-128588">
              <a:spcAft>
                <a:spcPts val="200"/>
              </a:spcAft>
              <a:buFont typeface="Arial" panose="020B0604020202020204" pitchFamily="34" charset="0"/>
              <a:buChar char="•"/>
              <a:defRPr/>
            </a:pPr>
            <a:r>
              <a:rPr lang="en-US" sz="900" kern="0" noProof="0" dirty="0"/>
              <a:t>Source: Azure DevOps Services (ADO Cloud)</a:t>
            </a:r>
          </a:p>
          <a:p>
            <a:pPr marL="195263" lvl="1" indent="-128588">
              <a:spcAft>
                <a:spcPts val="200"/>
              </a:spcAft>
              <a:buFont typeface="Arial" panose="020B0604020202020204" pitchFamily="34" charset="0"/>
              <a:buChar char="•"/>
              <a:defRPr/>
            </a:pPr>
            <a:r>
              <a:rPr lang="en-US" sz="900" kern="0" noProof="0" dirty="0"/>
              <a:t>Target: GitHub Enterprise Cloud/EMU/Data Residency</a:t>
            </a:r>
            <a:endParaRPr lang="en-US" sz="900" kern="0" noProof="0" dirty="0">
              <a:cs typeface="Segoe UI"/>
            </a:endParaRPr>
          </a:p>
        </p:txBody>
      </p:sp>
      <p:sp>
        <p:nvSpPr>
          <p:cNvPr id="32" name="TextBox 31">
            <a:extLst>
              <a:ext uri="{FF2B5EF4-FFF2-40B4-BE49-F238E27FC236}">
                <a16:creationId xmlns:a16="http://schemas.microsoft.com/office/drawing/2014/main" id="{B962D8D2-5147-6BF6-0DDB-3F38481FBFDF}"/>
              </a:ext>
            </a:extLst>
          </p:cNvPr>
          <p:cNvSpPr txBox="1"/>
          <p:nvPr/>
        </p:nvSpPr>
        <p:spPr>
          <a:xfrm>
            <a:off x="1044951" y="3389255"/>
            <a:ext cx="4910328" cy="810478"/>
          </a:xfrm>
          <a:prstGeom prst="rect">
            <a:avLst/>
          </a:prstGeom>
          <a:noFill/>
        </p:spPr>
        <p:txBody>
          <a:bodyPr wrap="square" lIns="0" tIns="0" rIns="0" bIns="0">
            <a:spAutoFit/>
          </a:bodyPr>
          <a:lstStyle/>
          <a:p>
            <a:pPr lvl="0">
              <a:spcAft>
                <a:spcPts val="200"/>
              </a:spcAft>
              <a:defRPr/>
            </a:pPr>
            <a:r>
              <a:rPr lang="en-US" sz="1000" b="1" kern="0" noProof="0" dirty="0">
                <a:latin typeface="+mj-lt"/>
              </a:rPr>
              <a:t>Assessment and Planning:</a:t>
            </a:r>
          </a:p>
          <a:p>
            <a:pPr marL="190500" lvl="2" indent="-119063">
              <a:spcAft>
                <a:spcPts val="200"/>
              </a:spcAft>
              <a:buFont typeface="Arial" panose="020B0604020202020204" pitchFamily="34" charset="0"/>
              <a:buChar char="•"/>
              <a:defRPr/>
            </a:pPr>
            <a:r>
              <a:rPr lang="en-US" sz="900" noProof="0" dirty="0"/>
              <a:t>Installation of GitHub CLI and ADO2GH extension</a:t>
            </a:r>
          </a:p>
          <a:p>
            <a:pPr marL="190500" lvl="2" indent="-119063">
              <a:spcAft>
                <a:spcPts val="200"/>
              </a:spcAft>
              <a:buFont typeface="Arial" panose="020B0604020202020204" pitchFamily="34" charset="0"/>
              <a:buChar char="•"/>
              <a:defRPr/>
            </a:pPr>
            <a:r>
              <a:rPr lang="en-US" sz="900" noProof="0" dirty="0"/>
              <a:t>Generate repository inventory report using ADO2GH CLI </a:t>
            </a:r>
          </a:p>
          <a:p>
            <a:pPr marL="190500" lvl="2" indent="-119063">
              <a:spcAft>
                <a:spcPts val="200"/>
              </a:spcAft>
              <a:buFont typeface="Arial" panose="020B0604020202020204" pitchFamily="34" charset="0"/>
              <a:buChar char="•"/>
              <a:defRPr/>
            </a:pPr>
            <a:r>
              <a:rPr lang="en-US" sz="900" noProof="0" dirty="0"/>
              <a:t>Analysis, discuss and finalize repositories for migration </a:t>
            </a:r>
          </a:p>
          <a:p>
            <a:pPr marL="190500" lvl="2" indent="-119063">
              <a:spcAft>
                <a:spcPts val="200"/>
              </a:spcAft>
              <a:buFont typeface="Arial" panose="020B0604020202020204" pitchFamily="34" charset="0"/>
              <a:buChar char="•"/>
              <a:defRPr/>
            </a:pPr>
            <a:r>
              <a:rPr lang="en-US" sz="900" noProof="0" dirty="0"/>
              <a:t>Schedule repositories for migration </a:t>
            </a:r>
          </a:p>
        </p:txBody>
      </p:sp>
      <p:sp>
        <p:nvSpPr>
          <p:cNvPr id="33" name="TextBox 32">
            <a:extLst>
              <a:ext uri="{FF2B5EF4-FFF2-40B4-BE49-F238E27FC236}">
                <a16:creationId xmlns:a16="http://schemas.microsoft.com/office/drawing/2014/main" id="{05A77E4D-EDE9-C98E-87B2-37095F1BB05F}"/>
              </a:ext>
            </a:extLst>
          </p:cNvPr>
          <p:cNvSpPr txBox="1"/>
          <p:nvPr/>
        </p:nvSpPr>
        <p:spPr>
          <a:xfrm>
            <a:off x="1044951" y="4300179"/>
            <a:ext cx="4910328" cy="1138773"/>
          </a:xfrm>
          <a:prstGeom prst="rect">
            <a:avLst/>
          </a:prstGeom>
          <a:noFill/>
        </p:spPr>
        <p:txBody>
          <a:bodyPr wrap="square" lIns="0" tIns="0" rIns="0" bIns="0">
            <a:spAutoFit/>
          </a:bodyPr>
          <a:lstStyle/>
          <a:p>
            <a:pPr lvl="0">
              <a:spcAft>
                <a:spcPts val="200"/>
              </a:spcAft>
              <a:defRPr/>
            </a:pPr>
            <a:r>
              <a:rPr lang="en-US" sz="1000" b="1" kern="0" noProof="0" dirty="0">
                <a:latin typeface="+mj-lt"/>
              </a:rPr>
              <a:t>Execution: </a:t>
            </a:r>
          </a:p>
          <a:p>
            <a:pPr marL="190500" lvl="2" indent="-119063">
              <a:spcAft>
                <a:spcPts val="200"/>
              </a:spcAft>
              <a:buFont typeface="Arial" panose="020B0604020202020204" pitchFamily="34" charset="0"/>
              <a:buChar char="•"/>
              <a:defRPr/>
            </a:pPr>
            <a:r>
              <a:rPr lang="en-US" sz="900" noProof="0" dirty="0">
                <a:cs typeface="Segoe UI" panose="020B0502040204020203" pitchFamily="34" charset="0"/>
              </a:rPr>
              <a:t>Perform repository migration (GEI supported Repo sizes)</a:t>
            </a:r>
          </a:p>
          <a:p>
            <a:pPr marL="190500" lvl="2" indent="-119063">
              <a:spcAft>
                <a:spcPts val="200"/>
              </a:spcAft>
              <a:buFont typeface="Arial" panose="020B0604020202020204" pitchFamily="34" charset="0"/>
              <a:buChar char="•"/>
              <a:defRPr/>
            </a:pPr>
            <a:r>
              <a:rPr lang="en-US" sz="900" noProof="0" dirty="0">
                <a:cs typeface="Segoe UI" panose="020B0502040204020203" pitchFamily="34" charset="0"/>
              </a:rPr>
              <a:t>Monitor the migration progress</a:t>
            </a:r>
          </a:p>
          <a:p>
            <a:pPr marL="190500" lvl="2" indent="-119063">
              <a:spcAft>
                <a:spcPts val="200"/>
              </a:spcAft>
              <a:buFont typeface="Arial" panose="020B0604020202020204" pitchFamily="34" charset="0"/>
              <a:buChar char="•"/>
              <a:defRPr/>
            </a:pPr>
            <a:r>
              <a:rPr lang="en-US" sz="900" noProof="0" dirty="0">
                <a:cs typeface="Segoe UI" panose="020B0502040204020203" pitchFamily="34" charset="0"/>
              </a:rPr>
              <a:t>Basic validation of source &amp; target repository </a:t>
            </a:r>
          </a:p>
          <a:p>
            <a:pPr marL="190500" lvl="2" indent="-119063">
              <a:spcAft>
                <a:spcPts val="200"/>
              </a:spcAft>
              <a:buFont typeface="Arial" panose="020B0604020202020204" pitchFamily="34" charset="0"/>
              <a:buChar char="•"/>
              <a:defRPr/>
            </a:pPr>
            <a:r>
              <a:rPr lang="en-US" sz="900" noProof="0" dirty="0">
                <a:cs typeface="Segoe UI" panose="020B0502040204020203" pitchFamily="34" charset="0"/>
              </a:rPr>
              <a:t>Azure boards integration</a:t>
            </a:r>
          </a:p>
          <a:p>
            <a:pPr marL="190500" lvl="2" indent="-119063">
              <a:spcAft>
                <a:spcPts val="200"/>
              </a:spcAft>
              <a:buFont typeface="Arial" panose="020B0604020202020204" pitchFamily="34" charset="0"/>
              <a:buChar char="•"/>
              <a:defRPr/>
            </a:pPr>
            <a:r>
              <a:rPr lang="en-US" sz="900" noProof="0" dirty="0">
                <a:cs typeface="Segoe UI" panose="020B0502040204020203" pitchFamily="34" charset="0"/>
              </a:rPr>
              <a:t>Mannequin reclamation </a:t>
            </a:r>
          </a:p>
          <a:p>
            <a:pPr marL="190500" lvl="2" indent="-119063">
              <a:spcAft>
                <a:spcPts val="200"/>
              </a:spcAft>
              <a:buFont typeface="Arial" panose="020B0604020202020204" pitchFamily="34" charset="0"/>
              <a:buChar char="•"/>
              <a:defRPr/>
            </a:pPr>
            <a:r>
              <a:rPr lang="en-US" sz="900" noProof="0" dirty="0">
                <a:cs typeface="Segoe UI"/>
              </a:rPr>
              <a:t>Azure Pipeline rewiring (Guidance for few repos only)</a:t>
            </a:r>
          </a:p>
        </p:txBody>
      </p:sp>
      <p:sp>
        <p:nvSpPr>
          <p:cNvPr id="35" name="TextBox 34">
            <a:extLst>
              <a:ext uri="{FF2B5EF4-FFF2-40B4-BE49-F238E27FC236}">
                <a16:creationId xmlns:a16="http://schemas.microsoft.com/office/drawing/2014/main" id="{0F1064F3-5DFD-6D02-CCE0-C3DFBBCB91D8}"/>
              </a:ext>
            </a:extLst>
          </p:cNvPr>
          <p:cNvSpPr txBox="1"/>
          <p:nvPr/>
        </p:nvSpPr>
        <p:spPr>
          <a:xfrm>
            <a:off x="1044951" y="5542573"/>
            <a:ext cx="4910328" cy="318036"/>
          </a:xfrm>
          <a:prstGeom prst="rect">
            <a:avLst/>
          </a:prstGeom>
          <a:noFill/>
        </p:spPr>
        <p:txBody>
          <a:bodyPr wrap="square" lIns="0" tIns="0" rIns="0" bIns="0">
            <a:spAutoFit/>
          </a:bodyPr>
          <a:lstStyle/>
          <a:p>
            <a:pPr lvl="0">
              <a:spcAft>
                <a:spcPts val="200"/>
              </a:spcAft>
              <a:defRPr/>
            </a:pPr>
            <a:r>
              <a:rPr lang="en-US" sz="1000" b="1" kern="0" noProof="0" dirty="0">
                <a:latin typeface="+mj-lt"/>
              </a:rPr>
              <a:t>Signoff: </a:t>
            </a:r>
          </a:p>
          <a:p>
            <a:pPr marL="185738" lvl="2" indent="-109538">
              <a:buFont typeface="Arial" panose="020B0604020202020204" pitchFamily="34" charset="0"/>
              <a:buChar char="•"/>
              <a:defRPr/>
            </a:pPr>
            <a:r>
              <a:rPr lang="en-US" sz="900" noProof="0" dirty="0"/>
              <a:t>Discuss the migration with the customer and finalize their sign‑off</a:t>
            </a:r>
          </a:p>
        </p:txBody>
      </p:sp>
      <p:sp>
        <p:nvSpPr>
          <p:cNvPr id="52" name="TextBox 51">
            <a:extLst>
              <a:ext uri="{FF2B5EF4-FFF2-40B4-BE49-F238E27FC236}">
                <a16:creationId xmlns:a16="http://schemas.microsoft.com/office/drawing/2014/main" id="{FAD27DF4-6D1E-5A14-EC14-82C31F3E10DE}"/>
              </a:ext>
            </a:extLst>
          </p:cNvPr>
          <p:cNvSpPr txBox="1">
            <a:spLocks/>
          </p:cNvSpPr>
          <p:nvPr/>
        </p:nvSpPr>
        <p:spPr>
          <a:xfrm>
            <a:off x="6706039" y="3888214"/>
            <a:ext cx="2286000" cy="276999"/>
          </a:xfrm>
          <a:prstGeom prst="rect">
            <a:avLst/>
          </a:prstGeom>
          <a:noFill/>
        </p:spPr>
        <p:txBody>
          <a:bodyPr wrap="square" lIns="0" tIns="0" rIns="0" bIns="0" anchor="t">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Enablement of SSO with SCIM and Creation of Teams &amp; permissions</a:t>
            </a:r>
          </a:p>
        </p:txBody>
      </p:sp>
      <p:sp>
        <p:nvSpPr>
          <p:cNvPr id="84" name="TextBox 9">
            <a:extLst>
              <a:ext uri="{FF2B5EF4-FFF2-40B4-BE49-F238E27FC236}">
                <a16:creationId xmlns:a16="http://schemas.microsoft.com/office/drawing/2014/main" id="{8FBD6C4F-9BFB-7D85-7F78-028F89CBBD03}"/>
              </a:ext>
            </a:extLst>
          </p:cNvPr>
          <p:cNvSpPr txBox="1">
            <a:spLocks/>
          </p:cNvSpPr>
          <p:nvPr/>
        </p:nvSpPr>
        <p:spPr>
          <a:xfrm>
            <a:off x="6706039" y="3200186"/>
            <a:ext cx="2286000" cy="138499"/>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mn-ea"/>
                <a:cs typeface="+mn-cs"/>
              </a:rPr>
              <a:t>Repo Performance Analysis</a:t>
            </a:r>
          </a:p>
        </p:txBody>
      </p:sp>
      <p:sp>
        <p:nvSpPr>
          <p:cNvPr id="85" name="TextBox 84">
            <a:extLst>
              <a:ext uri="{FF2B5EF4-FFF2-40B4-BE49-F238E27FC236}">
                <a16:creationId xmlns:a16="http://schemas.microsoft.com/office/drawing/2014/main" id="{F2408514-037F-6D6E-0147-24645D9EC947}"/>
              </a:ext>
            </a:extLst>
          </p:cNvPr>
          <p:cNvSpPr txBox="1">
            <a:spLocks/>
          </p:cNvSpPr>
          <p:nvPr/>
        </p:nvSpPr>
        <p:spPr>
          <a:xfrm>
            <a:off x="6706039" y="2700939"/>
            <a:ext cx="2286000"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Design, Architect, Advisory and Consulting </a:t>
            </a:r>
            <a:r>
              <a:rPr kumimoji="0" lang="en-US" sz="900" b="0" i="0" u="none" strike="noStrike" kern="0" cap="none" spc="0" normalizeH="0" baseline="0" noProof="0" dirty="0">
                <a:ln>
                  <a:noFill/>
                </a:ln>
                <a:effectLst/>
                <a:uLnTx/>
                <a:uFillTx/>
                <a:ea typeface="Calibri"/>
                <a:cs typeface="Segoe UI"/>
              </a:rPr>
              <a:t>services</a:t>
            </a:r>
          </a:p>
        </p:txBody>
      </p:sp>
      <p:sp>
        <p:nvSpPr>
          <p:cNvPr id="86" name="TextBox 85">
            <a:extLst>
              <a:ext uri="{FF2B5EF4-FFF2-40B4-BE49-F238E27FC236}">
                <a16:creationId xmlns:a16="http://schemas.microsoft.com/office/drawing/2014/main" id="{2E9058C5-6917-DF05-13B1-65A8ABD5A1E7}"/>
              </a:ext>
            </a:extLst>
          </p:cNvPr>
          <p:cNvSpPr txBox="1">
            <a:spLocks/>
          </p:cNvSpPr>
          <p:nvPr/>
        </p:nvSpPr>
        <p:spPr>
          <a:xfrm>
            <a:off x="6706039" y="3541674"/>
            <a:ext cx="2286000" cy="1384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Clean-up/</a:t>
            </a:r>
            <a:r>
              <a:rPr kumimoji="0" lang="en-US" sz="900" b="0" i="0" u="none" strike="noStrike" kern="0" cap="none" spc="0" normalizeH="0" baseline="0" noProof="0" dirty="0">
                <a:ln>
                  <a:noFill/>
                </a:ln>
                <a:effectLst/>
                <a:uLnTx/>
                <a:uFillTx/>
                <a:ea typeface="Calibri"/>
                <a:cs typeface="Segoe UI" panose="020B0502040204020203" pitchFamily="34" charset="0"/>
              </a:rPr>
              <a:t>Decommission</a:t>
            </a:r>
            <a:r>
              <a:rPr kumimoji="0" lang="en-US" sz="900" b="0" i="0" u="none" strike="noStrike" kern="0" cap="none" spc="0" normalizeH="0" baseline="0" noProof="0" dirty="0">
                <a:ln>
                  <a:noFill/>
                </a:ln>
                <a:effectLst/>
                <a:uLnTx/>
                <a:uFillTx/>
                <a:ea typeface="Calibri"/>
                <a:cs typeface="Calibri"/>
              </a:rPr>
              <a:t> of source repository </a:t>
            </a:r>
            <a:endParaRPr kumimoji="0" lang="en-US" sz="900" b="0" i="0" u="none" strike="noStrike" kern="0" cap="none" spc="0" normalizeH="0" baseline="0" noProof="0" dirty="0">
              <a:ln>
                <a:noFill/>
              </a:ln>
              <a:effectLst/>
              <a:uLnTx/>
              <a:uFillTx/>
              <a:ea typeface="+mn-lt"/>
              <a:cs typeface="Segoe UI"/>
              <a:hlinkClick r:id="rId3">
                <a:extLst>
                  <a:ext uri="{A12FA001-AC4F-418D-AE19-62706E023703}">
                    <ahyp:hlinkClr xmlns:ahyp="http://schemas.microsoft.com/office/drawing/2018/hyperlinkcolor" val="tx"/>
                  </a:ext>
                </a:extLst>
              </a:hlinkClick>
            </a:endParaRPr>
          </a:p>
        </p:txBody>
      </p:sp>
      <p:sp>
        <p:nvSpPr>
          <p:cNvPr id="87" name="TextBox 86">
            <a:extLst>
              <a:ext uri="{FF2B5EF4-FFF2-40B4-BE49-F238E27FC236}">
                <a16:creationId xmlns:a16="http://schemas.microsoft.com/office/drawing/2014/main" id="{DF738F6A-6E9F-5B72-557B-7A573DEFD011}"/>
              </a:ext>
            </a:extLst>
          </p:cNvPr>
          <p:cNvSpPr txBox="1">
            <a:spLocks/>
          </p:cNvSpPr>
          <p:nvPr/>
        </p:nvSpPr>
        <p:spPr>
          <a:xfrm>
            <a:off x="6706039" y="4399407"/>
            <a:ext cx="2286000" cy="1384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Creation of PAT tokens</a:t>
            </a:r>
          </a:p>
        </p:txBody>
      </p:sp>
      <p:sp>
        <p:nvSpPr>
          <p:cNvPr id="88" name="TextBox 87">
            <a:extLst>
              <a:ext uri="{FF2B5EF4-FFF2-40B4-BE49-F238E27FC236}">
                <a16:creationId xmlns:a16="http://schemas.microsoft.com/office/drawing/2014/main" id="{E33AD749-6DF4-CDF2-E3C1-F12A4997473A}"/>
              </a:ext>
            </a:extLst>
          </p:cNvPr>
          <p:cNvSpPr txBox="1">
            <a:spLocks/>
          </p:cNvSpPr>
          <p:nvPr/>
        </p:nvSpPr>
        <p:spPr>
          <a:xfrm>
            <a:off x="6706039" y="2346714"/>
            <a:ext cx="2286000"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Migration of Git LFS and Submodules </a:t>
            </a:r>
          </a:p>
        </p:txBody>
      </p:sp>
      <p:sp>
        <p:nvSpPr>
          <p:cNvPr id="89" name="TextBox 88">
            <a:extLst>
              <a:ext uri="{FF2B5EF4-FFF2-40B4-BE49-F238E27FC236}">
                <a16:creationId xmlns:a16="http://schemas.microsoft.com/office/drawing/2014/main" id="{FA7A792B-867B-C781-0133-433E72A4B9C1}"/>
              </a:ext>
            </a:extLst>
          </p:cNvPr>
          <p:cNvSpPr txBox="1">
            <a:spLocks/>
          </p:cNvSpPr>
          <p:nvPr/>
        </p:nvSpPr>
        <p:spPr>
          <a:xfrm>
            <a:off x="6706039" y="4760154"/>
            <a:ext cx="2286000" cy="2769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Verifying whether external tools work correctly after migration </a:t>
            </a:r>
          </a:p>
        </p:txBody>
      </p:sp>
      <p:sp>
        <p:nvSpPr>
          <p:cNvPr id="90" name="TextBox 89">
            <a:extLst>
              <a:ext uri="{FF2B5EF4-FFF2-40B4-BE49-F238E27FC236}">
                <a16:creationId xmlns:a16="http://schemas.microsoft.com/office/drawing/2014/main" id="{E7DD946F-673C-3366-C023-40FE7FEBCD69}"/>
              </a:ext>
            </a:extLst>
          </p:cNvPr>
          <p:cNvSpPr txBox="1">
            <a:spLocks/>
          </p:cNvSpPr>
          <p:nvPr/>
        </p:nvSpPr>
        <p:spPr>
          <a:xfrm>
            <a:off x="6706039" y="5227046"/>
            <a:ext cx="2286000"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Platform configuration and onboarding</a:t>
            </a:r>
          </a:p>
        </p:txBody>
      </p:sp>
      <p:sp>
        <p:nvSpPr>
          <p:cNvPr id="91" name="TextBox 90">
            <a:extLst>
              <a:ext uri="{FF2B5EF4-FFF2-40B4-BE49-F238E27FC236}">
                <a16:creationId xmlns:a16="http://schemas.microsoft.com/office/drawing/2014/main" id="{31BFCE32-94C1-BFFD-792A-E850143380CB}"/>
              </a:ext>
            </a:extLst>
          </p:cNvPr>
          <p:cNvSpPr txBox="1">
            <a:spLocks/>
          </p:cNvSpPr>
          <p:nvPr/>
        </p:nvSpPr>
        <p:spPr>
          <a:xfrm>
            <a:off x="9458820" y="3265556"/>
            <a:ext cx="2187208" cy="1384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Disaster recovery setup, configuration</a:t>
            </a:r>
            <a:endParaRPr kumimoji="0" lang="en-US" sz="900" b="0" i="0" u="none" strike="noStrike" kern="0" cap="none" spc="0" normalizeH="0" baseline="0" noProof="0" dirty="0">
              <a:ln>
                <a:noFill/>
              </a:ln>
              <a:effectLst/>
              <a:uLnTx/>
              <a:uFillTx/>
              <a:ea typeface="Calibri"/>
              <a:cs typeface="Segoe UI"/>
            </a:endParaRPr>
          </a:p>
        </p:txBody>
      </p:sp>
      <p:sp>
        <p:nvSpPr>
          <p:cNvPr id="92" name="TextBox 91">
            <a:extLst>
              <a:ext uri="{FF2B5EF4-FFF2-40B4-BE49-F238E27FC236}">
                <a16:creationId xmlns:a16="http://schemas.microsoft.com/office/drawing/2014/main" id="{14E81218-36C9-B5BB-E46C-F992A6091F3E}"/>
              </a:ext>
            </a:extLst>
          </p:cNvPr>
          <p:cNvSpPr txBox="1">
            <a:spLocks/>
          </p:cNvSpPr>
          <p:nvPr/>
        </p:nvSpPr>
        <p:spPr>
          <a:xfrm>
            <a:off x="9458820" y="3611215"/>
            <a:ext cx="2187208" cy="276999"/>
          </a:xfrm>
          <a:prstGeom prst="rect">
            <a:avLst/>
          </a:prstGeom>
          <a:noFill/>
        </p:spPr>
        <p:txBody>
          <a:bodyPr wrap="square" lIns="0" tIns="0" rIns="0" bIns="0" anchor="ctr">
            <a:spAutoFit/>
          </a:bodyPr>
          <a:lstStyle>
            <a:defPPr>
              <a:defRPr lang="en-US"/>
            </a:defPPr>
            <a:lvl1pPr marR="0" lvl="0"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ea typeface="Calibri"/>
                <a:cs typeface="Calibr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Calibri"/>
                <a:cs typeface="Calibri"/>
              </a:rPr>
              <a:t>Any other migration path not listed in the Scope/not supported by migration tool</a:t>
            </a:r>
          </a:p>
        </p:txBody>
      </p:sp>
      <p:sp>
        <p:nvSpPr>
          <p:cNvPr id="93" name="TextBox 92">
            <a:extLst>
              <a:ext uri="{FF2B5EF4-FFF2-40B4-BE49-F238E27FC236}">
                <a16:creationId xmlns:a16="http://schemas.microsoft.com/office/drawing/2014/main" id="{09AA7A40-F66A-AFC9-B3D5-596B71039432}"/>
              </a:ext>
            </a:extLst>
          </p:cNvPr>
          <p:cNvSpPr txBox="1">
            <a:spLocks/>
          </p:cNvSpPr>
          <p:nvPr/>
        </p:nvSpPr>
        <p:spPr>
          <a:xfrm>
            <a:off x="9458820" y="2284656"/>
            <a:ext cx="2187208"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Segoe UI" panose="020B0502040204020203" pitchFamily="34" charset="0"/>
              </a:rPr>
              <a:t>Testing of application dependencies and functionality</a:t>
            </a:r>
            <a:endParaRPr kumimoji="0" lang="en-US" sz="900" b="0" i="0" u="none" strike="noStrike" kern="0" cap="none" spc="0" normalizeH="0" baseline="0" noProof="0" dirty="0">
              <a:ln>
                <a:noFill/>
              </a:ln>
              <a:effectLst/>
              <a:uLnTx/>
              <a:uFillTx/>
              <a:ea typeface="+mn-lt"/>
              <a:cs typeface="Segoe UI" panose="020B0502040204020203" pitchFamily="34" charset="0"/>
              <a:hlinkClick r:id="rId3">
                <a:extLst>
                  <a:ext uri="{A12FA001-AC4F-418D-AE19-62706E023703}">
                    <ahyp:hlinkClr xmlns:ahyp="http://schemas.microsoft.com/office/drawing/2018/hyperlinkcolor" val="tx"/>
                  </a:ext>
                </a:extLst>
              </a:hlinkClick>
            </a:endParaRPr>
          </a:p>
        </p:txBody>
      </p:sp>
      <p:sp>
        <p:nvSpPr>
          <p:cNvPr id="94" name="TextBox 93">
            <a:extLst>
              <a:ext uri="{FF2B5EF4-FFF2-40B4-BE49-F238E27FC236}">
                <a16:creationId xmlns:a16="http://schemas.microsoft.com/office/drawing/2014/main" id="{D4D65D6A-0D2A-F5A3-CD11-EDCDE9C50927}"/>
              </a:ext>
            </a:extLst>
          </p:cNvPr>
          <p:cNvSpPr txBox="1">
            <a:spLocks/>
          </p:cNvSpPr>
          <p:nvPr/>
        </p:nvSpPr>
        <p:spPr>
          <a:xfrm>
            <a:off x="9458820" y="2770858"/>
            <a:ext cx="2187208"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Segoe UI" panose="020B0502040204020203" pitchFamily="34" charset="0"/>
              </a:rPr>
              <a:t>Modifying files or content in the source and target repositories</a:t>
            </a:r>
            <a:endParaRPr kumimoji="0" lang="en-US" sz="900" b="0" i="0" u="none" strike="noStrike" kern="0" cap="none" spc="0" normalizeH="0" baseline="0" noProof="0" dirty="0">
              <a:ln>
                <a:noFill/>
              </a:ln>
              <a:effectLst/>
              <a:uLnTx/>
              <a:uFillTx/>
              <a:ea typeface="+mn-lt"/>
              <a:cs typeface="Segoe UI" panose="020B0502040204020203" pitchFamily="34" charset="0"/>
              <a:hlinkClick r:id="rId3">
                <a:extLst>
                  <a:ext uri="{A12FA001-AC4F-418D-AE19-62706E023703}">
                    <ahyp:hlinkClr xmlns:ahyp="http://schemas.microsoft.com/office/drawing/2018/hyperlinkcolor" val="tx"/>
                  </a:ext>
                </a:extLst>
              </a:hlinkClick>
            </a:endParaRPr>
          </a:p>
        </p:txBody>
      </p:sp>
      <p:sp>
        <p:nvSpPr>
          <p:cNvPr id="95" name="TextBox 94">
            <a:extLst>
              <a:ext uri="{FF2B5EF4-FFF2-40B4-BE49-F238E27FC236}">
                <a16:creationId xmlns:a16="http://schemas.microsoft.com/office/drawing/2014/main" id="{3AB74780-25B8-C254-1005-37442AB86263}"/>
              </a:ext>
            </a:extLst>
          </p:cNvPr>
          <p:cNvSpPr txBox="1">
            <a:spLocks/>
          </p:cNvSpPr>
          <p:nvPr/>
        </p:nvSpPr>
        <p:spPr>
          <a:xfrm>
            <a:off x="9458820" y="4099568"/>
            <a:ext cx="2187208" cy="276999"/>
          </a:xfrm>
          <a:prstGeom prst="rect">
            <a:avLst/>
          </a:prstGeom>
          <a:noFill/>
        </p:spPr>
        <p:txBody>
          <a:bodyPr wrap="square" lIns="0" tIns="0" rIns="0" bIns="0" anchor="ctr">
            <a:spAutoFit/>
          </a:bodyPr>
          <a:lstStyle>
            <a:defPPr>
              <a:defRPr lang="en-US"/>
            </a:defPPr>
            <a:lvl1pPr marR="0" lvl="0"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ea typeface="Calibri"/>
                <a:cs typeface="Calibr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Calibri"/>
                <a:cs typeface="Calibri"/>
              </a:rPr>
              <a:t>Establishing network connectivity between ADO and GitHub</a:t>
            </a:r>
          </a:p>
        </p:txBody>
      </p:sp>
      <p:sp>
        <p:nvSpPr>
          <p:cNvPr id="96" name="TextBox 95">
            <a:extLst>
              <a:ext uri="{FF2B5EF4-FFF2-40B4-BE49-F238E27FC236}">
                <a16:creationId xmlns:a16="http://schemas.microsoft.com/office/drawing/2014/main" id="{C115EBC2-27BD-18E6-EC09-04381C6E2A17}"/>
              </a:ext>
            </a:extLst>
          </p:cNvPr>
          <p:cNvSpPr txBox="1">
            <a:spLocks/>
          </p:cNvSpPr>
          <p:nvPr/>
        </p:nvSpPr>
        <p:spPr>
          <a:xfrm>
            <a:off x="9458820" y="4586267"/>
            <a:ext cx="2187208" cy="276999"/>
          </a:xfrm>
          <a:prstGeom prst="rect">
            <a:avLst/>
          </a:prstGeom>
          <a:noFill/>
        </p:spPr>
        <p:txBody>
          <a:bodyPr wrap="square" lIns="0" tIns="0" rIns="0" bIns="0" anchor="ctr">
            <a:spAutoFit/>
          </a:bodyPr>
          <a:lstStyle>
            <a:defPPr>
              <a:defRPr lang="en-US"/>
            </a:defPPr>
            <a:lvl1pPr marR="0" lvl="0"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ea typeface="Calibri"/>
                <a:cs typeface="Calibr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Calibri"/>
                <a:cs typeface="Calibri"/>
              </a:rPr>
              <a:t>Checking whether user permissions are set correctly after migration</a:t>
            </a:r>
          </a:p>
        </p:txBody>
      </p:sp>
      <p:sp>
        <p:nvSpPr>
          <p:cNvPr id="97" name="TextBox 96">
            <a:extLst>
              <a:ext uri="{FF2B5EF4-FFF2-40B4-BE49-F238E27FC236}">
                <a16:creationId xmlns:a16="http://schemas.microsoft.com/office/drawing/2014/main" id="{C9F64A2F-2EEA-7942-D4A4-EA7034D88CA5}"/>
              </a:ext>
            </a:extLst>
          </p:cNvPr>
          <p:cNvSpPr txBox="1">
            <a:spLocks/>
          </p:cNvSpPr>
          <p:nvPr/>
        </p:nvSpPr>
        <p:spPr>
          <a:xfrm>
            <a:off x="9458820" y="5079591"/>
            <a:ext cx="2187208" cy="138499"/>
          </a:xfrm>
          <a:prstGeom prst="rect">
            <a:avLst/>
          </a:prstGeom>
          <a:noFill/>
        </p:spPr>
        <p:txBody>
          <a:bodyPr wrap="square" lIns="0" tIns="0" rIns="0" bIns="0" anchor="ctr">
            <a:spAutoFit/>
          </a:bodyPr>
          <a:lstStyle>
            <a:defPPr>
              <a:defRPr lang="en-US"/>
            </a:defPPr>
            <a:lvl1pPr marR="0" lvl="0"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ea typeface="Calibri"/>
                <a:cs typeface="Calibr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Calibri"/>
                <a:cs typeface="Calibri"/>
              </a:rPr>
              <a:t>TFVC to Git Migration</a:t>
            </a:r>
          </a:p>
        </p:txBody>
      </p:sp>
      <p:sp>
        <p:nvSpPr>
          <p:cNvPr id="98" name="TextBox 97">
            <a:extLst>
              <a:ext uri="{FF2B5EF4-FFF2-40B4-BE49-F238E27FC236}">
                <a16:creationId xmlns:a16="http://schemas.microsoft.com/office/drawing/2014/main" id="{A44A3E12-4069-32B0-B3DC-F1C46A8AA0CB}"/>
              </a:ext>
            </a:extLst>
          </p:cNvPr>
          <p:cNvSpPr txBox="1">
            <a:spLocks/>
          </p:cNvSpPr>
          <p:nvPr/>
        </p:nvSpPr>
        <p:spPr>
          <a:xfrm>
            <a:off x="9458820" y="5422064"/>
            <a:ext cx="2187208" cy="1384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Migration from ADO Server</a:t>
            </a:r>
            <a:endParaRPr kumimoji="0" lang="en-US" sz="1800" b="0" i="0" u="none" strike="noStrike" kern="1200" cap="none" spc="0" normalizeH="0" baseline="0" noProof="0" dirty="0">
              <a:ln>
                <a:noFill/>
              </a:ln>
              <a:effectLst/>
              <a:uLnTx/>
              <a:uFillTx/>
              <a:ea typeface="+mn-ea"/>
              <a:cs typeface="+mn-cs"/>
            </a:endParaRPr>
          </a:p>
        </p:txBody>
      </p:sp>
      <p:sp>
        <p:nvSpPr>
          <p:cNvPr id="104" name="Oval 103">
            <a:extLst>
              <a:ext uri="{FF2B5EF4-FFF2-40B4-BE49-F238E27FC236}">
                <a16:creationId xmlns:a16="http://schemas.microsoft.com/office/drawing/2014/main" id="{D5689BD8-ED05-50BE-0166-B27DAD55CB88}"/>
              </a:ext>
            </a:extLst>
          </p:cNvPr>
          <p:cNvSpPr/>
          <p:nvPr/>
        </p:nvSpPr>
        <p:spPr bwMode="auto">
          <a:xfrm>
            <a:off x="775653" y="22099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5" name="Oval 104">
            <a:extLst>
              <a:ext uri="{FF2B5EF4-FFF2-40B4-BE49-F238E27FC236}">
                <a16:creationId xmlns:a16="http://schemas.microsoft.com/office/drawing/2014/main" id="{45FA66B2-0F79-B682-D78D-46296FAB57E9}"/>
              </a:ext>
            </a:extLst>
          </p:cNvPr>
          <p:cNvSpPr/>
          <p:nvPr/>
        </p:nvSpPr>
        <p:spPr bwMode="auto">
          <a:xfrm>
            <a:off x="775653" y="28002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6" name="Oval 105">
            <a:extLst>
              <a:ext uri="{FF2B5EF4-FFF2-40B4-BE49-F238E27FC236}">
                <a16:creationId xmlns:a16="http://schemas.microsoft.com/office/drawing/2014/main" id="{F7F535D0-B0FE-884B-B546-7FAF07EB475F}"/>
              </a:ext>
            </a:extLst>
          </p:cNvPr>
          <p:cNvSpPr/>
          <p:nvPr/>
        </p:nvSpPr>
        <p:spPr bwMode="auto">
          <a:xfrm>
            <a:off x="775653" y="338925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7" name="Oval 106">
            <a:extLst>
              <a:ext uri="{FF2B5EF4-FFF2-40B4-BE49-F238E27FC236}">
                <a16:creationId xmlns:a16="http://schemas.microsoft.com/office/drawing/2014/main" id="{EE21F96C-1587-F88F-13B4-B76612AF5C66}"/>
              </a:ext>
            </a:extLst>
          </p:cNvPr>
          <p:cNvSpPr/>
          <p:nvPr/>
        </p:nvSpPr>
        <p:spPr bwMode="auto">
          <a:xfrm>
            <a:off x="775653" y="43065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8" name="Oval 107">
            <a:extLst>
              <a:ext uri="{FF2B5EF4-FFF2-40B4-BE49-F238E27FC236}">
                <a16:creationId xmlns:a16="http://schemas.microsoft.com/office/drawing/2014/main" id="{D086719A-5E7A-EFA0-553D-4BD5D015868A}"/>
              </a:ext>
            </a:extLst>
          </p:cNvPr>
          <p:cNvSpPr/>
          <p:nvPr/>
        </p:nvSpPr>
        <p:spPr bwMode="auto">
          <a:xfrm>
            <a:off x="775653" y="554257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0" name="Oval 109">
            <a:extLst>
              <a:ext uri="{FF2B5EF4-FFF2-40B4-BE49-F238E27FC236}">
                <a16:creationId xmlns:a16="http://schemas.microsoft.com/office/drawing/2014/main" id="{1B02F3F8-BA56-A2FF-D9D1-FC08DA13F764}"/>
              </a:ext>
            </a:extLst>
          </p:cNvPr>
          <p:cNvSpPr/>
          <p:nvPr/>
        </p:nvSpPr>
        <p:spPr bwMode="auto">
          <a:xfrm>
            <a:off x="6421680" y="234738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1" name="Oval 110">
            <a:extLst>
              <a:ext uri="{FF2B5EF4-FFF2-40B4-BE49-F238E27FC236}">
                <a16:creationId xmlns:a16="http://schemas.microsoft.com/office/drawing/2014/main" id="{2151C6C3-8290-5F2D-88B2-A9DBB0B01E0F}"/>
              </a:ext>
            </a:extLst>
          </p:cNvPr>
          <p:cNvSpPr/>
          <p:nvPr/>
        </p:nvSpPr>
        <p:spPr bwMode="auto">
          <a:xfrm>
            <a:off x="6421680" y="27044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2" name="Oval 111">
            <a:extLst>
              <a:ext uri="{FF2B5EF4-FFF2-40B4-BE49-F238E27FC236}">
                <a16:creationId xmlns:a16="http://schemas.microsoft.com/office/drawing/2014/main" id="{C5A4E46A-7751-5C36-C8BC-7EC66AB05E59}"/>
              </a:ext>
            </a:extLst>
          </p:cNvPr>
          <p:cNvSpPr/>
          <p:nvPr/>
        </p:nvSpPr>
        <p:spPr bwMode="auto">
          <a:xfrm>
            <a:off x="6421680" y="319278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3" name="Oval 112">
            <a:extLst>
              <a:ext uri="{FF2B5EF4-FFF2-40B4-BE49-F238E27FC236}">
                <a16:creationId xmlns:a16="http://schemas.microsoft.com/office/drawing/2014/main" id="{1C5FF740-BD4F-04DB-DCC4-680E2F388FEA}"/>
              </a:ext>
            </a:extLst>
          </p:cNvPr>
          <p:cNvSpPr/>
          <p:nvPr/>
        </p:nvSpPr>
        <p:spPr bwMode="auto">
          <a:xfrm>
            <a:off x="6421680" y="354234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4" name="Oval 113">
            <a:extLst>
              <a:ext uri="{FF2B5EF4-FFF2-40B4-BE49-F238E27FC236}">
                <a16:creationId xmlns:a16="http://schemas.microsoft.com/office/drawing/2014/main" id="{50A079DB-349B-D14C-59E2-DC7CB7B737B8}"/>
              </a:ext>
            </a:extLst>
          </p:cNvPr>
          <p:cNvSpPr/>
          <p:nvPr/>
        </p:nvSpPr>
        <p:spPr bwMode="auto">
          <a:xfrm>
            <a:off x="6421680" y="388821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5" name="Oval 114">
            <a:extLst>
              <a:ext uri="{FF2B5EF4-FFF2-40B4-BE49-F238E27FC236}">
                <a16:creationId xmlns:a16="http://schemas.microsoft.com/office/drawing/2014/main" id="{81634A89-37A2-9CC0-0172-2FF3E7898DDA}"/>
              </a:ext>
            </a:extLst>
          </p:cNvPr>
          <p:cNvSpPr/>
          <p:nvPr/>
        </p:nvSpPr>
        <p:spPr bwMode="auto">
          <a:xfrm>
            <a:off x="6421680" y="439387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6" name="Oval 115">
            <a:extLst>
              <a:ext uri="{FF2B5EF4-FFF2-40B4-BE49-F238E27FC236}">
                <a16:creationId xmlns:a16="http://schemas.microsoft.com/office/drawing/2014/main" id="{5C6B7329-F094-1FC4-6BC2-CBBB9682D011}"/>
              </a:ext>
            </a:extLst>
          </p:cNvPr>
          <p:cNvSpPr/>
          <p:nvPr/>
        </p:nvSpPr>
        <p:spPr bwMode="auto">
          <a:xfrm>
            <a:off x="6421680" y="476015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7" name="Oval 116">
            <a:extLst>
              <a:ext uri="{FF2B5EF4-FFF2-40B4-BE49-F238E27FC236}">
                <a16:creationId xmlns:a16="http://schemas.microsoft.com/office/drawing/2014/main" id="{BB6BAAE1-5BC7-934F-83B0-3C7835F4ED24}"/>
              </a:ext>
            </a:extLst>
          </p:cNvPr>
          <p:cNvSpPr/>
          <p:nvPr/>
        </p:nvSpPr>
        <p:spPr bwMode="auto">
          <a:xfrm>
            <a:off x="6421680" y="522704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9" name="Oval 118">
            <a:extLst>
              <a:ext uri="{FF2B5EF4-FFF2-40B4-BE49-F238E27FC236}">
                <a16:creationId xmlns:a16="http://schemas.microsoft.com/office/drawing/2014/main" id="{3F77024C-0850-B636-4861-5AD012FAF87B}"/>
              </a:ext>
            </a:extLst>
          </p:cNvPr>
          <p:cNvSpPr/>
          <p:nvPr/>
        </p:nvSpPr>
        <p:spPr bwMode="auto">
          <a:xfrm>
            <a:off x="9174084" y="228465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0" name="Oval 119">
            <a:extLst>
              <a:ext uri="{FF2B5EF4-FFF2-40B4-BE49-F238E27FC236}">
                <a16:creationId xmlns:a16="http://schemas.microsoft.com/office/drawing/2014/main" id="{909FF0A1-3E71-ECDC-38BF-3E4F6341407B}"/>
              </a:ext>
            </a:extLst>
          </p:cNvPr>
          <p:cNvSpPr/>
          <p:nvPr/>
        </p:nvSpPr>
        <p:spPr bwMode="auto">
          <a:xfrm>
            <a:off x="9174084" y="277085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1" name="Oval 120">
            <a:extLst>
              <a:ext uri="{FF2B5EF4-FFF2-40B4-BE49-F238E27FC236}">
                <a16:creationId xmlns:a16="http://schemas.microsoft.com/office/drawing/2014/main" id="{87B1943B-24E0-62C3-EF00-35CE09584461}"/>
              </a:ext>
            </a:extLst>
          </p:cNvPr>
          <p:cNvSpPr/>
          <p:nvPr/>
        </p:nvSpPr>
        <p:spPr bwMode="auto">
          <a:xfrm>
            <a:off x="9174084" y="326622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2" name="Oval 121">
            <a:extLst>
              <a:ext uri="{FF2B5EF4-FFF2-40B4-BE49-F238E27FC236}">
                <a16:creationId xmlns:a16="http://schemas.microsoft.com/office/drawing/2014/main" id="{65AF6C8C-F950-A86B-2042-1CFB7B24B39F}"/>
              </a:ext>
            </a:extLst>
          </p:cNvPr>
          <p:cNvSpPr/>
          <p:nvPr/>
        </p:nvSpPr>
        <p:spPr bwMode="auto">
          <a:xfrm>
            <a:off x="9174084" y="36112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3" name="Oval 122">
            <a:extLst>
              <a:ext uri="{FF2B5EF4-FFF2-40B4-BE49-F238E27FC236}">
                <a16:creationId xmlns:a16="http://schemas.microsoft.com/office/drawing/2014/main" id="{5290746B-0DA0-E9A6-6E97-B53E60E63223}"/>
              </a:ext>
            </a:extLst>
          </p:cNvPr>
          <p:cNvSpPr/>
          <p:nvPr/>
        </p:nvSpPr>
        <p:spPr bwMode="auto">
          <a:xfrm>
            <a:off x="9174084" y="409956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4" name="Oval 123">
            <a:extLst>
              <a:ext uri="{FF2B5EF4-FFF2-40B4-BE49-F238E27FC236}">
                <a16:creationId xmlns:a16="http://schemas.microsoft.com/office/drawing/2014/main" id="{F87E955A-5709-B6C4-F315-2E880475460F}"/>
              </a:ext>
            </a:extLst>
          </p:cNvPr>
          <p:cNvSpPr/>
          <p:nvPr/>
        </p:nvSpPr>
        <p:spPr bwMode="auto">
          <a:xfrm>
            <a:off x="9174084" y="458626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5" name="Oval 124">
            <a:extLst>
              <a:ext uri="{FF2B5EF4-FFF2-40B4-BE49-F238E27FC236}">
                <a16:creationId xmlns:a16="http://schemas.microsoft.com/office/drawing/2014/main" id="{84A03DCB-47E3-12D5-3161-2580C0F31BD8}"/>
              </a:ext>
            </a:extLst>
          </p:cNvPr>
          <p:cNvSpPr/>
          <p:nvPr/>
        </p:nvSpPr>
        <p:spPr bwMode="auto">
          <a:xfrm>
            <a:off x="9174084" y="508026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6" name="Oval 125">
            <a:extLst>
              <a:ext uri="{FF2B5EF4-FFF2-40B4-BE49-F238E27FC236}">
                <a16:creationId xmlns:a16="http://schemas.microsoft.com/office/drawing/2014/main" id="{AB4DD47F-C97F-7E65-4726-9755FBCAC988}"/>
              </a:ext>
            </a:extLst>
          </p:cNvPr>
          <p:cNvSpPr/>
          <p:nvPr/>
        </p:nvSpPr>
        <p:spPr bwMode="auto">
          <a:xfrm>
            <a:off x="9174084" y="542273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7" name="Oval 126">
            <a:extLst>
              <a:ext uri="{FF2B5EF4-FFF2-40B4-BE49-F238E27FC236}">
                <a16:creationId xmlns:a16="http://schemas.microsoft.com/office/drawing/2014/main" id="{8F95BCC6-C2B3-11A3-31F0-694F68C59815}"/>
              </a:ext>
            </a:extLst>
          </p:cNvPr>
          <p:cNvSpPr/>
          <p:nvPr/>
        </p:nvSpPr>
        <p:spPr bwMode="auto">
          <a:xfrm>
            <a:off x="6417710" y="194701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8" name="Oval 127">
            <a:extLst>
              <a:ext uri="{FF2B5EF4-FFF2-40B4-BE49-F238E27FC236}">
                <a16:creationId xmlns:a16="http://schemas.microsoft.com/office/drawing/2014/main" id="{DD1381C4-3B03-1742-98A7-C96DE2CFDA51}"/>
              </a:ext>
            </a:extLst>
          </p:cNvPr>
          <p:cNvSpPr/>
          <p:nvPr/>
        </p:nvSpPr>
        <p:spPr bwMode="auto">
          <a:xfrm>
            <a:off x="9170490" y="19488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2" name="Straight Connector 1">
            <a:extLst>
              <a:ext uri="{FF2B5EF4-FFF2-40B4-BE49-F238E27FC236}">
                <a16:creationId xmlns:a16="http://schemas.microsoft.com/office/drawing/2014/main" id="{E6260592-AF55-10AD-7F90-4B6921E1A8BD}"/>
              </a:ext>
              <a:ext uri="{C183D7F6-B498-43B3-948B-1728B52AA6E4}">
                <adec:decorative xmlns:adec="http://schemas.microsoft.com/office/drawing/2017/decorative" val="1"/>
              </a:ext>
            </a:extLst>
          </p:cNvPr>
          <p:cNvCxnSpPr>
            <a:cxnSpLocks/>
          </p:cNvCxnSpPr>
          <p:nvPr/>
        </p:nvCxnSpPr>
        <p:spPr>
          <a:xfrm>
            <a:off x="6706039" y="2284656"/>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13089DA-7092-F6CD-F48D-44C19282AAE1}"/>
              </a:ext>
              <a:ext uri="{C183D7F6-B498-43B3-948B-1728B52AA6E4}">
                <adec:decorative xmlns:adec="http://schemas.microsoft.com/office/drawing/2017/decorative" val="1"/>
              </a:ext>
            </a:extLst>
          </p:cNvPr>
          <p:cNvCxnSpPr>
            <a:cxnSpLocks/>
          </p:cNvCxnSpPr>
          <p:nvPr/>
        </p:nvCxnSpPr>
        <p:spPr>
          <a:xfrm>
            <a:off x="6706039" y="259898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166F60B-9AA1-9909-0976-D4D2585D413C}"/>
              </a:ext>
              <a:ext uri="{C183D7F6-B498-43B3-948B-1728B52AA6E4}">
                <adec:decorative xmlns:adec="http://schemas.microsoft.com/office/drawing/2017/decorative" val="1"/>
              </a:ext>
            </a:extLst>
          </p:cNvPr>
          <p:cNvCxnSpPr>
            <a:cxnSpLocks/>
          </p:cNvCxnSpPr>
          <p:nvPr/>
        </p:nvCxnSpPr>
        <p:spPr>
          <a:xfrm>
            <a:off x="6706039" y="3089518"/>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1086269-AA5D-8E65-2613-11B794B1AD31}"/>
              </a:ext>
              <a:ext uri="{C183D7F6-B498-43B3-948B-1728B52AA6E4}">
                <adec:decorative xmlns:adec="http://schemas.microsoft.com/office/drawing/2017/decorative" val="1"/>
              </a:ext>
            </a:extLst>
          </p:cNvPr>
          <p:cNvCxnSpPr>
            <a:cxnSpLocks/>
          </p:cNvCxnSpPr>
          <p:nvPr/>
        </p:nvCxnSpPr>
        <p:spPr>
          <a:xfrm>
            <a:off x="6706039" y="3417178"/>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0D065BC-0F9B-F58E-BAD6-2B1CD3FCEF36}"/>
              </a:ext>
              <a:ext uri="{C183D7F6-B498-43B3-948B-1728B52AA6E4}">
                <adec:decorative xmlns:adec="http://schemas.microsoft.com/office/drawing/2017/decorative" val="1"/>
              </a:ext>
            </a:extLst>
          </p:cNvPr>
          <p:cNvCxnSpPr>
            <a:cxnSpLocks/>
          </p:cNvCxnSpPr>
          <p:nvPr/>
        </p:nvCxnSpPr>
        <p:spPr>
          <a:xfrm>
            <a:off x="6706039" y="3790558"/>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B08C502-77FD-09F1-7392-F708CFDA23CA}"/>
              </a:ext>
              <a:ext uri="{C183D7F6-B498-43B3-948B-1728B52AA6E4}">
                <adec:decorative xmlns:adec="http://schemas.microsoft.com/office/drawing/2017/decorative" val="1"/>
              </a:ext>
            </a:extLst>
          </p:cNvPr>
          <p:cNvCxnSpPr>
            <a:cxnSpLocks/>
          </p:cNvCxnSpPr>
          <p:nvPr/>
        </p:nvCxnSpPr>
        <p:spPr>
          <a:xfrm>
            <a:off x="6706039" y="4278238"/>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A787629-5690-1176-3C55-4B8A325A1761}"/>
              </a:ext>
              <a:ext uri="{C183D7F6-B498-43B3-948B-1728B52AA6E4}">
                <adec:decorative xmlns:adec="http://schemas.microsoft.com/office/drawing/2017/decorative" val="1"/>
              </a:ext>
            </a:extLst>
          </p:cNvPr>
          <p:cNvCxnSpPr>
            <a:cxnSpLocks/>
          </p:cNvCxnSpPr>
          <p:nvPr/>
        </p:nvCxnSpPr>
        <p:spPr>
          <a:xfrm>
            <a:off x="6706039" y="4621138"/>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2461128-0B40-7E53-F17E-EC95DE4AD84C}"/>
              </a:ext>
              <a:ext uri="{C183D7F6-B498-43B3-948B-1728B52AA6E4}">
                <adec:decorative xmlns:adec="http://schemas.microsoft.com/office/drawing/2017/decorative" val="1"/>
              </a:ext>
            </a:extLst>
          </p:cNvPr>
          <p:cNvCxnSpPr>
            <a:cxnSpLocks/>
          </p:cNvCxnSpPr>
          <p:nvPr/>
        </p:nvCxnSpPr>
        <p:spPr>
          <a:xfrm>
            <a:off x="6706039" y="5131678"/>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3FE10CF-1D67-3308-BAA2-52D93A75A063}"/>
              </a:ext>
              <a:ext uri="{C183D7F6-B498-43B3-948B-1728B52AA6E4}">
                <adec:decorative xmlns:adec="http://schemas.microsoft.com/office/drawing/2017/decorative" val="1"/>
              </a:ext>
            </a:extLst>
          </p:cNvPr>
          <p:cNvCxnSpPr>
            <a:cxnSpLocks/>
          </p:cNvCxnSpPr>
          <p:nvPr/>
        </p:nvCxnSpPr>
        <p:spPr>
          <a:xfrm>
            <a:off x="9473086" y="2206122"/>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C4FCA8-B758-66D9-7B96-ABE373A8F6E3}"/>
              </a:ext>
              <a:ext uri="{C183D7F6-B498-43B3-948B-1728B52AA6E4}">
                <adec:decorative xmlns:adec="http://schemas.microsoft.com/office/drawing/2017/decorative" val="1"/>
              </a:ext>
            </a:extLst>
          </p:cNvPr>
          <p:cNvCxnSpPr>
            <a:cxnSpLocks/>
          </p:cNvCxnSpPr>
          <p:nvPr/>
        </p:nvCxnSpPr>
        <p:spPr>
          <a:xfrm>
            <a:off x="9473086" y="2658559"/>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2AEDD05-2E52-70A1-6359-7AAF79537B44}"/>
              </a:ext>
              <a:ext uri="{C183D7F6-B498-43B3-948B-1728B52AA6E4}">
                <adec:decorative xmlns:adec="http://schemas.microsoft.com/office/drawing/2017/decorative" val="1"/>
              </a:ext>
            </a:extLst>
          </p:cNvPr>
          <p:cNvCxnSpPr>
            <a:cxnSpLocks/>
          </p:cNvCxnSpPr>
          <p:nvPr/>
        </p:nvCxnSpPr>
        <p:spPr>
          <a:xfrm>
            <a:off x="9473086" y="3149096"/>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DA8600-2A38-9D30-C38C-1E749C880752}"/>
              </a:ext>
              <a:ext uri="{C183D7F6-B498-43B3-948B-1728B52AA6E4}">
                <adec:decorative xmlns:adec="http://schemas.microsoft.com/office/drawing/2017/decorative" val="1"/>
              </a:ext>
            </a:extLst>
          </p:cNvPr>
          <p:cNvCxnSpPr>
            <a:cxnSpLocks/>
          </p:cNvCxnSpPr>
          <p:nvPr/>
        </p:nvCxnSpPr>
        <p:spPr>
          <a:xfrm>
            <a:off x="9473086" y="3520571"/>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1161E22-E48B-9E26-03DF-65469DFF85E8}"/>
              </a:ext>
              <a:ext uri="{C183D7F6-B498-43B3-948B-1728B52AA6E4}">
                <adec:decorative xmlns:adec="http://schemas.microsoft.com/office/drawing/2017/decorative" val="1"/>
              </a:ext>
            </a:extLst>
          </p:cNvPr>
          <p:cNvCxnSpPr>
            <a:cxnSpLocks/>
          </p:cNvCxnSpPr>
          <p:nvPr/>
        </p:nvCxnSpPr>
        <p:spPr>
          <a:xfrm>
            <a:off x="9473086" y="3992058"/>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8A235C-FD8C-A7E9-CC9F-029042423A99}"/>
              </a:ext>
              <a:ext uri="{C183D7F6-B498-43B3-948B-1728B52AA6E4}">
                <adec:decorative xmlns:adec="http://schemas.microsoft.com/office/drawing/2017/decorative" val="1"/>
              </a:ext>
            </a:extLst>
          </p:cNvPr>
          <p:cNvCxnSpPr>
            <a:cxnSpLocks/>
          </p:cNvCxnSpPr>
          <p:nvPr/>
        </p:nvCxnSpPr>
        <p:spPr>
          <a:xfrm>
            <a:off x="9473086" y="4477833"/>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30054B9-778D-C40B-7FE0-A03BBD223473}"/>
              </a:ext>
              <a:ext uri="{C183D7F6-B498-43B3-948B-1728B52AA6E4}">
                <adec:decorative xmlns:adec="http://schemas.microsoft.com/office/drawing/2017/decorative" val="1"/>
              </a:ext>
            </a:extLst>
          </p:cNvPr>
          <p:cNvCxnSpPr>
            <a:cxnSpLocks/>
          </p:cNvCxnSpPr>
          <p:nvPr/>
        </p:nvCxnSpPr>
        <p:spPr>
          <a:xfrm>
            <a:off x="9473086" y="4963608"/>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204BCD4-50FE-5E4E-C4B8-F3804BC6A9C8}"/>
              </a:ext>
              <a:ext uri="{C183D7F6-B498-43B3-948B-1728B52AA6E4}">
                <adec:decorative xmlns:adec="http://schemas.microsoft.com/office/drawing/2017/decorative" val="1"/>
              </a:ext>
            </a:extLst>
          </p:cNvPr>
          <p:cNvCxnSpPr>
            <a:cxnSpLocks/>
          </p:cNvCxnSpPr>
          <p:nvPr/>
        </p:nvCxnSpPr>
        <p:spPr>
          <a:xfrm>
            <a:off x="9473086" y="5344608"/>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CBC01F-761C-92F8-2EBB-F03BEF9E0905}"/>
              </a:ext>
              <a:ext uri="{C183D7F6-B498-43B3-948B-1728B52AA6E4}">
                <adec:decorative xmlns:adec="http://schemas.microsoft.com/office/drawing/2017/decorative" val="1"/>
              </a:ext>
            </a:extLst>
          </p:cNvPr>
          <p:cNvCxnSpPr>
            <a:cxnSpLocks/>
          </p:cNvCxnSpPr>
          <p:nvPr/>
        </p:nvCxnSpPr>
        <p:spPr>
          <a:xfrm>
            <a:off x="1044951" y="215789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83ACD03-E186-5DA4-CFA0-5E45E9031E39}"/>
              </a:ext>
              <a:ext uri="{C183D7F6-B498-43B3-948B-1728B52AA6E4}">
                <adec:decorative xmlns:adec="http://schemas.microsoft.com/office/drawing/2017/decorative" val="1"/>
              </a:ext>
            </a:extLst>
          </p:cNvPr>
          <p:cNvCxnSpPr>
            <a:cxnSpLocks/>
          </p:cNvCxnSpPr>
          <p:nvPr/>
        </p:nvCxnSpPr>
        <p:spPr>
          <a:xfrm>
            <a:off x="1044951" y="274687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57CDB3D-E043-7F0D-1E1D-7841624D21A8}"/>
              </a:ext>
              <a:ext uri="{C183D7F6-B498-43B3-948B-1728B52AA6E4}">
                <adec:decorative xmlns:adec="http://schemas.microsoft.com/office/drawing/2017/decorative" val="1"/>
              </a:ext>
            </a:extLst>
          </p:cNvPr>
          <p:cNvCxnSpPr>
            <a:cxnSpLocks/>
          </p:cNvCxnSpPr>
          <p:nvPr/>
        </p:nvCxnSpPr>
        <p:spPr>
          <a:xfrm>
            <a:off x="1044951" y="333585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B2DE876-124F-8CC0-35A5-9513BF5E1B15}"/>
              </a:ext>
              <a:ext uri="{C183D7F6-B498-43B3-948B-1728B52AA6E4}">
                <adec:decorative xmlns:adec="http://schemas.microsoft.com/office/drawing/2017/decorative" val="1"/>
              </a:ext>
            </a:extLst>
          </p:cNvPr>
          <p:cNvCxnSpPr>
            <a:cxnSpLocks/>
          </p:cNvCxnSpPr>
          <p:nvPr/>
        </p:nvCxnSpPr>
        <p:spPr>
          <a:xfrm>
            <a:off x="1044951" y="425313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7A5FE9A-7298-91F9-6350-B2BDC5D99446}"/>
              </a:ext>
              <a:ext uri="{C183D7F6-B498-43B3-948B-1728B52AA6E4}">
                <adec:decorative xmlns:adec="http://schemas.microsoft.com/office/drawing/2017/decorative" val="1"/>
              </a:ext>
            </a:extLst>
          </p:cNvPr>
          <p:cNvCxnSpPr>
            <a:cxnSpLocks/>
          </p:cNvCxnSpPr>
          <p:nvPr/>
        </p:nvCxnSpPr>
        <p:spPr>
          <a:xfrm>
            <a:off x="1044951" y="548917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67BFB51-5856-59A2-67E2-F897AE5C7CF7}"/>
              </a:ext>
            </a:extLst>
          </p:cNvPr>
          <p:cNvSpPr txBox="1"/>
          <p:nvPr/>
        </p:nvSpPr>
        <p:spPr>
          <a:xfrm>
            <a:off x="9458820" y="1934803"/>
            <a:ext cx="2187455" cy="138499"/>
          </a:xfrm>
          <a:prstGeom prst="rect">
            <a:avLst/>
          </a:prstGeom>
          <a:noFill/>
        </p:spPr>
        <p:txBody>
          <a:bodyPr wrap="square" lIns="0" tIns="0" rIns="0" bIns="0">
            <a:spAutoFit/>
          </a:bodyPr>
          <a:lstStyle/>
          <a:p>
            <a:pPr lvl="0">
              <a:defRPr/>
            </a:pPr>
            <a:r>
              <a:rPr lang="en-US" sz="900" kern="0" noProof="0" dirty="0">
                <a:solidFill>
                  <a:srgbClr val="000000"/>
                </a:solidFill>
                <a:ea typeface="Calibri"/>
                <a:cs typeface="Calibri"/>
              </a:rPr>
              <a:t>Testing of source code in the target system</a:t>
            </a:r>
            <a:endParaRPr lang="en-US" sz="900" kern="0" noProof="0" dirty="0">
              <a:solidFill>
                <a:srgbClr val="00B0F0"/>
              </a:solidFill>
              <a:ea typeface="+mn-lt"/>
              <a:cs typeface="Segoe UI"/>
              <a:hlinkClick r:id="rId3">
                <a:extLst>
                  <a:ext uri="{A12FA001-AC4F-418D-AE19-62706E023703}">
                    <ahyp:hlinkClr xmlns:ahyp="http://schemas.microsoft.com/office/drawing/2018/hyperlinkcolor" val="tx"/>
                  </a:ext>
                </a:extLst>
              </a:hlinkClick>
            </a:endParaRPr>
          </a:p>
        </p:txBody>
      </p:sp>
      <p:sp>
        <p:nvSpPr>
          <p:cNvPr id="53" name="TextBox 52">
            <a:extLst>
              <a:ext uri="{FF2B5EF4-FFF2-40B4-BE49-F238E27FC236}">
                <a16:creationId xmlns:a16="http://schemas.microsoft.com/office/drawing/2014/main" id="{808D6F1D-DD17-DCBA-9CBE-145CAA5349E9}"/>
              </a:ext>
            </a:extLst>
          </p:cNvPr>
          <p:cNvSpPr txBox="1"/>
          <p:nvPr/>
        </p:nvSpPr>
        <p:spPr>
          <a:xfrm>
            <a:off x="2646011" y="6127453"/>
            <a:ext cx="2235414" cy="420628"/>
          </a:xfrm>
          <a:prstGeom prst="rect">
            <a:avLst/>
          </a:prstGeom>
          <a:noFill/>
        </p:spPr>
        <p:txBody>
          <a:bodyPr rot="0" spcFirstLastPara="0" vertOverflow="overflow" horzOverflow="overflow" vert="horz" wrap="square" lIns="0" tIns="0" rIns="45720" bIns="0" numCol="1" spcCol="0" rtlCol="0" fromWordArt="0" anchor="t" anchorCtr="0" forceAA="0" compatLnSpc="1">
            <a:prstTxWarp prst="textNoShape">
              <a:avLst/>
            </a:prstTxWarp>
            <a:spAutoFit/>
          </a:bodyPr>
          <a:lstStyle/>
          <a:p>
            <a:pPr marL="136525" indent="-136525">
              <a:spcAft>
                <a:spcPts val="200"/>
              </a:spcAft>
              <a:buFont typeface="Arial" panose="020B0604020202020204" pitchFamily="34" charset="0"/>
              <a:buChar char="•"/>
              <a:defRPr/>
            </a:pPr>
            <a:r>
              <a:rPr lang="en-US" sz="800" kern="0" noProof="0" dirty="0"/>
              <a:t>2 GiB size limit for a single Git commit</a:t>
            </a:r>
          </a:p>
          <a:p>
            <a:pPr marL="136525" indent="-136525">
              <a:spcAft>
                <a:spcPts val="200"/>
              </a:spcAft>
              <a:buFont typeface="Arial" panose="020B0604020202020204" pitchFamily="34" charset="0"/>
              <a:buChar char="•"/>
              <a:defRPr/>
            </a:pPr>
            <a:r>
              <a:rPr lang="en-US" sz="800" kern="0" noProof="0" dirty="0"/>
              <a:t>255 byte limit for Git references</a:t>
            </a:r>
          </a:p>
          <a:p>
            <a:pPr marL="136525" indent="-136525">
              <a:spcAft>
                <a:spcPts val="200"/>
              </a:spcAft>
              <a:buFont typeface="Arial" panose="020B0604020202020204" pitchFamily="34" charset="0"/>
              <a:buChar char="•"/>
              <a:defRPr/>
            </a:pPr>
            <a:r>
              <a:rPr lang="en-US" sz="800" kern="0" noProof="0" dirty="0"/>
              <a:t>100 MiB file size limit</a:t>
            </a:r>
          </a:p>
        </p:txBody>
      </p:sp>
      <p:sp>
        <p:nvSpPr>
          <p:cNvPr id="54" name="TextBox 53">
            <a:extLst>
              <a:ext uri="{FF2B5EF4-FFF2-40B4-BE49-F238E27FC236}">
                <a16:creationId xmlns:a16="http://schemas.microsoft.com/office/drawing/2014/main" id="{7DA1A68F-A5D6-94AD-9ABD-42101F88475C}"/>
              </a:ext>
            </a:extLst>
          </p:cNvPr>
          <p:cNvSpPr txBox="1"/>
          <p:nvPr/>
        </p:nvSpPr>
        <p:spPr>
          <a:xfrm>
            <a:off x="2162217" y="6127453"/>
            <a:ext cx="483794" cy="2308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lvl="0">
              <a:defRPr/>
            </a:pPr>
            <a:r>
              <a:rPr lang="en-US" sz="900" noProof="0" dirty="0">
                <a:latin typeface="+mj-lt"/>
              </a:rPr>
              <a:t>GitHub</a:t>
            </a:r>
          </a:p>
        </p:txBody>
      </p:sp>
      <p:cxnSp>
        <p:nvCxnSpPr>
          <p:cNvPr id="55" name="Straight Connector 54">
            <a:extLst>
              <a:ext uri="{FF2B5EF4-FFF2-40B4-BE49-F238E27FC236}">
                <a16:creationId xmlns:a16="http://schemas.microsoft.com/office/drawing/2014/main" id="{3E867425-A965-C8EB-A962-F703D6B56F5C}"/>
              </a:ext>
            </a:extLst>
          </p:cNvPr>
          <p:cNvCxnSpPr/>
          <p:nvPr/>
        </p:nvCxnSpPr>
        <p:spPr>
          <a:xfrm>
            <a:off x="5068075" y="6105441"/>
            <a:ext cx="0" cy="475211"/>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613778BD-07AF-4ED4-0838-90E92A3D5556}"/>
              </a:ext>
            </a:extLst>
          </p:cNvPr>
          <p:cNvSpPr txBox="1"/>
          <p:nvPr/>
        </p:nvSpPr>
        <p:spPr>
          <a:xfrm>
            <a:off x="6548238" y="6127453"/>
            <a:ext cx="2187207" cy="420628"/>
          </a:xfrm>
          <a:prstGeom prst="rect">
            <a:avLst/>
          </a:prstGeom>
          <a:noFill/>
        </p:spPr>
        <p:txBody>
          <a:bodyPr rot="0" spcFirstLastPara="0" vertOverflow="overflow" horzOverflow="overflow" vert="horz" wrap="square" lIns="0" tIns="0" rIns="45720" bIns="0" numCol="1" spcCol="0" rtlCol="0" fromWordArt="0" anchor="t" anchorCtr="0" forceAA="0" compatLnSpc="1">
            <a:prstTxWarp prst="textNoShape">
              <a:avLst/>
            </a:prstTxWarp>
            <a:spAutoFit/>
          </a:bodyPr>
          <a:lstStyle/>
          <a:p>
            <a:pPr marL="136525" indent="-136525">
              <a:spcAft>
                <a:spcPts val="200"/>
              </a:spcAft>
              <a:buFont typeface="Arial" panose="020B0604020202020204" pitchFamily="34" charset="0"/>
              <a:buChar char="•"/>
              <a:defRPr/>
            </a:pPr>
            <a:r>
              <a:rPr lang="en-US" sz="800" kern="0" noProof="0" dirty="0"/>
              <a:t>40 GiB size limit for a Git repository</a:t>
            </a:r>
          </a:p>
          <a:p>
            <a:pPr marL="136525" indent="-136525">
              <a:spcAft>
                <a:spcPts val="200"/>
              </a:spcAft>
              <a:buFont typeface="Arial" panose="020B0604020202020204" pitchFamily="34" charset="0"/>
              <a:buChar char="•"/>
              <a:defRPr/>
            </a:pPr>
            <a:r>
              <a:rPr lang="en-US" sz="800" kern="0" noProof="0" dirty="0"/>
              <a:t>400 MiB file size limit</a:t>
            </a:r>
          </a:p>
          <a:p>
            <a:pPr marL="136525" indent="-136525">
              <a:spcAft>
                <a:spcPts val="200"/>
              </a:spcAft>
              <a:buFont typeface="Arial" panose="020B0604020202020204" pitchFamily="34" charset="0"/>
              <a:buChar char="•"/>
              <a:defRPr/>
            </a:pPr>
            <a:r>
              <a:rPr lang="en-US" sz="800" kern="0" noProof="0" dirty="0"/>
              <a:t>Should not more than 20 GiB for metadata</a:t>
            </a:r>
          </a:p>
        </p:txBody>
      </p:sp>
      <p:sp>
        <p:nvSpPr>
          <p:cNvPr id="57" name="TextBox 56">
            <a:extLst>
              <a:ext uri="{FF2B5EF4-FFF2-40B4-BE49-F238E27FC236}">
                <a16:creationId xmlns:a16="http://schemas.microsoft.com/office/drawing/2014/main" id="{E4D5E537-A54A-DFA5-599D-E236B4FA5A6A}"/>
              </a:ext>
            </a:extLst>
          </p:cNvPr>
          <p:cNvSpPr txBox="1"/>
          <p:nvPr/>
        </p:nvSpPr>
        <p:spPr>
          <a:xfrm>
            <a:off x="5483324" y="6127453"/>
            <a:ext cx="1064914" cy="3693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lvl="0">
              <a:defRPr/>
            </a:pPr>
            <a:r>
              <a:rPr lang="en-US" sz="900" noProof="0" dirty="0">
                <a:solidFill>
                  <a:srgbClr val="000000"/>
                </a:solidFill>
                <a:latin typeface="+mj-lt"/>
              </a:rPr>
              <a:t>GitHub Enterprise Importer (GEI)</a:t>
            </a:r>
          </a:p>
        </p:txBody>
      </p:sp>
      <p:sp>
        <p:nvSpPr>
          <p:cNvPr id="58" name="TextBox 57">
            <a:extLst>
              <a:ext uri="{FF2B5EF4-FFF2-40B4-BE49-F238E27FC236}">
                <a16:creationId xmlns:a16="http://schemas.microsoft.com/office/drawing/2014/main" id="{2AB86502-845F-D871-AF66-BA08DAFC92C2}"/>
              </a:ext>
            </a:extLst>
          </p:cNvPr>
          <p:cNvSpPr txBox="1"/>
          <p:nvPr/>
        </p:nvSpPr>
        <p:spPr>
          <a:xfrm>
            <a:off x="639290" y="6112768"/>
            <a:ext cx="1170623" cy="475211"/>
          </a:xfrm>
          <a:prstGeom prst="roundRect">
            <a:avLst>
              <a:gd name="adj" fmla="val 1265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Tool Limitation</a:t>
            </a:r>
          </a:p>
        </p:txBody>
      </p:sp>
      <p:sp>
        <p:nvSpPr>
          <p:cNvPr id="60" name="Oval 59">
            <a:extLst>
              <a:ext uri="{FF2B5EF4-FFF2-40B4-BE49-F238E27FC236}">
                <a16:creationId xmlns:a16="http://schemas.microsoft.com/office/drawing/2014/main" id="{C4FFDA30-48BE-614F-D07E-32F32034A7B7}"/>
              </a:ext>
            </a:extLst>
          </p:cNvPr>
          <p:cNvSpPr/>
          <p:nvPr/>
        </p:nvSpPr>
        <p:spPr bwMode="auto">
          <a:xfrm>
            <a:off x="1933617" y="6178253"/>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1" name="Oval 60">
            <a:extLst>
              <a:ext uri="{FF2B5EF4-FFF2-40B4-BE49-F238E27FC236}">
                <a16:creationId xmlns:a16="http://schemas.microsoft.com/office/drawing/2014/main" id="{247CEA39-B06A-70BF-ED7F-647719A25FFF}"/>
              </a:ext>
            </a:extLst>
          </p:cNvPr>
          <p:cNvSpPr/>
          <p:nvPr/>
        </p:nvSpPr>
        <p:spPr bwMode="auto">
          <a:xfrm>
            <a:off x="5254724" y="6178253"/>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TextBox 18">
            <a:extLst>
              <a:ext uri="{FF2B5EF4-FFF2-40B4-BE49-F238E27FC236}">
                <a16:creationId xmlns:a16="http://schemas.microsoft.com/office/drawing/2014/main" id="{79FB77C9-61EA-E4F5-D899-63E9FDABD6F9}"/>
              </a:ext>
            </a:extLst>
          </p:cNvPr>
          <p:cNvSpPr txBox="1"/>
          <p:nvPr/>
        </p:nvSpPr>
        <p:spPr>
          <a:xfrm>
            <a:off x="9195948"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18" name="TextBox 17">
            <a:extLst>
              <a:ext uri="{FF2B5EF4-FFF2-40B4-BE49-F238E27FC236}">
                <a16:creationId xmlns:a16="http://schemas.microsoft.com/office/drawing/2014/main" id="{A2A4CB5B-275C-8944-B7A9-CF879ED4EEF3}"/>
              </a:ext>
            </a:extLst>
          </p:cNvPr>
          <p:cNvSpPr txBox="1">
            <a:spLocks/>
          </p:cNvSpPr>
          <p:nvPr/>
        </p:nvSpPr>
        <p:spPr>
          <a:xfrm>
            <a:off x="737719" y="1332447"/>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21" name="TextBox 20">
            <a:extLst>
              <a:ext uri="{FF2B5EF4-FFF2-40B4-BE49-F238E27FC236}">
                <a16:creationId xmlns:a16="http://schemas.microsoft.com/office/drawing/2014/main" id="{BDA90647-2A4C-09CB-9493-0090A9655AB5}"/>
              </a:ext>
            </a:extLst>
          </p:cNvPr>
          <p:cNvSpPr txBox="1">
            <a:spLocks/>
          </p:cNvSpPr>
          <p:nvPr/>
        </p:nvSpPr>
        <p:spPr>
          <a:xfrm>
            <a:off x="6361243" y="1323078"/>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20" name="TextBox 19">
            <a:extLst>
              <a:ext uri="{FF2B5EF4-FFF2-40B4-BE49-F238E27FC236}">
                <a16:creationId xmlns:a16="http://schemas.microsoft.com/office/drawing/2014/main" id="{9CFE6D37-FEA5-87D2-50D0-D51DB04C4146}"/>
              </a:ext>
            </a:extLst>
          </p:cNvPr>
          <p:cNvSpPr txBox="1"/>
          <p:nvPr/>
        </p:nvSpPr>
        <p:spPr>
          <a:xfrm>
            <a:off x="6478587" y="1639513"/>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5" name="TextBox 24">
            <a:extLst>
              <a:ext uri="{FF2B5EF4-FFF2-40B4-BE49-F238E27FC236}">
                <a16:creationId xmlns:a16="http://schemas.microsoft.com/office/drawing/2014/main" id="{90DEE420-6B69-B08F-7677-4BEA1EAB29BA}"/>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Tree>
    <p:extLst>
      <p:ext uri="{BB962C8B-B14F-4D97-AF65-F5344CB8AC3E}">
        <p14:creationId xmlns:p14="http://schemas.microsoft.com/office/powerpoint/2010/main" val="2619852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6" presetClass="emph" presetSubtype="0" fill="hold" grpId="1" nodeType="withEffect">
                                  <p:stCondLst>
                                    <p:cond delay="0"/>
                                  </p:stCondLst>
                                  <p:childTnLst>
                                    <p:animScale>
                                      <p:cBhvr>
                                        <p:cTn id="9" dur="100" fill="hold"/>
                                        <p:tgtEl>
                                          <p:spTgt spid="19"/>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9"/>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19" grpId="2"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31DD1-7EDA-FC00-EE7D-A461B916AA85}"/>
            </a:ext>
          </a:extLst>
        </p:cNvPr>
        <p:cNvGrpSpPr/>
        <p:nvPr/>
      </p:nvGrpSpPr>
      <p:grpSpPr>
        <a:xfrm>
          <a:off x="0" y="0"/>
          <a:ext cx="0" cy="0"/>
          <a:chOff x="0" y="0"/>
          <a:chExt cx="0" cy="0"/>
        </a:xfrm>
      </p:grpSpPr>
      <p:sp>
        <p:nvSpPr>
          <p:cNvPr id="38" name="Rounded Rectangle 55">
            <a:extLst>
              <a:ext uri="{FF2B5EF4-FFF2-40B4-BE49-F238E27FC236}">
                <a16:creationId xmlns:a16="http://schemas.microsoft.com/office/drawing/2014/main" id="{2D671E13-A232-A669-4451-EB1CCEC96675}"/>
              </a:ext>
              <a:ext uri="{C183D7F6-B498-43B3-948B-1728B52AA6E4}">
                <adec:decorative xmlns:adec="http://schemas.microsoft.com/office/drawing/2017/decorative" val="1"/>
              </a:ext>
            </a:extLst>
          </p:cNvPr>
          <p:cNvSpPr>
            <a:spLocks/>
          </p:cNvSpPr>
          <p:nvPr/>
        </p:nvSpPr>
        <p:spPr bwMode="auto">
          <a:xfrm>
            <a:off x="6152452" y="1272540"/>
            <a:ext cx="5453761" cy="4680788"/>
          </a:xfrm>
          <a:prstGeom prst="roundRect">
            <a:avLst>
              <a:gd name="adj" fmla="val 2470"/>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55" name="Rounded Rectangle 55">
            <a:extLst>
              <a:ext uri="{FF2B5EF4-FFF2-40B4-BE49-F238E27FC236}">
                <a16:creationId xmlns:a16="http://schemas.microsoft.com/office/drawing/2014/main" id="{B5313F78-87B3-1D4C-060A-2F775AC284E2}"/>
              </a:ext>
              <a:ext uri="{C183D7F6-B498-43B3-948B-1728B52AA6E4}">
                <adec:decorative xmlns:adec="http://schemas.microsoft.com/office/drawing/2017/decorative" val="1"/>
              </a:ext>
            </a:extLst>
          </p:cNvPr>
          <p:cNvSpPr>
            <a:spLocks/>
          </p:cNvSpPr>
          <p:nvPr/>
        </p:nvSpPr>
        <p:spPr bwMode="auto">
          <a:xfrm>
            <a:off x="586740" y="1272540"/>
            <a:ext cx="5453761" cy="4680788"/>
          </a:xfrm>
          <a:prstGeom prst="roundRect">
            <a:avLst>
              <a:gd name="adj" fmla="val 2470"/>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4" name="Title 101">
            <a:extLst>
              <a:ext uri="{FF2B5EF4-FFF2-40B4-BE49-F238E27FC236}">
                <a16:creationId xmlns:a16="http://schemas.microsoft.com/office/drawing/2014/main" id="{13338F93-A3AF-042E-F8DA-F8ECD1F76ECA}"/>
              </a:ext>
            </a:extLst>
          </p:cNvPr>
          <p:cNvSpPr>
            <a:spLocks noGrp="1"/>
          </p:cNvSpPr>
          <p:nvPr>
            <p:ph type="title"/>
          </p:nvPr>
        </p:nvSpPr>
        <p:spPr>
          <a:xfrm>
            <a:off x="607760" y="783332"/>
            <a:ext cx="8004461" cy="80458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Bitbucket Server to GitHub Migration</a:t>
            </a:r>
            <a:b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br>
            <a:endParaRPr lang="en-US" sz="3000" noProof="0" dirty="0"/>
          </a:p>
        </p:txBody>
      </p:sp>
      <p:sp>
        <p:nvSpPr>
          <p:cNvPr id="10" name="Oval 9">
            <a:extLst>
              <a:ext uri="{FF2B5EF4-FFF2-40B4-BE49-F238E27FC236}">
                <a16:creationId xmlns:a16="http://schemas.microsoft.com/office/drawing/2014/main" id="{B5B3FFD5-9384-B5B3-C791-CECF3A3FF659}"/>
              </a:ext>
            </a:extLst>
          </p:cNvPr>
          <p:cNvSpPr/>
          <p:nvPr/>
        </p:nvSpPr>
        <p:spPr bwMode="auto">
          <a:xfrm>
            <a:off x="6320111" y="188216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Oval 10">
            <a:extLst>
              <a:ext uri="{FF2B5EF4-FFF2-40B4-BE49-F238E27FC236}">
                <a16:creationId xmlns:a16="http://schemas.microsoft.com/office/drawing/2014/main" id="{D04859D5-C6A6-870D-B4DE-533524128DA1}"/>
              </a:ext>
            </a:extLst>
          </p:cNvPr>
          <p:cNvSpPr/>
          <p:nvPr/>
        </p:nvSpPr>
        <p:spPr bwMode="auto">
          <a:xfrm>
            <a:off x="775653" y="17864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BE62D20D-F295-0E14-EE15-D15BED74A936}"/>
              </a:ext>
            </a:extLst>
          </p:cNvPr>
          <p:cNvSpPr txBox="1"/>
          <p:nvPr/>
        </p:nvSpPr>
        <p:spPr>
          <a:xfrm>
            <a:off x="1037516" y="1786465"/>
            <a:ext cx="4910328" cy="318036"/>
          </a:xfrm>
          <a:prstGeom prst="rect">
            <a:avLst/>
          </a:prstGeom>
          <a:noFill/>
        </p:spPr>
        <p:txBody>
          <a:bodyPr wrap="square" lIns="0" tIns="0" rIns="0" bIns="0">
            <a:spAutoFit/>
          </a:bodyPr>
          <a:lstStyle/>
          <a:p>
            <a:pPr lvl="0">
              <a:spcAft>
                <a:spcPts val="200"/>
              </a:spcAft>
              <a:defRPr/>
            </a:pPr>
            <a:r>
              <a:rPr lang="en-US" sz="1000" kern="0" noProof="0" dirty="0">
                <a:solidFill>
                  <a:srgbClr val="000000"/>
                </a:solidFill>
                <a:latin typeface="+mj-lt"/>
              </a:rPr>
              <a:t>Scenario:</a:t>
            </a:r>
          </a:p>
          <a:p>
            <a:pPr marL="187325" lvl="1" indent="-120650">
              <a:spcAft>
                <a:spcPts val="200"/>
              </a:spcAft>
              <a:buFont typeface="Arial" panose="020B0604020202020204" pitchFamily="34" charset="0"/>
              <a:buChar char="•"/>
              <a:defRPr/>
            </a:pPr>
            <a:r>
              <a:rPr lang="en-US" sz="900" kern="0" noProof="0" dirty="0">
                <a:solidFill>
                  <a:srgbClr val="000000"/>
                </a:solidFill>
              </a:rPr>
              <a:t>Repository Migration from Bitbucket Server to GitHub</a:t>
            </a:r>
            <a:endParaRPr lang="en-US" sz="900" kern="0" noProof="0" dirty="0">
              <a:solidFill>
                <a:srgbClr val="000000"/>
              </a:solidFill>
              <a:cs typeface="Segoe UI"/>
            </a:endParaRPr>
          </a:p>
        </p:txBody>
      </p:sp>
      <p:sp>
        <p:nvSpPr>
          <p:cNvPr id="16" name="Oval 15">
            <a:extLst>
              <a:ext uri="{FF2B5EF4-FFF2-40B4-BE49-F238E27FC236}">
                <a16:creationId xmlns:a16="http://schemas.microsoft.com/office/drawing/2014/main" id="{6FBE6462-8F57-8318-B974-761529C94A9C}"/>
              </a:ext>
            </a:extLst>
          </p:cNvPr>
          <p:cNvSpPr/>
          <p:nvPr/>
        </p:nvSpPr>
        <p:spPr bwMode="auto">
          <a:xfrm>
            <a:off x="9072891" y="188404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07D4C30B-E135-0FCC-F239-B4F4970E7381}"/>
              </a:ext>
            </a:extLst>
          </p:cNvPr>
          <p:cNvSpPr txBox="1"/>
          <p:nvPr/>
        </p:nvSpPr>
        <p:spPr>
          <a:xfrm>
            <a:off x="6608440" y="1869953"/>
            <a:ext cx="2285059" cy="276999"/>
          </a:xfrm>
          <a:prstGeom prst="rect">
            <a:avLst/>
          </a:prstGeom>
          <a:noFill/>
        </p:spPr>
        <p:txBody>
          <a:bodyPr wrap="square" lIns="0" tIns="0" rIns="0" bIns="0">
            <a:spAutoFit/>
          </a:bodyPr>
          <a:lstStyle/>
          <a:p>
            <a:pPr marL="0" lvl="1">
              <a:defRPr/>
            </a:pPr>
            <a:r>
              <a:rPr lang="en-US" sz="900" kern="0" noProof="0" dirty="0">
                <a:solidFill>
                  <a:srgbClr val="000000"/>
                </a:solidFill>
              </a:rPr>
              <a:t>Migration of Pipelines, Artifacts, Permissions and Dashboards</a:t>
            </a:r>
          </a:p>
        </p:txBody>
      </p:sp>
      <p:sp>
        <p:nvSpPr>
          <p:cNvPr id="20" name="TextBox 19">
            <a:extLst>
              <a:ext uri="{FF2B5EF4-FFF2-40B4-BE49-F238E27FC236}">
                <a16:creationId xmlns:a16="http://schemas.microsoft.com/office/drawing/2014/main" id="{19B4F405-B585-816B-AAB3-626B57F3CC9D}"/>
              </a:ext>
            </a:extLst>
          </p:cNvPr>
          <p:cNvSpPr txBox="1"/>
          <p:nvPr/>
        </p:nvSpPr>
        <p:spPr>
          <a:xfrm>
            <a:off x="9361222" y="1869953"/>
            <a:ext cx="1899710" cy="276999"/>
          </a:xfrm>
          <a:prstGeom prst="rect">
            <a:avLst/>
          </a:prstGeom>
          <a:noFill/>
        </p:spPr>
        <p:txBody>
          <a:bodyPr wrap="square" lIns="0" tIns="0" rIns="0" bIns="0">
            <a:spAutoFit/>
          </a:bodyPr>
          <a:lstStyle/>
          <a:p>
            <a:pPr lvl="0">
              <a:defRPr/>
            </a:pPr>
            <a:r>
              <a:rPr lang="en-US" sz="900" kern="0" noProof="0" dirty="0">
                <a:solidFill>
                  <a:srgbClr val="000000"/>
                </a:solidFill>
                <a:ea typeface="Calibri"/>
                <a:cs typeface="Calibri"/>
              </a:rPr>
              <a:t>Testing of source code in the target system</a:t>
            </a:r>
            <a:endParaRPr lang="en-US" sz="900" kern="0" noProof="0" dirty="0">
              <a:solidFill>
                <a:srgbClr val="00B0F0"/>
              </a:solidFill>
              <a:ea typeface="+mn-lt"/>
              <a:cs typeface="Segoe UI"/>
              <a:hlinkClick r:id="rId3">
                <a:extLst>
                  <a:ext uri="{A12FA001-AC4F-418D-AE19-62706E023703}">
                    <ahyp:hlinkClr xmlns:ahyp="http://schemas.microsoft.com/office/drawing/2018/hyperlinkcolor" val="tx"/>
                  </a:ext>
                </a:extLst>
              </a:hlinkClick>
            </a:endParaRPr>
          </a:p>
        </p:txBody>
      </p:sp>
      <p:sp>
        <p:nvSpPr>
          <p:cNvPr id="23" name="TextBox 8">
            <a:extLst>
              <a:ext uri="{FF2B5EF4-FFF2-40B4-BE49-F238E27FC236}">
                <a16:creationId xmlns:a16="http://schemas.microsoft.com/office/drawing/2014/main" id="{C59EBDE4-FCAF-976B-A25D-8DA4DFACF5B2}"/>
              </a:ext>
            </a:extLst>
          </p:cNvPr>
          <p:cNvSpPr txBox="1">
            <a:spLocks/>
          </p:cNvSpPr>
          <p:nvPr/>
        </p:nvSpPr>
        <p:spPr>
          <a:xfrm>
            <a:off x="1037516" y="2266323"/>
            <a:ext cx="4801765" cy="482183"/>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i="0" u="none" strike="noStrike" kern="0" cap="none" spc="0" normalizeH="0" baseline="0" noProof="0" dirty="0">
                <a:ln>
                  <a:noFill/>
                </a:ln>
                <a:solidFill>
                  <a:srgbClr val="000000"/>
                </a:solidFill>
                <a:effectLst/>
                <a:uLnTx/>
                <a:uFillTx/>
                <a:latin typeface="+mj-lt"/>
                <a:ea typeface="+mn-ea"/>
                <a:cs typeface="+mn-cs"/>
              </a:rPr>
              <a:t>Artifacts Migrated:</a:t>
            </a:r>
          </a:p>
          <a:p>
            <a:pPr marL="195263" marR="0" lvl="2"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ea typeface="+mn-lt"/>
                <a:cs typeface="Segoe UI"/>
              </a:rPr>
              <a:t>Repository – Commits, Branches, History and Tags</a:t>
            </a:r>
          </a:p>
          <a:p>
            <a:pPr marL="195263" marR="0" lvl="2" indent="-1333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ea typeface="+mn-lt"/>
                <a:cs typeface="Segoe UI"/>
              </a:rPr>
              <a:t>Pull Requests – Closed PRs, Comments, Reviews, Status Checks</a:t>
            </a:r>
            <a:endParaRPr kumimoji="0" lang="en-US" sz="900" b="0" i="0" u="none" strike="noStrike" kern="0" cap="none" spc="0" normalizeH="0" baseline="0" noProof="0" dirty="0">
              <a:ln>
                <a:noFill/>
              </a:ln>
              <a:solidFill>
                <a:srgbClr val="000000"/>
              </a:solidFill>
              <a:effectLst/>
              <a:uLnTx/>
              <a:uFillTx/>
              <a:ea typeface="Calibri"/>
              <a:cs typeface="Segoe UI"/>
            </a:endParaRPr>
          </a:p>
        </p:txBody>
      </p:sp>
      <p:sp>
        <p:nvSpPr>
          <p:cNvPr id="24" name="TextBox 8">
            <a:extLst>
              <a:ext uri="{FF2B5EF4-FFF2-40B4-BE49-F238E27FC236}">
                <a16:creationId xmlns:a16="http://schemas.microsoft.com/office/drawing/2014/main" id="{09DC389A-3860-6BA2-CAE9-16994FAAD50E}"/>
              </a:ext>
            </a:extLst>
          </p:cNvPr>
          <p:cNvSpPr txBox="1">
            <a:spLocks/>
          </p:cNvSpPr>
          <p:nvPr/>
        </p:nvSpPr>
        <p:spPr>
          <a:xfrm>
            <a:off x="1037516" y="2910328"/>
            <a:ext cx="4801765" cy="482183"/>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i="0" u="none" strike="noStrike" kern="0" cap="none" spc="0" normalizeH="0" baseline="0" noProof="0" dirty="0">
                <a:ln>
                  <a:noFill/>
                </a:ln>
                <a:solidFill>
                  <a:srgbClr val="000000"/>
                </a:solidFill>
                <a:effectLst/>
                <a:uLnTx/>
                <a:uFillTx/>
                <a:latin typeface="+mj-lt"/>
                <a:ea typeface="+mn-ea"/>
                <a:cs typeface="+mn-cs"/>
              </a:rPr>
              <a:t>Supported Platform: </a:t>
            </a:r>
          </a:p>
          <a:p>
            <a:pPr marL="195263" marR="0" lvl="1" indent="-128588"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ea typeface="+mn-ea"/>
                <a:cs typeface="+mn-cs"/>
              </a:rPr>
              <a:t>Source: Bitbucket Server</a:t>
            </a:r>
            <a:endParaRPr kumimoji="0" lang="en-US" sz="900" b="0" i="0" u="none" strike="noStrike" kern="0" cap="none" spc="0" normalizeH="0" baseline="0" noProof="0" dirty="0">
              <a:ln>
                <a:noFill/>
              </a:ln>
              <a:solidFill>
                <a:srgbClr val="000000"/>
              </a:solidFill>
              <a:effectLst/>
              <a:uLnTx/>
              <a:uFillTx/>
              <a:ea typeface="+mn-ea"/>
              <a:cs typeface="Segoe UI"/>
            </a:endParaRPr>
          </a:p>
          <a:p>
            <a:pPr marL="195263" marR="0" lvl="1" indent="-128588"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solidFill>
                  <a:srgbClr val="000000"/>
                </a:solidFill>
                <a:effectLst/>
                <a:uLnTx/>
                <a:uFillTx/>
                <a:ea typeface="+mn-ea"/>
                <a:cs typeface="+mn-cs"/>
              </a:rPr>
              <a:t>Target: GitHub Enterprise Cloud/EMU/Data Residency</a:t>
            </a:r>
            <a:endParaRPr kumimoji="0" lang="en-US" sz="900" b="0" i="0" u="none" strike="noStrike" kern="0" cap="none" spc="0" normalizeH="0" baseline="0" noProof="0" dirty="0">
              <a:ln>
                <a:noFill/>
              </a:ln>
              <a:solidFill>
                <a:srgbClr val="000000"/>
              </a:solidFill>
              <a:effectLst/>
              <a:uLnTx/>
              <a:uFillTx/>
              <a:ea typeface="+mn-ea"/>
              <a:cs typeface="Segoe UI"/>
            </a:endParaRPr>
          </a:p>
        </p:txBody>
      </p:sp>
      <p:sp>
        <p:nvSpPr>
          <p:cNvPr id="25" name="TextBox 8">
            <a:extLst>
              <a:ext uri="{FF2B5EF4-FFF2-40B4-BE49-F238E27FC236}">
                <a16:creationId xmlns:a16="http://schemas.microsoft.com/office/drawing/2014/main" id="{9D20183A-78F8-AB83-B64F-4383AACAE050}"/>
              </a:ext>
            </a:extLst>
          </p:cNvPr>
          <p:cNvSpPr txBox="1">
            <a:spLocks/>
          </p:cNvSpPr>
          <p:nvPr/>
        </p:nvSpPr>
        <p:spPr>
          <a:xfrm>
            <a:off x="1037516" y="3554333"/>
            <a:ext cx="4801764" cy="810478"/>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i="0" u="none" strike="noStrike" kern="0" cap="none" spc="0" normalizeH="0" baseline="0" noProof="0" dirty="0">
                <a:ln>
                  <a:noFill/>
                </a:ln>
                <a:solidFill>
                  <a:srgbClr val="000000"/>
                </a:solidFill>
                <a:effectLst/>
                <a:uLnTx/>
                <a:uFillTx/>
                <a:latin typeface="+mj-lt"/>
                <a:ea typeface="+mn-ea"/>
                <a:cs typeface="+mn-cs"/>
              </a:rPr>
              <a:t>Assessment and Planning:</a:t>
            </a: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Installation of GitHub CLI and BBS2GH extension</a:t>
            </a:r>
            <a:endParaRPr kumimoji="0" lang="en-US" sz="900" b="0" i="0" u="none" strike="noStrike" kern="1200" cap="none" spc="0" normalizeH="0" baseline="0" noProof="0" dirty="0">
              <a:ln>
                <a:noFill/>
              </a:ln>
              <a:solidFill>
                <a:srgbClr val="000000"/>
              </a:solidFill>
              <a:effectLst/>
              <a:uLnTx/>
              <a:uFillTx/>
              <a:ea typeface="+mn-ea"/>
              <a:cs typeface="Segoe UI"/>
            </a:endParaRP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Generate repository inventory report using BBS2GH CLI </a:t>
            </a:r>
            <a:endParaRPr kumimoji="0" lang="en-US" sz="900" b="0" i="0" u="none" strike="noStrike" kern="1200" cap="none" spc="0" normalizeH="0" baseline="0" noProof="0" dirty="0">
              <a:ln>
                <a:noFill/>
              </a:ln>
              <a:solidFill>
                <a:srgbClr val="000000"/>
              </a:solidFill>
              <a:effectLst/>
              <a:uLnTx/>
              <a:uFillTx/>
              <a:ea typeface="+mn-ea"/>
              <a:cs typeface="Segoe UI"/>
            </a:endParaRP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Analysis, discuss and finalize repositories for migration </a:t>
            </a:r>
            <a:endParaRPr kumimoji="0" lang="en-US" sz="900" b="0" i="0" u="none" strike="noStrike" kern="1200" cap="none" spc="0" normalizeH="0" baseline="0" noProof="0" dirty="0">
              <a:ln>
                <a:noFill/>
              </a:ln>
              <a:solidFill>
                <a:srgbClr val="000000"/>
              </a:solidFill>
              <a:effectLst/>
              <a:uLnTx/>
              <a:uFillTx/>
              <a:ea typeface="+mn-ea"/>
              <a:cs typeface="Segoe UI"/>
            </a:endParaRP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Schedule repositories for migration </a:t>
            </a:r>
            <a:endParaRPr kumimoji="0" lang="en-US" sz="900" b="0" i="0" u="none" strike="noStrike" kern="1200" cap="none" spc="0" normalizeH="0" baseline="0" noProof="0" dirty="0">
              <a:ln>
                <a:noFill/>
              </a:ln>
              <a:solidFill>
                <a:srgbClr val="000000"/>
              </a:solidFill>
              <a:effectLst/>
              <a:uLnTx/>
              <a:uFillTx/>
              <a:ea typeface="+mn-ea"/>
              <a:cs typeface="Segoe UI"/>
            </a:endParaRPr>
          </a:p>
        </p:txBody>
      </p:sp>
      <p:sp>
        <p:nvSpPr>
          <p:cNvPr id="26" name="TextBox 8">
            <a:extLst>
              <a:ext uri="{FF2B5EF4-FFF2-40B4-BE49-F238E27FC236}">
                <a16:creationId xmlns:a16="http://schemas.microsoft.com/office/drawing/2014/main" id="{CAA8E802-53C9-B26B-7F48-6B84A7E24D35}"/>
              </a:ext>
            </a:extLst>
          </p:cNvPr>
          <p:cNvSpPr txBox="1">
            <a:spLocks/>
          </p:cNvSpPr>
          <p:nvPr/>
        </p:nvSpPr>
        <p:spPr>
          <a:xfrm>
            <a:off x="1037516" y="4526633"/>
            <a:ext cx="4801764" cy="810478"/>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i="0" u="none" strike="noStrike" kern="0" cap="none" spc="0" normalizeH="0" baseline="0" noProof="0" dirty="0">
                <a:ln>
                  <a:noFill/>
                </a:ln>
                <a:solidFill>
                  <a:srgbClr val="000000"/>
                </a:solidFill>
                <a:effectLst/>
                <a:uLnTx/>
                <a:uFillTx/>
                <a:latin typeface="+mj-lt"/>
                <a:ea typeface="+mn-ea"/>
                <a:cs typeface="+mn-cs"/>
              </a:rPr>
              <a:t>Execution: </a:t>
            </a: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Perform repository migration </a:t>
            </a:r>
            <a:r>
              <a:rPr kumimoji="0" lang="en-US" sz="900" b="0" i="0" u="none" strike="noStrike" kern="1200" cap="none" spc="0" normalizeH="0" baseline="0" noProof="0" dirty="0">
                <a:ln>
                  <a:noFill/>
                </a:ln>
                <a:solidFill>
                  <a:srgbClr val="000000"/>
                </a:solidFill>
                <a:effectLst/>
                <a:uLnTx/>
                <a:uFillTx/>
                <a:ea typeface="+mn-ea"/>
                <a:cs typeface="Segoe UI" panose="020B0502040204020203" pitchFamily="34" charset="0"/>
              </a:rPr>
              <a:t>(GEI supported Repo sizes)</a:t>
            </a:r>
            <a:endParaRPr kumimoji="0" lang="en-US" sz="900" b="0" i="0" u="none" strike="noStrike" kern="1200" cap="none" spc="0" normalizeH="0" baseline="0" noProof="0" dirty="0">
              <a:ln>
                <a:noFill/>
              </a:ln>
              <a:solidFill>
                <a:srgbClr val="000000"/>
              </a:solidFill>
              <a:effectLst/>
              <a:uLnTx/>
              <a:uFillTx/>
              <a:ea typeface="+mn-ea"/>
              <a:cs typeface="+mn-cs"/>
            </a:endParaRP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Monitor the Migration progress</a:t>
            </a: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Basic validation of source &amp; target repository </a:t>
            </a:r>
          </a:p>
          <a:p>
            <a:pPr marL="185738" marR="0" lvl="2" indent="-11906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Mannequin reclamation </a:t>
            </a:r>
          </a:p>
        </p:txBody>
      </p:sp>
      <p:sp>
        <p:nvSpPr>
          <p:cNvPr id="27" name="TextBox 8">
            <a:extLst>
              <a:ext uri="{FF2B5EF4-FFF2-40B4-BE49-F238E27FC236}">
                <a16:creationId xmlns:a16="http://schemas.microsoft.com/office/drawing/2014/main" id="{DC0E3AD6-9F6B-14A2-18F5-60A8FB4A4E6E}"/>
              </a:ext>
            </a:extLst>
          </p:cNvPr>
          <p:cNvSpPr txBox="1">
            <a:spLocks/>
          </p:cNvSpPr>
          <p:nvPr/>
        </p:nvSpPr>
        <p:spPr>
          <a:xfrm>
            <a:off x="1037516" y="5498933"/>
            <a:ext cx="4801764" cy="318036"/>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i="0" u="none" strike="noStrike" kern="0" cap="none" spc="0" normalizeH="0" baseline="0" noProof="0" dirty="0">
                <a:ln>
                  <a:noFill/>
                </a:ln>
                <a:solidFill>
                  <a:srgbClr val="000000"/>
                </a:solidFill>
                <a:effectLst/>
                <a:uLnTx/>
                <a:uFillTx/>
                <a:latin typeface="+mj-lt"/>
                <a:ea typeface="+mn-ea"/>
                <a:cs typeface="+mn-cs"/>
              </a:rPr>
              <a:t>Signoff: </a:t>
            </a:r>
          </a:p>
          <a:p>
            <a:pPr marL="190500" marR="0" lvl="2"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rgbClr val="000000"/>
                </a:solidFill>
                <a:effectLst/>
                <a:uLnTx/>
                <a:uFillTx/>
                <a:ea typeface="+mn-ea"/>
                <a:cs typeface="+mn-cs"/>
              </a:rPr>
              <a:t>Discuss the migration with the customer and finalize their sign‑off.</a:t>
            </a:r>
          </a:p>
        </p:txBody>
      </p:sp>
      <p:sp>
        <p:nvSpPr>
          <p:cNvPr id="28" name="TextBox 27">
            <a:extLst>
              <a:ext uri="{FF2B5EF4-FFF2-40B4-BE49-F238E27FC236}">
                <a16:creationId xmlns:a16="http://schemas.microsoft.com/office/drawing/2014/main" id="{1AD8A3B2-4373-F8B8-8B15-3F8150A0F205}"/>
              </a:ext>
            </a:extLst>
          </p:cNvPr>
          <p:cNvSpPr txBox="1">
            <a:spLocks/>
          </p:cNvSpPr>
          <p:nvPr/>
        </p:nvSpPr>
        <p:spPr>
          <a:xfrm>
            <a:off x="9361221" y="2346508"/>
            <a:ext cx="2187455"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Testing of application dependencies and functionality</a:t>
            </a:r>
            <a:endParaRPr kumimoji="0" lang="en-US" sz="900" b="0" i="0" u="none" strike="noStrike" kern="0" cap="none" spc="0" normalizeH="0" baseline="0" noProof="0" dirty="0">
              <a:ln>
                <a:noFill/>
              </a:ln>
              <a:solidFill>
                <a:srgbClr val="00B0F0"/>
              </a:solidFill>
              <a:effectLst/>
              <a:uLnTx/>
              <a:uFillTx/>
              <a:ea typeface="+mn-lt"/>
              <a:cs typeface="Segoe UI"/>
              <a:hlinkClick r:id="rId3">
                <a:extLst>
                  <a:ext uri="{A12FA001-AC4F-418D-AE19-62706E023703}">
                    <ahyp:hlinkClr xmlns:ahyp="http://schemas.microsoft.com/office/drawing/2018/hyperlinkcolor" val="tx"/>
                  </a:ext>
                </a:extLst>
              </a:hlinkClick>
            </a:endParaRPr>
          </a:p>
        </p:txBody>
      </p:sp>
      <p:sp>
        <p:nvSpPr>
          <p:cNvPr id="29" name="TextBox 28">
            <a:extLst>
              <a:ext uri="{FF2B5EF4-FFF2-40B4-BE49-F238E27FC236}">
                <a16:creationId xmlns:a16="http://schemas.microsoft.com/office/drawing/2014/main" id="{E7B5329D-AB77-6006-BDAD-DB1FEEC27F63}"/>
              </a:ext>
            </a:extLst>
          </p:cNvPr>
          <p:cNvSpPr txBox="1">
            <a:spLocks/>
          </p:cNvSpPr>
          <p:nvPr/>
        </p:nvSpPr>
        <p:spPr>
          <a:xfrm>
            <a:off x="6608440" y="2415758"/>
            <a:ext cx="2285059"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mn-ea"/>
                <a:cs typeface="+mn-cs"/>
              </a:rPr>
              <a:t>Migration of Git LFS and Submodules </a:t>
            </a:r>
          </a:p>
        </p:txBody>
      </p:sp>
      <p:sp>
        <p:nvSpPr>
          <p:cNvPr id="31" name="TextBox 9">
            <a:extLst>
              <a:ext uri="{FF2B5EF4-FFF2-40B4-BE49-F238E27FC236}">
                <a16:creationId xmlns:a16="http://schemas.microsoft.com/office/drawing/2014/main" id="{E3989F17-A1CD-5BB3-FD7B-E8B2739376FA}"/>
              </a:ext>
            </a:extLst>
          </p:cNvPr>
          <p:cNvSpPr txBox="1">
            <a:spLocks/>
          </p:cNvSpPr>
          <p:nvPr/>
        </p:nvSpPr>
        <p:spPr>
          <a:xfrm>
            <a:off x="6608440" y="3324152"/>
            <a:ext cx="2285059" cy="138499"/>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mn-ea"/>
                <a:cs typeface="+mn-cs"/>
              </a:rPr>
              <a:t>Repo Performance Analysis</a:t>
            </a:r>
          </a:p>
        </p:txBody>
      </p:sp>
      <p:sp>
        <p:nvSpPr>
          <p:cNvPr id="33" name="TextBox 32">
            <a:extLst>
              <a:ext uri="{FF2B5EF4-FFF2-40B4-BE49-F238E27FC236}">
                <a16:creationId xmlns:a16="http://schemas.microsoft.com/office/drawing/2014/main" id="{23AF3CAB-F72A-E4E7-04E0-17CCE620BF14}"/>
              </a:ext>
            </a:extLst>
          </p:cNvPr>
          <p:cNvSpPr txBox="1">
            <a:spLocks/>
          </p:cNvSpPr>
          <p:nvPr/>
        </p:nvSpPr>
        <p:spPr>
          <a:xfrm>
            <a:off x="9361221" y="3324152"/>
            <a:ext cx="2187455" cy="1384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Disaster recovery setup, configuration</a:t>
            </a:r>
            <a:endParaRPr kumimoji="0" lang="en-US" sz="900" b="0" i="0" u="none" strike="noStrike" kern="0" cap="none" spc="0" normalizeH="0" baseline="0" noProof="0" dirty="0">
              <a:ln>
                <a:noFill/>
              </a:ln>
              <a:solidFill>
                <a:srgbClr val="00B0F0"/>
              </a:solidFill>
              <a:effectLst/>
              <a:uLnTx/>
              <a:uFillTx/>
              <a:ea typeface="Calibri"/>
              <a:cs typeface="Segoe UI"/>
            </a:endParaRPr>
          </a:p>
        </p:txBody>
      </p:sp>
      <p:sp>
        <p:nvSpPr>
          <p:cNvPr id="32" name="TextBox 31">
            <a:extLst>
              <a:ext uri="{FF2B5EF4-FFF2-40B4-BE49-F238E27FC236}">
                <a16:creationId xmlns:a16="http://schemas.microsoft.com/office/drawing/2014/main" id="{A9A580AC-1D81-1868-11EA-4349B36DAFC2}"/>
              </a:ext>
            </a:extLst>
          </p:cNvPr>
          <p:cNvSpPr txBox="1">
            <a:spLocks/>
          </p:cNvSpPr>
          <p:nvPr/>
        </p:nvSpPr>
        <p:spPr>
          <a:xfrm>
            <a:off x="6608440" y="2837531"/>
            <a:ext cx="228505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Design, Architect, Advisory and Consulting </a:t>
            </a:r>
            <a:r>
              <a:rPr kumimoji="0" lang="en-US" sz="900" b="0" i="0" u="none" strike="noStrike" kern="0" cap="none" spc="0" normalizeH="0" baseline="0" noProof="0" dirty="0">
                <a:ln>
                  <a:noFill/>
                </a:ln>
                <a:solidFill>
                  <a:srgbClr val="000000"/>
                </a:solidFill>
                <a:effectLst/>
                <a:uLnTx/>
                <a:uFillTx/>
                <a:ea typeface="Calibri"/>
                <a:cs typeface="Segoe UI"/>
              </a:rPr>
              <a:t>services</a:t>
            </a:r>
          </a:p>
        </p:txBody>
      </p:sp>
      <p:sp>
        <p:nvSpPr>
          <p:cNvPr id="36" name="TextBox 35">
            <a:extLst>
              <a:ext uri="{FF2B5EF4-FFF2-40B4-BE49-F238E27FC236}">
                <a16:creationId xmlns:a16="http://schemas.microsoft.com/office/drawing/2014/main" id="{07E8E660-B50B-A89F-C491-FEC427ACCC10}"/>
              </a:ext>
            </a:extLst>
          </p:cNvPr>
          <p:cNvSpPr txBox="1">
            <a:spLocks/>
          </p:cNvSpPr>
          <p:nvPr/>
        </p:nvSpPr>
        <p:spPr>
          <a:xfrm>
            <a:off x="9361221" y="2837531"/>
            <a:ext cx="2187455"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Modifying files or content in the source and target repositories</a:t>
            </a:r>
            <a:endParaRPr kumimoji="0" lang="en-US" sz="900" b="0" i="0" u="none" strike="noStrike" kern="0" cap="none" spc="0" normalizeH="0" baseline="0" noProof="0" dirty="0">
              <a:ln>
                <a:noFill/>
              </a:ln>
              <a:solidFill>
                <a:srgbClr val="00B0F0"/>
              </a:solidFill>
              <a:effectLst/>
              <a:uLnTx/>
              <a:uFillTx/>
              <a:ea typeface="+mn-lt"/>
              <a:cs typeface="Segoe UI"/>
              <a:hlinkClick r:id="rId3">
                <a:extLst>
                  <a:ext uri="{A12FA001-AC4F-418D-AE19-62706E023703}">
                    <ahyp:hlinkClr xmlns:ahyp="http://schemas.microsoft.com/office/drawing/2018/hyperlinkcolor" val="tx"/>
                  </a:ext>
                </a:extLst>
              </a:hlinkClick>
            </a:endParaRPr>
          </a:p>
        </p:txBody>
      </p:sp>
      <p:sp>
        <p:nvSpPr>
          <p:cNvPr id="34" name="TextBox 33">
            <a:extLst>
              <a:ext uri="{FF2B5EF4-FFF2-40B4-BE49-F238E27FC236}">
                <a16:creationId xmlns:a16="http://schemas.microsoft.com/office/drawing/2014/main" id="{BA1D98DE-CBBF-AC55-2A00-C02A3A9F37DD}"/>
              </a:ext>
            </a:extLst>
          </p:cNvPr>
          <p:cNvSpPr txBox="1">
            <a:spLocks/>
          </p:cNvSpPr>
          <p:nvPr/>
        </p:nvSpPr>
        <p:spPr>
          <a:xfrm>
            <a:off x="9361221" y="3666609"/>
            <a:ext cx="2187455"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Any other migration path not listed in the Scope/not supported by migration tool</a:t>
            </a:r>
          </a:p>
        </p:txBody>
      </p:sp>
      <p:sp>
        <p:nvSpPr>
          <p:cNvPr id="37" name="TextBox 36">
            <a:extLst>
              <a:ext uri="{FF2B5EF4-FFF2-40B4-BE49-F238E27FC236}">
                <a16:creationId xmlns:a16="http://schemas.microsoft.com/office/drawing/2014/main" id="{6956B71E-6B8D-E8D9-B6FE-451D6EE44C93}"/>
              </a:ext>
            </a:extLst>
          </p:cNvPr>
          <p:cNvSpPr txBox="1">
            <a:spLocks/>
          </p:cNvSpPr>
          <p:nvPr/>
        </p:nvSpPr>
        <p:spPr>
          <a:xfrm>
            <a:off x="6608440" y="3666609"/>
            <a:ext cx="228505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Clean-up/Decommission of source repository </a:t>
            </a:r>
            <a:endParaRPr kumimoji="0" lang="en-US" sz="900" b="0" i="0" u="none" strike="noStrike" kern="0" cap="none" spc="0" normalizeH="0" baseline="0" noProof="0" dirty="0">
              <a:ln>
                <a:noFill/>
              </a:ln>
              <a:solidFill>
                <a:srgbClr val="00B0F0"/>
              </a:solidFill>
              <a:effectLst/>
              <a:uLnTx/>
              <a:uFillTx/>
              <a:ea typeface="+mn-lt"/>
              <a:cs typeface="Segoe UI"/>
              <a:hlinkClick r:id="rId3">
                <a:extLst>
                  <a:ext uri="{A12FA001-AC4F-418D-AE19-62706E023703}">
                    <ahyp:hlinkClr xmlns:ahyp="http://schemas.microsoft.com/office/drawing/2018/hyperlinkcolor" val="tx"/>
                  </a:ext>
                </a:extLst>
              </a:hlinkClick>
            </a:endParaRPr>
          </a:p>
        </p:txBody>
      </p:sp>
      <p:sp>
        <p:nvSpPr>
          <p:cNvPr id="30" name="TextBox 29">
            <a:extLst>
              <a:ext uri="{FF2B5EF4-FFF2-40B4-BE49-F238E27FC236}">
                <a16:creationId xmlns:a16="http://schemas.microsoft.com/office/drawing/2014/main" id="{DF668B82-669C-FF88-FEDD-5BA670F17D35}"/>
              </a:ext>
            </a:extLst>
          </p:cNvPr>
          <p:cNvSpPr txBox="1">
            <a:spLocks/>
          </p:cNvSpPr>
          <p:nvPr/>
        </p:nvSpPr>
        <p:spPr>
          <a:xfrm>
            <a:off x="6608440" y="4219648"/>
            <a:ext cx="2285059" cy="276999"/>
          </a:xfrm>
          <a:prstGeom prst="rect">
            <a:avLst/>
          </a:prstGeom>
          <a:noFill/>
        </p:spPr>
        <p:txBody>
          <a:bodyPr wrap="square" lIns="0" tIns="0" rIns="0" bIns="0" anchor="t">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mn-lt"/>
                <a:ea typeface="+mn-ea"/>
                <a:cs typeface="+mn-cs"/>
              </a:rPr>
              <a:t>Enablement of SSO with SCIM and Creation of Teams &amp; permissions</a:t>
            </a:r>
          </a:p>
        </p:txBody>
      </p:sp>
      <p:sp>
        <p:nvSpPr>
          <p:cNvPr id="41" name="TextBox 40">
            <a:extLst>
              <a:ext uri="{FF2B5EF4-FFF2-40B4-BE49-F238E27FC236}">
                <a16:creationId xmlns:a16="http://schemas.microsoft.com/office/drawing/2014/main" id="{78C1CA37-C3D8-1241-7723-617E6FB84076}"/>
              </a:ext>
            </a:extLst>
          </p:cNvPr>
          <p:cNvSpPr txBox="1">
            <a:spLocks/>
          </p:cNvSpPr>
          <p:nvPr/>
        </p:nvSpPr>
        <p:spPr>
          <a:xfrm>
            <a:off x="9361221" y="4150398"/>
            <a:ext cx="2187455" cy="41549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Establishing network connectivity between Bitbucket Server, GitHub, and the VM environments</a:t>
            </a:r>
          </a:p>
        </p:txBody>
      </p:sp>
      <p:sp>
        <p:nvSpPr>
          <p:cNvPr id="35" name="Text Box 3" descr="This is a copyright notice that should be included on the final slide.">
            <a:extLst>
              <a:ext uri="{FF2B5EF4-FFF2-40B4-BE49-F238E27FC236}">
                <a16:creationId xmlns:a16="http://schemas.microsoft.com/office/drawing/2014/main" id="{C7D83CD2-DEAC-C9F4-D35A-E2AEEA58F897}"/>
              </a:ext>
            </a:extLst>
          </p:cNvPr>
          <p:cNvSpPr txBox="1">
            <a:spLocks noChangeArrowheads="1"/>
          </p:cNvSpPr>
          <p:nvPr/>
        </p:nvSpPr>
        <p:spPr bwMode="blackWhite">
          <a:xfrm>
            <a:off x="9361221" y="5325725"/>
            <a:ext cx="2094179" cy="138499"/>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Migrating from Bitbucket SaaS to GitHub</a:t>
            </a:r>
          </a:p>
        </p:txBody>
      </p:sp>
      <p:sp>
        <p:nvSpPr>
          <p:cNvPr id="42" name="TextBox 41">
            <a:extLst>
              <a:ext uri="{FF2B5EF4-FFF2-40B4-BE49-F238E27FC236}">
                <a16:creationId xmlns:a16="http://schemas.microsoft.com/office/drawing/2014/main" id="{A93A691E-A4F6-6B93-8253-1A63D228CF26}"/>
              </a:ext>
            </a:extLst>
          </p:cNvPr>
          <p:cNvSpPr txBox="1">
            <a:spLocks/>
          </p:cNvSpPr>
          <p:nvPr/>
        </p:nvSpPr>
        <p:spPr>
          <a:xfrm>
            <a:off x="6608440" y="5256475"/>
            <a:ext cx="2285059" cy="2769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mn-lt"/>
                <a:ea typeface="+mn-ea"/>
                <a:cs typeface="+mn-cs"/>
              </a:rPr>
              <a:t>Verifying whether external tools work correctly after migration </a:t>
            </a:r>
          </a:p>
        </p:txBody>
      </p:sp>
      <p:sp>
        <p:nvSpPr>
          <p:cNvPr id="39" name="TextBox 38">
            <a:extLst>
              <a:ext uri="{FF2B5EF4-FFF2-40B4-BE49-F238E27FC236}">
                <a16:creationId xmlns:a16="http://schemas.microsoft.com/office/drawing/2014/main" id="{27D4455F-002C-3060-711A-F7F5215F8427}"/>
              </a:ext>
            </a:extLst>
          </p:cNvPr>
          <p:cNvSpPr txBox="1">
            <a:spLocks/>
          </p:cNvSpPr>
          <p:nvPr/>
        </p:nvSpPr>
        <p:spPr>
          <a:xfrm>
            <a:off x="6608440" y="4772686"/>
            <a:ext cx="228505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Creation of PAT token, SSH Key Pair, BB server Username and Password</a:t>
            </a:r>
          </a:p>
        </p:txBody>
      </p:sp>
      <p:sp>
        <p:nvSpPr>
          <p:cNvPr id="44" name="TextBox 43">
            <a:extLst>
              <a:ext uri="{FF2B5EF4-FFF2-40B4-BE49-F238E27FC236}">
                <a16:creationId xmlns:a16="http://schemas.microsoft.com/office/drawing/2014/main" id="{DFBA812B-DB51-B2E6-51D2-33E5D42A7645}"/>
              </a:ext>
            </a:extLst>
          </p:cNvPr>
          <p:cNvSpPr txBox="1">
            <a:spLocks/>
          </p:cNvSpPr>
          <p:nvPr/>
        </p:nvSpPr>
        <p:spPr>
          <a:xfrm>
            <a:off x="9361221" y="4772686"/>
            <a:ext cx="2187455"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ea typeface="Calibri"/>
                <a:cs typeface="Calibri"/>
              </a:rPr>
              <a:t>Checking whether user permissions are set correctly after migration</a:t>
            </a:r>
          </a:p>
        </p:txBody>
      </p:sp>
      <p:sp>
        <p:nvSpPr>
          <p:cNvPr id="49" name="TextBox 48">
            <a:extLst>
              <a:ext uri="{FF2B5EF4-FFF2-40B4-BE49-F238E27FC236}">
                <a16:creationId xmlns:a16="http://schemas.microsoft.com/office/drawing/2014/main" id="{E9EC6239-468B-AAD0-8ACE-0508D9E4B646}"/>
              </a:ext>
            </a:extLst>
          </p:cNvPr>
          <p:cNvSpPr txBox="1">
            <a:spLocks/>
          </p:cNvSpPr>
          <p:nvPr/>
        </p:nvSpPr>
        <p:spPr>
          <a:xfrm>
            <a:off x="6608440" y="5740264"/>
            <a:ext cx="2285059"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mn-lt"/>
                <a:ea typeface="+mn-ea"/>
                <a:cs typeface="+mn-cs"/>
              </a:rPr>
              <a:t>Platform configuration and onboarding</a:t>
            </a:r>
          </a:p>
        </p:txBody>
      </p:sp>
      <p:sp>
        <p:nvSpPr>
          <p:cNvPr id="53" name="TextBox 52">
            <a:extLst>
              <a:ext uri="{FF2B5EF4-FFF2-40B4-BE49-F238E27FC236}">
                <a16:creationId xmlns:a16="http://schemas.microsoft.com/office/drawing/2014/main" id="{99BDB061-F934-590C-F51E-24746E64C57E}"/>
              </a:ext>
            </a:extLst>
          </p:cNvPr>
          <p:cNvSpPr txBox="1">
            <a:spLocks/>
          </p:cNvSpPr>
          <p:nvPr/>
        </p:nvSpPr>
        <p:spPr>
          <a:xfrm>
            <a:off x="9361221" y="5740264"/>
            <a:ext cx="2187455" cy="138499"/>
          </a:xfrm>
          <a:prstGeom prst="rect">
            <a:avLst/>
          </a:prstGeom>
          <a:noFill/>
        </p:spPr>
        <p:txBody>
          <a:bodyPr wrap="square" lIns="0" tIns="0" rIns="0" bIns="0" anchor="ctr">
            <a:spAutoFit/>
          </a:bodyPr>
          <a:lstStyle>
            <a:defPPr>
              <a:defRPr lang="en-US"/>
            </a:defPPr>
            <a:lvl1pPr marR="0" lvl="0"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ea typeface="Calibri"/>
                <a:cs typeface="Calibr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latin typeface="+mn-lt"/>
                <a:ea typeface="Calibri"/>
                <a:cs typeface="Calibri"/>
              </a:rPr>
              <a:t>Pipeline rewiring</a:t>
            </a:r>
          </a:p>
        </p:txBody>
      </p:sp>
      <p:sp>
        <p:nvSpPr>
          <p:cNvPr id="63" name="TextBox 62">
            <a:extLst>
              <a:ext uri="{FF2B5EF4-FFF2-40B4-BE49-F238E27FC236}">
                <a16:creationId xmlns:a16="http://schemas.microsoft.com/office/drawing/2014/main" id="{24CB67A8-5B20-6DFE-DF4C-BC40B3F3A93E}"/>
              </a:ext>
            </a:extLst>
          </p:cNvPr>
          <p:cNvSpPr txBox="1"/>
          <p:nvPr/>
        </p:nvSpPr>
        <p:spPr>
          <a:xfrm>
            <a:off x="2614481" y="6085413"/>
            <a:ext cx="2235414" cy="420628"/>
          </a:xfrm>
          <a:prstGeom prst="rect">
            <a:avLst/>
          </a:prstGeom>
          <a:noFill/>
        </p:spPr>
        <p:txBody>
          <a:bodyPr rot="0" spcFirstLastPara="0" vertOverflow="overflow" horzOverflow="overflow" vert="horz" wrap="square" lIns="0" tIns="0" rIns="45720" bIns="0" numCol="1" spcCol="0" rtlCol="0" fromWordArt="0" anchor="t" anchorCtr="0" forceAA="0" compatLnSpc="1">
            <a:prstTxWarp prst="textNoShape">
              <a:avLst/>
            </a:prstTxWarp>
            <a:spAutoFit/>
          </a:bodyPr>
          <a:lstStyle/>
          <a:p>
            <a:pPr marL="136525" indent="-136525">
              <a:spcAft>
                <a:spcPts val="200"/>
              </a:spcAft>
              <a:buFont typeface="Arial" panose="020B0604020202020204" pitchFamily="34" charset="0"/>
              <a:buChar char="•"/>
              <a:defRPr/>
            </a:pPr>
            <a:r>
              <a:rPr lang="en-US" sz="800" kern="0" noProof="0" dirty="0"/>
              <a:t>2 GiB size limit for a single Git commit</a:t>
            </a:r>
          </a:p>
          <a:p>
            <a:pPr marL="136525" indent="-136525">
              <a:spcAft>
                <a:spcPts val="200"/>
              </a:spcAft>
              <a:buFont typeface="Arial" panose="020B0604020202020204" pitchFamily="34" charset="0"/>
              <a:buChar char="•"/>
              <a:defRPr/>
            </a:pPr>
            <a:r>
              <a:rPr lang="en-US" sz="800" kern="0" noProof="0" dirty="0"/>
              <a:t>255 byte limit for Git references</a:t>
            </a:r>
          </a:p>
          <a:p>
            <a:pPr marL="136525" indent="-136525">
              <a:spcAft>
                <a:spcPts val="200"/>
              </a:spcAft>
              <a:buFont typeface="Arial" panose="020B0604020202020204" pitchFamily="34" charset="0"/>
              <a:buChar char="•"/>
              <a:defRPr/>
            </a:pPr>
            <a:r>
              <a:rPr lang="en-US" sz="800" kern="0" noProof="0" dirty="0"/>
              <a:t>100 MiB file size limit</a:t>
            </a:r>
          </a:p>
        </p:txBody>
      </p:sp>
      <p:sp>
        <p:nvSpPr>
          <p:cNvPr id="67" name="TextBox 66">
            <a:extLst>
              <a:ext uri="{FF2B5EF4-FFF2-40B4-BE49-F238E27FC236}">
                <a16:creationId xmlns:a16="http://schemas.microsoft.com/office/drawing/2014/main" id="{F7808440-D786-E032-6619-331B90347877}"/>
              </a:ext>
            </a:extLst>
          </p:cNvPr>
          <p:cNvSpPr txBox="1"/>
          <p:nvPr/>
        </p:nvSpPr>
        <p:spPr>
          <a:xfrm>
            <a:off x="2130687" y="6085413"/>
            <a:ext cx="483794" cy="2308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lvl="0">
              <a:defRPr/>
            </a:pPr>
            <a:r>
              <a:rPr lang="en-US" sz="900" noProof="0" dirty="0">
                <a:latin typeface="+mj-lt"/>
              </a:rPr>
              <a:t>GitHub</a:t>
            </a:r>
          </a:p>
        </p:txBody>
      </p:sp>
      <p:cxnSp>
        <p:nvCxnSpPr>
          <p:cNvPr id="74" name="Straight Connector 73">
            <a:extLst>
              <a:ext uri="{FF2B5EF4-FFF2-40B4-BE49-F238E27FC236}">
                <a16:creationId xmlns:a16="http://schemas.microsoft.com/office/drawing/2014/main" id="{FB6C0278-BDAE-2F9F-3B45-CA3409106BAA}"/>
              </a:ext>
            </a:extLst>
          </p:cNvPr>
          <p:cNvCxnSpPr/>
          <p:nvPr/>
        </p:nvCxnSpPr>
        <p:spPr>
          <a:xfrm>
            <a:off x="5036545" y="6063401"/>
            <a:ext cx="0" cy="475211"/>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9C4B175A-B7B5-27CE-2B50-1CB0013C1043}"/>
              </a:ext>
            </a:extLst>
          </p:cNvPr>
          <p:cNvSpPr txBox="1"/>
          <p:nvPr/>
        </p:nvSpPr>
        <p:spPr>
          <a:xfrm>
            <a:off x="6516708" y="6085413"/>
            <a:ext cx="2187207" cy="420628"/>
          </a:xfrm>
          <a:prstGeom prst="rect">
            <a:avLst/>
          </a:prstGeom>
          <a:noFill/>
        </p:spPr>
        <p:txBody>
          <a:bodyPr rot="0" spcFirstLastPara="0" vertOverflow="overflow" horzOverflow="overflow" vert="horz" wrap="square" lIns="0" tIns="0" rIns="45720" bIns="0" numCol="1" spcCol="0" rtlCol="0" fromWordArt="0" anchor="t" anchorCtr="0" forceAA="0" compatLnSpc="1">
            <a:prstTxWarp prst="textNoShape">
              <a:avLst/>
            </a:prstTxWarp>
            <a:spAutoFit/>
          </a:bodyPr>
          <a:lstStyle/>
          <a:p>
            <a:pPr marL="136525" indent="-136525">
              <a:spcAft>
                <a:spcPts val="200"/>
              </a:spcAft>
              <a:buFont typeface="Arial" panose="020B0604020202020204" pitchFamily="34" charset="0"/>
              <a:buChar char="•"/>
              <a:defRPr/>
            </a:pPr>
            <a:r>
              <a:rPr lang="en-US" sz="800" kern="0" noProof="0" dirty="0"/>
              <a:t>40 GiB size limit for a Git repository</a:t>
            </a:r>
          </a:p>
          <a:p>
            <a:pPr marL="136525" indent="-136525">
              <a:spcAft>
                <a:spcPts val="200"/>
              </a:spcAft>
              <a:buFont typeface="Arial" panose="020B0604020202020204" pitchFamily="34" charset="0"/>
              <a:buChar char="•"/>
              <a:defRPr/>
            </a:pPr>
            <a:r>
              <a:rPr lang="en-US" sz="800" kern="0" noProof="0" dirty="0"/>
              <a:t>400 MiB file size limit</a:t>
            </a:r>
          </a:p>
          <a:p>
            <a:pPr marL="136525" indent="-136525">
              <a:spcAft>
                <a:spcPts val="200"/>
              </a:spcAft>
              <a:buFont typeface="Arial" panose="020B0604020202020204" pitchFamily="34" charset="0"/>
              <a:buChar char="•"/>
              <a:defRPr/>
            </a:pPr>
            <a:r>
              <a:rPr lang="en-US" sz="800" kern="0" noProof="0" dirty="0"/>
              <a:t>Should not more than 20 GiB for metadata</a:t>
            </a:r>
          </a:p>
        </p:txBody>
      </p:sp>
      <p:cxnSp>
        <p:nvCxnSpPr>
          <p:cNvPr id="2" name="Straight Connector 1">
            <a:extLst>
              <a:ext uri="{FF2B5EF4-FFF2-40B4-BE49-F238E27FC236}">
                <a16:creationId xmlns:a16="http://schemas.microsoft.com/office/drawing/2014/main" id="{F6D9A045-9EAC-1A8B-718C-64C1F0B1E214}"/>
              </a:ext>
              <a:ext uri="{C183D7F6-B498-43B3-948B-1728B52AA6E4}">
                <adec:decorative xmlns:adec="http://schemas.microsoft.com/office/drawing/2017/decorative" val="1"/>
              </a:ext>
            </a:extLst>
          </p:cNvPr>
          <p:cNvCxnSpPr>
            <a:cxnSpLocks/>
          </p:cNvCxnSpPr>
          <p:nvPr/>
        </p:nvCxnSpPr>
        <p:spPr>
          <a:xfrm>
            <a:off x="1037516" y="444572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202B6FB-4E0B-B830-2F4E-66B844CA801F}"/>
              </a:ext>
              <a:ext uri="{C183D7F6-B498-43B3-948B-1728B52AA6E4}">
                <adec:decorative xmlns:adec="http://schemas.microsoft.com/office/drawing/2017/decorative" val="1"/>
              </a:ext>
            </a:extLst>
          </p:cNvPr>
          <p:cNvCxnSpPr>
            <a:cxnSpLocks/>
          </p:cNvCxnSpPr>
          <p:nvPr/>
        </p:nvCxnSpPr>
        <p:spPr>
          <a:xfrm>
            <a:off x="1037516" y="541802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073687-9F0F-7C03-0E74-2975C044E521}"/>
              </a:ext>
              <a:ext uri="{C183D7F6-B498-43B3-948B-1728B52AA6E4}">
                <adec:decorative xmlns:adec="http://schemas.microsoft.com/office/drawing/2017/decorative" val="1"/>
              </a:ext>
            </a:extLst>
          </p:cNvPr>
          <p:cNvCxnSpPr>
            <a:cxnSpLocks/>
          </p:cNvCxnSpPr>
          <p:nvPr/>
        </p:nvCxnSpPr>
        <p:spPr>
          <a:xfrm>
            <a:off x="1037516" y="347342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2156A-00F2-BF10-8BFC-F6F7F57BCBAF}"/>
              </a:ext>
              <a:ext uri="{C183D7F6-B498-43B3-948B-1728B52AA6E4}">
                <adec:decorative xmlns:adec="http://schemas.microsoft.com/office/drawing/2017/decorative" val="1"/>
              </a:ext>
            </a:extLst>
          </p:cNvPr>
          <p:cNvCxnSpPr>
            <a:cxnSpLocks/>
          </p:cNvCxnSpPr>
          <p:nvPr/>
        </p:nvCxnSpPr>
        <p:spPr>
          <a:xfrm>
            <a:off x="1037516" y="282941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57FEF6A-1C32-083B-05DD-4471F40B4822}"/>
              </a:ext>
              <a:ext uri="{C183D7F6-B498-43B3-948B-1728B52AA6E4}">
                <adec:decorative xmlns:adec="http://schemas.microsoft.com/office/drawing/2017/decorative" val="1"/>
              </a:ext>
            </a:extLst>
          </p:cNvPr>
          <p:cNvCxnSpPr>
            <a:cxnSpLocks/>
          </p:cNvCxnSpPr>
          <p:nvPr/>
        </p:nvCxnSpPr>
        <p:spPr>
          <a:xfrm>
            <a:off x="1037516" y="218541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6086A6F-8AF7-6C96-DE5A-15B14A7B18B6}"/>
              </a:ext>
              <a:ext uri="{C183D7F6-B498-43B3-948B-1728B52AA6E4}">
                <adec:decorative xmlns:adec="http://schemas.microsoft.com/office/drawing/2017/decorative" val="1"/>
              </a:ext>
            </a:extLst>
          </p:cNvPr>
          <p:cNvCxnSpPr>
            <a:cxnSpLocks/>
          </p:cNvCxnSpPr>
          <p:nvPr/>
        </p:nvCxnSpPr>
        <p:spPr>
          <a:xfrm>
            <a:off x="9361221" y="2250327"/>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6E4FB72-D943-0370-DA2E-C82FB8EB27FF}"/>
              </a:ext>
              <a:ext uri="{C183D7F6-B498-43B3-948B-1728B52AA6E4}">
                <adec:decorative xmlns:adec="http://schemas.microsoft.com/office/drawing/2017/decorative" val="1"/>
              </a:ext>
            </a:extLst>
          </p:cNvPr>
          <p:cNvCxnSpPr>
            <a:cxnSpLocks/>
          </p:cNvCxnSpPr>
          <p:nvPr/>
        </p:nvCxnSpPr>
        <p:spPr>
          <a:xfrm>
            <a:off x="9361221" y="2734116"/>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92A46BF-FC52-6E0B-C1CA-FE6BD0EE3E9D}"/>
              </a:ext>
              <a:ext uri="{C183D7F6-B498-43B3-948B-1728B52AA6E4}">
                <adec:decorative xmlns:adec="http://schemas.microsoft.com/office/drawing/2017/decorative" val="1"/>
              </a:ext>
            </a:extLst>
          </p:cNvPr>
          <p:cNvCxnSpPr>
            <a:cxnSpLocks/>
          </p:cNvCxnSpPr>
          <p:nvPr/>
        </p:nvCxnSpPr>
        <p:spPr>
          <a:xfrm>
            <a:off x="9361221" y="3217905"/>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7BCF81B-4F86-D7A8-AF92-559FCCDD8D69}"/>
              </a:ext>
              <a:ext uri="{C183D7F6-B498-43B3-948B-1728B52AA6E4}">
                <adec:decorative xmlns:adec="http://schemas.microsoft.com/office/drawing/2017/decorative" val="1"/>
              </a:ext>
            </a:extLst>
          </p:cNvPr>
          <p:cNvCxnSpPr>
            <a:cxnSpLocks/>
          </p:cNvCxnSpPr>
          <p:nvPr/>
        </p:nvCxnSpPr>
        <p:spPr>
          <a:xfrm>
            <a:off x="9361221" y="3563194"/>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BFCCD71-31F2-7351-7950-7206CF699398}"/>
              </a:ext>
              <a:ext uri="{C183D7F6-B498-43B3-948B-1728B52AA6E4}">
                <adec:decorative xmlns:adec="http://schemas.microsoft.com/office/drawing/2017/decorative" val="1"/>
              </a:ext>
            </a:extLst>
          </p:cNvPr>
          <p:cNvCxnSpPr>
            <a:cxnSpLocks/>
          </p:cNvCxnSpPr>
          <p:nvPr/>
        </p:nvCxnSpPr>
        <p:spPr>
          <a:xfrm>
            <a:off x="9361221" y="4046983"/>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B64DE0B-81D9-72E2-234B-F0CB15784688}"/>
              </a:ext>
              <a:ext uri="{C183D7F6-B498-43B3-948B-1728B52AA6E4}">
                <adec:decorative xmlns:adec="http://schemas.microsoft.com/office/drawing/2017/decorative" val="1"/>
              </a:ext>
            </a:extLst>
          </p:cNvPr>
          <p:cNvCxnSpPr>
            <a:cxnSpLocks/>
          </p:cNvCxnSpPr>
          <p:nvPr/>
        </p:nvCxnSpPr>
        <p:spPr>
          <a:xfrm>
            <a:off x="9361221" y="4669271"/>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B8F8D5-E754-3599-D613-A95F18B90D80}"/>
              </a:ext>
              <a:ext uri="{C183D7F6-B498-43B3-948B-1728B52AA6E4}">
                <adec:decorative xmlns:adec="http://schemas.microsoft.com/office/drawing/2017/decorative" val="1"/>
              </a:ext>
            </a:extLst>
          </p:cNvPr>
          <p:cNvCxnSpPr>
            <a:cxnSpLocks/>
          </p:cNvCxnSpPr>
          <p:nvPr/>
        </p:nvCxnSpPr>
        <p:spPr>
          <a:xfrm>
            <a:off x="9361221" y="5153060"/>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FBE5E3-FB32-4071-FE95-7038D545C4CD}"/>
              </a:ext>
              <a:ext uri="{C183D7F6-B498-43B3-948B-1728B52AA6E4}">
                <adec:decorative xmlns:adec="http://schemas.microsoft.com/office/drawing/2017/decorative" val="1"/>
              </a:ext>
            </a:extLst>
          </p:cNvPr>
          <p:cNvCxnSpPr>
            <a:cxnSpLocks/>
          </p:cNvCxnSpPr>
          <p:nvPr/>
        </p:nvCxnSpPr>
        <p:spPr>
          <a:xfrm>
            <a:off x="9361221" y="5636849"/>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CF787ACF-6ED1-83B6-8CE0-99692AB5A630}"/>
              </a:ext>
            </a:extLst>
          </p:cNvPr>
          <p:cNvSpPr/>
          <p:nvPr/>
        </p:nvSpPr>
        <p:spPr bwMode="auto">
          <a:xfrm>
            <a:off x="775653" y="22758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6" name="Oval 65">
            <a:extLst>
              <a:ext uri="{FF2B5EF4-FFF2-40B4-BE49-F238E27FC236}">
                <a16:creationId xmlns:a16="http://schemas.microsoft.com/office/drawing/2014/main" id="{1C3B3D07-FC5E-3932-9D52-318F621CAB2B}"/>
              </a:ext>
            </a:extLst>
          </p:cNvPr>
          <p:cNvSpPr/>
          <p:nvPr/>
        </p:nvSpPr>
        <p:spPr bwMode="auto">
          <a:xfrm>
            <a:off x="775653" y="291985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8" name="Oval 67">
            <a:extLst>
              <a:ext uri="{FF2B5EF4-FFF2-40B4-BE49-F238E27FC236}">
                <a16:creationId xmlns:a16="http://schemas.microsoft.com/office/drawing/2014/main" id="{1A3FA84F-BAA7-BA17-3AE3-A7B27A6C8B7B}"/>
              </a:ext>
            </a:extLst>
          </p:cNvPr>
          <p:cNvSpPr/>
          <p:nvPr/>
        </p:nvSpPr>
        <p:spPr bwMode="auto">
          <a:xfrm>
            <a:off x="775653" y="357474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9" name="Oval 68">
            <a:extLst>
              <a:ext uri="{FF2B5EF4-FFF2-40B4-BE49-F238E27FC236}">
                <a16:creationId xmlns:a16="http://schemas.microsoft.com/office/drawing/2014/main" id="{5CC0CBDF-9323-BBDF-5C37-D3AACD4D6335}"/>
              </a:ext>
            </a:extLst>
          </p:cNvPr>
          <p:cNvSpPr/>
          <p:nvPr/>
        </p:nvSpPr>
        <p:spPr bwMode="auto">
          <a:xfrm>
            <a:off x="775653" y="453615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0" name="Oval 69">
            <a:extLst>
              <a:ext uri="{FF2B5EF4-FFF2-40B4-BE49-F238E27FC236}">
                <a16:creationId xmlns:a16="http://schemas.microsoft.com/office/drawing/2014/main" id="{6E4F6EDE-BB54-9FE8-C59B-C43F1417E3A7}"/>
              </a:ext>
            </a:extLst>
          </p:cNvPr>
          <p:cNvSpPr/>
          <p:nvPr/>
        </p:nvSpPr>
        <p:spPr bwMode="auto">
          <a:xfrm>
            <a:off x="775653" y="550845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1" name="Oval 70">
            <a:extLst>
              <a:ext uri="{FF2B5EF4-FFF2-40B4-BE49-F238E27FC236}">
                <a16:creationId xmlns:a16="http://schemas.microsoft.com/office/drawing/2014/main" id="{D36D7408-9353-E1C1-3B54-A0CE65DE64EE}"/>
              </a:ext>
            </a:extLst>
          </p:cNvPr>
          <p:cNvSpPr/>
          <p:nvPr/>
        </p:nvSpPr>
        <p:spPr bwMode="auto">
          <a:xfrm>
            <a:off x="6320111" y="241642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2" name="Oval 71">
            <a:extLst>
              <a:ext uri="{FF2B5EF4-FFF2-40B4-BE49-F238E27FC236}">
                <a16:creationId xmlns:a16="http://schemas.microsoft.com/office/drawing/2014/main" id="{E8E6FE8A-3105-0064-32D9-2D8B5BC819B5}"/>
              </a:ext>
            </a:extLst>
          </p:cNvPr>
          <p:cNvSpPr/>
          <p:nvPr/>
        </p:nvSpPr>
        <p:spPr bwMode="auto">
          <a:xfrm>
            <a:off x="6320111" y="285023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3" name="Oval 72">
            <a:extLst>
              <a:ext uri="{FF2B5EF4-FFF2-40B4-BE49-F238E27FC236}">
                <a16:creationId xmlns:a16="http://schemas.microsoft.com/office/drawing/2014/main" id="{E284B9B4-92E6-7FAF-AEE4-47169B13FE7E}"/>
              </a:ext>
            </a:extLst>
          </p:cNvPr>
          <p:cNvSpPr/>
          <p:nvPr/>
        </p:nvSpPr>
        <p:spPr bwMode="auto">
          <a:xfrm>
            <a:off x="6320111" y="332415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5" name="Oval 74">
            <a:extLst>
              <a:ext uri="{FF2B5EF4-FFF2-40B4-BE49-F238E27FC236}">
                <a16:creationId xmlns:a16="http://schemas.microsoft.com/office/drawing/2014/main" id="{681E2719-EED6-B249-61B6-5C753A55E759}"/>
              </a:ext>
            </a:extLst>
          </p:cNvPr>
          <p:cNvSpPr/>
          <p:nvPr/>
        </p:nvSpPr>
        <p:spPr bwMode="auto">
          <a:xfrm>
            <a:off x="6320111" y="36793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7" name="Oval 76">
            <a:extLst>
              <a:ext uri="{FF2B5EF4-FFF2-40B4-BE49-F238E27FC236}">
                <a16:creationId xmlns:a16="http://schemas.microsoft.com/office/drawing/2014/main" id="{A741ED9E-535A-529F-EA2A-513D71A70692}"/>
              </a:ext>
            </a:extLst>
          </p:cNvPr>
          <p:cNvSpPr/>
          <p:nvPr/>
        </p:nvSpPr>
        <p:spPr bwMode="auto">
          <a:xfrm>
            <a:off x="6320111" y="428956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8" name="Oval 77">
            <a:extLst>
              <a:ext uri="{FF2B5EF4-FFF2-40B4-BE49-F238E27FC236}">
                <a16:creationId xmlns:a16="http://schemas.microsoft.com/office/drawing/2014/main" id="{55DD88A4-260D-E85C-3FFE-19838C08E2EE}"/>
              </a:ext>
            </a:extLst>
          </p:cNvPr>
          <p:cNvSpPr/>
          <p:nvPr/>
        </p:nvSpPr>
        <p:spPr bwMode="auto">
          <a:xfrm>
            <a:off x="6320111" y="478538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9" name="Oval 78">
            <a:extLst>
              <a:ext uri="{FF2B5EF4-FFF2-40B4-BE49-F238E27FC236}">
                <a16:creationId xmlns:a16="http://schemas.microsoft.com/office/drawing/2014/main" id="{DEEF9F9C-E41E-6014-5281-BAF6C84E3C96}"/>
              </a:ext>
            </a:extLst>
          </p:cNvPr>
          <p:cNvSpPr/>
          <p:nvPr/>
        </p:nvSpPr>
        <p:spPr bwMode="auto">
          <a:xfrm>
            <a:off x="6320111" y="526917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0" name="Oval 79">
            <a:extLst>
              <a:ext uri="{FF2B5EF4-FFF2-40B4-BE49-F238E27FC236}">
                <a16:creationId xmlns:a16="http://schemas.microsoft.com/office/drawing/2014/main" id="{729C3F5B-AF99-FD3F-E9CC-5B7B8E3EEAD4}"/>
              </a:ext>
            </a:extLst>
          </p:cNvPr>
          <p:cNvSpPr/>
          <p:nvPr/>
        </p:nvSpPr>
        <p:spPr bwMode="auto">
          <a:xfrm>
            <a:off x="6320111" y="574160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1" name="Oval 80">
            <a:extLst>
              <a:ext uri="{FF2B5EF4-FFF2-40B4-BE49-F238E27FC236}">
                <a16:creationId xmlns:a16="http://schemas.microsoft.com/office/drawing/2014/main" id="{BBD4D45A-CB90-DA87-89DD-D60779456874}"/>
              </a:ext>
            </a:extLst>
          </p:cNvPr>
          <p:cNvSpPr/>
          <p:nvPr/>
        </p:nvSpPr>
        <p:spPr bwMode="auto">
          <a:xfrm>
            <a:off x="9072891" y="574160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2" name="Oval 81">
            <a:extLst>
              <a:ext uri="{FF2B5EF4-FFF2-40B4-BE49-F238E27FC236}">
                <a16:creationId xmlns:a16="http://schemas.microsoft.com/office/drawing/2014/main" id="{B10A9436-0819-B17A-3E9C-E4315615D992}"/>
              </a:ext>
            </a:extLst>
          </p:cNvPr>
          <p:cNvSpPr/>
          <p:nvPr/>
        </p:nvSpPr>
        <p:spPr bwMode="auto">
          <a:xfrm>
            <a:off x="9072891" y="235603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3" name="Oval 82">
            <a:extLst>
              <a:ext uri="{FF2B5EF4-FFF2-40B4-BE49-F238E27FC236}">
                <a16:creationId xmlns:a16="http://schemas.microsoft.com/office/drawing/2014/main" id="{08B746EA-B881-5C72-11F5-C4F531DDD8B4}"/>
              </a:ext>
            </a:extLst>
          </p:cNvPr>
          <p:cNvSpPr/>
          <p:nvPr/>
        </p:nvSpPr>
        <p:spPr bwMode="auto">
          <a:xfrm>
            <a:off x="9072891" y="285023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4" name="Oval 83">
            <a:extLst>
              <a:ext uri="{FF2B5EF4-FFF2-40B4-BE49-F238E27FC236}">
                <a16:creationId xmlns:a16="http://schemas.microsoft.com/office/drawing/2014/main" id="{3F9D2D32-3CFA-3133-31AA-AF2CA2E22A68}"/>
              </a:ext>
            </a:extLst>
          </p:cNvPr>
          <p:cNvSpPr/>
          <p:nvPr/>
        </p:nvSpPr>
        <p:spPr bwMode="auto">
          <a:xfrm>
            <a:off x="9072891" y="332482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5" name="Oval 84">
            <a:extLst>
              <a:ext uri="{FF2B5EF4-FFF2-40B4-BE49-F238E27FC236}">
                <a16:creationId xmlns:a16="http://schemas.microsoft.com/office/drawing/2014/main" id="{F3001F31-BF7A-795B-AF6C-17FFC6446256}"/>
              </a:ext>
            </a:extLst>
          </p:cNvPr>
          <p:cNvSpPr/>
          <p:nvPr/>
        </p:nvSpPr>
        <p:spPr bwMode="auto">
          <a:xfrm>
            <a:off x="9072891" y="36666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6" name="Oval 85">
            <a:extLst>
              <a:ext uri="{FF2B5EF4-FFF2-40B4-BE49-F238E27FC236}">
                <a16:creationId xmlns:a16="http://schemas.microsoft.com/office/drawing/2014/main" id="{573832A6-D966-D08F-816B-ACE8D56E5E8F}"/>
              </a:ext>
            </a:extLst>
          </p:cNvPr>
          <p:cNvSpPr/>
          <p:nvPr/>
        </p:nvSpPr>
        <p:spPr bwMode="auto">
          <a:xfrm>
            <a:off x="9072891" y="416944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7" name="Oval 86">
            <a:extLst>
              <a:ext uri="{FF2B5EF4-FFF2-40B4-BE49-F238E27FC236}">
                <a16:creationId xmlns:a16="http://schemas.microsoft.com/office/drawing/2014/main" id="{98DBFE4A-04F9-3BE3-6FD8-213861E9662C}"/>
              </a:ext>
            </a:extLst>
          </p:cNvPr>
          <p:cNvSpPr/>
          <p:nvPr/>
        </p:nvSpPr>
        <p:spPr bwMode="auto">
          <a:xfrm>
            <a:off x="9072891" y="478538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8" name="Oval 87">
            <a:extLst>
              <a:ext uri="{FF2B5EF4-FFF2-40B4-BE49-F238E27FC236}">
                <a16:creationId xmlns:a16="http://schemas.microsoft.com/office/drawing/2014/main" id="{D2A4E8A4-FA74-3E63-41F3-FC9C99E2A86C}"/>
              </a:ext>
            </a:extLst>
          </p:cNvPr>
          <p:cNvSpPr/>
          <p:nvPr/>
        </p:nvSpPr>
        <p:spPr bwMode="auto">
          <a:xfrm>
            <a:off x="9072891" y="532639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0" name="TextBox 89">
            <a:extLst>
              <a:ext uri="{FF2B5EF4-FFF2-40B4-BE49-F238E27FC236}">
                <a16:creationId xmlns:a16="http://schemas.microsoft.com/office/drawing/2014/main" id="{B543EA06-E5D7-45DC-5A90-B5686ADA31FC}"/>
              </a:ext>
            </a:extLst>
          </p:cNvPr>
          <p:cNvSpPr txBox="1"/>
          <p:nvPr/>
        </p:nvSpPr>
        <p:spPr>
          <a:xfrm>
            <a:off x="5451794" y="6085413"/>
            <a:ext cx="1064914" cy="3693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lvl="0">
              <a:defRPr/>
            </a:pPr>
            <a:r>
              <a:rPr lang="en-US" sz="900" noProof="0" dirty="0">
                <a:solidFill>
                  <a:srgbClr val="000000"/>
                </a:solidFill>
                <a:latin typeface="+mj-lt"/>
              </a:rPr>
              <a:t>GitHub Enterprise Importer (GEI)</a:t>
            </a:r>
          </a:p>
        </p:txBody>
      </p:sp>
      <p:sp>
        <p:nvSpPr>
          <p:cNvPr id="89" name="TextBox 88">
            <a:extLst>
              <a:ext uri="{FF2B5EF4-FFF2-40B4-BE49-F238E27FC236}">
                <a16:creationId xmlns:a16="http://schemas.microsoft.com/office/drawing/2014/main" id="{DE3E6D73-87B8-E9DA-DD87-EA9880E0C44F}"/>
              </a:ext>
            </a:extLst>
          </p:cNvPr>
          <p:cNvSpPr txBox="1"/>
          <p:nvPr/>
        </p:nvSpPr>
        <p:spPr>
          <a:xfrm>
            <a:off x="607760" y="6070728"/>
            <a:ext cx="1170623" cy="475211"/>
          </a:xfrm>
          <a:prstGeom prst="roundRect">
            <a:avLst>
              <a:gd name="adj" fmla="val 1265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Tool Limitation</a:t>
            </a:r>
          </a:p>
        </p:txBody>
      </p:sp>
      <p:cxnSp>
        <p:nvCxnSpPr>
          <p:cNvPr id="107" name="Straight Connector 106">
            <a:extLst>
              <a:ext uri="{FF2B5EF4-FFF2-40B4-BE49-F238E27FC236}">
                <a16:creationId xmlns:a16="http://schemas.microsoft.com/office/drawing/2014/main" id="{AD6B6FAC-BB2B-5743-3022-CCE17047CC23}"/>
              </a:ext>
              <a:ext uri="{C183D7F6-B498-43B3-948B-1728B52AA6E4}">
                <adec:decorative xmlns:adec="http://schemas.microsoft.com/office/drawing/2017/decorative" val="1"/>
              </a:ext>
            </a:extLst>
          </p:cNvPr>
          <p:cNvCxnSpPr>
            <a:cxnSpLocks/>
          </p:cNvCxnSpPr>
          <p:nvPr/>
        </p:nvCxnSpPr>
        <p:spPr>
          <a:xfrm>
            <a:off x="6608440" y="2250327"/>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F0F5D55-263C-9D1E-C12E-E6A371C924AA}"/>
              </a:ext>
              <a:ext uri="{C183D7F6-B498-43B3-948B-1728B52AA6E4}">
                <adec:decorative xmlns:adec="http://schemas.microsoft.com/office/drawing/2017/decorative" val="1"/>
              </a:ext>
            </a:extLst>
          </p:cNvPr>
          <p:cNvCxnSpPr>
            <a:cxnSpLocks/>
          </p:cNvCxnSpPr>
          <p:nvPr/>
        </p:nvCxnSpPr>
        <p:spPr>
          <a:xfrm>
            <a:off x="6608440" y="2734116"/>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3B9AEEF-EB31-6738-916F-F3E26C3F0EC3}"/>
              </a:ext>
              <a:ext uri="{C183D7F6-B498-43B3-948B-1728B52AA6E4}">
                <adec:decorative xmlns:adec="http://schemas.microsoft.com/office/drawing/2017/decorative" val="1"/>
              </a:ext>
            </a:extLst>
          </p:cNvPr>
          <p:cNvCxnSpPr>
            <a:cxnSpLocks/>
          </p:cNvCxnSpPr>
          <p:nvPr/>
        </p:nvCxnSpPr>
        <p:spPr>
          <a:xfrm>
            <a:off x="6608440" y="3217905"/>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731290C-7F0B-82AD-3E6F-1C26A6BFCC78}"/>
              </a:ext>
              <a:ext uri="{C183D7F6-B498-43B3-948B-1728B52AA6E4}">
                <adec:decorative xmlns:adec="http://schemas.microsoft.com/office/drawing/2017/decorative" val="1"/>
              </a:ext>
            </a:extLst>
          </p:cNvPr>
          <p:cNvCxnSpPr>
            <a:cxnSpLocks/>
          </p:cNvCxnSpPr>
          <p:nvPr/>
        </p:nvCxnSpPr>
        <p:spPr>
          <a:xfrm>
            <a:off x="6608440" y="3563194"/>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112FE5D2-FBAA-08C8-A4AA-A37C2F019687}"/>
              </a:ext>
              <a:ext uri="{C183D7F6-B498-43B3-948B-1728B52AA6E4}">
                <adec:decorative xmlns:adec="http://schemas.microsoft.com/office/drawing/2017/decorative" val="1"/>
              </a:ext>
            </a:extLst>
          </p:cNvPr>
          <p:cNvCxnSpPr>
            <a:cxnSpLocks/>
          </p:cNvCxnSpPr>
          <p:nvPr/>
        </p:nvCxnSpPr>
        <p:spPr>
          <a:xfrm>
            <a:off x="6608440" y="4046983"/>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504B6E7B-3363-0164-24ED-05630DDB0872}"/>
              </a:ext>
              <a:ext uri="{C183D7F6-B498-43B3-948B-1728B52AA6E4}">
                <adec:decorative xmlns:adec="http://schemas.microsoft.com/office/drawing/2017/decorative" val="1"/>
              </a:ext>
            </a:extLst>
          </p:cNvPr>
          <p:cNvCxnSpPr>
            <a:cxnSpLocks/>
          </p:cNvCxnSpPr>
          <p:nvPr/>
        </p:nvCxnSpPr>
        <p:spPr>
          <a:xfrm>
            <a:off x="6608440" y="4669271"/>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6E6CBE7-5517-ECF5-8409-C3EE6439843E}"/>
              </a:ext>
              <a:ext uri="{C183D7F6-B498-43B3-948B-1728B52AA6E4}">
                <adec:decorative xmlns:adec="http://schemas.microsoft.com/office/drawing/2017/decorative" val="1"/>
              </a:ext>
            </a:extLst>
          </p:cNvPr>
          <p:cNvCxnSpPr>
            <a:cxnSpLocks/>
          </p:cNvCxnSpPr>
          <p:nvPr/>
        </p:nvCxnSpPr>
        <p:spPr>
          <a:xfrm>
            <a:off x="6608440" y="5153060"/>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706A7832-F9C3-316F-CCFC-E91F4A692289}"/>
              </a:ext>
              <a:ext uri="{C183D7F6-B498-43B3-948B-1728B52AA6E4}">
                <adec:decorative xmlns:adec="http://schemas.microsoft.com/office/drawing/2017/decorative" val="1"/>
              </a:ext>
            </a:extLst>
          </p:cNvPr>
          <p:cNvCxnSpPr>
            <a:cxnSpLocks/>
          </p:cNvCxnSpPr>
          <p:nvPr/>
        </p:nvCxnSpPr>
        <p:spPr>
          <a:xfrm>
            <a:off x="6608440" y="5636849"/>
            <a:ext cx="2094179" cy="4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6" name="Oval 115">
            <a:extLst>
              <a:ext uri="{FF2B5EF4-FFF2-40B4-BE49-F238E27FC236}">
                <a16:creationId xmlns:a16="http://schemas.microsoft.com/office/drawing/2014/main" id="{0DB65C57-EE1B-AD53-5BE5-47E955756EEF}"/>
              </a:ext>
            </a:extLst>
          </p:cNvPr>
          <p:cNvSpPr/>
          <p:nvPr/>
        </p:nvSpPr>
        <p:spPr bwMode="auto">
          <a:xfrm>
            <a:off x="1902087" y="6136213"/>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7" name="Oval 116">
            <a:extLst>
              <a:ext uri="{FF2B5EF4-FFF2-40B4-BE49-F238E27FC236}">
                <a16:creationId xmlns:a16="http://schemas.microsoft.com/office/drawing/2014/main" id="{070E757B-0CCA-FC14-CE0E-B3A1DF3EE261}"/>
              </a:ext>
            </a:extLst>
          </p:cNvPr>
          <p:cNvSpPr/>
          <p:nvPr/>
        </p:nvSpPr>
        <p:spPr bwMode="auto">
          <a:xfrm>
            <a:off x="5223194" y="6136213"/>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C8F8759-3D67-60B4-471B-BE5879694686}"/>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6" name="TextBox 5">
            <a:extLst>
              <a:ext uri="{FF2B5EF4-FFF2-40B4-BE49-F238E27FC236}">
                <a16:creationId xmlns:a16="http://schemas.microsoft.com/office/drawing/2014/main" id="{B5B33949-2A12-87B8-DD88-9D7B82363363}"/>
              </a:ext>
            </a:extLst>
          </p:cNvPr>
          <p:cNvSpPr txBox="1">
            <a:spLocks/>
          </p:cNvSpPr>
          <p:nvPr/>
        </p:nvSpPr>
        <p:spPr>
          <a:xfrm>
            <a:off x="737719" y="1332447"/>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12" name="TextBox 11">
            <a:extLst>
              <a:ext uri="{FF2B5EF4-FFF2-40B4-BE49-F238E27FC236}">
                <a16:creationId xmlns:a16="http://schemas.microsoft.com/office/drawing/2014/main" id="{FFD5238B-276F-9380-F7A7-2FE0BEFFCEC5}"/>
              </a:ext>
            </a:extLst>
          </p:cNvPr>
          <p:cNvSpPr txBox="1">
            <a:spLocks/>
          </p:cNvSpPr>
          <p:nvPr/>
        </p:nvSpPr>
        <p:spPr>
          <a:xfrm>
            <a:off x="6251893" y="1335584"/>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7" name="TextBox 6">
            <a:extLst>
              <a:ext uri="{FF2B5EF4-FFF2-40B4-BE49-F238E27FC236}">
                <a16:creationId xmlns:a16="http://schemas.microsoft.com/office/drawing/2014/main" id="{C3EBCE19-6183-D666-4B40-4FF0F4F58FFD}"/>
              </a:ext>
            </a:extLst>
          </p:cNvPr>
          <p:cNvSpPr txBox="1"/>
          <p:nvPr/>
        </p:nvSpPr>
        <p:spPr>
          <a:xfrm>
            <a:off x="6320111" y="1658856"/>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8" name="TextBox 17">
            <a:extLst>
              <a:ext uri="{FF2B5EF4-FFF2-40B4-BE49-F238E27FC236}">
                <a16:creationId xmlns:a16="http://schemas.microsoft.com/office/drawing/2014/main" id="{36037B52-E039-EA10-B554-F68EDDA78F0C}"/>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Tree>
    <p:extLst>
      <p:ext uri="{BB962C8B-B14F-4D97-AF65-F5344CB8AC3E}">
        <p14:creationId xmlns:p14="http://schemas.microsoft.com/office/powerpoint/2010/main" val="3355162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31DD1-7EDA-FC00-EE7D-A461B916AA85}"/>
            </a:ext>
          </a:extLst>
        </p:cNvPr>
        <p:cNvGrpSpPr/>
        <p:nvPr/>
      </p:nvGrpSpPr>
      <p:grpSpPr>
        <a:xfrm>
          <a:off x="0" y="0"/>
          <a:ext cx="0" cy="0"/>
          <a:chOff x="0" y="0"/>
          <a:chExt cx="0" cy="0"/>
        </a:xfrm>
      </p:grpSpPr>
      <p:sp>
        <p:nvSpPr>
          <p:cNvPr id="77" name="Rounded Rectangle 55">
            <a:extLst>
              <a:ext uri="{FF2B5EF4-FFF2-40B4-BE49-F238E27FC236}">
                <a16:creationId xmlns:a16="http://schemas.microsoft.com/office/drawing/2014/main" id="{13D408A3-DB97-7918-EAF9-0056D455AB43}"/>
              </a:ext>
              <a:ext uri="{C183D7F6-B498-43B3-948B-1728B52AA6E4}">
                <adec:decorative xmlns:adec="http://schemas.microsoft.com/office/drawing/2017/decorative" val="1"/>
              </a:ext>
            </a:extLst>
          </p:cNvPr>
          <p:cNvSpPr>
            <a:spLocks/>
          </p:cNvSpPr>
          <p:nvPr/>
        </p:nvSpPr>
        <p:spPr bwMode="auto">
          <a:xfrm>
            <a:off x="586740" y="1272541"/>
            <a:ext cx="5453761" cy="4008609"/>
          </a:xfrm>
          <a:prstGeom prst="roundRect">
            <a:avLst>
              <a:gd name="adj" fmla="val 2788"/>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75" name="Rounded Rectangle 55">
            <a:extLst>
              <a:ext uri="{FF2B5EF4-FFF2-40B4-BE49-F238E27FC236}">
                <a16:creationId xmlns:a16="http://schemas.microsoft.com/office/drawing/2014/main" id="{BA148A76-6167-BCCD-E4E3-B4EDACC83935}"/>
              </a:ext>
              <a:ext uri="{C183D7F6-B498-43B3-948B-1728B52AA6E4}">
                <adec:decorative xmlns:adec="http://schemas.microsoft.com/office/drawing/2017/decorative" val="1"/>
              </a:ext>
            </a:extLst>
          </p:cNvPr>
          <p:cNvSpPr>
            <a:spLocks/>
          </p:cNvSpPr>
          <p:nvPr/>
        </p:nvSpPr>
        <p:spPr bwMode="auto">
          <a:xfrm>
            <a:off x="6150229" y="1272541"/>
            <a:ext cx="5453761" cy="4008609"/>
          </a:xfrm>
          <a:prstGeom prst="roundRect">
            <a:avLst>
              <a:gd name="adj" fmla="val 2788"/>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7" name="TextBox 26">
            <a:extLst>
              <a:ext uri="{FF2B5EF4-FFF2-40B4-BE49-F238E27FC236}">
                <a16:creationId xmlns:a16="http://schemas.microsoft.com/office/drawing/2014/main" id="{E603A161-A7D8-E166-E9FC-6A9FA4AD9F66}"/>
              </a:ext>
            </a:extLst>
          </p:cNvPr>
          <p:cNvSpPr txBox="1"/>
          <p:nvPr/>
        </p:nvSpPr>
        <p:spPr>
          <a:xfrm>
            <a:off x="586740" y="5472325"/>
            <a:ext cx="1170623" cy="574654"/>
          </a:xfrm>
          <a:prstGeom prst="roundRect">
            <a:avLst>
              <a:gd name="adj" fmla="val 13352"/>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100" noProof="0" dirty="0"/>
              <a:t>Dependencies</a:t>
            </a:r>
          </a:p>
        </p:txBody>
      </p:sp>
      <p:sp>
        <p:nvSpPr>
          <p:cNvPr id="29" name="TextBox 28">
            <a:extLst>
              <a:ext uri="{FF2B5EF4-FFF2-40B4-BE49-F238E27FC236}">
                <a16:creationId xmlns:a16="http://schemas.microsoft.com/office/drawing/2014/main" id="{25FA96E0-3F2B-3774-19A2-DFA1DEA5F1E3}"/>
              </a:ext>
            </a:extLst>
          </p:cNvPr>
          <p:cNvSpPr txBox="1"/>
          <p:nvPr/>
        </p:nvSpPr>
        <p:spPr>
          <a:xfrm>
            <a:off x="5080033" y="5528820"/>
            <a:ext cx="16269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ea typeface="+mn-ea"/>
                <a:cs typeface="+mn-cs"/>
              </a:rPr>
              <a:t>Docker gl-exporter image (build from dockerfile/ pull from registry</a:t>
            </a:r>
          </a:p>
        </p:txBody>
      </p:sp>
      <p:sp>
        <p:nvSpPr>
          <p:cNvPr id="28" name="TextBox 27">
            <a:extLst>
              <a:ext uri="{FF2B5EF4-FFF2-40B4-BE49-F238E27FC236}">
                <a16:creationId xmlns:a16="http://schemas.microsoft.com/office/drawing/2014/main" id="{6D4F16FE-6DFC-00CB-1E31-F9566E03DDAD}"/>
              </a:ext>
            </a:extLst>
          </p:cNvPr>
          <p:cNvSpPr txBox="1"/>
          <p:nvPr/>
        </p:nvSpPr>
        <p:spPr>
          <a:xfrm>
            <a:off x="1994353" y="5528820"/>
            <a:ext cx="117062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ea typeface="+mn-ea"/>
                <a:cs typeface="+mn-cs"/>
              </a:rPr>
              <a:t>Ubuntu VM with internet access</a:t>
            </a:r>
          </a:p>
        </p:txBody>
      </p:sp>
      <p:sp>
        <p:nvSpPr>
          <p:cNvPr id="30" name="TextBox 29">
            <a:extLst>
              <a:ext uri="{FF2B5EF4-FFF2-40B4-BE49-F238E27FC236}">
                <a16:creationId xmlns:a16="http://schemas.microsoft.com/office/drawing/2014/main" id="{CB07FA4E-7A24-88D6-9193-578E1A56D87F}"/>
              </a:ext>
            </a:extLst>
          </p:cNvPr>
          <p:cNvSpPr txBox="1"/>
          <p:nvPr/>
        </p:nvSpPr>
        <p:spPr>
          <a:xfrm>
            <a:off x="6943938" y="5528820"/>
            <a:ext cx="14410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ea typeface="+mn-ea"/>
                <a:cs typeface="+mn-cs"/>
              </a:rPr>
              <a:t>Availability of migration scripts from external repository</a:t>
            </a:r>
          </a:p>
        </p:txBody>
      </p:sp>
      <p:sp>
        <p:nvSpPr>
          <p:cNvPr id="31" name="TextBox 30">
            <a:extLst>
              <a:ext uri="{FF2B5EF4-FFF2-40B4-BE49-F238E27FC236}">
                <a16:creationId xmlns:a16="http://schemas.microsoft.com/office/drawing/2014/main" id="{9E607EBF-7078-D001-362C-A41B287B99A3}"/>
              </a:ext>
            </a:extLst>
          </p:cNvPr>
          <p:cNvSpPr txBox="1"/>
          <p:nvPr/>
        </p:nvSpPr>
        <p:spPr>
          <a:xfrm>
            <a:off x="8622004" y="5528820"/>
            <a:ext cx="13039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ea typeface="+mn-ea"/>
                <a:cs typeface="+mn-cs"/>
              </a:rPr>
              <a:t>Node.js with npm packages for executing migration</a:t>
            </a:r>
          </a:p>
        </p:txBody>
      </p:sp>
      <p:sp>
        <p:nvSpPr>
          <p:cNvPr id="32" name="TextBox 31">
            <a:extLst>
              <a:ext uri="{FF2B5EF4-FFF2-40B4-BE49-F238E27FC236}">
                <a16:creationId xmlns:a16="http://schemas.microsoft.com/office/drawing/2014/main" id="{AC46E8FC-2925-A1D6-4DA4-E92251860CF0}"/>
              </a:ext>
            </a:extLst>
          </p:cNvPr>
          <p:cNvSpPr txBox="1"/>
          <p:nvPr/>
        </p:nvSpPr>
        <p:spPr>
          <a:xfrm>
            <a:off x="10162914" y="5528820"/>
            <a:ext cx="14410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ea typeface="+mn-ea"/>
                <a:cs typeface="+mn-cs"/>
              </a:rPr>
              <a:t>GH Cli and extensions gh-GitLab-stats, gh-migration-monitor, gh-ado2gh</a:t>
            </a:r>
          </a:p>
        </p:txBody>
      </p:sp>
      <p:sp>
        <p:nvSpPr>
          <p:cNvPr id="33" name="TextBox 32">
            <a:extLst>
              <a:ext uri="{FF2B5EF4-FFF2-40B4-BE49-F238E27FC236}">
                <a16:creationId xmlns:a16="http://schemas.microsoft.com/office/drawing/2014/main" id="{5DDD1CD7-057F-8AD0-03BB-2CED123855B4}"/>
              </a:ext>
            </a:extLst>
          </p:cNvPr>
          <p:cNvSpPr txBox="1"/>
          <p:nvPr/>
        </p:nvSpPr>
        <p:spPr>
          <a:xfrm>
            <a:off x="3401967" y="5528820"/>
            <a:ext cx="144107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ea typeface="+mn-ea"/>
                <a:cs typeface="+mn-cs"/>
              </a:rPr>
              <a:t>Object Storage flag to be enabled in GitHub</a:t>
            </a:r>
          </a:p>
        </p:txBody>
      </p:sp>
      <p:sp>
        <p:nvSpPr>
          <p:cNvPr id="34" name="Oval 33">
            <a:extLst>
              <a:ext uri="{FF2B5EF4-FFF2-40B4-BE49-F238E27FC236}">
                <a16:creationId xmlns:a16="http://schemas.microsoft.com/office/drawing/2014/main" id="{7596606F-33D8-2773-94B0-F40AD69796C7}"/>
              </a:ext>
            </a:extLst>
          </p:cNvPr>
          <p:cNvSpPr/>
          <p:nvPr/>
        </p:nvSpPr>
        <p:spPr bwMode="auto">
          <a:xfrm>
            <a:off x="3214892" y="5581208"/>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5" name="Oval 34">
            <a:extLst>
              <a:ext uri="{FF2B5EF4-FFF2-40B4-BE49-F238E27FC236}">
                <a16:creationId xmlns:a16="http://schemas.microsoft.com/office/drawing/2014/main" id="{5EF6D9E8-A85E-A4DD-4378-94D1B2F9A25C}"/>
              </a:ext>
            </a:extLst>
          </p:cNvPr>
          <p:cNvSpPr/>
          <p:nvPr/>
        </p:nvSpPr>
        <p:spPr bwMode="auto">
          <a:xfrm>
            <a:off x="1807278" y="5581208"/>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9704E6FD-7B27-0548-7601-1FC704C36940}"/>
              </a:ext>
            </a:extLst>
          </p:cNvPr>
          <p:cNvSpPr/>
          <p:nvPr/>
        </p:nvSpPr>
        <p:spPr bwMode="auto">
          <a:xfrm>
            <a:off x="6756863" y="5581208"/>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7" name="Oval 36">
            <a:extLst>
              <a:ext uri="{FF2B5EF4-FFF2-40B4-BE49-F238E27FC236}">
                <a16:creationId xmlns:a16="http://schemas.microsoft.com/office/drawing/2014/main" id="{B2D719FA-7D67-DCB5-05BD-7B8E2A245B39}"/>
              </a:ext>
            </a:extLst>
          </p:cNvPr>
          <p:cNvSpPr/>
          <p:nvPr/>
        </p:nvSpPr>
        <p:spPr bwMode="auto">
          <a:xfrm>
            <a:off x="4892958" y="5581208"/>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8" name="Oval 37">
            <a:extLst>
              <a:ext uri="{FF2B5EF4-FFF2-40B4-BE49-F238E27FC236}">
                <a16:creationId xmlns:a16="http://schemas.microsoft.com/office/drawing/2014/main" id="{6BE32F4D-29AC-B088-6BA2-B079AA5A5379}"/>
              </a:ext>
            </a:extLst>
          </p:cNvPr>
          <p:cNvSpPr/>
          <p:nvPr/>
        </p:nvSpPr>
        <p:spPr bwMode="auto">
          <a:xfrm>
            <a:off x="8434929" y="5581208"/>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0" name="Oval 39">
            <a:extLst>
              <a:ext uri="{FF2B5EF4-FFF2-40B4-BE49-F238E27FC236}">
                <a16:creationId xmlns:a16="http://schemas.microsoft.com/office/drawing/2014/main" id="{887482AC-949C-ED76-0994-A0B9E1740B75}"/>
              </a:ext>
            </a:extLst>
          </p:cNvPr>
          <p:cNvSpPr/>
          <p:nvPr/>
        </p:nvSpPr>
        <p:spPr bwMode="auto">
          <a:xfrm>
            <a:off x="9975835" y="5581208"/>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1" name="TextBox 40">
            <a:extLst>
              <a:ext uri="{FF2B5EF4-FFF2-40B4-BE49-F238E27FC236}">
                <a16:creationId xmlns:a16="http://schemas.microsoft.com/office/drawing/2014/main" id="{8BA3B988-2571-0B47-FDE4-F06AE72F1241}"/>
              </a:ext>
            </a:extLst>
          </p:cNvPr>
          <p:cNvSpPr txBox="1"/>
          <p:nvPr/>
        </p:nvSpPr>
        <p:spPr>
          <a:xfrm>
            <a:off x="586740" y="6166743"/>
            <a:ext cx="1170623" cy="475211"/>
          </a:xfrm>
          <a:prstGeom prst="roundRect">
            <a:avLst>
              <a:gd name="adj" fmla="val 1265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Tool Limitation</a:t>
            </a:r>
          </a:p>
        </p:txBody>
      </p:sp>
      <p:sp>
        <p:nvSpPr>
          <p:cNvPr id="73" name="Title 75">
            <a:extLst>
              <a:ext uri="{FF2B5EF4-FFF2-40B4-BE49-F238E27FC236}">
                <a16:creationId xmlns:a16="http://schemas.microsoft.com/office/drawing/2014/main" id="{0274DB5A-C774-04A9-5762-BC5916D3E547}"/>
              </a:ext>
            </a:extLst>
          </p:cNvPr>
          <p:cNvSpPr txBox="1">
            <a:spLocks noGrp="1"/>
          </p:cNvSpPr>
          <p:nvPr>
            <p:ph type="title" idx="4294967295"/>
          </p:nvPr>
        </p:nvSpPr>
        <p:spPr>
          <a:xfrm>
            <a:off x="586739" y="725278"/>
            <a:ext cx="8331835" cy="4308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GitLab Server to GitHub Migration</a:t>
            </a:r>
          </a:p>
        </p:txBody>
      </p:sp>
      <p:sp>
        <p:nvSpPr>
          <p:cNvPr id="78" name="Oval 77">
            <a:extLst>
              <a:ext uri="{FF2B5EF4-FFF2-40B4-BE49-F238E27FC236}">
                <a16:creationId xmlns:a16="http://schemas.microsoft.com/office/drawing/2014/main" id="{12566E03-E5A9-7463-E6CF-BE767EA50031}"/>
              </a:ext>
            </a:extLst>
          </p:cNvPr>
          <p:cNvSpPr/>
          <p:nvPr/>
        </p:nvSpPr>
        <p:spPr bwMode="auto">
          <a:xfrm>
            <a:off x="6320111" y="18756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79" name="Oval 78">
            <a:extLst>
              <a:ext uri="{FF2B5EF4-FFF2-40B4-BE49-F238E27FC236}">
                <a16:creationId xmlns:a16="http://schemas.microsoft.com/office/drawing/2014/main" id="{599B1502-2297-73D1-456A-DDD404C51C09}"/>
              </a:ext>
            </a:extLst>
          </p:cNvPr>
          <p:cNvSpPr/>
          <p:nvPr/>
        </p:nvSpPr>
        <p:spPr bwMode="auto">
          <a:xfrm>
            <a:off x="775653" y="17864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1" name="TextBox 60">
            <a:extLst>
              <a:ext uri="{FF2B5EF4-FFF2-40B4-BE49-F238E27FC236}">
                <a16:creationId xmlns:a16="http://schemas.microsoft.com/office/drawing/2014/main" id="{2FB0091A-95C2-73BB-2661-5517D36187D7}"/>
              </a:ext>
            </a:extLst>
          </p:cNvPr>
          <p:cNvSpPr txBox="1"/>
          <p:nvPr/>
        </p:nvSpPr>
        <p:spPr>
          <a:xfrm>
            <a:off x="6608440" y="1863468"/>
            <a:ext cx="2404872" cy="415498"/>
          </a:xfrm>
          <a:prstGeom prst="rect">
            <a:avLst/>
          </a:prstGeom>
          <a:noFill/>
        </p:spPr>
        <p:txBody>
          <a:bodyPr wrap="square" lIns="0" tIns="0" rIns="0" bIns="0">
            <a:spAutoFit/>
          </a:bodyPr>
          <a:lstStyle/>
          <a:p>
            <a:pPr marL="0" lvl="1">
              <a:spcAft>
                <a:spcPts val="600"/>
              </a:spcAft>
              <a:defRPr/>
            </a:pPr>
            <a:r>
              <a:rPr lang="en-US" sz="900" kern="0" noProof="0" dirty="0"/>
              <a:t>Anything other than Repos (Pipelines, Permissions, issues, wikis, package registry, etc..)</a:t>
            </a:r>
          </a:p>
        </p:txBody>
      </p:sp>
      <p:sp>
        <p:nvSpPr>
          <p:cNvPr id="169" name="TextBox 168">
            <a:extLst>
              <a:ext uri="{FF2B5EF4-FFF2-40B4-BE49-F238E27FC236}">
                <a16:creationId xmlns:a16="http://schemas.microsoft.com/office/drawing/2014/main" id="{93D56415-159E-8E7C-357A-26C7B4664813}"/>
              </a:ext>
            </a:extLst>
          </p:cNvPr>
          <p:cNvSpPr txBox="1"/>
          <p:nvPr/>
        </p:nvSpPr>
        <p:spPr>
          <a:xfrm>
            <a:off x="1044951" y="1786465"/>
            <a:ext cx="4910328" cy="318036"/>
          </a:xfrm>
          <a:prstGeom prst="rect">
            <a:avLst/>
          </a:prstGeom>
          <a:noFill/>
        </p:spPr>
        <p:txBody>
          <a:bodyPr wrap="square" lIns="0" tIns="0" rIns="0" bIns="0">
            <a:spAutoFit/>
          </a:bodyPr>
          <a:lstStyle/>
          <a:p>
            <a:pPr lvl="0">
              <a:spcAft>
                <a:spcPts val="200"/>
              </a:spcAft>
              <a:defRPr/>
            </a:pPr>
            <a:r>
              <a:rPr lang="en-US" sz="1000" kern="0" noProof="0" dirty="0">
                <a:latin typeface="+mj-lt"/>
              </a:rPr>
              <a:t>Scenario:</a:t>
            </a:r>
          </a:p>
          <a:p>
            <a:pPr marL="193675" lvl="0" indent="-123825">
              <a:spcAft>
                <a:spcPts val="200"/>
              </a:spcAft>
              <a:buFont typeface="Arial" panose="020B0604020202020204" pitchFamily="34" charset="0"/>
              <a:buChar char="•"/>
              <a:tabLst>
                <a:tab pos="171450" algn="l"/>
              </a:tabLst>
              <a:defRPr/>
            </a:pPr>
            <a:r>
              <a:rPr lang="en-US" sz="900" kern="0" noProof="0" dirty="0"/>
              <a:t>Repository Migration from GitLab Server (On-Premise) to GitHub</a:t>
            </a:r>
            <a:endParaRPr lang="en-US" sz="900" noProof="0" dirty="0">
              <a:cs typeface="Segoe UI"/>
            </a:endParaRPr>
          </a:p>
        </p:txBody>
      </p:sp>
      <p:sp>
        <p:nvSpPr>
          <p:cNvPr id="98" name="Oval 97">
            <a:extLst>
              <a:ext uri="{FF2B5EF4-FFF2-40B4-BE49-F238E27FC236}">
                <a16:creationId xmlns:a16="http://schemas.microsoft.com/office/drawing/2014/main" id="{6532ABFA-82DC-9C04-603A-0B6F7A8401FB}"/>
              </a:ext>
            </a:extLst>
          </p:cNvPr>
          <p:cNvSpPr/>
          <p:nvPr/>
        </p:nvSpPr>
        <p:spPr bwMode="auto">
          <a:xfrm>
            <a:off x="9072891" y="187755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4" name="TextBox 23">
            <a:extLst>
              <a:ext uri="{FF2B5EF4-FFF2-40B4-BE49-F238E27FC236}">
                <a16:creationId xmlns:a16="http://schemas.microsoft.com/office/drawing/2014/main" id="{13D89AFA-2E2B-54B3-8FE3-9663FBB63A99}"/>
              </a:ext>
            </a:extLst>
          </p:cNvPr>
          <p:cNvSpPr txBox="1"/>
          <p:nvPr/>
        </p:nvSpPr>
        <p:spPr>
          <a:xfrm>
            <a:off x="9361221" y="1863468"/>
            <a:ext cx="2150999" cy="2769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Testing of source code in the target system</a:t>
            </a:r>
            <a:endParaRPr lang="en-US" sz="900" noProof="0" dirty="0"/>
          </a:p>
        </p:txBody>
      </p:sp>
      <p:sp>
        <p:nvSpPr>
          <p:cNvPr id="172" name="TextBox 171">
            <a:extLst>
              <a:ext uri="{FF2B5EF4-FFF2-40B4-BE49-F238E27FC236}">
                <a16:creationId xmlns:a16="http://schemas.microsoft.com/office/drawing/2014/main" id="{9C998BFB-DB1C-0299-68F1-48B30BF7FD8B}"/>
              </a:ext>
            </a:extLst>
          </p:cNvPr>
          <p:cNvSpPr txBox="1"/>
          <p:nvPr/>
        </p:nvSpPr>
        <p:spPr>
          <a:xfrm>
            <a:off x="1044951" y="2243725"/>
            <a:ext cx="4910328" cy="482183"/>
          </a:xfrm>
          <a:prstGeom prst="rect">
            <a:avLst/>
          </a:prstGeom>
          <a:noFill/>
        </p:spPr>
        <p:txBody>
          <a:bodyPr wrap="square" lIns="0" tIns="0" rIns="0" bIns="0">
            <a:spAutoFit/>
          </a:bodyPr>
          <a:lstStyle/>
          <a:p>
            <a:pPr lvl="0">
              <a:spcAft>
                <a:spcPts val="200"/>
              </a:spcAft>
              <a:defRPr/>
            </a:pPr>
            <a:r>
              <a:rPr lang="en-US" sz="1000" kern="0" noProof="0" dirty="0">
                <a:latin typeface="+mj-lt"/>
              </a:rPr>
              <a:t>Artifacts Migrated:</a:t>
            </a:r>
          </a:p>
          <a:p>
            <a:pPr marL="193675" lvl="0" indent="-122238">
              <a:spcAft>
                <a:spcPts val="200"/>
              </a:spcAft>
              <a:buFont typeface="Arial" panose="020B0604020202020204" pitchFamily="34" charset="0"/>
              <a:buChar char="•"/>
              <a:defRPr/>
            </a:pPr>
            <a:r>
              <a:rPr lang="en-US" sz="900" kern="0" noProof="0" dirty="0"/>
              <a:t>Repository – Commits, Branches, History and Tags</a:t>
            </a:r>
          </a:p>
          <a:p>
            <a:pPr marL="193675" lvl="0" indent="-122238">
              <a:spcAft>
                <a:spcPts val="200"/>
              </a:spcAft>
              <a:buFont typeface="Arial" panose="020B0604020202020204" pitchFamily="34" charset="0"/>
              <a:buChar char="•"/>
              <a:defRPr/>
            </a:pPr>
            <a:r>
              <a:rPr lang="en-US" sz="900" kern="0" noProof="0" dirty="0"/>
              <a:t>Pull Requests – Open/Closed PRs, Comments, Reviews</a:t>
            </a:r>
            <a:endParaRPr lang="en-US" sz="900" noProof="0" dirty="0">
              <a:cs typeface="Segoe UI"/>
            </a:endParaRPr>
          </a:p>
        </p:txBody>
      </p:sp>
      <p:sp>
        <p:nvSpPr>
          <p:cNvPr id="175" name="TextBox 174">
            <a:extLst>
              <a:ext uri="{FF2B5EF4-FFF2-40B4-BE49-F238E27FC236}">
                <a16:creationId xmlns:a16="http://schemas.microsoft.com/office/drawing/2014/main" id="{2B14BB98-D71B-DF24-9B4E-F1C981A83CFE}"/>
              </a:ext>
            </a:extLst>
          </p:cNvPr>
          <p:cNvSpPr txBox="1"/>
          <p:nvPr/>
        </p:nvSpPr>
        <p:spPr>
          <a:xfrm>
            <a:off x="1044951" y="2865132"/>
            <a:ext cx="4910328" cy="482183"/>
          </a:xfrm>
          <a:prstGeom prst="rect">
            <a:avLst/>
          </a:prstGeom>
          <a:noFill/>
        </p:spPr>
        <p:txBody>
          <a:bodyPr wrap="square" lIns="0" tIns="0" rIns="0" bIns="0">
            <a:spAutoFit/>
          </a:bodyPr>
          <a:lstStyle/>
          <a:p>
            <a:pPr lvl="0">
              <a:spcAft>
                <a:spcPts val="200"/>
              </a:spcAft>
              <a:defRPr/>
            </a:pPr>
            <a:r>
              <a:rPr lang="en-US" sz="1000" kern="0" noProof="0" dirty="0">
                <a:latin typeface="+mj-lt"/>
              </a:rPr>
              <a:t>Supported Platform</a:t>
            </a:r>
          </a:p>
          <a:p>
            <a:pPr marL="193675" lvl="0" indent="-123825">
              <a:spcAft>
                <a:spcPts val="200"/>
              </a:spcAft>
              <a:buFont typeface="Arial" panose="020B0604020202020204" pitchFamily="34" charset="0"/>
              <a:buChar char="•"/>
              <a:defRPr/>
            </a:pPr>
            <a:r>
              <a:rPr lang="en-US" sz="900" kern="0" noProof="0" dirty="0"/>
              <a:t>Source: GitLab Server (On-Premise)</a:t>
            </a:r>
          </a:p>
          <a:p>
            <a:pPr marL="193675" lvl="0" indent="-123825">
              <a:spcAft>
                <a:spcPts val="200"/>
              </a:spcAft>
              <a:buFont typeface="Arial" panose="020B0604020202020204" pitchFamily="34" charset="0"/>
              <a:buChar char="•"/>
              <a:defRPr/>
            </a:pPr>
            <a:r>
              <a:rPr lang="en-US" sz="900" kern="0" noProof="0" dirty="0"/>
              <a:t>Target: GitHub Enterprise Cloud/EMU/Data Residency</a:t>
            </a:r>
            <a:endParaRPr lang="en-US" sz="900" noProof="0" dirty="0">
              <a:cs typeface="Segoe UI"/>
            </a:endParaRPr>
          </a:p>
        </p:txBody>
      </p:sp>
      <p:sp>
        <p:nvSpPr>
          <p:cNvPr id="177" name="TextBox 176">
            <a:extLst>
              <a:ext uri="{FF2B5EF4-FFF2-40B4-BE49-F238E27FC236}">
                <a16:creationId xmlns:a16="http://schemas.microsoft.com/office/drawing/2014/main" id="{74026453-98F8-BFB4-1EAA-4A26B98FD591}"/>
              </a:ext>
            </a:extLst>
          </p:cNvPr>
          <p:cNvSpPr txBox="1"/>
          <p:nvPr/>
        </p:nvSpPr>
        <p:spPr>
          <a:xfrm>
            <a:off x="1044951" y="3486539"/>
            <a:ext cx="4910328" cy="318036"/>
          </a:xfrm>
          <a:prstGeom prst="rect">
            <a:avLst/>
          </a:prstGeom>
          <a:noFill/>
        </p:spPr>
        <p:txBody>
          <a:bodyPr wrap="square" lIns="0" tIns="0" rIns="0" bIns="0">
            <a:spAutoFit/>
          </a:bodyPr>
          <a:lstStyle/>
          <a:p>
            <a:pPr lvl="0">
              <a:spcAft>
                <a:spcPts val="200"/>
              </a:spcAft>
              <a:defRPr/>
            </a:pPr>
            <a:r>
              <a:rPr lang="en-US" sz="1000" kern="0" noProof="0" dirty="0">
                <a:latin typeface="+mj-lt"/>
              </a:rPr>
              <a:t>POC: </a:t>
            </a:r>
          </a:p>
          <a:p>
            <a:pPr marL="193675" lvl="0" indent="-123825">
              <a:spcAft>
                <a:spcPts val="200"/>
              </a:spcAft>
              <a:buFont typeface="Arial" panose="020B0604020202020204" pitchFamily="34" charset="0"/>
              <a:buChar char="•"/>
              <a:defRPr/>
            </a:pPr>
            <a:r>
              <a:rPr lang="en-US" sz="900" kern="0" noProof="0" dirty="0"/>
              <a:t>Demonstrate the migration process and its key steps</a:t>
            </a:r>
            <a:endParaRPr lang="en-US" sz="900" noProof="0" dirty="0">
              <a:cs typeface="Segoe UI"/>
            </a:endParaRPr>
          </a:p>
        </p:txBody>
      </p:sp>
      <p:sp>
        <p:nvSpPr>
          <p:cNvPr id="182" name="TextBox 181">
            <a:extLst>
              <a:ext uri="{FF2B5EF4-FFF2-40B4-BE49-F238E27FC236}">
                <a16:creationId xmlns:a16="http://schemas.microsoft.com/office/drawing/2014/main" id="{6263CFF5-F2E7-24AE-8D7D-F9DE89A7D9DF}"/>
              </a:ext>
            </a:extLst>
          </p:cNvPr>
          <p:cNvSpPr txBox="1"/>
          <p:nvPr/>
        </p:nvSpPr>
        <p:spPr>
          <a:xfrm>
            <a:off x="1044951" y="3943799"/>
            <a:ext cx="4910328" cy="810478"/>
          </a:xfrm>
          <a:prstGeom prst="rect">
            <a:avLst/>
          </a:prstGeom>
          <a:noFill/>
        </p:spPr>
        <p:txBody>
          <a:bodyPr wrap="square" lIns="0" tIns="0" rIns="0" bIns="0">
            <a:spAutoFit/>
          </a:bodyPr>
          <a:lstStyle/>
          <a:p>
            <a:pPr lvl="0">
              <a:spcAft>
                <a:spcPts val="200"/>
              </a:spcAft>
              <a:defRPr/>
            </a:pPr>
            <a:r>
              <a:rPr lang="en-US" sz="1000" kern="0" noProof="0" dirty="0">
                <a:latin typeface="+mj-lt"/>
              </a:rPr>
              <a:t>Execution: </a:t>
            </a:r>
          </a:p>
          <a:p>
            <a:pPr marL="193675" lvl="0" indent="-123825">
              <a:spcAft>
                <a:spcPts val="200"/>
              </a:spcAft>
              <a:buFont typeface="Arial" panose="020B0604020202020204" pitchFamily="34" charset="0"/>
              <a:buChar char="•"/>
              <a:defRPr/>
            </a:pPr>
            <a:r>
              <a:rPr lang="en-US" sz="900" kern="0" noProof="0" dirty="0"/>
              <a:t>Perform repository migration (Supported Repos sizes)</a:t>
            </a:r>
          </a:p>
          <a:p>
            <a:pPr marL="193675" lvl="0" indent="-123825">
              <a:spcAft>
                <a:spcPts val="200"/>
              </a:spcAft>
              <a:buFont typeface="Arial" panose="020B0604020202020204" pitchFamily="34" charset="0"/>
              <a:buChar char="•"/>
              <a:defRPr/>
            </a:pPr>
            <a:r>
              <a:rPr lang="en-US" sz="900" kern="0" noProof="0" dirty="0"/>
              <a:t>Monitor the migration progress</a:t>
            </a:r>
          </a:p>
          <a:p>
            <a:pPr marL="193675" lvl="0" indent="-123825">
              <a:spcAft>
                <a:spcPts val="200"/>
              </a:spcAft>
              <a:buFont typeface="Arial" panose="020B0604020202020204" pitchFamily="34" charset="0"/>
              <a:buChar char="•"/>
              <a:defRPr/>
            </a:pPr>
            <a:r>
              <a:rPr lang="en-US" sz="900" kern="0" noProof="0" dirty="0"/>
              <a:t>Basic validation of source &amp; target repository </a:t>
            </a:r>
          </a:p>
          <a:p>
            <a:pPr marL="193675" lvl="0" indent="-123825">
              <a:spcAft>
                <a:spcPts val="200"/>
              </a:spcAft>
              <a:buFont typeface="Arial" panose="020B0604020202020204" pitchFamily="34" charset="0"/>
              <a:buChar char="•"/>
              <a:defRPr/>
            </a:pPr>
            <a:r>
              <a:rPr lang="en-US" sz="900" kern="0" noProof="0" dirty="0"/>
              <a:t>Mannequin reclamation</a:t>
            </a:r>
            <a:endParaRPr lang="en-US" sz="900" noProof="0" dirty="0">
              <a:cs typeface="Segoe UI"/>
            </a:endParaRPr>
          </a:p>
        </p:txBody>
      </p:sp>
      <p:sp>
        <p:nvSpPr>
          <p:cNvPr id="183" name="TextBox 182">
            <a:extLst>
              <a:ext uri="{FF2B5EF4-FFF2-40B4-BE49-F238E27FC236}">
                <a16:creationId xmlns:a16="http://schemas.microsoft.com/office/drawing/2014/main" id="{1D964DA9-EFC8-9C5C-70FC-59E0CAB7E11A}"/>
              </a:ext>
            </a:extLst>
          </p:cNvPr>
          <p:cNvSpPr txBox="1"/>
          <p:nvPr/>
        </p:nvSpPr>
        <p:spPr>
          <a:xfrm>
            <a:off x="1044951" y="4893501"/>
            <a:ext cx="4910328" cy="318036"/>
          </a:xfrm>
          <a:prstGeom prst="rect">
            <a:avLst/>
          </a:prstGeom>
          <a:noFill/>
        </p:spPr>
        <p:txBody>
          <a:bodyPr wrap="square" lIns="0" tIns="0" rIns="0" bIns="0">
            <a:spAutoFit/>
          </a:bodyPr>
          <a:lstStyle/>
          <a:p>
            <a:pPr lvl="0">
              <a:spcAft>
                <a:spcPts val="200"/>
              </a:spcAft>
              <a:defRPr/>
            </a:pPr>
            <a:r>
              <a:rPr lang="en-US" sz="1000" kern="0" noProof="0" dirty="0">
                <a:latin typeface="+mj-lt"/>
              </a:rPr>
              <a:t>Signoff </a:t>
            </a:r>
          </a:p>
          <a:p>
            <a:pPr marL="193675" lvl="0" indent="-123825">
              <a:spcAft>
                <a:spcPts val="200"/>
              </a:spcAft>
              <a:buFont typeface="Arial" panose="020B0604020202020204" pitchFamily="34" charset="0"/>
              <a:buChar char="•"/>
              <a:defRPr/>
            </a:pPr>
            <a:r>
              <a:rPr lang="en-US" sz="900" kern="0" noProof="0" dirty="0"/>
              <a:t>Discuss the migration with the customer and finalize their sign‑off.</a:t>
            </a:r>
            <a:endParaRPr lang="en-US" sz="900" noProof="0" dirty="0">
              <a:cs typeface="Segoe UI"/>
            </a:endParaRPr>
          </a:p>
        </p:txBody>
      </p:sp>
      <p:cxnSp>
        <p:nvCxnSpPr>
          <p:cNvPr id="187" name="Straight Connector 186">
            <a:extLst>
              <a:ext uri="{FF2B5EF4-FFF2-40B4-BE49-F238E27FC236}">
                <a16:creationId xmlns:a16="http://schemas.microsoft.com/office/drawing/2014/main" id="{B966A62E-38E6-D324-E746-A868436727D3}"/>
              </a:ext>
              <a:ext uri="{C183D7F6-B498-43B3-948B-1728B52AA6E4}">
                <adec:decorative xmlns:adec="http://schemas.microsoft.com/office/drawing/2017/decorative" val="1"/>
              </a:ext>
            </a:extLst>
          </p:cNvPr>
          <p:cNvCxnSpPr>
            <a:cxnSpLocks/>
          </p:cNvCxnSpPr>
          <p:nvPr/>
        </p:nvCxnSpPr>
        <p:spPr>
          <a:xfrm>
            <a:off x="1044951" y="279552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9AD5895-7839-5075-CC58-C5DE27CA030E}"/>
              </a:ext>
              <a:ext uri="{C183D7F6-B498-43B3-948B-1728B52AA6E4}">
                <adec:decorative xmlns:adec="http://schemas.microsoft.com/office/drawing/2017/decorative" val="1"/>
              </a:ext>
            </a:extLst>
          </p:cNvPr>
          <p:cNvCxnSpPr>
            <a:cxnSpLocks/>
          </p:cNvCxnSpPr>
          <p:nvPr/>
        </p:nvCxnSpPr>
        <p:spPr>
          <a:xfrm>
            <a:off x="1044951" y="217411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4071B8F2-D90E-9E29-1826-1829176FFACF}"/>
              </a:ext>
              <a:ext uri="{C183D7F6-B498-43B3-948B-1728B52AA6E4}">
                <adec:decorative xmlns:adec="http://schemas.microsoft.com/office/drawing/2017/decorative" val="1"/>
              </a:ext>
            </a:extLst>
          </p:cNvPr>
          <p:cNvCxnSpPr>
            <a:cxnSpLocks/>
          </p:cNvCxnSpPr>
          <p:nvPr/>
        </p:nvCxnSpPr>
        <p:spPr>
          <a:xfrm>
            <a:off x="1044951" y="341692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72127D1B-C035-C5E1-7D00-69BE64E9D51B}"/>
              </a:ext>
              <a:ext uri="{C183D7F6-B498-43B3-948B-1728B52AA6E4}">
                <adec:decorative xmlns:adec="http://schemas.microsoft.com/office/drawing/2017/decorative" val="1"/>
              </a:ext>
            </a:extLst>
          </p:cNvPr>
          <p:cNvCxnSpPr>
            <a:cxnSpLocks/>
          </p:cNvCxnSpPr>
          <p:nvPr/>
        </p:nvCxnSpPr>
        <p:spPr>
          <a:xfrm>
            <a:off x="1044951" y="387418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5B9820F0-1FD3-5FD0-A889-EF4946328629}"/>
              </a:ext>
              <a:ext uri="{C183D7F6-B498-43B3-948B-1728B52AA6E4}">
                <adec:decorative xmlns:adec="http://schemas.microsoft.com/office/drawing/2017/decorative" val="1"/>
              </a:ext>
            </a:extLst>
          </p:cNvPr>
          <p:cNvCxnSpPr>
            <a:cxnSpLocks/>
          </p:cNvCxnSpPr>
          <p:nvPr/>
        </p:nvCxnSpPr>
        <p:spPr>
          <a:xfrm>
            <a:off x="1044951" y="482388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521017C-48C3-3B16-6768-859F97CDD8CB}"/>
              </a:ext>
            </a:extLst>
          </p:cNvPr>
          <p:cNvSpPr txBox="1"/>
          <p:nvPr/>
        </p:nvSpPr>
        <p:spPr>
          <a:xfrm>
            <a:off x="9361221" y="2266432"/>
            <a:ext cx="2150999" cy="2769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Testing of application dependencies and functionality</a:t>
            </a:r>
            <a:endParaRPr lang="en-US" sz="900" noProof="0" dirty="0"/>
          </a:p>
        </p:txBody>
      </p:sp>
      <p:sp>
        <p:nvSpPr>
          <p:cNvPr id="48" name="TextBox 47">
            <a:extLst>
              <a:ext uri="{FF2B5EF4-FFF2-40B4-BE49-F238E27FC236}">
                <a16:creationId xmlns:a16="http://schemas.microsoft.com/office/drawing/2014/main" id="{3E3338C4-B525-4ACB-3DF6-B8989BB7805D}"/>
              </a:ext>
            </a:extLst>
          </p:cNvPr>
          <p:cNvSpPr txBox="1"/>
          <p:nvPr/>
        </p:nvSpPr>
        <p:spPr>
          <a:xfrm>
            <a:off x="9361221" y="2669396"/>
            <a:ext cx="2150999" cy="2769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Modifying files or content in the source and target repositories</a:t>
            </a:r>
            <a:endParaRPr lang="en-US" sz="900" noProof="0" dirty="0"/>
          </a:p>
        </p:txBody>
      </p:sp>
      <p:sp>
        <p:nvSpPr>
          <p:cNvPr id="53" name="TextBox 52">
            <a:extLst>
              <a:ext uri="{FF2B5EF4-FFF2-40B4-BE49-F238E27FC236}">
                <a16:creationId xmlns:a16="http://schemas.microsoft.com/office/drawing/2014/main" id="{7566996B-E96B-3782-3A04-CB14A47D9FA1}"/>
              </a:ext>
            </a:extLst>
          </p:cNvPr>
          <p:cNvSpPr txBox="1"/>
          <p:nvPr/>
        </p:nvSpPr>
        <p:spPr>
          <a:xfrm>
            <a:off x="9361221" y="3072360"/>
            <a:ext cx="2150999" cy="1384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Disaster recovery setup, configuration</a:t>
            </a:r>
            <a:endParaRPr lang="en-US" sz="900" noProof="0" dirty="0"/>
          </a:p>
        </p:txBody>
      </p:sp>
      <p:sp>
        <p:nvSpPr>
          <p:cNvPr id="56" name="TextBox 55">
            <a:extLst>
              <a:ext uri="{FF2B5EF4-FFF2-40B4-BE49-F238E27FC236}">
                <a16:creationId xmlns:a16="http://schemas.microsoft.com/office/drawing/2014/main" id="{68DB21AD-12E2-5F28-C2BC-48C7D3BD82C1}"/>
              </a:ext>
            </a:extLst>
          </p:cNvPr>
          <p:cNvSpPr txBox="1"/>
          <p:nvPr/>
        </p:nvSpPr>
        <p:spPr>
          <a:xfrm>
            <a:off x="9361221" y="3336824"/>
            <a:ext cx="2150999" cy="2769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Any other migration path not listed in the Scope/not supported by migration tool</a:t>
            </a:r>
            <a:endParaRPr lang="en-US" sz="900" noProof="0" dirty="0"/>
          </a:p>
        </p:txBody>
      </p:sp>
      <p:sp>
        <p:nvSpPr>
          <p:cNvPr id="57" name="TextBox 56">
            <a:extLst>
              <a:ext uri="{FF2B5EF4-FFF2-40B4-BE49-F238E27FC236}">
                <a16:creationId xmlns:a16="http://schemas.microsoft.com/office/drawing/2014/main" id="{028EBF00-BD65-E336-C3B3-964978B09356}"/>
              </a:ext>
            </a:extLst>
          </p:cNvPr>
          <p:cNvSpPr txBox="1"/>
          <p:nvPr/>
        </p:nvSpPr>
        <p:spPr>
          <a:xfrm>
            <a:off x="9361221" y="3739788"/>
            <a:ext cx="2150999" cy="415498"/>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Establishing network connectivity between GitLab, GitHub, and the Ubuntu VM environments</a:t>
            </a:r>
            <a:endParaRPr lang="en-US" sz="900" noProof="0" dirty="0"/>
          </a:p>
        </p:txBody>
      </p:sp>
      <p:sp>
        <p:nvSpPr>
          <p:cNvPr id="58" name="TextBox 57">
            <a:extLst>
              <a:ext uri="{FF2B5EF4-FFF2-40B4-BE49-F238E27FC236}">
                <a16:creationId xmlns:a16="http://schemas.microsoft.com/office/drawing/2014/main" id="{64B96ACD-E12D-4988-68A6-73764EEDB8EA}"/>
              </a:ext>
            </a:extLst>
          </p:cNvPr>
          <p:cNvSpPr txBox="1"/>
          <p:nvPr/>
        </p:nvSpPr>
        <p:spPr>
          <a:xfrm>
            <a:off x="9361221" y="4407216"/>
            <a:ext cx="2150999" cy="2769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Setting up the user permissions after the migration</a:t>
            </a:r>
            <a:endParaRPr lang="en-US" sz="900" noProof="0" dirty="0"/>
          </a:p>
        </p:txBody>
      </p:sp>
      <p:sp>
        <p:nvSpPr>
          <p:cNvPr id="59" name="TextBox 58">
            <a:extLst>
              <a:ext uri="{FF2B5EF4-FFF2-40B4-BE49-F238E27FC236}">
                <a16:creationId xmlns:a16="http://schemas.microsoft.com/office/drawing/2014/main" id="{AD4AED5F-8D2B-C556-E1D6-30FD94639885}"/>
              </a:ext>
            </a:extLst>
          </p:cNvPr>
          <p:cNvSpPr txBox="1"/>
          <p:nvPr/>
        </p:nvSpPr>
        <p:spPr>
          <a:xfrm>
            <a:off x="9361221" y="4810180"/>
            <a:ext cx="2150999" cy="1384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Migration from GitLab SaaS</a:t>
            </a:r>
            <a:endParaRPr lang="en-US" sz="900" noProof="0" dirty="0"/>
          </a:p>
        </p:txBody>
      </p:sp>
      <p:sp>
        <p:nvSpPr>
          <p:cNvPr id="60" name="TextBox 59">
            <a:extLst>
              <a:ext uri="{FF2B5EF4-FFF2-40B4-BE49-F238E27FC236}">
                <a16:creationId xmlns:a16="http://schemas.microsoft.com/office/drawing/2014/main" id="{FBE016C4-DC2D-DC83-9C1B-9DAC37EA7E26}"/>
              </a:ext>
            </a:extLst>
          </p:cNvPr>
          <p:cNvSpPr txBox="1"/>
          <p:nvPr/>
        </p:nvSpPr>
        <p:spPr>
          <a:xfrm>
            <a:off x="9361221" y="5074646"/>
            <a:ext cx="2150999" cy="138499"/>
          </a:xfrm>
          <a:prstGeom prst="rect">
            <a:avLst/>
          </a:prstGeom>
          <a:noFill/>
        </p:spPr>
        <p:txBody>
          <a:bodyPr wrap="square" lIns="0" tIns="0" rIns="0" bIns="0">
            <a:spAutoFit/>
          </a:bodyPr>
          <a:lstStyle/>
          <a:p>
            <a:pPr lvl="0">
              <a:spcAft>
                <a:spcPts val="600"/>
              </a:spcAft>
              <a:defRPr/>
            </a:pPr>
            <a:r>
              <a:rPr lang="en-US" sz="900" kern="0" noProof="0" dirty="0">
                <a:ea typeface="Calibri"/>
                <a:cs typeface="Calibri"/>
              </a:rPr>
              <a:t>Pipeline rewiring</a:t>
            </a:r>
            <a:endParaRPr lang="en-US" sz="900" noProof="0" dirty="0"/>
          </a:p>
        </p:txBody>
      </p:sp>
      <p:sp>
        <p:nvSpPr>
          <p:cNvPr id="62" name="TextBox 61">
            <a:extLst>
              <a:ext uri="{FF2B5EF4-FFF2-40B4-BE49-F238E27FC236}">
                <a16:creationId xmlns:a16="http://schemas.microsoft.com/office/drawing/2014/main" id="{DADE5588-87EF-91BF-8445-0B7AE96ECDCB}"/>
              </a:ext>
            </a:extLst>
          </p:cNvPr>
          <p:cNvSpPr txBox="1"/>
          <p:nvPr/>
        </p:nvSpPr>
        <p:spPr>
          <a:xfrm>
            <a:off x="6608440" y="2429496"/>
            <a:ext cx="2404872" cy="138499"/>
          </a:xfrm>
          <a:prstGeom prst="rect">
            <a:avLst/>
          </a:prstGeom>
          <a:noFill/>
        </p:spPr>
        <p:txBody>
          <a:bodyPr wrap="square" lIns="0" tIns="0" rIns="0" bIns="0">
            <a:spAutoFit/>
          </a:bodyPr>
          <a:lstStyle/>
          <a:p>
            <a:pPr marL="0" lvl="1">
              <a:spcAft>
                <a:spcPts val="600"/>
              </a:spcAft>
              <a:defRPr/>
            </a:pPr>
            <a:r>
              <a:rPr lang="en-US" sz="900" kern="0" noProof="0" dirty="0"/>
              <a:t>Migration of Git LFS and Submodules </a:t>
            </a:r>
          </a:p>
        </p:txBody>
      </p:sp>
      <p:sp>
        <p:nvSpPr>
          <p:cNvPr id="63" name="TextBox 62">
            <a:extLst>
              <a:ext uri="{FF2B5EF4-FFF2-40B4-BE49-F238E27FC236}">
                <a16:creationId xmlns:a16="http://schemas.microsoft.com/office/drawing/2014/main" id="{98DC40DE-D901-65FE-C177-917A4151D370}"/>
              </a:ext>
            </a:extLst>
          </p:cNvPr>
          <p:cNvSpPr txBox="1"/>
          <p:nvPr/>
        </p:nvSpPr>
        <p:spPr>
          <a:xfrm>
            <a:off x="6608440" y="2718525"/>
            <a:ext cx="2404872" cy="276999"/>
          </a:xfrm>
          <a:prstGeom prst="rect">
            <a:avLst/>
          </a:prstGeom>
          <a:noFill/>
        </p:spPr>
        <p:txBody>
          <a:bodyPr wrap="square" lIns="0" tIns="0" rIns="0" bIns="0">
            <a:spAutoFit/>
          </a:bodyPr>
          <a:lstStyle/>
          <a:p>
            <a:pPr marL="0" lvl="1">
              <a:spcAft>
                <a:spcPts val="600"/>
              </a:spcAft>
              <a:defRPr/>
            </a:pPr>
            <a:r>
              <a:rPr lang="en-US" sz="900" kern="0" noProof="0" dirty="0"/>
              <a:t>Design, Architect, Advisory and Consulting services</a:t>
            </a:r>
          </a:p>
        </p:txBody>
      </p:sp>
      <p:sp>
        <p:nvSpPr>
          <p:cNvPr id="64" name="TextBox 63">
            <a:extLst>
              <a:ext uri="{FF2B5EF4-FFF2-40B4-BE49-F238E27FC236}">
                <a16:creationId xmlns:a16="http://schemas.microsoft.com/office/drawing/2014/main" id="{C409DA4E-3C57-AD2C-D2BA-EDC611E11F46}"/>
              </a:ext>
            </a:extLst>
          </p:cNvPr>
          <p:cNvSpPr txBox="1"/>
          <p:nvPr/>
        </p:nvSpPr>
        <p:spPr>
          <a:xfrm>
            <a:off x="6608440" y="3146054"/>
            <a:ext cx="2404872" cy="138499"/>
          </a:xfrm>
          <a:prstGeom prst="rect">
            <a:avLst/>
          </a:prstGeom>
          <a:noFill/>
        </p:spPr>
        <p:txBody>
          <a:bodyPr wrap="square" lIns="0" tIns="0" rIns="0" bIns="0">
            <a:spAutoFit/>
          </a:bodyPr>
          <a:lstStyle/>
          <a:p>
            <a:pPr marL="0" lvl="1">
              <a:spcAft>
                <a:spcPts val="600"/>
              </a:spcAft>
              <a:defRPr/>
            </a:pPr>
            <a:r>
              <a:rPr lang="en-US" sz="900" kern="0" noProof="0" dirty="0"/>
              <a:t>Repo Performance Analysis</a:t>
            </a:r>
          </a:p>
        </p:txBody>
      </p:sp>
      <p:sp>
        <p:nvSpPr>
          <p:cNvPr id="65" name="TextBox 64">
            <a:extLst>
              <a:ext uri="{FF2B5EF4-FFF2-40B4-BE49-F238E27FC236}">
                <a16:creationId xmlns:a16="http://schemas.microsoft.com/office/drawing/2014/main" id="{94DDE472-02B6-A519-EB1B-9BDAD970F41F}"/>
              </a:ext>
            </a:extLst>
          </p:cNvPr>
          <p:cNvSpPr txBox="1"/>
          <p:nvPr/>
        </p:nvSpPr>
        <p:spPr>
          <a:xfrm>
            <a:off x="6608440" y="3435083"/>
            <a:ext cx="2404872" cy="138499"/>
          </a:xfrm>
          <a:prstGeom prst="rect">
            <a:avLst/>
          </a:prstGeom>
          <a:noFill/>
        </p:spPr>
        <p:txBody>
          <a:bodyPr wrap="square" lIns="0" tIns="0" rIns="0" bIns="0">
            <a:spAutoFit/>
          </a:bodyPr>
          <a:lstStyle/>
          <a:p>
            <a:pPr marL="0" lvl="1">
              <a:spcAft>
                <a:spcPts val="600"/>
              </a:spcAft>
              <a:defRPr/>
            </a:pPr>
            <a:r>
              <a:rPr lang="en-US" sz="900" kern="0" noProof="0" dirty="0"/>
              <a:t>Clean-up/Decommission of source repository </a:t>
            </a:r>
          </a:p>
        </p:txBody>
      </p:sp>
      <p:sp>
        <p:nvSpPr>
          <p:cNvPr id="66" name="TextBox 65">
            <a:extLst>
              <a:ext uri="{FF2B5EF4-FFF2-40B4-BE49-F238E27FC236}">
                <a16:creationId xmlns:a16="http://schemas.microsoft.com/office/drawing/2014/main" id="{927824FE-6656-B936-F8F1-FE49A13B74C5}"/>
              </a:ext>
            </a:extLst>
          </p:cNvPr>
          <p:cNvSpPr txBox="1"/>
          <p:nvPr/>
        </p:nvSpPr>
        <p:spPr>
          <a:xfrm>
            <a:off x="6608440" y="3724112"/>
            <a:ext cx="2404872" cy="276999"/>
          </a:xfrm>
          <a:prstGeom prst="rect">
            <a:avLst/>
          </a:prstGeom>
          <a:noFill/>
        </p:spPr>
        <p:txBody>
          <a:bodyPr wrap="square" lIns="0" tIns="0" rIns="0" bIns="0">
            <a:spAutoFit/>
          </a:bodyPr>
          <a:lstStyle/>
          <a:p>
            <a:pPr marL="0" lvl="1">
              <a:spcAft>
                <a:spcPts val="600"/>
              </a:spcAft>
              <a:defRPr/>
            </a:pPr>
            <a:r>
              <a:rPr lang="en-US" sz="900" kern="0" noProof="0" dirty="0"/>
              <a:t>Enablement of SSO with SCIM and Creation of Teams &amp; permissions</a:t>
            </a:r>
          </a:p>
        </p:txBody>
      </p:sp>
      <p:sp>
        <p:nvSpPr>
          <p:cNvPr id="68" name="TextBox 67">
            <a:extLst>
              <a:ext uri="{FF2B5EF4-FFF2-40B4-BE49-F238E27FC236}">
                <a16:creationId xmlns:a16="http://schemas.microsoft.com/office/drawing/2014/main" id="{00255548-AF4B-1A0C-9747-F4A46E915B3C}"/>
              </a:ext>
            </a:extLst>
          </p:cNvPr>
          <p:cNvSpPr txBox="1"/>
          <p:nvPr/>
        </p:nvSpPr>
        <p:spPr>
          <a:xfrm>
            <a:off x="6608440" y="4151641"/>
            <a:ext cx="2404872" cy="276999"/>
          </a:xfrm>
          <a:prstGeom prst="rect">
            <a:avLst/>
          </a:prstGeom>
          <a:noFill/>
        </p:spPr>
        <p:txBody>
          <a:bodyPr wrap="square" lIns="0" tIns="0" rIns="0" bIns="0">
            <a:spAutoFit/>
          </a:bodyPr>
          <a:lstStyle/>
          <a:p>
            <a:pPr marL="0" lvl="1">
              <a:spcAft>
                <a:spcPts val="600"/>
              </a:spcAft>
              <a:defRPr/>
            </a:pPr>
            <a:r>
              <a:rPr lang="en-US" sz="900" kern="0" noProof="0" dirty="0"/>
              <a:t>Creation of GitHub PAT token and GitLab API Token</a:t>
            </a:r>
          </a:p>
        </p:txBody>
      </p:sp>
      <p:sp>
        <p:nvSpPr>
          <p:cNvPr id="69" name="TextBox 68">
            <a:extLst>
              <a:ext uri="{FF2B5EF4-FFF2-40B4-BE49-F238E27FC236}">
                <a16:creationId xmlns:a16="http://schemas.microsoft.com/office/drawing/2014/main" id="{29615A4F-3A3E-E194-F90C-DE0929E1BF6A}"/>
              </a:ext>
            </a:extLst>
          </p:cNvPr>
          <p:cNvSpPr txBox="1"/>
          <p:nvPr/>
        </p:nvSpPr>
        <p:spPr>
          <a:xfrm>
            <a:off x="6608440" y="4579170"/>
            <a:ext cx="2404872" cy="276999"/>
          </a:xfrm>
          <a:prstGeom prst="rect">
            <a:avLst/>
          </a:prstGeom>
          <a:noFill/>
        </p:spPr>
        <p:txBody>
          <a:bodyPr wrap="square" lIns="0" tIns="0" rIns="0" bIns="0">
            <a:spAutoFit/>
          </a:bodyPr>
          <a:lstStyle/>
          <a:p>
            <a:pPr marL="0" lvl="1">
              <a:spcAft>
                <a:spcPts val="600"/>
              </a:spcAft>
              <a:defRPr/>
            </a:pPr>
            <a:r>
              <a:rPr lang="en-US" sz="900" kern="0" noProof="0" dirty="0"/>
              <a:t>Verifying whether external tools work correctly after migration </a:t>
            </a:r>
          </a:p>
        </p:txBody>
      </p:sp>
      <p:sp>
        <p:nvSpPr>
          <p:cNvPr id="70" name="TextBox 69">
            <a:extLst>
              <a:ext uri="{FF2B5EF4-FFF2-40B4-BE49-F238E27FC236}">
                <a16:creationId xmlns:a16="http://schemas.microsoft.com/office/drawing/2014/main" id="{3CC59CBD-36B0-51C1-C04E-17D9AD1FB06C}"/>
              </a:ext>
            </a:extLst>
          </p:cNvPr>
          <p:cNvSpPr txBox="1"/>
          <p:nvPr/>
        </p:nvSpPr>
        <p:spPr>
          <a:xfrm>
            <a:off x="6608440" y="5006699"/>
            <a:ext cx="2404872" cy="276999"/>
          </a:xfrm>
          <a:prstGeom prst="rect">
            <a:avLst/>
          </a:prstGeom>
          <a:noFill/>
        </p:spPr>
        <p:txBody>
          <a:bodyPr wrap="square" lIns="0" tIns="0" rIns="0" bIns="0">
            <a:spAutoFit/>
          </a:bodyPr>
          <a:lstStyle/>
          <a:p>
            <a:pPr marL="0" lvl="1">
              <a:spcAft>
                <a:spcPts val="600"/>
              </a:spcAft>
              <a:defRPr/>
            </a:pPr>
            <a:r>
              <a:rPr lang="en-US" sz="900" kern="0" noProof="0" dirty="0"/>
              <a:t>Platform configuration </a:t>
            </a:r>
            <a:br>
              <a:rPr lang="en-US" sz="900" kern="0" noProof="0" dirty="0"/>
            </a:br>
            <a:r>
              <a:rPr lang="en-US" sz="900" kern="0" noProof="0" dirty="0"/>
              <a:t>and onboarding</a:t>
            </a:r>
          </a:p>
        </p:txBody>
      </p:sp>
      <p:cxnSp>
        <p:nvCxnSpPr>
          <p:cNvPr id="193" name="Straight Connector 192">
            <a:extLst>
              <a:ext uri="{FF2B5EF4-FFF2-40B4-BE49-F238E27FC236}">
                <a16:creationId xmlns:a16="http://schemas.microsoft.com/office/drawing/2014/main" id="{C8A22129-098A-D0DE-C66F-ABB187241626}"/>
              </a:ext>
              <a:ext uri="{C183D7F6-B498-43B3-948B-1728B52AA6E4}">
                <adec:decorative xmlns:adec="http://schemas.microsoft.com/office/drawing/2017/decorative" val="1"/>
              </a:ext>
            </a:extLst>
          </p:cNvPr>
          <p:cNvCxnSpPr>
            <a:cxnSpLocks/>
          </p:cNvCxnSpPr>
          <p:nvPr/>
        </p:nvCxnSpPr>
        <p:spPr>
          <a:xfrm>
            <a:off x="6608440" y="4931434"/>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6D012E2F-67A8-EA47-F28E-73D95A669363}"/>
              </a:ext>
              <a:ext uri="{C183D7F6-B498-43B3-948B-1728B52AA6E4}">
                <adec:decorative xmlns:adec="http://schemas.microsoft.com/office/drawing/2017/decorative" val="1"/>
              </a:ext>
            </a:extLst>
          </p:cNvPr>
          <p:cNvCxnSpPr>
            <a:cxnSpLocks/>
          </p:cNvCxnSpPr>
          <p:nvPr/>
        </p:nvCxnSpPr>
        <p:spPr>
          <a:xfrm>
            <a:off x="9353855" y="5029544"/>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977C4292-04EE-AAC9-4BEF-21A699F672EA}"/>
              </a:ext>
              <a:ext uri="{C183D7F6-B498-43B3-948B-1728B52AA6E4}">
                <adec:decorative xmlns:adec="http://schemas.microsoft.com/office/drawing/2017/decorative" val="1"/>
              </a:ext>
            </a:extLst>
          </p:cNvPr>
          <p:cNvCxnSpPr>
            <a:cxnSpLocks/>
          </p:cNvCxnSpPr>
          <p:nvPr/>
        </p:nvCxnSpPr>
        <p:spPr>
          <a:xfrm>
            <a:off x="6608440" y="4503905"/>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54A05F4E-DFAC-309C-5751-DD05C1C1E5EA}"/>
              </a:ext>
              <a:ext uri="{C183D7F6-B498-43B3-948B-1728B52AA6E4}">
                <adec:decorative xmlns:adec="http://schemas.microsoft.com/office/drawing/2017/decorative" val="1"/>
              </a:ext>
            </a:extLst>
          </p:cNvPr>
          <p:cNvCxnSpPr>
            <a:cxnSpLocks/>
          </p:cNvCxnSpPr>
          <p:nvPr/>
        </p:nvCxnSpPr>
        <p:spPr>
          <a:xfrm>
            <a:off x="6608440" y="4076376"/>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6164ABD8-28A0-5BE4-057E-42373DD61781}"/>
              </a:ext>
              <a:ext uri="{C183D7F6-B498-43B3-948B-1728B52AA6E4}">
                <adec:decorative xmlns:adec="http://schemas.microsoft.com/office/drawing/2017/decorative" val="1"/>
              </a:ext>
            </a:extLst>
          </p:cNvPr>
          <p:cNvCxnSpPr>
            <a:cxnSpLocks/>
          </p:cNvCxnSpPr>
          <p:nvPr/>
        </p:nvCxnSpPr>
        <p:spPr>
          <a:xfrm>
            <a:off x="6608440" y="3648847"/>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03806916-D006-5E9B-B172-168B77083C32}"/>
              </a:ext>
              <a:ext uri="{C183D7F6-B498-43B3-948B-1728B52AA6E4}">
                <adec:decorative xmlns:adec="http://schemas.microsoft.com/office/drawing/2017/decorative" val="1"/>
              </a:ext>
            </a:extLst>
          </p:cNvPr>
          <p:cNvCxnSpPr>
            <a:cxnSpLocks/>
          </p:cNvCxnSpPr>
          <p:nvPr/>
        </p:nvCxnSpPr>
        <p:spPr>
          <a:xfrm>
            <a:off x="6608440" y="3359818"/>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DC5244DF-FB2D-140E-4B72-446DC8E72159}"/>
              </a:ext>
              <a:ext uri="{C183D7F6-B498-43B3-948B-1728B52AA6E4}">
                <adec:decorative xmlns:adec="http://schemas.microsoft.com/office/drawing/2017/decorative" val="1"/>
              </a:ext>
            </a:extLst>
          </p:cNvPr>
          <p:cNvCxnSpPr>
            <a:cxnSpLocks/>
          </p:cNvCxnSpPr>
          <p:nvPr/>
        </p:nvCxnSpPr>
        <p:spPr>
          <a:xfrm>
            <a:off x="6608440" y="3070789"/>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4164AD30-B540-94A8-BC35-F81A3B0E5908}"/>
              </a:ext>
              <a:ext uri="{C183D7F6-B498-43B3-948B-1728B52AA6E4}">
                <adec:decorative xmlns:adec="http://schemas.microsoft.com/office/drawing/2017/decorative" val="1"/>
              </a:ext>
            </a:extLst>
          </p:cNvPr>
          <p:cNvCxnSpPr>
            <a:cxnSpLocks/>
          </p:cNvCxnSpPr>
          <p:nvPr/>
        </p:nvCxnSpPr>
        <p:spPr>
          <a:xfrm>
            <a:off x="6608440" y="2643260"/>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535803A-D226-976A-1AFB-D2433B041FE8}"/>
              </a:ext>
              <a:ext uri="{C183D7F6-B498-43B3-948B-1728B52AA6E4}">
                <adec:decorative xmlns:adec="http://schemas.microsoft.com/office/drawing/2017/decorative" val="1"/>
              </a:ext>
            </a:extLst>
          </p:cNvPr>
          <p:cNvCxnSpPr>
            <a:cxnSpLocks/>
          </p:cNvCxnSpPr>
          <p:nvPr/>
        </p:nvCxnSpPr>
        <p:spPr>
          <a:xfrm>
            <a:off x="6608440" y="235423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D982767-11D6-C552-4E11-9DDB3FFC6EA0}"/>
              </a:ext>
            </a:extLst>
          </p:cNvPr>
          <p:cNvSpPr txBox="1"/>
          <p:nvPr/>
        </p:nvSpPr>
        <p:spPr>
          <a:xfrm>
            <a:off x="2841111" y="6166743"/>
            <a:ext cx="1685699" cy="338554"/>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marL="171450" marR="0" lvl="0" indent="-114300" algn="l" defTabSz="914400" rtl="0" eaLnBrk="1" fontAlgn="auto" latinLnBrk="0" hangingPunct="1">
              <a:lnSpc>
                <a:spcPct val="100000"/>
              </a:lnSpc>
              <a:spcBef>
                <a:spcPts val="0"/>
              </a:spcBef>
              <a:spcAft>
                <a:spcPts val="0"/>
              </a:spcAft>
              <a:buClrTx/>
              <a:buSzTx/>
              <a:buFont typeface="Arial,Sans-Serif"/>
              <a:buChar char="•"/>
              <a:tabLst/>
              <a:defRPr/>
            </a:pPr>
            <a:r>
              <a:rPr kumimoji="0" lang="en-US" sz="800" b="0" i="0" u="none" strike="noStrike" kern="1200" cap="none" spc="0" normalizeH="0" baseline="0" noProof="0" dirty="0">
                <a:ln>
                  <a:noFill/>
                </a:ln>
                <a:effectLst/>
                <a:uLnTx/>
                <a:uFillTx/>
                <a:ea typeface="Arial"/>
                <a:cs typeface="Arial"/>
              </a:rPr>
              <a:t>30 GiB </a:t>
            </a:r>
            <a:r>
              <a:rPr kumimoji="0" lang="en-US" sz="800" b="0" i="0" u="none" strike="noStrike" kern="1200" cap="none" spc="0" normalizeH="0" baseline="0" noProof="0" dirty="0">
                <a:ln>
                  <a:noFill/>
                </a:ln>
                <a:effectLst/>
                <a:uLnTx/>
                <a:uFillTx/>
                <a:ea typeface="+mn-lt"/>
                <a:cs typeface="Segoe Sans Text"/>
              </a:rPr>
              <a:t>Local Disk (Docker VM)</a:t>
            </a:r>
            <a:r>
              <a:rPr kumimoji="0" lang="en-US" sz="800" b="0" i="0" u="none" strike="noStrike" kern="1200" cap="none" spc="0" normalizeH="0" baseline="0" noProof="0" dirty="0">
                <a:ln>
                  <a:noFill/>
                </a:ln>
                <a:effectLst/>
                <a:uLnTx/>
                <a:uFillTx/>
                <a:ea typeface="Arial"/>
                <a:cs typeface="Arial"/>
              </a:rPr>
              <a:t>​</a:t>
            </a:r>
          </a:p>
          <a:p>
            <a:pPr marL="171450" marR="0" lvl="0" indent="-114300" algn="l" defTabSz="914400" rtl="0" eaLnBrk="1" fontAlgn="auto" latinLnBrk="0" hangingPunct="1">
              <a:lnSpc>
                <a:spcPct val="100000"/>
              </a:lnSpc>
              <a:spcBef>
                <a:spcPts val="0"/>
              </a:spcBef>
              <a:spcAft>
                <a:spcPts val="0"/>
              </a:spcAft>
              <a:buClrTx/>
              <a:buSzTx/>
              <a:buFont typeface="Arial"/>
              <a:buChar char="•"/>
              <a:tabLst/>
              <a:defRPr/>
            </a:pPr>
            <a:r>
              <a:rPr kumimoji="0" lang="en-US" sz="800" b="0" i="0" u="none" strike="noStrike" kern="1200" cap="none" spc="0" normalizeH="0" baseline="0" noProof="0" dirty="0">
                <a:ln>
                  <a:noFill/>
                </a:ln>
                <a:effectLst/>
                <a:uLnTx/>
                <a:uFillTx/>
                <a:ea typeface="Arial"/>
                <a:cs typeface="Arial"/>
              </a:rPr>
              <a:t>40 GiB</a:t>
            </a:r>
            <a:r>
              <a:rPr kumimoji="0" lang="en-US" sz="800" b="0" i="0" u="none" strike="noStrike" kern="1200" cap="none" spc="0" normalizeH="0" baseline="0" noProof="0" dirty="0">
                <a:ln>
                  <a:noFill/>
                </a:ln>
                <a:effectLst/>
                <a:uLnTx/>
                <a:uFillTx/>
                <a:ea typeface="Calibri"/>
                <a:cs typeface="Arial"/>
              </a:rPr>
              <a:t> </a:t>
            </a:r>
            <a:r>
              <a:rPr kumimoji="0" lang="en-US" sz="800" b="0" i="0" u="none" strike="noStrike" kern="1200" cap="none" spc="0" normalizeH="0" baseline="0" noProof="0" dirty="0">
                <a:ln>
                  <a:noFill/>
                </a:ln>
                <a:effectLst/>
                <a:uLnTx/>
                <a:uFillTx/>
                <a:ea typeface="Calibri"/>
                <a:cs typeface="Calibri"/>
              </a:rPr>
              <a:t>Cloud Object Storage</a:t>
            </a:r>
          </a:p>
        </p:txBody>
      </p:sp>
      <p:sp>
        <p:nvSpPr>
          <p:cNvPr id="47" name="Oval 46">
            <a:extLst>
              <a:ext uri="{FF2B5EF4-FFF2-40B4-BE49-F238E27FC236}">
                <a16:creationId xmlns:a16="http://schemas.microsoft.com/office/drawing/2014/main" id="{E9C98871-267C-4FAE-67C2-952B943E1F8C}"/>
              </a:ext>
            </a:extLst>
          </p:cNvPr>
          <p:cNvSpPr/>
          <p:nvPr/>
        </p:nvSpPr>
        <p:spPr bwMode="auto">
          <a:xfrm>
            <a:off x="1807278" y="6219131"/>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4" name="TextBox 203">
            <a:extLst>
              <a:ext uri="{FF2B5EF4-FFF2-40B4-BE49-F238E27FC236}">
                <a16:creationId xmlns:a16="http://schemas.microsoft.com/office/drawing/2014/main" id="{FD1F0038-4087-32D4-8F22-D109BBA6C957}"/>
              </a:ext>
            </a:extLst>
          </p:cNvPr>
          <p:cNvSpPr txBox="1"/>
          <p:nvPr/>
        </p:nvSpPr>
        <p:spPr>
          <a:xfrm>
            <a:off x="2014931" y="6166743"/>
            <a:ext cx="826180" cy="3693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marL="57150" marR="0" lvl="0" algn="l"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dirty="0">
                <a:ln>
                  <a:noFill/>
                </a:ln>
                <a:effectLst/>
                <a:uLnTx/>
                <a:uFillTx/>
                <a:latin typeface="+mj-lt"/>
                <a:ea typeface="Arial"/>
                <a:cs typeface="Arial"/>
              </a:rPr>
              <a:t>GitLab </a:t>
            </a:r>
            <a:br>
              <a:rPr kumimoji="0" lang="en-US" sz="900" b="0" i="0" u="none" strike="noStrike" kern="1200" cap="none" spc="0" normalizeH="0" baseline="0" noProof="0" dirty="0">
                <a:ln>
                  <a:noFill/>
                </a:ln>
                <a:effectLst/>
                <a:uLnTx/>
                <a:uFillTx/>
                <a:latin typeface="+mj-lt"/>
                <a:ea typeface="Arial"/>
                <a:cs typeface="Arial"/>
              </a:rPr>
            </a:br>
            <a:r>
              <a:rPr kumimoji="0" lang="en-US" sz="900" b="0" i="0" u="none" strike="noStrike" kern="1200" cap="none" spc="0" normalizeH="0" baseline="0" noProof="0" dirty="0">
                <a:ln>
                  <a:noFill/>
                </a:ln>
                <a:effectLst/>
                <a:uLnTx/>
                <a:uFillTx/>
                <a:latin typeface="+mj-lt"/>
                <a:ea typeface="Arial"/>
                <a:cs typeface="Arial"/>
              </a:rPr>
              <a:t>GL-exporter</a:t>
            </a:r>
          </a:p>
        </p:txBody>
      </p:sp>
      <p:sp>
        <p:nvSpPr>
          <p:cNvPr id="42" name="TextBox 41">
            <a:extLst>
              <a:ext uri="{FF2B5EF4-FFF2-40B4-BE49-F238E27FC236}">
                <a16:creationId xmlns:a16="http://schemas.microsoft.com/office/drawing/2014/main" id="{DF74AF9B-72E4-4B83-E869-53E6F2B05C97}"/>
              </a:ext>
            </a:extLst>
          </p:cNvPr>
          <p:cNvSpPr txBox="1"/>
          <p:nvPr/>
        </p:nvSpPr>
        <p:spPr>
          <a:xfrm>
            <a:off x="5488648" y="6166743"/>
            <a:ext cx="1933350" cy="461665"/>
          </a:xfrm>
          <a:prstGeom prst="rect">
            <a:avLst/>
          </a:prstGeom>
          <a:noFill/>
          <a:ln w="3175">
            <a:noFill/>
          </a:ln>
        </p:spPr>
        <p:txBody>
          <a:bodyPr wrap="square" lIns="45720" tIns="45720" rIns="45720" bIns="45720" rtlCol="0">
            <a:spAutoFit/>
          </a:bodyPr>
          <a:lstStyle>
            <a:defPPr>
              <a:defRPr lang="en-US"/>
            </a:defPPr>
            <a:lvl1pPr>
              <a:defRPr sz="900">
                <a:solidFill>
                  <a:srgbClr val="000000"/>
                </a:solidFill>
                <a:latin typeface="Segoe UI"/>
              </a:defRPr>
            </a:lvl1p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chemeClr val="tx1"/>
                </a:solidFill>
                <a:effectLst/>
                <a:uLnTx/>
                <a:uFillTx/>
                <a:latin typeface="+mn-lt"/>
                <a:ea typeface="+mn-ea"/>
                <a:cs typeface="+mn-cs"/>
              </a:rPr>
              <a:t>2 GiB size limit for a single Git commit</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chemeClr val="tx1"/>
                </a:solidFill>
                <a:effectLst/>
                <a:uLnTx/>
                <a:uFillTx/>
                <a:latin typeface="+mn-lt"/>
                <a:ea typeface="+mn-ea"/>
                <a:cs typeface="+mn-cs"/>
              </a:rPr>
              <a:t>255 byte limit for Git references</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chemeClr val="tx1"/>
                </a:solidFill>
                <a:effectLst/>
                <a:uLnTx/>
                <a:uFillTx/>
                <a:latin typeface="+mn-lt"/>
                <a:ea typeface="+mn-ea"/>
                <a:cs typeface="+mn-cs"/>
              </a:rPr>
              <a:t>100 MiB file size limit</a:t>
            </a:r>
          </a:p>
        </p:txBody>
      </p:sp>
      <p:sp>
        <p:nvSpPr>
          <p:cNvPr id="43" name="Oval 42">
            <a:extLst>
              <a:ext uri="{FF2B5EF4-FFF2-40B4-BE49-F238E27FC236}">
                <a16:creationId xmlns:a16="http://schemas.microsoft.com/office/drawing/2014/main" id="{D9E382F6-67CA-49F3-5E58-F4E4969B775A}"/>
              </a:ext>
            </a:extLst>
          </p:cNvPr>
          <p:cNvSpPr/>
          <p:nvPr/>
        </p:nvSpPr>
        <p:spPr bwMode="auto">
          <a:xfrm>
            <a:off x="4712930" y="6219131"/>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5" name="TextBox 204">
            <a:extLst>
              <a:ext uri="{FF2B5EF4-FFF2-40B4-BE49-F238E27FC236}">
                <a16:creationId xmlns:a16="http://schemas.microsoft.com/office/drawing/2014/main" id="{239ABC5F-1DD7-FF67-322D-EDF1781A4955}"/>
              </a:ext>
            </a:extLst>
          </p:cNvPr>
          <p:cNvSpPr txBox="1"/>
          <p:nvPr/>
        </p:nvSpPr>
        <p:spPr>
          <a:xfrm>
            <a:off x="4912130" y="6166743"/>
            <a:ext cx="576518" cy="2308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marL="57150" marR="0" lvl="0" algn="l"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dirty="0">
                <a:ln>
                  <a:noFill/>
                </a:ln>
                <a:effectLst/>
                <a:uLnTx/>
                <a:uFillTx/>
                <a:latin typeface="+mj-lt"/>
                <a:ea typeface="Arial"/>
                <a:cs typeface="Arial"/>
              </a:rPr>
              <a:t>GitHub</a:t>
            </a:r>
          </a:p>
        </p:txBody>
      </p:sp>
      <p:sp>
        <p:nvSpPr>
          <p:cNvPr id="44" name="TextBox 43">
            <a:extLst>
              <a:ext uri="{FF2B5EF4-FFF2-40B4-BE49-F238E27FC236}">
                <a16:creationId xmlns:a16="http://schemas.microsoft.com/office/drawing/2014/main" id="{C12F8CEF-7664-580E-1D03-886CA04E7890}"/>
              </a:ext>
            </a:extLst>
          </p:cNvPr>
          <p:cNvSpPr txBox="1"/>
          <p:nvPr/>
        </p:nvSpPr>
        <p:spPr>
          <a:xfrm>
            <a:off x="8940800" y="6166743"/>
            <a:ext cx="2298917" cy="461665"/>
          </a:xfrm>
          <a:prstGeom prst="rect">
            <a:avLst/>
          </a:prstGeom>
          <a:noFill/>
          <a:ln w="3175">
            <a:noFill/>
          </a:ln>
        </p:spPr>
        <p:txBody>
          <a:bodyPr wrap="square" lIns="45720" tIns="45720" rIns="45720" bIns="45720" rtlCol="0" anchor="t">
            <a:spAutoFit/>
          </a:bodyPr>
          <a:lstStyle>
            <a:defPPr>
              <a:defRPr lang="en-US"/>
            </a:defPPr>
            <a:lvl1pPr>
              <a:defRPr sz="900">
                <a:solidFill>
                  <a:srgbClr val="000000"/>
                </a:solidFill>
                <a:latin typeface="Segoe UI"/>
              </a:defRPr>
            </a:lvl1pPr>
          </a:lstStyle>
          <a:p>
            <a:pPr marL="171450" marR="0" lvl="0" indent="-111125" algn="l" defTabSz="914400" rtl="0" eaLnBrk="1" fontAlgn="auto" latinLnBrk="0" hangingPunct="1">
              <a:lnSpc>
                <a:spcPct val="100000"/>
              </a:lnSpc>
              <a:spcBef>
                <a:spcPts val="0"/>
              </a:spcBef>
              <a:spcAft>
                <a:spcPts val="0"/>
              </a:spcAft>
              <a:buClrTx/>
              <a:buSzTx/>
              <a:buFont typeface="Arial,Sans-Serif" panose="020B0604020202020204" pitchFamily="34" charset="0"/>
              <a:buChar char="•"/>
              <a:tabLst/>
              <a:defRPr/>
            </a:pPr>
            <a:r>
              <a:rPr kumimoji="0" lang="en-US" sz="800" b="0" i="0" u="none" strike="noStrike" kern="1200" cap="none" spc="0" normalizeH="0" baseline="0" noProof="0" dirty="0">
                <a:ln>
                  <a:noFill/>
                </a:ln>
                <a:solidFill>
                  <a:schemeClr val="tx1"/>
                </a:solidFill>
                <a:effectLst/>
                <a:uLnTx/>
                <a:uFillTx/>
                <a:latin typeface="+mn-lt"/>
                <a:ea typeface="+mn-ea"/>
                <a:cs typeface="+mn-cs"/>
              </a:rPr>
              <a:t>40 GiB size limit for a Git repository</a:t>
            </a:r>
            <a:endParaRPr kumimoji="0" lang="en-US" sz="800" b="0" i="0" u="none" strike="noStrike" kern="1200" cap="none" spc="0" normalizeH="0" baseline="0" noProof="0" dirty="0">
              <a:ln>
                <a:noFill/>
              </a:ln>
              <a:solidFill>
                <a:schemeClr val="tx1"/>
              </a:solidFill>
              <a:effectLst/>
              <a:uLnTx/>
              <a:uFillTx/>
              <a:latin typeface="+mn-lt"/>
              <a:ea typeface="+mn-ea"/>
              <a:cs typeface="Segoe UI"/>
            </a:endParaRPr>
          </a:p>
          <a:p>
            <a:pPr marL="171450" marR="0" lvl="0" indent="-111125" algn="l" defTabSz="914400" rtl="0" eaLnBrk="1" fontAlgn="auto" latinLnBrk="0" hangingPunct="1">
              <a:lnSpc>
                <a:spcPct val="100000"/>
              </a:lnSpc>
              <a:spcBef>
                <a:spcPts val="0"/>
              </a:spcBef>
              <a:spcAft>
                <a:spcPts val="0"/>
              </a:spcAft>
              <a:buClrTx/>
              <a:buSzTx/>
              <a:buFont typeface="Arial,Sans-Serif" panose="020B0604020202020204" pitchFamily="34" charset="0"/>
              <a:buChar char="•"/>
              <a:tabLst/>
              <a:defRPr/>
            </a:pPr>
            <a:r>
              <a:rPr kumimoji="0" lang="en-US" sz="800" b="0" i="0" u="none" strike="noStrike" kern="1200" cap="none" spc="0" normalizeH="0" baseline="0" noProof="0" dirty="0">
                <a:ln>
                  <a:noFill/>
                </a:ln>
                <a:solidFill>
                  <a:schemeClr val="tx1"/>
                </a:solidFill>
                <a:effectLst/>
                <a:uLnTx/>
                <a:uFillTx/>
                <a:latin typeface="+mn-lt"/>
                <a:ea typeface="+mn-ea"/>
                <a:cs typeface="+mn-cs"/>
              </a:rPr>
              <a:t>400 MiB file size limit</a:t>
            </a:r>
            <a:endParaRPr kumimoji="0" lang="en-US" sz="800" b="0" i="0" u="none" strike="noStrike" kern="1200" cap="none" spc="0" normalizeH="0" baseline="0" noProof="0" dirty="0">
              <a:ln>
                <a:noFill/>
              </a:ln>
              <a:solidFill>
                <a:schemeClr val="tx1"/>
              </a:solidFill>
              <a:effectLst/>
              <a:uLnTx/>
              <a:uFillTx/>
              <a:latin typeface="+mn-lt"/>
              <a:ea typeface="+mn-ea"/>
              <a:cs typeface="Segoe UI"/>
            </a:endParaRPr>
          </a:p>
          <a:p>
            <a:pPr marL="171450" marR="0" lvl="0" indent="-111125" algn="l" defTabSz="914400" rtl="0" eaLnBrk="1" fontAlgn="auto" latinLnBrk="0" hangingPunct="1">
              <a:lnSpc>
                <a:spcPct val="100000"/>
              </a:lnSpc>
              <a:spcBef>
                <a:spcPts val="0"/>
              </a:spcBef>
              <a:spcAft>
                <a:spcPts val="0"/>
              </a:spcAft>
              <a:buClrTx/>
              <a:buSzTx/>
              <a:buFont typeface="Arial,Sans-Serif" panose="020B0604020202020204" pitchFamily="34" charset="0"/>
              <a:buChar char="•"/>
              <a:tabLst/>
              <a:defRPr/>
            </a:pPr>
            <a:r>
              <a:rPr kumimoji="0" lang="en-US" sz="800" b="0" i="0" u="none" strike="noStrike" kern="1200" cap="none" spc="0" normalizeH="0" baseline="0" noProof="0" dirty="0">
                <a:ln>
                  <a:noFill/>
                </a:ln>
                <a:solidFill>
                  <a:schemeClr val="tx1"/>
                </a:solidFill>
                <a:effectLst/>
                <a:uLnTx/>
                <a:uFillTx/>
                <a:latin typeface="+mn-lt"/>
                <a:ea typeface="+mn-ea"/>
                <a:cs typeface="+mn-cs"/>
              </a:rPr>
              <a:t>Should not more than 20 GiB for metadata </a:t>
            </a:r>
          </a:p>
        </p:txBody>
      </p:sp>
      <p:sp>
        <p:nvSpPr>
          <p:cNvPr id="45" name="Oval 44">
            <a:extLst>
              <a:ext uri="{FF2B5EF4-FFF2-40B4-BE49-F238E27FC236}">
                <a16:creationId xmlns:a16="http://schemas.microsoft.com/office/drawing/2014/main" id="{39442971-A390-43E2-53EF-A123D4AACCEF}"/>
              </a:ext>
            </a:extLst>
          </p:cNvPr>
          <p:cNvSpPr/>
          <p:nvPr/>
        </p:nvSpPr>
        <p:spPr bwMode="auto">
          <a:xfrm>
            <a:off x="7608118" y="6219131"/>
            <a:ext cx="137160"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6" name="TextBox 205">
            <a:extLst>
              <a:ext uri="{FF2B5EF4-FFF2-40B4-BE49-F238E27FC236}">
                <a16:creationId xmlns:a16="http://schemas.microsoft.com/office/drawing/2014/main" id="{65721D32-E888-C9DE-164B-50648E6EC888}"/>
              </a:ext>
            </a:extLst>
          </p:cNvPr>
          <p:cNvSpPr txBox="1"/>
          <p:nvPr/>
        </p:nvSpPr>
        <p:spPr>
          <a:xfrm>
            <a:off x="7807318" y="6166743"/>
            <a:ext cx="1133482" cy="3693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marL="57150" marR="0" lvl="0" algn="l" defTabSz="914400" rtl="0" eaLnBrk="1" fontAlgn="auto" latinLnBrk="0" hangingPunct="1">
              <a:lnSpc>
                <a:spcPct val="100000"/>
              </a:lnSpc>
              <a:spcBef>
                <a:spcPts val="0"/>
              </a:spcBef>
              <a:spcAft>
                <a:spcPts val="0"/>
              </a:spcAft>
              <a:buClrTx/>
              <a:buSzTx/>
              <a:tabLst/>
              <a:defRPr/>
            </a:pPr>
            <a:r>
              <a:rPr kumimoji="0" lang="en-US" sz="900" b="0" i="0" u="none" strike="noStrike" kern="1200" cap="none" spc="0" normalizeH="0" baseline="0" noProof="0" dirty="0">
                <a:ln>
                  <a:noFill/>
                </a:ln>
                <a:effectLst/>
                <a:uLnTx/>
                <a:uFillTx/>
                <a:latin typeface="+mj-lt"/>
                <a:ea typeface="Arial"/>
                <a:cs typeface="Arial"/>
              </a:rPr>
              <a:t>GitHub Enterprise Importer (GEI)</a:t>
            </a:r>
          </a:p>
        </p:txBody>
      </p:sp>
      <p:cxnSp>
        <p:nvCxnSpPr>
          <p:cNvPr id="212" name="Straight Connector 211">
            <a:extLst>
              <a:ext uri="{FF2B5EF4-FFF2-40B4-BE49-F238E27FC236}">
                <a16:creationId xmlns:a16="http://schemas.microsoft.com/office/drawing/2014/main" id="{46A31837-3987-824A-0D61-B2C90C3EC513}"/>
              </a:ext>
              <a:ext uri="{C183D7F6-B498-43B3-948B-1728B52AA6E4}">
                <adec:decorative xmlns:adec="http://schemas.microsoft.com/office/drawing/2017/decorative" val="1"/>
              </a:ext>
            </a:extLst>
          </p:cNvPr>
          <p:cNvCxnSpPr>
            <a:cxnSpLocks/>
          </p:cNvCxnSpPr>
          <p:nvPr/>
        </p:nvCxnSpPr>
        <p:spPr>
          <a:xfrm>
            <a:off x="586739" y="6106861"/>
            <a:ext cx="1101852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23" name="Group 222">
            <a:extLst>
              <a:ext uri="{FF2B5EF4-FFF2-40B4-BE49-F238E27FC236}">
                <a16:creationId xmlns:a16="http://schemas.microsoft.com/office/drawing/2014/main" id="{222FFB54-D3F9-6230-C0B2-FC1DA4EFE202}"/>
              </a:ext>
            </a:extLst>
          </p:cNvPr>
          <p:cNvGrpSpPr/>
          <p:nvPr/>
        </p:nvGrpSpPr>
        <p:grpSpPr>
          <a:xfrm>
            <a:off x="4619870" y="6219131"/>
            <a:ext cx="2895188" cy="391459"/>
            <a:chOff x="4619870" y="6146392"/>
            <a:chExt cx="2895188" cy="284693"/>
          </a:xfrm>
        </p:grpSpPr>
        <p:cxnSp>
          <p:nvCxnSpPr>
            <p:cNvPr id="214" name="Straight Connector 213">
              <a:extLst>
                <a:ext uri="{FF2B5EF4-FFF2-40B4-BE49-F238E27FC236}">
                  <a16:creationId xmlns:a16="http://schemas.microsoft.com/office/drawing/2014/main" id="{01581018-A58A-9599-2A63-F1BF39D409FF}"/>
                </a:ext>
              </a:extLst>
            </p:cNvPr>
            <p:cNvCxnSpPr>
              <a:cxnSpLocks/>
            </p:cNvCxnSpPr>
            <p:nvPr/>
          </p:nvCxnSpPr>
          <p:spPr>
            <a:xfrm>
              <a:off x="4619870" y="6146392"/>
              <a:ext cx="0" cy="284693"/>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8C31145D-9158-8F0C-95AD-CC9B1F72D32B}"/>
                </a:ext>
              </a:extLst>
            </p:cNvPr>
            <p:cNvCxnSpPr>
              <a:cxnSpLocks/>
            </p:cNvCxnSpPr>
            <p:nvPr/>
          </p:nvCxnSpPr>
          <p:spPr>
            <a:xfrm>
              <a:off x="7515058" y="6146392"/>
              <a:ext cx="0" cy="284693"/>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18" name="Oval 217">
            <a:extLst>
              <a:ext uri="{FF2B5EF4-FFF2-40B4-BE49-F238E27FC236}">
                <a16:creationId xmlns:a16="http://schemas.microsoft.com/office/drawing/2014/main" id="{0435232F-C7D6-A8E9-2FAE-A48FF9A85528}"/>
              </a:ext>
            </a:extLst>
          </p:cNvPr>
          <p:cNvSpPr/>
          <p:nvPr/>
        </p:nvSpPr>
        <p:spPr bwMode="auto">
          <a:xfrm>
            <a:off x="775653" y="225563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9" name="Oval 218">
            <a:extLst>
              <a:ext uri="{FF2B5EF4-FFF2-40B4-BE49-F238E27FC236}">
                <a16:creationId xmlns:a16="http://schemas.microsoft.com/office/drawing/2014/main" id="{57EC6D70-30AF-B778-B81B-2EB0C1EEF62D}"/>
              </a:ext>
            </a:extLst>
          </p:cNvPr>
          <p:cNvSpPr/>
          <p:nvPr/>
        </p:nvSpPr>
        <p:spPr bwMode="auto">
          <a:xfrm>
            <a:off x="775653" y="287703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0" name="Oval 219">
            <a:extLst>
              <a:ext uri="{FF2B5EF4-FFF2-40B4-BE49-F238E27FC236}">
                <a16:creationId xmlns:a16="http://schemas.microsoft.com/office/drawing/2014/main" id="{581E7A46-BD18-31A1-9818-82B9A29A4A6F}"/>
              </a:ext>
            </a:extLst>
          </p:cNvPr>
          <p:cNvSpPr/>
          <p:nvPr/>
        </p:nvSpPr>
        <p:spPr bwMode="auto">
          <a:xfrm>
            <a:off x="775653" y="349844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1" name="Oval 220">
            <a:extLst>
              <a:ext uri="{FF2B5EF4-FFF2-40B4-BE49-F238E27FC236}">
                <a16:creationId xmlns:a16="http://schemas.microsoft.com/office/drawing/2014/main" id="{C4575477-3340-7EDF-3132-32158582F25A}"/>
              </a:ext>
            </a:extLst>
          </p:cNvPr>
          <p:cNvSpPr/>
          <p:nvPr/>
        </p:nvSpPr>
        <p:spPr bwMode="auto">
          <a:xfrm>
            <a:off x="775653" y="39557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2" name="Oval 221">
            <a:extLst>
              <a:ext uri="{FF2B5EF4-FFF2-40B4-BE49-F238E27FC236}">
                <a16:creationId xmlns:a16="http://schemas.microsoft.com/office/drawing/2014/main" id="{F6AEA6C6-DD4E-3394-32C2-E4AB665BCB23}"/>
              </a:ext>
            </a:extLst>
          </p:cNvPr>
          <p:cNvSpPr/>
          <p:nvPr/>
        </p:nvSpPr>
        <p:spPr bwMode="auto">
          <a:xfrm>
            <a:off x="775653" y="490540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2" name="Straight Connector 1">
            <a:extLst>
              <a:ext uri="{FF2B5EF4-FFF2-40B4-BE49-F238E27FC236}">
                <a16:creationId xmlns:a16="http://schemas.microsoft.com/office/drawing/2014/main" id="{63166972-277A-6152-3C3D-DE0ABCD3A26F}"/>
              </a:ext>
              <a:ext uri="{C183D7F6-B498-43B3-948B-1728B52AA6E4}">
                <adec:decorative xmlns:adec="http://schemas.microsoft.com/office/drawing/2017/decorative" val="1"/>
              </a:ext>
            </a:extLst>
          </p:cNvPr>
          <p:cNvCxnSpPr>
            <a:cxnSpLocks/>
          </p:cNvCxnSpPr>
          <p:nvPr/>
        </p:nvCxnSpPr>
        <p:spPr>
          <a:xfrm>
            <a:off x="9353855" y="4750144"/>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289D36D-154C-A230-EB32-D74D38BF77BD}"/>
              </a:ext>
              <a:ext uri="{C183D7F6-B498-43B3-948B-1728B52AA6E4}">
                <adec:decorative xmlns:adec="http://schemas.microsoft.com/office/drawing/2017/decorative" val="1"/>
              </a:ext>
            </a:extLst>
          </p:cNvPr>
          <p:cNvCxnSpPr>
            <a:cxnSpLocks/>
          </p:cNvCxnSpPr>
          <p:nvPr/>
        </p:nvCxnSpPr>
        <p:spPr>
          <a:xfrm>
            <a:off x="9353855" y="4281251"/>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03BBE56-80C1-2C6D-EBF1-1B90D5713B34}"/>
              </a:ext>
              <a:ext uri="{C183D7F6-B498-43B3-948B-1728B52AA6E4}">
                <adec:decorative xmlns:adec="http://schemas.microsoft.com/office/drawing/2017/decorative" val="1"/>
              </a:ext>
            </a:extLst>
          </p:cNvPr>
          <p:cNvCxnSpPr>
            <a:cxnSpLocks/>
          </p:cNvCxnSpPr>
          <p:nvPr/>
        </p:nvCxnSpPr>
        <p:spPr>
          <a:xfrm>
            <a:off x="9353855" y="368016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5203B6-BDF4-0D0B-F0E6-1E4B9B31916C}"/>
              </a:ext>
              <a:ext uri="{C183D7F6-B498-43B3-948B-1728B52AA6E4}">
                <adec:decorative xmlns:adec="http://schemas.microsoft.com/office/drawing/2017/decorative" val="1"/>
              </a:ext>
            </a:extLst>
          </p:cNvPr>
          <p:cNvCxnSpPr>
            <a:cxnSpLocks/>
          </p:cNvCxnSpPr>
          <p:nvPr/>
        </p:nvCxnSpPr>
        <p:spPr>
          <a:xfrm>
            <a:off x="9353855" y="326741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3E2DBEE-D905-B5E2-03CA-A1F258C85A4A}"/>
              </a:ext>
              <a:ext uri="{C183D7F6-B498-43B3-948B-1728B52AA6E4}">
                <adec:decorative xmlns:adec="http://schemas.microsoft.com/office/drawing/2017/decorative" val="1"/>
              </a:ext>
            </a:extLst>
          </p:cNvPr>
          <p:cNvCxnSpPr>
            <a:cxnSpLocks/>
          </p:cNvCxnSpPr>
          <p:nvPr/>
        </p:nvCxnSpPr>
        <p:spPr>
          <a:xfrm>
            <a:off x="9353855" y="3023437"/>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CD03562-2DA3-AB49-D324-BD323FAF6578}"/>
              </a:ext>
              <a:ext uri="{C183D7F6-B498-43B3-948B-1728B52AA6E4}">
                <adec:decorative xmlns:adec="http://schemas.microsoft.com/office/drawing/2017/decorative" val="1"/>
              </a:ext>
            </a:extLst>
          </p:cNvPr>
          <p:cNvCxnSpPr>
            <a:cxnSpLocks/>
          </p:cNvCxnSpPr>
          <p:nvPr/>
        </p:nvCxnSpPr>
        <p:spPr>
          <a:xfrm>
            <a:off x="9353855" y="260066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41F996-BE86-B142-675F-033E589E8C89}"/>
              </a:ext>
              <a:ext uri="{C183D7F6-B498-43B3-948B-1728B52AA6E4}">
                <adec:decorative xmlns:adec="http://schemas.microsoft.com/office/drawing/2017/decorative" val="1"/>
              </a:ext>
            </a:extLst>
          </p:cNvPr>
          <p:cNvCxnSpPr>
            <a:cxnSpLocks/>
          </p:cNvCxnSpPr>
          <p:nvPr/>
        </p:nvCxnSpPr>
        <p:spPr>
          <a:xfrm>
            <a:off x="9353855" y="221331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D6AF5E55-CB58-E45B-0F3D-1A47ECB141DD}"/>
              </a:ext>
            </a:extLst>
          </p:cNvPr>
          <p:cNvSpPr/>
          <p:nvPr/>
        </p:nvSpPr>
        <p:spPr bwMode="auto">
          <a:xfrm>
            <a:off x="6320111" y="24209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8C4C6E5A-7A87-4553-7234-242480727921}"/>
              </a:ext>
            </a:extLst>
          </p:cNvPr>
          <p:cNvSpPr/>
          <p:nvPr/>
        </p:nvSpPr>
        <p:spPr bwMode="auto">
          <a:xfrm>
            <a:off x="6320111" y="27257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Oval 10">
            <a:extLst>
              <a:ext uri="{FF2B5EF4-FFF2-40B4-BE49-F238E27FC236}">
                <a16:creationId xmlns:a16="http://schemas.microsoft.com/office/drawing/2014/main" id="{E04E3578-F66A-1FFC-3C9D-F3674908E580}"/>
              </a:ext>
            </a:extLst>
          </p:cNvPr>
          <p:cNvSpPr/>
          <p:nvPr/>
        </p:nvSpPr>
        <p:spPr bwMode="auto">
          <a:xfrm>
            <a:off x="6320111" y="314964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FB7C1C35-4844-DB26-DABC-56B6CD03C9DC}"/>
              </a:ext>
            </a:extLst>
          </p:cNvPr>
          <p:cNvSpPr/>
          <p:nvPr/>
        </p:nvSpPr>
        <p:spPr bwMode="auto">
          <a:xfrm>
            <a:off x="6320111" y="344016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F73C229A-C392-D810-8D82-F1E8AC91D391}"/>
              </a:ext>
            </a:extLst>
          </p:cNvPr>
          <p:cNvSpPr/>
          <p:nvPr/>
        </p:nvSpPr>
        <p:spPr bwMode="auto">
          <a:xfrm>
            <a:off x="6320111" y="37354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769C7074-7057-3574-467D-E92882D7423F}"/>
              </a:ext>
            </a:extLst>
          </p:cNvPr>
          <p:cNvSpPr/>
          <p:nvPr/>
        </p:nvSpPr>
        <p:spPr bwMode="auto">
          <a:xfrm>
            <a:off x="6320111" y="417358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C6A18434-8CA2-E0B8-E619-DCFF4F4098AB}"/>
              </a:ext>
            </a:extLst>
          </p:cNvPr>
          <p:cNvSpPr/>
          <p:nvPr/>
        </p:nvSpPr>
        <p:spPr bwMode="auto">
          <a:xfrm>
            <a:off x="6320111" y="459506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CD23BBA4-8270-547A-FECE-7E0DE1D43D1F}"/>
              </a:ext>
            </a:extLst>
          </p:cNvPr>
          <p:cNvSpPr/>
          <p:nvPr/>
        </p:nvSpPr>
        <p:spPr bwMode="auto">
          <a:xfrm>
            <a:off x="6320111" y="502369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Oval 16">
            <a:extLst>
              <a:ext uri="{FF2B5EF4-FFF2-40B4-BE49-F238E27FC236}">
                <a16:creationId xmlns:a16="http://schemas.microsoft.com/office/drawing/2014/main" id="{20EAF903-5311-DC24-9F2E-340B1C6216BB}"/>
              </a:ext>
            </a:extLst>
          </p:cNvPr>
          <p:cNvSpPr/>
          <p:nvPr/>
        </p:nvSpPr>
        <p:spPr bwMode="auto">
          <a:xfrm>
            <a:off x="9072891" y="229189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Oval 17">
            <a:extLst>
              <a:ext uri="{FF2B5EF4-FFF2-40B4-BE49-F238E27FC236}">
                <a16:creationId xmlns:a16="http://schemas.microsoft.com/office/drawing/2014/main" id="{4355267D-EB79-BFF0-90FB-E4A5CDD6BC35}"/>
              </a:ext>
            </a:extLst>
          </p:cNvPr>
          <p:cNvSpPr/>
          <p:nvPr/>
        </p:nvSpPr>
        <p:spPr bwMode="auto">
          <a:xfrm>
            <a:off x="9072891" y="268480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Oval 18">
            <a:extLst>
              <a:ext uri="{FF2B5EF4-FFF2-40B4-BE49-F238E27FC236}">
                <a16:creationId xmlns:a16="http://schemas.microsoft.com/office/drawing/2014/main" id="{82B1A0D0-1F11-54BA-1C82-698DA67BC71D}"/>
              </a:ext>
            </a:extLst>
          </p:cNvPr>
          <p:cNvSpPr/>
          <p:nvPr/>
        </p:nvSpPr>
        <p:spPr bwMode="auto">
          <a:xfrm>
            <a:off x="9072891" y="308008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 name="Oval 19">
            <a:extLst>
              <a:ext uri="{FF2B5EF4-FFF2-40B4-BE49-F238E27FC236}">
                <a16:creationId xmlns:a16="http://schemas.microsoft.com/office/drawing/2014/main" id="{C29917C4-0C33-7D9A-AA33-9EA25DB37421}"/>
              </a:ext>
            </a:extLst>
          </p:cNvPr>
          <p:cNvSpPr/>
          <p:nvPr/>
        </p:nvSpPr>
        <p:spPr bwMode="auto">
          <a:xfrm>
            <a:off x="9072891" y="335631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B4A21CDE-334A-2F5D-938C-312E5841DE73}"/>
              </a:ext>
            </a:extLst>
          </p:cNvPr>
          <p:cNvSpPr/>
          <p:nvPr/>
        </p:nvSpPr>
        <p:spPr bwMode="auto">
          <a:xfrm>
            <a:off x="9072891" y="37611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2" name="Oval 21">
            <a:extLst>
              <a:ext uri="{FF2B5EF4-FFF2-40B4-BE49-F238E27FC236}">
                <a16:creationId xmlns:a16="http://schemas.microsoft.com/office/drawing/2014/main" id="{37AB675B-2B04-D921-5F8F-13DA3C14BDEA}"/>
              </a:ext>
            </a:extLst>
          </p:cNvPr>
          <p:cNvSpPr/>
          <p:nvPr/>
        </p:nvSpPr>
        <p:spPr bwMode="auto">
          <a:xfrm>
            <a:off x="9072891" y="442311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3" name="Oval 22">
            <a:extLst>
              <a:ext uri="{FF2B5EF4-FFF2-40B4-BE49-F238E27FC236}">
                <a16:creationId xmlns:a16="http://schemas.microsoft.com/office/drawing/2014/main" id="{CB2263CA-07F6-EF13-6423-E905FFC4AE6E}"/>
              </a:ext>
            </a:extLst>
          </p:cNvPr>
          <p:cNvSpPr/>
          <p:nvPr/>
        </p:nvSpPr>
        <p:spPr bwMode="auto">
          <a:xfrm>
            <a:off x="9072891" y="481601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6" name="Oval 25">
            <a:extLst>
              <a:ext uri="{FF2B5EF4-FFF2-40B4-BE49-F238E27FC236}">
                <a16:creationId xmlns:a16="http://schemas.microsoft.com/office/drawing/2014/main" id="{8D9E30D1-727C-133B-8E0B-B6DC69BA79A8}"/>
              </a:ext>
            </a:extLst>
          </p:cNvPr>
          <p:cNvSpPr/>
          <p:nvPr/>
        </p:nvSpPr>
        <p:spPr bwMode="auto">
          <a:xfrm>
            <a:off x="9072891" y="508033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1" name="TextBox 50">
            <a:extLst>
              <a:ext uri="{FF2B5EF4-FFF2-40B4-BE49-F238E27FC236}">
                <a16:creationId xmlns:a16="http://schemas.microsoft.com/office/drawing/2014/main" id="{668C6803-1B71-C252-078A-1B99D5C684D5}"/>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49" name="TextBox 48">
            <a:extLst>
              <a:ext uri="{FF2B5EF4-FFF2-40B4-BE49-F238E27FC236}">
                <a16:creationId xmlns:a16="http://schemas.microsoft.com/office/drawing/2014/main" id="{50B284AD-88C4-64A0-BD5A-D4E50E2EF5F5}"/>
              </a:ext>
            </a:extLst>
          </p:cNvPr>
          <p:cNvSpPr txBox="1">
            <a:spLocks/>
          </p:cNvSpPr>
          <p:nvPr/>
        </p:nvSpPr>
        <p:spPr>
          <a:xfrm>
            <a:off x="675670" y="1332989"/>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52" name="TextBox 51">
            <a:extLst>
              <a:ext uri="{FF2B5EF4-FFF2-40B4-BE49-F238E27FC236}">
                <a16:creationId xmlns:a16="http://schemas.microsoft.com/office/drawing/2014/main" id="{06A26F0E-3149-78C1-FC18-274FBC9FCE55}"/>
              </a:ext>
            </a:extLst>
          </p:cNvPr>
          <p:cNvSpPr txBox="1">
            <a:spLocks/>
          </p:cNvSpPr>
          <p:nvPr/>
        </p:nvSpPr>
        <p:spPr>
          <a:xfrm>
            <a:off x="6235503" y="1325371"/>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50" name="TextBox 49">
            <a:extLst>
              <a:ext uri="{FF2B5EF4-FFF2-40B4-BE49-F238E27FC236}">
                <a16:creationId xmlns:a16="http://schemas.microsoft.com/office/drawing/2014/main" id="{E552046B-2C98-1136-4F90-2B472DF1F6ED}"/>
              </a:ext>
            </a:extLst>
          </p:cNvPr>
          <p:cNvSpPr txBox="1"/>
          <p:nvPr/>
        </p:nvSpPr>
        <p:spPr>
          <a:xfrm>
            <a:off x="6320111" y="1642726"/>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67" name="TextBox 66">
            <a:extLst>
              <a:ext uri="{FF2B5EF4-FFF2-40B4-BE49-F238E27FC236}">
                <a16:creationId xmlns:a16="http://schemas.microsoft.com/office/drawing/2014/main" id="{DF8C8C32-6641-575C-635A-8C3D0A3A1251}"/>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Tree>
    <p:extLst>
      <p:ext uri="{BB962C8B-B14F-4D97-AF65-F5344CB8AC3E}">
        <p14:creationId xmlns:p14="http://schemas.microsoft.com/office/powerpoint/2010/main" val="2559942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6" presetClass="emph" presetSubtype="0" fill="hold" grpId="1" nodeType="withEffect">
                                  <p:stCondLst>
                                    <p:cond delay="0"/>
                                  </p:stCondLst>
                                  <p:childTnLst>
                                    <p:animScale>
                                      <p:cBhvr>
                                        <p:cTn id="9" dur="100" fill="hold"/>
                                        <p:tgtEl>
                                          <p:spTgt spid="51"/>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1"/>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1" grpId="1" animBg="1"/>
      <p:bldP spid="51" grpId="2"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314B6-4BEF-8C12-6B01-CDAE36063A45}"/>
            </a:ext>
          </a:extLst>
        </p:cNvPr>
        <p:cNvGrpSpPr/>
        <p:nvPr/>
      </p:nvGrpSpPr>
      <p:grpSpPr>
        <a:xfrm>
          <a:off x="0" y="0"/>
          <a:ext cx="0" cy="0"/>
          <a:chOff x="0" y="0"/>
          <a:chExt cx="0" cy="0"/>
        </a:xfrm>
      </p:grpSpPr>
      <p:sp>
        <p:nvSpPr>
          <p:cNvPr id="147" name="Rounded Rectangle 55">
            <a:extLst>
              <a:ext uri="{FF2B5EF4-FFF2-40B4-BE49-F238E27FC236}">
                <a16:creationId xmlns:a16="http://schemas.microsoft.com/office/drawing/2014/main" id="{9E83710E-986A-E21B-EF23-A79FA843B06B}"/>
              </a:ext>
              <a:ext uri="{C183D7F6-B498-43B3-948B-1728B52AA6E4}">
                <adec:decorative xmlns:adec="http://schemas.microsoft.com/office/drawing/2017/decorative" val="1"/>
              </a:ext>
            </a:extLst>
          </p:cNvPr>
          <p:cNvSpPr>
            <a:spLocks/>
          </p:cNvSpPr>
          <p:nvPr/>
        </p:nvSpPr>
        <p:spPr bwMode="auto">
          <a:xfrm>
            <a:off x="586740" y="1272541"/>
            <a:ext cx="5453761" cy="4540951"/>
          </a:xfrm>
          <a:prstGeom prst="roundRect">
            <a:avLst>
              <a:gd name="adj" fmla="val 2508"/>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48" name="Rounded Rectangle 55">
            <a:extLst>
              <a:ext uri="{FF2B5EF4-FFF2-40B4-BE49-F238E27FC236}">
                <a16:creationId xmlns:a16="http://schemas.microsoft.com/office/drawing/2014/main" id="{35A88564-A0E4-61AE-9F8E-CC5DFCA4000D}"/>
              </a:ext>
              <a:ext uri="{C183D7F6-B498-43B3-948B-1728B52AA6E4}">
                <adec:decorative xmlns:adec="http://schemas.microsoft.com/office/drawing/2017/decorative" val="1"/>
              </a:ext>
            </a:extLst>
          </p:cNvPr>
          <p:cNvSpPr>
            <a:spLocks/>
          </p:cNvSpPr>
          <p:nvPr/>
        </p:nvSpPr>
        <p:spPr bwMode="auto">
          <a:xfrm>
            <a:off x="6152452" y="1272541"/>
            <a:ext cx="5453761" cy="4540951"/>
          </a:xfrm>
          <a:prstGeom prst="roundRect">
            <a:avLst>
              <a:gd name="adj" fmla="val 2508"/>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4" name="Title 101">
            <a:extLst>
              <a:ext uri="{FF2B5EF4-FFF2-40B4-BE49-F238E27FC236}">
                <a16:creationId xmlns:a16="http://schemas.microsoft.com/office/drawing/2014/main" id="{D979A7F3-8E64-4989-2CC8-A6E0CDC7AB0B}"/>
              </a:ext>
            </a:extLst>
          </p:cNvPr>
          <p:cNvSpPr>
            <a:spLocks noGrp="1"/>
          </p:cNvSpPr>
          <p:nvPr>
            <p:ph type="title"/>
          </p:nvPr>
        </p:nvSpPr>
        <p:spPr>
          <a:xfrm>
            <a:off x="585787" y="743738"/>
            <a:ext cx="8606515" cy="639032"/>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GitHub Enterprise Server to GitHub Enterprise Cloud</a:t>
            </a:r>
          </a:p>
        </p:txBody>
      </p:sp>
      <p:sp>
        <p:nvSpPr>
          <p:cNvPr id="8" name="Oval 7">
            <a:extLst>
              <a:ext uri="{FF2B5EF4-FFF2-40B4-BE49-F238E27FC236}">
                <a16:creationId xmlns:a16="http://schemas.microsoft.com/office/drawing/2014/main" id="{57213BCB-AB05-C01E-57FC-3E4CC383FDC7}"/>
              </a:ext>
            </a:extLst>
          </p:cNvPr>
          <p:cNvSpPr/>
          <p:nvPr/>
        </p:nvSpPr>
        <p:spPr bwMode="auto">
          <a:xfrm>
            <a:off x="6320111" y="19534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Oval 8">
            <a:extLst>
              <a:ext uri="{FF2B5EF4-FFF2-40B4-BE49-F238E27FC236}">
                <a16:creationId xmlns:a16="http://schemas.microsoft.com/office/drawing/2014/main" id="{BA79A48C-5980-0DE6-C5FC-DE0BF3204133}"/>
              </a:ext>
            </a:extLst>
          </p:cNvPr>
          <p:cNvSpPr/>
          <p:nvPr/>
        </p:nvSpPr>
        <p:spPr bwMode="auto">
          <a:xfrm>
            <a:off x="775653" y="17864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AA6A0F8A-2D3B-889D-9BA9-95BC08FDCC67}"/>
              </a:ext>
            </a:extLst>
          </p:cNvPr>
          <p:cNvSpPr/>
          <p:nvPr/>
        </p:nvSpPr>
        <p:spPr bwMode="auto">
          <a:xfrm>
            <a:off x="9072891" y="19553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EF45B8D9-8DB7-1C2B-639E-919FC93235E1}"/>
              </a:ext>
            </a:extLst>
          </p:cNvPr>
          <p:cNvSpPr txBox="1"/>
          <p:nvPr/>
        </p:nvSpPr>
        <p:spPr>
          <a:xfrm>
            <a:off x="6608440" y="1941288"/>
            <a:ext cx="2285059" cy="276999"/>
          </a:xfrm>
          <a:prstGeom prst="rect">
            <a:avLst/>
          </a:prstGeom>
          <a:noFill/>
        </p:spPr>
        <p:txBody>
          <a:bodyPr wrap="square" lIns="0" tIns="0" rIns="0" bIns="0">
            <a:spAutoFit/>
          </a:bodyPr>
          <a:lstStyle/>
          <a:p>
            <a:pPr marL="0" lvl="1">
              <a:defRPr/>
            </a:pPr>
            <a:r>
              <a:rPr lang="en-US" sz="900" kern="0" noProof="0" dirty="0"/>
              <a:t>Migration of Artifacts, Permissions (Rulesets), GitHub Projects and Dashboards.</a:t>
            </a:r>
          </a:p>
        </p:txBody>
      </p:sp>
      <p:sp>
        <p:nvSpPr>
          <p:cNvPr id="15" name="TextBox 14">
            <a:extLst>
              <a:ext uri="{FF2B5EF4-FFF2-40B4-BE49-F238E27FC236}">
                <a16:creationId xmlns:a16="http://schemas.microsoft.com/office/drawing/2014/main" id="{B2846908-B6B1-3AB0-7161-B1853EA70DEE}"/>
              </a:ext>
            </a:extLst>
          </p:cNvPr>
          <p:cNvSpPr txBox="1"/>
          <p:nvPr/>
        </p:nvSpPr>
        <p:spPr>
          <a:xfrm>
            <a:off x="1044951" y="1786465"/>
            <a:ext cx="4801764" cy="318036"/>
          </a:xfrm>
          <a:prstGeom prst="rect">
            <a:avLst/>
          </a:prstGeom>
          <a:noFill/>
        </p:spPr>
        <p:txBody>
          <a:bodyPr wrap="square" lIns="0" tIns="0" rIns="0" bIns="0">
            <a:spAutoFit/>
          </a:bodyPr>
          <a:lstStyle/>
          <a:p>
            <a:pPr lvl="0">
              <a:spcAft>
                <a:spcPts val="200"/>
              </a:spcAft>
              <a:defRPr/>
            </a:pPr>
            <a:r>
              <a:rPr lang="en-US" sz="1000" kern="0" noProof="0" dirty="0">
                <a:latin typeface="+mj-lt"/>
              </a:rPr>
              <a:t>Scenario:</a:t>
            </a:r>
          </a:p>
          <a:p>
            <a:pPr marL="204788" lvl="1" indent="-133350">
              <a:spcAft>
                <a:spcPts val="200"/>
              </a:spcAft>
              <a:buFont typeface="Arial" panose="020B0604020202020204" pitchFamily="34" charset="0"/>
              <a:buChar char="•"/>
              <a:defRPr/>
            </a:pPr>
            <a:r>
              <a:rPr lang="en-US" sz="900" kern="0" noProof="0" dirty="0"/>
              <a:t>Repository Migration from GHES to GHEC</a:t>
            </a:r>
            <a:endParaRPr lang="en-US" sz="900" noProof="0" dirty="0">
              <a:cs typeface="Segoe UI"/>
            </a:endParaRPr>
          </a:p>
        </p:txBody>
      </p:sp>
      <p:sp>
        <p:nvSpPr>
          <p:cNvPr id="16" name="TextBox 15">
            <a:extLst>
              <a:ext uri="{FF2B5EF4-FFF2-40B4-BE49-F238E27FC236}">
                <a16:creationId xmlns:a16="http://schemas.microsoft.com/office/drawing/2014/main" id="{D0AAADC4-680B-C908-9765-1802381295E6}"/>
              </a:ext>
            </a:extLst>
          </p:cNvPr>
          <p:cNvSpPr txBox="1"/>
          <p:nvPr/>
        </p:nvSpPr>
        <p:spPr>
          <a:xfrm>
            <a:off x="9361221" y="1941288"/>
            <a:ext cx="2151329" cy="276999"/>
          </a:xfrm>
          <a:prstGeom prst="rect">
            <a:avLst/>
          </a:prstGeom>
          <a:noFill/>
        </p:spPr>
        <p:txBody>
          <a:bodyPr wrap="square" lIns="0" tIns="0" rIns="0" bIns="0">
            <a:spAutoFit/>
          </a:bodyPr>
          <a:lstStyle/>
          <a:p>
            <a:pPr marL="0" lvl="1">
              <a:defRPr/>
            </a:pPr>
            <a:r>
              <a:rPr lang="en-US" sz="900" kern="0" noProof="0" dirty="0"/>
              <a:t>GHES Storage Configuration for Local Storage</a:t>
            </a:r>
          </a:p>
        </p:txBody>
      </p:sp>
      <p:sp>
        <p:nvSpPr>
          <p:cNvPr id="19" name="TextBox 8">
            <a:extLst>
              <a:ext uri="{FF2B5EF4-FFF2-40B4-BE49-F238E27FC236}">
                <a16:creationId xmlns:a16="http://schemas.microsoft.com/office/drawing/2014/main" id="{EC95F33F-F091-9B80-8FE8-B7581F168130}"/>
              </a:ext>
            </a:extLst>
          </p:cNvPr>
          <p:cNvSpPr txBox="1">
            <a:spLocks/>
          </p:cNvSpPr>
          <p:nvPr/>
        </p:nvSpPr>
        <p:spPr>
          <a:xfrm>
            <a:off x="1044951" y="2178854"/>
            <a:ext cx="4801764" cy="707886"/>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effectLst/>
                <a:uLnTx/>
                <a:uFillTx/>
                <a:latin typeface="+mj-lt"/>
                <a:ea typeface="+mn-ea"/>
                <a:cs typeface="+mn-cs"/>
              </a:rPr>
              <a:t>Artifacts Migrated:</a:t>
            </a:r>
          </a:p>
          <a:p>
            <a:pPr marL="204788" marR="0" lvl="2" indent="-1285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effectLst/>
                <a:uLnTx/>
                <a:uFillTx/>
                <a:ea typeface="+mn-lt"/>
                <a:cs typeface="Segoe UI"/>
              </a:rPr>
              <a:t>Repository – Commits, Branches, History, Tags, Environments and Variables (Org, Repo, Environment Level)</a:t>
            </a:r>
          </a:p>
          <a:p>
            <a:pPr marL="204788" marR="0" lvl="2" indent="-1285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effectLst/>
                <a:uLnTx/>
                <a:uFillTx/>
                <a:ea typeface="+mn-lt"/>
                <a:cs typeface="Segoe UI"/>
              </a:rPr>
              <a:t>Pull Requests – Closed PRs, Comments, Reviews, Status Checks</a:t>
            </a:r>
          </a:p>
          <a:p>
            <a:pPr marL="204788" marR="0" lvl="2" indent="-1285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dirty="0">
                <a:ln>
                  <a:noFill/>
                </a:ln>
                <a:effectLst/>
                <a:uLnTx/>
                <a:uFillTx/>
                <a:ea typeface="+mn-lt"/>
                <a:cs typeface="Segoe UI"/>
              </a:rPr>
              <a:t>Pipelines-YAML Migration (Only GitHub Workflows)</a:t>
            </a:r>
            <a:endParaRPr kumimoji="0" lang="en-US" sz="900" b="0" i="0" u="none" strike="noStrike" kern="0" cap="none" spc="0" normalizeH="0" baseline="0" noProof="0" dirty="0">
              <a:ln>
                <a:noFill/>
              </a:ln>
              <a:effectLst/>
              <a:uLnTx/>
              <a:uFillTx/>
              <a:ea typeface="Calibri"/>
              <a:cs typeface="Segoe UI"/>
            </a:endParaRPr>
          </a:p>
        </p:txBody>
      </p:sp>
      <p:sp>
        <p:nvSpPr>
          <p:cNvPr id="20" name="TextBox 8">
            <a:extLst>
              <a:ext uri="{FF2B5EF4-FFF2-40B4-BE49-F238E27FC236}">
                <a16:creationId xmlns:a16="http://schemas.microsoft.com/office/drawing/2014/main" id="{7530819A-6BB2-9D0B-58D5-45A7DAC0E024}"/>
              </a:ext>
            </a:extLst>
          </p:cNvPr>
          <p:cNvSpPr txBox="1">
            <a:spLocks/>
          </p:cNvSpPr>
          <p:nvPr/>
        </p:nvSpPr>
        <p:spPr>
          <a:xfrm>
            <a:off x="1044951" y="2986741"/>
            <a:ext cx="4801764" cy="464230"/>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effectLst/>
                <a:uLnTx/>
                <a:uFillTx/>
                <a:latin typeface="+mj-lt"/>
                <a:ea typeface="+mn-ea"/>
                <a:cs typeface="+mn-cs"/>
              </a:rPr>
              <a:t>Supported Platform: </a:t>
            </a:r>
          </a:p>
          <a:p>
            <a:pPr marL="204788" marR="0" lvl="1" indent="-12382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effectLst/>
                <a:uLnTx/>
                <a:uFillTx/>
                <a:ea typeface="+mn-ea"/>
                <a:cs typeface="+mn-cs"/>
              </a:rPr>
              <a:t>Source: GitHub Enterprise Server (GHES) Version 3.4.1+</a:t>
            </a:r>
          </a:p>
          <a:p>
            <a:pPr marL="204788" marR="0" lvl="1" indent="-12382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0" cap="none" spc="0" normalizeH="0" baseline="0" noProof="0" dirty="0">
                <a:ln>
                  <a:noFill/>
                </a:ln>
                <a:effectLst/>
                <a:uLnTx/>
                <a:uFillTx/>
                <a:ea typeface="+mn-ea"/>
                <a:cs typeface="+mn-cs"/>
              </a:rPr>
              <a:t>Target: GitHub Enterprise Cloud (GHEC)/EMU/Data Residency</a:t>
            </a:r>
            <a:endParaRPr kumimoji="0" lang="en-US" sz="900" b="0" i="0" u="none" strike="noStrike" kern="0" cap="none" spc="0" normalizeH="0" baseline="0" noProof="0" dirty="0">
              <a:ln>
                <a:noFill/>
              </a:ln>
              <a:effectLst/>
              <a:uLnTx/>
              <a:uFillTx/>
              <a:ea typeface="+mn-ea"/>
              <a:cs typeface="Segoe UI"/>
            </a:endParaRPr>
          </a:p>
        </p:txBody>
      </p:sp>
      <p:sp>
        <p:nvSpPr>
          <p:cNvPr id="21" name="TextBox 8">
            <a:extLst>
              <a:ext uri="{FF2B5EF4-FFF2-40B4-BE49-F238E27FC236}">
                <a16:creationId xmlns:a16="http://schemas.microsoft.com/office/drawing/2014/main" id="{4F6D6DF8-51C7-36F5-9B8A-B4309ADFA3F1}"/>
              </a:ext>
            </a:extLst>
          </p:cNvPr>
          <p:cNvSpPr txBox="1">
            <a:spLocks/>
          </p:cNvSpPr>
          <p:nvPr/>
        </p:nvSpPr>
        <p:spPr>
          <a:xfrm>
            <a:off x="1044951" y="3550972"/>
            <a:ext cx="4801764" cy="707886"/>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effectLst/>
                <a:uLnTx/>
                <a:uFillTx/>
                <a:latin typeface="+mj-lt"/>
                <a:ea typeface="+mn-ea"/>
                <a:cs typeface="+mn-cs"/>
              </a:rPr>
              <a:t>Assessment and Planning:</a:t>
            </a:r>
          </a:p>
          <a:p>
            <a:pPr marL="214313"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Installation of GitHub CLI and GH-GEI extension</a:t>
            </a:r>
            <a:endParaRPr kumimoji="0" lang="en-US" sz="900" b="0" i="0" u="none" strike="noStrike" kern="1200" cap="none" spc="0" normalizeH="0" baseline="0" noProof="0" dirty="0">
              <a:ln>
                <a:noFill/>
              </a:ln>
              <a:effectLst/>
              <a:uLnTx/>
              <a:uFillTx/>
              <a:ea typeface="+mn-ea"/>
              <a:cs typeface="Segoe UI"/>
            </a:endParaRPr>
          </a:p>
          <a:p>
            <a:pPr marL="214313"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Generate repository inventory report</a:t>
            </a:r>
            <a:endParaRPr kumimoji="0" lang="en-US" sz="900" b="0" i="0" u="none" strike="noStrike" kern="1200" cap="none" spc="0" normalizeH="0" baseline="0" noProof="0" dirty="0">
              <a:ln>
                <a:noFill/>
              </a:ln>
              <a:effectLst/>
              <a:uLnTx/>
              <a:uFillTx/>
              <a:ea typeface="+mn-ea"/>
              <a:cs typeface="Segoe UI"/>
            </a:endParaRPr>
          </a:p>
          <a:p>
            <a:pPr marL="214313"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Analysis, discuss and finalize repositories, pipeline workflow dependencies for migration </a:t>
            </a:r>
            <a:endParaRPr kumimoji="0" lang="en-US" sz="900" b="0" i="0" u="none" strike="noStrike" kern="1200" cap="none" spc="0" normalizeH="0" baseline="0" noProof="0" dirty="0">
              <a:ln>
                <a:noFill/>
              </a:ln>
              <a:effectLst/>
              <a:uLnTx/>
              <a:uFillTx/>
              <a:ea typeface="+mn-ea"/>
              <a:cs typeface="Segoe UI"/>
            </a:endParaRPr>
          </a:p>
          <a:p>
            <a:pPr marL="214313"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Schedule repositories for migration</a:t>
            </a:r>
          </a:p>
        </p:txBody>
      </p:sp>
      <p:sp>
        <p:nvSpPr>
          <p:cNvPr id="22" name="TextBox 8">
            <a:extLst>
              <a:ext uri="{FF2B5EF4-FFF2-40B4-BE49-F238E27FC236}">
                <a16:creationId xmlns:a16="http://schemas.microsoft.com/office/drawing/2014/main" id="{3E62A314-3879-FD99-B495-14AAEB9F15FF}"/>
              </a:ext>
            </a:extLst>
          </p:cNvPr>
          <p:cNvSpPr txBox="1">
            <a:spLocks/>
          </p:cNvSpPr>
          <p:nvPr/>
        </p:nvSpPr>
        <p:spPr>
          <a:xfrm>
            <a:off x="1044951" y="4358859"/>
            <a:ext cx="4801764" cy="984885"/>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effectLst/>
                <a:uLnTx/>
                <a:uFillTx/>
                <a:latin typeface="+mj-lt"/>
                <a:ea typeface="+mn-ea"/>
                <a:cs typeface="+mn-cs"/>
              </a:rPr>
              <a:t>Execution: </a:t>
            </a:r>
          </a:p>
          <a:p>
            <a:pPr marL="209550"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Perform repository (source code + pipeline YAML) migration </a:t>
            </a:r>
            <a:r>
              <a:rPr kumimoji="0" lang="en-US" sz="900" b="0" i="0" u="none" strike="noStrike" kern="1200" cap="none" spc="0" normalizeH="0" baseline="0" noProof="0" dirty="0">
                <a:ln>
                  <a:noFill/>
                </a:ln>
                <a:effectLst/>
                <a:uLnTx/>
                <a:uFillTx/>
                <a:ea typeface="+mn-ea"/>
                <a:cs typeface="Segoe UI" panose="020B0502040204020203" pitchFamily="34" charset="0"/>
              </a:rPr>
              <a:t>(GEI supported Repo sizes)</a:t>
            </a:r>
            <a:endParaRPr kumimoji="0" lang="en-US" sz="900" b="0" i="0" u="none" strike="noStrike" kern="1200" cap="none" spc="0" normalizeH="0" baseline="0" noProof="0" dirty="0">
              <a:ln>
                <a:noFill/>
              </a:ln>
              <a:effectLst/>
              <a:uLnTx/>
              <a:uFillTx/>
              <a:ea typeface="+mn-ea"/>
              <a:cs typeface="+mn-cs"/>
            </a:endParaRPr>
          </a:p>
          <a:p>
            <a:pPr marL="209550"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Monitor the Migration progress</a:t>
            </a:r>
          </a:p>
          <a:p>
            <a:pPr marL="209550"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Basic validation of source &amp; target repository </a:t>
            </a:r>
          </a:p>
          <a:p>
            <a:pPr marL="209550"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Mannequin reclamation</a:t>
            </a:r>
          </a:p>
          <a:p>
            <a:pPr marL="209550"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Pipeline Dependency Migration : </a:t>
            </a:r>
            <a:r>
              <a:rPr kumimoji="0" lang="en-US" sz="900" b="0" i="0" u="none" strike="noStrike" kern="0" cap="none" spc="0" normalizeH="0" baseline="0" noProof="0" dirty="0">
                <a:ln>
                  <a:noFill/>
                </a:ln>
                <a:effectLst/>
                <a:uLnTx/>
                <a:uFillTx/>
                <a:ea typeface="+mn-lt"/>
                <a:cs typeface="Segoe UI"/>
              </a:rPr>
              <a:t>Environments and Variables (Org, Repo and Environment Level)</a:t>
            </a:r>
          </a:p>
        </p:txBody>
      </p:sp>
      <p:sp>
        <p:nvSpPr>
          <p:cNvPr id="23" name="TextBox 8">
            <a:extLst>
              <a:ext uri="{FF2B5EF4-FFF2-40B4-BE49-F238E27FC236}">
                <a16:creationId xmlns:a16="http://schemas.microsoft.com/office/drawing/2014/main" id="{EFD923B9-62F9-6AAB-0742-5DCD00E0B1AB}"/>
              </a:ext>
            </a:extLst>
          </p:cNvPr>
          <p:cNvSpPr txBox="1">
            <a:spLocks/>
          </p:cNvSpPr>
          <p:nvPr/>
        </p:nvSpPr>
        <p:spPr>
          <a:xfrm>
            <a:off x="1044951" y="5443743"/>
            <a:ext cx="4801764" cy="292388"/>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effectLst/>
                <a:uLnTx/>
                <a:uFillTx/>
                <a:latin typeface="+mj-lt"/>
                <a:ea typeface="+mn-ea"/>
                <a:cs typeface="+mn-cs"/>
              </a:rPr>
              <a:t>Signoff: </a:t>
            </a:r>
          </a:p>
          <a:p>
            <a:pPr marL="214313" marR="0" lvl="2" indent="-1381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effectLst/>
                <a:uLnTx/>
                <a:uFillTx/>
                <a:ea typeface="+mn-ea"/>
                <a:cs typeface="+mn-cs"/>
              </a:rPr>
              <a:t>Discuss the migration with the customer and finalize their sign‑off.</a:t>
            </a:r>
          </a:p>
        </p:txBody>
      </p:sp>
      <p:sp>
        <p:nvSpPr>
          <p:cNvPr id="24" name="TextBox 23">
            <a:extLst>
              <a:ext uri="{FF2B5EF4-FFF2-40B4-BE49-F238E27FC236}">
                <a16:creationId xmlns:a16="http://schemas.microsoft.com/office/drawing/2014/main" id="{F49AD982-862C-08D7-E77D-297291C64929}"/>
              </a:ext>
            </a:extLst>
          </p:cNvPr>
          <p:cNvSpPr txBox="1">
            <a:spLocks/>
          </p:cNvSpPr>
          <p:nvPr/>
        </p:nvSpPr>
        <p:spPr>
          <a:xfrm>
            <a:off x="9361221" y="2400399"/>
            <a:ext cx="215132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Testing of application/pipelines dependencies and functionality</a:t>
            </a:r>
            <a:endParaRPr kumimoji="0" lang="en-US" sz="900" b="0" i="0" u="none" strike="noStrike" kern="0" cap="none" spc="0" normalizeH="0" baseline="0" noProof="0" dirty="0">
              <a:ln>
                <a:noFill/>
              </a:ln>
              <a:effectLst/>
              <a:uLnTx/>
              <a:uFillTx/>
              <a:ea typeface="+mn-lt"/>
              <a:cs typeface="Segoe UI"/>
              <a:hlinkClick r:id="rId3">
                <a:extLst>
                  <a:ext uri="{A12FA001-AC4F-418D-AE19-62706E023703}">
                    <ahyp:hlinkClr xmlns:ahyp="http://schemas.microsoft.com/office/drawing/2018/hyperlinkcolor" val="tx"/>
                  </a:ext>
                </a:extLst>
              </a:hlinkClick>
            </a:endParaRPr>
          </a:p>
        </p:txBody>
      </p:sp>
      <p:sp>
        <p:nvSpPr>
          <p:cNvPr id="25" name="TextBox 24">
            <a:extLst>
              <a:ext uri="{FF2B5EF4-FFF2-40B4-BE49-F238E27FC236}">
                <a16:creationId xmlns:a16="http://schemas.microsoft.com/office/drawing/2014/main" id="{0FC20E3E-00CC-D688-7A70-1B9ABCBFA118}"/>
              </a:ext>
            </a:extLst>
          </p:cNvPr>
          <p:cNvSpPr txBox="1">
            <a:spLocks/>
          </p:cNvSpPr>
          <p:nvPr/>
        </p:nvSpPr>
        <p:spPr>
          <a:xfrm>
            <a:off x="6608440" y="2388174"/>
            <a:ext cx="2285059"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mn-ea"/>
                <a:cs typeface="+mn-cs"/>
              </a:rPr>
              <a:t>Migration of Git LFS and Submodules </a:t>
            </a:r>
          </a:p>
        </p:txBody>
      </p:sp>
      <p:sp>
        <p:nvSpPr>
          <p:cNvPr id="26" name="TextBox 25">
            <a:extLst>
              <a:ext uri="{FF2B5EF4-FFF2-40B4-BE49-F238E27FC236}">
                <a16:creationId xmlns:a16="http://schemas.microsoft.com/office/drawing/2014/main" id="{E7943208-D52F-6638-8CC9-C8022D5CC6B0}"/>
              </a:ext>
            </a:extLst>
          </p:cNvPr>
          <p:cNvSpPr txBox="1">
            <a:spLocks/>
          </p:cNvSpPr>
          <p:nvPr/>
        </p:nvSpPr>
        <p:spPr>
          <a:xfrm>
            <a:off x="6608440" y="3898718"/>
            <a:ext cx="2285059" cy="276999"/>
          </a:xfrm>
          <a:prstGeom prst="rect">
            <a:avLst/>
          </a:prstGeom>
          <a:noFill/>
        </p:spPr>
        <p:txBody>
          <a:bodyPr wrap="square" lIns="0" tIns="0" rIns="0" bIns="0" anchor="t">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Enablement of SSO with SCIM and Creation of Teams &amp; permissions</a:t>
            </a:r>
          </a:p>
        </p:txBody>
      </p:sp>
      <p:sp>
        <p:nvSpPr>
          <p:cNvPr id="27" name="TextBox 9">
            <a:extLst>
              <a:ext uri="{FF2B5EF4-FFF2-40B4-BE49-F238E27FC236}">
                <a16:creationId xmlns:a16="http://schemas.microsoft.com/office/drawing/2014/main" id="{2B0EC20D-4DB6-2CBA-CAE9-4A7AD74C4DD5}"/>
              </a:ext>
            </a:extLst>
          </p:cNvPr>
          <p:cNvSpPr txBox="1">
            <a:spLocks/>
          </p:cNvSpPr>
          <p:nvPr/>
        </p:nvSpPr>
        <p:spPr>
          <a:xfrm>
            <a:off x="6608440" y="3143446"/>
            <a:ext cx="2285059" cy="138499"/>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mn-ea"/>
                <a:cs typeface="+mn-cs"/>
              </a:rPr>
              <a:t>Repo Performance Analysis</a:t>
            </a:r>
          </a:p>
        </p:txBody>
      </p:sp>
      <p:sp>
        <p:nvSpPr>
          <p:cNvPr id="28" name="TextBox 27">
            <a:extLst>
              <a:ext uri="{FF2B5EF4-FFF2-40B4-BE49-F238E27FC236}">
                <a16:creationId xmlns:a16="http://schemas.microsoft.com/office/drawing/2014/main" id="{A9215DA0-C572-C501-CE42-72CBA2EC2300}"/>
              </a:ext>
            </a:extLst>
          </p:cNvPr>
          <p:cNvSpPr txBox="1">
            <a:spLocks/>
          </p:cNvSpPr>
          <p:nvPr/>
        </p:nvSpPr>
        <p:spPr>
          <a:xfrm>
            <a:off x="6608440" y="2696560"/>
            <a:ext cx="228505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Design, Architect, Advisory and Consulting </a:t>
            </a:r>
            <a:r>
              <a:rPr kumimoji="0" lang="en-US" sz="900" b="0" i="0" u="none" strike="noStrike" kern="0" cap="none" spc="0" normalizeH="0" baseline="0" noProof="0" dirty="0">
                <a:ln>
                  <a:noFill/>
                </a:ln>
                <a:effectLst/>
                <a:uLnTx/>
                <a:uFillTx/>
                <a:ea typeface="Calibri"/>
                <a:cs typeface="Segoe UI"/>
              </a:rPr>
              <a:t>services</a:t>
            </a:r>
          </a:p>
        </p:txBody>
      </p:sp>
      <p:sp>
        <p:nvSpPr>
          <p:cNvPr id="29" name="TextBox 28">
            <a:extLst>
              <a:ext uri="{FF2B5EF4-FFF2-40B4-BE49-F238E27FC236}">
                <a16:creationId xmlns:a16="http://schemas.microsoft.com/office/drawing/2014/main" id="{7860A20B-A9D3-44D9-B752-E1E25602C3A4}"/>
              </a:ext>
            </a:extLst>
          </p:cNvPr>
          <p:cNvSpPr txBox="1">
            <a:spLocks/>
          </p:cNvSpPr>
          <p:nvPr/>
        </p:nvSpPr>
        <p:spPr>
          <a:xfrm>
            <a:off x="9361221" y="3318621"/>
            <a:ext cx="2151329" cy="1384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Disaster recovery setup, configuration</a:t>
            </a:r>
            <a:endParaRPr kumimoji="0" lang="en-US" sz="900" b="0" i="0" u="none" strike="noStrike" kern="0" cap="none" spc="0" normalizeH="0" baseline="0" noProof="0" dirty="0">
              <a:ln>
                <a:noFill/>
              </a:ln>
              <a:effectLst/>
              <a:uLnTx/>
              <a:uFillTx/>
              <a:ea typeface="Calibri"/>
              <a:cs typeface="Segoe UI"/>
            </a:endParaRPr>
          </a:p>
        </p:txBody>
      </p:sp>
      <p:sp>
        <p:nvSpPr>
          <p:cNvPr id="30" name="TextBox 29">
            <a:extLst>
              <a:ext uri="{FF2B5EF4-FFF2-40B4-BE49-F238E27FC236}">
                <a16:creationId xmlns:a16="http://schemas.microsoft.com/office/drawing/2014/main" id="{BB32629A-6E2C-0962-1816-515D1DB3DF56}"/>
              </a:ext>
            </a:extLst>
          </p:cNvPr>
          <p:cNvSpPr txBox="1">
            <a:spLocks/>
          </p:cNvSpPr>
          <p:nvPr/>
        </p:nvSpPr>
        <p:spPr>
          <a:xfrm>
            <a:off x="9361221" y="3639232"/>
            <a:ext cx="215132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Any other migration path not listed in the Scope/not supported by migration tool</a:t>
            </a:r>
          </a:p>
        </p:txBody>
      </p:sp>
      <p:sp>
        <p:nvSpPr>
          <p:cNvPr id="31" name="TextBox 30">
            <a:extLst>
              <a:ext uri="{FF2B5EF4-FFF2-40B4-BE49-F238E27FC236}">
                <a16:creationId xmlns:a16="http://schemas.microsoft.com/office/drawing/2014/main" id="{2E1A7497-2B49-FEC9-0472-05F4F36F2D73}"/>
              </a:ext>
            </a:extLst>
          </p:cNvPr>
          <p:cNvSpPr txBox="1">
            <a:spLocks/>
          </p:cNvSpPr>
          <p:nvPr/>
        </p:nvSpPr>
        <p:spPr>
          <a:xfrm>
            <a:off x="9361221" y="2859510"/>
            <a:ext cx="215132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Modifying files or content in the source and target repositories</a:t>
            </a:r>
            <a:endParaRPr kumimoji="0" lang="en-US" sz="900" b="0" i="0" u="none" strike="noStrike" kern="0" cap="none" spc="0" normalizeH="0" baseline="0" noProof="0" dirty="0">
              <a:ln>
                <a:noFill/>
              </a:ln>
              <a:effectLst/>
              <a:uLnTx/>
              <a:uFillTx/>
              <a:ea typeface="+mn-lt"/>
              <a:cs typeface="Segoe UI"/>
              <a:hlinkClick r:id="rId3">
                <a:extLst>
                  <a:ext uri="{A12FA001-AC4F-418D-AE19-62706E023703}">
                    <ahyp:hlinkClr xmlns:ahyp="http://schemas.microsoft.com/office/drawing/2018/hyperlinkcolor" val="tx"/>
                  </a:ext>
                </a:extLst>
              </a:hlinkClick>
            </a:endParaRPr>
          </a:p>
        </p:txBody>
      </p:sp>
      <p:sp>
        <p:nvSpPr>
          <p:cNvPr id="32" name="TextBox 31">
            <a:extLst>
              <a:ext uri="{FF2B5EF4-FFF2-40B4-BE49-F238E27FC236}">
                <a16:creationId xmlns:a16="http://schemas.microsoft.com/office/drawing/2014/main" id="{0211E3E4-1F93-351F-821E-D98D005F58BC}"/>
              </a:ext>
            </a:extLst>
          </p:cNvPr>
          <p:cNvSpPr txBox="1">
            <a:spLocks/>
          </p:cNvSpPr>
          <p:nvPr/>
        </p:nvSpPr>
        <p:spPr>
          <a:xfrm>
            <a:off x="6608440" y="3451832"/>
            <a:ext cx="228505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Clean-up/Decommission of source repository </a:t>
            </a:r>
            <a:endParaRPr kumimoji="0" lang="en-US" sz="900" b="0" i="0" u="none" strike="noStrike" kern="0" cap="none" spc="0" normalizeH="0" baseline="0" noProof="0" dirty="0">
              <a:ln>
                <a:noFill/>
              </a:ln>
              <a:effectLst/>
              <a:uLnTx/>
              <a:uFillTx/>
              <a:ea typeface="+mn-lt"/>
              <a:cs typeface="Segoe UI"/>
              <a:hlinkClick r:id="rId3">
                <a:extLst>
                  <a:ext uri="{A12FA001-AC4F-418D-AE19-62706E023703}">
                    <ahyp:hlinkClr xmlns:ahyp="http://schemas.microsoft.com/office/drawing/2018/hyperlinkcolor" val="tx"/>
                  </a:ext>
                </a:extLst>
              </a:hlinkClick>
            </a:endParaRPr>
          </a:p>
        </p:txBody>
      </p:sp>
      <p:sp>
        <p:nvSpPr>
          <p:cNvPr id="33" name="TextBox 32">
            <a:extLst>
              <a:ext uri="{FF2B5EF4-FFF2-40B4-BE49-F238E27FC236}">
                <a16:creationId xmlns:a16="http://schemas.microsoft.com/office/drawing/2014/main" id="{EE79F2ED-53C4-5533-35D0-D8324D0F05DF}"/>
              </a:ext>
            </a:extLst>
          </p:cNvPr>
          <p:cNvSpPr txBox="1">
            <a:spLocks/>
          </p:cNvSpPr>
          <p:nvPr/>
        </p:nvSpPr>
        <p:spPr>
          <a:xfrm>
            <a:off x="6608440" y="4345604"/>
            <a:ext cx="228505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Creation of PAT tokens, Service Connection and Integration of Tools</a:t>
            </a:r>
          </a:p>
        </p:txBody>
      </p:sp>
      <p:sp>
        <p:nvSpPr>
          <p:cNvPr id="34" name="TextBox 33">
            <a:extLst>
              <a:ext uri="{FF2B5EF4-FFF2-40B4-BE49-F238E27FC236}">
                <a16:creationId xmlns:a16="http://schemas.microsoft.com/office/drawing/2014/main" id="{6633FE59-085E-1A5D-4A9C-5825E26E097F}"/>
              </a:ext>
            </a:extLst>
          </p:cNvPr>
          <p:cNvSpPr txBox="1">
            <a:spLocks/>
          </p:cNvSpPr>
          <p:nvPr/>
        </p:nvSpPr>
        <p:spPr>
          <a:xfrm>
            <a:off x="9361221" y="4098343"/>
            <a:ext cx="215132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Establishing network connectivity between GHES, GHEC and the VM environments</a:t>
            </a:r>
          </a:p>
        </p:txBody>
      </p:sp>
      <p:sp>
        <p:nvSpPr>
          <p:cNvPr id="35" name="TextBox 34">
            <a:extLst>
              <a:ext uri="{FF2B5EF4-FFF2-40B4-BE49-F238E27FC236}">
                <a16:creationId xmlns:a16="http://schemas.microsoft.com/office/drawing/2014/main" id="{6FCB1DE0-2A68-CEA4-B9FC-91DD7330CA9E}"/>
              </a:ext>
            </a:extLst>
          </p:cNvPr>
          <p:cNvSpPr txBox="1">
            <a:spLocks/>
          </p:cNvSpPr>
          <p:nvPr/>
        </p:nvSpPr>
        <p:spPr>
          <a:xfrm>
            <a:off x="6608440" y="4792490"/>
            <a:ext cx="2285059" cy="2769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Verifying whether external tools work correctly after migration </a:t>
            </a:r>
          </a:p>
        </p:txBody>
      </p:sp>
      <p:sp>
        <p:nvSpPr>
          <p:cNvPr id="36" name="TextBox 35">
            <a:extLst>
              <a:ext uri="{FF2B5EF4-FFF2-40B4-BE49-F238E27FC236}">
                <a16:creationId xmlns:a16="http://schemas.microsoft.com/office/drawing/2014/main" id="{439BA3A6-DFCA-6602-AF5F-40E417609E70}"/>
              </a:ext>
            </a:extLst>
          </p:cNvPr>
          <p:cNvSpPr txBox="1">
            <a:spLocks/>
          </p:cNvSpPr>
          <p:nvPr/>
        </p:nvSpPr>
        <p:spPr>
          <a:xfrm>
            <a:off x="9361221" y="4557454"/>
            <a:ext cx="2151329" cy="2769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Calibri"/>
                <a:cs typeface="Calibri"/>
              </a:rPr>
              <a:t>Checking whether user permissions are set correctly after migration</a:t>
            </a:r>
          </a:p>
        </p:txBody>
      </p:sp>
      <p:sp>
        <p:nvSpPr>
          <p:cNvPr id="37" name="TextBox 36">
            <a:extLst>
              <a:ext uri="{FF2B5EF4-FFF2-40B4-BE49-F238E27FC236}">
                <a16:creationId xmlns:a16="http://schemas.microsoft.com/office/drawing/2014/main" id="{931228D1-FBD7-195D-F979-B7A011670119}"/>
              </a:ext>
            </a:extLst>
          </p:cNvPr>
          <p:cNvSpPr txBox="1">
            <a:spLocks/>
          </p:cNvSpPr>
          <p:nvPr/>
        </p:nvSpPr>
        <p:spPr>
          <a:xfrm>
            <a:off x="6608440" y="5239376"/>
            <a:ext cx="2285059"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Platform configuration and onboarding</a:t>
            </a:r>
          </a:p>
        </p:txBody>
      </p:sp>
      <p:sp>
        <p:nvSpPr>
          <p:cNvPr id="38" name="TextBox 37">
            <a:extLst>
              <a:ext uri="{FF2B5EF4-FFF2-40B4-BE49-F238E27FC236}">
                <a16:creationId xmlns:a16="http://schemas.microsoft.com/office/drawing/2014/main" id="{AF5112A4-4ED9-FA95-F285-43708FD65CE4}"/>
              </a:ext>
            </a:extLst>
          </p:cNvPr>
          <p:cNvSpPr txBox="1">
            <a:spLocks/>
          </p:cNvSpPr>
          <p:nvPr/>
        </p:nvSpPr>
        <p:spPr>
          <a:xfrm>
            <a:off x="9361221" y="5016568"/>
            <a:ext cx="2151329" cy="138499"/>
          </a:xfrm>
          <a:prstGeom prst="rect">
            <a:avLst/>
          </a:prstGeom>
          <a:noFill/>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ea typeface="+mn-ea"/>
                <a:cs typeface="+mn-cs"/>
              </a:rPr>
              <a:t>Secrets from GHES to GHEC</a:t>
            </a:r>
          </a:p>
        </p:txBody>
      </p:sp>
      <p:sp>
        <p:nvSpPr>
          <p:cNvPr id="39" name="TextBox 38">
            <a:extLst>
              <a:ext uri="{FF2B5EF4-FFF2-40B4-BE49-F238E27FC236}">
                <a16:creationId xmlns:a16="http://schemas.microsoft.com/office/drawing/2014/main" id="{0FD9127B-1C0F-A695-D2F0-6FE5AD74188A}"/>
              </a:ext>
            </a:extLst>
          </p:cNvPr>
          <p:cNvSpPr txBox="1">
            <a:spLocks/>
          </p:cNvSpPr>
          <p:nvPr/>
        </p:nvSpPr>
        <p:spPr>
          <a:xfrm>
            <a:off x="6608440" y="5547761"/>
            <a:ext cx="2285059" cy="138499"/>
          </a:xfrm>
          <a:prstGeom prst="rect">
            <a:avLst/>
          </a:prstGeom>
          <a:noFill/>
        </p:spPr>
        <p:txBody>
          <a:bodyPr wrap="square" lIns="0" tIns="0" rIns="0" bIns="0">
            <a:spAutoFit/>
          </a:bodyPr>
          <a:lstStyle>
            <a:defPPr>
              <a:defRPr lang="en-US"/>
            </a:defPPr>
            <a:lvl2pPr marL="0" marR="0" lvl="1" indent="0" fontAlgn="auto">
              <a:lnSpc>
                <a:spcPct val="100000"/>
              </a:lnSpc>
              <a:spcBef>
                <a:spcPts val="0"/>
              </a:spcBef>
              <a:spcAft>
                <a:spcPts val="0"/>
              </a:spcAft>
              <a:buClrTx/>
              <a:buSzTx/>
              <a:buFontTx/>
              <a:buNone/>
              <a:tabLst/>
              <a:defRPr kumimoji="0" sz="900" b="0" i="0" u="none" strike="noStrike" kern="0" cap="none" spc="0" normalizeH="0" baseline="0">
                <a:ln>
                  <a:noFill/>
                </a:ln>
                <a:solidFill>
                  <a:srgbClr val="000000"/>
                </a:solidFill>
                <a:effectLst/>
                <a:uLnTx/>
                <a:uFillTx/>
                <a:latin typeface="Segoe UI"/>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Configure GitHub Runners in GHEC</a:t>
            </a:r>
          </a:p>
        </p:txBody>
      </p:sp>
      <p:sp>
        <p:nvSpPr>
          <p:cNvPr id="42" name="TextBox 41">
            <a:extLst>
              <a:ext uri="{FF2B5EF4-FFF2-40B4-BE49-F238E27FC236}">
                <a16:creationId xmlns:a16="http://schemas.microsoft.com/office/drawing/2014/main" id="{69544D6E-2DE2-2F86-FB0B-BB3CF09F5095}"/>
              </a:ext>
            </a:extLst>
          </p:cNvPr>
          <p:cNvSpPr txBox="1"/>
          <p:nvPr/>
        </p:nvSpPr>
        <p:spPr>
          <a:xfrm>
            <a:off x="586740" y="6053273"/>
            <a:ext cx="1170623" cy="475211"/>
          </a:xfrm>
          <a:prstGeom prst="roundRect">
            <a:avLst>
              <a:gd name="adj" fmla="val 1265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Tool Limitation</a:t>
            </a:r>
          </a:p>
        </p:txBody>
      </p:sp>
      <p:sp>
        <p:nvSpPr>
          <p:cNvPr id="44" name="TextBox 43">
            <a:extLst>
              <a:ext uri="{FF2B5EF4-FFF2-40B4-BE49-F238E27FC236}">
                <a16:creationId xmlns:a16="http://schemas.microsoft.com/office/drawing/2014/main" id="{7F031DE4-557F-5420-6500-A549AD2BBC1A}"/>
              </a:ext>
            </a:extLst>
          </p:cNvPr>
          <p:cNvSpPr txBox="1"/>
          <p:nvPr/>
        </p:nvSpPr>
        <p:spPr>
          <a:xfrm>
            <a:off x="2470150" y="6108978"/>
            <a:ext cx="2235414" cy="369332"/>
          </a:xfrm>
          <a:prstGeom prst="rect">
            <a:avLst/>
          </a:prstGeom>
          <a:noFill/>
        </p:spPr>
        <p:txBody>
          <a:bodyPr rot="0" spcFirstLastPara="0" vertOverflow="overflow" horzOverflow="overflow" vert="horz" wrap="square" lIns="0" tIns="0" rIns="45720" bIns="0" numCol="1" spcCol="0" rtlCol="0" fromWordArt="0" anchor="t" anchorCtr="0" forceAA="0" compatLnSpc="1">
            <a:prstTxWarp prst="textNoShape">
              <a:avLst/>
            </a:prstTxWarp>
            <a:spAutoFit/>
          </a:bodyPr>
          <a:lstStyle/>
          <a:p>
            <a:pPr marL="171450" indent="-114300">
              <a:buFont typeface="Arial" panose="020B0604020202020204" pitchFamily="34" charset="0"/>
              <a:buChar char="•"/>
              <a:defRPr/>
            </a:pPr>
            <a:r>
              <a:rPr lang="en-US" sz="800" kern="0" noProof="0" dirty="0"/>
              <a:t>2 GiB size limit for a single Git commit</a:t>
            </a:r>
          </a:p>
          <a:p>
            <a:pPr marL="171450" indent="-114300">
              <a:buFont typeface="Arial" panose="020B0604020202020204" pitchFamily="34" charset="0"/>
              <a:buChar char="•"/>
              <a:defRPr/>
            </a:pPr>
            <a:r>
              <a:rPr lang="en-US" sz="800" kern="0" noProof="0" dirty="0"/>
              <a:t>255 byte limit for Git references</a:t>
            </a:r>
          </a:p>
          <a:p>
            <a:pPr marL="171450" indent="-114300">
              <a:buFont typeface="Arial" panose="020B0604020202020204" pitchFamily="34" charset="0"/>
              <a:buChar char="•"/>
              <a:defRPr/>
            </a:pPr>
            <a:r>
              <a:rPr lang="en-US" sz="800" kern="0" noProof="0" dirty="0"/>
              <a:t>100 MiB file size limit</a:t>
            </a:r>
          </a:p>
        </p:txBody>
      </p:sp>
      <p:sp>
        <p:nvSpPr>
          <p:cNvPr id="48" name="TextBox 47">
            <a:extLst>
              <a:ext uri="{FF2B5EF4-FFF2-40B4-BE49-F238E27FC236}">
                <a16:creationId xmlns:a16="http://schemas.microsoft.com/office/drawing/2014/main" id="{AA5F425C-B41E-5CB7-2258-CA29D40D0C8C}"/>
              </a:ext>
            </a:extLst>
          </p:cNvPr>
          <p:cNvSpPr txBox="1"/>
          <p:nvPr/>
        </p:nvSpPr>
        <p:spPr>
          <a:xfrm>
            <a:off x="5961334" y="6108978"/>
            <a:ext cx="2396854" cy="369332"/>
          </a:xfrm>
          <a:prstGeom prst="rect">
            <a:avLst/>
          </a:prstGeom>
          <a:noFill/>
        </p:spPr>
        <p:txBody>
          <a:bodyPr rot="0" spcFirstLastPara="0" vertOverflow="overflow" horzOverflow="overflow" vert="horz" wrap="square" lIns="0" tIns="0" rIns="45720" bIns="0" numCol="1" spcCol="0" rtlCol="0" fromWordArt="0" anchor="t" anchorCtr="0" forceAA="0" compatLnSpc="1">
            <a:prstTxWarp prst="textNoShape">
              <a:avLst/>
            </a:prstTxWarp>
            <a:spAutoFit/>
          </a:bodyPr>
          <a:lstStyle/>
          <a:p>
            <a:pPr marL="171450" indent="-114300">
              <a:buFont typeface="Arial" panose="020B0604020202020204" pitchFamily="34" charset="0"/>
              <a:buChar char="•"/>
              <a:defRPr/>
            </a:pPr>
            <a:r>
              <a:rPr lang="en-US" sz="800" kern="0" noProof="0" dirty="0"/>
              <a:t>40 GiB size limit for a Git repository</a:t>
            </a:r>
          </a:p>
          <a:p>
            <a:pPr marL="171450" indent="-114300">
              <a:buFont typeface="Arial" panose="020B0604020202020204" pitchFamily="34" charset="0"/>
              <a:buChar char="•"/>
              <a:defRPr/>
            </a:pPr>
            <a:r>
              <a:rPr lang="en-US" sz="800" kern="0" noProof="0" dirty="0"/>
              <a:t>400 MiB file size limit</a:t>
            </a:r>
          </a:p>
          <a:p>
            <a:pPr marL="171450" indent="-114300">
              <a:buFont typeface="Arial" panose="020B0604020202020204" pitchFamily="34" charset="0"/>
              <a:buChar char="•"/>
              <a:defRPr/>
            </a:pPr>
            <a:r>
              <a:rPr lang="en-US" sz="800" kern="0" noProof="0" dirty="0"/>
              <a:t>Should not be more than 20 GiB for metadata </a:t>
            </a:r>
          </a:p>
        </p:txBody>
      </p:sp>
      <p:sp>
        <p:nvSpPr>
          <p:cNvPr id="49" name="TextBox 48">
            <a:extLst>
              <a:ext uri="{FF2B5EF4-FFF2-40B4-BE49-F238E27FC236}">
                <a16:creationId xmlns:a16="http://schemas.microsoft.com/office/drawing/2014/main" id="{CB41FDFA-3C38-6016-4E28-5FDF527CA750}"/>
              </a:ext>
            </a:extLst>
          </p:cNvPr>
          <p:cNvSpPr txBox="1"/>
          <p:nvPr/>
        </p:nvSpPr>
        <p:spPr>
          <a:xfrm>
            <a:off x="2014931" y="6108978"/>
            <a:ext cx="826180" cy="2308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lvl="0">
              <a:defRPr/>
            </a:pPr>
            <a:r>
              <a:rPr lang="en-US" sz="900" noProof="0" dirty="0">
                <a:latin typeface="+mj-lt"/>
              </a:rPr>
              <a:t>GitHub</a:t>
            </a:r>
          </a:p>
        </p:txBody>
      </p:sp>
      <p:sp>
        <p:nvSpPr>
          <p:cNvPr id="53" name="TextBox 52">
            <a:extLst>
              <a:ext uri="{FF2B5EF4-FFF2-40B4-BE49-F238E27FC236}">
                <a16:creationId xmlns:a16="http://schemas.microsoft.com/office/drawing/2014/main" id="{D9A26349-0F9B-E34D-6621-044A77FB7642}"/>
              </a:ext>
            </a:extLst>
          </p:cNvPr>
          <p:cNvSpPr txBox="1"/>
          <p:nvPr/>
        </p:nvSpPr>
        <p:spPr>
          <a:xfrm>
            <a:off x="4951146" y="6108978"/>
            <a:ext cx="1089355" cy="369332"/>
          </a:xfrm>
          <a:prstGeom prst="rect">
            <a:avLst/>
          </a:prstGeom>
          <a:noFill/>
        </p:spPr>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pPr lvl="0">
              <a:defRPr/>
            </a:pPr>
            <a:r>
              <a:rPr lang="en-US" sz="900" noProof="0" dirty="0">
                <a:latin typeface="+mj-lt"/>
              </a:rPr>
              <a:t>GitHub Enterprise Importer (GEI)</a:t>
            </a:r>
          </a:p>
        </p:txBody>
      </p:sp>
      <p:cxnSp>
        <p:nvCxnSpPr>
          <p:cNvPr id="62" name="Straight Connector 61">
            <a:extLst>
              <a:ext uri="{FF2B5EF4-FFF2-40B4-BE49-F238E27FC236}">
                <a16:creationId xmlns:a16="http://schemas.microsoft.com/office/drawing/2014/main" id="{F191B9DD-DA5F-F8A9-401B-1E76D92EBE69}"/>
              </a:ext>
            </a:extLst>
          </p:cNvPr>
          <p:cNvCxnSpPr>
            <a:cxnSpLocks/>
          </p:cNvCxnSpPr>
          <p:nvPr/>
        </p:nvCxnSpPr>
        <p:spPr>
          <a:xfrm>
            <a:off x="4671240" y="6095843"/>
            <a:ext cx="0" cy="391459"/>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7E7B4050-EDD1-DC4B-8FA2-911CB8A4383E}"/>
              </a:ext>
              <a:ext uri="{C183D7F6-B498-43B3-948B-1728B52AA6E4}">
                <adec:decorative xmlns:adec="http://schemas.microsoft.com/office/drawing/2017/decorative" val="1"/>
              </a:ext>
            </a:extLst>
          </p:cNvPr>
          <p:cNvCxnSpPr>
            <a:cxnSpLocks/>
          </p:cNvCxnSpPr>
          <p:nvPr/>
        </p:nvCxnSpPr>
        <p:spPr>
          <a:xfrm>
            <a:off x="1025901" y="214782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4E63E5A-30F1-1967-B75E-E1CD983D5498}"/>
              </a:ext>
              <a:ext uri="{C183D7F6-B498-43B3-948B-1728B52AA6E4}">
                <adec:decorative xmlns:adec="http://schemas.microsoft.com/office/drawing/2017/decorative" val="1"/>
              </a:ext>
            </a:extLst>
          </p:cNvPr>
          <p:cNvCxnSpPr>
            <a:cxnSpLocks/>
          </p:cNvCxnSpPr>
          <p:nvPr/>
        </p:nvCxnSpPr>
        <p:spPr>
          <a:xfrm>
            <a:off x="1025901" y="293522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345639B-5659-92B5-E027-56B4773F3DFA}"/>
              </a:ext>
              <a:ext uri="{C183D7F6-B498-43B3-948B-1728B52AA6E4}">
                <adec:decorative xmlns:adec="http://schemas.microsoft.com/office/drawing/2017/decorative" val="1"/>
              </a:ext>
            </a:extLst>
          </p:cNvPr>
          <p:cNvCxnSpPr>
            <a:cxnSpLocks/>
          </p:cNvCxnSpPr>
          <p:nvPr/>
        </p:nvCxnSpPr>
        <p:spPr>
          <a:xfrm>
            <a:off x="1025901" y="350037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D9534E6-F7CF-2C55-83F3-934E70E12104}"/>
              </a:ext>
              <a:ext uri="{C183D7F6-B498-43B3-948B-1728B52AA6E4}">
                <adec:decorative xmlns:adec="http://schemas.microsoft.com/office/drawing/2017/decorative" val="1"/>
              </a:ext>
            </a:extLst>
          </p:cNvPr>
          <p:cNvCxnSpPr>
            <a:cxnSpLocks/>
          </p:cNvCxnSpPr>
          <p:nvPr/>
        </p:nvCxnSpPr>
        <p:spPr>
          <a:xfrm>
            <a:off x="1025901" y="430682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A67BBC7C-8C07-1395-D8A8-D5B779820C89}"/>
              </a:ext>
              <a:ext uri="{C183D7F6-B498-43B3-948B-1728B52AA6E4}">
                <adec:decorative xmlns:adec="http://schemas.microsoft.com/office/drawing/2017/decorative" val="1"/>
              </a:ext>
            </a:extLst>
          </p:cNvPr>
          <p:cNvCxnSpPr>
            <a:cxnSpLocks/>
          </p:cNvCxnSpPr>
          <p:nvPr/>
        </p:nvCxnSpPr>
        <p:spPr>
          <a:xfrm>
            <a:off x="1025901" y="539902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13D8C23-992F-BD50-451E-F72DDA4F2EA0}"/>
              </a:ext>
              <a:ext uri="{C183D7F6-B498-43B3-948B-1728B52AA6E4}">
                <adec:decorative xmlns:adec="http://schemas.microsoft.com/office/drawing/2017/decorative" val="1"/>
              </a:ext>
            </a:extLst>
          </p:cNvPr>
          <p:cNvCxnSpPr>
            <a:cxnSpLocks/>
          </p:cNvCxnSpPr>
          <p:nvPr/>
        </p:nvCxnSpPr>
        <p:spPr>
          <a:xfrm>
            <a:off x="6627490" y="231140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9F59DA3-1770-913C-5BD4-17CEBB1446DE}"/>
              </a:ext>
              <a:ext uri="{C183D7F6-B498-43B3-948B-1728B52AA6E4}">
                <adec:decorative xmlns:adec="http://schemas.microsoft.com/office/drawing/2017/decorative" val="1"/>
              </a:ext>
            </a:extLst>
          </p:cNvPr>
          <p:cNvCxnSpPr>
            <a:cxnSpLocks/>
          </p:cNvCxnSpPr>
          <p:nvPr/>
        </p:nvCxnSpPr>
        <p:spPr>
          <a:xfrm>
            <a:off x="9353855" y="229113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FA3B761-F801-73F4-20D7-EBE8DE793E3B}"/>
              </a:ext>
              <a:ext uri="{C183D7F6-B498-43B3-948B-1728B52AA6E4}">
                <adec:decorative xmlns:adec="http://schemas.microsoft.com/office/drawing/2017/decorative" val="1"/>
              </a:ext>
            </a:extLst>
          </p:cNvPr>
          <p:cNvCxnSpPr>
            <a:cxnSpLocks/>
          </p:cNvCxnSpPr>
          <p:nvPr/>
        </p:nvCxnSpPr>
        <p:spPr>
          <a:xfrm>
            <a:off x="9353855" y="323728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51A83CD-8283-6ADC-F517-4937DDFBE719}"/>
              </a:ext>
              <a:ext uri="{C183D7F6-B498-43B3-948B-1728B52AA6E4}">
                <adec:decorative xmlns:adec="http://schemas.microsoft.com/office/drawing/2017/decorative" val="1"/>
              </a:ext>
            </a:extLst>
          </p:cNvPr>
          <p:cNvCxnSpPr>
            <a:cxnSpLocks/>
          </p:cNvCxnSpPr>
          <p:nvPr/>
        </p:nvCxnSpPr>
        <p:spPr>
          <a:xfrm>
            <a:off x="9353855" y="276103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4933A437-96CF-1C01-A08C-5E63AF32EB86}"/>
              </a:ext>
              <a:ext uri="{C183D7F6-B498-43B3-948B-1728B52AA6E4}">
                <adec:decorative xmlns:adec="http://schemas.microsoft.com/office/drawing/2017/decorative" val="1"/>
              </a:ext>
            </a:extLst>
          </p:cNvPr>
          <p:cNvCxnSpPr>
            <a:cxnSpLocks/>
          </p:cNvCxnSpPr>
          <p:nvPr/>
        </p:nvCxnSpPr>
        <p:spPr>
          <a:xfrm>
            <a:off x="9353855" y="355478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23EC368A-9A50-FE64-65B4-EBB664195737}"/>
              </a:ext>
              <a:ext uri="{C183D7F6-B498-43B3-948B-1728B52AA6E4}">
                <adec:decorative xmlns:adec="http://schemas.microsoft.com/office/drawing/2017/decorative" val="1"/>
              </a:ext>
            </a:extLst>
          </p:cNvPr>
          <p:cNvCxnSpPr>
            <a:cxnSpLocks/>
          </p:cNvCxnSpPr>
          <p:nvPr/>
        </p:nvCxnSpPr>
        <p:spPr>
          <a:xfrm>
            <a:off x="9353855" y="401833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7AE37EC-7864-4251-BB3E-1301678292AC}"/>
              </a:ext>
              <a:ext uri="{C183D7F6-B498-43B3-948B-1728B52AA6E4}">
                <adec:decorative xmlns:adec="http://schemas.microsoft.com/office/drawing/2017/decorative" val="1"/>
              </a:ext>
            </a:extLst>
          </p:cNvPr>
          <p:cNvCxnSpPr>
            <a:cxnSpLocks/>
          </p:cNvCxnSpPr>
          <p:nvPr/>
        </p:nvCxnSpPr>
        <p:spPr>
          <a:xfrm>
            <a:off x="9353855" y="446918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A1B773F-F7E7-BCD4-916B-305895333536}"/>
              </a:ext>
              <a:ext uri="{C183D7F6-B498-43B3-948B-1728B52AA6E4}">
                <adec:decorative xmlns:adec="http://schemas.microsoft.com/office/drawing/2017/decorative" val="1"/>
              </a:ext>
            </a:extLst>
          </p:cNvPr>
          <p:cNvCxnSpPr>
            <a:cxnSpLocks/>
          </p:cNvCxnSpPr>
          <p:nvPr/>
        </p:nvCxnSpPr>
        <p:spPr>
          <a:xfrm>
            <a:off x="9353855" y="4932739"/>
            <a:ext cx="21488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E693BC3-0A1E-070F-9038-1751A5504375}"/>
              </a:ext>
              <a:ext uri="{C183D7F6-B498-43B3-948B-1728B52AA6E4}">
                <adec:decorative xmlns:adec="http://schemas.microsoft.com/office/drawing/2017/decorative" val="1"/>
              </a:ext>
            </a:extLst>
          </p:cNvPr>
          <p:cNvCxnSpPr>
            <a:cxnSpLocks/>
          </p:cNvCxnSpPr>
          <p:nvPr/>
        </p:nvCxnSpPr>
        <p:spPr>
          <a:xfrm>
            <a:off x="6627490" y="262890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A6D8918F-98BF-32AE-7884-C6AB6BD55636}"/>
              </a:ext>
              <a:ext uri="{C183D7F6-B498-43B3-948B-1728B52AA6E4}">
                <adec:decorative xmlns:adec="http://schemas.microsoft.com/office/drawing/2017/decorative" val="1"/>
              </a:ext>
            </a:extLst>
          </p:cNvPr>
          <p:cNvCxnSpPr>
            <a:cxnSpLocks/>
          </p:cNvCxnSpPr>
          <p:nvPr/>
        </p:nvCxnSpPr>
        <p:spPr>
          <a:xfrm>
            <a:off x="6627490" y="308610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0E69C6E-55E6-0BF4-8646-485656CBC7E1}"/>
              </a:ext>
              <a:ext uri="{C183D7F6-B498-43B3-948B-1728B52AA6E4}">
                <adec:decorative xmlns:adec="http://schemas.microsoft.com/office/drawing/2017/decorative" val="1"/>
              </a:ext>
            </a:extLst>
          </p:cNvPr>
          <p:cNvCxnSpPr>
            <a:cxnSpLocks/>
          </p:cNvCxnSpPr>
          <p:nvPr/>
        </p:nvCxnSpPr>
        <p:spPr>
          <a:xfrm>
            <a:off x="6627490" y="337185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FE21E5E-9F30-13B5-7BBB-BF52C9A7B424}"/>
              </a:ext>
              <a:ext uri="{C183D7F6-B498-43B3-948B-1728B52AA6E4}">
                <adec:decorative xmlns:adec="http://schemas.microsoft.com/office/drawing/2017/decorative" val="1"/>
              </a:ext>
            </a:extLst>
          </p:cNvPr>
          <p:cNvCxnSpPr>
            <a:cxnSpLocks/>
          </p:cNvCxnSpPr>
          <p:nvPr/>
        </p:nvCxnSpPr>
        <p:spPr>
          <a:xfrm>
            <a:off x="6627490" y="381635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0E7378B4-2F6E-4845-CF07-69DED6E14020}"/>
              </a:ext>
              <a:ext uri="{C183D7F6-B498-43B3-948B-1728B52AA6E4}">
                <adec:decorative xmlns:adec="http://schemas.microsoft.com/office/drawing/2017/decorative" val="1"/>
              </a:ext>
            </a:extLst>
          </p:cNvPr>
          <p:cNvCxnSpPr>
            <a:cxnSpLocks/>
          </p:cNvCxnSpPr>
          <p:nvPr/>
        </p:nvCxnSpPr>
        <p:spPr>
          <a:xfrm>
            <a:off x="6627490" y="426085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CBB751E2-C1A9-CFA1-7A8D-986C1E47DC29}"/>
              </a:ext>
              <a:ext uri="{C183D7F6-B498-43B3-948B-1728B52AA6E4}">
                <adec:decorative xmlns:adec="http://schemas.microsoft.com/office/drawing/2017/decorative" val="1"/>
              </a:ext>
            </a:extLst>
          </p:cNvPr>
          <p:cNvCxnSpPr>
            <a:cxnSpLocks/>
          </p:cNvCxnSpPr>
          <p:nvPr/>
        </p:nvCxnSpPr>
        <p:spPr>
          <a:xfrm>
            <a:off x="6627490" y="4711701"/>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B9DFC05D-CFD2-7277-C69E-003EA58A0649}"/>
              </a:ext>
              <a:ext uri="{C183D7F6-B498-43B3-948B-1728B52AA6E4}">
                <adec:decorative xmlns:adec="http://schemas.microsoft.com/office/drawing/2017/decorative" val="1"/>
              </a:ext>
            </a:extLst>
          </p:cNvPr>
          <p:cNvCxnSpPr>
            <a:cxnSpLocks/>
          </p:cNvCxnSpPr>
          <p:nvPr/>
        </p:nvCxnSpPr>
        <p:spPr>
          <a:xfrm>
            <a:off x="6608440" y="5473984"/>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7F8C842-9514-4BB2-4950-36B09EA9B01C}"/>
              </a:ext>
              <a:ext uri="{C183D7F6-B498-43B3-948B-1728B52AA6E4}">
                <adec:decorative xmlns:adec="http://schemas.microsoft.com/office/drawing/2017/decorative" val="1"/>
              </a:ext>
            </a:extLst>
          </p:cNvPr>
          <p:cNvCxnSpPr>
            <a:cxnSpLocks/>
          </p:cNvCxnSpPr>
          <p:nvPr/>
        </p:nvCxnSpPr>
        <p:spPr>
          <a:xfrm>
            <a:off x="6608440" y="5156484"/>
            <a:ext cx="240487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D1A96BE1-AD5D-3BAC-E180-093DE7237444}"/>
              </a:ext>
            </a:extLst>
          </p:cNvPr>
          <p:cNvSpPr/>
          <p:nvPr/>
        </p:nvSpPr>
        <p:spPr bwMode="auto">
          <a:xfrm>
            <a:off x="9072891" y="24062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4" name="Oval 123">
            <a:extLst>
              <a:ext uri="{FF2B5EF4-FFF2-40B4-BE49-F238E27FC236}">
                <a16:creationId xmlns:a16="http://schemas.microsoft.com/office/drawing/2014/main" id="{ABA3FD8A-4EAE-9C73-F7CA-21106F3E460B}"/>
              </a:ext>
            </a:extLst>
          </p:cNvPr>
          <p:cNvSpPr/>
          <p:nvPr/>
        </p:nvSpPr>
        <p:spPr bwMode="auto">
          <a:xfrm>
            <a:off x="9072891" y="28443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5" name="Oval 124">
            <a:extLst>
              <a:ext uri="{FF2B5EF4-FFF2-40B4-BE49-F238E27FC236}">
                <a16:creationId xmlns:a16="http://schemas.microsoft.com/office/drawing/2014/main" id="{43CB9C48-8DD9-97FC-41AD-C7256FDB4F5C}"/>
              </a:ext>
            </a:extLst>
          </p:cNvPr>
          <p:cNvSpPr/>
          <p:nvPr/>
        </p:nvSpPr>
        <p:spPr bwMode="auto">
          <a:xfrm>
            <a:off x="9072891" y="33015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6" name="Oval 125">
            <a:extLst>
              <a:ext uri="{FF2B5EF4-FFF2-40B4-BE49-F238E27FC236}">
                <a16:creationId xmlns:a16="http://schemas.microsoft.com/office/drawing/2014/main" id="{B7B4AD34-0E43-BC7D-0011-44E5F9A9C9B0}"/>
              </a:ext>
            </a:extLst>
          </p:cNvPr>
          <p:cNvSpPr/>
          <p:nvPr/>
        </p:nvSpPr>
        <p:spPr bwMode="auto">
          <a:xfrm>
            <a:off x="9072891" y="36381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7" name="Oval 126">
            <a:extLst>
              <a:ext uri="{FF2B5EF4-FFF2-40B4-BE49-F238E27FC236}">
                <a16:creationId xmlns:a16="http://schemas.microsoft.com/office/drawing/2014/main" id="{DC4A8B05-6CE3-A464-7EEB-9B4B9CBE467B}"/>
              </a:ext>
            </a:extLst>
          </p:cNvPr>
          <p:cNvSpPr/>
          <p:nvPr/>
        </p:nvSpPr>
        <p:spPr bwMode="auto">
          <a:xfrm>
            <a:off x="9072891" y="41016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8" name="Oval 127">
            <a:extLst>
              <a:ext uri="{FF2B5EF4-FFF2-40B4-BE49-F238E27FC236}">
                <a16:creationId xmlns:a16="http://schemas.microsoft.com/office/drawing/2014/main" id="{2ABFC40A-6F66-B0C1-6F57-53B08A936ECC}"/>
              </a:ext>
            </a:extLst>
          </p:cNvPr>
          <p:cNvSpPr/>
          <p:nvPr/>
        </p:nvSpPr>
        <p:spPr bwMode="auto">
          <a:xfrm>
            <a:off x="9072891" y="455887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9" name="Oval 128">
            <a:extLst>
              <a:ext uri="{FF2B5EF4-FFF2-40B4-BE49-F238E27FC236}">
                <a16:creationId xmlns:a16="http://schemas.microsoft.com/office/drawing/2014/main" id="{244264FF-40A4-DE3D-FD1A-AE48D57A2ED4}"/>
              </a:ext>
            </a:extLst>
          </p:cNvPr>
          <p:cNvSpPr/>
          <p:nvPr/>
        </p:nvSpPr>
        <p:spPr bwMode="auto">
          <a:xfrm>
            <a:off x="9072891" y="50097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0" name="Oval 129">
            <a:extLst>
              <a:ext uri="{FF2B5EF4-FFF2-40B4-BE49-F238E27FC236}">
                <a16:creationId xmlns:a16="http://schemas.microsoft.com/office/drawing/2014/main" id="{C8167B31-6454-78DA-98E2-C87484F1EAC0}"/>
              </a:ext>
            </a:extLst>
          </p:cNvPr>
          <p:cNvSpPr/>
          <p:nvPr/>
        </p:nvSpPr>
        <p:spPr bwMode="auto">
          <a:xfrm>
            <a:off x="6320111" y="23725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1" name="Oval 130">
            <a:extLst>
              <a:ext uri="{FF2B5EF4-FFF2-40B4-BE49-F238E27FC236}">
                <a16:creationId xmlns:a16="http://schemas.microsoft.com/office/drawing/2014/main" id="{272CAB30-C34F-E078-FA43-5595ACC7F73D}"/>
              </a:ext>
            </a:extLst>
          </p:cNvPr>
          <p:cNvSpPr/>
          <p:nvPr/>
        </p:nvSpPr>
        <p:spPr bwMode="auto">
          <a:xfrm>
            <a:off x="6320111" y="27027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2" name="Oval 131">
            <a:extLst>
              <a:ext uri="{FF2B5EF4-FFF2-40B4-BE49-F238E27FC236}">
                <a16:creationId xmlns:a16="http://schemas.microsoft.com/office/drawing/2014/main" id="{DB3C08F1-C711-ECF3-6D60-C703610C9069}"/>
              </a:ext>
            </a:extLst>
          </p:cNvPr>
          <p:cNvSpPr/>
          <p:nvPr/>
        </p:nvSpPr>
        <p:spPr bwMode="auto">
          <a:xfrm>
            <a:off x="6320111" y="31409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3" name="Oval 132">
            <a:extLst>
              <a:ext uri="{FF2B5EF4-FFF2-40B4-BE49-F238E27FC236}">
                <a16:creationId xmlns:a16="http://schemas.microsoft.com/office/drawing/2014/main" id="{67B00519-326B-E373-F6B1-863BB0DDBAD0}"/>
              </a:ext>
            </a:extLst>
          </p:cNvPr>
          <p:cNvSpPr/>
          <p:nvPr/>
        </p:nvSpPr>
        <p:spPr bwMode="auto">
          <a:xfrm>
            <a:off x="6320111" y="34520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4" name="Oval 133">
            <a:extLst>
              <a:ext uri="{FF2B5EF4-FFF2-40B4-BE49-F238E27FC236}">
                <a16:creationId xmlns:a16="http://schemas.microsoft.com/office/drawing/2014/main" id="{F2E69ED0-9AED-E521-4D91-979B0576F852}"/>
              </a:ext>
            </a:extLst>
          </p:cNvPr>
          <p:cNvSpPr/>
          <p:nvPr/>
        </p:nvSpPr>
        <p:spPr bwMode="auto">
          <a:xfrm>
            <a:off x="6320111" y="38965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5" name="Oval 134">
            <a:extLst>
              <a:ext uri="{FF2B5EF4-FFF2-40B4-BE49-F238E27FC236}">
                <a16:creationId xmlns:a16="http://schemas.microsoft.com/office/drawing/2014/main" id="{C56151B3-D016-ED51-6A8C-A4A7768E627C}"/>
              </a:ext>
            </a:extLst>
          </p:cNvPr>
          <p:cNvSpPr/>
          <p:nvPr/>
        </p:nvSpPr>
        <p:spPr bwMode="auto">
          <a:xfrm>
            <a:off x="6320111" y="43410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6" name="Oval 135">
            <a:extLst>
              <a:ext uri="{FF2B5EF4-FFF2-40B4-BE49-F238E27FC236}">
                <a16:creationId xmlns:a16="http://schemas.microsoft.com/office/drawing/2014/main" id="{787B49F8-A423-D75E-B700-0C05B73CEFC0}"/>
              </a:ext>
            </a:extLst>
          </p:cNvPr>
          <p:cNvSpPr/>
          <p:nvPr/>
        </p:nvSpPr>
        <p:spPr bwMode="auto">
          <a:xfrm>
            <a:off x="6320111" y="47665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7" name="Oval 136">
            <a:extLst>
              <a:ext uri="{FF2B5EF4-FFF2-40B4-BE49-F238E27FC236}">
                <a16:creationId xmlns:a16="http://schemas.microsoft.com/office/drawing/2014/main" id="{4C63FAA3-5263-BA01-1591-D82784A780A7}"/>
              </a:ext>
            </a:extLst>
          </p:cNvPr>
          <p:cNvSpPr/>
          <p:nvPr/>
        </p:nvSpPr>
        <p:spPr bwMode="auto">
          <a:xfrm>
            <a:off x="6320111" y="52364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8" name="Oval 137">
            <a:extLst>
              <a:ext uri="{FF2B5EF4-FFF2-40B4-BE49-F238E27FC236}">
                <a16:creationId xmlns:a16="http://schemas.microsoft.com/office/drawing/2014/main" id="{1A06C4B1-457C-5808-DAA6-D764074F5B38}"/>
              </a:ext>
            </a:extLst>
          </p:cNvPr>
          <p:cNvSpPr/>
          <p:nvPr/>
        </p:nvSpPr>
        <p:spPr bwMode="auto">
          <a:xfrm>
            <a:off x="6320111" y="552854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1" name="Oval 150">
            <a:extLst>
              <a:ext uri="{FF2B5EF4-FFF2-40B4-BE49-F238E27FC236}">
                <a16:creationId xmlns:a16="http://schemas.microsoft.com/office/drawing/2014/main" id="{BB2ED4E8-603A-E442-FF4C-CC3A3DDE72C7}"/>
              </a:ext>
            </a:extLst>
          </p:cNvPr>
          <p:cNvSpPr/>
          <p:nvPr/>
        </p:nvSpPr>
        <p:spPr bwMode="auto">
          <a:xfrm>
            <a:off x="775653" y="22106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2" name="Oval 151">
            <a:extLst>
              <a:ext uri="{FF2B5EF4-FFF2-40B4-BE49-F238E27FC236}">
                <a16:creationId xmlns:a16="http://schemas.microsoft.com/office/drawing/2014/main" id="{9D57343D-A1F4-FFDA-CB53-61FF01F405B2}"/>
              </a:ext>
            </a:extLst>
          </p:cNvPr>
          <p:cNvSpPr/>
          <p:nvPr/>
        </p:nvSpPr>
        <p:spPr bwMode="auto">
          <a:xfrm>
            <a:off x="775653" y="29853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3" name="Oval 152">
            <a:extLst>
              <a:ext uri="{FF2B5EF4-FFF2-40B4-BE49-F238E27FC236}">
                <a16:creationId xmlns:a16="http://schemas.microsoft.com/office/drawing/2014/main" id="{9F499518-2976-2811-DAF1-068736F26707}"/>
              </a:ext>
            </a:extLst>
          </p:cNvPr>
          <p:cNvSpPr/>
          <p:nvPr/>
        </p:nvSpPr>
        <p:spPr bwMode="auto">
          <a:xfrm>
            <a:off x="775653" y="356181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4" name="Oval 153">
            <a:extLst>
              <a:ext uri="{FF2B5EF4-FFF2-40B4-BE49-F238E27FC236}">
                <a16:creationId xmlns:a16="http://schemas.microsoft.com/office/drawing/2014/main" id="{DB446ED0-1850-DB8D-0FB7-0BB4C32FF5BC}"/>
              </a:ext>
            </a:extLst>
          </p:cNvPr>
          <p:cNvSpPr/>
          <p:nvPr/>
        </p:nvSpPr>
        <p:spPr bwMode="auto">
          <a:xfrm>
            <a:off x="775653" y="43825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5" name="Oval 154">
            <a:extLst>
              <a:ext uri="{FF2B5EF4-FFF2-40B4-BE49-F238E27FC236}">
                <a16:creationId xmlns:a16="http://schemas.microsoft.com/office/drawing/2014/main" id="{86919FDF-9CD2-2B12-A629-723555EDEC2F}"/>
              </a:ext>
            </a:extLst>
          </p:cNvPr>
          <p:cNvSpPr/>
          <p:nvPr/>
        </p:nvSpPr>
        <p:spPr bwMode="auto">
          <a:xfrm>
            <a:off x="775653" y="54482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0CF1E919-FF15-ABCD-03CE-6C54631F3796}"/>
              </a:ext>
            </a:extLst>
          </p:cNvPr>
          <p:cNvSpPr txBox="1">
            <a:spLocks/>
          </p:cNvSpPr>
          <p:nvPr/>
        </p:nvSpPr>
        <p:spPr>
          <a:xfrm>
            <a:off x="737719" y="1332447"/>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7" name="TextBox 6">
            <a:extLst>
              <a:ext uri="{FF2B5EF4-FFF2-40B4-BE49-F238E27FC236}">
                <a16:creationId xmlns:a16="http://schemas.microsoft.com/office/drawing/2014/main" id="{993364C8-6687-038D-E0F5-DCEE311C1BE3}"/>
              </a:ext>
            </a:extLst>
          </p:cNvPr>
          <p:cNvSpPr txBox="1">
            <a:spLocks/>
          </p:cNvSpPr>
          <p:nvPr/>
        </p:nvSpPr>
        <p:spPr>
          <a:xfrm>
            <a:off x="6251893" y="1329244"/>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6" name="TextBox 5">
            <a:extLst>
              <a:ext uri="{FF2B5EF4-FFF2-40B4-BE49-F238E27FC236}">
                <a16:creationId xmlns:a16="http://schemas.microsoft.com/office/drawing/2014/main" id="{7808F51D-4993-2FBB-30FA-6C2F56F8AE4F}"/>
              </a:ext>
            </a:extLst>
          </p:cNvPr>
          <p:cNvSpPr txBox="1"/>
          <p:nvPr/>
        </p:nvSpPr>
        <p:spPr>
          <a:xfrm>
            <a:off x="6388691" y="1666764"/>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1" name="TextBox 10">
            <a:extLst>
              <a:ext uri="{FF2B5EF4-FFF2-40B4-BE49-F238E27FC236}">
                <a16:creationId xmlns:a16="http://schemas.microsoft.com/office/drawing/2014/main" id="{826C63BE-7483-40EB-60F6-411166C1D36F}"/>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0B945C4A-AC7F-03B3-6604-0998C0713224}"/>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5644743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5">
            <a:extLst>
              <a:ext uri="{FF2B5EF4-FFF2-40B4-BE49-F238E27FC236}">
                <a16:creationId xmlns:a16="http://schemas.microsoft.com/office/drawing/2014/main" id="{0AE6D016-43DD-3A54-2F1A-DF5E9E7BB1A5}"/>
              </a:ext>
            </a:extLst>
          </p:cNvPr>
          <p:cNvSpPr>
            <a:spLocks noGrp="1"/>
          </p:cNvSpPr>
          <p:nvPr>
            <p:ph type="title"/>
          </p:nvPr>
        </p:nvSpPr>
        <p:spPr>
          <a:xfrm>
            <a:off x="577993" y="517279"/>
            <a:ext cx="7153896" cy="877164"/>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a:t>
            </a:r>
            <a:br>
              <a:rPr lang="en-US" sz="30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GitHub Migrations</a:t>
            </a:r>
            <a:endParaRPr lang="en-US" sz="3000" noProof="0" dirty="0"/>
          </a:p>
        </p:txBody>
      </p:sp>
      <p:sp>
        <p:nvSpPr>
          <p:cNvPr id="6" name="Rounded Rectangle 55">
            <a:extLst>
              <a:ext uri="{FF2B5EF4-FFF2-40B4-BE49-F238E27FC236}">
                <a16:creationId xmlns:a16="http://schemas.microsoft.com/office/drawing/2014/main" id="{B3DAC04B-2CC6-751C-88FC-581EEE4CABEF}"/>
              </a:ext>
              <a:ext uri="{C183D7F6-B498-43B3-948B-1728B52AA6E4}">
                <adec:decorative xmlns:adec="http://schemas.microsoft.com/office/drawing/2017/decorative" val="1"/>
              </a:ext>
            </a:extLst>
          </p:cNvPr>
          <p:cNvSpPr/>
          <p:nvPr/>
        </p:nvSpPr>
        <p:spPr bwMode="auto">
          <a:xfrm>
            <a:off x="577993" y="1437005"/>
            <a:ext cx="2448877" cy="3805609"/>
          </a:xfrm>
          <a:prstGeom prst="roundRect">
            <a:avLst>
              <a:gd name="adj" fmla="val 3807"/>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7" name="Content Placeholder 4">
            <a:extLst>
              <a:ext uri="{FF2B5EF4-FFF2-40B4-BE49-F238E27FC236}">
                <a16:creationId xmlns:a16="http://schemas.microsoft.com/office/drawing/2014/main" id="{354235E6-7602-2433-A129-E4147701DFB0}"/>
              </a:ext>
            </a:extLst>
          </p:cNvPr>
          <p:cNvSpPr txBox="1">
            <a:spLocks/>
          </p:cNvSpPr>
          <p:nvPr/>
        </p:nvSpPr>
        <p:spPr>
          <a:xfrm>
            <a:off x="577993" y="1852393"/>
            <a:ext cx="2448877" cy="877163"/>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00000"/>
              </a:lnSpc>
              <a:spcBef>
                <a:spcPts val="0"/>
              </a:spcBef>
              <a:spcAft>
                <a:spcPts val="600"/>
              </a:spcAft>
              <a:buSzTx/>
              <a:buFont typeface="Wingdings" panose="05000000000000000000" pitchFamily="2" charset="2"/>
              <a:buChar char="ü"/>
              <a:defRPr/>
            </a:pPr>
            <a:r>
              <a:rPr lang="en-US" sz="1200" kern="0" noProof="0" dirty="0"/>
              <a:t>Azure DevOps (ADO) Services/</a:t>
            </a:r>
            <a:r>
              <a:rPr lang="en-US" sz="1200" noProof="0" dirty="0">
                <a:ln w="3175">
                  <a:noFill/>
                </a:ln>
              </a:rPr>
              <a:t>Bitbucket Server/ GitLab Server/GHES </a:t>
            </a:r>
            <a:r>
              <a:rPr lang="en-US" sz="1200" noProof="0" dirty="0"/>
              <a:t>to GitHub repositories migration</a:t>
            </a:r>
          </a:p>
        </p:txBody>
      </p:sp>
      <p:sp>
        <p:nvSpPr>
          <p:cNvPr id="8" name="TextBox 7">
            <a:extLst>
              <a:ext uri="{FF2B5EF4-FFF2-40B4-BE49-F238E27FC236}">
                <a16:creationId xmlns:a16="http://schemas.microsoft.com/office/drawing/2014/main" id="{48D99647-29DC-11A5-2396-EDFD22F131C8}"/>
              </a:ext>
            </a:extLst>
          </p:cNvPr>
          <p:cNvSpPr txBox="1"/>
          <p:nvPr/>
        </p:nvSpPr>
        <p:spPr>
          <a:xfrm>
            <a:off x="647910" y="1522129"/>
            <a:ext cx="2309042"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10" name="TextBox 9">
            <a:extLst>
              <a:ext uri="{FF2B5EF4-FFF2-40B4-BE49-F238E27FC236}">
                <a16:creationId xmlns:a16="http://schemas.microsoft.com/office/drawing/2014/main" id="{DA276BD6-A5B5-981A-E1D2-321FF7DE4AE9}"/>
              </a:ext>
            </a:extLst>
          </p:cNvPr>
          <p:cNvSpPr txBox="1"/>
          <p:nvPr/>
        </p:nvSpPr>
        <p:spPr>
          <a:xfrm>
            <a:off x="3425495" y="1615385"/>
            <a:ext cx="8483600" cy="2534027"/>
          </a:xfrm>
          <a:prstGeom prst="rect">
            <a:avLst/>
          </a:prstGeom>
          <a:noFill/>
        </p:spPr>
        <p:txBody>
          <a:bodyPr wrap="square">
            <a:spAutoFit/>
          </a:bodyPr>
          <a:lstStyle/>
          <a:p>
            <a:pPr marL="231775" lvl="1" indent="-231775">
              <a:spcAft>
                <a:spcPts val="400"/>
              </a:spcAft>
              <a:buFont typeface="+mj-lt"/>
              <a:buAutoNum type="arabicPeriod"/>
              <a:defRPr/>
            </a:pPr>
            <a:r>
              <a:rPr lang="en-US" sz="1400" kern="0" noProof="0" dirty="0">
                <a:solidFill>
                  <a:schemeClr val="tx2"/>
                </a:solidFill>
                <a:latin typeface="+mj-lt"/>
              </a:rPr>
              <a:t>Assessment</a:t>
            </a:r>
          </a:p>
          <a:p>
            <a:pPr marL="449263" lvl="1" indent="-144463">
              <a:spcAft>
                <a:spcPts val="400"/>
              </a:spcAft>
              <a:buFont typeface="Arial" panose="020B0604020202020204" pitchFamily="34" charset="0"/>
              <a:buChar char="•"/>
              <a:defRPr/>
            </a:pPr>
            <a:r>
              <a:rPr lang="en-US" sz="1200" kern="0" noProof="0" dirty="0"/>
              <a:t>Generate repository inventory report </a:t>
            </a:r>
          </a:p>
          <a:p>
            <a:pPr marL="449263" lvl="1" indent="-144463">
              <a:spcAft>
                <a:spcPts val="600"/>
              </a:spcAft>
              <a:buFont typeface="Arial" panose="020B0604020202020204" pitchFamily="34" charset="0"/>
              <a:buChar char="•"/>
              <a:defRPr/>
            </a:pPr>
            <a:r>
              <a:rPr lang="en-US" sz="1200" kern="0" noProof="0" dirty="0"/>
              <a:t>Analysis, discuss and finalize repositories for migration</a:t>
            </a:r>
            <a:endParaRPr lang="en-US" sz="1100" kern="0" noProof="0" dirty="0"/>
          </a:p>
          <a:p>
            <a:pPr marL="225425" lvl="1" indent="-225425">
              <a:spcAft>
                <a:spcPts val="400"/>
              </a:spcAft>
              <a:buFont typeface="+mj-lt"/>
              <a:buAutoNum type="arabicPeriod" startAt="2"/>
              <a:defRPr/>
            </a:pPr>
            <a:r>
              <a:rPr lang="en-US" sz="1400" kern="0" noProof="0" dirty="0">
                <a:solidFill>
                  <a:schemeClr val="tx2"/>
                </a:solidFill>
                <a:latin typeface="+mj-lt"/>
              </a:rPr>
              <a:t>Tools Deployment</a:t>
            </a:r>
          </a:p>
          <a:p>
            <a:pPr marL="449263" lvl="1" indent="-144463">
              <a:spcAft>
                <a:spcPts val="600"/>
              </a:spcAft>
              <a:buFont typeface="Arial" panose="020B0604020202020204" pitchFamily="34" charset="0"/>
              <a:buChar char="•"/>
              <a:defRPr/>
            </a:pPr>
            <a:r>
              <a:rPr lang="en-US" sz="1200" kern="0" noProof="0" dirty="0"/>
              <a:t>Deployment of migration tools (GitHub CLI, ADO2GH, BBS2GH, ‘gl-exporter‘ Docker image, GH-GEI)</a:t>
            </a:r>
          </a:p>
          <a:p>
            <a:pPr marL="0" lvl="1">
              <a:spcAft>
                <a:spcPts val="400"/>
              </a:spcAft>
              <a:defRPr/>
            </a:pPr>
            <a:r>
              <a:rPr lang="en-US" sz="1400" kern="0" noProof="0" dirty="0">
                <a:solidFill>
                  <a:srgbClr val="0078D4"/>
                </a:solidFill>
                <a:latin typeface="+mj-lt"/>
              </a:rPr>
              <a:t>3. </a:t>
            </a:r>
            <a:r>
              <a:rPr lang="en-US" sz="1400" kern="0" noProof="0" dirty="0">
                <a:solidFill>
                  <a:schemeClr val="tx2"/>
                </a:solidFill>
                <a:latin typeface="+mj-lt"/>
              </a:rPr>
              <a:t>Repository Migration</a:t>
            </a:r>
          </a:p>
          <a:p>
            <a:pPr marL="449263" lvl="1" indent="-144463">
              <a:spcAft>
                <a:spcPts val="600"/>
              </a:spcAft>
              <a:buFont typeface="Arial" panose="020B0604020202020204" pitchFamily="34" charset="0"/>
              <a:buChar char="•"/>
              <a:defRPr/>
            </a:pPr>
            <a:r>
              <a:rPr lang="en-US" sz="1200" kern="0" noProof="0" dirty="0"/>
              <a:t>Migration of Azure DevOps (ADO) Services/Bitbucket Server/GitLab Server/GHES repositories to GitHub Enterprise Cloud/EMU/Data Residency using respective migration tools </a:t>
            </a:r>
          </a:p>
          <a:p>
            <a:pPr marL="225425" lvl="1" indent="-225425">
              <a:spcAft>
                <a:spcPts val="400"/>
              </a:spcAft>
              <a:buFont typeface="+mj-lt"/>
              <a:buAutoNum type="arabicPeriod" startAt="4"/>
              <a:defRPr/>
            </a:pPr>
            <a:r>
              <a:rPr lang="en-US" sz="1400" kern="0" noProof="0" dirty="0">
                <a:solidFill>
                  <a:schemeClr val="tx2"/>
                </a:solidFill>
                <a:latin typeface="+mj-lt"/>
              </a:rPr>
              <a:t>Post Migration</a:t>
            </a:r>
          </a:p>
          <a:p>
            <a:pPr marL="449263" lvl="1" indent="-144463">
              <a:spcAft>
                <a:spcPts val="400"/>
              </a:spcAft>
              <a:buFont typeface="Arial" panose="020B0604020202020204" pitchFamily="34" charset="0"/>
              <a:buChar char="•"/>
              <a:defRPr/>
            </a:pPr>
            <a:r>
              <a:rPr lang="en-US" sz="1200" kern="0" noProof="0" dirty="0"/>
              <a:t>Basic validation of source and target repositories</a:t>
            </a:r>
            <a:endParaRPr lang="en-US" sz="1400" kern="0" noProof="0" dirty="0"/>
          </a:p>
        </p:txBody>
      </p:sp>
      <p:sp>
        <p:nvSpPr>
          <p:cNvPr id="12" name="Graphic 23">
            <a:extLst>
              <a:ext uri="{FF2B5EF4-FFF2-40B4-BE49-F238E27FC236}">
                <a16:creationId xmlns:a16="http://schemas.microsoft.com/office/drawing/2014/main" id="{81D61BAF-9B1F-BDCE-C729-38B02FE66EF0}"/>
              </a:ext>
              <a:ext uri="{C183D7F6-B498-43B3-948B-1728B52AA6E4}">
                <adec:decorative xmlns:adec="http://schemas.microsoft.com/office/drawing/2017/decorative" val="1"/>
              </a:ext>
            </a:extLst>
          </p:cNvPr>
          <p:cNvSpPr/>
          <p:nvPr/>
        </p:nvSpPr>
        <p:spPr>
          <a:xfrm>
            <a:off x="647910" y="191488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65901514-B8BE-31A8-7465-28536DAC2C94}"/>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grpSp>
        <p:nvGrpSpPr>
          <p:cNvPr id="4" name="Group 3">
            <a:extLst>
              <a:ext uri="{FF2B5EF4-FFF2-40B4-BE49-F238E27FC236}">
                <a16:creationId xmlns:a16="http://schemas.microsoft.com/office/drawing/2014/main" id="{87FC73FC-85F2-13AD-8BE7-76D7B2DFE577}"/>
              </a:ext>
            </a:extLst>
          </p:cNvPr>
          <p:cNvGrpSpPr/>
          <p:nvPr/>
        </p:nvGrpSpPr>
        <p:grpSpPr>
          <a:xfrm>
            <a:off x="3271149" y="1437006"/>
            <a:ext cx="8531745" cy="3805610"/>
            <a:chOff x="3122613" y="2481106"/>
            <a:chExt cx="8521464" cy="4920648"/>
          </a:xfrm>
        </p:grpSpPr>
        <p:grpSp>
          <p:nvGrpSpPr>
            <p:cNvPr id="5" name="Group 4">
              <a:extLst>
                <a:ext uri="{FF2B5EF4-FFF2-40B4-BE49-F238E27FC236}">
                  <a16:creationId xmlns:a16="http://schemas.microsoft.com/office/drawing/2014/main" id="{1F9DE56B-1A68-08ED-A60E-958B06BE7B5C}"/>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13" name="Rectangle: Rounded Corners 12">
                <a:extLst>
                  <a:ext uri="{FF2B5EF4-FFF2-40B4-BE49-F238E27FC236}">
                    <a16:creationId xmlns:a16="http://schemas.microsoft.com/office/drawing/2014/main" id="{46769AE3-4585-D999-B797-B10595715497}"/>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4" name="Rectangle: Rounded Corners 13">
                <a:extLst>
                  <a:ext uri="{FF2B5EF4-FFF2-40B4-BE49-F238E27FC236}">
                    <a16:creationId xmlns:a16="http://schemas.microsoft.com/office/drawing/2014/main" id="{512CB539-100F-628D-5E6F-C6DECE8538A3}"/>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11" name="Arrow: Bent 10">
              <a:extLst>
                <a:ext uri="{FF2B5EF4-FFF2-40B4-BE49-F238E27FC236}">
                  <a16:creationId xmlns:a16="http://schemas.microsoft.com/office/drawing/2014/main" id="{5A5CB739-943B-A429-AD67-3A4406EA39B8}"/>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1245096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DBD50-46D0-D9F1-10CE-B9F1B6BECD65}"/>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8BC0CC9F-3A22-FE3E-8163-A521A1A2BA65}"/>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7531AEE0-1E96-837E-7740-07CBDB4C216B}"/>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7172A487-C391-1614-B11A-746F40DB9719}"/>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3EB282BD-6244-64B9-2578-EB990D290846}"/>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82DFCAB9-494D-7DEE-9383-1D920045897D}"/>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C8BE385F-ACEA-F271-5860-B40DFAE46A90}"/>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DE35E513-3B5E-2B49-29FC-1217D1B62028}"/>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2F8452F2-D8CC-2FE2-08AB-41BB1CF32D9D}"/>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54F0FBB2-65EE-8FE8-467F-6EEDD821BC18}"/>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E7CF7406-28B0-A771-9BCF-6280A049653F}"/>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ED3A69EB-4F81-B67B-F68B-4F000AD4FFAD}"/>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5F2A7184-6DF2-AF67-6A7C-18D1C85BCDF8}"/>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3D099024-B3E3-5FCB-A344-0065818918E1}"/>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32DC0BCC-6E76-B2DF-6320-D27F7959FED2}"/>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3F506E6A-CF3E-2D03-BD2B-F8B73B4A6CC1}"/>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76C1C458-8B86-5139-2ED8-C967038074A6}"/>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BBF0EAED-3119-40D9-EB38-FE940218809F}"/>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C041BAD7-1EED-4E64-3659-4C18D8068E65}"/>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D9C1E074-7BD0-9CA8-A72C-EAF8213EEA7D}"/>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1E744A67-EB19-88A4-8F38-D4ADEF483043}"/>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D526DD5A-AD04-5611-7F86-44F69A633169}"/>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4061BEAC-BFAE-EEBC-6F4D-8E28F496A6F2}"/>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50B825C0-9D06-ABC6-A0A9-5E7B37277B47}"/>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4D4CA001-061D-598E-294D-2A6379256415}"/>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60E17CF3-C6D8-784B-F0DE-B314F8C18526}"/>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2631D287-1F5B-3A33-443E-D9C747142032}"/>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524DA4AB-2628-EFB8-F4D5-5ADC598AEA63}"/>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042458A2-ABF8-4F33-B8CB-1CDA0B967D43}"/>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C621573B-B25E-50B1-025E-BFCF1CED7426}"/>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FE09D140-5A57-6D96-1F8F-0F26BFCD6689}"/>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501A241E-9B6E-9BC4-AE9C-60CF8277EDA8}"/>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1D01C706-5A2D-01DB-0341-F9E6BD59E25C}"/>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BFE67D47-40EC-5FA1-E516-80284818C350}"/>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AF5A507D-2E2D-3BF0-86C9-862EFDD43B44}"/>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B1F6F28E-D5EA-BABA-1383-5FB1E6BD3369}"/>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28DDFEEE-91E8-6A8B-C95C-BD193DD1CFF5}"/>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73E972F7-613A-D13D-1C86-3CAB107FEDEE}"/>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9A3EFFB6-4D37-FB4C-61A8-7A7452AABA8B}"/>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4AD708F1-2799-E4B6-5175-4FDC616D72DF}"/>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7" name="TextBox 136">
            <a:extLst>
              <a:ext uri="{FF2B5EF4-FFF2-40B4-BE49-F238E27FC236}">
                <a16:creationId xmlns:a16="http://schemas.microsoft.com/office/drawing/2014/main" id="{A3252175-101B-E57C-1F18-2DE3C98E96DD}"/>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44E4A11C-FEAA-D72E-A0B3-F36D52928898}"/>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625DB4C5-7CB1-9647-C51C-A7F0DD5A4ED2}"/>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0CF46069-7798-C3B5-2436-59221A8CCA81}"/>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3826396C-2B63-7C90-10E5-0F3D822A0CF3}"/>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F8A9AE68-A844-A359-152E-FD845530F772}"/>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534583BA-FB5E-7C27-5E76-1A2280EC2ECF}"/>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A4232E29-AE91-4E98-8C00-3FC67FE443A2}"/>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2E3EA642-E424-645F-6A06-EB3F900FA741}"/>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FDE0719A-F5E0-CEB7-F72F-CFA7D42BEE4A}"/>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1B0A1C90-C52A-E4E9-B840-0773179B77F1}"/>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17095FA8-7002-BAF2-7F6F-08DC2B27FB16}"/>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5" name="TextBox 154">
            <a:extLst>
              <a:ext uri="{FF2B5EF4-FFF2-40B4-BE49-F238E27FC236}">
                <a16:creationId xmlns:a16="http://schemas.microsoft.com/office/drawing/2014/main" id="{C1C837A3-70FB-82E0-BCF4-3FE9C5AE2CDE}"/>
              </a:ext>
              <a:ext uri="{C183D7F6-B498-43B3-948B-1728B52AA6E4}">
                <adec:decorative xmlns:adec="http://schemas.microsoft.com/office/drawing/2017/decorative" val="1"/>
              </a:ext>
            </a:extLst>
          </p:cNvPr>
          <p:cNvSpPr txBox="1"/>
          <p:nvPr/>
        </p:nvSpPr>
        <p:spPr>
          <a:xfrm>
            <a:off x="7885409" y="5309008"/>
            <a:ext cx="1126130"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Remote assistance for service execution</a:t>
            </a:r>
          </a:p>
        </p:txBody>
      </p:sp>
      <p:sp>
        <p:nvSpPr>
          <p:cNvPr id="156" name="Oval 155">
            <a:extLst>
              <a:ext uri="{FF2B5EF4-FFF2-40B4-BE49-F238E27FC236}">
                <a16:creationId xmlns:a16="http://schemas.microsoft.com/office/drawing/2014/main" id="{6B44AF4C-D2D8-FA00-9974-1E5516F5056C}"/>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57" name="TextBox 156">
            <a:extLst>
              <a:ext uri="{FF2B5EF4-FFF2-40B4-BE49-F238E27FC236}">
                <a16:creationId xmlns:a16="http://schemas.microsoft.com/office/drawing/2014/main" id="{F849C30A-33EB-75C8-16D6-E3FC3AD049CB}"/>
              </a:ext>
            </a:extLst>
          </p:cNvPr>
          <p:cNvSpPr txBox="1"/>
          <p:nvPr/>
        </p:nvSpPr>
        <p:spPr>
          <a:xfrm>
            <a:off x="9227319" y="5273144"/>
            <a:ext cx="1532471"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UI"/>
              </a:rPr>
              <a:t>ALZ deployment/validation</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81" name="TextBox 180">
            <a:extLst>
              <a:ext uri="{FF2B5EF4-FFF2-40B4-BE49-F238E27FC236}">
                <a16:creationId xmlns:a16="http://schemas.microsoft.com/office/drawing/2014/main" id="{D0B9F770-5574-6EB9-8BD3-AAB8FBD76F6F}"/>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D6F4D1E1-F33D-57AB-D8CF-C2989EF542FF}"/>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D663C56A-8B74-0B74-E81C-85E2EFD8CB15}"/>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7" name="TextBox 6">
            <a:extLst>
              <a:ext uri="{FF2B5EF4-FFF2-40B4-BE49-F238E27FC236}">
                <a16:creationId xmlns:a16="http://schemas.microsoft.com/office/drawing/2014/main" id="{867EB3F4-A2EC-BE20-8361-58ED56C3E5EA}"/>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8" name="Oval 7">
            <a:extLst>
              <a:ext uri="{FF2B5EF4-FFF2-40B4-BE49-F238E27FC236}">
                <a16:creationId xmlns:a16="http://schemas.microsoft.com/office/drawing/2014/main" id="{201C74C4-BC8A-404D-AF69-5D1187B5B0D6}"/>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FF3C27A6-B9ED-44AC-C366-CC0B3EB86BC2}"/>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E54BF6E6-748A-0DCF-6DC1-D8A1862C46FE}"/>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F05151BC-A678-8206-A0C0-9B9BB4C8BE51}"/>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25B5CE3F-6080-ECD2-A34A-B9D45AD12390}"/>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2DBCB297-BE20-F808-1898-89B4A0C5F4C6}"/>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1FD68D95-C7A8-0587-CAC5-3645E6A72E8A}"/>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BE25F3D9-881F-0F64-A9EB-06DAD3012F62}"/>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3A980281-5243-C547-1C95-C2A9CB9C4340}"/>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13" name="Title 61">
            <a:extLst>
              <a:ext uri="{FF2B5EF4-FFF2-40B4-BE49-F238E27FC236}">
                <a16:creationId xmlns:a16="http://schemas.microsoft.com/office/drawing/2014/main" id="{91468110-928A-B4E5-0E36-F8D974F535E8}"/>
              </a:ext>
            </a:extLst>
          </p:cNvPr>
          <p:cNvSpPr txBox="1">
            <a:spLocks/>
          </p:cNvSpPr>
          <p:nvPr/>
        </p:nvSpPr>
        <p:spPr>
          <a:xfrm>
            <a:off x="419100" y="419100"/>
            <a:ext cx="3162300" cy="1938992"/>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 GitHub Migration </a:t>
            </a:r>
            <a:br>
              <a:rPr lang="en-US" sz="3000" noProof="0" dirty="0">
                <a:solidFill>
                  <a:schemeClr val="bg1"/>
                </a:solidFill>
              </a:rPr>
            </a:br>
            <a:r>
              <a:rPr lang="en-US" sz="3000" noProof="0" dirty="0">
                <a:solidFill>
                  <a:schemeClr val="bg1"/>
                </a:solidFill>
              </a:rPr>
              <a:t>(Repo Migrations)</a:t>
            </a:r>
          </a:p>
        </p:txBody>
      </p:sp>
      <p:sp>
        <p:nvSpPr>
          <p:cNvPr id="17" name="TextBox 16">
            <a:extLst>
              <a:ext uri="{FF2B5EF4-FFF2-40B4-BE49-F238E27FC236}">
                <a16:creationId xmlns:a16="http://schemas.microsoft.com/office/drawing/2014/main" id="{2C56FDCC-CE7B-FF19-AC7A-58287B799DF1}"/>
              </a:ext>
            </a:extLst>
          </p:cNvPr>
          <p:cNvSpPr txBox="1"/>
          <p:nvPr/>
        </p:nvSpPr>
        <p:spPr>
          <a:xfrm>
            <a:off x="4047379" y="2783160"/>
            <a:ext cx="2067108" cy="461665"/>
          </a:xfrm>
          <a:prstGeom prst="rect">
            <a:avLst/>
          </a:prstGeom>
          <a:noFill/>
        </p:spPr>
        <p:txBody>
          <a:bodyPr wrap="squar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Scope of Azure DevOps (ADO) Services/Bitbucket Server/GitLab Server/GHES Repos for migration</a:t>
            </a:r>
          </a:p>
        </p:txBody>
      </p:sp>
    </p:spTree>
    <p:extLst>
      <p:ext uri="{BB962C8B-B14F-4D97-AF65-F5344CB8AC3E}">
        <p14:creationId xmlns:p14="http://schemas.microsoft.com/office/powerpoint/2010/main" val="275448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EE57-C409-A890-06C7-2BD3BDE852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FFE2A4-0CC0-8975-C646-73D46E4208D1}"/>
              </a:ext>
            </a:extLst>
          </p:cNvPr>
          <p:cNvSpPr txBox="1"/>
          <p:nvPr/>
        </p:nvSpPr>
        <p:spPr>
          <a:xfrm>
            <a:off x="585216" y="4380871"/>
            <a:ext cx="2410903"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r"/>
            <a:r>
              <a:rPr lang="en-US" sz="1600" b="1" noProof="0" dirty="0"/>
              <a:t>Agent Development</a:t>
            </a:r>
          </a:p>
        </p:txBody>
      </p:sp>
      <p:sp>
        <p:nvSpPr>
          <p:cNvPr id="7" name="Title 6">
            <a:extLst>
              <a:ext uri="{FF2B5EF4-FFF2-40B4-BE49-F238E27FC236}">
                <a16:creationId xmlns:a16="http://schemas.microsoft.com/office/drawing/2014/main" id="{8C2EBFFE-41A4-872F-07BE-D1DCEF8E3FAA}"/>
              </a:ext>
            </a:extLst>
          </p:cNvPr>
          <p:cNvSpPr>
            <a:spLocks noGrp="1"/>
          </p:cNvSpPr>
          <p:nvPr>
            <p:ph type="title"/>
          </p:nvPr>
        </p:nvSpPr>
        <p:spPr>
          <a:xfrm>
            <a:off x="585215" y="2485382"/>
            <a:ext cx="11110915" cy="1046440"/>
          </a:xfrm>
        </p:spPr>
        <p:txBody>
          <a:bodyPr/>
          <a:lstStyle/>
          <a:p>
            <a:r>
              <a:rPr lang="en-US" noProof="0" dirty="0"/>
              <a:t>Cloud Accelerate Factory</a:t>
            </a:r>
            <a:br>
              <a:rPr lang="en-US" noProof="0" dirty="0"/>
            </a:br>
            <a:r>
              <a:rPr lang="en-US" sz="2800" noProof="0" dirty="0">
                <a:solidFill>
                  <a:schemeClr val="tx1"/>
                </a:solidFill>
              </a:rPr>
              <a:t>Ubiquitous Innovation | Amplify Your Intelligence</a:t>
            </a:r>
            <a:endParaRPr lang="en-US" sz="2800" noProof="0" dirty="0"/>
          </a:p>
        </p:txBody>
      </p:sp>
      <p:sp>
        <p:nvSpPr>
          <p:cNvPr id="11" name="TextBox 10">
            <a:extLst>
              <a:ext uri="{FF2B5EF4-FFF2-40B4-BE49-F238E27FC236}">
                <a16:creationId xmlns:a16="http://schemas.microsoft.com/office/drawing/2014/main" id="{A5663D48-0B29-D6AE-B472-5F7C08561DED}"/>
              </a:ext>
            </a:extLst>
          </p:cNvPr>
          <p:cNvSpPr txBox="1"/>
          <p:nvPr/>
        </p:nvSpPr>
        <p:spPr>
          <a:xfrm>
            <a:off x="9195953"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4" name="Image 10" descr="Home (outlined)">
            <a:hlinkClick r:id="rId3" action="ppaction://hlinksldjump" tooltip="Home"/>
            <a:extLst>
              <a:ext uri="{FF2B5EF4-FFF2-40B4-BE49-F238E27FC236}">
                <a16:creationId xmlns:a16="http://schemas.microsoft.com/office/drawing/2014/main" id="{C2FF4242-0107-1851-0EE8-4D4174CB0224}"/>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3744116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6" presetClass="emph" presetSubtype="0" fill="hold" grpId="1" nodeType="withEffect">
                                  <p:stCondLst>
                                    <p:cond delay="0"/>
                                  </p:stCondLst>
                                  <p:childTnLst>
                                    <p:animScale>
                                      <p:cBhvr>
                                        <p:cTn id="16" dur="100" fill="hold"/>
                                        <p:tgtEl>
                                          <p:spTgt spid="11"/>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1"/>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11" grpId="0" animBg="1"/>
      <p:bldP spid="11" grpId="1" animBg="1"/>
      <p:bldP spid="11" grpId="2"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9CFA8-3AFA-39D5-6AA9-227D700D63B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DE7C8965-8B78-3F41-6638-991B75D50D78}"/>
              </a:ext>
              <a:ext uri="{C183D7F6-B498-43B3-948B-1728B52AA6E4}">
                <adec:decorative xmlns:adec="http://schemas.microsoft.com/office/drawing/2017/decorative" val="1"/>
              </a:ext>
            </a:extLst>
          </p:cNvPr>
          <p:cNvSpPr/>
          <p:nvPr/>
        </p:nvSpPr>
        <p:spPr bwMode="auto">
          <a:xfrm>
            <a:off x="0" y="0"/>
            <a:ext cx="12192000" cy="1366684"/>
          </a:xfrm>
          <a:prstGeom prst="rect">
            <a:avLst/>
          </a:prstGeom>
          <a:gradFill flip="none" rotWithShape="1">
            <a:gsLst>
              <a:gs pos="10000">
                <a:schemeClr val="accent1"/>
              </a:gs>
              <a:gs pos="75000">
                <a:schemeClr val="accent2"/>
              </a:gs>
              <a:gs pos="100000">
                <a:schemeClr val="accent3"/>
              </a:gs>
            </a:gsLst>
            <a:lin ang="2700000" scaled="1"/>
            <a:tileRect/>
          </a:gradFill>
          <a:ln>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auto"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Sans Display"/>
              <a:ea typeface="+mn-ea"/>
              <a:cs typeface="Segoe UI"/>
            </a:endParaRPr>
          </a:p>
          <a:p>
            <a:pPr marL="0" marR="0" lvl="0" indent="0" algn="l" defTabSz="932472" rtl="0" eaLnBrk="1" fontAlgn="auto" latinLnBrk="0" hangingPunct="1">
              <a:lnSpc>
                <a:spcPct val="100000"/>
              </a:lnSpc>
              <a:spcBef>
                <a:spcPct val="0"/>
              </a:spcBef>
              <a:spcAft>
                <a:spcPct val="0"/>
              </a:spcAft>
              <a:buClrTx/>
              <a:buSzTx/>
              <a:buFontTx/>
              <a:buNone/>
              <a:tabLst/>
              <a:defRPr/>
            </a:pPr>
            <a:r>
              <a:rPr kumimoji="0" lang="en-US" sz="3600" b="0" i="0" u="none" strike="noStrike" kern="1200" cap="none" spc="-50" normalizeH="0" baseline="0" noProof="0">
                <a:ln w="3175">
                  <a:noFill/>
                </a:ln>
                <a:solidFill>
                  <a:srgbClr val="FFFFFF"/>
                </a:solidFill>
                <a:effectLst/>
                <a:uLnTx/>
                <a:uFillTx/>
                <a:latin typeface="Segoe Sans Display Semibold"/>
                <a:ea typeface="+mn-ea"/>
                <a:cs typeface="+mn-cs"/>
              </a:rPr>
              <a:t>Agent Programs</a:t>
            </a:r>
          </a:p>
        </p:txBody>
      </p:sp>
      <p:sp>
        <p:nvSpPr>
          <p:cNvPr id="22" name="Rectangle: Rounded Corners 21">
            <a:extLst>
              <a:ext uri="{FF2B5EF4-FFF2-40B4-BE49-F238E27FC236}">
                <a16:creationId xmlns:a16="http://schemas.microsoft.com/office/drawing/2014/main" id="{F6C79032-5BBC-49C1-A9B7-623FDE09255A}"/>
              </a:ext>
            </a:extLst>
          </p:cNvPr>
          <p:cNvSpPr/>
          <p:nvPr/>
        </p:nvSpPr>
        <p:spPr bwMode="auto">
          <a:xfrm>
            <a:off x="6213454" y="5805753"/>
            <a:ext cx="4762908" cy="607322"/>
          </a:xfrm>
          <a:prstGeom prst="roundRect">
            <a:avLst>
              <a:gd name="adj" fmla="val 9884"/>
            </a:avLst>
          </a:prstGeom>
          <a:solidFill>
            <a:schemeClr val="bg1">
              <a:lumMod val="95000"/>
            </a:schemeClr>
          </a:solidFill>
          <a:ln w="9525" cap="flat" cmpd="sng" algn="ctr">
            <a:noFill/>
            <a:prstDash val="solid"/>
            <a:headEnd type="none" w="med" len="med"/>
            <a:tailEnd type="none" w="med" len="med"/>
          </a:ln>
          <a:effectLst>
            <a:outerShdw blurRad="127000" dist="38100" dir="3780000" algn="t" rotWithShape="0">
              <a:srgbClr val="FFFFFF">
                <a:lumMod val="50000"/>
                <a:alpha val="12000"/>
              </a:srgbClr>
            </a:outerShdw>
          </a:effectLst>
        </p:spPr>
        <p:txBody>
          <a:bodyPr rot="0" spcFirstLastPara="0" vertOverflow="overflow" horzOverflow="overflow" vert="horz" wrap="square" lIns="91440" tIns="9144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23" name="Rectangle: Rounded Corners 22">
            <a:extLst>
              <a:ext uri="{FF2B5EF4-FFF2-40B4-BE49-F238E27FC236}">
                <a16:creationId xmlns:a16="http://schemas.microsoft.com/office/drawing/2014/main" id="{1128B0E4-E1C5-E67E-DDA8-3590AA3F08E9}"/>
              </a:ext>
            </a:extLst>
          </p:cNvPr>
          <p:cNvSpPr/>
          <p:nvPr/>
        </p:nvSpPr>
        <p:spPr bwMode="auto">
          <a:xfrm>
            <a:off x="1128397" y="5805753"/>
            <a:ext cx="4762908" cy="607322"/>
          </a:xfrm>
          <a:prstGeom prst="roundRect">
            <a:avLst>
              <a:gd name="adj" fmla="val 9884"/>
            </a:avLst>
          </a:prstGeom>
          <a:solidFill>
            <a:schemeClr val="bg1">
              <a:lumMod val="95000"/>
            </a:schemeClr>
          </a:solidFill>
          <a:ln w="9525" cap="flat" cmpd="sng" algn="ctr">
            <a:noFill/>
            <a:prstDash val="solid"/>
            <a:headEnd type="none" w="med" len="med"/>
            <a:tailEnd type="none" w="med" len="med"/>
          </a:ln>
          <a:effectLst>
            <a:outerShdw blurRad="127000" dist="38100" dir="3780000" algn="t" rotWithShape="0">
              <a:srgbClr val="FFFFFF">
                <a:lumMod val="50000"/>
                <a:alpha val="12000"/>
              </a:srgbClr>
            </a:outerShdw>
          </a:effectLst>
        </p:spPr>
        <p:txBody>
          <a:bodyPr rot="0" spcFirstLastPara="0" vertOverflow="overflow" horzOverflow="overflow" vert="horz" wrap="square" lIns="91440" tIns="9144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24" name="Rectangle: Rounded Corners 23">
            <a:extLst>
              <a:ext uri="{FF2B5EF4-FFF2-40B4-BE49-F238E27FC236}">
                <a16:creationId xmlns:a16="http://schemas.microsoft.com/office/drawing/2014/main" id="{45A81C79-FEED-804E-6EAA-F8BA3AE145FA}"/>
              </a:ext>
            </a:extLst>
          </p:cNvPr>
          <p:cNvSpPr/>
          <p:nvPr/>
        </p:nvSpPr>
        <p:spPr bwMode="auto">
          <a:xfrm>
            <a:off x="1138656" y="1797144"/>
            <a:ext cx="4762908" cy="3955660"/>
          </a:xfrm>
          <a:prstGeom prst="roundRect">
            <a:avLst>
              <a:gd name="adj" fmla="val 3344"/>
            </a:avLst>
          </a:prstGeom>
          <a:solidFill>
            <a:schemeClr val="bg1">
              <a:lumMod val="95000"/>
            </a:schemeClr>
          </a:solidFill>
          <a:ln w="9525" cap="flat" cmpd="sng" algn="ctr">
            <a:noFill/>
            <a:prstDash val="solid"/>
            <a:headEnd type="none" w="med" len="med"/>
            <a:tailEnd type="none" w="med" len="med"/>
          </a:ln>
          <a:effectLst>
            <a:outerShdw blurRad="127000" dist="38100" dir="3780000" algn="t" rotWithShape="0">
              <a:srgbClr val="FFFFFF">
                <a:lumMod val="50000"/>
                <a:alpha val="12000"/>
              </a:srgbClr>
            </a:outerShdw>
          </a:effectLst>
        </p:spPr>
        <p:txBody>
          <a:bodyPr rot="0" spcFirstLastPara="0" vertOverflow="overflow" horzOverflow="overflow" vert="horz" wrap="square" lIns="91440" tIns="9144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25" name="Rectangle 24">
            <a:extLst>
              <a:ext uri="{FF2B5EF4-FFF2-40B4-BE49-F238E27FC236}">
                <a16:creationId xmlns:a16="http://schemas.microsoft.com/office/drawing/2014/main" id="{51C98D7B-36B4-79CE-8C67-44343C4079A9}"/>
              </a:ext>
            </a:extLst>
          </p:cNvPr>
          <p:cNvSpPr/>
          <p:nvPr/>
        </p:nvSpPr>
        <p:spPr bwMode="auto">
          <a:xfrm>
            <a:off x="1423017" y="5874735"/>
            <a:ext cx="4156355" cy="46935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Segoe Sans Display Semibold"/>
                <a:ea typeface="+mn-ea"/>
                <a:cs typeface="+mn-cs"/>
              </a:rPr>
              <a:t>Learn more at </a:t>
            </a:r>
            <a:r>
              <a:rPr kumimoji="0" lang="en-US" sz="1400" b="1" i="0" u="none" strike="noStrike" kern="1200" cap="none" spc="0" normalizeH="0" baseline="0" noProof="0" dirty="0">
                <a:ln>
                  <a:noFill/>
                </a:ln>
                <a:solidFill>
                  <a:srgbClr val="091F2C"/>
                </a:solidFill>
                <a:effectLst/>
                <a:uLnTx/>
                <a:uFillTx/>
                <a:latin typeface="Segoe Sans Display Semibold"/>
                <a:ea typeface="+mn-ea"/>
                <a:cs typeface="+mn-cs"/>
                <a:hlinkClick r:id="rId3">
                  <a:extLst>
                    <a:ext uri="{A12FA001-AC4F-418D-AE19-62706E023703}">
                      <ahyp:hlinkClr xmlns:ahyp="http://schemas.microsoft.com/office/drawing/2018/hyperlinkcolor" val="tx"/>
                    </a:ext>
                  </a:extLst>
                </a:hlinkClick>
              </a:rPr>
              <a:t>aka.ms/</a:t>
            </a:r>
            <a:r>
              <a:rPr kumimoji="0" lang="en-US" sz="1400" b="1" i="0" u="none" strike="noStrike" kern="1200" cap="none" spc="0" normalizeH="0" baseline="0" noProof="0" dirty="0" err="1">
                <a:ln>
                  <a:noFill/>
                </a:ln>
                <a:solidFill>
                  <a:schemeClr val="accent1"/>
                </a:solidFill>
                <a:effectLst/>
                <a:uLnTx/>
                <a:uFillTx/>
                <a:latin typeface="Segoe Sans Display Semibold"/>
                <a:ea typeface="+mn-ea"/>
                <a:cs typeface="+mn-cs"/>
                <a:hlinkClick r:id="rId3">
                  <a:extLst>
                    <a:ext uri="{A12FA001-AC4F-418D-AE19-62706E023703}">
                      <ahyp:hlinkClr xmlns:ahyp="http://schemas.microsoft.com/office/drawing/2018/hyperlinkcolor" val="tx"/>
                    </a:ext>
                  </a:extLst>
                </a:hlinkClick>
              </a:rPr>
              <a:t>CATProgram</a:t>
            </a:r>
            <a:endParaRPr kumimoji="0" lang="en-US" sz="1400" b="1" i="0" u="none" strike="noStrike" kern="1200" cap="none" spc="0" normalizeH="0" baseline="0" noProof="0" dirty="0">
              <a:ln>
                <a:noFill/>
              </a:ln>
              <a:solidFill>
                <a:schemeClr val="accent1"/>
              </a:solidFill>
              <a:effectLst/>
              <a:uLnTx/>
              <a:uFillTx/>
              <a:latin typeface="Segoe Sans Display Semibold"/>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Segoe Sans Display Semibold"/>
                <a:ea typeface="+mn-ea"/>
                <a:cs typeface="Segoe Sans Display"/>
              </a:rPr>
              <a:t>Nominate at </a:t>
            </a:r>
            <a:r>
              <a:rPr kumimoji="0" lang="en-US" sz="1400" b="1" i="0" u="none" strike="noStrike" kern="1200" cap="none" spc="0" normalizeH="0" baseline="0" noProof="0" dirty="0">
                <a:ln>
                  <a:noFill/>
                </a:ln>
                <a:solidFill>
                  <a:srgbClr val="091F2C"/>
                </a:solidFill>
                <a:effectLst/>
                <a:uLnTx/>
                <a:uFillTx/>
                <a:latin typeface="Segoe Sans Display Semibold"/>
                <a:ea typeface="+mn-ea"/>
                <a:cs typeface="Segoe Sans Display"/>
                <a:hlinkClick r:id="rId4">
                  <a:extLst>
                    <a:ext uri="{A12FA001-AC4F-418D-AE19-62706E023703}">
                      <ahyp:hlinkClr xmlns:ahyp="http://schemas.microsoft.com/office/drawing/2018/hyperlinkcolor" val="tx"/>
                    </a:ext>
                  </a:extLst>
                </a:hlinkClick>
              </a:rPr>
              <a:t>aka.ms/</a:t>
            </a:r>
            <a:r>
              <a:rPr kumimoji="0" lang="en-US" sz="1400" b="1" i="0" u="none" strike="noStrike" kern="1200" cap="none" spc="0" normalizeH="0" baseline="0" noProof="0" dirty="0" err="1">
                <a:ln>
                  <a:noFill/>
                </a:ln>
                <a:solidFill>
                  <a:schemeClr val="accent1"/>
                </a:solidFill>
                <a:effectLst/>
                <a:uLnTx/>
                <a:uFillTx/>
                <a:latin typeface="Segoe Sans Display Semibold"/>
                <a:ea typeface="+mn-ea"/>
                <a:cs typeface="Segoe Sans Display"/>
                <a:hlinkClick r:id="rId4">
                  <a:extLst>
                    <a:ext uri="{A12FA001-AC4F-418D-AE19-62706E023703}">
                      <ahyp:hlinkClr xmlns:ahyp="http://schemas.microsoft.com/office/drawing/2018/hyperlinkcolor" val="tx"/>
                    </a:ext>
                  </a:extLst>
                </a:hlinkClick>
              </a:rPr>
              <a:t>CATProgramNominate</a:t>
            </a:r>
            <a:endParaRPr kumimoji="0" lang="en-US" sz="1400" b="1" i="0" u="none" strike="noStrike" kern="1200" cap="none" spc="0" normalizeH="0" baseline="0" noProof="0" dirty="0">
              <a:ln>
                <a:noFill/>
              </a:ln>
              <a:solidFill>
                <a:schemeClr val="accent1"/>
              </a:solidFill>
              <a:effectLst/>
              <a:uLnTx/>
              <a:uFillTx/>
              <a:latin typeface="Segoe Sans Display Semibold"/>
              <a:ea typeface="+mn-ea"/>
              <a:cs typeface="Segoe Sans Display"/>
            </a:endParaRPr>
          </a:p>
        </p:txBody>
      </p:sp>
      <p:sp>
        <p:nvSpPr>
          <p:cNvPr id="26" name="Title 3">
            <a:extLst>
              <a:ext uri="{FF2B5EF4-FFF2-40B4-BE49-F238E27FC236}">
                <a16:creationId xmlns:a16="http://schemas.microsoft.com/office/drawing/2014/main" id="{A6B08DED-B317-ECED-1B30-3538C2A80C72}"/>
              </a:ext>
              <a:ext uri="{C183D7F6-B498-43B3-948B-1728B52AA6E4}">
                <adec:decorative xmlns:adec="http://schemas.microsoft.com/office/drawing/2017/decorative" val="0"/>
              </a:ext>
            </a:extLst>
          </p:cNvPr>
          <p:cNvSpPr txBox="1">
            <a:spLocks/>
          </p:cNvSpPr>
          <p:nvPr/>
        </p:nvSpPr>
        <p:spPr bwMode="auto">
          <a:xfrm>
            <a:off x="1332718" y="1908731"/>
            <a:ext cx="4374784" cy="731520"/>
          </a:xfrm>
          <a:prstGeom prst="roundRect">
            <a:avLst>
              <a:gd name="adj" fmla="val 19284"/>
            </a:avLst>
          </a:prstGeom>
          <a:gradFill flip="none" rotWithShape="1">
            <a:gsLst>
              <a:gs pos="0">
                <a:srgbClr val="C03BC4"/>
              </a:gs>
              <a:gs pos="63000">
                <a:srgbClr val="F4364C">
                  <a:shade val="100000"/>
                  <a:satMod val="115000"/>
                </a:srgbClr>
              </a:gs>
            </a:gsLst>
            <a:lin ang="2700000" scaled="1"/>
            <a:tileRect/>
          </a:gra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717626" rtl="0" eaLnBrk="1" fontAlgn="base" latinLnBrk="0" hangingPunct="1">
              <a:lnSpc>
                <a:spcPct val="100000"/>
              </a:lnSpc>
              <a:spcBef>
                <a:spcPct val="0"/>
              </a:spcBef>
              <a:spcAft>
                <a:spcPts val="6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Sans Display Semibold"/>
                <a:ea typeface="+mn-ea"/>
                <a:cs typeface="Segoe UI" pitchFamily="34" charset="0"/>
              </a:rPr>
              <a:t>Copilot Acceleration and Trials (CAT)</a:t>
            </a:r>
          </a:p>
        </p:txBody>
      </p:sp>
      <p:sp>
        <p:nvSpPr>
          <p:cNvPr id="27" name="TextBox 26">
            <a:extLst>
              <a:ext uri="{FF2B5EF4-FFF2-40B4-BE49-F238E27FC236}">
                <a16:creationId xmlns:a16="http://schemas.microsoft.com/office/drawing/2014/main" id="{0632C82A-5288-651E-8335-982FF7589EBC}"/>
              </a:ext>
            </a:extLst>
          </p:cNvPr>
          <p:cNvSpPr txBox="1"/>
          <p:nvPr/>
        </p:nvSpPr>
        <p:spPr>
          <a:xfrm>
            <a:off x="1332718" y="2767372"/>
            <a:ext cx="4357471" cy="298543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Sans Display"/>
                <a:ea typeface="+mn-ea"/>
                <a:cs typeface="+mn-cs"/>
              </a:rPr>
              <a:t>Drive Agent development and trials support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Segoe Sans Display"/>
              <a:ea typeface="+mn-ea"/>
              <a:cs typeface="+mn-cs"/>
            </a:endParaRP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One nomination routes you to the right support - no need to navigate programs or criteria.</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Includes Microsoft invested, paid, and </a:t>
            </a:r>
            <a:r>
              <a:rPr kumimoji="0" lang="en-US" sz="1400" b="0" i="0" u="none" strike="noStrike" kern="1200" cap="none" spc="0" normalizeH="0" baseline="0" noProof="0" err="1">
                <a:ln>
                  <a:noFill/>
                </a:ln>
                <a:solidFill>
                  <a:srgbClr val="000000"/>
                </a:solidFill>
                <a:effectLst/>
                <a:uLnTx/>
                <a:uFillTx/>
                <a:latin typeface="Segoe UI"/>
                <a:ea typeface="+mn-ea"/>
                <a:cs typeface="+mn-cs"/>
              </a:rPr>
              <a:t>partner-led</a:t>
            </a:r>
            <a:r>
              <a:rPr kumimoji="0" lang="en-US" sz="1400" b="0" i="0" u="none" strike="noStrike" kern="1200" cap="none" spc="0" normalizeH="0" baseline="0" noProof="0">
                <a:ln>
                  <a:noFill/>
                </a:ln>
                <a:solidFill>
                  <a:srgbClr val="000000"/>
                </a:solidFill>
                <a:effectLst/>
                <a:uLnTx/>
                <a:uFillTx/>
                <a:latin typeface="Segoe UI"/>
                <a:ea typeface="+mn-ea"/>
                <a:cs typeface="+mn-cs"/>
              </a:rPr>
              <a:t> offers for Agent development.</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Land envisioning &amp; discovery workshops for custom use cases </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Demonstrate Agent value and ROI with POCs prototypes, </a:t>
            </a: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Copilot trials and trial deployment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Audience: ATU &amp; STU</a:t>
            </a:r>
          </a:p>
        </p:txBody>
      </p:sp>
      <p:sp>
        <p:nvSpPr>
          <p:cNvPr id="28" name="Rectangle 27">
            <a:extLst>
              <a:ext uri="{FF2B5EF4-FFF2-40B4-BE49-F238E27FC236}">
                <a16:creationId xmlns:a16="http://schemas.microsoft.com/office/drawing/2014/main" id="{943E58A8-D16B-1A97-52BD-CEDCB3A1B8E8}"/>
              </a:ext>
            </a:extLst>
          </p:cNvPr>
          <p:cNvSpPr/>
          <p:nvPr/>
        </p:nvSpPr>
        <p:spPr bwMode="auto">
          <a:xfrm>
            <a:off x="6085367" y="5874735"/>
            <a:ext cx="4943028" cy="46935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Segoe Sans Display Semibold"/>
                <a:ea typeface="+mn-ea"/>
                <a:cs typeface="+mn-cs"/>
              </a:rPr>
              <a:t>Learn more at </a:t>
            </a:r>
            <a:r>
              <a:rPr kumimoji="0" lang="en-US" sz="1400" b="1" i="0" u="none" strike="noStrike" kern="1200" cap="none" spc="0" normalizeH="0" baseline="0" noProof="0" dirty="0">
                <a:ln>
                  <a:noFill/>
                </a:ln>
                <a:solidFill>
                  <a:srgbClr val="091F2C"/>
                </a:solidFill>
                <a:effectLst/>
                <a:uLnTx/>
                <a:uFillTx/>
                <a:latin typeface="Segoe Sans Display Semibold"/>
                <a:ea typeface="+mn-ea"/>
                <a:cs typeface="+mn-cs"/>
                <a:hlinkClick r:id="rId5">
                  <a:extLst>
                    <a:ext uri="{A12FA001-AC4F-418D-AE19-62706E023703}">
                      <ahyp:hlinkClr xmlns:ahyp="http://schemas.microsoft.com/office/drawing/2018/hyperlinkcolor" val="tx"/>
                    </a:ext>
                  </a:extLst>
                </a:hlinkClick>
              </a:rPr>
              <a:t>aka.ms/</a:t>
            </a:r>
            <a:r>
              <a:rPr kumimoji="0" lang="en-US" sz="1400" b="1" i="0" u="none" strike="noStrike" kern="1200" cap="none" spc="0" normalizeH="0" baseline="0" noProof="0" dirty="0" err="1">
                <a:ln>
                  <a:noFill/>
                </a:ln>
                <a:solidFill>
                  <a:schemeClr val="accent1"/>
                </a:solidFill>
                <a:effectLst/>
                <a:uLnTx/>
                <a:uFillTx/>
                <a:latin typeface="Segoe Sans Display Semibold"/>
                <a:ea typeface="+mn-ea"/>
                <a:cs typeface="+mn-cs"/>
                <a:hlinkClick r:id="rId5">
                  <a:extLst>
                    <a:ext uri="{A12FA001-AC4F-418D-AE19-62706E023703}">
                      <ahyp:hlinkClr xmlns:ahyp="http://schemas.microsoft.com/office/drawing/2018/hyperlinkcolor" val="tx"/>
                    </a:ext>
                  </a:extLst>
                </a:hlinkClick>
              </a:rPr>
              <a:t>AgentCAF</a:t>
            </a:r>
            <a:endParaRPr kumimoji="0" lang="en-US" sz="1400" b="1" i="0" u="none" strike="noStrike" kern="1200" cap="none" spc="0" normalizeH="0" baseline="0" noProof="0" dirty="0">
              <a:ln>
                <a:noFill/>
              </a:ln>
              <a:solidFill>
                <a:schemeClr val="accent1"/>
              </a:solidFill>
              <a:effectLst/>
              <a:uLnTx/>
              <a:uFillTx/>
              <a:latin typeface="Segoe Sans Display Semibold"/>
              <a:ea typeface="+mn-ea"/>
              <a:cs typeface="+mn-cs"/>
            </a:endParaRP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Segoe Sans Display Semibold"/>
                <a:ea typeface="+mn-ea"/>
                <a:cs typeface="Segoe Sans Display"/>
              </a:rPr>
              <a:t>Nominate at </a:t>
            </a:r>
            <a:r>
              <a:rPr kumimoji="0" lang="en-US" sz="1400" b="1" i="0" u="none" strike="noStrike" kern="1200" cap="none" spc="0" normalizeH="0" baseline="0" noProof="0" dirty="0">
                <a:ln>
                  <a:noFill/>
                </a:ln>
                <a:solidFill>
                  <a:srgbClr val="091F2C"/>
                </a:solidFill>
                <a:effectLst/>
                <a:uLnTx/>
                <a:uFillTx/>
                <a:latin typeface="Segoe Sans Display Semibold"/>
                <a:ea typeface="+mn-ea"/>
                <a:cs typeface="+mn-cs"/>
                <a:hlinkClick r:id="rId6">
                  <a:extLst>
                    <a:ext uri="{A12FA001-AC4F-418D-AE19-62706E023703}">
                      <ahyp:hlinkClr xmlns:ahyp="http://schemas.microsoft.com/office/drawing/2018/hyperlinkcolor" val="tx"/>
                    </a:ext>
                  </a:extLst>
                </a:hlinkClick>
              </a:rPr>
              <a:t>aka.ms/</a:t>
            </a:r>
            <a:r>
              <a:rPr kumimoji="0" lang="en-US" sz="1400" b="1" i="0" u="none" strike="noStrike" kern="1200" cap="none" spc="0" normalizeH="0" baseline="0" noProof="0" dirty="0" err="1">
                <a:ln>
                  <a:noFill/>
                </a:ln>
                <a:solidFill>
                  <a:schemeClr val="accent1"/>
                </a:solidFill>
                <a:effectLst/>
                <a:uLnTx/>
                <a:uFillTx/>
                <a:latin typeface="Segoe Sans Display Semibold"/>
                <a:ea typeface="+mn-ea"/>
                <a:cs typeface="+mn-cs"/>
                <a:hlinkClick r:id="rId6">
                  <a:extLst>
                    <a:ext uri="{A12FA001-AC4F-418D-AE19-62706E023703}">
                      <ahyp:hlinkClr xmlns:ahyp="http://schemas.microsoft.com/office/drawing/2018/hyperlinkcolor" val="tx"/>
                    </a:ext>
                  </a:extLst>
                </a:hlinkClick>
              </a:rPr>
              <a:t>FactoryNom</a:t>
            </a:r>
            <a:endParaRPr kumimoji="0" lang="en-US" sz="1400" b="1" i="0" u="none" strike="noStrike" kern="1200" cap="none" spc="0" normalizeH="0" baseline="0" noProof="0" dirty="0">
              <a:ln>
                <a:noFill/>
              </a:ln>
              <a:solidFill>
                <a:schemeClr val="accent1"/>
              </a:solidFill>
              <a:effectLst/>
              <a:uLnTx/>
              <a:uFillTx/>
              <a:latin typeface="Segoe Sans Display Semibold"/>
              <a:ea typeface="+mn-ea"/>
              <a:cs typeface="Segoe Sans Display"/>
            </a:endParaRPr>
          </a:p>
        </p:txBody>
      </p:sp>
      <p:sp>
        <p:nvSpPr>
          <p:cNvPr id="29" name="Rectangle: Rounded Corners 28">
            <a:extLst>
              <a:ext uri="{FF2B5EF4-FFF2-40B4-BE49-F238E27FC236}">
                <a16:creationId xmlns:a16="http://schemas.microsoft.com/office/drawing/2014/main" id="{7440DF1D-3FCD-4A4E-5ACF-CE328A2421E1}"/>
              </a:ext>
            </a:extLst>
          </p:cNvPr>
          <p:cNvSpPr/>
          <p:nvPr/>
        </p:nvSpPr>
        <p:spPr bwMode="auto">
          <a:xfrm>
            <a:off x="6194343" y="1797144"/>
            <a:ext cx="4762908" cy="3955662"/>
          </a:xfrm>
          <a:prstGeom prst="roundRect">
            <a:avLst>
              <a:gd name="adj" fmla="val 3344"/>
            </a:avLst>
          </a:prstGeom>
          <a:solidFill>
            <a:schemeClr val="bg1">
              <a:lumMod val="95000"/>
            </a:schemeClr>
          </a:solidFill>
          <a:ln w="9525" cap="flat" cmpd="sng" algn="ctr">
            <a:noFill/>
            <a:prstDash val="solid"/>
            <a:headEnd type="none" w="med" len="med"/>
            <a:tailEnd type="none" w="med" len="med"/>
          </a:ln>
          <a:effectLst>
            <a:outerShdw blurRad="127000" dist="38100" dir="3780000" algn="t" rotWithShape="0">
              <a:srgbClr val="FFFFFF">
                <a:lumMod val="50000"/>
                <a:alpha val="12000"/>
              </a:srgbClr>
            </a:outerShdw>
          </a:effectLst>
        </p:spPr>
        <p:txBody>
          <a:bodyPr rot="0" spcFirstLastPara="0" vertOverflow="overflow" horzOverflow="overflow" vert="horz" wrap="square" lIns="91440" tIns="9144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30" name="Title 3">
            <a:extLst>
              <a:ext uri="{FF2B5EF4-FFF2-40B4-BE49-F238E27FC236}">
                <a16:creationId xmlns:a16="http://schemas.microsoft.com/office/drawing/2014/main" id="{274F1267-9E33-BAB5-4FEA-C6F12BA4801F}"/>
              </a:ext>
              <a:ext uri="{C183D7F6-B498-43B3-948B-1728B52AA6E4}">
                <adec:decorative xmlns:adec="http://schemas.microsoft.com/office/drawing/2017/decorative" val="0"/>
              </a:ext>
            </a:extLst>
          </p:cNvPr>
          <p:cNvSpPr txBox="1">
            <a:spLocks/>
          </p:cNvSpPr>
          <p:nvPr/>
        </p:nvSpPr>
        <p:spPr bwMode="auto">
          <a:xfrm>
            <a:off x="6388405" y="1908731"/>
            <a:ext cx="4374784" cy="731520"/>
          </a:xfrm>
          <a:prstGeom prst="roundRect">
            <a:avLst>
              <a:gd name="adj" fmla="val 19284"/>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717626" fontAlgn="base">
              <a:spcBef>
                <a:spcPct val="0"/>
              </a:spcBef>
              <a:spcAft>
                <a:spcPts val="600"/>
              </a:spcAft>
              <a:defRPr/>
            </a:pPr>
            <a:r>
              <a:rPr lang="en-US" altLang="ja-JP" sz="2000" kern="1200" dirty="0">
                <a:solidFill>
                  <a:srgbClr val="FFFFFF"/>
                </a:solidFill>
                <a:latin typeface="Segoe Sans Display Semibold"/>
                <a:ea typeface="+mn-ea"/>
                <a:cs typeface="Segoe UI" pitchFamily="34" charset="0"/>
              </a:rPr>
              <a:t>Cloud Accelerate Factory </a:t>
            </a:r>
          </a:p>
          <a:p>
            <a:pPr defTabSz="717626" fontAlgn="base">
              <a:spcBef>
                <a:spcPct val="0"/>
              </a:spcBef>
              <a:spcAft>
                <a:spcPts val="600"/>
              </a:spcAft>
              <a:defRPr/>
            </a:pPr>
            <a:r>
              <a:rPr lang="en-US" altLang="ja-JP" sz="2000" kern="1200" dirty="0">
                <a:solidFill>
                  <a:srgbClr val="FFFFFF"/>
                </a:solidFill>
                <a:latin typeface="Segoe Sans Display Semibold"/>
                <a:ea typeface="+mn-ea"/>
                <a:cs typeface="Segoe UI" pitchFamily="34" charset="0"/>
              </a:rPr>
              <a:t>(CAF)</a:t>
            </a:r>
          </a:p>
        </p:txBody>
      </p:sp>
      <p:sp>
        <p:nvSpPr>
          <p:cNvPr id="32" name="TextBox 31">
            <a:extLst>
              <a:ext uri="{FF2B5EF4-FFF2-40B4-BE49-F238E27FC236}">
                <a16:creationId xmlns:a16="http://schemas.microsoft.com/office/drawing/2014/main" id="{8B37E40F-7481-4416-A8D1-5D62290EA331}"/>
              </a:ext>
            </a:extLst>
          </p:cNvPr>
          <p:cNvSpPr txBox="1"/>
          <p:nvPr/>
        </p:nvSpPr>
        <p:spPr>
          <a:xfrm>
            <a:off x="6388404" y="2767372"/>
            <a:ext cx="4470877" cy="298543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Segoe Sans Display"/>
                <a:ea typeface="+mn-ea"/>
                <a:cs typeface="+mn-cs"/>
              </a:rPr>
              <a:t>Deliver committed use cases into production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Segoe Sans Display"/>
              <a:ea typeface="+mn-ea"/>
              <a:cs typeface="+mn-cs"/>
            </a:endParaRP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One nomination routes you to the best delivery approach - no need to navigate programs!</a:t>
            </a:r>
            <a:endParaRPr kumimoji="0" lang="en-US" sz="1400" b="0" i="0" u="none" strike="noStrike" kern="1200" cap="none" spc="0" normalizeH="0" baseline="0" noProof="0" dirty="0">
              <a:ln>
                <a:noFill/>
              </a:ln>
              <a:solidFill>
                <a:srgbClr val="000000"/>
              </a:solidFill>
              <a:effectLst/>
              <a:uLnTx/>
              <a:uFillTx/>
              <a:latin typeface="Segoe UI"/>
              <a:ea typeface="+mn-ea"/>
              <a:cs typeface="+mn-cs"/>
            </a:endParaRP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Microsoft invested Hands-On Keyboard delivery for pre-defined Agent scenarios (Tech &amp; Business)</a:t>
            </a: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Access to a zero-cost AI Agent Immersion workshop for customers with unused credits</a:t>
            </a:r>
            <a:endParaRPr kumimoji="0" lang="en-US" sz="1200" b="0" i="0" u="none" strike="noStrike" kern="1200" cap="none" spc="0" normalizeH="0" baseline="0" noProof="0" dirty="0">
              <a:ln>
                <a:noFill/>
              </a:ln>
              <a:solidFill>
                <a:srgbClr val="000000"/>
              </a:solidFill>
              <a:effectLst/>
              <a:uLnTx/>
              <a:uFillTx/>
              <a:latin typeface="Segoe UI"/>
              <a:ea typeface="+mn-ea"/>
              <a:cs typeface="Segoe UI"/>
            </a:endParaRPr>
          </a:p>
          <a:p>
            <a:pPr marL="285750" marR="0" lvl="0"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Supports BOTH Azure AI Foundry and Copilot Studio implementations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Segoe UI"/>
                <a:ea typeface="+mn-ea"/>
                <a:cs typeface="+mn-cs"/>
              </a:rPr>
              <a:t>Audience: STU, CSU</a:t>
            </a:r>
            <a:r>
              <a:rPr lang="en-US" sz="1400" b="1" i="1" dirty="0">
                <a:solidFill>
                  <a:srgbClr val="000000"/>
                </a:solidFill>
                <a:latin typeface="Segoe UI"/>
              </a:rPr>
              <a:t> (Scope 1)</a:t>
            </a:r>
            <a:r>
              <a:rPr kumimoji="0" lang="en-US" sz="1400" b="1" i="1" u="none" strike="noStrike" kern="1200" cap="none" spc="0" normalizeH="0" baseline="0" noProof="0" dirty="0">
                <a:ln>
                  <a:noFill/>
                </a:ln>
                <a:solidFill>
                  <a:srgbClr val="000000"/>
                </a:solidFill>
                <a:effectLst/>
                <a:uLnTx/>
                <a:uFillTx/>
                <a:latin typeface="Segoe UI"/>
                <a:ea typeface="+mn-ea"/>
                <a:cs typeface="+mn-cs"/>
              </a:rPr>
              <a:t> Partners/ISD (Scope 2)</a:t>
            </a:r>
            <a:endParaRPr kumimoji="0" lang="en-US" sz="2000" b="1" i="1" u="none" strike="noStrike" kern="1200" cap="none" spc="0" normalizeH="0" baseline="0" noProof="0" dirty="0">
              <a:ln>
                <a:noFill/>
              </a:ln>
              <a:solidFill>
                <a:srgbClr val="000000"/>
              </a:solidFill>
              <a:effectLst/>
              <a:uLnTx/>
              <a:uFillTx/>
              <a:latin typeface="Segoe Sans Display"/>
              <a:ea typeface="+mn-ea"/>
              <a:cs typeface="+mn-cs"/>
            </a:endParaRPr>
          </a:p>
        </p:txBody>
      </p:sp>
      <p:cxnSp>
        <p:nvCxnSpPr>
          <p:cNvPr id="33" name="Straight Connector 32">
            <a:extLst>
              <a:ext uri="{FF2B5EF4-FFF2-40B4-BE49-F238E27FC236}">
                <a16:creationId xmlns:a16="http://schemas.microsoft.com/office/drawing/2014/main" id="{45901F4E-6D30-247D-3249-3A53F360B449}"/>
              </a:ext>
            </a:extLst>
          </p:cNvPr>
          <p:cNvCxnSpPr>
            <a:cxnSpLocks/>
          </p:cNvCxnSpPr>
          <p:nvPr/>
        </p:nvCxnSpPr>
        <p:spPr>
          <a:xfrm>
            <a:off x="1423017" y="1587361"/>
            <a:ext cx="4284485" cy="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99922F3-9890-3E59-D38D-69F9656CF464}"/>
              </a:ext>
            </a:extLst>
          </p:cNvPr>
          <p:cNvSpPr txBox="1"/>
          <p:nvPr/>
        </p:nvSpPr>
        <p:spPr>
          <a:xfrm>
            <a:off x="2850961" y="1433473"/>
            <a:ext cx="1428596" cy="307777"/>
          </a:xfrm>
          <a:prstGeom prst="rect">
            <a:avLst/>
          </a:prstGeom>
          <a:solidFill>
            <a:srgbClr val="FFF8F3"/>
          </a:solid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Sans Display"/>
                <a:ea typeface="+mn-ea"/>
                <a:cs typeface="+mn-cs"/>
              </a:rPr>
              <a:t>Drive intent</a:t>
            </a:r>
          </a:p>
        </p:txBody>
      </p:sp>
      <p:cxnSp>
        <p:nvCxnSpPr>
          <p:cNvPr id="35" name="Straight Connector 34">
            <a:extLst>
              <a:ext uri="{FF2B5EF4-FFF2-40B4-BE49-F238E27FC236}">
                <a16:creationId xmlns:a16="http://schemas.microsoft.com/office/drawing/2014/main" id="{9FB776F1-1480-4121-9449-B94F3AAFC338}"/>
              </a:ext>
            </a:extLst>
          </p:cNvPr>
          <p:cNvCxnSpPr>
            <a:cxnSpLocks/>
          </p:cNvCxnSpPr>
          <p:nvPr/>
        </p:nvCxnSpPr>
        <p:spPr>
          <a:xfrm>
            <a:off x="6388405" y="1587361"/>
            <a:ext cx="4284485" cy="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85CAAA8-3343-AC23-76BC-2DD7A1C1090F}"/>
              </a:ext>
            </a:extLst>
          </p:cNvPr>
          <p:cNvSpPr txBox="1"/>
          <p:nvPr/>
        </p:nvSpPr>
        <p:spPr>
          <a:xfrm>
            <a:off x="7383659" y="1433473"/>
            <a:ext cx="2422498" cy="307777"/>
          </a:xfrm>
          <a:prstGeom prst="rect">
            <a:avLst/>
          </a:prstGeom>
          <a:solidFill>
            <a:srgbClr val="FFF8F3"/>
          </a:solid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Sans Display"/>
                <a:ea typeface="+mn-ea"/>
                <a:cs typeface="+mn-cs"/>
              </a:rPr>
              <a:t>Drive consumption </a:t>
            </a:r>
          </a:p>
        </p:txBody>
      </p:sp>
      <p:sp>
        <p:nvSpPr>
          <p:cNvPr id="37" name="TextBox 36">
            <a:extLst>
              <a:ext uri="{FF2B5EF4-FFF2-40B4-BE49-F238E27FC236}">
                <a16:creationId xmlns:a16="http://schemas.microsoft.com/office/drawing/2014/main" id="{AA5C123D-8F90-A238-B0AB-5701FB91F0D2}"/>
              </a:ext>
            </a:extLst>
          </p:cNvPr>
          <p:cNvSpPr txBox="1"/>
          <p:nvPr/>
        </p:nvSpPr>
        <p:spPr>
          <a:xfrm>
            <a:off x="1128396" y="6512596"/>
            <a:ext cx="984796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Display"/>
                <a:ea typeface="+mn-ea"/>
                <a:cs typeface="+mn-cs"/>
              </a:rPr>
              <a:t>Complex and transformational opportunities will be routed to </a:t>
            </a:r>
            <a:r>
              <a:rPr kumimoji="0" lang="en-US" sz="1200" b="0" i="0" u="none" strike="noStrike" kern="1200" cap="none" spc="0" normalizeH="0" baseline="0" noProof="0" dirty="0">
                <a:ln>
                  <a:noFill/>
                </a:ln>
                <a:solidFill>
                  <a:schemeClr val="accent1"/>
                </a:solidFill>
                <a:effectLst/>
                <a:uLnTx/>
                <a:uFillTx/>
                <a:latin typeface="Segoe Sans Display"/>
                <a:ea typeface="+mn-ea"/>
                <a:cs typeface="+mn-cs"/>
                <a:hlinkClick r:id="rId7">
                  <a:extLst>
                    <a:ext uri="{A12FA001-AC4F-418D-AE19-62706E023703}">
                      <ahyp:hlinkClr xmlns:ahyp="http://schemas.microsoft.com/office/drawing/2018/hyperlinkcolor" val="tx"/>
                    </a:ext>
                  </a:extLst>
                </a:hlinkClick>
              </a:rPr>
              <a:t>Forward Deployed Engineering (FDE)</a:t>
            </a:r>
            <a:endParaRPr kumimoji="0" lang="en-US" sz="1200" b="0" i="0" u="none" strike="noStrike" kern="1200" cap="none" spc="0" normalizeH="0" baseline="0" noProof="0" dirty="0">
              <a:ln>
                <a:noFill/>
              </a:ln>
              <a:solidFill>
                <a:schemeClr val="accent1"/>
              </a:solidFill>
              <a:effectLst/>
              <a:uLnTx/>
              <a:uFillTx/>
              <a:latin typeface="Segoe Sans Display"/>
              <a:ea typeface="+mn-ea"/>
              <a:cs typeface="+mn-cs"/>
            </a:endParaRPr>
          </a:p>
        </p:txBody>
      </p:sp>
    </p:spTree>
    <p:extLst>
      <p:ext uri="{BB962C8B-B14F-4D97-AF65-F5344CB8AC3E}">
        <p14:creationId xmlns:p14="http://schemas.microsoft.com/office/powerpoint/2010/main" val="2476275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BBFC8-27FD-4231-3908-FE2585CE80E5}"/>
            </a:ext>
          </a:extLst>
        </p:cNvPr>
        <p:cNvGrpSpPr/>
        <p:nvPr/>
      </p:nvGrpSpPr>
      <p:grpSpPr>
        <a:xfrm>
          <a:off x="0" y="0"/>
          <a:ext cx="0" cy="0"/>
          <a:chOff x="0" y="0"/>
          <a:chExt cx="0" cy="0"/>
        </a:xfrm>
      </p:grpSpPr>
      <p:sp>
        <p:nvSpPr>
          <p:cNvPr id="10" name="Shape 14">
            <a:extLst>
              <a:ext uri="{FF2B5EF4-FFF2-40B4-BE49-F238E27FC236}">
                <a16:creationId xmlns:a16="http://schemas.microsoft.com/office/drawing/2014/main" id="{C14F1F58-EAF4-DD15-D960-6218E2A864C5}"/>
              </a:ext>
            </a:extLst>
          </p:cNvPr>
          <p:cNvSpPr/>
          <p:nvPr/>
        </p:nvSpPr>
        <p:spPr>
          <a:xfrm>
            <a:off x="6228207" y="1778837"/>
            <a:ext cx="4873752" cy="4297680"/>
          </a:xfrm>
          <a:prstGeom prst="roundRect">
            <a:avLst>
              <a:gd name="adj" fmla="val 4043"/>
            </a:avLst>
          </a:prstGeom>
          <a:solidFill>
            <a:srgbClr val="FFFFFF"/>
          </a:solidFill>
          <a:ln w="12700">
            <a:solidFill>
              <a:srgbClr val="319A89"/>
            </a:solidFill>
            <a:prstDash val="solid"/>
          </a:ln>
          <a:effectLst>
            <a:outerShdw blurRad="228600" dist="12700" dir="2700000" algn="bl" rotWithShape="0">
              <a:srgbClr val="0F172A">
                <a:alpha val="65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48" name="Shape 77">
            <a:extLst>
              <a:ext uri="{FF2B5EF4-FFF2-40B4-BE49-F238E27FC236}">
                <a16:creationId xmlns:a16="http://schemas.microsoft.com/office/drawing/2014/main" id="{11A8F789-6995-3405-6742-01E47BC6EC64}"/>
              </a:ext>
            </a:extLst>
          </p:cNvPr>
          <p:cNvSpPr/>
          <p:nvPr/>
        </p:nvSpPr>
        <p:spPr>
          <a:xfrm>
            <a:off x="8724519" y="2574365"/>
            <a:ext cx="2212848" cy="3246120"/>
          </a:xfrm>
          <a:prstGeom prst="roundRect">
            <a:avLst>
              <a:gd name="adj" fmla="val 5785"/>
            </a:avLst>
          </a:prstGeom>
          <a:solidFill>
            <a:srgbClr val="FFFFFF"/>
          </a:solidFill>
          <a:ln w="10160">
            <a:solidFill>
              <a:srgbClr val="E3E6EC">
                <a:alpha val="82000"/>
              </a:srgbClr>
            </a:solidFill>
            <a:prstDash val="solid"/>
          </a:ln>
          <a:effectLst>
            <a:outerShdw blurRad="101600" dist="12700" dir="2700000" algn="bl" rotWithShape="0">
              <a:srgbClr val="0F172A">
                <a:alpha val="35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51" name="Shape 81">
            <a:extLst>
              <a:ext uri="{FF2B5EF4-FFF2-40B4-BE49-F238E27FC236}">
                <a16:creationId xmlns:a16="http://schemas.microsoft.com/office/drawing/2014/main" id="{DA280C42-D31F-68F5-21B4-070D54AC77C4}"/>
              </a:ext>
            </a:extLst>
          </p:cNvPr>
          <p:cNvSpPr/>
          <p:nvPr/>
        </p:nvSpPr>
        <p:spPr>
          <a:xfrm>
            <a:off x="10352151" y="2725241"/>
            <a:ext cx="438912" cy="438912"/>
          </a:xfrm>
          <a:prstGeom prst="ellipse">
            <a:avLst/>
          </a:prstGeom>
          <a:solidFill>
            <a:srgbClr val="FFFFFF">
              <a:alpha val="0"/>
            </a:srgbClr>
          </a:solidFill>
          <a:ln w="8890">
            <a:solidFill>
              <a:srgbClr val="319A89">
                <a:alpha val="30000"/>
              </a:srgb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36" name="Shape 63">
            <a:extLst>
              <a:ext uri="{FF2B5EF4-FFF2-40B4-BE49-F238E27FC236}">
                <a16:creationId xmlns:a16="http://schemas.microsoft.com/office/drawing/2014/main" id="{68D3A1EB-6965-AD51-6DDD-803D799AB13C}"/>
              </a:ext>
            </a:extLst>
          </p:cNvPr>
          <p:cNvSpPr/>
          <p:nvPr/>
        </p:nvSpPr>
        <p:spPr>
          <a:xfrm>
            <a:off x="6401943" y="2574365"/>
            <a:ext cx="2212848" cy="3246120"/>
          </a:xfrm>
          <a:prstGeom prst="roundRect">
            <a:avLst>
              <a:gd name="adj" fmla="val 5785"/>
            </a:avLst>
          </a:prstGeom>
          <a:solidFill>
            <a:srgbClr val="FFFFFF"/>
          </a:solidFill>
          <a:ln w="10160">
            <a:solidFill>
              <a:srgbClr val="E3E6EC">
                <a:alpha val="82000"/>
              </a:srgbClr>
            </a:solidFill>
            <a:prstDash val="solid"/>
          </a:ln>
          <a:effectLst>
            <a:outerShdw blurRad="101600" dist="12700" dir="2700000" algn="bl" rotWithShape="0">
              <a:srgbClr val="0F172A">
                <a:alpha val="35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39" name="Shape 67">
            <a:extLst>
              <a:ext uri="{FF2B5EF4-FFF2-40B4-BE49-F238E27FC236}">
                <a16:creationId xmlns:a16="http://schemas.microsoft.com/office/drawing/2014/main" id="{0F490A09-0F70-29A7-ADDE-1C44FDACAB38}"/>
              </a:ext>
            </a:extLst>
          </p:cNvPr>
          <p:cNvSpPr/>
          <p:nvPr/>
        </p:nvSpPr>
        <p:spPr>
          <a:xfrm>
            <a:off x="8061579" y="2725241"/>
            <a:ext cx="438912" cy="438912"/>
          </a:xfrm>
          <a:prstGeom prst="ellipse">
            <a:avLst/>
          </a:prstGeom>
          <a:solidFill>
            <a:srgbClr val="FFFFFF">
              <a:alpha val="0"/>
            </a:srgbClr>
          </a:solidFill>
          <a:ln w="8890">
            <a:solidFill>
              <a:srgbClr val="319A89">
                <a:alpha val="30000"/>
              </a:srgb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Segoe UI"/>
              <a:ea typeface="+mn-ea"/>
              <a:cs typeface="+mn-cs"/>
            </a:endParaRPr>
          </a:p>
        </p:txBody>
      </p:sp>
      <p:sp>
        <p:nvSpPr>
          <p:cNvPr id="5" name="Shape 8">
            <a:extLst>
              <a:ext uri="{FF2B5EF4-FFF2-40B4-BE49-F238E27FC236}">
                <a16:creationId xmlns:a16="http://schemas.microsoft.com/office/drawing/2014/main" id="{FE69C95E-5E40-4A60-1D2A-E9EE84287571}"/>
              </a:ext>
            </a:extLst>
          </p:cNvPr>
          <p:cNvSpPr/>
          <p:nvPr/>
        </p:nvSpPr>
        <p:spPr>
          <a:xfrm>
            <a:off x="1144143" y="1778837"/>
            <a:ext cx="4873752" cy="4297680"/>
          </a:xfrm>
          <a:prstGeom prst="roundRect">
            <a:avLst>
              <a:gd name="adj" fmla="val 4043"/>
            </a:avLst>
          </a:prstGeom>
          <a:solidFill>
            <a:srgbClr val="FFFFFF"/>
          </a:solidFill>
          <a:ln w="12700">
            <a:solidFill>
              <a:srgbClr val="0F6CBD"/>
            </a:solidFill>
            <a:prstDash val="solid"/>
          </a:ln>
          <a:effectLst>
            <a:outerShdw blurRad="228600" dist="12700" dir="2700000" algn="bl" rotWithShape="0">
              <a:srgbClr val="0F172A">
                <a:alpha val="65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6" name="Shape 9">
            <a:extLst>
              <a:ext uri="{FF2B5EF4-FFF2-40B4-BE49-F238E27FC236}">
                <a16:creationId xmlns:a16="http://schemas.microsoft.com/office/drawing/2014/main" id="{4FC0BE07-DA92-2AD5-C582-9638F8D8FA1E}"/>
              </a:ext>
            </a:extLst>
          </p:cNvPr>
          <p:cNvSpPr/>
          <p:nvPr/>
        </p:nvSpPr>
        <p:spPr>
          <a:xfrm>
            <a:off x="1354455" y="2007437"/>
            <a:ext cx="2057400" cy="347472"/>
          </a:xfrm>
          <a:prstGeom prst="roundRect">
            <a:avLst>
              <a:gd name="adj" fmla="val 50000"/>
            </a:avLst>
          </a:prstGeom>
          <a:solidFill>
            <a:srgbClr val="0F6CBD"/>
          </a:solidFill>
          <a:ln w="12700">
            <a:solidFill>
              <a:srgbClr val="333333">
                <a:alpha val="0"/>
              </a:srgbClr>
            </a:solidFill>
            <a:prstDash val="solid"/>
          </a:ln>
          <a:effectLst>
            <a:outerShdw blurRad="228600" dist="25400" dir="2700000" algn="bl" rotWithShape="0">
              <a:srgbClr val="0F6CBD">
                <a:alpha val="2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8" name="Text 12">
            <a:extLst>
              <a:ext uri="{FF2B5EF4-FFF2-40B4-BE49-F238E27FC236}">
                <a16:creationId xmlns:a16="http://schemas.microsoft.com/office/drawing/2014/main" id="{6C84D962-F0F3-FFCA-31CD-73FC46EC7F3C}"/>
              </a:ext>
            </a:extLst>
          </p:cNvPr>
          <p:cNvSpPr/>
          <p:nvPr/>
        </p:nvSpPr>
        <p:spPr>
          <a:xfrm>
            <a:off x="1509903" y="2094305"/>
            <a:ext cx="1695796" cy="16459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 b="1" i="0" u="none" strike="noStrike" kern="0" cap="none" spc="160" normalizeH="0" baseline="0" noProof="0">
                <a:ln>
                  <a:noFill/>
                </a:ln>
                <a:solidFill>
                  <a:srgbClr val="FFFFFF"/>
                </a:solidFill>
                <a:effectLst/>
                <a:uLnTx/>
                <a:uFillTx/>
                <a:latin typeface="Segoe UI" pitchFamily="34" charset="0"/>
                <a:ea typeface="Segoe UI" pitchFamily="34" charset="-122"/>
                <a:cs typeface="Segoe UI" pitchFamily="34" charset="-120"/>
              </a:rPr>
              <a:t>SCOPE 1: FACTORY-LED</a:t>
            </a:r>
            <a:endParaRPr kumimoji="0" lang="en-US" sz="880" b="0" i="0" u="none" strike="noStrike" kern="1200" cap="none" spc="0" normalizeH="0" baseline="0" noProof="0">
              <a:ln>
                <a:noFill/>
              </a:ln>
              <a:solidFill>
                <a:prstClr val="black"/>
              </a:solidFill>
              <a:effectLst/>
              <a:uLnTx/>
              <a:uFillTx/>
              <a:latin typeface="Segoe UI"/>
              <a:ea typeface="+mn-ea"/>
              <a:cs typeface="+mn-cs"/>
            </a:endParaRPr>
          </a:p>
        </p:txBody>
      </p:sp>
      <p:sp>
        <p:nvSpPr>
          <p:cNvPr id="9" name="Text 13">
            <a:extLst>
              <a:ext uri="{FF2B5EF4-FFF2-40B4-BE49-F238E27FC236}">
                <a16:creationId xmlns:a16="http://schemas.microsoft.com/office/drawing/2014/main" id="{C8EB799D-FF8E-04BF-1320-DFAAC7AC3CD6}"/>
              </a:ext>
            </a:extLst>
          </p:cNvPr>
          <p:cNvSpPr/>
          <p:nvPr/>
        </p:nvSpPr>
        <p:spPr>
          <a:xfrm>
            <a:off x="4042791" y="2153741"/>
            <a:ext cx="1755648" cy="150876"/>
          </a:xfrm>
          <a:prstGeom prst="rect">
            <a:avLst/>
          </a:prstGeom>
          <a:noFill/>
          <a:ln/>
        </p:spPr>
        <p:txBody>
          <a:bodyPr wrap="square" lIns="0" tIns="0" rIns="0" bIns="0" rtlCol="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70" normalizeH="0" baseline="0" noProof="0">
                <a:ln>
                  <a:noFill/>
                </a:ln>
                <a:solidFill>
                  <a:srgbClr val="64748B"/>
                </a:solidFill>
                <a:effectLst/>
                <a:uLnTx/>
                <a:uFillTx/>
                <a:latin typeface="Segoe UI" pitchFamily="34" charset="0"/>
                <a:ea typeface="Segoe UI" pitchFamily="34" charset="-122"/>
                <a:cs typeface="Segoe UI" pitchFamily="34" charset="-120"/>
              </a:rPr>
              <a:t>FOUNDATIONAL PATTERNS</a:t>
            </a:r>
            <a:endParaRPr kumimoji="0" lang="en-US" sz="800" b="0" i="0" u="none" strike="noStrike" kern="1200" cap="none" spc="0" normalizeH="0" baseline="0" noProof="0">
              <a:ln>
                <a:noFill/>
              </a:ln>
              <a:solidFill>
                <a:prstClr val="black"/>
              </a:solidFill>
              <a:effectLst/>
              <a:uLnTx/>
              <a:uFillTx/>
              <a:latin typeface="Segoe UI"/>
              <a:ea typeface="+mn-ea"/>
              <a:cs typeface="+mn-cs"/>
            </a:endParaRPr>
          </a:p>
        </p:txBody>
      </p:sp>
      <p:sp>
        <p:nvSpPr>
          <p:cNvPr id="11" name="Shape 15">
            <a:extLst>
              <a:ext uri="{FF2B5EF4-FFF2-40B4-BE49-F238E27FC236}">
                <a16:creationId xmlns:a16="http://schemas.microsoft.com/office/drawing/2014/main" id="{E8005BE5-CC14-DA55-182D-FA345312F10A}"/>
              </a:ext>
            </a:extLst>
          </p:cNvPr>
          <p:cNvSpPr/>
          <p:nvPr/>
        </p:nvSpPr>
        <p:spPr>
          <a:xfrm>
            <a:off x="6438519" y="2007437"/>
            <a:ext cx="2212848" cy="347472"/>
          </a:xfrm>
          <a:prstGeom prst="roundRect">
            <a:avLst>
              <a:gd name="adj" fmla="val 50000"/>
            </a:avLst>
          </a:prstGeom>
          <a:solidFill>
            <a:srgbClr val="319A89"/>
          </a:solidFill>
          <a:ln w="12700">
            <a:solidFill>
              <a:srgbClr val="333333">
                <a:alpha val="0"/>
              </a:srgbClr>
            </a:solidFill>
            <a:prstDash val="solid"/>
          </a:ln>
          <a:effectLst>
            <a:outerShdw blurRad="228600" dist="25400" dir="2700000" algn="bl" rotWithShape="0">
              <a:srgbClr val="8A4CC7">
                <a:alpha val="2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3" name="Text 18">
            <a:extLst>
              <a:ext uri="{FF2B5EF4-FFF2-40B4-BE49-F238E27FC236}">
                <a16:creationId xmlns:a16="http://schemas.microsoft.com/office/drawing/2014/main" id="{292CB131-AB19-957D-C00B-36DABCA6FFF1}"/>
              </a:ext>
            </a:extLst>
          </p:cNvPr>
          <p:cNvSpPr/>
          <p:nvPr/>
        </p:nvSpPr>
        <p:spPr>
          <a:xfrm>
            <a:off x="6593966" y="2094304"/>
            <a:ext cx="2020825" cy="219141"/>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 b="1" i="0" u="none" strike="noStrike" kern="0" cap="none" spc="160" normalizeH="0" baseline="0" noProof="0">
                <a:ln>
                  <a:noFill/>
                </a:ln>
                <a:solidFill>
                  <a:srgbClr val="FFFFFF"/>
                </a:solidFill>
                <a:effectLst/>
                <a:uLnTx/>
                <a:uFillTx/>
                <a:latin typeface="Segoe UI" pitchFamily="34" charset="0"/>
                <a:ea typeface="Segoe UI" pitchFamily="34" charset="-122"/>
                <a:cs typeface="Segoe UI" pitchFamily="34" charset="-120"/>
              </a:rPr>
              <a:t>SCOPE 2: ISD/PARTNER-LED</a:t>
            </a:r>
            <a:endParaRPr kumimoji="0" lang="en-US" sz="880" b="0" i="0" u="none" strike="noStrike" kern="1200" cap="none" spc="0" normalizeH="0" baseline="0" noProof="0">
              <a:ln>
                <a:noFill/>
              </a:ln>
              <a:solidFill>
                <a:prstClr val="black"/>
              </a:solidFill>
              <a:effectLst/>
              <a:uLnTx/>
              <a:uFillTx/>
              <a:latin typeface="Segoe UI"/>
              <a:ea typeface="+mn-ea"/>
              <a:cs typeface="+mn-cs"/>
            </a:endParaRPr>
          </a:p>
        </p:txBody>
      </p:sp>
      <p:sp>
        <p:nvSpPr>
          <p:cNvPr id="14" name="Text 19">
            <a:extLst>
              <a:ext uri="{FF2B5EF4-FFF2-40B4-BE49-F238E27FC236}">
                <a16:creationId xmlns:a16="http://schemas.microsoft.com/office/drawing/2014/main" id="{1A65B00A-24F3-1A32-74A8-A533FE5E2D33}"/>
              </a:ext>
            </a:extLst>
          </p:cNvPr>
          <p:cNvSpPr/>
          <p:nvPr/>
        </p:nvSpPr>
        <p:spPr>
          <a:xfrm>
            <a:off x="9565767" y="2153741"/>
            <a:ext cx="1316736" cy="128016"/>
          </a:xfrm>
          <a:prstGeom prst="rect">
            <a:avLst/>
          </a:prstGeom>
          <a:noFill/>
          <a:ln/>
        </p:spPr>
        <p:txBody>
          <a:bodyPr wrap="square" lIns="0" tIns="0" rIns="0" bIns="0" rtlCol="0" anchor="t">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70" normalizeH="0" baseline="0" noProof="0">
                <a:ln>
                  <a:noFill/>
                </a:ln>
                <a:solidFill>
                  <a:srgbClr val="64748B"/>
                </a:solidFill>
                <a:effectLst/>
                <a:uLnTx/>
                <a:uFillTx/>
                <a:latin typeface="Segoe UI" pitchFamily="34" charset="0"/>
                <a:ea typeface="Segoe UI" pitchFamily="34" charset="-122"/>
                <a:cs typeface="Segoe UI" pitchFamily="34" charset="-120"/>
              </a:rPr>
              <a:t>ADVANCED PATTERNS</a:t>
            </a:r>
            <a:endParaRPr kumimoji="0" lang="en-US" sz="800" b="0" i="0" u="none" strike="noStrike" kern="1200" cap="none" spc="0" normalizeH="0" baseline="0" noProof="0">
              <a:ln>
                <a:noFill/>
              </a:ln>
              <a:solidFill>
                <a:prstClr val="black"/>
              </a:solidFill>
              <a:effectLst/>
              <a:uLnTx/>
              <a:uFillTx/>
              <a:latin typeface="Segoe UI"/>
              <a:ea typeface="+mn-ea"/>
              <a:cs typeface="+mn-cs"/>
            </a:endParaRPr>
          </a:p>
        </p:txBody>
      </p:sp>
      <p:sp>
        <p:nvSpPr>
          <p:cNvPr id="15" name="Shape 20">
            <a:extLst>
              <a:ext uri="{FF2B5EF4-FFF2-40B4-BE49-F238E27FC236}">
                <a16:creationId xmlns:a16="http://schemas.microsoft.com/office/drawing/2014/main" id="{46F5FC60-05C4-A33A-3E55-76A8444BD514}"/>
              </a:ext>
            </a:extLst>
          </p:cNvPr>
          <p:cNvSpPr/>
          <p:nvPr/>
        </p:nvSpPr>
        <p:spPr>
          <a:xfrm>
            <a:off x="1317879" y="2574365"/>
            <a:ext cx="2212848" cy="3246120"/>
          </a:xfrm>
          <a:prstGeom prst="roundRect">
            <a:avLst>
              <a:gd name="adj" fmla="val 5785"/>
            </a:avLst>
          </a:prstGeom>
          <a:solidFill>
            <a:srgbClr val="FFFFFF"/>
          </a:solidFill>
          <a:ln w="10160">
            <a:solidFill>
              <a:srgbClr val="E3E6EC">
                <a:alpha val="82000"/>
              </a:srgbClr>
            </a:solidFill>
            <a:prstDash val="solid"/>
          </a:ln>
          <a:effectLst>
            <a:outerShdw blurRad="101600" dist="12700" dir="2700000" algn="bl" rotWithShape="0">
              <a:srgbClr val="0F172A">
                <a:alpha val="35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6" name="Shape 21">
            <a:extLst>
              <a:ext uri="{FF2B5EF4-FFF2-40B4-BE49-F238E27FC236}">
                <a16:creationId xmlns:a16="http://schemas.microsoft.com/office/drawing/2014/main" id="{A13FC2D7-A7CB-93C5-289A-7E8A14DE12E8}"/>
              </a:ext>
            </a:extLst>
          </p:cNvPr>
          <p:cNvSpPr/>
          <p:nvPr/>
        </p:nvSpPr>
        <p:spPr>
          <a:xfrm>
            <a:off x="1436751" y="2574365"/>
            <a:ext cx="1975104" cy="32004"/>
          </a:xfrm>
          <a:prstGeom prst="rect">
            <a:avLst/>
          </a:prstGeom>
          <a:solidFill>
            <a:srgbClr val="0F6CBD"/>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7" name="Shape 23">
            <a:extLst>
              <a:ext uri="{FF2B5EF4-FFF2-40B4-BE49-F238E27FC236}">
                <a16:creationId xmlns:a16="http://schemas.microsoft.com/office/drawing/2014/main" id="{D5104BD7-9EC3-F21E-0FFF-47BE7A1F2D31}"/>
              </a:ext>
            </a:extLst>
          </p:cNvPr>
          <p:cNvSpPr/>
          <p:nvPr/>
        </p:nvSpPr>
        <p:spPr>
          <a:xfrm>
            <a:off x="3027807" y="2729812"/>
            <a:ext cx="338328" cy="338328"/>
          </a:xfrm>
          <a:prstGeom prst="ellipse">
            <a:avLst/>
          </a:prstGeom>
          <a:solidFill>
            <a:srgbClr val="FFFFFF"/>
          </a:solidFill>
          <a:ln w="12700">
            <a:solidFill>
              <a:srgbClr val="0F6CBD">
                <a:alpha val="4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8" name="Shape 24">
            <a:extLst>
              <a:ext uri="{FF2B5EF4-FFF2-40B4-BE49-F238E27FC236}">
                <a16:creationId xmlns:a16="http://schemas.microsoft.com/office/drawing/2014/main" id="{DC31F698-17D4-09DA-3520-0A820DB46085}"/>
              </a:ext>
            </a:extLst>
          </p:cNvPr>
          <p:cNvSpPr/>
          <p:nvPr/>
        </p:nvSpPr>
        <p:spPr>
          <a:xfrm>
            <a:off x="2977515" y="2679520"/>
            <a:ext cx="438912" cy="438912"/>
          </a:xfrm>
          <a:prstGeom prst="ellipse">
            <a:avLst/>
          </a:prstGeom>
          <a:solidFill>
            <a:srgbClr val="FFFFFF">
              <a:alpha val="0"/>
            </a:srgbClr>
          </a:solidFill>
          <a:ln w="8890">
            <a:solidFill>
              <a:srgbClr val="0F6CBD">
                <a:alpha val="30000"/>
              </a:srgb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9" name="Text 25">
            <a:extLst>
              <a:ext uri="{FF2B5EF4-FFF2-40B4-BE49-F238E27FC236}">
                <a16:creationId xmlns:a16="http://schemas.microsoft.com/office/drawing/2014/main" id="{1431B8A6-F6C7-71B2-0DA5-CEB7A62FB2F5}"/>
              </a:ext>
            </a:extLst>
          </p:cNvPr>
          <p:cNvSpPr/>
          <p:nvPr/>
        </p:nvSpPr>
        <p:spPr>
          <a:xfrm>
            <a:off x="3027807" y="2834968"/>
            <a:ext cx="338328" cy="128016"/>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6CBD"/>
                </a:solidFill>
                <a:effectLst/>
                <a:uLnTx/>
                <a:uFillTx/>
                <a:latin typeface="Segoe UI" pitchFamily="34" charset="0"/>
                <a:ea typeface="Segoe UI" pitchFamily="34" charset="-122"/>
                <a:cs typeface="Segoe UI" pitchFamily="34" charset="-120"/>
              </a:rPr>
              <a:t>1</a:t>
            </a:r>
            <a:endParaRPr kumimoji="0" lang="en-US" sz="1100" b="0" i="0" u="none" strike="noStrike" kern="1200" cap="none" spc="0" normalizeH="0" baseline="0" noProof="0">
              <a:ln>
                <a:noFill/>
              </a:ln>
              <a:solidFill>
                <a:prstClr val="black"/>
              </a:solidFill>
              <a:effectLst/>
              <a:uLnTx/>
              <a:uFillTx/>
              <a:latin typeface="Segoe UI"/>
              <a:ea typeface="+mn-ea"/>
              <a:cs typeface="+mn-cs"/>
            </a:endParaRPr>
          </a:p>
        </p:txBody>
      </p:sp>
      <p:sp>
        <p:nvSpPr>
          <p:cNvPr id="20" name="Shape 26">
            <a:extLst>
              <a:ext uri="{FF2B5EF4-FFF2-40B4-BE49-F238E27FC236}">
                <a16:creationId xmlns:a16="http://schemas.microsoft.com/office/drawing/2014/main" id="{E759E9E1-D1EB-3CE2-C6AA-9E4C2FC67E62}"/>
              </a:ext>
            </a:extLst>
          </p:cNvPr>
          <p:cNvSpPr/>
          <p:nvPr/>
        </p:nvSpPr>
        <p:spPr>
          <a:xfrm>
            <a:off x="1509903" y="2857829"/>
            <a:ext cx="512064" cy="512064"/>
          </a:xfrm>
          <a:prstGeom prst="roundRect">
            <a:avLst>
              <a:gd name="adj" fmla="val 21429"/>
            </a:avLst>
          </a:prstGeom>
          <a:solidFill>
            <a:srgbClr val="0F6CBD"/>
          </a:solidFill>
          <a:ln w="12700">
            <a:solidFill>
              <a:srgbClr val="333333">
                <a:alpha val="0"/>
              </a:srgbClr>
            </a:solidFill>
            <a:prstDash val="solid"/>
          </a:ln>
          <a:effectLst>
            <a:outerShdw blurRad="241300" dist="25400" dir="2700000" algn="bl" rotWithShape="0">
              <a:srgbClr val="0F6CBD">
                <a:alpha val="2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21" name="Shape 27">
            <a:extLst>
              <a:ext uri="{FF2B5EF4-FFF2-40B4-BE49-F238E27FC236}">
                <a16:creationId xmlns:a16="http://schemas.microsoft.com/office/drawing/2014/main" id="{D21F79C9-1D42-C637-2889-007F4CC92E7D}"/>
              </a:ext>
            </a:extLst>
          </p:cNvPr>
          <p:cNvSpPr/>
          <p:nvPr/>
        </p:nvSpPr>
        <p:spPr>
          <a:xfrm>
            <a:off x="1560195" y="2908121"/>
            <a:ext cx="411480" cy="411480"/>
          </a:xfrm>
          <a:prstGeom prst="roundRect">
            <a:avLst>
              <a:gd name="adj" fmla="val 17778"/>
            </a:avLst>
          </a:prstGeom>
          <a:solidFill>
            <a:srgbClr val="FFFFFF">
              <a:alpha val="14000"/>
            </a:srgbClr>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22" name="Shape 36">
            <a:extLst>
              <a:ext uri="{FF2B5EF4-FFF2-40B4-BE49-F238E27FC236}">
                <a16:creationId xmlns:a16="http://schemas.microsoft.com/office/drawing/2014/main" id="{A26E9A4A-E952-A54D-F617-8F2EF1EE5270}"/>
              </a:ext>
            </a:extLst>
          </p:cNvPr>
          <p:cNvSpPr/>
          <p:nvPr/>
        </p:nvSpPr>
        <p:spPr>
          <a:xfrm>
            <a:off x="1509903" y="3653357"/>
            <a:ext cx="0" cy="1261872"/>
          </a:xfrm>
          <a:prstGeom prst="line">
            <a:avLst/>
          </a:prstGeom>
          <a:noFill/>
          <a:ln w="17780">
            <a:solidFill>
              <a:srgbClr val="0F6CB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23" name="Text 37">
            <a:extLst>
              <a:ext uri="{FF2B5EF4-FFF2-40B4-BE49-F238E27FC236}">
                <a16:creationId xmlns:a16="http://schemas.microsoft.com/office/drawing/2014/main" id="{E6126995-C6EF-73D5-B182-E96063B17FF2}"/>
              </a:ext>
            </a:extLst>
          </p:cNvPr>
          <p:cNvSpPr/>
          <p:nvPr/>
        </p:nvSpPr>
        <p:spPr>
          <a:xfrm>
            <a:off x="1665351" y="3772229"/>
            <a:ext cx="1719072" cy="10058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"Our people waste hours hunting</a:t>
            </a:r>
            <a:r>
              <a:rPr kumimoji="0" lang="en-US" sz="990" b="0" i="0" u="none" strike="noStrike" kern="1200" cap="none" spc="0" normalizeH="0" baseline="0" noProof="0">
                <a:ln>
                  <a:noFill/>
                </a:ln>
                <a:solidFill>
                  <a:prstClr val="black"/>
                </a:solidFill>
                <a:effectLst/>
                <a:uLnTx/>
                <a:uFillTx/>
                <a:latin typeface="Segoe UI"/>
                <a:ea typeface="+mn-ea"/>
                <a:cs typeface="+mn-cs"/>
              </a:rPr>
              <a:t> </a:t>
            </a: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for answers buried across</a:t>
            </a:r>
            <a:r>
              <a:rPr kumimoji="0" lang="en-US" sz="990" b="0" i="0" u="none" strike="noStrike" kern="1200" cap="none" spc="0" normalizeH="0" baseline="0" noProof="0">
                <a:ln>
                  <a:noFill/>
                </a:ln>
                <a:solidFill>
                  <a:prstClr val="black"/>
                </a:solidFill>
                <a:effectLst/>
                <a:uLnTx/>
                <a:uFillTx/>
                <a:latin typeface="Segoe UI"/>
                <a:ea typeface="+mn-ea"/>
                <a:cs typeface="+mn-cs"/>
              </a:rPr>
              <a:t> </a:t>
            </a: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documents, and data sources -</a:t>
            </a:r>
            <a:r>
              <a:rPr kumimoji="0" lang="en-US" sz="990" b="0" i="0" u="none" strike="noStrike" kern="1200" cap="none" spc="0" normalizeH="0" baseline="0" noProof="0">
                <a:ln>
                  <a:noFill/>
                </a:ln>
                <a:solidFill>
                  <a:prstClr val="black"/>
                </a:solidFill>
                <a:effectLst/>
                <a:uLnTx/>
                <a:uFillTx/>
                <a:latin typeface="Segoe UI"/>
                <a:ea typeface="+mn-ea"/>
                <a:cs typeface="+mn-cs"/>
              </a:rPr>
              <a:t> </a:t>
            </a: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and still get inconsistent results."</a:t>
            </a:r>
            <a:endParaRPr kumimoji="0" lang="en-US" sz="990" b="0" i="0" u="none" strike="noStrike" kern="1200" cap="none" spc="0" normalizeH="0" baseline="0" noProof="0">
              <a:ln>
                <a:noFill/>
              </a:ln>
              <a:solidFill>
                <a:prstClr val="black"/>
              </a:solidFill>
              <a:effectLst/>
              <a:uLnTx/>
              <a:uFillTx/>
              <a:latin typeface="Segoe UI"/>
              <a:ea typeface="+mn-ea"/>
              <a:cs typeface="+mn-cs"/>
            </a:endParaRPr>
          </a:p>
        </p:txBody>
      </p:sp>
      <p:sp>
        <p:nvSpPr>
          <p:cNvPr id="24" name="Shape 38">
            <a:extLst>
              <a:ext uri="{FF2B5EF4-FFF2-40B4-BE49-F238E27FC236}">
                <a16:creationId xmlns:a16="http://schemas.microsoft.com/office/drawing/2014/main" id="{BA830A67-070E-C4D4-6287-03586066BD98}"/>
              </a:ext>
            </a:extLst>
          </p:cNvPr>
          <p:cNvSpPr/>
          <p:nvPr/>
        </p:nvSpPr>
        <p:spPr>
          <a:xfrm>
            <a:off x="1509903" y="5024957"/>
            <a:ext cx="1874520" cy="0"/>
          </a:xfrm>
          <a:prstGeom prst="line">
            <a:avLst/>
          </a:prstGeom>
          <a:noFill/>
          <a:ln w="10160">
            <a:solidFill>
              <a:srgbClr val="DDE2E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25" name="Text 39">
            <a:extLst>
              <a:ext uri="{FF2B5EF4-FFF2-40B4-BE49-F238E27FC236}">
                <a16:creationId xmlns:a16="http://schemas.microsoft.com/office/drawing/2014/main" id="{C9647431-3EB4-A7BF-C1B9-E0CAD05E1D7E}"/>
              </a:ext>
            </a:extLst>
          </p:cNvPr>
          <p:cNvSpPr/>
          <p:nvPr/>
        </p:nvSpPr>
        <p:spPr>
          <a:xfrm>
            <a:off x="1509903" y="5226125"/>
            <a:ext cx="1371600" cy="109728"/>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30" b="1" i="0" u="none" strike="noStrike" kern="0" cap="none" spc="150" normalizeH="0" baseline="0" noProof="0">
                <a:ln>
                  <a:noFill/>
                </a:ln>
                <a:solidFill>
                  <a:srgbClr val="64748B"/>
                </a:solidFill>
                <a:effectLst/>
                <a:uLnTx/>
                <a:uFillTx/>
                <a:latin typeface="Segoe UI" pitchFamily="34" charset="0"/>
                <a:ea typeface="Segoe UI" pitchFamily="34" charset="-122"/>
                <a:cs typeface="Segoe UI" pitchFamily="34" charset="-120"/>
              </a:rPr>
              <a:t>PATTERN</a:t>
            </a:r>
            <a:endParaRPr kumimoji="0" lang="en-US" sz="730" b="0" i="0" u="none" strike="noStrike" kern="1200" cap="none" spc="0" normalizeH="0" baseline="0" noProof="0">
              <a:ln>
                <a:noFill/>
              </a:ln>
              <a:solidFill>
                <a:prstClr val="black"/>
              </a:solidFill>
              <a:effectLst/>
              <a:uLnTx/>
              <a:uFillTx/>
              <a:latin typeface="Segoe UI"/>
              <a:ea typeface="+mn-ea"/>
              <a:cs typeface="+mn-cs"/>
            </a:endParaRPr>
          </a:p>
        </p:txBody>
      </p:sp>
      <p:sp>
        <p:nvSpPr>
          <p:cNvPr id="26" name="Text 40">
            <a:extLst>
              <a:ext uri="{FF2B5EF4-FFF2-40B4-BE49-F238E27FC236}">
                <a16:creationId xmlns:a16="http://schemas.microsoft.com/office/drawing/2014/main" id="{90C66829-1359-6DF0-76A1-79D1FA8CCA8B}"/>
              </a:ext>
            </a:extLst>
          </p:cNvPr>
          <p:cNvSpPr/>
          <p:nvPr/>
        </p:nvSpPr>
        <p:spPr>
          <a:xfrm>
            <a:off x="1509903" y="5381573"/>
            <a:ext cx="1847088" cy="3840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Knowledge Assistant</a:t>
            </a:r>
            <a:endParaRPr kumimoji="0" lang="en-US" sz="1280" b="0" i="0" u="none" strike="noStrike" kern="1200" cap="none" spc="0" normalizeH="0" baseline="0" noProof="0">
              <a:ln>
                <a:noFill/>
              </a:ln>
              <a:solidFill>
                <a:prstClr val="black"/>
              </a:solidFill>
              <a:effectLst/>
              <a:uLnTx/>
              <a:uFillTx/>
              <a:latin typeface="Segoe UI"/>
              <a:ea typeface="+mn-ea"/>
              <a:cs typeface="+mn-cs"/>
            </a:endParaRPr>
          </a:p>
        </p:txBody>
      </p:sp>
      <p:sp>
        <p:nvSpPr>
          <p:cNvPr id="27" name="Shape 41">
            <a:extLst>
              <a:ext uri="{FF2B5EF4-FFF2-40B4-BE49-F238E27FC236}">
                <a16:creationId xmlns:a16="http://schemas.microsoft.com/office/drawing/2014/main" id="{2EA65E19-835E-3E17-AC02-063E36F704CB}"/>
              </a:ext>
            </a:extLst>
          </p:cNvPr>
          <p:cNvSpPr/>
          <p:nvPr/>
        </p:nvSpPr>
        <p:spPr>
          <a:xfrm>
            <a:off x="3640455" y="2574365"/>
            <a:ext cx="2212848" cy="3246120"/>
          </a:xfrm>
          <a:prstGeom prst="roundRect">
            <a:avLst>
              <a:gd name="adj" fmla="val 5785"/>
            </a:avLst>
          </a:prstGeom>
          <a:solidFill>
            <a:srgbClr val="FFFFFF"/>
          </a:solidFill>
          <a:ln w="10160">
            <a:solidFill>
              <a:srgbClr val="E3E6EC">
                <a:alpha val="82000"/>
              </a:srgbClr>
            </a:solidFill>
            <a:prstDash val="solid"/>
          </a:ln>
          <a:effectLst>
            <a:outerShdw blurRad="101600" dist="12700" dir="2700000" algn="bl" rotWithShape="0">
              <a:srgbClr val="0F172A">
                <a:alpha val="35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28" name="Shape 42">
            <a:extLst>
              <a:ext uri="{FF2B5EF4-FFF2-40B4-BE49-F238E27FC236}">
                <a16:creationId xmlns:a16="http://schemas.microsoft.com/office/drawing/2014/main" id="{3FA34D1B-1F81-191C-27AC-1142EC21D991}"/>
              </a:ext>
            </a:extLst>
          </p:cNvPr>
          <p:cNvSpPr/>
          <p:nvPr/>
        </p:nvSpPr>
        <p:spPr>
          <a:xfrm>
            <a:off x="3759327" y="2574365"/>
            <a:ext cx="1975104" cy="32004"/>
          </a:xfrm>
          <a:prstGeom prst="rect">
            <a:avLst/>
          </a:prstGeom>
          <a:solidFill>
            <a:srgbClr val="0F6CBD"/>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29" name="Shape 47">
            <a:extLst>
              <a:ext uri="{FF2B5EF4-FFF2-40B4-BE49-F238E27FC236}">
                <a16:creationId xmlns:a16="http://schemas.microsoft.com/office/drawing/2014/main" id="{43C08CB9-3681-405A-D0FC-2EFAA9CD1D6B}"/>
              </a:ext>
            </a:extLst>
          </p:cNvPr>
          <p:cNvSpPr/>
          <p:nvPr/>
        </p:nvSpPr>
        <p:spPr>
          <a:xfrm>
            <a:off x="3832479" y="2857829"/>
            <a:ext cx="512064" cy="512064"/>
          </a:xfrm>
          <a:prstGeom prst="roundRect">
            <a:avLst>
              <a:gd name="adj" fmla="val 21429"/>
            </a:avLst>
          </a:prstGeom>
          <a:solidFill>
            <a:srgbClr val="0F6CBD"/>
          </a:solidFill>
          <a:ln w="12700">
            <a:solidFill>
              <a:srgbClr val="333333">
                <a:alpha val="0"/>
              </a:srgbClr>
            </a:solidFill>
            <a:prstDash val="solid"/>
          </a:ln>
          <a:effectLst>
            <a:outerShdw blurRad="241300" dist="25400" dir="2700000" algn="bl" rotWithShape="0">
              <a:srgbClr val="0F6CBD">
                <a:alpha val="2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30" name="Shape 48">
            <a:extLst>
              <a:ext uri="{FF2B5EF4-FFF2-40B4-BE49-F238E27FC236}">
                <a16:creationId xmlns:a16="http://schemas.microsoft.com/office/drawing/2014/main" id="{038F70CA-A40A-69A0-B382-DC5F15A9901F}"/>
              </a:ext>
            </a:extLst>
          </p:cNvPr>
          <p:cNvSpPr/>
          <p:nvPr/>
        </p:nvSpPr>
        <p:spPr>
          <a:xfrm>
            <a:off x="3882771" y="2908121"/>
            <a:ext cx="411480" cy="411480"/>
          </a:xfrm>
          <a:prstGeom prst="roundRect">
            <a:avLst>
              <a:gd name="adj" fmla="val 17778"/>
            </a:avLst>
          </a:prstGeom>
          <a:solidFill>
            <a:srgbClr val="FFFFFF">
              <a:alpha val="14000"/>
            </a:srgbClr>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31" name="Shape 58">
            <a:extLst>
              <a:ext uri="{FF2B5EF4-FFF2-40B4-BE49-F238E27FC236}">
                <a16:creationId xmlns:a16="http://schemas.microsoft.com/office/drawing/2014/main" id="{466D2562-12FD-9E49-CC1D-E68611B6B6C2}"/>
              </a:ext>
            </a:extLst>
          </p:cNvPr>
          <p:cNvSpPr/>
          <p:nvPr/>
        </p:nvSpPr>
        <p:spPr>
          <a:xfrm>
            <a:off x="3832479" y="3653357"/>
            <a:ext cx="0" cy="1261872"/>
          </a:xfrm>
          <a:prstGeom prst="line">
            <a:avLst/>
          </a:prstGeom>
          <a:noFill/>
          <a:ln w="17780">
            <a:solidFill>
              <a:srgbClr val="0F6CB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32" name="Text 59">
            <a:extLst>
              <a:ext uri="{FF2B5EF4-FFF2-40B4-BE49-F238E27FC236}">
                <a16:creationId xmlns:a16="http://schemas.microsoft.com/office/drawing/2014/main" id="{629EB564-4912-1D47-90D2-3C734531FB68}"/>
              </a:ext>
            </a:extLst>
          </p:cNvPr>
          <p:cNvSpPr/>
          <p:nvPr/>
        </p:nvSpPr>
        <p:spPr>
          <a:xfrm>
            <a:off x="3987927" y="3772229"/>
            <a:ext cx="1719072" cy="10058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"A single request touches five</a:t>
            </a:r>
            <a:endParaRPr kumimoji="0" lang="en-US" sz="99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systems and three teams -</a:t>
            </a:r>
            <a:endParaRPr kumimoji="0" lang="en-US" sz="99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people waste hours stitching</a:t>
            </a:r>
            <a:endParaRPr kumimoji="0" lang="en-US" sz="99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information together."</a:t>
            </a:r>
            <a:endParaRPr kumimoji="0" lang="en-US" sz="990" b="0" i="0" u="none" strike="noStrike" kern="1200" cap="none" spc="0" normalizeH="0" baseline="0" noProof="0">
              <a:ln>
                <a:noFill/>
              </a:ln>
              <a:solidFill>
                <a:prstClr val="black"/>
              </a:solidFill>
              <a:effectLst/>
              <a:uLnTx/>
              <a:uFillTx/>
              <a:latin typeface="Segoe UI"/>
              <a:ea typeface="+mn-ea"/>
              <a:cs typeface="+mn-cs"/>
            </a:endParaRPr>
          </a:p>
        </p:txBody>
      </p:sp>
      <p:sp>
        <p:nvSpPr>
          <p:cNvPr id="33" name="Shape 60">
            <a:extLst>
              <a:ext uri="{FF2B5EF4-FFF2-40B4-BE49-F238E27FC236}">
                <a16:creationId xmlns:a16="http://schemas.microsoft.com/office/drawing/2014/main" id="{2481E4BE-BDC3-8441-C9B6-54478B877A91}"/>
              </a:ext>
            </a:extLst>
          </p:cNvPr>
          <p:cNvSpPr/>
          <p:nvPr/>
        </p:nvSpPr>
        <p:spPr>
          <a:xfrm>
            <a:off x="3832479" y="5024957"/>
            <a:ext cx="1874520" cy="0"/>
          </a:xfrm>
          <a:prstGeom prst="line">
            <a:avLst/>
          </a:prstGeom>
          <a:noFill/>
          <a:ln w="10160">
            <a:solidFill>
              <a:srgbClr val="DDE2E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34" name="Text 61">
            <a:extLst>
              <a:ext uri="{FF2B5EF4-FFF2-40B4-BE49-F238E27FC236}">
                <a16:creationId xmlns:a16="http://schemas.microsoft.com/office/drawing/2014/main" id="{596CACE1-DEC0-FDE1-AA7E-DD5ABF3F065F}"/>
              </a:ext>
            </a:extLst>
          </p:cNvPr>
          <p:cNvSpPr/>
          <p:nvPr/>
        </p:nvSpPr>
        <p:spPr>
          <a:xfrm>
            <a:off x="3832479" y="5226125"/>
            <a:ext cx="1371600" cy="109728"/>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30" b="1" i="0" u="none" strike="noStrike" kern="0" cap="none" spc="150" normalizeH="0" baseline="0" noProof="0">
                <a:ln>
                  <a:noFill/>
                </a:ln>
                <a:solidFill>
                  <a:srgbClr val="64748B"/>
                </a:solidFill>
                <a:effectLst/>
                <a:uLnTx/>
                <a:uFillTx/>
                <a:latin typeface="Segoe UI" pitchFamily="34" charset="0"/>
                <a:ea typeface="Segoe UI" pitchFamily="34" charset="-122"/>
                <a:cs typeface="Segoe UI" pitchFamily="34" charset="-120"/>
              </a:rPr>
              <a:t>PATTERN</a:t>
            </a:r>
            <a:endParaRPr kumimoji="0" lang="en-US" sz="730" b="0" i="0" u="none" strike="noStrike" kern="1200" cap="none" spc="0" normalizeH="0" baseline="0" noProof="0">
              <a:ln>
                <a:noFill/>
              </a:ln>
              <a:solidFill>
                <a:prstClr val="black"/>
              </a:solidFill>
              <a:effectLst/>
              <a:uLnTx/>
              <a:uFillTx/>
              <a:latin typeface="Segoe UI"/>
              <a:ea typeface="+mn-ea"/>
              <a:cs typeface="+mn-cs"/>
            </a:endParaRPr>
          </a:p>
        </p:txBody>
      </p:sp>
      <p:sp>
        <p:nvSpPr>
          <p:cNvPr id="35" name="Text 62">
            <a:extLst>
              <a:ext uri="{FF2B5EF4-FFF2-40B4-BE49-F238E27FC236}">
                <a16:creationId xmlns:a16="http://schemas.microsoft.com/office/drawing/2014/main" id="{C82B9658-9AB8-3C4C-47A1-A9720AEFE031}"/>
              </a:ext>
            </a:extLst>
          </p:cNvPr>
          <p:cNvSpPr/>
          <p:nvPr/>
        </p:nvSpPr>
        <p:spPr>
          <a:xfrm>
            <a:off x="3832479" y="5381573"/>
            <a:ext cx="2063496" cy="3840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Intelligent Orchestration</a:t>
            </a:r>
            <a:endParaRPr kumimoji="0" lang="en-US" sz="1280" b="0" i="0" u="none" strike="noStrike" kern="1200" cap="none" spc="0" normalizeH="0" baseline="0" noProof="0">
              <a:ln>
                <a:noFill/>
              </a:ln>
              <a:solidFill>
                <a:prstClr val="black"/>
              </a:solidFill>
              <a:effectLst/>
              <a:uLnTx/>
              <a:uFillTx/>
              <a:latin typeface="Segoe UI"/>
              <a:ea typeface="+mn-ea"/>
              <a:cs typeface="+mn-cs"/>
            </a:endParaRPr>
          </a:p>
        </p:txBody>
      </p:sp>
      <p:sp>
        <p:nvSpPr>
          <p:cNvPr id="37" name="Shape 64">
            <a:extLst>
              <a:ext uri="{FF2B5EF4-FFF2-40B4-BE49-F238E27FC236}">
                <a16:creationId xmlns:a16="http://schemas.microsoft.com/office/drawing/2014/main" id="{6CD32479-1B53-99DA-CF73-037684B20A57}"/>
              </a:ext>
            </a:extLst>
          </p:cNvPr>
          <p:cNvSpPr/>
          <p:nvPr/>
        </p:nvSpPr>
        <p:spPr>
          <a:xfrm>
            <a:off x="6520815" y="2574365"/>
            <a:ext cx="1975104" cy="32004"/>
          </a:xfrm>
          <a:prstGeom prst="rect">
            <a:avLst/>
          </a:prstGeom>
          <a:solidFill>
            <a:srgbClr val="319A89"/>
          </a:solidFill>
          <a:ln w="12700">
            <a:solidFill>
              <a:srgbClr val="319A8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38" name="Shape 66">
            <a:extLst>
              <a:ext uri="{FF2B5EF4-FFF2-40B4-BE49-F238E27FC236}">
                <a16:creationId xmlns:a16="http://schemas.microsoft.com/office/drawing/2014/main" id="{58CBFCB6-B044-4611-57D7-B1EEE0FD48D0}"/>
              </a:ext>
            </a:extLst>
          </p:cNvPr>
          <p:cNvSpPr/>
          <p:nvPr/>
        </p:nvSpPr>
        <p:spPr>
          <a:xfrm>
            <a:off x="8111871" y="2775533"/>
            <a:ext cx="338328" cy="338328"/>
          </a:xfrm>
          <a:prstGeom prst="ellipse">
            <a:avLst/>
          </a:prstGeom>
          <a:solidFill>
            <a:srgbClr val="FFFFFF"/>
          </a:solidFill>
          <a:ln w="12700">
            <a:solidFill>
              <a:srgbClr val="319A89">
                <a:alpha val="4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40" name="Text 68">
            <a:extLst>
              <a:ext uri="{FF2B5EF4-FFF2-40B4-BE49-F238E27FC236}">
                <a16:creationId xmlns:a16="http://schemas.microsoft.com/office/drawing/2014/main" id="{7CDEDA56-45E8-A82B-2681-7B6388630322}"/>
              </a:ext>
            </a:extLst>
          </p:cNvPr>
          <p:cNvSpPr/>
          <p:nvPr/>
        </p:nvSpPr>
        <p:spPr>
          <a:xfrm>
            <a:off x="8111871" y="2871821"/>
            <a:ext cx="338328" cy="128016"/>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319A89"/>
                </a:solidFill>
                <a:effectLst/>
                <a:uLnTx/>
                <a:uFillTx/>
                <a:latin typeface="Segoe UI" pitchFamily="34" charset="0"/>
                <a:ea typeface="Segoe UI" pitchFamily="34" charset="-122"/>
                <a:cs typeface="Segoe UI" pitchFamily="34" charset="-120"/>
              </a:rPr>
              <a:t>3</a:t>
            </a:r>
            <a:endParaRPr kumimoji="0" lang="en-US" sz="1100" b="0" i="0" u="none" strike="noStrike" kern="1200" cap="none" spc="0" normalizeH="0" baseline="0" noProof="0" dirty="0">
              <a:ln>
                <a:noFill/>
              </a:ln>
              <a:solidFill>
                <a:srgbClr val="319A89"/>
              </a:solidFill>
              <a:effectLst/>
              <a:uLnTx/>
              <a:uFillTx/>
              <a:latin typeface="Segoe UI"/>
              <a:ea typeface="+mn-ea"/>
              <a:cs typeface="+mn-cs"/>
            </a:endParaRPr>
          </a:p>
        </p:txBody>
      </p:sp>
      <p:sp>
        <p:nvSpPr>
          <p:cNvPr id="41" name="Shape 69">
            <a:extLst>
              <a:ext uri="{FF2B5EF4-FFF2-40B4-BE49-F238E27FC236}">
                <a16:creationId xmlns:a16="http://schemas.microsoft.com/office/drawing/2014/main" id="{03F3661D-6E13-1ACB-F1D6-4FFE00300FBC}"/>
              </a:ext>
            </a:extLst>
          </p:cNvPr>
          <p:cNvSpPr/>
          <p:nvPr/>
        </p:nvSpPr>
        <p:spPr>
          <a:xfrm>
            <a:off x="6593967" y="2857829"/>
            <a:ext cx="512064" cy="512064"/>
          </a:xfrm>
          <a:prstGeom prst="roundRect">
            <a:avLst>
              <a:gd name="adj" fmla="val 21429"/>
            </a:avLst>
          </a:prstGeom>
          <a:solidFill>
            <a:srgbClr val="319A89"/>
          </a:solidFill>
          <a:ln w="12700">
            <a:solidFill>
              <a:srgbClr val="333333">
                <a:alpha val="0"/>
              </a:srgbClr>
            </a:solidFill>
            <a:prstDash val="solid"/>
          </a:ln>
          <a:effectLst>
            <a:outerShdw blurRad="241300" dist="25400" dir="2700000" algn="bl" rotWithShape="0">
              <a:srgbClr val="8A4CC7">
                <a:alpha val="2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42" name="Shape 70">
            <a:extLst>
              <a:ext uri="{FF2B5EF4-FFF2-40B4-BE49-F238E27FC236}">
                <a16:creationId xmlns:a16="http://schemas.microsoft.com/office/drawing/2014/main" id="{BDBA8AF4-5C77-3D43-373F-F296304C35F8}"/>
              </a:ext>
            </a:extLst>
          </p:cNvPr>
          <p:cNvSpPr/>
          <p:nvPr/>
        </p:nvSpPr>
        <p:spPr>
          <a:xfrm>
            <a:off x="6644259" y="2908121"/>
            <a:ext cx="411480" cy="411480"/>
          </a:xfrm>
          <a:prstGeom prst="roundRect">
            <a:avLst>
              <a:gd name="adj" fmla="val 17778"/>
            </a:avLst>
          </a:prstGeom>
          <a:solidFill>
            <a:srgbClr val="FFFFFF">
              <a:alpha val="14000"/>
            </a:srgbClr>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43" name="Shape 72">
            <a:extLst>
              <a:ext uri="{FF2B5EF4-FFF2-40B4-BE49-F238E27FC236}">
                <a16:creationId xmlns:a16="http://schemas.microsoft.com/office/drawing/2014/main" id="{16E32CA3-7B9F-B163-62A9-1851D65BD898}"/>
              </a:ext>
            </a:extLst>
          </p:cNvPr>
          <p:cNvSpPr/>
          <p:nvPr/>
        </p:nvSpPr>
        <p:spPr>
          <a:xfrm>
            <a:off x="6593967" y="3653357"/>
            <a:ext cx="0" cy="1261872"/>
          </a:xfrm>
          <a:prstGeom prst="line">
            <a:avLst/>
          </a:prstGeom>
          <a:noFill/>
          <a:ln w="17780">
            <a:solidFill>
              <a:srgbClr val="319A8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44" name="Text 73">
            <a:extLst>
              <a:ext uri="{FF2B5EF4-FFF2-40B4-BE49-F238E27FC236}">
                <a16:creationId xmlns:a16="http://schemas.microsoft.com/office/drawing/2014/main" id="{60A1B464-F1AC-CA89-EBBB-1F1F1148A1A5}"/>
              </a:ext>
            </a:extLst>
          </p:cNvPr>
          <p:cNvSpPr/>
          <p:nvPr/>
        </p:nvSpPr>
        <p:spPr>
          <a:xfrm>
            <a:off x="6749415" y="3772229"/>
            <a:ext cx="1719072" cy="10058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"Answers aren't enough - we</a:t>
            </a:r>
            <a:endParaRPr kumimoji="0" lang="en-US" sz="99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need AI that executes the</a:t>
            </a:r>
            <a:endParaRPr kumimoji="0" lang="en-US" sz="99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transaction, updates the record,</a:t>
            </a:r>
            <a:endParaRPr kumimoji="0" lang="en-US" sz="99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books the slot."</a:t>
            </a:r>
            <a:endParaRPr kumimoji="0" lang="en-US" sz="990" b="0" i="0" u="none" strike="noStrike" kern="1200" cap="none" spc="0" normalizeH="0" baseline="0" noProof="0">
              <a:ln>
                <a:noFill/>
              </a:ln>
              <a:solidFill>
                <a:prstClr val="black"/>
              </a:solidFill>
              <a:effectLst/>
              <a:uLnTx/>
              <a:uFillTx/>
              <a:latin typeface="Segoe UI"/>
              <a:ea typeface="+mn-ea"/>
              <a:cs typeface="+mn-cs"/>
            </a:endParaRPr>
          </a:p>
        </p:txBody>
      </p:sp>
      <p:sp>
        <p:nvSpPr>
          <p:cNvPr id="45" name="Shape 74">
            <a:extLst>
              <a:ext uri="{FF2B5EF4-FFF2-40B4-BE49-F238E27FC236}">
                <a16:creationId xmlns:a16="http://schemas.microsoft.com/office/drawing/2014/main" id="{BD6134DD-C5F3-C3CF-3112-25F5BF98EE3D}"/>
              </a:ext>
            </a:extLst>
          </p:cNvPr>
          <p:cNvSpPr/>
          <p:nvPr/>
        </p:nvSpPr>
        <p:spPr>
          <a:xfrm>
            <a:off x="6593967" y="5024957"/>
            <a:ext cx="1874520" cy="0"/>
          </a:xfrm>
          <a:prstGeom prst="line">
            <a:avLst/>
          </a:prstGeom>
          <a:noFill/>
          <a:ln w="10160">
            <a:solidFill>
              <a:srgbClr val="DDE2E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46" name="Text 75">
            <a:extLst>
              <a:ext uri="{FF2B5EF4-FFF2-40B4-BE49-F238E27FC236}">
                <a16:creationId xmlns:a16="http://schemas.microsoft.com/office/drawing/2014/main" id="{6D5617B9-C277-87E0-80A9-391ECA220088}"/>
              </a:ext>
            </a:extLst>
          </p:cNvPr>
          <p:cNvSpPr/>
          <p:nvPr/>
        </p:nvSpPr>
        <p:spPr>
          <a:xfrm>
            <a:off x="6593967" y="5226125"/>
            <a:ext cx="1371600" cy="109728"/>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30" b="1" i="0" u="none" strike="noStrike" kern="0" cap="none" spc="150" normalizeH="0" baseline="0" noProof="0">
                <a:ln>
                  <a:noFill/>
                </a:ln>
                <a:solidFill>
                  <a:srgbClr val="64748B"/>
                </a:solidFill>
                <a:effectLst/>
                <a:uLnTx/>
                <a:uFillTx/>
                <a:latin typeface="Segoe UI" pitchFamily="34" charset="0"/>
                <a:ea typeface="Segoe UI" pitchFamily="34" charset="-122"/>
                <a:cs typeface="Segoe UI" pitchFamily="34" charset="-120"/>
              </a:rPr>
              <a:t>PATTERN</a:t>
            </a:r>
            <a:endParaRPr kumimoji="0" lang="en-US" sz="730" b="0" i="0" u="none" strike="noStrike" kern="1200" cap="none" spc="0" normalizeH="0" baseline="0" noProof="0">
              <a:ln>
                <a:noFill/>
              </a:ln>
              <a:solidFill>
                <a:prstClr val="black"/>
              </a:solidFill>
              <a:effectLst/>
              <a:uLnTx/>
              <a:uFillTx/>
              <a:latin typeface="Segoe UI"/>
              <a:ea typeface="+mn-ea"/>
              <a:cs typeface="+mn-cs"/>
            </a:endParaRPr>
          </a:p>
        </p:txBody>
      </p:sp>
      <p:sp>
        <p:nvSpPr>
          <p:cNvPr id="47" name="Text 76">
            <a:extLst>
              <a:ext uri="{FF2B5EF4-FFF2-40B4-BE49-F238E27FC236}">
                <a16:creationId xmlns:a16="http://schemas.microsoft.com/office/drawing/2014/main" id="{BDAEE99A-9152-37A0-4B49-0EE11C3F72D5}"/>
              </a:ext>
            </a:extLst>
          </p:cNvPr>
          <p:cNvSpPr/>
          <p:nvPr/>
        </p:nvSpPr>
        <p:spPr>
          <a:xfrm>
            <a:off x="6593967" y="5381573"/>
            <a:ext cx="1847088" cy="384048"/>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Business Action Agents</a:t>
            </a:r>
            <a:endParaRPr kumimoji="0" lang="en-US" sz="1280" b="0" i="0" u="none" strike="noStrike" kern="1200" cap="none" spc="0" normalizeH="0" baseline="0" noProof="0">
              <a:ln>
                <a:noFill/>
              </a:ln>
              <a:solidFill>
                <a:prstClr val="black"/>
              </a:solidFill>
              <a:effectLst/>
              <a:uLnTx/>
              <a:uFillTx/>
              <a:latin typeface="Segoe UI"/>
              <a:ea typeface="+mn-ea"/>
              <a:cs typeface="+mn-cs"/>
            </a:endParaRPr>
          </a:p>
        </p:txBody>
      </p:sp>
      <p:sp>
        <p:nvSpPr>
          <p:cNvPr id="49" name="Shape 78">
            <a:extLst>
              <a:ext uri="{FF2B5EF4-FFF2-40B4-BE49-F238E27FC236}">
                <a16:creationId xmlns:a16="http://schemas.microsoft.com/office/drawing/2014/main" id="{21C046A8-6BE4-2C0D-ED5E-4897BB633323}"/>
              </a:ext>
            </a:extLst>
          </p:cNvPr>
          <p:cNvSpPr/>
          <p:nvPr/>
        </p:nvSpPr>
        <p:spPr>
          <a:xfrm>
            <a:off x="8843391" y="2574365"/>
            <a:ext cx="1975104" cy="32004"/>
          </a:xfrm>
          <a:prstGeom prst="rect">
            <a:avLst/>
          </a:prstGeom>
          <a:solidFill>
            <a:srgbClr val="319A89"/>
          </a:solidFill>
          <a:ln w="12700">
            <a:solidFill>
              <a:srgbClr val="319A8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50" name="Shape 80">
            <a:extLst>
              <a:ext uri="{FF2B5EF4-FFF2-40B4-BE49-F238E27FC236}">
                <a16:creationId xmlns:a16="http://schemas.microsoft.com/office/drawing/2014/main" id="{9E4EE726-4DDD-C6F4-A2BA-C6C04494F97E}"/>
              </a:ext>
            </a:extLst>
          </p:cNvPr>
          <p:cNvSpPr/>
          <p:nvPr/>
        </p:nvSpPr>
        <p:spPr>
          <a:xfrm>
            <a:off x="10402443" y="2775533"/>
            <a:ext cx="338328" cy="338328"/>
          </a:xfrm>
          <a:prstGeom prst="ellipse">
            <a:avLst/>
          </a:prstGeom>
          <a:solidFill>
            <a:srgbClr val="FFFFFF"/>
          </a:solidFill>
          <a:ln w="12700">
            <a:solidFill>
              <a:srgbClr val="319A89">
                <a:alpha val="4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52" name="Text 82">
            <a:extLst>
              <a:ext uri="{FF2B5EF4-FFF2-40B4-BE49-F238E27FC236}">
                <a16:creationId xmlns:a16="http://schemas.microsoft.com/office/drawing/2014/main" id="{95631506-4532-8445-87B4-1DA050BADE3F}"/>
              </a:ext>
            </a:extLst>
          </p:cNvPr>
          <p:cNvSpPr/>
          <p:nvPr/>
        </p:nvSpPr>
        <p:spPr>
          <a:xfrm>
            <a:off x="10402443" y="2890293"/>
            <a:ext cx="338328" cy="128016"/>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319A89"/>
                </a:solidFill>
                <a:effectLst/>
                <a:uLnTx/>
                <a:uFillTx/>
                <a:latin typeface="Segoe UI" pitchFamily="34" charset="0"/>
                <a:ea typeface="Segoe UI" pitchFamily="34" charset="-122"/>
                <a:cs typeface="Segoe UI" pitchFamily="34" charset="-120"/>
              </a:rPr>
              <a:t>4</a:t>
            </a:r>
            <a:endParaRPr kumimoji="0" lang="en-US" sz="1100" b="0" i="0" u="none" strike="noStrike" kern="1200" cap="none" spc="0" normalizeH="0" baseline="0" noProof="0" dirty="0">
              <a:ln>
                <a:noFill/>
              </a:ln>
              <a:solidFill>
                <a:srgbClr val="319A89"/>
              </a:solidFill>
              <a:effectLst/>
              <a:uLnTx/>
              <a:uFillTx/>
              <a:latin typeface="Segoe UI"/>
              <a:ea typeface="+mn-ea"/>
              <a:cs typeface="+mn-cs"/>
            </a:endParaRPr>
          </a:p>
        </p:txBody>
      </p:sp>
      <p:sp>
        <p:nvSpPr>
          <p:cNvPr id="53" name="Shape 83">
            <a:extLst>
              <a:ext uri="{FF2B5EF4-FFF2-40B4-BE49-F238E27FC236}">
                <a16:creationId xmlns:a16="http://schemas.microsoft.com/office/drawing/2014/main" id="{8F0A5731-8675-2350-E36F-75526729F64E}"/>
              </a:ext>
            </a:extLst>
          </p:cNvPr>
          <p:cNvSpPr/>
          <p:nvPr/>
        </p:nvSpPr>
        <p:spPr>
          <a:xfrm>
            <a:off x="8916543" y="2857829"/>
            <a:ext cx="512064" cy="512064"/>
          </a:xfrm>
          <a:prstGeom prst="roundRect">
            <a:avLst>
              <a:gd name="adj" fmla="val 21429"/>
            </a:avLst>
          </a:prstGeom>
          <a:solidFill>
            <a:srgbClr val="319A89"/>
          </a:solidFill>
          <a:ln w="12700">
            <a:solidFill>
              <a:srgbClr val="333333">
                <a:alpha val="0"/>
              </a:srgbClr>
            </a:solidFill>
            <a:prstDash val="solid"/>
          </a:ln>
          <a:effectLst>
            <a:outerShdw blurRad="241300" dist="25400" dir="2700000" algn="bl" rotWithShape="0">
              <a:srgbClr val="8A4CC7">
                <a:alpha val="2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54" name="Shape 84">
            <a:extLst>
              <a:ext uri="{FF2B5EF4-FFF2-40B4-BE49-F238E27FC236}">
                <a16:creationId xmlns:a16="http://schemas.microsoft.com/office/drawing/2014/main" id="{B0388FAD-AF51-5540-2BC9-D7199D35D57E}"/>
              </a:ext>
            </a:extLst>
          </p:cNvPr>
          <p:cNvSpPr/>
          <p:nvPr/>
        </p:nvSpPr>
        <p:spPr>
          <a:xfrm>
            <a:off x="8966835" y="2908121"/>
            <a:ext cx="411480" cy="411480"/>
          </a:xfrm>
          <a:prstGeom prst="roundRect">
            <a:avLst>
              <a:gd name="adj" fmla="val 17778"/>
            </a:avLst>
          </a:prstGeom>
          <a:solidFill>
            <a:srgbClr val="FFFFFF">
              <a:alpha val="14000"/>
            </a:srgbClr>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55" name="Shape 92">
            <a:extLst>
              <a:ext uri="{FF2B5EF4-FFF2-40B4-BE49-F238E27FC236}">
                <a16:creationId xmlns:a16="http://schemas.microsoft.com/office/drawing/2014/main" id="{3328A9E6-44E1-5290-9D13-360BE7A4D777}"/>
              </a:ext>
            </a:extLst>
          </p:cNvPr>
          <p:cNvSpPr/>
          <p:nvPr/>
        </p:nvSpPr>
        <p:spPr>
          <a:xfrm>
            <a:off x="8916543" y="3653357"/>
            <a:ext cx="0" cy="1261872"/>
          </a:xfrm>
          <a:prstGeom prst="line">
            <a:avLst/>
          </a:prstGeom>
          <a:noFill/>
          <a:ln w="17780">
            <a:solidFill>
              <a:srgbClr val="319A8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56" name="Text 93">
            <a:extLst>
              <a:ext uri="{FF2B5EF4-FFF2-40B4-BE49-F238E27FC236}">
                <a16:creationId xmlns:a16="http://schemas.microsoft.com/office/drawing/2014/main" id="{B08DDEA9-33A6-596F-3E66-802A7B393912}"/>
              </a:ext>
            </a:extLst>
          </p:cNvPr>
          <p:cNvSpPr/>
          <p:nvPr/>
        </p:nvSpPr>
        <p:spPr>
          <a:xfrm>
            <a:off x="9071991" y="3772229"/>
            <a:ext cx="1719072" cy="10058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"An end-to-end process takes us</a:t>
            </a:r>
            <a:r>
              <a:rPr kumimoji="0" lang="en-US" sz="990" b="0" i="0" u="none" strike="noStrike" kern="1200" cap="none" spc="0" normalizeH="0" baseline="0" noProof="0">
                <a:ln>
                  <a:noFill/>
                </a:ln>
                <a:solidFill>
                  <a:prstClr val="black"/>
                </a:solidFill>
                <a:effectLst/>
                <a:uLnTx/>
                <a:uFillTx/>
                <a:latin typeface="Segoe UI"/>
                <a:ea typeface="+mn-ea"/>
                <a:cs typeface="+mn-cs"/>
              </a:rPr>
              <a:t> </a:t>
            </a: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days - too many handoffs,</a:t>
            </a:r>
            <a:endParaRPr kumimoji="0" lang="en-US" sz="99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approvals, and exceptions sitting</a:t>
            </a:r>
            <a:r>
              <a:rPr kumimoji="0" lang="en-US" sz="990" b="0" i="0" u="none" strike="noStrike" kern="1200" cap="none" spc="0" normalizeH="0" baseline="0" noProof="0">
                <a:ln>
                  <a:noFill/>
                </a:ln>
                <a:solidFill>
                  <a:prstClr val="black"/>
                </a:solidFill>
                <a:effectLst/>
                <a:uLnTx/>
                <a:uFillTx/>
                <a:latin typeface="Segoe UI"/>
                <a:ea typeface="+mn-ea"/>
                <a:cs typeface="+mn-cs"/>
              </a:rPr>
              <a:t> </a:t>
            </a:r>
            <a:r>
              <a:rPr kumimoji="0" lang="en-US" sz="990" b="0" i="1"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in someone's inbox."</a:t>
            </a:r>
            <a:endParaRPr kumimoji="0" lang="en-US" sz="990" b="0" i="0" u="none" strike="noStrike" kern="1200" cap="none" spc="0" normalizeH="0" baseline="0" noProof="0">
              <a:ln>
                <a:noFill/>
              </a:ln>
              <a:solidFill>
                <a:prstClr val="black"/>
              </a:solidFill>
              <a:effectLst/>
              <a:uLnTx/>
              <a:uFillTx/>
              <a:latin typeface="Segoe UI"/>
              <a:ea typeface="+mn-ea"/>
              <a:cs typeface="+mn-cs"/>
            </a:endParaRPr>
          </a:p>
        </p:txBody>
      </p:sp>
      <p:sp>
        <p:nvSpPr>
          <p:cNvPr id="57" name="Shape 94">
            <a:extLst>
              <a:ext uri="{FF2B5EF4-FFF2-40B4-BE49-F238E27FC236}">
                <a16:creationId xmlns:a16="http://schemas.microsoft.com/office/drawing/2014/main" id="{A6A75D5E-6D58-0955-2588-01E998340958}"/>
              </a:ext>
            </a:extLst>
          </p:cNvPr>
          <p:cNvSpPr/>
          <p:nvPr/>
        </p:nvSpPr>
        <p:spPr>
          <a:xfrm>
            <a:off x="8916543" y="5024957"/>
            <a:ext cx="1874520" cy="0"/>
          </a:xfrm>
          <a:prstGeom prst="line">
            <a:avLst/>
          </a:prstGeom>
          <a:noFill/>
          <a:ln w="10160">
            <a:solidFill>
              <a:srgbClr val="DDE2E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58" name="Text 95">
            <a:extLst>
              <a:ext uri="{FF2B5EF4-FFF2-40B4-BE49-F238E27FC236}">
                <a16:creationId xmlns:a16="http://schemas.microsoft.com/office/drawing/2014/main" id="{7EB53CFB-F4C8-32DB-4E0C-5659DC2A01E2}"/>
              </a:ext>
            </a:extLst>
          </p:cNvPr>
          <p:cNvSpPr/>
          <p:nvPr/>
        </p:nvSpPr>
        <p:spPr>
          <a:xfrm>
            <a:off x="8916543" y="5226125"/>
            <a:ext cx="1371600" cy="109728"/>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30" b="1" i="0" u="none" strike="noStrike" kern="0" cap="none" spc="150" normalizeH="0" baseline="0" noProof="0">
                <a:ln>
                  <a:noFill/>
                </a:ln>
                <a:solidFill>
                  <a:srgbClr val="64748B"/>
                </a:solidFill>
                <a:effectLst/>
                <a:uLnTx/>
                <a:uFillTx/>
                <a:latin typeface="Segoe UI" pitchFamily="34" charset="0"/>
                <a:ea typeface="Segoe UI" pitchFamily="34" charset="-122"/>
                <a:cs typeface="Segoe UI" pitchFamily="34" charset="-120"/>
              </a:rPr>
              <a:t>PATTERN</a:t>
            </a:r>
            <a:endParaRPr kumimoji="0" lang="en-US" sz="730" b="0" i="0" u="none" strike="noStrike" kern="1200" cap="none" spc="0" normalizeH="0" baseline="0" noProof="0">
              <a:ln>
                <a:noFill/>
              </a:ln>
              <a:solidFill>
                <a:prstClr val="black"/>
              </a:solidFill>
              <a:effectLst/>
              <a:uLnTx/>
              <a:uFillTx/>
              <a:latin typeface="Segoe UI"/>
              <a:ea typeface="+mn-ea"/>
              <a:cs typeface="+mn-cs"/>
            </a:endParaRPr>
          </a:p>
        </p:txBody>
      </p:sp>
      <p:sp>
        <p:nvSpPr>
          <p:cNvPr id="59" name="Text 96">
            <a:extLst>
              <a:ext uri="{FF2B5EF4-FFF2-40B4-BE49-F238E27FC236}">
                <a16:creationId xmlns:a16="http://schemas.microsoft.com/office/drawing/2014/main" id="{00D134B1-2B71-CD90-F494-0560FD69DB53}"/>
              </a:ext>
            </a:extLst>
          </p:cNvPr>
          <p:cNvSpPr/>
          <p:nvPr/>
        </p:nvSpPr>
        <p:spPr>
          <a:xfrm>
            <a:off x="8916543" y="5381573"/>
            <a:ext cx="2130552" cy="384048"/>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Enterprise Process</a:t>
            </a:r>
            <a:endParaRPr kumimoji="0" lang="en-US" sz="1280" b="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Automation</a:t>
            </a:r>
            <a:endParaRPr kumimoji="0" lang="en-US" sz="1280" b="0" i="0" u="none" strike="noStrike" kern="1200" cap="none" spc="0" normalizeH="0" baseline="0" noProof="0">
              <a:ln>
                <a:noFill/>
              </a:ln>
              <a:solidFill>
                <a:prstClr val="black"/>
              </a:solidFill>
              <a:effectLst/>
              <a:uLnTx/>
              <a:uFillTx/>
              <a:latin typeface="Segoe UI"/>
              <a:ea typeface="+mn-ea"/>
              <a:cs typeface="+mn-cs"/>
            </a:endParaRPr>
          </a:p>
        </p:txBody>
      </p:sp>
      <p:sp>
        <p:nvSpPr>
          <p:cNvPr id="60" name="Shape 97">
            <a:extLst>
              <a:ext uri="{FF2B5EF4-FFF2-40B4-BE49-F238E27FC236}">
                <a16:creationId xmlns:a16="http://schemas.microsoft.com/office/drawing/2014/main" id="{E7F2D97D-9739-8BFC-D989-84801395CDE6}"/>
              </a:ext>
            </a:extLst>
          </p:cNvPr>
          <p:cNvSpPr/>
          <p:nvPr/>
        </p:nvSpPr>
        <p:spPr>
          <a:xfrm>
            <a:off x="3292983" y="6337436"/>
            <a:ext cx="5449824" cy="346212"/>
          </a:xfrm>
          <a:prstGeom prst="roundRect">
            <a:avLst>
              <a:gd name="adj" fmla="val 50000"/>
            </a:avLst>
          </a:prstGeom>
          <a:solidFill>
            <a:srgbClr val="FFFFFF"/>
          </a:solidFill>
          <a:ln w="10160">
            <a:solidFill>
              <a:srgbClr val="E3E6EC">
                <a:alpha val="65000"/>
              </a:srgbClr>
            </a:solidFill>
            <a:prstDash val="solid"/>
          </a:ln>
          <a:effectLst>
            <a:outerShdw blurRad="228600" dist="12700" dir="16200000" algn="bl" rotWithShape="0">
              <a:srgbClr val="0F172A">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61" name="Shape 98">
            <a:extLst>
              <a:ext uri="{FF2B5EF4-FFF2-40B4-BE49-F238E27FC236}">
                <a16:creationId xmlns:a16="http://schemas.microsoft.com/office/drawing/2014/main" id="{B8704DA3-1FCF-FA67-2149-A08ABD009FAB}"/>
              </a:ext>
            </a:extLst>
          </p:cNvPr>
          <p:cNvSpPr/>
          <p:nvPr/>
        </p:nvSpPr>
        <p:spPr>
          <a:xfrm>
            <a:off x="3603879" y="6471514"/>
            <a:ext cx="73152" cy="73152"/>
          </a:xfrm>
          <a:prstGeom prst="ellipse">
            <a:avLst/>
          </a:prstGeom>
          <a:solidFill>
            <a:srgbClr val="319A89"/>
          </a:solidFill>
          <a:ln w="12700">
            <a:solidFill>
              <a:srgbClr val="33333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62" name="Text 99">
            <a:extLst>
              <a:ext uri="{FF2B5EF4-FFF2-40B4-BE49-F238E27FC236}">
                <a16:creationId xmlns:a16="http://schemas.microsoft.com/office/drawing/2014/main" id="{A6131030-5B0E-89C3-6D32-FBE9006DD057}"/>
              </a:ext>
            </a:extLst>
          </p:cNvPr>
          <p:cNvSpPr/>
          <p:nvPr/>
        </p:nvSpPr>
        <p:spPr>
          <a:xfrm>
            <a:off x="3768471" y="6453594"/>
            <a:ext cx="1152144" cy="146304"/>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1" i="0"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Match the signal</a:t>
            </a:r>
            <a:endParaRPr kumimoji="0" lang="en-US" sz="990" b="0" i="0" u="none" strike="noStrike" kern="1200" cap="none" spc="0" normalizeH="0" baseline="0" noProof="0">
              <a:ln>
                <a:noFill/>
              </a:ln>
              <a:solidFill>
                <a:prstClr val="black"/>
              </a:solidFill>
              <a:effectLst/>
              <a:uLnTx/>
              <a:uFillTx/>
              <a:latin typeface="Segoe UI"/>
              <a:ea typeface="+mn-ea"/>
              <a:cs typeface="+mn-cs"/>
            </a:endParaRPr>
          </a:p>
        </p:txBody>
      </p:sp>
      <p:sp>
        <p:nvSpPr>
          <p:cNvPr id="63" name="Text 100">
            <a:extLst>
              <a:ext uri="{FF2B5EF4-FFF2-40B4-BE49-F238E27FC236}">
                <a16:creationId xmlns:a16="http://schemas.microsoft.com/office/drawing/2014/main" id="{80856C55-C5D1-D554-039C-E88B2D1DEC4B}"/>
              </a:ext>
            </a:extLst>
          </p:cNvPr>
          <p:cNvSpPr/>
          <p:nvPr/>
        </p:nvSpPr>
        <p:spPr>
          <a:xfrm>
            <a:off x="4984623" y="6462370"/>
            <a:ext cx="164592" cy="146304"/>
          </a:xfrm>
          <a:prstGeom prst="rect">
            <a:avLst/>
          </a:prstGeom>
          <a:noFill/>
          <a:ln/>
        </p:spPr>
        <p:txBody>
          <a:bodyPr wrap="square" lIns="0" tIns="0" rIns="0" bIns="0" rtlCol="0" anchor="t">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64748B"/>
                </a:solidFill>
                <a:effectLst/>
                <a:uLnTx/>
                <a:uFillTx/>
                <a:latin typeface="Segoe UI" pitchFamily="34" charset="0"/>
                <a:ea typeface="Segoe UI" pitchFamily="34" charset="-122"/>
                <a:cs typeface="Segoe UI" pitchFamily="34" charset="-120"/>
              </a:rPr>
              <a:t>→</a:t>
            </a:r>
            <a:endParaRPr kumimoji="0" lang="en-US" sz="1100" b="0" i="0" u="none" strike="noStrike" kern="1200" cap="none" spc="0" normalizeH="0" baseline="0" noProof="0">
              <a:ln>
                <a:noFill/>
              </a:ln>
              <a:solidFill>
                <a:prstClr val="black"/>
              </a:solidFill>
              <a:effectLst/>
              <a:uLnTx/>
              <a:uFillTx/>
              <a:latin typeface="Segoe UI"/>
              <a:ea typeface="+mn-ea"/>
              <a:cs typeface="+mn-cs"/>
            </a:endParaRPr>
          </a:p>
        </p:txBody>
      </p:sp>
      <p:sp>
        <p:nvSpPr>
          <p:cNvPr id="128" name="Text 101">
            <a:extLst>
              <a:ext uri="{FF2B5EF4-FFF2-40B4-BE49-F238E27FC236}">
                <a16:creationId xmlns:a16="http://schemas.microsoft.com/office/drawing/2014/main" id="{C346A19F-D5BB-29C6-FE2D-21A3AE8829BB}"/>
              </a:ext>
            </a:extLst>
          </p:cNvPr>
          <p:cNvSpPr/>
          <p:nvPr/>
        </p:nvSpPr>
        <p:spPr>
          <a:xfrm>
            <a:off x="5396103" y="6453594"/>
            <a:ext cx="502920" cy="146304"/>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1" i="0" u="none" strike="noStrike" kern="1200" cap="none" spc="0" normalizeH="0" baseline="0" noProof="0">
                <a:ln>
                  <a:noFill/>
                </a:ln>
                <a:solidFill>
                  <a:srgbClr val="0F172A"/>
                </a:solidFill>
                <a:effectLst/>
                <a:uLnTx/>
                <a:uFillTx/>
                <a:latin typeface="Segoe UI" pitchFamily="34" charset="0"/>
                <a:ea typeface="Segoe UI" pitchFamily="34" charset="-122"/>
                <a:cs typeface="Segoe UI" pitchFamily="34" charset="-120"/>
              </a:rPr>
              <a:t>Pick the</a:t>
            </a:r>
            <a:endParaRPr kumimoji="0" lang="en-US" sz="990" b="0" i="0" u="none" strike="noStrike" kern="1200" cap="none" spc="0" normalizeH="0" baseline="0" noProof="0">
              <a:ln>
                <a:noFill/>
              </a:ln>
              <a:solidFill>
                <a:prstClr val="black"/>
              </a:solidFill>
              <a:effectLst/>
              <a:uLnTx/>
              <a:uFillTx/>
              <a:latin typeface="Segoe UI"/>
              <a:ea typeface="+mn-ea"/>
              <a:cs typeface="+mn-cs"/>
            </a:endParaRPr>
          </a:p>
        </p:txBody>
      </p:sp>
      <p:sp>
        <p:nvSpPr>
          <p:cNvPr id="129" name="Text 102">
            <a:extLst>
              <a:ext uri="{FF2B5EF4-FFF2-40B4-BE49-F238E27FC236}">
                <a16:creationId xmlns:a16="http://schemas.microsoft.com/office/drawing/2014/main" id="{E6899FF9-920F-25CD-B5FB-4A7479041D2B}"/>
              </a:ext>
            </a:extLst>
          </p:cNvPr>
          <p:cNvSpPr/>
          <p:nvPr/>
        </p:nvSpPr>
        <p:spPr>
          <a:xfrm>
            <a:off x="5926455" y="6453594"/>
            <a:ext cx="585216" cy="146304"/>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1" i="0" u="none" strike="noStrike" kern="1200" cap="none" spc="0" normalizeH="0" baseline="0" noProof="0" dirty="0">
                <a:ln>
                  <a:noFill/>
                </a:ln>
                <a:solidFill>
                  <a:srgbClr val="319A89"/>
                </a:solidFill>
                <a:effectLst/>
                <a:uLnTx/>
                <a:uFillTx/>
                <a:latin typeface="Segoe UI" pitchFamily="34" charset="0"/>
                <a:ea typeface="Segoe UI" pitchFamily="34" charset="-122"/>
                <a:cs typeface="Segoe UI" pitchFamily="34" charset="-120"/>
              </a:rPr>
              <a:t>pattern</a:t>
            </a:r>
            <a:endParaRPr kumimoji="0" lang="en-US" sz="990" b="0" i="0" u="none" strike="noStrike" kern="1200" cap="none" spc="0" normalizeH="0" baseline="0" noProof="0" dirty="0">
              <a:ln>
                <a:noFill/>
              </a:ln>
              <a:solidFill>
                <a:srgbClr val="319A89"/>
              </a:solidFill>
              <a:effectLst/>
              <a:uLnTx/>
              <a:uFillTx/>
              <a:latin typeface="Segoe UI"/>
              <a:ea typeface="+mn-ea"/>
              <a:cs typeface="+mn-cs"/>
            </a:endParaRPr>
          </a:p>
        </p:txBody>
      </p:sp>
      <p:sp>
        <p:nvSpPr>
          <p:cNvPr id="130" name="Text 103">
            <a:extLst>
              <a:ext uri="{FF2B5EF4-FFF2-40B4-BE49-F238E27FC236}">
                <a16:creationId xmlns:a16="http://schemas.microsoft.com/office/drawing/2014/main" id="{911B3976-3687-2A9F-7145-7A32B9369CA8}"/>
              </a:ext>
            </a:extLst>
          </p:cNvPr>
          <p:cNvSpPr/>
          <p:nvPr/>
        </p:nvSpPr>
        <p:spPr>
          <a:xfrm>
            <a:off x="6676263" y="6453227"/>
            <a:ext cx="164592" cy="146304"/>
          </a:xfrm>
          <a:prstGeom prst="rect">
            <a:avLst/>
          </a:prstGeom>
          <a:noFill/>
          <a:ln/>
        </p:spPr>
        <p:txBody>
          <a:bodyPr wrap="square" lIns="0" tIns="0" rIns="0" bIns="0" rtlCol="0" anchor="t">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64748B"/>
                </a:solidFill>
                <a:effectLst/>
                <a:uLnTx/>
                <a:uFillTx/>
                <a:latin typeface="Segoe UI" pitchFamily="34" charset="0"/>
                <a:ea typeface="Segoe UI" pitchFamily="34" charset="-122"/>
                <a:cs typeface="Segoe UI" pitchFamily="34" charset="-120"/>
              </a:rPr>
              <a:t>→</a:t>
            </a:r>
            <a:endParaRPr kumimoji="0" lang="en-US" sz="1100" b="0" i="0" u="none" strike="noStrike" kern="1200" cap="none" spc="0" normalizeH="0" baseline="0" noProof="0">
              <a:ln>
                <a:noFill/>
              </a:ln>
              <a:solidFill>
                <a:prstClr val="black"/>
              </a:solidFill>
              <a:effectLst/>
              <a:uLnTx/>
              <a:uFillTx/>
              <a:latin typeface="Segoe UI"/>
              <a:ea typeface="+mn-ea"/>
              <a:cs typeface="+mn-cs"/>
            </a:endParaRPr>
          </a:p>
        </p:txBody>
      </p:sp>
      <p:sp>
        <p:nvSpPr>
          <p:cNvPr id="131" name="Text 104">
            <a:extLst>
              <a:ext uri="{FF2B5EF4-FFF2-40B4-BE49-F238E27FC236}">
                <a16:creationId xmlns:a16="http://schemas.microsoft.com/office/drawing/2014/main" id="{BA74D979-BFA8-6CB6-D0AA-B15C84E54F4A}"/>
              </a:ext>
            </a:extLst>
          </p:cNvPr>
          <p:cNvSpPr/>
          <p:nvPr/>
        </p:nvSpPr>
        <p:spPr>
          <a:xfrm>
            <a:off x="7042023" y="6453594"/>
            <a:ext cx="1508760" cy="146304"/>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90" b="1" i="0" u="none" strike="noStrike" kern="1200" cap="none" spc="0" normalizeH="0" baseline="0" noProof="0">
                <a:ln>
                  <a:noFill/>
                </a:ln>
                <a:solidFill>
                  <a:srgbClr val="0F6CBD"/>
                </a:solidFill>
                <a:effectLst/>
                <a:uLnTx/>
                <a:uFillTx/>
                <a:latin typeface="Segoe UI" pitchFamily="34" charset="0"/>
                <a:ea typeface="Segoe UI" pitchFamily="34" charset="-122"/>
                <a:cs typeface="Segoe UI" pitchFamily="34" charset="-120"/>
              </a:rPr>
              <a:t>Accelerate with Factory</a:t>
            </a:r>
            <a:endParaRPr kumimoji="0" lang="en-US" sz="990" b="0" i="0" u="none" strike="noStrike" kern="1200" cap="none" spc="0" normalizeH="0" baseline="0" noProof="0">
              <a:ln>
                <a:noFill/>
              </a:ln>
              <a:solidFill>
                <a:prstClr val="black"/>
              </a:solidFill>
              <a:effectLst/>
              <a:uLnTx/>
              <a:uFillTx/>
              <a:latin typeface="Segoe UI"/>
              <a:ea typeface="+mn-ea"/>
              <a:cs typeface="+mn-cs"/>
            </a:endParaRPr>
          </a:p>
        </p:txBody>
      </p:sp>
      <p:sp>
        <p:nvSpPr>
          <p:cNvPr id="132" name="Shape 23">
            <a:extLst>
              <a:ext uri="{FF2B5EF4-FFF2-40B4-BE49-F238E27FC236}">
                <a16:creationId xmlns:a16="http://schemas.microsoft.com/office/drawing/2014/main" id="{D062CA4F-449A-F4D6-E658-12BC1F302C54}"/>
              </a:ext>
            </a:extLst>
          </p:cNvPr>
          <p:cNvSpPr/>
          <p:nvPr/>
        </p:nvSpPr>
        <p:spPr>
          <a:xfrm>
            <a:off x="5361813" y="2775533"/>
            <a:ext cx="338328" cy="338328"/>
          </a:xfrm>
          <a:prstGeom prst="ellipse">
            <a:avLst/>
          </a:prstGeom>
          <a:solidFill>
            <a:srgbClr val="FFFFFF"/>
          </a:solidFill>
          <a:ln w="12700">
            <a:solidFill>
              <a:srgbClr val="0F6CBD">
                <a:alpha val="42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33" name="Shape 24">
            <a:extLst>
              <a:ext uri="{FF2B5EF4-FFF2-40B4-BE49-F238E27FC236}">
                <a16:creationId xmlns:a16="http://schemas.microsoft.com/office/drawing/2014/main" id="{4072B500-A568-C5E0-464F-8B0E75D14A27}"/>
              </a:ext>
            </a:extLst>
          </p:cNvPr>
          <p:cNvSpPr/>
          <p:nvPr/>
        </p:nvSpPr>
        <p:spPr>
          <a:xfrm>
            <a:off x="5311521" y="2725241"/>
            <a:ext cx="438912" cy="438912"/>
          </a:xfrm>
          <a:prstGeom prst="ellipse">
            <a:avLst/>
          </a:prstGeom>
          <a:solidFill>
            <a:srgbClr val="FFFFFF">
              <a:alpha val="0"/>
            </a:srgbClr>
          </a:solidFill>
          <a:ln w="8890">
            <a:solidFill>
              <a:srgbClr val="0F6CBD">
                <a:alpha val="30000"/>
              </a:srgbClr>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Segoe UI"/>
              <a:ea typeface="+mn-ea"/>
              <a:cs typeface="+mn-cs"/>
            </a:endParaRPr>
          </a:p>
        </p:txBody>
      </p:sp>
      <p:sp>
        <p:nvSpPr>
          <p:cNvPr id="134" name="Text 25">
            <a:extLst>
              <a:ext uri="{FF2B5EF4-FFF2-40B4-BE49-F238E27FC236}">
                <a16:creationId xmlns:a16="http://schemas.microsoft.com/office/drawing/2014/main" id="{FD3F6FA5-B267-2406-AAB3-C5F89A9E8A36}"/>
              </a:ext>
            </a:extLst>
          </p:cNvPr>
          <p:cNvSpPr/>
          <p:nvPr/>
        </p:nvSpPr>
        <p:spPr>
          <a:xfrm>
            <a:off x="5361813" y="2880689"/>
            <a:ext cx="338328" cy="128016"/>
          </a:xfrm>
          <a:prstGeom prst="rect">
            <a:avLst/>
          </a:prstGeom>
          <a:noFill/>
          <a:ln/>
        </p:spPr>
        <p:txBody>
          <a:bodyPr wrap="square" lIns="0" tIns="0" rIns="0" bIns="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6CBD"/>
                </a:solidFill>
                <a:effectLst/>
                <a:uLnTx/>
                <a:uFillTx/>
                <a:latin typeface="Segoe UI" pitchFamily="34" charset="0"/>
                <a:ea typeface="Segoe UI" pitchFamily="34" charset="-122"/>
                <a:cs typeface="Segoe UI" pitchFamily="34" charset="-120"/>
              </a:rPr>
              <a:t>2</a:t>
            </a:r>
            <a:endParaRPr kumimoji="0" lang="en-US" sz="1100" b="0" i="0" u="none" strike="noStrike" kern="1200" cap="none" spc="0" normalizeH="0" baseline="0" noProof="0">
              <a:ln>
                <a:noFill/>
              </a:ln>
              <a:solidFill>
                <a:prstClr val="black"/>
              </a:solidFill>
              <a:effectLst/>
              <a:uLnTx/>
              <a:uFillTx/>
              <a:latin typeface="Segoe UI"/>
              <a:ea typeface="+mn-ea"/>
              <a:cs typeface="+mn-cs"/>
            </a:endParaRPr>
          </a:p>
        </p:txBody>
      </p:sp>
      <p:pic>
        <p:nvPicPr>
          <p:cNvPr id="135" name="Graphic 134" descr="Folder Search with solid fill">
            <a:extLst>
              <a:ext uri="{FF2B5EF4-FFF2-40B4-BE49-F238E27FC236}">
                <a16:creationId xmlns:a16="http://schemas.microsoft.com/office/drawing/2014/main" id="{C5EBBB24-5E52-9D31-6309-F273A1D9EA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8770" y="2936696"/>
            <a:ext cx="354330" cy="354330"/>
          </a:xfrm>
          <a:prstGeom prst="rect">
            <a:avLst/>
          </a:prstGeom>
        </p:spPr>
      </p:pic>
      <p:pic>
        <p:nvPicPr>
          <p:cNvPr id="136" name="Graphic 135" descr="Cycle with people with solid fill">
            <a:extLst>
              <a:ext uri="{FF2B5EF4-FFF2-40B4-BE49-F238E27FC236}">
                <a16:creationId xmlns:a16="http://schemas.microsoft.com/office/drawing/2014/main" id="{24A4D3FA-D020-02B6-5A71-D7BD76E62B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53053" y="2871821"/>
            <a:ext cx="493776" cy="493776"/>
          </a:xfrm>
          <a:prstGeom prst="rect">
            <a:avLst/>
          </a:prstGeom>
        </p:spPr>
      </p:pic>
      <p:pic>
        <p:nvPicPr>
          <p:cNvPr id="137" name="Graphic 136" descr="Lightning bolt with solid fill">
            <a:extLst>
              <a:ext uri="{FF2B5EF4-FFF2-40B4-BE49-F238E27FC236}">
                <a16:creationId xmlns:a16="http://schemas.microsoft.com/office/drawing/2014/main" id="{0E227280-E689-9565-CFE4-6CBE25F855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77313" y="2945065"/>
            <a:ext cx="382905" cy="382905"/>
          </a:xfrm>
          <a:prstGeom prst="rect">
            <a:avLst/>
          </a:prstGeom>
        </p:spPr>
      </p:pic>
      <p:pic>
        <p:nvPicPr>
          <p:cNvPr id="138" name="Graphic 137" descr="Workflow with solid fill">
            <a:extLst>
              <a:ext uri="{FF2B5EF4-FFF2-40B4-BE49-F238E27FC236}">
                <a16:creationId xmlns:a16="http://schemas.microsoft.com/office/drawing/2014/main" id="{DC8D0272-B2F7-F0FD-E5A1-53E1B1D256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02508" y="2954301"/>
            <a:ext cx="340134" cy="340134"/>
          </a:xfrm>
          <a:prstGeom prst="rect">
            <a:avLst/>
          </a:prstGeom>
        </p:spPr>
      </p:pic>
      <p:sp>
        <p:nvSpPr>
          <p:cNvPr id="139" name="Title 14">
            <a:extLst>
              <a:ext uri="{FF2B5EF4-FFF2-40B4-BE49-F238E27FC236}">
                <a16:creationId xmlns:a16="http://schemas.microsoft.com/office/drawing/2014/main" id="{9193A7BE-B59C-356D-9659-42744D612285}"/>
              </a:ext>
            </a:extLst>
          </p:cNvPr>
          <p:cNvSpPr txBox="1">
            <a:spLocks/>
          </p:cNvSpPr>
          <p:nvPr/>
        </p:nvSpPr>
        <p:spPr>
          <a:xfrm>
            <a:off x="586740" y="957377"/>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1" i="0" kern="1200" cap="none" spc="-50" baseline="0" dirty="0" smtClean="0">
                <a:ln w="3175">
                  <a:noFill/>
                </a:ln>
                <a:solidFill>
                  <a:schemeClr val="tx1"/>
                </a:solidFill>
                <a:effectLst/>
                <a:latin typeface="Segoe Sans Display Semibold" pitchFamily="2" charset="0"/>
                <a:ea typeface="+mn-ea"/>
                <a:cs typeface="Segoe Sans Display" pitchFamily="2"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Segoe Sans Display"/>
                <a:ea typeface="+mn-ea"/>
                <a:cs typeface="Segoe Sans Display" pitchFamily="2" charset="0"/>
              </a:rPr>
              <a:t>Has mapped these capabilities and needs into </a:t>
            </a:r>
            <a:br>
              <a:rPr kumimoji="0" lang="en-GB" sz="1400" b="0" i="0" u="none" strike="noStrike" kern="1200" cap="none" spc="0" normalizeH="0" baseline="0" noProof="0">
                <a:ln>
                  <a:noFill/>
                </a:ln>
                <a:solidFill>
                  <a:srgbClr val="000000"/>
                </a:solidFill>
                <a:effectLst/>
                <a:uLnTx/>
                <a:uFillTx/>
                <a:latin typeface="Segoe Sans Display"/>
                <a:ea typeface="+mn-ea"/>
                <a:cs typeface="Segoe Sans Display" pitchFamily="2" charset="0"/>
              </a:rPr>
            </a:br>
            <a:r>
              <a:rPr kumimoji="0" lang="en-GB" sz="1400" b="1" i="0" u="none" strike="noStrike" kern="1200" cap="none" spc="0" normalizeH="0" baseline="0" noProof="0">
                <a:ln>
                  <a:noFill/>
                </a:ln>
                <a:solidFill>
                  <a:srgbClr val="0078D4"/>
                </a:solidFill>
                <a:effectLst/>
                <a:uLnTx/>
                <a:uFillTx/>
                <a:latin typeface="Segoe Sans Display"/>
                <a:ea typeface="+mn-ea"/>
                <a:cs typeface="Segoe Sans Display" pitchFamily="2" charset="0"/>
              </a:rPr>
              <a:t>4 technical patterns </a:t>
            </a:r>
            <a:r>
              <a:rPr kumimoji="0" lang="en-GB" sz="1400" b="0" i="0" u="none" strike="noStrike" kern="1200" cap="none" spc="0" normalizeH="0" baseline="0" noProof="0">
                <a:ln>
                  <a:noFill/>
                </a:ln>
                <a:solidFill>
                  <a:srgbClr val="000000"/>
                </a:solidFill>
                <a:effectLst/>
                <a:uLnTx/>
                <a:uFillTx/>
                <a:latin typeface="Segoe Sans Display"/>
                <a:ea typeface="+mn-ea"/>
                <a:cs typeface="Segoe Sans Display" pitchFamily="2" charset="0"/>
              </a:rPr>
              <a:t>to accelerate the customer journey on Agents</a:t>
            </a:r>
          </a:p>
        </p:txBody>
      </p:sp>
      <p:sp>
        <p:nvSpPr>
          <p:cNvPr id="140" name="Title 1">
            <a:extLst>
              <a:ext uri="{FF2B5EF4-FFF2-40B4-BE49-F238E27FC236}">
                <a16:creationId xmlns:a16="http://schemas.microsoft.com/office/drawing/2014/main" id="{D8304E50-5023-8C6D-029D-DCFA4E1A2EE7}"/>
              </a:ext>
            </a:extLst>
          </p:cNvPr>
          <p:cNvSpPr txBox="1">
            <a:spLocks/>
          </p:cNvSpPr>
          <p:nvPr/>
        </p:nvSpPr>
        <p:spPr>
          <a:xfrm>
            <a:off x="358484" y="230822"/>
            <a:ext cx="11318821" cy="553998"/>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GB" sz="3600" b="0" i="0" u="none" strike="noStrike" kern="1200" cap="none" spc="-50" normalizeH="0" baseline="0" noProof="0" dirty="0">
                <a:ln w="3175">
                  <a:noFill/>
                </a:ln>
                <a:gradFill flip="none" rotWithShape="1">
                  <a:gsLst>
                    <a:gs pos="0">
                      <a:srgbClr val="0078D4"/>
                    </a:gs>
                    <a:gs pos="69000">
                      <a:srgbClr val="1A7385"/>
                    </a:gs>
                    <a:gs pos="100000">
                      <a:srgbClr val="41B8A4"/>
                    </a:gs>
                  </a:gsLst>
                  <a:lin ang="2700000" scaled="0"/>
                  <a:tileRect/>
                </a:gradFill>
                <a:effectLst/>
                <a:uLnTx/>
                <a:uFillTx/>
                <a:latin typeface="Segoe Sans Display Semibold"/>
                <a:ea typeface="+mn-ea"/>
                <a:cs typeface="Segoe Sans Display Semibold" pitchFamily="2" charset="0"/>
              </a:rPr>
              <a:t>Cloud Accelerate Factory for Agents</a:t>
            </a:r>
          </a:p>
        </p:txBody>
      </p:sp>
    </p:spTree>
    <p:extLst>
      <p:ext uri="{BB962C8B-B14F-4D97-AF65-F5344CB8AC3E}">
        <p14:creationId xmlns:p14="http://schemas.microsoft.com/office/powerpoint/2010/main" val="3836567010"/>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97F09-E662-BE1A-A24C-93D159670F3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534C57B-3126-4C6D-7313-A83F986402E9}"/>
              </a:ext>
            </a:extLst>
          </p:cNvPr>
          <p:cNvSpPr txBox="1">
            <a:spLocks/>
          </p:cNvSpPr>
          <p:nvPr/>
        </p:nvSpPr>
        <p:spPr>
          <a:xfrm>
            <a:off x="372731" y="287819"/>
            <a:ext cx="11018520" cy="553998"/>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200"/>
              </a:spcAft>
              <a:buClrTx/>
              <a:buSzTx/>
              <a:buFontTx/>
              <a:buNone/>
              <a:tabLst/>
              <a:defRPr/>
            </a:pPr>
            <a:r>
              <a:rPr kumimoji="0" lang="en-US" sz="2400" b="0" i="0" u="none" strike="noStrike" kern="1200" cap="none" spc="-50" normalizeH="0" baseline="0" noProof="0" dirty="0">
                <a:ln w="3175">
                  <a:noFill/>
                </a:ln>
                <a:solidFill>
                  <a:schemeClr val="accent1"/>
                </a:solidFill>
                <a:effectLst/>
                <a:uLnTx/>
                <a:uFillTx/>
                <a:latin typeface="Segoe Sans Display Semibold"/>
                <a:ea typeface="+mn-ea"/>
                <a:cs typeface="Segoe Sans Text" pitchFamily="2" charset="0"/>
              </a:rPr>
              <a:t>Agent Development with Factory + Partner</a:t>
            </a:r>
          </a:p>
        </p:txBody>
      </p:sp>
      <p:sp>
        <p:nvSpPr>
          <p:cNvPr id="11" name="Title 1">
            <a:extLst>
              <a:ext uri="{FF2B5EF4-FFF2-40B4-BE49-F238E27FC236}">
                <a16:creationId xmlns:a16="http://schemas.microsoft.com/office/drawing/2014/main" id="{F17A43EE-4BE7-CCF8-F636-0CF8D04366E2}"/>
              </a:ext>
            </a:extLst>
          </p:cNvPr>
          <p:cNvSpPr txBox="1">
            <a:spLocks/>
          </p:cNvSpPr>
          <p:nvPr/>
        </p:nvSpPr>
        <p:spPr>
          <a:xfrm>
            <a:off x="6271098" y="2048439"/>
            <a:ext cx="5350213" cy="3533273"/>
          </a:xfrm>
          <a:prstGeom prst="roundRect">
            <a:avLst>
              <a:gd name="adj" fmla="val 1901"/>
            </a:avLst>
          </a:prstGeom>
          <a:solidFill>
            <a:srgbClr val="FFFFFF">
              <a:lumMod val="85000"/>
              <a:lumOff val="15000"/>
            </a:srgbClr>
          </a:solidFill>
          <a:ln w="6350">
            <a:solidFill>
              <a:srgbClr val="FFFFFF">
                <a:lumMod val="85000"/>
              </a:srgbClr>
            </a:solidFill>
          </a:ln>
        </p:spPr>
        <p:txBody>
          <a:bodyPr wrap="square" lIns="228600" tIns="45720" rIns="91440" bIns="45720" anchor="ctr">
            <a:noAutofit/>
          </a:bodyPr>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Segoe UI Semibold" panose="020B0502040204020203" pitchFamily="34" charset="0"/>
              <a:ea typeface="+mj-ea"/>
              <a:cs typeface="Segoe UI Semibold" panose="020B0502040204020203" pitchFamily="34" charset="0"/>
            </a:endParaRPr>
          </a:p>
        </p:txBody>
      </p:sp>
      <p:sp>
        <p:nvSpPr>
          <p:cNvPr id="12" name="Title 1">
            <a:extLst>
              <a:ext uri="{FF2B5EF4-FFF2-40B4-BE49-F238E27FC236}">
                <a16:creationId xmlns:a16="http://schemas.microsoft.com/office/drawing/2014/main" id="{96704A7C-8009-8C8D-B2FE-71FE2118DFBB}"/>
              </a:ext>
            </a:extLst>
          </p:cNvPr>
          <p:cNvSpPr txBox="1">
            <a:spLocks/>
          </p:cNvSpPr>
          <p:nvPr/>
        </p:nvSpPr>
        <p:spPr>
          <a:xfrm>
            <a:off x="404167" y="2048440"/>
            <a:ext cx="5633468" cy="3533273"/>
          </a:xfrm>
          <a:prstGeom prst="roundRect">
            <a:avLst>
              <a:gd name="adj" fmla="val 1901"/>
            </a:avLst>
          </a:prstGeom>
          <a:solidFill>
            <a:srgbClr val="FFFFFF">
              <a:lumMod val="85000"/>
              <a:lumOff val="15000"/>
            </a:srgbClr>
          </a:solidFill>
          <a:ln w="6350">
            <a:solidFill>
              <a:srgbClr val="FFFFFF">
                <a:lumMod val="85000"/>
              </a:srgbClr>
            </a:solidFill>
          </a:ln>
        </p:spPr>
        <p:txBody>
          <a:bodyPr wrap="square" lIns="228600" tIns="45720" rIns="91440" bIns="45720" anchor="ctr">
            <a:noAutofit/>
          </a:bodyPr>
          <a:lstStyle>
            <a:lvl1pPr algn="l" defTabSz="914400" rtl="0" eaLnBrk="1" latinLnBrk="0" hangingPunct="1">
              <a:lnSpc>
                <a:spcPct val="90000"/>
              </a:lnSpc>
              <a:spcBef>
                <a:spcPct val="0"/>
              </a:spcBef>
              <a:buNone/>
              <a:defRPr sz="4400" b="1" i="0" kern="1200">
                <a:solidFill>
                  <a:schemeClr val="tx1"/>
                </a:solidFill>
                <a:latin typeface="Segoe UI Semibold" panose="020B0502040204020203" pitchFamily="34" charset="0"/>
                <a:ea typeface="+mj-ea"/>
                <a:cs typeface="Segoe UI Semibold" panose="020B0502040204020203" pitchFamily="34" charset="0"/>
              </a:defRPr>
            </a:lvl1p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Segoe UI Semibold" panose="020B0502040204020203" pitchFamily="34" charset="0"/>
              <a:ea typeface="+mj-ea"/>
              <a:cs typeface="Segoe UI Semibold" panose="020B0502040204020203" pitchFamily="34" charset="0"/>
            </a:endParaRPr>
          </a:p>
        </p:txBody>
      </p:sp>
      <p:sp>
        <p:nvSpPr>
          <p:cNvPr id="14" name="TextBox 13">
            <a:extLst>
              <a:ext uri="{FF2B5EF4-FFF2-40B4-BE49-F238E27FC236}">
                <a16:creationId xmlns:a16="http://schemas.microsoft.com/office/drawing/2014/main" id="{20494E11-74E6-11BC-DFAD-FBD714F2B9DC}"/>
              </a:ext>
            </a:extLst>
          </p:cNvPr>
          <p:cNvSpPr txBox="1"/>
          <p:nvPr/>
        </p:nvSpPr>
        <p:spPr>
          <a:xfrm>
            <a:off x="486209" y="2200351"/>
            <a:ext cx="5493060" cy="232371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Management &amp; delivery governance for the individual project scope of work</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Landing Zone deployment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Develop and Deploy Agents associated</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Technology path assessment and design</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Architectures for Agents with Foundry, Copilot Studio</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Agentic Knowledge assistant – single agent RAG, conversational agent</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Single or multi-agent LLM orchestration – Agentic RAG + Foundry IQ</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Finetuning LLM outputs for Custom Copilots</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Extending Custom Copilot Agents with Foundry &amp; Azure AI Services </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000" b="0" i="0" u="none" strike="noStrike" kern="1200" cap="none" spc="0" normalizeH="0" baseline="0" noProof="0">
                <a:ln>
                  <a:noFill/>
                </a:ln>
                <a:solidFill>
                  <a:srgbClr val="000000"/>
                </a:solidFill>
                <a:effectLst/>
                <a:uLnTx/>
                <a:uFillTx/>
                <a:latin typeface="Segoe Sans Text"/>
                <a:ea typeface="+mn-ea"/>
                <a:cs typeface="+mn-cs"/>
              </a:rPr>
              <a:t>Low-Code Business Action Agents — single agent with out-of-the-box connectors</a:t>
            </a:r>
          </a:p>
          <a:p>
            <a:pPr marL="685800" marR="0" lvl="1" indent="-171450" algn="l" defTabSz="86868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000" b="0" i="0" u="none" strike="noStrike" kern="1200" cap="none" spc="0" normalizeH="0" baseline="0" noProof="0">
                <a:ln>
                  <a:noFill/>
                </a:ln>
                <a:solidFill>
                  <a:srgbClr val="000000"/>
                </a:solidFill>
                <a:effectLst/>
                <a:uLnTx/>
                <a:uFillTx/>
                <a:latin typeface="Segoe Sans Text"/>
                <a:ea typeface="+mn-ea"/>
                <a:cs typeface="+mn-cs"/>
              </a:rPr>
              <a:t>Simple Enterprise Process Automation — low-code workflow for a single business function.</a:t>
            </a:r>
            <a:endParaRPr kumimoji="0" lang="en-US" sz="1000" b="0" i="0" u="none" strike="noStrike" kern="1200" cap="none" spc="0" normalizeH="0" baseline="0" noProof="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Validation and hand-off</a:t>
            </a:r>
          </a:p>
        </p:txBody>
      </p:sp>
      <p:sp>
        <p:nvSpPr>
          <p:cNvPr id="15" name="TextBox 14">
            <a:extLst>
              <a:ext uri="{FF2B5EF4-FFF2-40B4-BE49-F238E27FC236}">
                <a16:creationId xmlns:a16="http://schemas.microsoft.com/office/drawing/2014/main" id="{F2360A28-F816-B907-3F8A-706D8FA6B9F4}"/>
              </a:ext>
            </a:extLst>
          </p:cNvPr>
          <p:cNvSpPr txBox="1"/>
          <p:nvPr/>
        </p:nvSpPr>
        <p:spPr>
          <a:xfrm>
            <a:off x="6472136" y="2606534"/>
            <a:ext cx="4892994" cy="178510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Program &amp; change management, governance across portfolio of projects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Custom UI development and integration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Implementations</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Business Action Agents – </a:t>
            </a:r>
            <a:r>
              <a:rPr kumimoji="0" lang="en-GB" sz="1000" b="0" i="0" u="none" strike="noStrike" kern="1200" cap="none" spc="0" normalizeH="0" baseline="0" noProof="0">
                <a:ln>
                  <a:noFill/>
                </a:ln>
                <a:solidFill>
                  <a:srgbClr val="000000"/>
                </a:solidFill>
                <a:effectLst/>
                <a:uLnTx/>
                <a:uFillTx/>
                <a:latin typeface="Segoe Sans Text"/>
                <a:ea typeface="+mn-ea"/>
                <a:cs typeface="+mn-cs"/>
              </a:rPr>
              <a:t>with custom APIs and MCP servers</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000" b="0" i="0" u="none" strike="noStrike" kern="1200" cap="none" spc="0" normalizeH="0" baseline="0" noProof="0">
                <a:ln>
                  <a:noFill/>
                </a:ln>
                <a:solidFill>
                  <a:srgbClr val="000000"/>
                </a:solidFill>
                <a:effectLst/>
                <a:uLnTx/>
                <a:uFillTx/>
                <a:latin typeface="Segoe Sans Text"/>
                <a:ea typeface="+mn-ea"/>
                <a:cs typeface="+mn-cs"/>
              </a:rPr>
              <a:t>Advanced Enterprise Process Automation — Multi-agent orchestration</a:t>
            </a:r>
            <a:endParaRPr kumimoji="0" lang="en-US" sz="1000" b="0" i="0" u="none" strike="noStrike" kern="1200" cap="none" spc="0" normalizeH="0" baseline="0" noProof="0">
              <a:ln>
                <a:noFill/>
              </a:ln>
              <a:solidFill>
                <a:srgbClr val="000000"/>
              </a:solidFill>
              <a:effectLst/>
              <a:uLnTx/>
              <a:uFillTx/>
              <a:latin typeface="Segoe Sans Tex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D365 Agents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End-user acceptance testing, end user training, adoption</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Post-deployment operations, hyper-care</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Text"/>
                <a:ea typeface="+mn-ea"/>
                <a:cs typeface="+mn-cs"/>
              </a:rPr>
              <a:t>Custom consulting, advisory services</a:t>
            </a:r>
          </a:p>
        </p:txBody>
      </p:sp>
      <p:sp>
        <p:nvSpPr>
          <p:cNvPr id="16" name="Rectangle: Top Corners Rounded 15">
            <a:extLst>
              <a:ext uri="{FF2B5EF4-FFF2-40B4-BE49-F238E27FC236}">
                <a16:creationId xmlns:a16="http://schemas.microsoft.com/office/drawing/2014/main" id="{78A20D07-A907-6421-F116-630EC5E101EA}"/>
              </a:ext>
              <a:ext uri="{C183D7F6-B498-43B3-948B-1728B52AA6E4}">
                <adec:decorative xmlns:adec="http://schemas.microsoft.com/office/drawing/2017/decorative" val="1"/>
              </a:ext>
            </a:extLst>
          </p:cNvPr>
          <p:cNvSpPr>
            <a:spLocks/>
          </p:cNvSpPr>
          <p:nvPr/>
        </p:nvSpPr>
        <p:spPr bwMode="auto">
          <a:xfrm>
            <a:off x="404167" y="1735579"/>
            <a:ext cx="5633468" cy="381754"/>
          </a:xfrm>
          <a:prstGeom prst="round2SameRect">
            <a:avLst>
              <a:gd name="adj1" fmla="val 50000"/>
              <a:gd name="adj2" fmla="val 0"/>
            </a:avLst>
          </a:prstGeom>
          <a:gradFill>
            <a:gsLst>
              <a:gs pos="0">
                <a:srgbClr val="0078D4"/>
              </a:gs>
              <a:gs pos="100000">
                <a:srgbClr val="3C8A9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1200"/>
              </a:spcBef>
              <a:spcAft>
                <a:spcPts val="1200"/>
              </a:spcAft>
              <a:buClrTx/>
              <a:buSzTx/>
              <a:buFontTx/>
              <a:buNone/>
              <a:tabLst/>
              <a:defRPr/>
            </a:pPr>
            <a:r>
              <a:rPr kumimoji="0" lang="en-US" sz="1400" b="0" i="0" u="none" strike="noStrike" kern="0" cap="none" spc="0" normalizeH="0" baseline="0" noProof="0">
                <a:ln>
                  <a:noFill/>
                </a:ln>
                <a:solidFill>
                  <a:prstClr val="white"/>
                </a:solidFill>
                <a:effectLst/>
                <a:uLnTx/>
                <a:uFillTx/>
                <a:latin typeface="Segoe Sans Display Semibold"/>
                <a:ea typeface="+mn-ea"/>
                <a:cs typeface="+mn-cs"/>
              </a:rPr>
              <a:t>Scope 1: Factory Led</a:t>
            </a:r>
          </a:p>
        </p:txBody>
      </p:sp>
      <p:sp>
        <p:nvSpPr>
          <p:cNvPr id="17" name="Rectangle: Top Corners Rounded 16">
            <a:extLst>
              <a:ext uri="{FF2B5EF4-FFF2-40B4-BE49-F238E27FC236}">
                <a16:creationId xmlns:a16="http://schemas.microsoft.com/office/drawing/2014/main" id="{C5FC4418-5071-5000-5A64-CB40CE5F6538}"/>
              </a:ext>
              <a:ext uri="{C183D7F6-B498-43B3-948B-1728B52AA6E4}">
                <adec:decorative xmlns:adec="http://schemas.microsoft.com/office/drawing/2017/decorative" val="1"/>
              </a:ext>
            </a:extLst>
          </p:cNvPr>
          <p:cNvSpPr>
            <a:spLocks/>
          </p:cNvSpPr>
          <p:nvPr/>
        </p:nvSpPr>
        <p:spPr bwMode="auto">
          <a:xfrm>
            <a:off x="6271098" y="1735579"/>
            <a:ext cx="5350213" cy="381754"/>
          </a:xfrm>
          <a:prstGeom prst="round2SameRect">
            <a:avLst>
              <a:gd name="adj1" fmla="val 50000"/>
              <a:gd name="adj2" fmla="val 0"/>
            </a:avLst>
          </a:prstGeom>
          <a:gradFill>
            <a:gsLst>
              <a:gs pos="0">
                <a:srgbClr val="0078D4"/>
              </a:gs>
              <a:gs pos="100000">
                <a:srgbClr val="3C8A9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1200"/>
              </a:spcBef>
              <a:spcAft>
                <a:spcPts val="1200"/>
              </a:spcAft>
              <a:buClrTx/>
              <a:buSzTx/>
              <a:buFontTx/>
              <a:buNone/>
              <a:tabLst/>
              <a:defRPr/>
            </a:pPr>
            <a:r>
              <a:rPr kumimoji="0" lang="en-US" sz="1400" b="0" i="0" u="none" strike="noStrike" kern="0" cap="none" spc="0" normalizeH="0" baseline="0" noProof="0">
                <a:ln>
                  <a:noFill/>
                </a:ln>
                <a:solidFill>
                  <a:prstClr val="white"/>
                </a:solidFill>
                <a:effectLst/>
                <a:uLnTx/>
                <a:uFillTx/>
                <a:latin typeface="Segoe Sans Display Semibold"/>
                <a:ea typeface="+mn-ea"/>
                <a:cs typeface="+mn-cs"/>
              </a:rPr>
              <a:t>Scope 2: Unified / Partner / Customer Led*</a:t>
            </a:r>
          </a:p>
        </p:txBody>
      </p:sp>
      <p:sp>
        <p:nvSpPr>
          <p:cNvPr id="19" name="TextBox 18">
            <a:extLst>
              <a:ext uri="{FF2B5EF4-FFF2-40B4-BE49-F238E27FC236}">
                <a16:creationId xmlns:a16="http://schemas.microsoft.com/office/drawing/2014/main" id="{FAE8054A-436B-5DFF-9236-524E8A6AEDC3}"/>
              </a:ext>
            </a:extLst>
          </p:cNvPr>
          <p:cNvSpPr txBox="1"/>
          <p:nvPr/>
        </p:nvSpPr>
        <p:spPr>
          <a:xfrm>
            <a:off x="6472136" y="2200351"/>
            <a:ext cx="4760068"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3" name="TextBox 2">
            <a:extLst>
              <a:ext uri="{FF2B5EF4-FFF2-40B4-BE49-F238E27FC236}">
                <a16:creationId xmlns:a16="http://schemas.microsoft.com/office/drawing/2014/main" id="{E176EF1A-2A2D-31CF-4212-61CEC95E4F99}"/>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8" name="TextBox 7">
            <a:extLst>
              <a:ext uri="{FF2B5EF4-FFF2-40B4-BE49-F238E27FC236}">
                <a16:creationId xmlns:a16="http://schemas.microsoft.com/office/drawing/2014/main" id="{45F32091-93CE-927E-01EF-55A4FA7AE724}"/>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10" name="Rectangle: Rounded Corners 9">
            <a:extLst>
              <a:ext uri="{FF2B5EF4-FFF2-40B4-BE49-F238E27FC236}">
                <a16:creationId xmlns:a16="http://schemas.microsoft.com/office/drawing/2014/main" id="{22A8CF94-E9D2-E7E9-B7D5-D2CB5E2C28E8}"/>
              </a:ext>
            </a:extLst>
          </p:cNvPr>
          <p:cNvSpPr/>
          <p:nvPr/>
        </p:nvSpPr>
        <p:spPr bwMode="auto">
          <a:xfrm>
            <a:off x="333973" y="841817"/>
            <a:ext cx="11371819" cy="4895595"/>
          </a:xfrm>
          <a:prstGeom prst="roundRect">
            <a:avLst>
              <a:gd name="adj" fmla="val 3932"/>
            </a:avLst>
          </a:prstGeom>
          <a:noFill/>
          <a:ln>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8CDFB704-FB23-221F-C728-CE8BC7615E7C}"/>
              </a:ext>
            </a:extLst>
          </p:cNvPr>
          <p:cNvSpPr txBox="1"/>
          <p:nvPr/>
        </p:nvSpPr>
        <p:spPr>
          <a:xfrm>
            <a:off x="372730" y="926713"/>
            <a:ext cx="11485297" cy="480516"/>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10000"/>
              </a:lnSpc>
              <a:spcBef>
                <a:spcPts val="0"/>
              </a:spcBef>
              <a:spcAft>
                <a:spcPts val="100"/>
              </a:spcAft>
              <a:buClrTx/>
              <a:buSzTx/>
              <a:buFontTx/>
              <a:buNone/>
              <a:tabLst/>
              <a:defRPr/>
            </a:pPr>
            <a:r>
              <a:rPr kumimoji="0" lang="en-US" sz="1200" i="0" u="none" strike="noStrike" kern="1200" cap="none" spc="0" normalizeH="0" baseline="0" noProof="0" dirty="0">
                <a:ln>
                  <a:noFill/>
                </a:ln>
                <a:solidFill>
                  <a:srgbClr val="000000"/>
                </a:solidFill>
                <a:effectLst/>
                <a:uLnTx/>
                <a:uFillTx/>
                <a:latin typeface="Segoe Sans Text" pitchFamily="2" charset="0"/>
                <a:cs typeface="Segoe Sans Text" pitchFamily="2" charset="0"/>
              </a:rPr>
              <a:t>Achieving successful customer outcomes, engagements should have </a:t>
            </a:r>
            <a:r>
              <a:rPr kumimoji="0" lang="en-US" sz="1200" b="1" i="1" u="none" strike="noStrike" kern="1200" cap="none" spc="0" normalizeH="0" baseline="0" noProof="0" dirty="0">
                <a:ln>
                  <a:noFill/>
                </a:ln>
                <a:solidFill>
                  <a:srgbClr val="000000"/>
                </a:solidFill>
                <a:effectLst/>
                <a:uLnTx/>
                <a:uFillTx/>
                <a:latin typeface="Segoe Sans Text" pitchFamily="2" charset="0"/>
                <a:cs typeface="Segoe Sans Text" pitchFamily="2" charset="0"/>
              </a:rPr>
              <a:t>both</a:t>
            </a:r>
            <a:r>
              <a:rPr kumimoji="0" lang="en-US" sz="1200" i="0" u="none" strike="noStrike" kern="1200" cap="none" spc="0" normalizeH="0" baseline="0" noProof="0" dirty="0">
                <a:ln>
                  <a:noFill/>
                </a:ln>
                <a:solidFill>
                  <a:srgbClr val="000000"/>
                </a:solidFill>
                <a:effectLst/>
                <a:uLnTx/>
                <a:uFillTx/>
                <a:latin typeface="Segoe Sans Text" pitchFamily="2" charset="0"/>
                <a:cs typeface="Segoe Sans Text" pitchFamily="2" charset="0"/>
              </a:rPr>
              <a:t> Scope 1 and Scope 2.  While the contracts are independent, the delivery will be joint and seamlessly managed for the customer with the Factory PM operating under the Customer/Partner/ISD PM.</a:t>
            </a:r>
          </a:p>
        </p:txBody>
      </p:sp>
    </p:spTree>
    <p:extLst>
      <p:ext uri="{BB962C8B-B14F-4D97-AF65-F5344CB8AC3E}">
        <p14:creationId xmlns:p14="http://schemas.microsoft.com/office/powerpoint/2010/main" val="415464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42" presetClass="path" presetSubtype="0" decel="100000" fill="hold" grpId="1" nodeType="withEffect">
                                  <p:stCondLst>
                                    <p:cond delay="200"/>
                                  </p:stCondLst>
                                  <p:childTnLst>
                                    <p:animMotion origin="layout" path="M 4.16667E-7 -2.22222E-6 L 4.16667E-7 0.03542 " pathEditMode="relative" rAng="0" ptsTypes="AA">
                                      <p:cBhvr>
                                        <p:cTn id="9" dur="700" spd="-100000" fill="hold"/>
                                        <p:tgtEl>
                                          <p:spTgt spid="12"/>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42" presetClass="path" presetSubtype="0" decel="100000" fill="hold" grpId="1" nodeType="withEffect">
                                  <p:stCondLst>
                                    <p:cond delay="100"/>
                                  </p:stCondLst>
                                  <p:childTnLst>
                                    <p:animMotion origin="layout" path="M 4.16667E-7 -2.22222E-6 L 4.16667E-7 0.03542 " pathEditMode="relative" rAng="0" ptsTypes="AA">
                                      <p:cBhvr>
                                        <p:cTn id="14" dur="700" spd="-100000" fill="hold"/>
                                        <p:tgtEl>
                                          <p:spTgt spid="16"/>
                                        </p:tgtEl>
                                        <p:attrNameLst>
                                          <p:attrName>ppt_x</p:attrName>
                                          <p:attrName>ppt_y</p:attrName>
                                        </p:attrNameLst>
                                      </p:cBhvr>
                                      <p:rCtr x="0" y="1759"/>
                                    </p:animMotion>
                                  </p:childTnLst>
                                </p:cTn>
                              </p:par>
                              <p:par>
                                <p:cTn id="15" presetID="10" presetClass="entr" presetSubtype="0" fill="hold" grpId="0" nodeType="withEffect">
                                  <p:stCondLst>
                                    <p:cond delay="1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42" presetClass="path" presetSubtype="0" decel="100000" fill="hold" grpId="1" nodeType="withEffect">
                                  <p:stCondLst>
                                    <p:cond delay="100"/>
                                  </p:stCondLst>
                                  <p:childTnLst>
                                    <p:animMotion origin="layout" path="M 4.16667E-7 -2.22222E-6 L 4.16667E-7 0.03542 " pathEditMode="relative" rAng="0" ptsTypes="AA">
                                      <p:cBhvr>
                                        <p:cTn id="19" dur="700" spd="-100000" fill="hold"/>
                                        <p:tgtEl>
                                          <p:spTgt spid="17"/>
                                        </p:tgtEl>
                                        <p:attrNameLst>
                                          <p:attrName>ppt_x</p:attrName>
                                          <p:attrName>ppt_y</p:attrName>
                                        </p:attrNameLst>
                                      </p:cBhvr>
                                      <p:rCtr x="0" y="1759"/>
                                    </p:animMotion>
                                  </p:childTnLst>
                                </p:cTn>
                              </p:par>
                              <p:par>
                                <p:cTn id="20" presetID="10" presetClass="entr" presetSubtype="0"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42" presetClass="path" presetSubtype="0" decel="100000" fill="hold" grpId="1" nodeType="withEffect">
                                  <p:stCondLst>
                                    <p:cond delay="200"/>
                                  </p:stCondLst>
                                  <p:childTnLst>
                                    <p:animMotion origin="layout" path="M 4.16667E-7 -2.22222E-6 L 4.16667E-7 0.03542 " pathEditMode="relative" rAng="0" ptsTypes="AA">
                                      <p:cBhvr>
                                        <p:cTn id="24" dur="700" spd="-100000" fill="hold"/>
                                        <p:tgtEl>
                                          <p:spTgt spid="11"/>
                                        </p:tgtEl>
                                        <p:attrNameLst>
                                          <p:attrName>ppt_x</p:attrName>
                                          <p:attrName>ppt_y</p:attrName>
                                        </p:attrNameLst>
                                      </p:cBhvr>
                                      <p:rCtr x="0" y="1759"/>
                                    </p:animMotion>
                                  </p:childTnLst>
                                </p:cTn>
                              </p:par>
                              <p:par>
                                <p:cTn id="25" presetID="10" presetClass="entr" presetSubtype="0" fill="hold" grpId="0" nodeType="withEffect">
                                  <p:stCondLst>
                                    <p:cond delay="20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6" presetClass="emph" presetSubtype="0" fill="hold" grpId="1" nodeType="withEffect">
                                  <p:stCondLst>
                                    <p:cond delay="0"/>
                                  </p:stCondLst>
                                  <p:childTnLst>
                                    <p:animScale>
                                      <p:cBhvr>
                                        <p:cTn id="29" dur="100" fill="hold"/>
                                        <p:tgtEl>
                                          <p:spTgt spid="3"/>
                                        </p:tgtEl>
                                      </p:cBhvr>
                                      <p:by x="25000" y="25000"/>
                                    </p:animScale>
                                  </p:childTnLst>
                                </p:cTn>
                              </p:par>
                              <p:par>
                                <p:cTn id="30" presetID="6" presetClass="emph" presetSubtype="0" decel="100000" fill="hold" grpId="2" nodeType="withEffect">
                                  <p:stCondLst>
                                    <p:cond delay="200"/>
                                  </p:stCondLst>
                                  <p:childTnLst>
                                    <p:animScale>
                                      <p:cBhvr>
                                        <p:cTn id="3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6" grpId="0" animBg="1"/>
      <p:bldP spid="16" grpId="1" animBg="1"/>
      <p:bldP spid="17" grpId="0" animBg="1"/>
      <p:bldP spid="17" grpId="1" animBg="1"/>
      <p:bldP spid="3" grpId="0" animBg="1"/>
      <p:bldP spid="3" grpId="1" animBg="1"/>
      <p:bldP spid="3" grpId="2"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D8089-EA07-BE33-FF40-765C96DB341A}"/>
            </a:ext>
          </a:extLst>
        </p:cNvPr>
        <p:cNvGrpSpPr/>
        <p:nvPr/>
      </p:nvGrpSpPr>
      <p:grpSpPr>
        <a:xfrm>
          <a:off x="0" y="0"/>
          <a:ext cx="0" cy="0"/>
          <a:chOff x="0" y="0"/>
          <a:chExt cx="0" cy="0"/>
        </a:xfrm>
      </p:grpSpPr>
      <p:sp>
        <p:nvSpPr>
          <p:cNvPr id="41" name="Rectangle: Rounded Corners 40">
            <a:extLst>
              <a:ext uri="{FF2B5EF4-FFF2-40B4-BE49-F238E27FC236}">
                <a16:creationId xmlns:a16="http://schemas.microsoft.com/office/drawing/2014/main" id="{61E10AFA-891B-FA37-C368-EB7D269C0F3D}"/>
              </a:ext>
              <a:ext uri="{C183D7F6-B498-43B3-948B-1728B52AA6E4}">
                <adec:decorative xmlns:adec="http://schemas.microsoft.com/office/drawing/2017/decorative" val="1"/>
              </a:ext>
            </a:extLst>
          </p:cNvPr>
          <p:cNvSpPr>
            <a:spLocks/>
          </p:cNvSpPr>
          <p:nvPr/>
        </p:nvSpPr>
        <p:spPr bwMode="auto">
          <a:xfrm>
            <a:off x="720651" y="1179366"/>
            <a:ext cx="1606259" cy="5541575"/>
          </a:xfrm>
          <a:prstGeom prst="roundRect">
            <a:avLst>
              <a:gd name="adj" fmla="val 14301"/>
            </a:avLst>
          </a:prstGeom>
          <a:solidFill>
            <a:schemeClr val="bg1">
              <a:lumMod val="95000"/>
            </a:schemeClr>
          </a:solid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AA17C81C-5D3E-0876-3390-B848B1BE68EE}"/>
              </a:ext>
              <a:ext uri="{C183D7F6-B498-43B3-948B-1728B52AA6E4}">
                <adec:decorative xmlns:adec="http://schemas.microsoft.com/office/drawing/2017/decorative" val="1"/>
              </a:ext>
            </a:extLst>
          </p:cNvPr>
          <p:cNvSpPr>
            <a:spLocks/>
          </p:cNvSpPr>
          <p:nvPr/>
        </p:nvSpPr>
        <p:spPr bwMode="auto">
          <a:xfrm>
            <a:off x="720650" y="1179363"/>
            <a:ext cx="10990091" cy="5541578"/>
          </a:xfrm>
          <a:prstGeom prst="roundRect">
            <a:avLst>
              <a:gd name="adj" fmla="val 4159"/>
            </a:avLst>
          </a:prstGeom>
          <a:no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6" name="Title 5">
            <a:extLst>
              <a:ext uri="{FF2B5EF4-FFF2-40B4-BE49-F238E27FC236}">
                <a16:creationId xmlns:a16="http://schemas.microsoft.com/office/drawing/2014/main" id="{411E61FB-C1B5-5CED-A2F9-E3094432A7FC}"/>
              </a:ext>
            </a:extLst>
          </p:cNvPr>
          <p:cNvSpPr>
            <a:spLocks noGrp="1"/>
          </p:cNvSpPr>
          <p:nvPr>
            <p:ph type="title"/>
          </p:nvPr>
        </p:nvSpPr>
        <p:spPr>
          <a:xfrm>
            <a:off x="820525" y="1413045"/>
            <a:ext cx="10806388"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bg1"/>
                </a:solidFill>
              </a:rPr>
              <a:t>Enterprise Process Automation Agents</a:t>
            </a:r>
          </a:p>
        </p:txBody>
      </p:sp>
      <p:sp>
        <p:nvSpPr>
          <p:cNvPr id="65" name="Rectangle 64">
            <a:extLst>
              <a:ext uri="{FF2B5EF4-FFF2-40B4-BE49-F238E27FC236}">
                <a16:creationId xmlns:a16="http://schemas.microsoft.com/office/drawing/2014/main" id="{69D0A5D6-08BE-59B9-2468-0C39F5170633}"/>
              </a:ext>
              <a:ext uri="{C183D7F6-B498-43B3-948B-1728B52AA6E4}">
                <adec:decorative xmlns:adec="http://schemas.microsoft.com/office/drawing/2017/decorative" val="1"/>
              </a:ext>
            </a:extLst>
          </p:cNvPr>
          <p:cNvSpPr>
            <a:spLocks/>
          </p:cNvSpPr>
          <p:nvPr/>
        </p:nvSpPr>
        <p:spPr bwMode="auto">
          <a:xfrm rot="5400000">
            <a:off x="-2768289" y="3623850"/>
            <a:ext cx="6374356" cy="105709"/>
          </a:xfrm>
          <a:prstGeom prst="rect">
            <a:avLst/>
          </a:prstGeom>
          <a:gradFill flip="none" rotWithShape="1">
            <a:gsLst>
              <a:gs pos="84000">
                <a:srgbClr val="2AA4C0"/>
              </a:gs>
              <a:gs pos="100000">
                <a:srgbClr val="40BCB5"/>
              </a:gs>
              <a:gs pos="0">
                <a:schemeClr val="tx2"/>
              </a:gs>
            </a:gsLst>
            <a:lin ang="0" scaled="1"/>
            <a:tileRect/>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1200"/>
              </a:spcBef>
              <a:spcAft>
                <a:spcPts val="1200"/>
              </a:spcAft>
            </a:pPr>
            <a:endParaRPr lang="en-US" sz="1600" kern="0">
              <a:solidFill>
                <a:prstClr val="white"/>
              </a:solidFill>
              <a:latin typeface="Segoe Sans Text Semibold"/>
            </a:endParaRPr>
          </a:p>
        </p:txBody>
      </p:sp>
      <p:sp>
        <p:nvSpPr>
          <p:cNvPr id="63" name="TextBox 62">
            <a:extLst>
              <a:ext uri="{FF2B5EF4-FFF2-40B4-BE49-F238E27FC236}">
                <a16:creationId xmlns:a16="http://schemas.microsoft.com/office/drawing/2014/main" id="{22CF6000-4427-52CE-ED39-24F2B5E227D4}"/>
              </a:ext>
            </a:extLst>
          </p:cNvPr>
          <p:cNvSpPr txBox="1"/>
          <p:nvPr/>
        </p:nvSpPr>
        <p:spPr>
          <a:xfrm>
            <a:off x="153492" y="112900"/>
            <a:ext cx="540000" cy="540000"/>
          </a:xfrm>
          <a:prstGeom prst="ellipse">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lumMod val="75000"/>
                    <a:lumOff val="25000"/>
                  </a:srgbClr>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graphicFrame>
        <p:nvGraphicFramePr>
          <p:cNvPr id="2" name="Table 0">
            <a:extLst>
              <a:ext uri="{FF2B5EF4-FFF2-40B4-BE49-F238E27FC236}">
                <a16:creationId xmlns:a16="http://schemas.microsoft.com/office/drawing/2014/main" id="{2D07D285-B9B9-809B-6BF1-B3CC54966950}"/>
              </a:ext>
            </a:extLst>
          </p:cNvPr>
          <p:cNvGraphicFramePr>
            <a:graphicFrameLocks noGrp="1"/>
          </p:cNvGraphicFramePr>
          <p:nvPr/>
        </p:nvGraphicFramePr>
        <p:xfrm>
          <a:off x="817123" y="1306690"/>
          <a:ext cx="10865285" cy="5414251"/>
        </p:xfrm>
        <a:graphic>
          <a:graphicData uri="http://schemas.openxmlformats.org/drawingml/2006/table">
            <a:tbl>
              <a:tblPr/>
              <a:tblGrid>
                <a:gridCol w="1650492">
                  <a:extLst>
                    <a:ext uri="{9D8B030D-6E8A-4147-A177-3AD203B41FA5}">
                      <a16:colId xmlns:a16="http://schemas.microsoft.com/office/drawing/2014/main" val="20000"/>
                    </a:ext>
                  </a:extLst>
                </a:gridCol>
                <a:gridCol w="2305924">
                  <a:extLst>
                    <a:ext uri="{9D8B030D-6E8A-4147-A177-3AD203B41FA5}">
                      <a16:colId xmlns:a16="http://schemas.microsoft.com/office/drawing/2014/main" val="20001"/>
                    </a:ext>
                  </a:extLst>
                </a:gridCol>
                <a:gridCol w="2305924">
                  <a:extLst>
                    <a:ext uri="{9D8B030D-6E8A-4147-A177-3AD203B41FA5}">
                      <a16:colId xmlns:a16="http://schemas.microsoft.com/office/drawing/2014/main" val="20002"/>
                    </a:ext>
                  </a:extLst>
                </a:gridCol>
                <a:gridCol w="2305924">
                  <a:extLst>
                    <a:ext uri="{9D8B030D-6E8A-4147-A177-3AD203B41FA5}">
                      <a16:colId xmlns:a16="http://schemas.microsoft.com/office/drawing/2014/main" val="20003"/>
                    </a:ext>
                  </a:extLst>
                </a:gridCol>
                <a:gridCol w="2297021">
                  <a:extLst>
                    <a:ext uri="{9D8B030D-6E8A-4147-A177-3AD203B41FA5}">
                      <a16:colId xmlns:a16="http://schemas.microsoft.com/office/drawing/2014/main" val="20004"/>
                    </a:ext>
                  </a:extLst>
                </a:gridCol>
              </a:tblGrid>
              <a:tr h="426697">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mj-ea"/>
                          <a:cs typeface="Segoe UI" pitchFamily="34" charset="-120"/>
                        </a:rPr>
                        <a:t>Agentic Knowledge Assistant</a:t>
                      </a:r>
                      <a:endParaRPr lang="en-US" sz="1200">
                        <a:solidFill>
                          <a:schemeClr val="tx1">
                            <a:lumMod val="75000"/>
                            <a:lumOff val="25000"/>
                          </a:schemeClr>
                        </a:solidFill>
                        <a:latin typeface="Segoe UI" charset="0"/>
                        <a:ea typeface="+mj-ea"/>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Intelligent Agent Orchestration</a:t>
                      </a: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Business Action Agents</a:t>
                      </a: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Enterprise Process Automation</a:t>
                      </a: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31259">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charset="0"/>
                          <a:cs typeface="Segoe UI" pitchFamily="34" charset="-120"/>
                        </a:rPr>
                        <a:t>Customer Service</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750" b="1">
                        <a:solidFill>
                          <a:srgbClr val="4F9DFF"/>
                        </a:solidFill>
                        <a:latin typeface="Segoe UI" pitchFamily="34" charset="0"/>
                        <a:ea typeface="Segoe UI" pitchFamily="34" charset="-122"/>
                        <a:cs typeface="Segoe UI" pitchFamily="34" charset="-12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31259">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charset="0"/>
                          <a:cs typeface="Segoe UI" pitchFamily="34" charset="-120"/>
                        </a:rPr>
                        <a:t>Sales</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31259">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charset="0"/>
                          <a:cs typeface="Segoe UI" pitchFamily="34" charset="-120"/>
                        </a:rPr>
                        <a:t>Finance</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31259">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charset="0"/>
                          <a:cs typeface="Segoe UI" pitchFamily="34" charset="-120"/>
                        </a:rPr>
                        <a:t>Marketing</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31259">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charset="0"/>
                          <a:cs typeface="Segoe UI" pitchFamily="34" charset="-120"/>
                        </a:rPr>
                        <a:t>HR / ESS</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831259">
                <a:tc>
                  <a:txBody>
                    <a:bodyPr/>
                    <a:lstStyle/>
                    <a:p>
                      <a:pPr marL="0" indent="0">
                        <a:buNone/>
                      </a:pPr>
                      <a:r>
                        <a:rPr lang="en-US" sz="1050" b="1" kern="1200" dirty="0">
                          <a:solidFill>
                            <a:schemeClr val="tx1">
                              <a:lumMod val="75000"/>
                              <a:lumOff val="25000"/>
                            </a:schemeClr>
                          </a:solidFill>
                          <a:latin typeface="Segoe UI" pitchFamily="34" charset="0"/>
                          <a:ea typeface="Segoe UI" charset="0"/>
                          <a:cs typeface="Segoe UI" pitchFamily="34" charset="-120"/>
                        </a:rPr>
                        <a:t>Legal</a:t>
                      </a: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None/>
                      </a:pP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None/>
                      </a:pPr>
                      <a:endParaRPr lang="en-US" sz="1200" dirty="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8306909"/>
                  </a:ext>
                </a:extLst>
              </a:tr>
            </a:tbl>
          </a:graphicData>
        </a:graphic>
      </p:graphicFrame>
      <p:cxnSp>
        <p:nvCxnSpPr>
          <p:cNvPr id="8" name="Straight Connector 7">
            <a:extLst>
              <a:ext uri="{FF2B5EF4-FFF2-40B4-BE49-F238E27FC236}">
                <a16:creationId xmlns:a16="http://schemas.microsoft.com/office/drawing/2014/main" id="{0B70F311-A729-B399-3684-ED44D949E053}"/>
              </a:ext>
            </a:extLst>
          </p:cNvPr>
          <p:cNvCxnSpPr>
            <a:cxnSpLocks/>
          </p:cNvCxnSpPr>
          <p:nvPr/>
        </p:nvCxnSpPr>
        <p:spPr>
          <a:xfrm>
            <a:off x="6941593" y="1910208"/>
            <a:ext cx="0" cy="4352043"/>
          </a:xfrm>
          <a:prstGeom prst="line">
            <a:avLst/>
          </a:prstGeom>
          <a:ln w="6350">
            <a:solidFill>
              <a:schemeClr val="bg1">
                <a:lumMod val="85000"/>
              </a:schemeClr>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23">
            <a:extLst>
              <a:ext uri="{FF2B5EF4-FFF2-40B4-BE49-F238E27FC236}">
                <a16:creationId xmlns:a16="http://schemas.microsoft.com/office/drawing/2014/main" id="{25DF1616-3BE4-38E6-4533-DE9F6EEB9860}"/>
              </a:ext>
            </a:extLst>
          </p:cNvPr>
          <p:cNvSpPr/>
          <p:nvPr/>
        </p:nvSpPr>
        <p:spPr>
          <a:xfrm>
            <a:off x="2523744" y="2246086"/>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Contact-center answers grounded in support knowledge.</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7" name="Text 26">
            <a:extLst>
              <a:ext uri="{FF2B5EF4-FFF2-40B4-BE49-F238E27FC236}">
                <a16:creationId xmlns:a16="http://schemas.microsoft.com/office/drawing/2014/main" id="{51AED9CB-5F38-641C-0C89-A18D98B6CEB4}"/>
              </a:ext>
            </a:extLst>
          </p:cNvPr>
          <p:cNvSpPr/>
          <p:nvPr/>
        </p:nvSpPr>
        <p:spPr>
          <a:xfrm>
            <a:off x="4745736" y="2246086"/>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Intent discovery across CRM, tickets, and sentiment.</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 29">
            <a:extLst>
              <a:ext uri="{FF2B5EF4-FFF2-40B4-BE49-F238E27FC236}">
                <a16:creationId xmlns:a16="http://schemas.microsoft.com/office/drawing/2014/main" id="{DEDA364F-8BEB-C63F-A3C9-A55FDB7EEE9C}"/>
              </a:ext>
            </a:extLst>
          </p:cNvPr>
          <p:cNvSpPr/>
          <p:nvPr/>
        </p:nvSpPr>
        <p:spPr>
          <a:xfrm>
            <a:off x="7230377" y="2246086"/>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Case updates, routing, drafts, and next-best action.</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0" name="Text 32">
            <a:extLst>
              <a:ext uri="{FF2B5EF4-FFF2-40B4-BE49-F238E27FC236}">
                <a16:creationId xmlns:a16="http://schemas.microsoft.com/office/drawing/2014/main" id="{E7A0DDA0-2D64-B5D0-1C74-86575FF60A11}"/>
              </a:ext>
            </a:extLst>
          </p:cNvPr>
          <p:cNvSpPr/>
          <p:nvPr/>
        </p:nvSpPr>
        <p:spPr>
          <a:xfrm>
            <a:off x="9452369" y="2246086"/>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Diagnosis-to-resolution workflow with SLA escalation.</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1" name="Text 36">
            <a:extLst>
              <a:ext uri="{FF2B5EF4-FFF2-40B4-BE49-F238E27FC236}">
                <a16:creationId xmlns:a16="http://schemas.microsoft.com/office/drawing/2014/main" id="{CB939A17-1469-C224-59CA-8C4CFB0E2493}"/>
              </a:ext>
            </a:extLst>
          </p:cNvPr>
          <p:cNvSpPr/>
          <p:nvPr/>
        </p:nvSpPr>
        <p:spPr>
          <a:xfrm>
            <a:off x="2523744" y="3013208"/>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Qualification and RFP assistant using sales playbooks.</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2" name="Text 39">
            <a:extLst>
              <a:ext uri="{FF2B5EF4-FFF2-40B4-BE49-F238E27FC236}">
                <a16:creationId xmlns:a16="http://schemas.microsoft.com/office/drawing/2014/main" id="{BBDF1304-AEA6-138D-20AC-91C0360BA20A}"/>
              </a:ext>
            </a:extLst>
          </p:cNvPr>
          <p:cNvSpPr/>
          <p:nvPr/>
        </p:nvSpPr>
        <p:spPr>
          <a:xfrm>
            <a:off x="4745736" y="3013208"/>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Lead assessment across accounts, meetings, and pipeline.</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4" name="Text 42">
            <a:extLst>
              <a:ext uri="{FF2B5EF4-FFF2-40B4-BE49-F238E27FC236}">
                <a16:creationId xmlns:a16="http://schemas.microsoft.com/office/drawing/2014/main" id="{D58D3E8F-4F17-22DE-692C-DB753F63FB10}"/>
              </a:ext>
            </a:extLst>
          </p:cNvPr>
          <p:cNvSpPr/>
          <p:nvPr/>
        </p:nvSpPr>
        <p:spPr>
          <a:xfrm>
            <a:off x="7230377" y="3013208"/>
            <a:ext cx="1901952" cy="32004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CRM follow-up, owner assignment, quote prep, upsell actions.</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5" name="Text 45">
            <a:extLst>
              <a:ext uri="{FF2B5EF4-FFF2-40B4-BE49-F238E27FC236}">
                <a16:creationId xmlns:a16="http://schemas.microsoft.com/office/drawing/2014/main" id="{3117720E-5458-2219-7466-A38D7C3793EB}"/>
              </a:ext>
            </a:extLst>
          </p:cNvPr>
          <p:cNvSpPr/>
          <p:nvPr/>
        </p:nvSpPr>
        <p:spPr>
          <a:xfrm>
            <a:off x="9452369" y="3013208"/>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Quote-to-close workflow with approvals and handoff.</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7" name="Text 49">
            <a:extLst>
              <a:ext uri="{FF2B5EF4-FFF2-40B4-BE49-F238E27FC236}">
                <a16:creationId xmlns:a16="http://schemas.microsoft.com/office/drawing/2014/main" id="{5703742B-9624-C2B3-CB74-7CAE464040D1}"/>
              </a:ext>
            </a:extLst>
          </p:cNvPr>
          <p:cNvSpPr/>
          <p:nvPr/>
        </p:nvSpPr>
        <p:spPr>
          <a:xfrm>
            <a:off x="2523744" y="3848427"/>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Finance policy, reporting, tax, treasury, and expense Q&amp;A.</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8" name="Text 52">
            <a:extLst>
              <a:ext uri="{FF2B5EF4-FFF2-40B4-BE49-F238E27FC236}">
                <a16:creationId xmlns:a16="http://schemas.microsoft.com/office/drawing/2014/main" id="{A6AB5F7A-16F6-DD03-B6FA-2629CE003D2F}"/>
              </a:ext>
            </a:extLst>
          </p:cNvPr>
          <p:cNvSpPr/>
          <p:nvPr/>
        </p:nvSpPr>
        <p:spPr>
          <a:xfrm>
            <a:off x="4745736" y="3848427"/>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ERP, invoice, budget, PO, and variance analysis.</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9" name="Text 55">
            <a:extLst>
              <a:ext uri="{FF2B5EF4-FFF2-40B4-BE49-F238E27FC236}">
                <a16:creationId xmlns:a16="http://schemas.microsoft.com/office/drawing/2014/main" id="{2A3469F4-DDCA-979A-EEC8-0A088A8E233B}"/>
              </a:ext>
            </a:extLst>
          </p:cNvPr>
          <p:cNvSpPr/>
          <p:nvPr/>
        </p:nvSpPr>
        <p:spPr>
          <a:xfrm>
            <a:off x="7230377" y="3848427"/>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Supplier follow-up, PO validation, anomaly flagging.</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0" name="Text 58">
            <a:extLst>
              <a:ext uri="{FF2B5EF4-FFF2-40B4-BE49-F238E27FC236}">
                <a16:creationId xmlns:a16="http://schemas.microsoft.com/office/drawing/2014/main" id="{18CEDDAA-8F63-1E9A-9C24-E772C0E9936D}"/>
              </a:ext>
            </a:extLst>
          </p:cNvPr>
          <p:cNvSpPr/>
          <p:nvPr/>
        </p:nvSpPr>
        <p:spPr>
          <a:xfrm>
            <a:off x="9452369" y="3848427"/>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Procure-to-pay and record-to-report controls workflow.</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1" name="Text 62">
            <a:extLst>
              <a:ext uri="{FF2B5EF4-FFF2-40B4-BE49-F238E27FC236}">
                <a16:creationId xmlns:a16="http://schemas.microsoft.com/office/drawing/2014/main" id="{3160C119-F137-50C8-F25C-712783FF5922}"/>
              </a:ext>
            </a:extLst>
          </p:cNvPr>
          <p:cNvSpPr/>
          <p:nvPr/>
        </p:nvSpPr>
        <p:spPr>
          <a:xfrm>
            <a:off x="2523744" y="4683645"/>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Brand, campaign, content, and audience insight assistant.</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2" name="Text 65">
            <a:extLst>
              <a:ext uri="{FF2B5EF4-FFF2-40B4-BE49-F238E27FC236}">
                <a16:creationId xmlns:a16="http://schemas.microsoft.com/office/drawing/2014/main" id="{8C3A0966-877C-F7CC-2E3F-234573DDA771}"/>
              </a:ext>
            </a:extLst>
          </p:cNvPr>
          <p:cNvSpPr/>
          <p:nvPr/>
        </p:nvSpPr>
        <p:spPr>
          <a:xfrm>
            <a:off x="4745736" y="4683645"/>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Demand orchestration across signals, assets, and channels.</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4" name="Text 68">
            <a:extLst>
              <a:ext uri="{FF2B5EF4-FFF2-40B4-BE49-F238E27FC236}">
                <a16:creationId xmlns:a16="http://schemas.microsoft.com/office/drawing/2014/main" id="{91D8DB9C-04C2-DCB9-CA95-A016C0EED8CC}"/>
              </a:ext>
            </a:extLst>
          </p:cNvPr>
          <p:cNvSpPr/>
          <p:nvPr/>
        </p:nvSpPr>
        <p:spPr>
          <a:xfrm>
            <a:off x="7230377" y="4683645"/>
            <a:ext cx="1901952" cy="32004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Content drafts, segmentation, personalization, campaign updates.</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5" name="Text 71">
            <a:extLst>
              <a:ext uri="{FF2B5EF4-FFF2-40B4-BE49-F238E27FC236}">
                <a16:creationId xmlns:a16="http://schemas.microsoft.com/office/drawing/2014/main" id="{C1D41840-AC1D-6C1D-DFD7-36D3EDFD1366}"/>
              </a:ext>
            </a:extLst>
          </p:cNvPr>
          <p:cNvSpPr/>
          <p:nvPr/>
        </p:nvSpPr>
        <p:spPr>
          <a:xfrm>
            <a:off x="9452369" y="4683645"/>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Brief-to-campaign workflow with measurement optimization.</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6" name="Text 75">
            <a:extLst>
              <a:ext uri="{FF2B5EF4-FFF2-40B4-BE49-F238E27FC236}">
                <a16:creationId xmlns:a16="http://schemas.microsoft.com/office/drawing/2014/main" id="{40947F19-9261-8BF7-C4FF-E76A6E2F5C25}"/>
              </a:ext>
            </a:extLst>
          </p:cNvPr>
          <p:cNvSpPr/>
          <p:nvPr/>
        </p:nvSpPr>
        <p:spPr>
          <a:xfrm>
            <a:off x="2523744" y="5509133"/>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Employee assist for HR policy, benefits, learning, payroll.</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7" name="Text 78">
            <a:extLst>
              <a:ext uri="{FF2B5EF4-FFF2-40B4-BE49-F238E27FC236}">
                <a16:creationId xmlns:a16="http://schemas.microsoft.com/office/drawing/2014/main" id="{12149D34-31C1-3233-85C2-48DF05D69F08}"/>
              </a:ext>
            </a:extLst>
          </p:cNvPr>
          <p:cNvSpPr/>
          <p:nvPr/>
        </p:nvSpPr>
        <p:spPr>
          <a:xfrm>
            <a:off x="4745736" y="5509133"/>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Talent insights across profiles, skills, hiring, engagement.</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9" name="Text 81">
            <a:extLst>
              <a:ext uri="{FF2B5EF4-FFF2-40B4-BE49-F238E27FC236}">
                <a16:creationId xmlns:a16="http://schemas.microsoft.com/office/drawing/2014/main" id="{851B1C71-D60D-5991-B314-A3102D0CF944}"/>
              </a:ext>
            </a:extLst>
          </p:cNvPr>
          <p:cNvSpPr/>
          <p:nvPr/>
        </p:nvSpPr>
        <p:spPr>
          <a:xfrm>
            <a:off x="7230377" y="5509133"/>
            <a:ext cx="1901952" cy="32004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Interview scheduling, employee updates, learning recommendations.</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0" name="Text 84">
            <a:extLst>
              <a:ext uri="{FF2B5EF4-FFF2-40B4-BE49-F238E27FC236}">
                <a16:creationId xmlns:a16="http://schemas.microsoft.com/office/drawing/2014/main" id="{8AD2C7B2-E79E-EFD3-9EF8-AF54697A5548}"/>
              </a:ext>
            </a:extLst>
          </p:cNvPr>
          <p:cNvSpPr/>
          <p:nvPr/>
        </p:nvSpPr>
        <p:spPr>
          <a:xfrm>
            <a:off x="9452369" y="5509133"/>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Employee lifecycle and time-expense compliance workflow.</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1" name="Text 88">
            <a:extLst>
              <a:ext uri="{FF2B5EF4-FFF2-40B4-BE49-F238E27FC236}">
                <a16:creationId xmlns:a16="http://schemas.microsoft.com/office/drawing/2014/main" id="{02F1BE88-1708-5C78-7527-D95D401B1123}"/>
              </a:ext>
            </a:extLst>
          </p:cNvPr>
          <p:cNvSpPr/>
          <p:nvPr/>
        </p:nvSpPr>
        <p:spPr>
          <a:xfrm>
            <a:off x="2523744" y="6256803"/>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Contract, regulatory, risk, IP, and litigation knowledge.</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2" name="Text 91">
            <a:extLst>
              <a:ext uri="{FF2B5EF4-FFF2-40B4-BE49-F238E27FC236}">
                <a16:creationId xmlns:a16="http://schemas.microsoft.com/office/drawing/2014/main" id="{9BA4C03A-BBD1-3046-6306-67151F58025F}"/>
              </a:ext>
            </a:extLst>
          </p:cNvPr>
          <p:cNvSpPr/>
          <p:nvPr/>
        </p:nvSpPr>
        <p:spPr>
          <a:xfrm>
            <a:off x="4745736" y="6256803"/>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Matter research across contracts, obligations, precedents.</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3" name="Text 94">
            <a:extLst>
              <a:ext uri="{FF2B5EF4-FFF2-40B4-BE49-F238E27FC236}">
                <a16:creationId xmlns:a16="http://schemas.microsoft.com/office/drawing/2014/main" id="{4EFADA7B-BB41-3438-A5F3-5C5FD15D83B5}"/>
              </a:ext>
            </a:extLst>
          </p:cNvPr>
          <p:cNvSpPr/>
          <p:nvPr/>
        </p:nvSpPr>
        <p:spPr>
          <a:xfrm>
            <a:off x="7230377" y="6256803"/>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Clause drafting, risk flags, review routing, matter updates.</a:t>
            </a:r>
            <a:endParaRPr kumimoji="0" lang="en-US" sz="9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5" name="Text 97">
            <a:extLst>
              <a:ext uri="{FF2B5EF4-FFF2-40B4-BE49-F238E27FC236}">
                <a16:creationId xmlns:a16="http://schemas.microsoft.com/office/drawing/2014/main" id="{CCD73D45-8A85-E266-DA3C-D178A0CA661E}"/>
              </a:ext>
            </a:extLst>
          </p:cNvPr>
          <p:cNvSpPr/>
          <p:nvPr/>
        </p:nvSpPr>
        <p:spPr>
          <a:xfrm>
            <a:off x="9452369" y="6256803"/>
            <a:ext cx="1901952" cy="3200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383838"/>
                </a:solidFill>
                <a:effectLst/>
                <a:uLnTx/>
                <a:uFillTx/>
                <a:latin typeface="Segoe UI" panose="020B0502040204020203" pitchFamily="34" charset="0"/>
                <a:ea typeface="Aptos" pitchFamily="34" charset="-122"/>
                <a:cs typeface="Segoe UI" panose="020B0502040204020203" pitchFamily="34" charset="0"/>
              </a:rPr>
              <a:t>Contract intake-to-signature and obligation workflow.</a:t>
            </a:r>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6" name="TextBox 35">
            <a:extLst>
              <a:ext uri="{FF2B5EF4-FFF2-40B4-BE49-F238E27FC236}">
                <a16:creationId xmlns:a16="http://schemas.microsoft.com/office/drawing/2014/main" id="{4AC97E21-1B06-0E69-BCF4-1B001CA82618}"/>
              </a:ext>
            </a:extLst>
          </p:cNvPr>
          <p:cNvSpPr txBox="1"/>
          <p:nvPr/>
        </p:nvSpPr>
        <p:spPr>
          <a:xfrm>
            <a:off x="2512292" y="1995272"/>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37" name="TextBox 36">
            <a:extLst>
              <a:ext uri="{FF2B5EF4-FFF2-40B4-BE49-F238E27FC236}">
                <a16:creationId xmlns:a16="http://schemas.microsoft.com/office/drawing/2014/main" id="{F7962073-BE69-1A0F-3EA2-DC8856877F4B}"/>
              </a:ext>
            </a:extLst>
          </p:cNvPr>
          <p:cNvSpPr txBox="1"/>
          <p:nvPr/>
        </p:nvSpPr>
        <p:spPr>
          <a:xfrm>
            <a:off x="4736437" y="1995272"/>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38" name="TextBox 37">
            <a:extLst>
              <a:ext uri="{FF2B5EF4-FFF2-40B4-BE49-F238E27FC236}">
                <a16:creationId xmlns:a16="http://schemas.microsoft.com/office/drawing/2014/main" id="{5BE14FC0-BB04-3B4B-F1C2-9DFA2F2EEFE1}"/>
              </a:ext>
            </a:extLst>
          </p:cNvPr>
          <p:cNvSpPr txBox="1"/>
          <p:nvPr/>
        </p:nvSpPr>
        <p:spPr>
          <a:xfrm>
            <a:off x="7153285" y="1995272"/>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39" name="TextBox 38">
            <a:extLst>
              <a:ext uri="{FF2B5EF4-FFF2-40B4-BE49-F238E27FC236}">
                <a16:creationId xmlns:a16="http://schemas.microsoft.com/office/drawing/2014/main" id="{A5A49809-C853-A23A-C22E-288BFC73EFC1}"/>
              </a:ext>
            </a:extLst>
          </p:cNvPr>
          <p:cNvSpPr txBox="1"/>
          <p:nvPr/>
        </p:nvSpPr>
        <p:spPr>
          <a:xfrm>
            <a:off x="9422267" y="1995272"/>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42" name="TextBox 41">
            <a:extLst>
              <a:ext uri="{FF2B5EF4-FFF2-40B4-BE49-F238E27FC236}">
                <a16:creationId xmlns:a16="http://schemas.microsoft.com/office/drawing/2014/main" id="{F6D6B800-04B2-B384-FC06-17DBA2DEF35F}"/>
              </a:ext>
            </a:extLst>
          </p:cNvPr>
          <p:cNvSpPr txBox="1"/>
          <p:nvPr/>
        </p:nvSpPr>
        <p:spPr>
          <a:xfrm>
            <a:off x="2510501" y="2746614"/>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43" name="TextBox 42">
            <a:extLst>
              <a:ext uri="{FF2B5EF4-FFF2-40B4-BE49-F238E27FC236}">
                <a16:creationId xmlns:a16="http://schemas.microsoft.com/office/drawing/2014/main" id="{5D7B96DA-DBB1-EACE-CBA6-2A55C4BF8A6B}"/>
              </a:ext>
            </a:extLst>
          </p:cNvPr>
          <p:cNvSpPr txBox="1"/>
          <p:nvPr/>
        </p:nvSpPr>
        <p:spPr>
          <a:xfrm>
            <a:off x="4736437" y="2746614"/>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44" name="TextBox 43">
            <a:extLst>
              <a:ext uri="{FF2B5EF4-FFF2-40B4-BE49-F238E27FC236}">
                <a16:creationId xmlns:a16="http://schemas.microsoft.com/office/drawing/2014/main" id="{24316062-F07A-906E-5C91-55DC2A47FFB8}"/>
              </a:ext>
            </a:extLst>
          </p:cNvPr>
          <p:cNvSpPr txBox="1"/>
          <p:nvPr/>
        </p:nvSpPr>
        <p:spPr>
          <a:xfrm>
            <a:off x="7153285" y="2746614"/>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45" name="TextBox 44">
            <a:extLst>
              <a:ext uri="{FF2B5EF4-FFF2-40B4-BE49-F238E27FC236}">
                <a16:creationId xmlns:a16="http://schemas.microsoft.com/office/drawing/2014/main" id="{AB2773C2-1D90-CC84-C0C8-AD0BD847516B}"/>
              </a:ext>
            </a:extLst>
          </p:cNvPr>
          <p:cNvSpPr txBox="1"/>
          <p:nvPr/>
        </p:nvSpPr>
        <p:spPr>
          <a:xfrm>
            <a:off x="9422267" y="2746614"/>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46" name="TextBox 45">
            <a:extLst>
              <a:ext uri="{FF2B5EF4-FFF2-40B4-BE49-F238E27FC236}">
                <a16:creationId xmlns:a16="http://schemas.microsoft.com/office/drawing/2014/main" id="{E90AA8AE-1CAE-E01B-2EB2-E1BE38D35016}"/>
              </a:ext>
            </a:extLst>
          </p:cNvPr>
          <p:cNvSpPr txBox="1"/>
          <p:nvPr/>
        </p:nvSpPr>
        <p:spPr>
          <a:xfrm>
            <a:off x="2538248" y="3572387"/>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47" name="TextBox 46">
            <a:extLst>
              <a:ext uri="{FF2B5EF4-FFF2-40B4-BE49-F238E27FC236}">
                <a16:creationId xmlns:a16="http://schemas.microsoft.com/office/drawing/2014/main" id="{65DB012F-4563-8CF8-0279-C0431ACF1DF5}"/>
              </a:ext>
            </a:extLst>
          </p:cNvPr>
          <p:cNvSpPr txBox="1"/>
          <p:nvPr/>
        </p:nvSpPr>
        <p:spPr>
          <a:xfrm>
            <a:off x="4736437" y="3572387"/>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48" name="TextBox 47">
            <a:extLst>
              <a:ext uri="{FF2B5EF4-FFF2-40B4-BE49-F238E27FC236}">
                <a16:creationId xmlns:a16="http://schemas.microsoft.com/office/drawing/2014/main" id="{201BA6F8-85AB-A292-454A-8EF6BCE9C95D}"/>
              </a:ext>
            </a:extLst>
          </p:cNvPr>
          <p:cNvSpPr txBox="1"/>
          <p:nvPr/>
        </p:nvSpPr>
        <p:spPr>
          <a:xfrm>
            <a:off x="7153285" y="3572387"/>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49" name="TextBox 48">
            <a:extLst>
              <a:ext uri="{FF2B5EF4-FFF2-40B4-BE49-F238E27FC236}">
                <a16:creationId xmlns:a16="http://schemas.microsoft.com/office/drawing/2014/main" id="{3DDEC7C1-941C-A487-A1C9-4CF05D514FB2}"/>
              </a:ext>
            </a:extLst>
          </p:cNvPr>
          <p:cNvSpPr txBox="1"/>
          <p:nvPr/>
        </p:nvSpPr>
        <p:spPr>
          <a:xfrm>
            <a:off x="9422267" y="3572387"/>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50" name="TextBox 49">
            <a:extLst>
              <a:ext uri="{FF2B5EF4-FFF2-40B4-BE49-F238E27FC236}">
                <a16:creationId xmlns:a16="http://schemas.microsoft.com/office/drawing/2014/main" id="{A08B8DFD-4DEC-D1E4-8B62-E92E2F8E6F47}"/>
              </a:ext>
            </a:extLst>
          </p:cNvPr>
          <p:cNvSpPr txBox="1"/>
          <p:nvPr/>
        </p:nvSpPr>
        <p:spPr>
          <a:xfrm>
            <a:off x="2538248" y="441237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51" name="TextBox 50">
            <a:extLst>
              <a:ext uri="{FF2B5EF4-FFF2-40B4-BE49-F238E27FC236}">
                <a16:creationId xmlns:a16="http://schemas.microsoft.com/office/drawing/2014/main" id="{1985BB1F-5AAE-EC87-7179-3F157CD1C862}"/>
              </a:ext>
            </a:extLst>
          </p:cNvPr>
          <p:cNvSpPr txBox="1"/>
          <p:nvPr/>
        </p:nvSpPr>
        <p:spPr>
          <a:xfrm>
            <a:off x="4736437" y="441237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52" name="TextBox 51">
            <a:extLst>
              <a:ext uri="{FF2B5EF4-FFF2-40B4-BE49-F238E27FC236}">
                <a16:creationId xmlns:a16="http://schemas.microsoft.com/office/drawing/2014/main" id="{85EA70BB-5504-6561-D4DB-E21080564B69}"/>
              </a:ext>
            </a:extLst>
          </p:cNvPr>
          <p:cNvSpPr txBox="1"/>
          <p:nvPr/>
        </p:nvSpPr>
        <p:spPr>
          <a:xfrm>
            <a:off x="7153285" y="441237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53" name="TextBox 52">
            <a:extLst>
              <a:ext uri="{FF2B5EF4-FFF2-40B4-BE49-F238E27FC236}">
                <a16:creationId xmlns:a16="http://schemas.microsoft.com/office/drawing/2014/main" id="{2C76689E-632F-2558-1BD2-7CE3068BB18E}"/>
              </a:ext>
            </a:extLst>
          </p:cNvPr>
          <p:cNvSpPr txBox="1"/>
          <p:nvPr/>
        </p:nvSpPr>
        <p:spPr>
          <a:xfrm>
            <a:off x="9422267" y="441237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54" name="TextBox 53">
            <a:extLst>
              <a:ext uri="{FF2B5EF4-FFF2-40B4-BE49-F238E27FC236}">
                <a16:creationId xmlns:a16="http://schemas.microsoft.com/office/drawing/2014/main" id="{396CCDBD-E672-2DBD-0F60-B6821D842ADE}"/>
              </a:ext>
            </a:extLst>
          </p:cNvPr>
          <p:cNvSpPr txBox="1"/>
          <p:nvPr/>
        </p:nvSpPr>
        <p:spPr>
          <a:xfrm>
            <a:off x="2575816" y="5213236"/>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55" name="TextBox 54">
            <a:extLst>
              <a:ext uri="{FF2B5EF4-FFF2-40B4-BE49-F238E27FC236}">
                <a16:creationId xmlns:a16="http://schemas.microsoft.com/office/drawing/2014/main" id="{3CA700FC-A79B-9730-C276-777F889637E5}"/>
              </a:ext>
            </a:extLst>
          </p:cNvPr>
          <p:cNvSpPr txBox="1"/>
          <p:nvPr/>
        </p:nvSpPr>
        <p:spPr>
          <a:xfrm>
            <a:off x="4736437" y="5213236"/>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56" name="TextBox 55">
            <a:extLst>
              <a:ext uri="{FF2B5EF4-FFF2-40B4-BE49-F238E27FC236}">
                <a16:creationId xmlns:a16="http://schemas.microsoft.com/office/drawing/2014/main" id="{BAA9396F-843F-82DD-A567-C62D4E3385E9}"/>
              </a:ext>
            </a:extLst>
          </p:cNvPr>
          <p:cNvSpPr txBox="1"/>
          <p:nvPr/>
        </p:nvSpPr>
        <p:spPr>
          <a:xfrm>
            <a:off x="7153285" y="5213236"/>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57" name="TextBox 56">
            <a:extLst>
              <a:ext uri="{FF2B5EF4-FFF2-40B4-BE49-F238E27FC236}">
                <a16:creationId xmlns:a16="http://schemas.microsoft.com/office/drawing/2014/main" id="{E834A330-42FD-EF7E-5AB2-DD104653C810}"/>
              </a:ext>
            </a:extLst>
          </p:cNvPr>
          <p:cNvSpPr txBox="1"/>
          <p:nvPr/>
        </p:nvSpPr>
        <p:spPr>
          <a:xfrm>
            <a:off x="9422267" y="5213236"/>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58" name="TextBox 57">
            <a:extLst>
              <a:ext uri="{FF2B5EF4-FFF2-40B4-BE49-F238E27FC236}">
                <a16:creationId xmlns:a16="http://schemas.microsoft.com/office/drawing/2014/main" id="{6B9C9B9B-29CD-98FE-5538-8ECC1DFF5B50}"/>
              </a:ext>
            </a:extLst>
          </p:cNvPr>
          <p:cNvSpPr txBox="1"/>
          <p:nvPr/>
        </p:nvSpPr>
        <p:spPr>
          <a:xfrm>
            <a:off x="2575816" y="6041560"/>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59" name="TextBox 58">
            <a:extLst>
              <a:ext uri="{FF2B5EF4-FFF2-40B4-BE49-F238E27FC236}">
                <a16:creationId xmlns:a16="http://schemas.microsoft.com/office/drawing/2014/main" id="{0324D1F6-06ED-CC0D-4552-27DAD7BABBAD}"/>
              </a:ext>
            </a:extLst>
          </p:cNvPr>
          <p:cNvSpPr txBox="1"/>
          <p:nvPr/>
        </p:nvSpPr>
        <p:spPr>
          <a:xfrm>
            <a:off x="4736437" y="6041560"/>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60" name="TextBox 59">
            <a:extLst>
              <a:ext uri="{FF2B5EF4-FFF2-40B4-BE49-F238E27FC236}">
                <a16:creationId xmlns:a16="http://schemas.microsoft.com/office/drawing/2014/main" id="{E619DF4D-E73B-03D3-6ACD-653DC9A32130}"/>
              </a:ext>
            </a:extLst>
          </p:cNvPr>
          <p:cNvSpPr txBox="1"/>
          <p:nvPr/>
        </p:nvSpPr>
        <p:spPr>
          <a:xfrm>
            <a:off x="7153285" y="6041560"/>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61" name="TextBox 60">
            <a:extLst>
              <a:ext uri="{FF2B5EF4-FFF2-40B4-BE49-F238E27FC236}">
                <a16:creationId xmlns:a16="http://schemas.microsoft.com/office/drawing/2014/main" id="{504A6238-4314-657A-EBF2-1EE8C6D961BF}"/>
              </a:ext>
            </a:extLst>
          </p:cNvPr>
          <p:cNvSpPr txBox="1"/>
          <p:nvPr/>
        </p:nvSpPr>
        <p:spPr>
          <a:xfrm>
            <a:off x="9422267" y="6041560"/>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5" name="TextBox 4">
            <a:extLst>
              <a:ext uri="{FF2B5EF4-FFF2-40B4-BE49-F238E27FC236}">
                <a16:creationId xmlns:a16="http://schemas.microsoft.com/office/drawing/2014/main" id="{6F5BB7A8-A23D-3252-E3D1-3D78C26AF79C}"/>
              </a:ext>
            </a:extLst>
          </p:cNvPr>
          <p:cNvSpPr txBox="1"/>
          <p:nvPr/>
        </p:nvSpPr>
        <p:spPr>
          <a:xfrm>
            <a:off x="9315380" y="520567"/>
            <a:ext cx="2311533" cy="302955"/>
          </a:xfrm>
          <a:prstGeom prst="roundRect">
            <a:avLst>
              <a:gd name="adj" fmla="val 50000"/>
            </a:avLst>
          </a:prstGeom>
          <a:solidFill>
            <a:schemeClr val="bg1">
              <a:lumMod val="95000"/>
            </a:schemeClr>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800" b="1" i="0" u="none" strike="noStrike" cap="none" spc="0" normalizeH="0" baseline="0">
                <a:ln>
                  <a:noFill/>
                </a:ln>
                <a:solidFill>
                  <a:srgbClr val="000000">
                    <a:lumMod val="75000"/>
                    <a:lumOff val="25000"/>
                  </a:srgbClr>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rPr>
              <a:t>Horizontal</a:t>
            </a:r>
          </a:p>
        </p:txBody>
      </p:sp>
      <p:sp>
        <p:nvSpPr>
          <p:cNvPr id="13" name="Title 101">
            <a:extLst>
              <a:ext uri="{FF2B5EF4-FFF2-40B4-BE49-F238E27FC236}">
                <a16:creationId xmlns:a16="http://schemas.microsoft.com/office/drawing/2014/main" id="{AEA51E53-05F4-C6B6-3249-1D89524DD423}"/>
              </a:ext>
            </a:extLst>
          </p:cNvPr>
          <p:cNvSpPr txBox="1">
            <a:spLocks/>
          </p:cNvSpPr>
          <p:nvPr/>
        </p:nvSpPr>
        <p:spPr>
          <a:xfrm>
            <a:off x="906034" y="454190"/>
            <a:ext cx="11017250" cy="738664"/>
          </a:xfrm>
          <a:prstGeom prst="rect">
            <a:avLst/>
          </a:prstGeom>
        </p:spPr>
        <p:txBody>
          <a:bodyPr vert="horz" wrap="square" lIns="0" tIns="0" rIns="0" bIns="0" rtlCol="0" anchor="t">
            <a:noAutofit/>
          </a:bodyPr>
          <a:lstStyle>
            <a:lvl1pPr marL="0" algn="l" defTabSz="932742" rtl="0" eaLnBrk="1" latinLnBrk="0" hangingPunct="1">
              <a:lnSpc>
                <a:spcPct val="100000"/>
              </a:lnSpc>
              <a:spcBef>
                <a:spcPts val="1800"/>
              </a:spcBef>
              <a:buSzPct val="90000"/>
              <a:buFont typeface="Wingdings" panose="05000000000000000000" pitchFamily="2" charset="2"/>
              <a:buNone/>
              <a:defRPr lang="en-US" sz="3200" b="0" kern="1200" cap="none" spc="-50" baseline="0" dirty="0">
                <a:ln w="3175">
                  <a:noFill/>
                </a:ln>
                <a:gradFill flip="none" rotWithShape="1">
                  <a:gsLst>
                    <a:gs pos="0">
                      <a:srgbClr val="3948C6"/>
                    </a:gs>
                    <a:gs pos="100000">
                      <a:srgbClr val="E35BAD"/>
                    </a:gs>
                    <a:gs pos="74000">
                      <a:srgbClr val="DF4DD7"/>
                    </a:gs>
                  </a:gsLst>
                  <a:lin ang="0" scaled="1"/>
                  <a:tileRect/>
                </a:gradFill>
                <a:effectLst/>
                <a:latin typeface="+mj-lt"/>
                <a:ea typeface="+mj-ea"/>
                <a:cs typeface="Segoe Sans Display Semibold" pitchFamily="2" charset="0"/>
              </a:defRPr>
            </a:lvl1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2400" b="0" i="0" u="none" strike="noStrike" kern="1200" cap="none" spc="-50" normalizeH="0" baseline="0" noProof="0" dirty="0">
                <a:ln w="3175">
                  <a:noFill/>
                </a:ln>
                <a:solidFill>
                  <a:srgbClr val="0078D4"/>
                </a:solidFill>
                <a:effectLst/>
                <a:uLnTx/>
                <a:uFillTx/>
                <a:latin typeface="Segoe Sans Text Semibold"/>
                <a:ea typeface="+mj-ea"/>
                <a:cs typeface="Segoe UI" pitchFamily="34" charset="0"/>
              </a:rPr>
              <a:t>Cloud Accelerate Factory</a:t>
            </a:r>
            <a:br>
              <a:rPr kumimoji="0" lang="en-US" sz="2000" b="0" i="0" u="none" strike="noStrike" kern="1200" cap="none" spc="-50" normalizeH="0" baseline="0" noProof="0" dirty="0">
                <a:ln w="3175">
                  <a:noFill/>
                </a:ln>
                <a:gradFill flip="none" rotWithShape="1">
                  <a:gsLst>
                    <a:gs pos="0">
                      <a:srgbClr val="3948C6"/>
                    </a:gs>
                    <a:gs pos="100000">
                      <a:srgbClr val="E35BAD"/>
                    </a:gs>
                    <a:gs pos="74000">
                      <a:srgbClr val="DF4DD7"/>
                    </a:gs>
                  </a:gsLst>
                  <a:lin ang="0" scaled="1"/>
                  <a:tileRect/>
                </a:gradFill>
                <a:effectLst/>
                <a:uLnTx/>
                <a:uFillTx/>
                <a:latin typeface="Segoe Sans Text Semibold"/>
                <a:ea typeface="+mj-ea"/>
                <a:cs typeface="Segoe Sans Display Semibold" pitchFamily="2" charset="0"/>
              </a:rPr>
            </a:br>
            <a:r>
              <a:rPr kumimoji="0" lang="en-US" sz="1600" b="0" i="0" u="none" strike="noStrike" kern="1200" cap="none" spc="0" normalizeH="0" baseline="0" noProof="0" dirty="0">
                <a:ln>
                  <a:noFill/>
                </a:ln>
                <a:solidFill>
                  <a:srgbClr val="000000"/>
                </a:solidFill>
                <a:effectLst/>
                <a:uLnTx/>
                <a:uFillTx/>
                <a:latin typeface="Segoe Sans Text Semibold"/>
                <a:ea typeface="+mj-ea"/>
                <a:cs typeface="Segoe Sans Display Semilight" pitchFamily="2" charset="0"/>
              </a:rPr>
              <a:t>Agent Patterns Mapped</a:t>
            </a:r>
          </a:p>
        </p:txBody>
      </p:sp>
    </p:spTree>
    <p:extLst>
      <p:ext uri="{BB962C8B-B14F-4D97-AF65-F5344CB8AC3E}">
        <p14:creationId xmlns:p14="http://schemas.microsoft.com/office/powerpoint/2010/main" val="233239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BDEE5-C857-A7A7-4365-B568AB7EEE72}"/>
            </a:ext>
          </a:extLst>
        </p:cNvPr>
        <p:cNvGrpSpPr/>
        <p:nvPr/>
      </p:nvGrpSpPr>
      <p:grpSpPr>
        <a:xfrm>
          <a:off x="0" y="0"/>
          <a:ext cx="0" cy="0"/>
          <a:chOff x="0" y="0"/>
          <a:chExt cx="0" cy="0"/>
        </a:xfrm>
      </p:grpSpPr>
      <p:sp>
        <p:nvSpPr>
          <p:cNvPr id="41" name="Rectangle: Rounded Corners 40">
            <a:extLst>
              <a:ext uri="{FF2B5EF4-FFF2-40B4-BE49-F238E27FC236}">
                <a16:creationId xmlns:a16="http://schemas.microsoft.com/office/drawing/2014/main" id="{B11FFCE3-5B34-83AB-D735-AE1C7A009645}"/>
              </a:ext>
              <a:ext uri="{C183D7F6-B498-43B3-948B-1728B52AA6E4}">
                <adec:decorative xmlns:adec="http://schemas.microsoft.com/office/drawing/2017/decorative" val="1"/>
              </a:ext>
            </a:extLst>
          </p:cNvPr>
          <p:cNvSpPr>
            <a:spLocks/>
          </p:cNvSpPr>
          <p:nvPr/>
        </p:nvSpPr>
        <p:spPr bwMode="auto">
          <a:xfrm>
            <a:off x="720651" y="1336605"/>
            <a:ext cx="1606259" cy="5082885"/>
          </a:xfrm>
          <a:prstGeom prst="roundRect">
            <a:avLst>
              <a:gd name="adj" fmla="val 14301"/>
            </a:avLst>
          </a:prstGeom>
          <a:solidFill>
            <a:schemeClr val="bg1">
              <a:lumMod val="95000"/>
            </a:schemeClr>
          </a:solid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F1F9BF6E-D14F-5C40-25B3-F5FCDA849D4F}"/>
              </a:ext>
              <a:ext uri="{C183D7F6-B498-43B3-948B-1728B52AA6E4}">
                <adec:decorative xmlns:adec="http://schemas.microsoft.com/office/drawing/2017/decorative" val="1"/>
              </a:ext>
            </a:extLst>
          </p:cNvPr>
          <p:cNvSpPr>
            <a:spLocks/>
          </p:cNvSpPr>
          <p:nvPr/>
        </p:nvSpPr>
        <p:spPr bwMode="auto">
          <a:xfrm>
            <a:off x="720651" y="1336606"/>
            <a:ext cx="11017250" cy="5082885"/>
          </a:xfrm>
          <a:prstGeom prst="roundRect">
            <a:avLst>
              <a:gd name="adj" fmla="val 4159"/>
            </a:avLst>
          </a:prstGeom>
          <a:no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6" name="Title 5">
            <a:extLst>
              <a:ext uri="{FF2B5EF4-FFF2-40B4-BE49-F238E27FC236}">
                <a16:creationId xmlns:a16="http://schemas.microsoft.com/office/drawing/2014/main" id="{3B01D2FA-3CD9-A7B3-E633-DC93E5CA854F}"/>
              </a:ext>
            </a:extLst>
          </p:cNvPr>
          <p:cNvSpPr>
            <a:spLocks noGrp="1"/>
          </p:cNvSpPr>
          <p:nvPr>
            <p:ph type="title"/>
          </p:nvPr>
        </p:nvSpPr>
        <p:spPr>
          <a:xfrm>
            <a:off x="820525" y="1570284"/>
            <a:ext cx="10806388"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bg1"/>
                </a:solidFill>
              </a:rPr>
              <a:t>Enterprise Process Automation Agents</a:t>
            </a:r>
          </a:p>
        </p:txBody>
      </p:sp>
      <p:sp>
        <p:nvSpPr>
          <p:cNvPr id="65" name="Rectangle 64">
            <a:extLst>
              <a:ext uri="{FF2B5EF4-FFF2-40B4-BE49-F238E27FC236}">
                <a16:creationId xmlns:a16="http://schemas.microsoft.com/office/drawing/2014/main" id="{FC277701-A030-51C7-888B-17A27CE61EAF}"/>
              </a:ext>
              <a:ext uri="{C183D7F6-B498-43B3-948B-1728B52AA6E4}">
                <adec:decorative xmlns:adec="http://schemas.microsoft.com/office/drawing/2017/decorative" val="1"/>
              </a:ext>
            </a:extLst>
          </p:cNvPr>
          <p:cNvSpPr>
            <a:spLocks/>
          </p:cNvSpPr>
          <p:nvPr/>
        </p:nvSpPr>
        <p:spPr bwMode="auto">
          <a:xfrm rot="5400000">
            <a:off x="-2570147" y="3824064"/>
            <a:ext cx="5976000" cy="103637"/>
          </a:xfrm>
          <a:prstGeom prst="rect">
            <a:avLst/>
          </a:prstGeom>
          <a:gradFill flip="none" rotWithShape="1">
            <a:gsLst>
              <a:gs pos="84000">
                <a:srgbClr val="2AA4C0"/>
              </a:gs>
              <a:gs pos="100000">
                <a:srgbClr val="40BCB5"/>
              </a:gs>
              <a:gs pos="0">
                <a:schemeClr val="tx2"/>
              </a:gs>
            </a:gsLst>
            <a:lin ang="0" scaled="1"/>
            <a:tileRect/>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1200"/>
              </a:spcBef>
              <a:spcAft>
                <a:spcPts val="1200"/>
              </a:spcAft>
            </a:pPr>
            <a:endParaRPr lang="en-US" sz="1600" kern="0">
              <a:solidFill>
                <a:prstClr val="white"/>
              </a:solidFill>
              <a:latin typeface="Segoe Sans Text Semibold"/>
            </a:endParaRPr>
          </a:p>
        </p:txBody>
      </p:sp>
      <p:sp>
        <p:nvSpPr>
          <p:cNvPr id="63" name="TextBox 62">
            <a:extLst>
              <a:ext uri="{FF2B5EF4-FFF2-40B4-BE49-F238E27FC236}">
                <a16:creationId xmlns:a16="http://schemas.microsoft.com/office/drawing/2014/main" id="{287B2D59-BC52-9B68-E484-A0EAA440B546}"/>
              </a:ext>
            </a:extLst>
          </p:cNvPr>
          <p:cNvSpPr txBox="1"/>
          <p:nvPr/>
        </p:nvSpPr>
        <p:spPr>
          <a:xfrm>
            <a:off x="153492" y="436170"/>
            <a:ext cx="540000" cy="540000"/>
          </a:xfrm>
          <a:prstGeom prst="ellipse">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lumMod val="75000"/>
                    <a:lumOff val="25000"/>
                  </a:srgbClr>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sp>
        <p:nvSpPr>
          <p:cNvPr id="67" name="Title 101">
            <a:extLst>
              <a:ext uri="{FF2B5EF4-FFF2-40B4-BE49-F238E27FC236}">
                <a16:creationId xmlns:a16="http://schemas.microsoft.com/office/drawing/2014/main" id="{48CDA208-65BC-974A-5147-F076BAE00466}"/>
              </a:ext>
            </a:extLst>
          </p:cNvPr>
          <p:cNvSpPr txBox="1">
            <a:spLocks/>
          </p:cNvSpPr>
          <p:nvPr/>
        </p:nvSpPr>
        <p:spPr>
          <a:xfrm>
            <a:off x="906034" y="454190"/>
            <a:ext cx="11017250" cy="738664"/>
          </a:xfrm>
          <a:prstGeom prst="rect">
            <a:avLst/>
          </a:prstGeom>
        </p:spPr>
        <p:txBody>
          <a:bodyPr vert="horz" wrap="square" lIns="0" tIns="0" rIns="0" bIns="0" rtlCol="0" anchor="t">
            <a:noAutofit/>
          </a:bodyPr>
          <a:lstStyle>
            <a:lvl1pPr marL="0" algn="l" defTabSz="932742" rtl="0" eaLnBrk="1" latinLnBrk="0" hangingPunct="1">
              <a:lnSpc>
                <a:spcPct val="100000"/>
              </a:lnSpc>
              <a:spcBef>
                <a:spcPts val="1800"/>
              </a:spcBef>
              <a:buSzPct val="90000"/>
              <a:buFont typeface="Wingdings" panose="05000000000000000000" pitchFamily="2" charset="2"/>
              <a:buNone/>
              <a:defRPr lang="en-US" sz="3200" b="0" kern="1200" cap="none" spc="-50" baseline="0" dirty="0">
                <a:ln w="3175">
                  <a:noFill/>
                </a:ln>
                <a:gradFill flip="none" rotWithShape="1">
                  <a:gsLst>
                    <a:gs pos="0">
                      <a:srgbClr val="3948C6"/>
                    </a:gs>
                    <a:gs pos="100000">
                      <a:srgbClr val="E35BAD"/>
                    </a:gs>
                    <a:gs pos="74000">
                      <a:srgbClr val="DF4DD7"/>
                    </a:gs>
                  </a:gsLst>
                  <a:lin ang="0" scaled="1"/>
                  <a:tileRect/>
                </a:gradFill>
                <a:effectLst/>
                <a:latin typeface="+mj-lt"/>
                <a:ea typeface="+mj-ea"/>
                <a:cs typeface="Segoe Sans Display Semibold" pitchFamily="2" charset="0"/>
              </a:defRPr>
            </a:lvl1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2400" b="0" i="0" u="none" strike="noStrike" kern="1200" cap="none" spc="-50" normalizeH="0" baseline="0" noProof="0" dirty="0">
                <a:ln w="3175">
                  <a:noFill/>
                </a:ln>
                <a:solidFill>
                  <a:srgbClr val="0078D4"/>
                </a:solidFill>
                <a:effectLst/>
                <a:uLnTx/>
                <a:uFillTx/>
                <a:latin typeface="Segoe Sans Text Semibold"/>
                <a:ea typeface="+mj-ea"/>
                <a:cs typeface="Segoe UI" pitchFamily="34" charset="0"/>
              </a:rPr>
              <a:t>Cloud Accelerate Factory</a:t>
            </a:r>
            <a:br>
              <a:rPr kumimoji="0" lang="en-US" sz="2000" b="0" i="0" u="none" strike="noStrike" kern="1200" cap="none" spc="-50" normalizeH="0" baseline="0" noProof="0" dirty="0">
                <a:ln w="3175">
                  <a:noFill/>
                </a:ln>
                <a:gradFill flip="none" rotWithShape="1">
                  <a:gsLst>
                    <a:gs pos="0">
                      <a:srgbClr val="3948C6"/>
                    </a:gs>
                    <a:gs pos="100000">
                      <a:srgbClr val="E35BAD"/>
                    </a:gs>
                    <a:gs pos="74000">
                      <a:srgbClr val="DF4DD7"/>
                    </a:gs>
                  </a:gsLst>
                  <a:lin ang="0" scaled="1"/>
                  <a:tileRect/>
                </a:gradFill>
                <a:effectLst/>
                <a:uLnTx/>
                <a:uFillTx/>
                <a:latin typeface="Segoe Sans Text Semibold"/>
                <a:ea typeface="+mj-ea"/>
                <a:cs typeface="Segoe Sans Display Semibold" pitchFamily="2" charset="0"/>
              </a:rPr>
            </a:br>
            <a:r>
              <a:rPr kumimoji="0" lang="en-US" sz="1600" b="0" i="0" u="none" strike="noStrike" kern="1200" cap="none" spc="0" normalizeH="0" baseline="0" noProof="0" dirty="0">
                <a:ln>
                  <a:noFill/>
                </a:ln>
                <a:solidFill>
                  <a:srgbClr val="000000"/>
                </a:solidFill>
                <a:effectLst/>
                <a:uLnTx/>
                <a:uFillTx/>
                <a:latin typeface="Segoe Sans Text Semibold"/>
                <a:ea typeface="+mj-ea"/>
                <a:cs typeface="Segoe Sans Display Semilight" pitchFamily="2" charset="0"/>
              </a:rPr>
              <a:t>Agent Patterns Mapped</a:t>
            </a:r>
          </a:p>
        </p:txBody>
      </p:sp>
      <p:graphicFrame>
        <p:nvGraphicFramePr>
          <p:cNvPr id="2" name="Table 0">
            <a:extLst>
              <a:ext uri="{FF2B5EF4-FFF2-40B4-BE49-F238E27FC236}">
                <a16:creationId xmlns:a16="http://schemas.microsoft.com/office/drawing/2014/main" id="{1E78BD0E-1B1A-4DD2-ED88-632FCE9A0F76}"/>
              </a:ext>
            </a:extLst>
          </p:cNvPr>
          <p:cNvGraphicFramePr>
            <a:graphicFrameLocks noGrp="1"/>
          </p:cNvGraphicFramePr>
          <p:nvPr/>
        </p:nvGraphicFramePr>
        <p:xfrm>
          <a:off x="876019" y="1463929"/>
          <a:ext cx="10806388" cy="4903722"/>
        </p:xfrm>
        <a:graphic>
          <a:graphicData uri="http://schemas.openxmlformats.org/drawingml/2006/table">
            <a:tbl>
              <a:tblPr/>
              <a:tblGrid>
                <a:gridCol w="1638674">
                  <a:extLst>
                    <a:ext uri="{9D8B030D-6E8A-4147-A177-3AD203B41FA5}">
                      <a16:colId xmlns:a16="http://schemas.microsoft.com/office/drawing/2014/main" val="20000"/>
                    </a:ext>
                  </a:extLst>
                </a:gridCol>
                <a:gridCol w="2294143">
                  <a:extLst>
                    <a:ext uri="{9D8B030D-6E8A-4147-A177-3AD203B41FA5}">
                      <a16:colId xmlns:a16="http://schemas.microsoft.com/office/drawing/2014/main" val="20001"/>
                    </a:ext>
                  </a:extLst>
                </a:gridCol>
                <a:gridCol w="2294143">
                  <a:extLst>
                    <a:ext uri="{9D8B030D-6E8A-4147-A177-3AD203B41FA5}">
                      <a16:colId xmlns:a16="http://schemas.microsoft.com/office/drawing/2014/main" val="20002"/>
                    </a:ext>
                  </a:extLst>
                </a:gridCol>
                <a:gridCol w="2294143">
                  <a:extLst>
                    <a:ext uri="{9D8B030D-6E8A-4147-A177-3AD203B41FA5}">
                      <a16:colId xmlns:a16="http://schemas.microsoft.com/office/drawing/2014/main" val="20003"/>
                    </a:ext>
                  </a:extLst>
                </a:gridCol>
                <a:gridCol w="2285285">
                  <a:extLst>
                    <a:ext uri="{9D8B030D-6E8A-4147-A177-3AD203B41FA5}">
                      <a16:colId xmlns:a16="http://schemas.microsoft.com/office/drawing/2014/main" val="20004"/>
                    </a:ext>
                  </a:extLst>
                </a:gridCol>
              </a:tblGrid>
              <a:tr h="556092">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mj-ea"/>
                          <a:cs typeface="Segoe UI" pitchFamily="34" charset="-120"/>
                        </a:rPr>
                        <a:t>Agentic Knowledge Assistant</a:t>
                      </a:r>
                      <a:endParaRPr lang="en-US" sz="1200">
                        <a:solidFill>
                          <a:schemeClr val="tx1">
                            <a:lumMod val="75000"/>
                            <a:lumOff val="25000"/>
                          </a:schemeClr>
                        </a:solidFill>
                        <a:latin typeface="Segoe UI" charset="0"/>
                        <a:ea typeface="+mj-ea"/>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Intelligent Agent Orchestration</a:t>
                      </a: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Business Action Agents</a:t>
                      </a: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Enterprise Process Automation</a:t>
                      </a:r>
                      <a:endParaRPr lang="en-US" sz="120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69526">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Financial Services</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4F9DFF"/>
                          </a:solidFill>
                          <a:latin typeface="Segoe UI" pitchFamily="34" charset="0"/>
                          <a:ea typeface="Segoe UI" pitchFamily="34" charset="-122"/>
                          <a:cs typeface="Segoe UI" pitchFamily="34" charset="-120"/>
                        </a:rPr>
                        <a:t>Knowledge</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Policy and product Q&amp;A grounded in internal documents.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2DD4BF"/>
                          </a:solidFill>
                          <a:latin typeface="Segoe UI" pitchFamily="34" charset="0"/>
                          <a:ea typeface="Segoe UI" pitchFamily="34" charset="-122"/>
                          <a:cs typeface="Segoe UI" pitchFamily="34" charset="-120"/>
                        </a:rPr>
                        <a:t>Orchestration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Regulatory research with citations </a:t>
                      </a:r>
                      <a:br>
                        <a:rPr lang="en-US" sz="900">
                          <a:solidFill>
                            <a:schemeClr val="tx1">
                              <a:lumMod val="85000"/>
                              <a:lumOff val="15000"/>
                            </a:schemeClr>
                          </a:solidFill>
                          <a:latin typeface="Segoe UI" pitchFamily="34" charset="0"/>
                          <a:ea typeface="Segoe UI" pitchFamily="34" charset="-122"/>
                          <a:cs typeface="Segoe UI" pitchFamily="34" charset="-120"/>
                        </a:rPr>
                      </a:br>
                      <a:r>
                        <a:rPr lang="en-US" sz="900">
                          <a:solidFill>
                            <a:schemeClr val="tx1">
                              <a:lumMod val="85000"/>
                              <a:lumOff val="15000"/>
                            </a:schemeClr>
                          </a:solidFill>
                          <a:latin typeface="Segoe UI" pitchFamily="34" charset="0"/>
                          <a:ea typeface="Segoe UI" pitchFamily="34" charset="-122"/>
                          <a:cs typeface="Segoe UI" pitchFamily="34" charset="-120"/>
                        </a:rPr>
                        <a:t>across SharePoint, web, and data stores.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C4B5FD"/>
                          </a:solidFill>
                          <a:latin typeface="Segoe UI" pitchFamily="34" charset="0"/>
                          <a:ea typeface="Segoe UI" pitchFamily="34" charset="-122"/>
                          <a:cs typeface="Segoe UI" pitchFamily="34" charset="-120"/>
                        </a:rPr>
                        <a:t>Action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Banking assistant for account lookup, recommendations, and payment initiation.</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FDBA74"/>
                          </a:solidFill>
                          <a:latin typeface="Segoe UI" pitchFamily="34" charset="0"/>
                          <a:ea typeface="Segoe UI" pitchFamily="34" charset="-122"/>
                          <a:cs typeface="Segoe UI" pitchFamily="34" charset="-120"/>
                        </a:rPr>
                        <a:t>Workflow</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Loan processing with intake, scoring, approval gates, and audit trail.</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69526">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Retail &amp; CPG</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4F9DFF"/>
                          </a:solidFill>
                          <a:latin typeface="Segoe UI" pitchFamily="34" charset="0"/>
                          <a:ea typeface="Segoe UI" pitchFamily="34" charset="-122"/>
                          <a:cs typeface="Segoe UI" pitchFamily="34" charset="-120"/>
                        </a:rPr>
                        <a:t>Knowledge</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Store associate assistant for policies, promotions, and product FAQs.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2DD4BF"/>
                          </a:solidFill>
                          <a:latin typeface="Segoe UI" pitchFamily="34" charset="0"/>
                          <a:ea typeface="Segoe UI" pitchFamily="34" charset="-122"/>
                          <a:cs typeface="Segoe UI" pitchFamily="34" charset="-120"/>
                        </a:rPr>
                        <a:t>Orchestration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Merchandising assistant that compares market, sales, and supplier knowledge.</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C4B5FD"/>
                          </a:solidFill>
                          <a:latin typeface="Segoe UI" pitchFamily="34" charset="0"/>
                          <a:ea typeface="Segoe UI" pitchFamily="34" charset="-122"/>
                          <a:cs typeface="Segoe UI" pitchFamily="34" charset="-120"/>
                        </a:rPr>
                        <a:t>Action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Inventory and order agent that checks stock and triggers replenishment.</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FDBA74"/>
                          </a:solidFill>
                          <a:latin typeface="Segoe UI" pitchFamily="34" charset="0"/>
                          <a:ea typeface="Segoe UI" pitchFamily="34" charset="-122"/>
                          <a:cs typeface="Segoe UI" pitchFamily="34" charset="-120"/>
                        </a:rPr>
                        <a:t>Workflow</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Returns and claims workflow with validation, escalation, and resolution tracking.</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69526">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Manufacturing</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4F9DFF"/>
                          </a:solidFill>
                          <a:latin typeface="Segoe UI" pitchFamily="34" charset="0"/>
                          <a:ea typeface="Segoe UI" pitchFamily="34" charset="-122"/>
                          <a:cs typeface="Segoe UI" pitchFamily="34" charset="-120"/>
                        </a:rPr>
                        <a:t>Knowledge</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Maintenance manual Q&amp;A and safety procedure lookup.</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2DD4BF"/>
                          </a:solidFill>
                          <a:latin typeface="Segoe UI" pitchFamily="34" charset="0"/>
                          <a:ea typeface="Segoe UI" pitchFamily="34" charset="-122"/>
                          <a:cs typeface="Segoe UI" pitchFamily="34" charset="-120"/>
                        </a:rPr>
                        <a:t>Orchestration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Quality assistant correlating procedures, telemetry summaries, and reports.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C4B5FD"/>
                          </a:solidFill>
                          <a:latin typeface="Segoe UI" pitchFamily="34" charset="0"/>
                          <a:ea typeface="Segoe UI" pitchFamily="34" charset="-122"/>
                          <a:cs typeface="Segoe UI" pitchFamily="34" charset="-120"/>
                        </a:rPr>
                        <a:t>Action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Parts and work-order agent connected to ERP and plant systems.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FDBA74"/>
                          </a:solidFill>
                          <a:latin typeface="Segoe UI" pitchFamily="34" charset="0"/>
                          <a:ea typeface="Segoe UI" pitchFamily="34" charset="-122"/>
                          <a:cs typeface="Segoe UI" pitchFamily="34" charset="-120"/>
                        </a:rPr>
                        <a:t>Workflow</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Incident response workflow with approvals, remediation, and compliance reporting.</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69526">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Healthcare</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4F9DFF"/>
                          </a:solidFill>
                          <a:latin typeface="Segoe UI" pitchFamily="34" charset="0"/>
                          <a:ea typeface="Segoe UI" pitchFamily="34" charset="-122"/>
                          <a:cs typeface="Segoe UI" pitchFamily="34" charset="-120"/>
                        </a:rPr>
                        <a:t>Knowledge</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Staff policy, benefits, and clinical operations knowledge assistant.</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2DD4BF"/>
                          </a:solidFill>
                          <a:latin typeface="Segoe UI" pitchFamily="34" charset="0"/>
                          <a:ea typeface="Segoe UI" pitchFamily="34" charset="-122"/>
                          <a:cs typeface="Segoe UI" pitchFamily="34" charset="-120"/>
                        </a:rPr>
                        <a:t>Orchestration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Evidence-backed compliance and </a:t>
                      </a:r>
                      <a:br>
                        <a:rPr lang="en-US" sz="900">
                          <a:solidFill>
                            <a:schemeClr val="tx1">
                              <a:lumMod val="85000"/>
                              <a:lumOff val="15000"/>
                            </a:schemeClr>
                          </a:solidFill>
                          <a:latin typeface="Segoe UI" pitchFamily="34" charset="0"/>
                          <a:ea typeface="Segoe UI" pitchFamily="34" charset="-122"/>
                          <a:cs typeface="Segoe UI" pitchFamily="34" charset="-120"/>
                        </a:rPr>
                      </a:br>
                      <a:r>
                        <a:rPr lang="en-US" sz="900">
                          <a:solidFill>
                            <a:schemeClr val="tx1">
                              <a:lumMod val="85000"/>
                              <a:lumOff val="15000"/>
                            </a:schemeClr>
                          </a:solidFill>
                          <a:latin typeface="Segoe UI" pitchFamily="34" charset="0"/>
                          <a:ea typeface="Segoe UI" pitchFamily="34" charset="-122"/>
                          <a:cs typeface="Segoe UI" pitchFamily="34" charset="-120"/>
                        </a:rPr>
                        <a:t>protocol assistant with provenance.</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C4B5FD"/>
                          </a:solidFill>
                          <a:latin typeface="Segoe UI" pitchFamily="34" charset="0"/>
                          <a:ea typeface="Segoe UI" pitchFamily="34" charset="-122"/>
                          <a:cs typeface="Segoe UI" pitchFamily="34" charset="-120"/>
                        </a:rPr>
                        <a:t>Action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Care coordination assistant connected to scheduling and case systems.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FDBA74"/>
                          </a:solidFill>
                          <a:latin typeface="Segoe UI" pitchFamily="34" charset="0"/>
                          <a:ea typeface="Segoe UI" pitchFamily="34" charset="-122"/>
                          <a:cs typeface="Segoe UI" pitchFamily="34" charset="-120"/>
                        </a:rPr>
                        <a:t>Workflow</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Patient onboarding or prior authorization workflow with human review.</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69526">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1050" b="1">
                          <a:solidFill>
                            <a:schemeClr val="tx1">
                              <a:lumMod val="75000"/>
                              <a:lumOff val="25000"/>
                            </a:schemeClr>
                          </a:solidFill>
                          <a:latin typeface="Segoe UI" pitchFamily="34" charset="0"/>
                          <a:ea typeface="Segoe UI" pitchFamily="34" charset="-122"/>
                          <a:cs typeface="Segoe UI" pitchFamily="34" charset="-120"/>
                        </a:rPr>
                        <a:t>Public Sector</a:t>
                      </a:r>
                      <a:endParaRPr lang="en-US" sz="1050">
                        <a:solidFill>
                          <a:schemeClr val="tx1">
                            <a:lumMod val="75000"/>
                            <a:lumOff val="25000"/>
                          </a:schemeClr>
                        </a:solidFill>
                        <a:latin typeface="Segoe UI" charset="0"/>
                        <a:ea typeface="Segoe UI" charset="0"/>
                        <a:cs typeface="Segoe UI" charset="0"/>
                      </a:endParaRPr>
                    </a:p>
                  </a:txBody>
                  <a:tcPr marL="76200" marR="76200" marT="50800" marB="508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4F9DFF"/>
                          </a:solidFill>
                          <a:latin typeface="Segoe UI" pitchFamily="34" charset="0"/>
                          <a:ea typeface="Segoe UI" pitchFamily="34" charset="-122"/>
                          <a:cs typeface="Segoe UI" pitchFamily="34" charset="-120"/>
                        </a:rPr>
                        <a:t>Knowledge</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Citizen service knowledge assistant for forms, policies, and guidance.</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2DD4BF"/>
                          </a:solidFill>
                          <a:latin typeface="Segoe UI" pitchFamily="34" charset="0"/>
                          <a:ea typeface="Segoe UI" pitchFamily="34" charset="-122"/>
                          <a:cs typeface="Segoe UI" pitchFamily="34" charset="-120"/>
                        </a:rPr>
                        <a:t>Orchestration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Case worker assistant with multi-source retrieval and cited responses.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a:solidFill>
                            <a:srgbClr val="C4B5FD"/>
                          </a:solidFill>
                          <a:latin typeface="Segoe UI" pitchFamily="34" charset="0"/>
                          <a:ea typeface="Segoe UI" pitchFamily="34" charset="-122"/>
                          <a:cs typeface="Segoe UI" pitchFamily="34" charset="-120"/>
                        </a:rPr>
                        <a:t>Action</a:t>
                      </a:r>
                    </a:p>
                    <a:p>
                      <a:pPr marL="0" indent="0">
                        <a:buNone/>
                      </a:pPr>
                      <a:endParaRPr lang="en-US" sz="1200">
                        <a:latin typeface="Segoe UI" charset="0"/>
                        <a:ea typeface="Segoe UI" charset="0"/>
                        <a:cs typeface="Segoe UI" charset="0"/>
                      </a:endParaRPr>
                    </a:p>
                    <a:p>
                      <a:pPr marL="0" indent="0">
                        <a:buNone/>
                      </a:pPr>
                      <a:r>
                        <a:rPr lang="en-US" sz="900">
                          <a:solidFill>
                            <a:schemeClr val="tx1">
                              <a:lumMod val="85000"/>
                              <a:lumOff val="15000"/>
                            </a:schemeClr>
                          </a:solidFill>
                          <a:latin typeface="Segoe UI" pitchFamily="34" charset="0"/>
                          <a:ea typeface="Segoe UI" pitchFamily="34" charset="-122"/>
                          <a:cs typeface="Segoe UI" pitchFamily="34" charset="-120"/>
                        </a:rPr>
                        <a:t>Permit or benefits agent integrated with case management systems.</a:t>
                      </a:r>
                      <a:endParaRPr lang="en-US" sz="120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buNone/>
                      </a:pPr>
                      <a:r>
                        <a:rPr lang="en-US" sz="750" b="1" dirty="0">
                          <a:solidFill>
                            <a:srgbClr val="FDBA74"/>
                          </a:solidFill>
                          <a:latin typeface="Segoe UI" pitchFamily="34" charset="0"/>
                          <a:ea typeface="Segoe UI" pitchFamily="34" charset="-122"/>
                          <a:cs typeface="Segoe UI" pitchFamily="34" charset="-120"/>
                        </a:rPr>
                        <a:t>Workflow</a:t>
                      </a:r>
                    </a:p>
                    <a:p>
                      <a:pPr marL="0" indent="0">
                        <a:buNone/>
                      </a:pPr>
                      <a:endParaRPr lang="en-US" sz="1200" dirty="0">
                        <a:latin typeface="Segoe UI" charset="0"/>
                        <a:ea typeface="Segoe UI" charset="0"/>
                        <a:cs typeface="Segoe UI" charset="0"/>
                      </a:endParaRPr>
                    </a:p>
                    <a:p>
                      <a:pPr marL="0" indent="0">
                        <a:buNone/>
                      </a:pPr>
                      <a:r>
                        <a:rPr lang="en-US" sz="900" dirty="0">
                          <a:solidFill>
                            <a:schemeClr val="tx1">
                              <a:lumMod val="85000"/>
                              <a:lumOff val="15000"/>
                            </a:schemeClr>
                          </a:solidFill>
                          <a:latin typeface="Segoe UI" pitchFamily="34" charset="0"/>
                          <a:ea typeface="Segoe UI" pitchFamily="34" charset="-122"/>
                          <a:cs typeface="Segoe UI" pitchFamily="34" charset="-120"/>
                        </a:rPr>
                        <a:t>End-to-end eligibility workflow with checks, approvals, and escalation.</a:t>
                      </a:r>
                      <a:endParaRPr lang="en-US" sz="1200" dirty="0">
                        <a:solidFill>
                          <a:schemeClr val="tx1">
                            <a:lumMod val="85000"/>
                            <a:lumOff val="15000"/>
                          </a:schemeClr>
                        </a:solidFill>
                        <a:latin typeface="Segoe UI" charset="0"/>
                        <a:ea typeface="Segoe UI" charset="0"/>
                        <a:cs typeface="Segoe UI" charset="0"/>
                      </a:endParaRPr>
                    </a:p>
                  </a:txBody>
                  <a:tcPr marL="76200" marR="76200" marT="50800" marB="508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48C88F94-7458-9727-A212-D2C262FDA0FA}"/>
              </a:ext>
            </a:extLst>
          </p:cNvPr>
          <p:cNvSpPr txBox="1"/>
          <p:nvPr/>
        </p:nvSpPr>
        <p:spPr>
          <a:xfrm>
            <a:off x="2512292" y="2090468"/>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10" name="TextBox 9">
            <a:extLst>
              <a:ext uri="{FF2B5EF4-FFF2-40B4-BE49-F238E27FC236}">
                <a16:creationId xmlns:a16="http://schemas.microsoft.com/office/drawing/2014/main" id="{142B8A06-09E1-C8D9-6B52-9E6DB22330D0}"/>
              </a:ext>
            </a:extLst>
          </p:cNvPr>
          <p:cNvSpPr txBox="1"/>
          <p:nvPr/>
        </p:nvSpPr>
        <p:spPr>
          <a:xfrm>
            <a:off x="2525942" y="288883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11" name="TextBox 10">
            <a:extLst>
              <a:ext uri="{FF2B5EF4-FFF2-40B4-BE49-F238E27FC236}">
                <a16:creationId xmlns:a16="http://schemas.microsoft.com/office/drawing/2014/main" id="{63C175C6-D3AA-F2F3-6272-D939225ACE4B}"/>
              </a:ext>
            </a:extLst>
          </p:cNvPr>
          <p:cNvSpPr txBox="1"/>
          <p:nvPr/>
        </p:nvSpPr>
        <p:spPr>
          <a:xfrm>
            <a:off x="2512292" y="383015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12" name="TextBox 11">
            <a:extLst>
              <a:ext uri="{FF2B5EF4-FFF2-40B4-BE49-F238E27FC236}">
                <a16:creationId xmlns:a16="http://schemas.microsoft.com/office/drawing/2014/main" id="{95DBA8EA-09C7-E92D-A035-83EB9F2FE59B}"/>
              </a:ext>
            </a:extLst>
          </p:cNvPr>
          <p:cNvSpPr txBox="1"/>
          <p:nvPr/>
        </p:nvSpPr>
        <p:spPr>
          <a:xfrm>
            <a:off x="2512292" y="4669125"/>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13" name="TextBox 12">
            <a:extLst>
              <a:ext uri="{FF2B5EF4-FFF2-40B4-BE49-F238E27FC236}">
                <a16:creationId xmlns:a16="http://schemas.microsoft.com/office/drawing/2014/main" id="{08FA4BE0-67D6-66B0-C8C7-A11827A938A1}"/>
              </a:ext>
            </a:extLst>
          </p:cNvPr>
          <p:cNvSpPr txBox="1"/>
          <p:nvPr/>
        </p:nvSpPr>
        <p:spPr>
          <a:xfrm>
            <a:off x="2512292" y="554833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F9DF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Knowledge</a:t>
            </a:r>
          </a:p>
        </p:txBody>
      </p:sp>
      <p:sp>
        <p:nvSpPr>
          <p:cNvPr id="14" name="TextBox 13">
            <a:extLst>
              <a:ext uri="{FF2B5EF4-FFF2-40B4-BE49-F238E27FC236}">
                <a16:creationId xmlns:a16="http://schemas.microsoft.com/office/drawing/2014/main" id="{A337F975-C8C6-91B4-AC28-2ABD166DB3CC}"/>
              </a:ext>
            </a:extLst>
          </p:cNvPr>
          <p:cNvSpPr txBox="1"/>
          <p:nvPr/>
        </p:nvSpPr>
        <p:spPr>
          <a:xfrm>
            <a:off x="4855190" y="2090468"/>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15" name="TextBox 14">
            <a:extLst>
              <a:ext uri="{FF2B5EF4-FFF2-40B4-BE49-F238E27FC236}">
                <a16:creationId xmlns:a16="http://schemas.microsoft.com/office/drawing/2014/main" id="{7C1B9B73-93C3-29EF-C716-179F1DE8F0D8}"/>
              </a:ext>
            </a:extLst>
          </p:cNvPr>
          <p:cNvSpPr txBox="1"/>
          <p:nvPr/>
        </p:nvSpPr>
        <p:spPr>
          <a:xfrm>
            <a:off x="4855190" y="2967111"/>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20" name="TextBox 19">
            <a:extLst>
              <a:ext uri="{FF2B5EF4-FFF2-40B4-BE49-F238E27FC236}">
                <a16:creationId xmlns:a16="http://schemas.microsoft.com/office/drawing/2014/main" id="{2D0CEF78-7A22-B958-9948-4A2D23D1EBA9}"/>
              </a:ext>
            </a:extLst>
          </p:cNvPr>
          <p:cNvSpPr txBox="1"/>
          <p:nvPr/>
        </p:nvSpPr>
        <p:spPr>
          <a:xfrm>
            <a:off x="4855190" y="383015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22" name="TextBox 21">
            <a:extLst>
              <a:ext uri="{FF2B5EF4-FFF2-40B4-BE49-F238E27FC236}">
                <a16:creationId xmlns:a16="http://schemas.microsoft.com/office/drawing/2014/main" id="{A7DF3724-14CD-0788-920E-FC7422FE0DC8}"/>
              </a:ext>
            </a:extLst>
          </p:cNvPr>
          <p:cNvSpPr txBox="1"/>
          <p:nvPr/>
        </p:nvSpPr>
        <p:spPr>
          <a:xfrm>
            <a:off x="4855190" y="4669125"/>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23" name="TextBox 22">
            <a:extLst>
              <a:ext uri="{FF2B5EF4-FFF2-40B4-BE49-F238E27FC236}">
                <a16:creationId xmlns:a16="http://schemas.microsoft.com/office/drawing/2014/main" id="{676017D8-4D20-AD1D-9E7D-F17D588BFAFA}"/>
              </a:ext>
            </a:extLst>
          </p:cNvPr>
          <p:cNvSpPr txBox="1"/>
          <p:nvPr/>
        </p:nvSpPr>
        <p:spPr>
          <a:xfrm>
            <a:off x="4855190" y="554833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2DD4BF"/>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Orchestration</a:t>
            </a:r>
          </a:p>
        </p:txBody>
      </p:sp>
      <p:sp>
        <p:nvSpPr>
          <p:cNvPr id="24" name="TextBox 23">
            <a:extLst>
              <a:ext uri="{FF2B5EF4-FFF2-40B4-BE49-F238E27FC236}">
                <a16:creationId xmlns:a16="http://schemas.microsoft.com/office/drawing/2014/main" id="{C597956D-72A7-77CC-5231-3C3308E01FD9}"/>
              </a:ext>
            </a:extLst>
          </p:cNvPr>
          <p:cNvSpPr txBox="1"/>
          <p:nvPr/>
        </p:nvSpPr>
        <p:spPr>
          <a:xfrm>
            <a:off x="7133707" y="2090468"/>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25" name="TextBox 24">
            <a:extLst>
              <a:ext uri="{FF2B5EF4-FFF2-40B4-BE49-F238E27FC236}">
                <a16:creationId xmlns:a16="http://schemas.microsoft.com/office/drawing/2014/main" id="{0767E6B2-099E-C433-D503-D477F874E4B9}"/>
              </a:ext>
            </a:extLst>
          </p:cNvPr>
          <p:cNvSpPr txBox="1"/>
          <p:nvPr/>
        </p:nvSpPr>
        <p:spPr>
          <a:xfrm>
            <a:off x="7133707" y="2967111"/>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26" name="TextBox 25">
            <a:extLst>
              <a:ext uri="{FF2B5EF4-FFF2-40B4-BE49-F238E27FC236}">
                <a16:creationId xmlns:a16="http://schemas.microsoft.com/office/drawing/2014/main" id="{877A3043-6CF6-09D8-5174-665B4436A849}"/>
              </a:ext>
            </a:extLst>
          </p:cNvPr>
          <p:cNvSpPr txBox="1"/>
          <p:nvPr/>
        </p:nvSpPr>
        <p:spPr>
          <a:xfrm>
            <a:off x="7133707" y="383015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27" name="TextBox 26">
            <a:extLst>
              <a:ext uri="{FF2B5EF4-FFF2-40B4-BE49-F238E27FC236}">
                <a16:creationId xmlns:a16="http://schemas.microsoft.com/office/drawing/2014/main" id="{B590EF27-8BC2-1892-CDA8-5C1974DDCAAB}"/>
              </a:ext>
            </a:extLst>
          </p:cNvPr>
          <p:cNvSpPr txBox="1"/>
          <p:nvPr/>
        </p:nvSpPr>
        <p:spPr>
          <a:xfrm>
            <a:off x="7133707" y="4669125"/>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28" name="TextBox 27">
            <a:extLst>
              <a:ext uri="{FF2B5EF4-FFF2-40B4-BE49-F238E27FC236}">
                <a16:creationId xmlns:a16="http://schemas.microsoft.com/office/drawing/2014/main" id="{D812ACB5-D8FD-3B46-3D3D-9A82E5310A95}"/>
              </a:ext>
            </a:extLst>
          </p:cNvPr>
          <p:cNvSpPr txBox="1"/>
          <p:nvPr/>
        </p:nvSpPr>
        <p:spPr>
          <a:xfrm>
            <a:off x="7133707" y="554833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C4B5FD"/>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Action</a:t>
            </a:r>
          </a:p>
        </p:txBody>
      </p:sp>
      <p:sp>
        <p:nvSpPr>
          <p:cNvPr id="29" name="TextBox 28">
            <a:extLst>
              <a:ext uri="{FF2B5EF4-FFF2-40B4-BE49-F238E27FC236}">
                <a16:creationId xmlns:a16="http://schemas.microsoft.com/office/drawing/2014/main" id="{C5DE68B1-3FB7-FC0B-0C88-F5A434FA2255}"/>
              </a:ext>
            </a:extLst>
          </p:cNvPr>
          <p:cNvSpPr txBox="1"/>
          <p:nvPr/>
        </p:nvSpPr>
        <p:spPr>
          <a:xfrm>
            <a:off x="9408057" y="2090468"/>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30" name="TextBox 29">
            <a:extLst>
              <a:ext uri="{FF2B5EF4-FFF2-40B4-BE49-F238E27FC236}">
                <a16:creationId xmlns:a16="http://schemas.microsoft.com/office/drawing/2014/main" id="{ABB5BCAE-AD4A-AE31-1E43-05F4A89F6AAF}"/>
              </a:ext>
            </a:extLst>
          </p:cNvPr>
          <p:cNvSpPr txBox="1"/>
          <p:nvPr/>
        </p:nvSpPr>
        <p:spPr>
          <a:xfrm>
            <a:off x="9408057" y="2967111"/>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31" name="TextBox 30">
            <a:extLst>
              <a:ext uri="{FF2B5EF4-FFF2-40B4-BE49-F238E27FC236}">
                <a16:creationId xmlns:a16="http://schemas.microsoft.com/office/drawing/2014/main" id="{6D16CCAB-6EFB-CEE8-8AE2-625AC92CF2B9}"/>
              </a:ext>
            </a:extLst>
          </p:cNvPr>
          <p:cNvSpPr txBox="1"/>
          <p:nvPr/>
        </p:nvSpPr>
        <p:spPr>
          <a:xfrm>
            <a:off x="9408057" y="383015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32" name="TextBox 31">
            <a:extLst>
              <a:ext uri="{FF2B5EF4-FFF2-40B4-BE49-F238E27FC236}">
                <a16:creationId xmlns:a16="http://schemas.microsoft.com/office/drawing/2014/main" id="{EE0A8B49-D752-D9CA-1648-DA1924F711FA}"/>
              </a:ext>
            </a:extLst>
          </p:cNvPr>
          <p:cNvSpPr txBox="1"/>
          <p:nvPr/>
        </p:nvSpPr>
        <p:spPr>
          <a:xfrm>
            <a:off x="9408057" y="4669125"/>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sp>
        <p:nvSpPr>
          <p:cNvPr id="34" name="TextBox 33">
            <a:extLst>
              <a:ext uri="{FF2B5EF4-FFF2-40B4-BE49-F238E27FC236}">
                <a16:creationId xmlns:a16="http://schemas.microsoft.com/office/drawing/2014/main" id="{E3A0B2BB-3716-E23E-F54B-8320E43B1F04}"/>
              </a:ext>
            </a:extLst>
          </p:cNvPr>
          <p:cNvSpPr txBox="1"/>
          <p:nvPr/>
        </p:nvSpPr>
        <p:spPr>
          <a:xfrm>
            <a:off x="9408057" y="5548333"/>
            <a:ext cx="1032958" cy="164693"/>
          </a:xfrm>
          <a:prstGeom prst="roundRect">
            <a:avLst>
              <a:gd name="adj" fmla="val 50000"/>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FDBA74"/>
                </a:solidFill>
                <a:effectLst/>
                <a:uLnTx/>
                <a:uFillTx/>
                <a:latin typeface="Segoe UI" panose="020B0502040204020203" pitchFamily="34" charset="0"/>
                <a:ea typeface="Segoe UI" pitchFamily="34" charset="-122"/>
                <a:cs typeface="Segoe UI" pitchFamily="34" charset="-12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Workflow</a:t>
            </a:r>
          </a:p>
        </p:txBody>
      </p:sp>
      <p:cxnSp>
        <p:nvCxnSpPr>
          <p:cNvPr id="8" name="Straight Connector 7">
            <a:extLst>
              <a:ext uri="{FF2B5EF4-FFF2-40B4-BE49-F238E27FC236}">
                <a16:creationId xmlns:a16="http://schemas.microsoft.com/office/drawing/2014/main" id="{2D67B6F2-0684-1F20-EDC0-C6C6E203ED84}"/>
              </a:ext>
            </a:extLst>
          </p:cNvPr>
          <p:cNvCxnSpPr>
            <a:cxnSpLocks/>
          </p:cNvCxnSpPr>
          <p:nvPr/>
        </p:nvCxnSpPr>
        <p:spPr>
          <a:xfrm>
            <a:off x="6941593" y="2067447"/>
            <a:ext cx="0" cy="4352043"/>
          </a:xfrm>
          <a:prstGeom prst="line">
            <a:avLst/>
          </a:prstGeom>
          <a:ln w="6350">
            <a:solidFill>
              <a:schemeClr val="bg1">
                <a:lumMod val="85000"/>
              </a:schemeClr>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B6B1B58-B906-90BD-D41D-9E205F123002}"/>
              </a:ext>
            </a:extLst>
          </p:cNvPr>
          <p:cNvSpPr txBox="1"/>
          <p:nvPr/>
        </p:nvSpPr>
        <p:spPr>
          <a:xfrm>
            <a:off x="9315380" y="520567"/>
            <a:ext cx="2311533" cy="302955"/>
          </a:xfrm>
          <a:prstGeom prst="roundRect">
            <a:avLst>
              <a:gd name="adj" fmla="val 50000"/>
            </a:avLst>
          </a:prstGeom>
          <a:solidFill>
            <a:schemeClr val="bg1">
              <a:lumMod val="95000"/>
            </a:schemeClr>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800" b="1" i="0" u="none" strike="noStrike" cap="none" spc="0" normalizeH="0" baseline="0">
                <a:ln>
                  <a:noFill/>
                </a:ln>
                <a:solidFill>
                  <a:srgbClr val="000000">
                    <a:lumMod val="75000"/>
                    <a:lumOff val="25000"/>
                  </a:srgbClr>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rPr>
              <a:t>Industry</a:t>
            </a:r>
          </a:p>
        </p:txBody>
      </p:sp>
    </p:spTree>
    <p:extLst>
      <p:ext uri="{BB962C8B-B14F-4D97-AF65-F5344CB8AC3E}">
        <p14:creationId xmlns:p14="http://schemas.microsoft.com/office/powerpoint/2010/main" val="3316087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EEF6E-2674-DFCE-BAB8-453E7817E8E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2E485FA-31B2-84CD-4B2F-134C0699CAF7}"/>
              </a:ext>
              <a:ext uri="{C183D7F6-B498-43B3-948B-1728B52AA6E4}">
                <adec:decorative xmlns:adec="http://schemas.microsoft.com/office/drawing/2017/decorative" val="1"/>
              </a:ext>
            </a:extLst>
          </p:cNvPr>
          <p:cNvSpPr>
            <a:spLocks/>
          </p:cNvSpPr>
          <p:nvPr/>
        </p:nvSpPr>
        <p:spPr bwMode="auto">
          <a:xfrm>
            <a:off x="712713" y="1123951"/>
            <a:ext cx="11025188" cy="5082885"/>
          </a:xfrm>
          <a:prstGeom prst="roundRect">
            <a:avLst>
              <a:gd name="adj" fmla="val 4159"/>
            </a:avLst>
          </a:prstGeom>
          <a:no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4DB031BD-16FE-E966-4D70-FE00C2F2FDAE}"/>
              </a:ext>
              <a:ext uri="{C183D7F6-B498-43B3-948B-1728B52AA6E4}">
                <adec:decorative xmlns:adec="http://schemas.microsoft.com/office/drawing/2017/decorative" val="1"/>
              </a:ext>
            </a:extLst>
          </p:cNvPr>
          <p:cNvSpPr>
            <a:spLocks/>
          </p:cNvSpPr>
          <p:nvPr/>
        </p:nvSpPr>
        <p:spPr bwMode="auto">
          <a:xfrm flipV="1">
            <a:off x="822112" y="1676398"/>
            <a:ext cx="2493739" cy="4407049"/>
          </a:xfrm>
          <a:prstGeom prst="roundRect">
            <a:avLst>
              <a:gd name="adj" fmla="val 7326"/>
            </a:avLst>
          </a:prstGeom>
          <a:solidFill>
            <a:schemeClr val="bg1">
              <a:lumMod val="95000"/>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Sans Display"/>
              <a:ea typeface="+mn-ea"/>
              <a:cs typeface="+mn-cs"/>
            </a:endParaRPr>
          </a:p>
        </p:txBody>
      </p:sp>
      <p:sp>
        <p:nvSpPr>
          <p:cNvPr id="7" name="Rectangle: Top Corners Rounded 6">
            <a:extLst>
              <a:ext uri="{FF2B5EF4-FFF2-40B4-BE49-F238E27FC236}">
                <a16:creationId xmlns:a16="http://schemas.microsoft.com/office/drawing/2014/main" id="{13EBF27D-CE3C-FCF4-C931-D267111FDE7C}"/>
              </a:ext>
              <a:ext uri="{C183D7F6-B498-43B3-948B-1728B52AA6E4}">
                <adec:decorative xmlns:adec="http://schemas.microsoft.com/office/drawing/2017/decorative" val="1"/>
              </a:ext>
            </a:extLst>
          </p:cNvPr>
          <p:cNvSpPr>
            <a:spLocks/>
          </p:cNvSpPr>
          <p:nvPr/>
        </p:nvSpPr>
        <p:spPr bwMode="auto">
          <a:xfrm>
            <a:off x="820524" y="1245115"/>
            <a:ext cx="10806389" cy="594360"/>
          </a:xfrm>
          <a:prstGeom prst="round2SameRect">
            <a:avLst>
              <a:gd name="adj1" fmla="val 22270"/>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16" name="Title 5">
            <a:extLst>
              <a:ext uri="{FF2B5EF4-FFF2-40B4-BE49-F238E27FC236}">
                <a16:creationId xmlns:a16="http://schemas.microsoft.com/office/drawing/2014/main" id="{4A4371C4-76CA-BE5A-465F-54D2D6E5DBDD}"/>
              </a:ext>
            </a:extLst>
          </p:cNvPr>
          <p:cNvSpPr>
            <a:spLocks noGrp="1"/>
          </p:cNvSpPr>
          <p:nvPr>
            <p:ph type="title"/>
          </p:nvPr>
        </p:nvSpPr>
        <p:spPr>
          <a:xfrm>
            <a:off x="820525" y="1357629"/>
            <a:ext cx="10806388"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noProof="0" dirty="0">
                <a:solidFill>
                  <a:schemeClr val="bg1"/>
                </a:solidFill>
              </a:rPr>
              <a:t>Agentic Knowledge Assistant</a:t>
            </a:r>
          </a:p>
        </p:txBody>
      </p:sp>
      <p:sp>
        <p:nvSpPr>
          <p:cNvPr id="17" name="TextBox 16">
            <a:extLst>
              <a:ext uri="{FF2B5EF4-FFF2-40B4-BE49-F238E27FC236}">
                <a16:creationId xmlns:a16="http://schemas.microsoft.com/office/drawing/2014/main" id="{DAE671E5-7F2B-794C-9999-6D356D00179E}"/>
              </a:ext>
            </a:extLst>
          </p:cNvPr>
          <p:cNvSpPr txBox="1"/>
          <p:nvPr/>
        </p:nvSpPr>
        <p:spPr>
          <a:xfrm>
            <a:off x="1038882" y="5141658"/>
            <a:ext cx="200429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Copilot Studio</a:t>
            </a:r>
          </a:p>
        </p:txBody>
      </p:sp>
      <p:sp>
        <p:nvSpPr>
          <p:cNvPr id="18" name="TextBox 17">
            <a:extLst>
              <a:ext uri="{FF2B5EF4-FFF2-40B4-BE49-F238E27FC236}">
                <a16:creationId xmlns:a16="http://schemas.microsoft.com/office/drawing/2014/main" id="{D826C68F-4AAC-856B-3F99-034300422305}"/>
              </a:ext>
            </a:extLst>
          </p:cNvPr>
          <p:cNvSpPr txBox="1"/>
          <p:nvPr/>
        </p:nvSpPr>
        <p:spPr>
          <a:xfrm>
            <a:off x="1038882" y="5497258"/>
            <a:ext cx="200429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Azure AI Search</a:t>
            </a:r>
          </a:p>
        </p:txBody>
      </p:sp>
      <p:sp>
        <p:nvSpPr>
          <p:cNvPr id="21" name="TextBox 20">
            <a:extLst>
              <a:ext uri="{FF2B5EF4-FFF2-40B4-BE49-F238E27FC236}">
                <a16:creationId xmlns:a16="http://schemas.microsoft.com/office/drawing/2014/main" id="{E291DD8A-EEBC-FCCD-1DFF-E0A739C342F0}"/>
              </a:ext>
            </a:extLst>
          </p:cNvPr>
          <p:cNvSpPr txBox="1"/>
          <p:nvPr/>
        </p:nvSpPr>
        <p:spPr>
          <a:xfrm>
            <a:off x="1038882" y="4887019"/>
            <a:ext cx="2004291" cy="153888"/>
          </a:xfrm>
          <a:prstGeom prst="rect">
            <a:avLst/>
          </a:prstGeom>
          <a:noFill/>
        </p:spPr>
        <p:txBody>
          <a:bodyPr wrap="square" lIns="0" tIns="0" rIns="0" bIns="0">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WORKLOADS &amp; SERVICES</a:t>
            </a:r>
          </a:p>
        </p:txBody>
      </p:sp>
      <p:sp>
        <p:nvSpPr>
          <p:cNvPr id="33" name="TextBox 32">
            <a:extLst>
              <a:ext uri="{FF2B5EF4-FFF2-40B4-BE49-F238E27FC236}">
                <a16:creationId xmlns:a16="http://schemas.microsoft.com/office/drawing/2014/main" id="{647E23EB-8BCC-1A15-1904-D4B6B398917F}"/>
              </a:ext>
              <a:ext uri="{C183D7F6-B498-43B3-948B-1728B52AA6E4}">
                <adec:decorative xmlns:adec="http://schemas.microsoft.com/office/drawing/2017/decorative" val="0"/>
              </a:ext>
            </a:extLst>
          </p:cNvPr>
          <p:cNvSpPr txBox="1"/>
          <p:nvPr/>
        </p:nvSpPr>
        <p:spPr>
          <a:xfrm>
            <a:off x="3423422" y="1993112"/>
            <a:ext cx="4047960" cy="3792666"/>
          </a:xfrm>
          <a:prstGeom prst="roundRect">
            <a:avLst>
              <a:gd name="adj" fmla="val 4273"/>
            </a:avLst>
          </a:prstGeom>
          <a:solidFill>
            <a:schemeClr val="bg1">
              <a:lumMod val="95000"/>
              <a:alpha val="50000"/>
            </a:schemeClr>
          </a:solidFill>
          <a:ln w="3175">
            <a:solidFill>
              <a:srgbClr val="41B8A4"/>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EXAMPLE USE CASES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Support Agents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answers Tier-1 questions from product docs and deflect routine tickets</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Policy &amp; HR lookup agent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surfaces benefits, travel, and expense answers with the source passage cited</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Sales qualification agent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captures customer needs and grounds recommendations using approved sales and product knowledge.</a:t>
            </a:r>
            <a:endParaRPr kumimoji="0" lang="en-US" sz="10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0" indent="0" algn="l" defTabSz="868680" rtl="0" eaLnBrk="1" fontAlgn="auto" latinLnBrk="0" hangingPunct="1">
              <a:lnSpc>
                <a:spcPct val="15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FACTORY DELIVERY</a:t>
            </a:r>
            <a:endParaRPr kumimoji="0" lang="en-US" sz="12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0" indent="0" algn="l" defTabSz="868680" rtl="0" eaLnBrk="1" fontAlgn="auto" latinLnBrk="0" hangingPunct="1">
              <a:lnSpc>
                <a:spcPct val="150000"/>
              </a:lnSpc>
              <a:spcBef>
                <a:spcPts val="0"/>
              </a:spcBef>
              <a:spcAft>
                <a:spcPts val="4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a:ea typeface="+mn-ea"/>
                <a:cs typeface="+mn-cs"/>
              </a:rPr>
              <a:t>Up to 3 single-agent use cases </a:t>
            </a: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2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5" name="TextBox 34">
            <a:extLst>
              <a:ext uri="{FF2B5EF4-FFF2-40B4-BE49-F238E27FC236}">
                <a16:creationId xmlns:a16="http://schemas.microsoft.com/office/drawing/2014/main" id="{53F55155-B3CB-D57D-1730-1C66B123A74B}"/>
              </a:ext>
              <a:ext uri="{C183D7F6-B498-43B3-948B-1728B52AA6E4}">
                <adec:decorative xmlns:adec="http://schemas.microsoft.com/office/drawing/2017/decorative" val="0"/>
              </a:ext>
            </a:extLst>
          </p:cNvPr>
          <p:cNvSpPr txBox="1"/>
          <p:nvPr/>
        </p:nvSpPr>
        <p:spPr>
          <a:xfrm>
            <a:off x="7528049" y="1993112"/>
            <a:ext cx="4098864" cy="3777828"/>
          </a:xfrm>
          <a:prstGeom prst="roundRect">
            <a:avLst>
              <a:gd name="adj" fmla="val 4273"/>
            </a:avLst>
          </a:prstGeom>
          <a:solidFill>
            <a:schemeClr val="bg1">
              <a:lumMod val="95000"/>
              <a:alpha val="50000"/>
            </a:schemeClr>
          </a:solidFill>
          <a:ln w="3175">
            <a:solidFill>
              <a:srgbClr val="41B8A4"/>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CUSTOMER SIGNALS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Knowledge scattered across documents, intranet pages, and PDFs that staff struggle to find quickly</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Customer has structured data grounding sources</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Repetitive manual lookup and Q&amp;A slow frontline productivity</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An existing Copilot Studio bot gives vague or ungrounded answers and needs better retrieval</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High volume of repetitive questions hitting support, HR, or IT teams</a:t>
            </a: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7" name="TextBox 36">
            <a:extLst>
              <a:ext uri="{FF2B5EF4-FFF2-40B4-BE49-F238E27FC236}">
                <a16:creationId xmlns:a16="http://schemas.microsoft.com/office/drawing/2014/main" id="{EC31FA88-1B71-ECFF-503F-5B74E951AD01}"/>
              </a:ext>
            </a:extLst>
          </p:cNvPr>
          <p:cNvSpPr txBox="1"/>
          <p:nvPr/>
        </p:nvSpPr>
        <p:spPr>
          <a:xfrm>
            <a:off x="816350" y="1960639"/>
            <a:ext cx="2441006" cy="2298065"/>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TECHNICAL PATTERNS</a:t>
            </a:r>
            <a:b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br>
            <a:endParaRPr kumimoji="0" lang="en-US" sz="12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1" indent="0" algn="ctr" defTabSz="914400" rtl="0" eaLnBrk="1" fontAlgn="auto" latinLnBrk="0" hangingPunct="1">
              <a:lnSpc>
                <a:spcPct val="100000"/>
              </a:lnSpc>
              <a:spcBef>
                <a:spcPts val="0"/>
              </a:spcBef>
              <a:spcAft>
                <a:spcPts val="40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Segoe Sans Text"/>
                <a:ea typeface="+mn-ea"/>
                <a:cs typeface="+mn-cs"/>
              </a:rPr>
              <a:t>Single-agent RAG</a:t>
            </a:r>
          </a:p>
          <a:p>
            <a:pPr marL="0" marR="0" lvl="1" indent="0" algn="ctr" defTabSz="914400" rtl="0" eaLnBrk="1" fontAlgn="auto" latinLnBrk="0" hangingPunct="1">
              <a:lnSpc>
                <a:spcPct val="100000"/>
              </a:lnSpc>
              <a:spcBef>
                <a:spcPts val="0"/>
              </a:spcBef>
              <a:spcAft>
                <a:spcPts val="40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Segoe Sans Text"/>
                <a:ea typeface="+mn-ea"/>
                <a:cs typeface="+mn-cs"/>
              </a:rPr>
              <a:t>Conversational agent</a:t>
            </a:r>
            <a:br>
              <a:rPr kumimoji="0" lang="en-US" sz="1100" b="1" i="0" u="none" strike="noStrike" kern="0" cap="none" spc="0" normalizeH="0" baseline="0" noProof="0" dirty="0">
                <a:ln>
                  <a:noFill/>
                </a:ln>
                <a:solidFill>
                  <a:srgbClr val="000000"/>
                </a:solidFill>
                <a:effectLst/>
                <a:uLnTx/>
                <a:uFillTx/>
                <a:latin typeface="Segoe Sans Text"/>
                <a:ea typeface="+mn-ea"/>
                <a:cs typeface="+mn-cs"/>
              </a:rPr>
            </a:br>
            <a:endParaRPr kumimoji="0" lang="en-US" sz="1100" b="0" i="0" u="none" strike="noStrike" kern="0" cap="none" spc="0" normalizeH="0" baseline="0" noProof="0" dirty="0">
              <a:ln>
                <a:noFill/>
              </a:ln>
              <a:solidFill>
                <a:srgbClr val="000000"/>
              </a:solidFill>
              <a:effectLst/>
              <a:uLnTx/>
              <a:uFillTx/>
              <a:latin typeface="Segoe Sans Text"/>
              <a:ea typeface="+mn-ea"/>
              <a:cs typeface="+mn-cs"/>
            </a:endParaRPr>
          </a:p>
          <a:p>
            <a:pPr marL="0" marR="0" lvl="1" indent="0" algn="ctr" defTabSz="914400" rtl="0" eaLnBrk="1" fontAlgn="auto" latinLnBrk="0" hangingPunct="1">
              <a:lnSpc>
                <a:spcPct val="100000"/>
              </a:lnSpc>
              <a:spcBef>
                <a:spcPts val="0"/>
              </a:spcBef>
              <a:spcAft>
                <a:spcPts val="400"/>
              </a:spcAft>
              <a:buClrTx/>
              <a:buSzTx/>
              <a:buFontTx/>
              <a:buNone/>
              <a:tabLst/>
              <a:defRPr/>
            </a:pPr>
            <a:r>
              <a:rPr kumimoji="0" lang="en-US" sz="1000" b="0" i="1" u="none" strike="noStrike" kern="0" cap="none" spc="0" normalizeH="0" baseline="0" noProof="0" dirty="0">
                <a:ln>
                  <a:noFill/>
                </a:ln>
                <a:solidFill>
                  <a:srgbClr val="000000"/>
                </a:solidFill>
                <a:effectLst/>
                <a:uLnTx/>
                <a:uFillTx/>
                <a:latin typeface="Segoe Sans Text"/>
                <a:ea typeface="+mn-ea"/>
                <a:cs typeface="+mn-cs"/>
              </a:rPr>
              <a:t>An Agent that uses grounded knowledge to answer user queries by retrieving and citing specific, verified information from a predefined database or document Source. This approach anchors the dialogue in factual data to generate accurate responses, significantly reducing the likelihood of hallucinations</a:t>
            </a:r>
            <a:endParaRPr kumimoji="0" lang="en-US" sz="900" b="0" i="1" u="none" strike="noStrike" kern="0" cap="none" spc="0" normalizeH="0" baseline="0" noProof="0" dirty="0">
              <a:ln>
                <a:noFill/>
              </a:ln>
              <a:solidFill>
                <a:srgbClr val="000000"/>
              </a:solidFill>
              <a:effectLst/>
              <a:highlight>
                <a:srgbClr val="FFFF00"/>
              </a:highlight>
              <a:uLnTx/>
              <a:uFillTx/>
              <a:latin typeface="Segoe Sans Text"/>
              <a:ea typeface="+mn-ea"/>
              <a:cs typeface="+mn-cs"/>
            </a:endParaRPr>
          </a:p>
        </p:txBody>
      </p:sp>
      <p:sp>
        <p:nvSpPr>
          <p:cNvPr id="40" name="TextBox 39">
            <a:extLst>
              <a:ext uri="{FF2B5EF4-FFF2-40B4-BE49-F238E27FC236}">
                <a16:creationId xmlns:a16="http://schemas.microsoft.com/office/drawing/2014/main" id="{B5759AA9-0FBE-E99D-FC51-BE5B04DAB0E9}"/>
              </a:ext>
            </a:extLst>
          </p:cNvPr>
          <p:cNvSpPr txBox="1"/>
          <p:nvPr/>
        </p:nvSpPr>
        <p:spPr>
          <a:xfrm>
            <a:off x="9315380" y="706677"/>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noProof="0" dirty="0"/>
              <a:t>Low Complexity</a:t>
            </a:r>
          </a:p>
        </p:txBody>
      </p:sp>
      <p:sp>
        <p:nvSpPr>
          <p:cNvPr id="45" name="TextBox 44">
            <a:extLst>
              <a:ext uri="{FF2B5EF4-FFF2-40B4-BE49-F238E27FC236}">
                <a16:creationId xmlns:a16="http://schemas.microsoft.com/office/drawing/2014/main" id="{77AFAC5A-68C9-E518-0223-521EB09BC6B6}"/>
              </a:ext>
            </a:extLst>
          </p:cNvPr>
          <p:cNvSpPr txBox="1"/>
          <p:nvPr/>
        </p:nvSpPr>
        <p:spPr>
          <a:xfrm>
            <a:off x="3423422" y="5018526"/>
            <a:ext cx="8209253" cy="1011084"/>
          </a:xfrm>
          <a:prstGeom prst="roundRect">
            <a:avLst>
              <a:gd name="adj" fmla="val 9675"/>
            </a:avLst>
          </a:prstGeom>
          <a:solidFill>
            <a:schemeClr val="bg1"/>
          </a:solidFill>
          <a:ln w="12700" cap="rnd" cmpd="sng" algn="ctr">
            <a:gradFill flip="none" rotWithShape="1">
              <a:gsLst>
                <a:gs pos="46000">
                  <a:srgbClr val="8661C5"/>
                </a:gs>
                <a:gs pos="0">
                  <a:srgbClr val="0078D4"/>
                </a:gs>
                <a:gs pos="100000">
                  <a:srgbClr val="339E8D"/>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t" anchorCtr="0" forceAA="0" compatLnSpc="1">
            <a:prstTxWarp prst="textNoShape">
              <a:avLst/>
            </a:prstTxWarp>
            <a:noAutofit/>
          </a:bodyPr>
          <a:lstStyle>
            <a:defPPr>
              <a:defRPr lang="en-US"/>
            </a:defPPr>
            <a:lvl1pPr marR="0" lvl="0" indent="0" algn="ctr" defTabSz="885848" fontAlgn="base">
              <a:lnSpc>
                <a:spcPct val="100000"/>
              </a:lnSpc>
              <a:spcBef>
                <a:spcPct val="0"/>
              </a:spcBef>
              <a:spcAft>
                <a:spcPct val="0"/>
              </a:spcAft>
              <a:buClrTx/>
              <a:buSzTx/>
              <a:buFontTx/>
              <a:buNone/>
              <a:tabLst/>
              <a:defRPr kumimoji="0" b="0" i="0" u="none" strike="noStrike" kern="0" cap="none" spc="0" normalizeH="0" baseline="0">
                <a:ln>
                  <a:noFill/>
                </a:ln>
                <a:effectLst/>
                <a:uLnTx/>
                <a:uFillTx/>
                <a:latin typeface="+mj-lt"/>
                <a:cs typeface="Segoe Sans Display Thin"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885848"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Segoe Sans Display Thin" pitchFamily="2" charset="0"/>
              </a:rPr>
              <a:t>Sales Talk Track</a:t>
            </a:r>
          </a:p>
        </p:txBody>
      </p:sp>
      <p:sp>
        <p:nvSpPr>
          <p:cNvPr id="46" name="Text 29">
            <a:extLst>
              <a:ext uri="{FF2B5EF4-FFF2-40B4-BE49-F238E27FC236}">
                <a16:creationId xmlns:a16="http://schemas.microsoft.com/office/drawing/2014/main" id="{0573347A-1803-9061-9FF2-C3B00B3D2E17}"/>
              </a:ext>
            </a:extLst>
          </p:cNvPr>
          <p:cNvSpPr/>
          <p:nvPr/>
        </p:nvSpPr>
        <p:spPr>
          <a:xfrm>
            <a:off x="3582276" y="5485196"/>
            <a:ext cx="7249298"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000000"/>
                </a:solidFill>
                <a:effectLst/>
                <a:uLnTx/>
                <a:uFillTx/>
                <a:latin typeface="Segoe UI" pitchFamily="34" charset="0"/>
                <a:ea typeface="Segoe UI" pitchFamily="34" charset="-122"/>
                <a:cs typeface="Segoe UI" pitchFamily="34" charset="-120"/>
              </a:rPr>
              <a:t>“This is a fast path to proving AI value with a single-agent knowledge assistant grounded in trusted enterprise content. Ideal for high-volume support, policy lookup, and repetitive Q&amp;A scenarios.”</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0" name="Oval 49">
            <a:extLst>
              <a:ext uri="{FF2B5EF4-FFF2-40B4-BE49-F238E27FC236}">
                <a16:creationId xmlns:a16="http://schemas.microsoft.com/office/drawing/2014/main" id="{DDB547CB-FC96-CE64-23B7-7A8C86F9C38F}"/>
              </a:ext>
            </a:extLst>
          </p:cNvPr>
          <p:cNvSpPr/>
          <p:nvPr/>
        </p:nvSpPr>
        <p:spPr bwMode="auto">
          <a:xfrm>
            <a:off x="3513696" y="25577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2" name="Oval 51">
            <a:extLst>
              <a:ext uri="{FF2B5EF4-FFF2-40B4-BE49-F238E27FC236}">
                <a16:creationId xmlns:a16="http://schemas.microsoft.com/office/drawing/2014/main" id="{5108F8D1-77CF-F5A4-0F4F-72499E56CADB}"/>
              </a:ext>
            </a:extLst>
          </p:cNvPr>
          <p:cNvSpPr/>
          <p:nvPr/>
        </p:nvSpPr>
        <p:spPr bwMode="auto">
          <a:xfrm>
            <a:off x="3513696" y="31098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Oval 53">
            <a:extLst>
              <a:ext uri="{FF2B5EF4-FFF2-40B4-BE49-F238E27FC236}">
                <a16:creationId xmlns:a16="http://schemas.microsoft.com/office/drawing/2014/main" id="{69CF067F-87B6-A3F5-C6DC-FCE7273FFEA3}"/>
              </a:ext>
            </a:extLst>
          </p:cNvPr>
          <p:cNvSpPr/>
          <p:nvPr/>
        </p:nvSpPr>
        <p:spPr bwMode="auto">
          <a:xfrm>
            <a:off x="3513696" y="365812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6" name="Oval 55">
            <a:extLst>
              <a:ext uri="{FF2B5EF4-FFF2-40B4-BE49-F238E27FC236}">
                <a16:creationId xmlns:a16="http://schemas.microsoft.com/office/drawing/2014/main" id="{DC3900A6-6940-3A84-A647-5CE6A8E1F51C}"/>
              </a:ext>
            </a:extLst>
          </p:cNvPr>
          <p:cNvSpPr/>
          <p:nvPr/>
        </p:nvSpPr>
        <p:spPr bwMode="auto">
          <a:xfrm>
            <a:off x="7618323" y="255590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8" name="Oval 57">
            <a:extLst>
              <a:ext uri="{FF2B5EF4-FFF2-40B4-BE49-F238E27FC236}">
                <a16:creationId xmlns:a16="http://schemas.microsoft.com/office/drawing/2014/main" id="{8793C111-76B3-B5B6-3191-59FB4A6102E6}"/>
              </a:ext>
            </a:extLst>
          </p:cNvPr>
          <p:cNvSpPr/>
          <p:nvPr/>
        </p:nvSpPr>
        <p:spPr bwMode="auto">
          <a:xfrm>
            <a:off x="7618323" y="31080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0" name="Oval 59">
            <a:extLst>
              <a:ext uri="{FF2B5EF4-FFF2-40B4-BE49-F238E27FC236}">
                <a16:creationId xmlns:a16="http://schemas.microsoft.com/office/drawing/2014/main" id="{EF1E06E7-C13F-8EE5-1B49-6B7A24CFBCFB}"/>
              </a:ext>
            </a:extLst>
          </p:cNvPr>
          <p:cNvSpPr/>
          <p:nvPr/>
        </p:nvSpPr>
        <p:spPr bwMode="auto">
          <a:xfrm>
            <a:off x="7618323" y="343462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2" name="Oval 61">
            <a:extLst>
              <a:ext uri="{FF2B5EF4-FFF2-40B4-BE49-F238E27FC236}">
                <a16:creationId xmlns:a16="http://schemas.microsoft.com/office/drawing/2014/main" id="{38D7B628-AC4D-ECCD-698C-AD085967488E}"/>
              </a:ext>
            </a:extLst>
          </p:cNvPr>
          <p:cNvSpPr/>
          <p:nvPr/>
        </p:nvSpPr>
        <p:spPr bwMode="auto">
          <a:xfrm>
            <a:off x="7618323" y="398096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5" name="Rectangle 64">
            <a:extLst>
              <a:ext uri="{FF2B5EF4-FFF2-40B4-BE49-F238E27FC236}">
                <a16:creationId xmlns:a16="http://schemas.microsoft.com/office/drawing/2014/main" id="{26ED4293-8766-41CD-3BAA-52D5C305FD3D}"/>
              </a:ext>
              <a:ext uri="{C183D7F6-B498-43B3-948B-1728B52AA6E4}">
                <adec:decorative xmlns:adec="http://schemas.microsoft.com/office/drawing/2017/decorative" val="1"/>
              </a:ext>
            </a:extLst>
          </p:cNvPr>
          <p:cNvSpPr>
            <a:spLocks/>
          </p:cNvSpPr>
          <p:nvPr/>
        </p:nvSpPr>
        <p:spPr bwMode="auto">
          <a:xfrm rot="5400000">
            <a:off x="-2570147" y="3824064"/>
            <a:ext cx="5976000" cy="103637"/>
          </a:xfrm>
          <a:prstGeom prst="rect">
            <a:avLst/>
          </a:prstGeom>
          <a:gradFill flip="none" rotWithShape="1">
            <a:gsLst>
              <a:gs pos="84000">
                <a:srgbClr val="2AA4C0"/>
              </a:gs>
              <a:gs pos="100000">
                <a:srgbClr val="40BCB5"/>
              </a:gs>
              <a:gs pos="0">
                <a:schemeClr val="tx2"/>
              </a:gs>
            </a:gsLst>
            <a:lin ang="0" scaled="1"/>
            <a:tileRect/>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1200"/>
              </a:spcBef>
              <a:spcAft>
                <a:spcPts val="1200"/>
              </a:spcAft>
            </a:pPr>
            <a:endParaRPr lang="en-US" sz="1600" kern="0" noProof="0" dirty="0">
              <a:solidFill>
                <a:prstClr val="white"/>
              </a:solidFill>
              <a:latin typeface="Segoe Sans Text Semibold"/>
            </a:endParaRPr>
          </a:p>
        </p:txBody>
      </p:sp>
      <p:sp>
        <p:nvSpPr>
          <p:cNvPr id="63" name="TextBox 62">
            <a:extLst>
              <a:ext uri="{FF2B5EF4-FFF2-40B4-BE49-F238E27FC236}">
                <a16:creationId xmlns:a16="http://schemas.microsoft.com/office/drawing/2014/main" id="{E61378A3-E781-76ED-72C8-536126019C0F}"/>
              </a:ext>
            </a:extLst>
          </p:cNvPr>
          <p:cNvSpPr txBox="1"/>
          <p:nvPr/>
        </p:nvSpPr>
        <p:spPr>
          <a:xfrm>
            <a:off x="153492" y="436170"/>
            <a:ext cx="540000" cy="540000"/>
          </a:xfrm>
          <a:prstGeom prst="ellipse">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lumMod val="75000"/>
                    <a:lumOff val="25000"/>
                  </a:srgbClr>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2800" b="1" noProof="0" dirty="0"/>
              <a:t>1</a:t>
            </a:r>
          </a:p>
        </p:txBody>
      </p:sp>
      <p:sp>
        <p:nvSpPr>
          <p:cNvPr id="67" name="Title 101">
            <a:extLst>
              <a:ext uri="{FF2B5EF4-FFF2-40B4-BE49-F238E27FC236}">
                <a16:creationId xmlns:a16="http://schemas.microsoft.com/office/drawing/2014/main" id="{23C422BA-57B6-063C-93E4-8D9DDE20B55A}"/>
              </a:ext>
            </a:extLst>
          </p:cNvPr>
          <p:cNvSpPr txBox="1">
            <a:spLocks/>
          </p:cNvSpPr>
          <p:nvPr/>
        </p:nvSpPr>
        <p:spPr>
          <a:xfrm>
            <a:off x="906034" y="454190"/>
            <a:ext cx="11017250" cy="738664"/>
          </a:xfrm>
          <a:prstGeom prst="rect">
            <a:avLst/>
          </a:prstGeom>
        </p:spPr>
        <p:txBody>
          <a:bodyPr vert="horz" wrap="square" lIns="0" tIns="0" rIns="0" bIns="0" rtlCol="0" anchor="t">
            <a:noAutofit/>
          </a:bodyPr>
          <a:lstStyle>
            <a:lvl1pPr marL="0" algn="l" defTabSz="932742" rtl="0" eaLnBrk="1" latinLnBrk="0" hangingPunct="1">
              <a:lnSpc>
                <a:spcPct val="100000"/>
              </a:lnSpc>
              <a:spcBef>
                <a:spcPts val="1800"/>
              </a:spcBef>
              <a:buSzPct val="90000"/>
              <a:buFont typeface="Wingdings" panose="05000000000000000000" pitchFamily="2" charset="2"/>
              <a:buNone/>
              <a:defRPr lang="en-US" sz="3200" b="0" kern="1200" cap="none" spc="-50" baseline="0" dirty="0">
                <a:ln w="3175">
                  <a:noFill/>
                </a:ln>
                <a:gradFill flip="none" rotWithShape="1">
                  <a:gsLst>
                    <a:gs pos="0">
                      <a:srgbClr val="3948C6"/>
                    </a:gs>
                    <a:gs pos="100000">
                      <a:srgbClr val="E35BAD"/>
                    </a:gs>
                    <a:gs pos="74000">
                      <a:srgbClr val="DF4DD7"/>
                    </a:gs>
                  </a:gsLst>
                  <a:lin ang="0" scaled="1"/>
                  <a:tileRect/>
                </a:gradFill>
                <a:effectLst/>
                <a:latin typeface="+mj-lt"/>
                <a:ea typeface="+mj-ea"/>
                <a:cs typeface="Segoe Sans Display Semibold" pitchFamily="2" charset="0"/>
              </a:defRPr>
            </a:lvl1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2400" b="0" i="0" u="none" strike="noStrike" kern="1200" cap="none" spc="-50" normalizeH="0" baseline="0" noProof="0" dirty="0">
                <a:ln w="3175">
                  <a:noFill/>
                </a:ln>
                <a:solidFill>
                  <a:srgbClr val="0078D4"/>
                </a:solidFill>
                <a:effectLst/>
                <a:uLnTx/>
                <a:uFillTx/>
                <a:latin typeface="Segoe Sans Text Semibold"/>
                <a:ea typeface="+mj-ea"/>
                <a:cs typeface="Segoe UI" pitchFamily="34" charset="0"/>
              </a:rPr>
              <a:t>Cloud Accelerate Factory</a:t>
            </a:r>
            <a:br>
              <a:rPr kumimoji="0" lang="en-US" sz="2000" b="0" i="0" u="none" strike="noStrike" kern="1200" cap="none" spc="-50" normalizeH="0" baseline="0" noProof="0" dirty="0">
                <a:ln w="3175">
                  <a:noFill/>
                </a:ln>
                <a:gradFill flip="none" rotWithShape="1">
                  <a:gsLst>
                    <a:gs pos="0">
                      <a:srgbClr val="3948C6"/>
                    </a:gs>
                    <a:gs pos="100000">
                      <a:srgbClr val="E35BAD"/>
                    </a:gs>
                    <a:gs pos="74000">
                      <a:srgbClr val="DF4DD7"/>
                    </a:gs>
                  </a:gsLst>
                  <a:lin ang="0" scaled="1"/>
                  <a:tileRect/>
                </a:gradFill>
                <a:effectLst/>
                <a:uLnTx/>
                <a:uFillTx/>
                <a:latin typeface="Segoe Sans Text Semibold"/>
                <a:ea typeface="+mj-ea"/>
                <a:cs typeface="Segoe Sans Display Semibold" pitchFamily="2" charset="0"/>
              </a:rPr>
            </a:br>
            <a:r>
              <a:rPr kumimoji="0" lang="en-US" sz="1600" b="0" i="0" u="none" strike="noStrike" kern="1200" cap="none" spc="0" normalizeH="0" baseline="0" noProof="0" dirty="0">
                <a:ln>
                  <a:noFill/>
                </a:ln>
                <a:solidFill>
                  <a:srgbClr val="000000"/>
                </a:solidFill>
                <a:effectLst/>
                <a:uLnTx/>
                <a:uFillTx/>
                <a:latin typeface="Segoe Sans Text Semibold"/>
                <a:ea typeface="+mj-ea"/>
                <a:cs typeface="Segoe Sans Display Semilight" pitchFamily="2" charset="0"/>
              </a:rPr>
              <a:t>Agent Patterns</a:t>
            </a:r>
          </a:p>
        </p:txBody>
      </p:sp>
      <p:sp>
        <p:nvSpPr>
          <p:cNvPr id="69" name="TextBox 68">
            <a:extLst>
              <a:ext uri="{FF2B5EF4-FFF2-40B4-BE49-F238E27FC236}">
                <a16:creationId xmlns:a16="http://schemas.microsoft.com/office/drawing/2014/main" id="{A6289232-81F5-286C-135C-42E1F9E093B3}"/>
              </a:ext>
            </a:extLst>
          </p:cNvPr>
          <p:cNvSpPr txBox="1"/>
          <p:nvPr/>
        </p:nvSpPr>
        <p:spPr>
          <a:xfrm>
            <a:off x="9315379" y="268122"/>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noProof="0" dirty="0"/>
              <a:t>Single Agent</a:t>
            </a:r>
          </a:p>
        </p:txBody>
      </p:sp>
      <p:sp>
        <p:nvSpPr>
          <p:cNvPr id="71" name="Oval 70">
            <a:extLst>
              <a:ext uri="{FF2B5EF4-FFF2-40B4-BE49-F238E27FC236}">
                <a16:creationId xmlns:a16="http://schemas.microsoft.com/office/drawing/2014/main" id="{AF20DF3A-B845-11C1-74AB-DC7188811A18}"/>
              </a:ext>
            </a:extLst>
          </p:cNvPr>
          <p:cNvSpPr/>
          <p:nvPr/>
        </p:nvSpPr>
        <p:spPr bwMode="auto">
          <a:xfrm>
            <a:off x="7618323" y="45153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7F446169-5378-40FF-6390-F6DB5267054D}"/>
              </a:ext>
            </a:extLst>
          </p:cNvPr>
          <p:cNvSpPr txBox="1"/>
          <p:nvPr/>
        </p:nvSpPr>
        <p:spPr>
          <a:xfrm>
            <a:off x="6897575" y="272085"/>
            <a:ext cx="2311533" cy="302955"/>
          </a:xfrm>
          <a:prstGeom prst="roundRect">
            <a:avLst>
              <a:gd name="adj" fmla="val 50000"/>
            </a:avLst>
          </a:prstGeom>
          <a:solidFill>
            <a:schemeClr val="tx2"/>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b="1" noProof="0" dirty="0">
                <a:solidFill>
                  <a:schemeClr val="bg1"/>
                </a:solidFill>
              </a:rPr>
              <a:t>SCOPE 1</a:t>
            </a:r>
          </a:p>
        </p:txBody>
      </p:sp>
    </p:spTree>
    <p:extLst>
      <p:ext uri="{BB962C8B-B14F-4D97-AF65-F5344CB8AC3E}">
        <p14:creationId xmlns:p14="http://schemas.microsoft.com/office/powerpoint/2010/main" val="3253403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6" presetClass="emph" presetSubtype="0" fill="hold" grpId="1" nodeType="withEffect">
                                  <p:stCondLst>
                                    <p:cond delay="0"/>
                                  </p:stCondLst>
                                  <p:childTnLst>
                                    <p:animScale>
                                      <p:cBhvr>
                                        <p:cTn id="9" dur="100" fill="hold"/>
                                        <p:tgtEl>
                                          <p:spTgt spid="1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7"/>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6" presetClass="emph" presetSubtype="0" fill="hold" grpId="1" nodeType="withEffect">
                                  <p:stCondLst>
                                    <p:cond delay="0"/>
                                  </p:stCondLst>
                                  <p:childTnLst>
                                    <p:animScale>
                                      <p:cBhvr>
                                        <p:cTn id="16" dur="100" fill="hold"/>
                                        <p:tgtEl>
                                          <p:spTgt spid="18"/>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8"/>
                                        </p:tgtEl>
                                      </p:cBhvr>
                                      <p:by x="400000" y="400000"/>
                                    </p:animScale>
                                  </p:childTnLst>
                                </p:cTn>
                              </p:par>
                              <p:par>
                                <p:cTn id="19" presetID="10" presetClass="entr" presetSubtype="0" fill="hold" grpId="0" nodeType="withEffect">
                                  <p:stCondLst>
                                    <p:cond delay="20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6" presetClass="emph" presetSubtype="0" fill="hold" grpId="1" nodeType="withEffect">
                                  <p:stCondLst>
                                    <p:cond delay="0"/>
                                  </p:stCondLst>
                                  <p:childTnLst>
                                    <p:animScale>
                                      <p:cBhvr>
                                        <p:cTn id="23" dur="100" fill="hold"/>
                                        <p:tgtEl>
                                          <p:spTgt spid="40"/>
                                        </p:tgtEl>
                                      </p:cBhvr>
                                      <p:by x="25000" y="25000"/>
                                    </p:animScale>
                                  </p:childTnLst>
                                </p:cTn>
                              </p:par>
                              <p:par>
                                <p:cTn id="24" presetID="6" presetClass="emph" presetSubtype="0" decel="100000" fill="hold" grpId="2" nodeType="withEffect">
                                  <p:stCondLst>
                                    <p:cond delay="200"/>
                                  </p:stCondLst>
                                  <p:childTnLst>
                                    <p:animScale>
                                      <p:cBhvr>
                                        <p:cTn id="25" dur="500" fill="hold"/>
                                        <p:tgtEl>
                                          <p:spTgt spid="40"/>
                                        </p:tgtEl>
                                      </p:cBhvr>
                                      <p:by x="400000" y="400000"/>
                                    </p:animScale>
                                  </p:childTnLst>
                                </p:cTn>
                              </p:par>
                              <p:par>
                                <p:cTn id="26" presetID="10" presetClass="entr" presetSubtype="0" fill="hold" grpId="0" nodeType="withEffect">
                                  <p:stCondLst>
                                    <p:cond delay="20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500"/>
                                        <p:tgtEl>
                                          <p:spTgt spid="45"/>
                                        </p:tgtEl>
                                      </p:cBhvr>
                                    </p:animEffect>
                                  </p:childTnLst>
                                </p:cTn>
                              </p:par>
                              <p:par>
                                <p:cTn id="29" presetID="6" presetClass="emph" presetSubtype="0" fill="hold" grpId="1" nodeType="withEffect">
                                  <p:stCondLst>
                                    <p:cond delay="0"/>
                                  </p:stCondLst>
                                  <p:childTnLst>
                                    <p:animScale>
                                      <p:cBhvr>
                                        <p:cTn id="30" dur="100" fill="hold"/>
                                        <p:tgtEl>
                                          <p:spTgt spid="45"/>
                                        </p:tgtEl>
                                      </p:cBhvr>
                                      <p:by x="25000" y="25000"/>
                                    </p:animScale>
                                  </p:childTnLst>
                                </p:cTn>
                              </p:par>
                              <p:par>
                                <p:cTn id="31" presetID="6" presetClass="emph" presetSubtype="0" decel="100000" fill="hold" grpId="2" nodeType="withEffect">
                                  <p:stCondLst>
                                    <p:cond delay="200"/>
                                  </p:stCondLst>
                                  <p:childTnLst>
                                    <p:animScale>
                                      <p:cBhvr>
                                        <p:cTn id="32" dur="500" fill="hold"/>
                                        <p:tgtEl>
                                          <p:spTgt spid="45"/>
                                        </p:tgtEl>
                                      </p:cBhvr>
                                      <p:by x="400000" y="400000"/>
                                    </p:animScale>
                                  </p:childTnLst>
                                </p:cTn>
                              </p:par>
                              <p:par>
                                <p:cTn id="33" presetID="10" presetClass="entr" presetSubtype="0" fill="hold" grpId="0" nodeType="withEffect">
                                  <p:stCondLst>
                                    <p:cond delay="20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childTnLst>
                                </p:cTn>
                              </p:par>
                              <p:par>
                                <p:cTn id="36" presetID="6" presetClass="emph" presetSubtype="0" fill="hold" grpId="1" nodeType="withEffect">
                                  <p:stCondLst>
                                    <p:cond delay="0"/>
                                  </p:stCondLst>
                                  <p:childTnLst>
                                    <p:animScale>
                                      <p:cBhvr>
                                        <p:cTn id="37" dur="100" fill="hold"/>
                                        <p:tgtEl>
                                          <p:spTgt spid="63"/>
                                        </p:tgtEl>
                                      </p:cBhvr>
                                      <p:by x="25000" y="25000"/>
                                    </p:animScale>
                                  </p:childTnLst>
                                </p:cTn>
                              </p:par>
                              <p:par>
                                <p:cTn id="38" presetID="6" presetClass="emph" presetSubtype="0" decel="100000" fill="hold" grpId="2" nodeType="withEffect">
                                  <p:stCondLst>
                                    <p:cond delay="200"/>
                                  </p:stCondLst>
                                  <p:childTnLst>
                                    <p:animScale>
                                      <p:cBhvr>
                                        <p:cTn id="39" dur="500" fill="hold"/>
                                        <p:tgtEl>
                                          <p:spTgt spid="63"/>
                                        </p:tgtEl>
                                      </p:cBhvr>
                                      <p:by x="400000" y="400000"/>
                                    </p:animScale>
                                  </p:childTnLst>
                                </p:cTn>
                              </p:par>
                              <p:par>
                                <p:cTn id="40" presetID="10" presetClass="entr" presetSubtype="0" fill="hold" grpId="0" nodeType="withEffect">
                                  <p:stCondLst>
                                    <p:cond delay="20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childTnLst>
                                </p:cTn>
                              </p:par>
                              <p:par>
                                <p:cTn id="43" presetID="6" presetClass="emph" presetSubtype="0" fill="hold" grpId="1" nodeType="withEffect">
                                  <p:stCondLst>
                                    <p:cond delay="0"/>
                                  </p:stCondLst>
                                  <p:childTnLst>
                                    <p:animScale>
                                      <p:cBhvr>
                                        <p:cTn id="44" dur="100" fill="hold"/>
                                        <p:tgtEl>
                                          <p:spTgt spid="69"/>
                                        </p:tgtEl>
                                      </p:cBhvr>
                                      <p:by x="25000" y="25000"/>
                                    </p:animScale>
                                  </p:childTnLst>
                                </p:cTn>
                              </p:par>
                              <p:par>
                                <p:cTn id="45" presetID="6" presetClass="emph" presetSubtype="0" decel="100000" fill="hold" grpId="2" nodeType="withEffect">
                                  <p:stCondLst>
                                    <p:cond delay="200"/>
                                  </p:stCondLst>
                                  <p:childTnLst>
                                    <p:animScale>
                                      <p:cBhvr>
                                        <p:cTn id="46" dur="500" fill="hold"/>
                                        <p:tgtEl>
                                          <p:spTgt spid="69"/>
                                        </p:tgtEl>
                                      </p:cBhvr>
                                      <p:by x="400000" y="400000"/>
                                    </p:animScale>
                                  </p:childTnLst>
                                </p:cTn>
                              </p:par>
                              <p:par>
                                <p:cTn id="47" presetID="10" presetClass="entr" presetSubtype="0" fill="hold" grpId="0" nodeType="withEffect">
                                  <p:stCondLst>
                                    <p:cond delay="20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500"/>
                                        <p:tgtEl>
                                          <p:spTgt spid="2"/>
                                        </p:tgtEl>
                                      </p:cBhvr>
                                    </p:animEffect>
                                  </p:childTnLst>
                                </p:cTn>
                              </p:par>
                              <p:par>
                                <p:cTn id="50" presetID="6" presetClass="emph" presetSubtype="0" fill="hold" grpId="1" nodeType="withEffect">
                                  <p:stCondLst>
                                    <p:cond delay="0"/>
                                  </p:stCondLst>
                                  <p:childTnLst>
                                    <p:animScale>
                                      <p:cBhvr>
                                        <p:cTn id="51" dur="100" fill="hold"/>
                                        <p:tgtEl>
                                          <p:spTgt spid="2"/>
                                        </p:tgtEl>
                                      </p:cBhvr>
                                      <p:by x="25000" y="25000"/>
                                    </p:animScale>
                                  </p:childTnLst>
                                </p:cTn>
                              </p:par>
                              <p:par>
                                <p:cTn id="52" presetID="6" presetClass="emph" presetSubtype="0" decel="100000" fill="hold" grpId="2" nodeType="withEffect">
                                  <p:stCondLst>
                                    <p:cond delay="200"/>
                                  </p:stCondLst>
                                  <p:childTnLst>
                                    <p:animScale>
                                      <p:cBhvr>
                                        <p:cTn id="53"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18" grpId="0" animBg="1"/>
      <p:bldP spid="18" grpId="1" animBg="1"/>
      <p:bldP spid="18" grpId="2" animBg="1"/>
      <p:bldP spid="40" grpId="0" animBg="1"/>
      <p:bldP spid="40" grpId="1" animBg="1"/>
      <p:bldP spid="40" grpId="2" animBg="1"/>
      <p:bldP spid="45" grpId="0" animBg="1"/>
      <p:bldP spid="45" grpId="1" animBg="1"/>
      <p:bldP spid="45" grpId="2" animBg="1"/>
      <p:bldP spid="63" grpId="0" animBg="1"/>
      <p:bldP spid="63" grpId="1" animBg="1"/>
      <p:bldP spid="63" grpId="2" animBg="1"/>
      <p:bldP spid="69" grpId="0" animBg="1"/>
      <p:bldP spid="69" grpId="1" animBg="1"/>
      <p:bldP spid="69" grpId="2" animBg="1"/>
      <p:bldP spid="2" grpId="0" animBg="1"/>
      <p:bldP spid="2" grpId="1" animBg="1"/>
      <p:bldP spid="2" grpId="2"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knowledge assistant system used for various industries, including education, oil, gas, and energy, featuring support agents, field engineers, and multilingual assistants, all aimed at improving customer service, reducing case volume, and enhancing decision-making.&#10;&#10;AI-generated content may be incorrect.">
            <a:extLst>
              <a:ext uri="{FF2B5EF4-FFF2-40B4-BE49-F238E27FC236}">
                <a16:creationId xmlns:a16="http://schemas.microsoft.com/office/drawing/2014/main" id="{EBFE0B54-F03B-B46F-50DE-D4B169BA99B5}"/>
              </a:ext>
            </a:extLst>
          </p:cNvPr>
          <p:cNvPicPr>
            <a:picLocks noChangeAspect="1"/>
          </p:cNvPicPr>
          <p:nvPr/>
        </p:nvPicPr>
        <p:blipFill>
          <a:blip r:embed="rId2"/>
          <a:stretch>
            <a:fillRect/>
          </a:stretch>
        </p:blipFill>
        <p:spPr>
          <a:xfrm>
            <a:off x="0" y="1328749"/>
            <a:ext cx="12192000" cy="5529251"/>
          </a:xfrm>
          <a:prstGeom prst="rect">
            <a:avLst/>
          </a:prstGeom>
        </p:spPr>
      </p:pic>
      <p:sp>
        <p:nvSpPr>
          <p:cNvPr id="5" name="Rectangle 4">
            <a:extLst>
              <a:ext uri="{FF2B5EF4-FFF2-40B4-BE49-F238E27FC236}">
                <a16:creationId xmlns:a16="http://schemas.microsoft.com/office/drawing/2014/main" id="{DD98CDF6-F289-D8EF-2437-3566267907B5}"/>
              </a:ext>
              <a:ext uri="{C183D7F6-B498-43B3-948B-1728B52AA6E4}">
                <adec:decorative xmlns:adec="http://schemas.microsoft.com/office/drawing/2017/decorative" val="1"/>
              </a:ext>
            </a:extLst>
          </p:cNvPr>
          <p:cNvSpPr>
            <a:spLocks/>
          </p:cNvSpPr>
          <p:nvPr/>
        </p:nvSpPr>
        <p:spPr bwMode="auto">
          <a:xfrm>
            <a:off x="0" y="0"/>
            <a:ext cx="12192000" cy="1328749"/>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6" name="Title 5">
            <a:extLst>
              <a:ext uri="{FF2B5EF4-FFF2-40B4-BE49-F238E27FC236}">
                <a16:creationId xmlns:a16="http://schemas.microsoft.com/office/drawing/2014/main" id="{11D30EE6-3356-CC09-1AFE-9B2893FCF6FC}"/>
              </a:ext>
            </a:extLst>
          </p:cNvPr>
          <p:cNvSpPr txBox="1">
            <a:spLocks/>
          </p:cNvSpPr>
          <p:nvPr/>
        </p:nvSpPr>
        <p:spPr>
          <a:xfrm>
            <a:off x="0" y="664374"/>
            <a:ext cx="12192000" cy="369332"/>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algn="ctr" defTabSz="914400">
              <a:spcBef>
                <a:spcPts val="0"/>
              </a:spcBef>
              <a:defRPr/>
            </a:pPr>
            <a:r>
              <a:rPr lang="en-US" sz="2400" noProof="0" dirty="0">
                <a:solidFill>
                  <a:schemeClr val="bg1"/>
                </a:solidFill>
              </a:rPr>
              <a:t>Industry &amp; Persona Examples – Knowledge Assistant Pattern</a:t>
            </a:r>
          </a:p>
        </p:txBody>
      </p:sp>
      <p:sp>
        <p:nvSpPr>
          <p:cNvPr id="7" name="TextBox 6">
            <a:extLst>
              <a:ext uri="{FF2B5EF4-FFF2-40B4-BE49-F238E27FC236}">
                <a16:creationId xmlns:a16="http://schemas.microsoft.com/office/drawing/2014/main" id="{635FB338-3834-5DC4-8076-E592D7E2E79C}"/>
              </a:ext>
            </a:extLst>
          </p:cNvPr>
          <p:cNvSpPr txBox="1"/>
          <p:nvPr/>
        </p:nvSpPr>
        <p:spPr>
          <a:xfrm>
            <a:off x="9546288" y="180710"/>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Scope 1</a:t>
            </a:r>
          </a:p>
        </p:txBody>
      </p:sp>
    </p:spTree>
    <p:extLst>
      <p:ext uri="{BB962C8B-B14F-4D97-AF65-F5344CB8AC3E}">
        <p14:creationId xmlns:p14="http://schemas.microsoft.com/office/powerpoint/2010/main" val="9146821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AE2EB-456D-CD62-03E5-37BF7E057637}"/>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98D5B37-BF38-4C78-62EF-284FA2A54257}"/>
              </a:ext>
              <a:ext uri="{C183D7F6-B498-43B3-948B-1728B52AA6E4}">
                <adec:decorative xmlns:adec="http://schemas.microsoft.com/office/drawing/2017/decorative" val="1"/>
              </a:ext>
            </a:extLst>
          </p:cNvPr>
          <p:cNvSpPr>
            <a:spLocks/>
          </p:cNvSpPr>
          <p:nvPr/>
        </p:nvSpPr>
        <p:spPr bwMode="auto">
          <a:xfrm>
            <a:off x="712713" y="1123951"/>
            <a:ext cx="11025188" cy="5082885"/>
          </a:xfrm>
          <a:prstGeom prst="roundRect">
            <a:avLst>
              <a:gd name="adj" fmla="val 4159"/>
            </a:avLst>
          </a:prstGeom>
          <a:no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7F1E9956-B006-D5EB-8EC5-406A0EDB387A}"/>
              </a:ext>
              <a:ext uri="{C183D7F6-B498-43B3-948B-1728B52AA6E4}">
                <adec:decorative xmlns:adec="http://schemas.microsoft.com/office/drawing/2017/decorative" val="1"/>
              </a:ext>
            </a:extLst>
          </p:cNvPr>
          <p:cNvSpPr>
            <a:spLocks/>
          </p:cNvSpPr>
          <p:nvPr/>
        </p:nvSpPr>
        <p:spPr bwMode="auto">
          <a:xfrm flipV="1">
            <a:off x="822112" y="1676398"/>
            <a:ext cx="2493739" cy="4407049"/>
          </a:xfrm>
          <a:prstGeom prst="roundRect">
            <a:avLst>
              <a:gd name="adj" fmla="val 7326"/>
            </a:avLst>
          </a:prstGeom>
          <a:solidFill>
            <a:schemeClr val="bg1">
              <a:lumMod val="95000"/>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Sans Display"/>
              <a:ea typeface="+mn-ea"/>
              <a:cs typeface="+mn-cs"/>
            </a:endParaRPr>
          </a:p>
        </p:txBody>
      </p:sp>
      <p:sp>
        <p:nvSpPr>
          <p:cNvPr id="7" name="Rectangle: Top Corners Rounded 6">
            <a:extLst>
              <a:ext uri="{FF2B5EF4-FFF2-40B4-BE49-F238E27FC236}">
                <a16:creationId xmlns:a16="http://schemas.microsoft.com/office/drawing/2014/main" id="{2FBC96F2-80B0-2439-0AFB-457953E24FD6}"/>
              </a:ext>
              <a:ext uri="{C183D7F6-B498-43B3-948B-1728B52AA6E4}">
                <adec:decorative xmlns:adec="http://schemas.microsoft.com/office/drawing/2017/decorative" val="1"/>
              </a:ext>
            </a:extLst>
          </p:cNvPr>
          <p:cNvSpPr>
            <a:spLocks/>
          </p:cNvSpPr>
          <p:nvPr/>
        </p:nvSpPr>
        <p:spPr bwMode="auto">
          <a:xfrm>
            <a:off x="820524" y="1245115"/>
            <a:ext cx="10806389" cy="594360"/>
          </a:xfrm>
          <a:prstGeom prst="round2SameRect">
            <a:avLst>
              <a:gd name="adj1" fmla="val 22270"/>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1" name="TextBox 20">
            <a:extLst>
              <a:ext uri="{FF2B5EF4-FFF2-40B4-BE49-F238E27FC236}">
                <a16:creationId xmlns:a16="http://schemas.microsoft.com/office/drawing/2014/main" id="{2F6D4888-05E0-40D7-CEAE-11BE12A8E3A4}"/>
              </a:ext>
            </a:extLst>
          </p:cNvPr>
          <p:cNvSpPr txBox="1"/>
          <p:nvPr/>
        </p:nvSpPr>
        <p:spPr>
          <a:xfrm>
            <a:off x="1066835" y="3804024"/>
            <a:ext cx="2004291" cy="184666"/>
          </a:xfrm>
          <a:prstGeom prst="rect">
            <a:avLst/>
          </a:prstGeom>
          <a:noFill/>
        </p:spPr>
        <p:txBody>
          <a:bodyPr wrap="square" lIns="0" tIns="0" rIns="0" bIns="0">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t>Workloads &amp; Services</a:t>
            </a:r>
          </a:p>
        </p:txBody>
      </p:sp>
      <p:sp>
        <p:nvSpPr>
          <p:cNvPr id="33" name="TextBox 32">
            <a:extLst>
              <a:ext uri="{FF2B5EF4-FFF2-40B4-BE49-F238E27FC236}">
                <a16:creationId xmlns:a16="http://schemas.microsoft.com/office/drawing/2014/main" id="{948C3F5B-543A-5131-087D-A4A79903D7D1}"/>
              </a:ext>
              <a:ext uri="{C183D7F6-B498-43B3-948B-1728B52AA6E4}">
                <adec:decorative xmlns:adec="http://schemas.microsoft.com/office/drawing/2017/decorative" val="0"/>
              </a:ext>
            </a:extLst>
          </p:cNvPr>
          <p:cNvSpPr txBox="1"/>
          <p:nvPr/>
        </p:nvSpPr>
        <p:spPr>
          <a:xfrm>
            <a:off x="3423422" y="1993112"/>
            <a:ext cx="4047960" cy="3620114"/>
          </a:xfrm>
          <a:prstGeom prst="roundRect">
            <a:avLst>
              <a:gd name="adj" fmla="val 4273"/>
            </a:avLst>
          </a:prstGeom>
          <a:solidFill>
            <a:schemeClr val="bg1">
              <a:lumMod val="95000"/>
              <a:alpha val="50000"/>
            </a:schemeClr>
          </a:solidFill>
          <a:ln w="3175">
            <a:solidFill>
              <a:srgbClr val="319A89"/>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EXAMPLE USE CASES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Compliance agent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routes a policy question to legal, risk, and product agents and returns one cited answer.</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Specialist handoff assistant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routing a request across HR, IT, and Legal agents based on intent</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Multi-domain assistant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understands question intent and queries the right knowledge base to answer</a:t>
            </a:r>
          </a:p>
          <a:p>
            <a:pPr marL="0" marR="0" lvl="0" indent="0" algn="l" defTabSz="868680" rtl="0" eaLnBrk="1" fontAlgn="auto" latinLnBrk="0" hangingPunct="1">
              <a:lnSpc>
                <a:spcPct val="15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FACTORY DELIVERY</a:t>
            </a:r>
            <a:endParaRPr kumimoji="0" lang="en-US" sz="12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1"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a:ea typeface="+mn-ea"/>
                <a:cs typeface="+mn-cs"/>
              </a:rPr>
              <a:t>1 multi-agent orchestration use case with up to 3 domain specialized agents</a:t>
            </a: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5" name="TextBox 34">
            <a:extLst>
              <a:ext uri="{FF2B5EF4-FFF2-40B4-BE49-F238E27FC236}">
                <a16:creationId xmlns:a16="http://schemas.microsoft.com/office/drawing/2014/main" id="{4F8B11A8-52DF-9887-13A9-C08C39AD8982}"/>
              </a:ext>
              <a:ext uri="{C183D7F6-B498-43B3-948B-1728B52AA6E4}">
                <adec:decorative xmlns:adec="http://schemas.microsoft.com/office/drawing/2017/decorative" val="0"/>
              </a:ext>
            </a:extLst>
          </p:cNvPr>
          <p:cNvSpPr txBox="1"/>
          <p:nvPr/>
        </p:nvSpPr>
        <p:spPr>
          <a:xfrm>
            <a:off x="7528049" y="1993112"/>
            <a:ext cx="4098864" cy="3207886"/>
          </a:xfrm>
          <a:prstGeom prst="roundRect">
            <a:avLst>
              <a:gd name="adj" fmla="val 4273"/>
            </a:avLst>
          </a:prstGeom>
          <a:solidFill>
            <a:schemeClr val="bg1">
              <a:lumMod val="95000"/>
              <a:alpha val="50000"/>
            </a:schemeClr>
          </a:solidFill>
          <a:ln w="3175">
            <a:solidFill>
              <a:srgbClr val="319A89"/>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CUSTOMER SIGNALS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Knowledge spread across SharePoint, OneLake, databases </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Conversational chat scenario requiring distinct domains, each one with their own specialist agents with clean handoff between them</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Queries require decomposition, relevance assessment, and self-correction (reflection) to stay accurate</a:t>
            </a:r>
          </a:p>
          <a:p>
            <a:pPr marL="0" marR="0" lvl="0" indent="0" algn="l" defTabSz="868680" rtl="0" eaLnBrk="1" fontAlgn="auto" latinLnBrk="0" hangingPunct="1">
              <a:lnSpc>
                <a:spcPct val="150000"/>
              </a:lnSpc>
              <a:spcBef>
                <a:spcPts val="0"/>
              </a:spcBef>
              <a:spcAft>
                <a:spcPts val="4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7" name="TextBox 36">
            <a:extLst>
              <a:ext uri="{FF2B5EF4-FFF2-40B4-BE49-F238E27FC236}">
                <a16:creationId xmlns:a16="http://schemas.microsoft.com/office/drawing/2014/main" id="{FFB3065A-004B-B1BA-2878-B807FE4BABC6}"/>
              </a:ext>
            </a:extLst>
          </p:cNvPr>
          <p:cNvSpPr txBox="1"/>
          <p:nvPr/>
        </p:nvSpPr>
        <p:spPr>
          <a:xfrm>
            <a:off x="848478" y="1975364"/>
            <a:ext cx="2441006" cy="1744067"/>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TECHNICAL PATTERNS</a:t>
            </a:r>
            <a:endParaRPr kumimoji="0" lang="en-US" sz="12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1" indent="0" algn="ctr" defTabSz="914400" rtl="0" eaLnBrk="1" fontAlgn="auto" latinLnBrk="0" hangingPunct="1">
              <a:lnSpc>
                <a:spcPct val="100000"/>
              </a:lnSpc>
              <a:spcBef>
                <a:spcPts val="0"/>
              </a:spcBef>
              <a:spcAft>
                <a:spcPts val="400"/>
              </a:spcAft>
              <a:buClrTx/>
              <a:buSzTx/>
              <a:buFontTx/>
              <a:buNone/>
              <a:tabLst/>
              <a:defRPr/>
            </a:pPr>
            <a:br>
              <a:rPr kumimoji="0" lang="en-US" sz="1100" b="1" i="0" u="none" strike="noStrike" kern="0" cap="none" spc="0" normalizeH="0" baseline="0" noProof="0" dirty="0">
                <a:ln>
                  <a:noFill/>
                </a:ln>
                <a:solidFill>
                  <a:srgbClr val="000000"/>
                </a:solidFill>
                <a:effectLst/>
                <a:uLnTx/>
                <a:uFillTx/>
                <a:latin typeface="Segoe Sans Text"/>
                <a:ea typeface="+mn-ea"/>
                <a:cs typeface="+mn-cs"/>
              </a:rPr>
            </a:br>
            <a:r>
              <a:rPr kumimoji="0" lang="en-US" sz="1100" b="1" i="0" u="none" strike="noStrike" kern="0" cap="none" spc="0" normalizeH="0" baseline="0" noProof="0" dirty="0">
                <a:ln>
                  <a:noFill/>
                </a:ln>
                <a:solidFill>
                  <a:srgbClr val="000000"/>
                </a:solidFill>
                <a:effectLst/>
                <a:uLnTx/>
                <a:uFillTx/>
                <a:latin typeface="Segoe Sans Text"/>
                <a:ea typeface="+mn-ea"/>
                <a:cs typeface="+mn-cs"/>
              </a:rPr>
              <a:t>Multi-agent LLM orchestration</a:t>
            </a:r>
          </a:p>
          <a:p>
            <a:pPr marL="0" marR="0" lvl="1" indent="0" algn="ctr" defTabSz="914400" rtl="0" eaLnBrk="1" fontAlgn="auto" latinLnBrk="0" hangingPunct="1">
              <a:lnSpc>
                <a:spcPct val="100000"/>
              </a:lnSpc>
              <a:spcBef>
                <a:spcPts val="0"/>
              </a:spcBef>
              <a:spcAft>
                <a:spcPts val="40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Segoe Sans Text"/>
                <a:ea typeface="+mn-ea"/>
                <a:cs typeface="+mn-cs"/>
              </a:rPr>
              <a:t>Agentic RAG + Foundry IQ</a:t>
            </a:r>
            <a:br>
              <a:rPr kumimoji="0" lang="en-US" sz="1100" b="1" i="0" u="none" strike="noStrike" kern="0" cap="none" spc="0" normalizeH="0" baseline="0" noProof="0" dirty="0">
                <a:ln>
                  <a:noFill/>
                </a:ln>
                <a:solidFill>
                  <a:srgbClr val="000000"/>
                </a:solidFill>
                <a:effectLst/>
                <a:uLnTx/>
                <a:uFillTx/>
                <a:latin typeface="Segoe Sans Text"/>
                <a:ea typeface="+mn-ea"/>
                <a:cs typeface="+mn-cs"/>
              </a:rPr>
            </a:br>
            <a:endParaRPr kumimoji="0" lang="en-US" sz="1100" b="1" i="0" u="none" strike="noStrike" kern="0" cap="none" spc="0" normalizeH="0" baseline="0" noProof="0" dirty="0">
              <a:ln>
                <a:noFill/>
              </a:ln>
              <a:solidFill>
                <a:srgbClr val="000000"/>
              </a:solidFill>
              <a:effectLst/>
              <a:uLnTx/>
              <a:uFillTx/>
              <a:latin typeface="Segoe Sans Text"/>
              <a:ea typeface="+mn-ea"/>
              <a:cs typeface="+mn-cs"/>
            </a:endParaRPr>
          </a:p>
          <a:p>
            <a:pPr marL="0" marR="0" lvl="1" indent="0" algn="ctr" defTabSz="914400" rtl="0" eaLnBrk="1" fontAlgn="auto" latinLnBrk="0" hangingPunct="1">
              <a:lnSpc>
                <a:spcPct val="100000"/>
              </a:lnSpc>
              <a:spcBef>
                <a:spcPts val="0"/>
              </a:spcBef>
              <a:spcAft>
                <a:spcPts val="400"/>
              </a:spcAft>
              <a:buClrTx/>
              <a:buSzTx/>
              <a:buFontTx/>
              <a:buNone/>
              <a:tabLst/>
              <a:defRPr/>
            </a:pPr>
            <a:r>
              <a:rPr kumimoji="0" lang="en-US" sz="900" b="0" i="1" u="none" strike="noStrike" kern="0" cap="none" spc="0" normalizeH="0" baseline="0" noProof="0" dirty="0">
                <a:ln>
                  <a:noFill/>
                </a:ln>
                <a:solidFill>
                  <a:srgbClr val="000000"/>
                </a:solidFill>
                <a:effectLst/>
                <a:uLnTx/>
                <a:uFillTx/>
                <a:latin typeface="Segoe Sans Text"/>
                <a:ea typeface="+mn-ea"/>
                <a:cs typeface="+mn-cs"/>
              </a:rPr>
              <a:t>Conversational agents that use LLM-orchestration to dynamically coordinate multiple agents and tools, executing complex, data-driven tasks with greater accuracy, automation, and scalability</a:t>
            </a:r>
          </a:p>
        </p:txBody>
      </p:sp>
      <p:sp>
        <p:nvSpPr>
          <p:cNvPr id="45" name="TextBox 44">
            <a:extLst>
              <a:ext uri="{FF2B5EF4-FFF2-40B4-BE49-F238E27FC236}">
                <a16:creationId xmlns:a16="http://schemas.microsoft.com/office/drawing/2014/main" id="{E0FBC051-1AD8-E443-AF5A-0FC02EBFE788}"/>
              </a:ext>
            </a:extLst>
          </p:cNvPr>
          <p:cNvSpPr txBox="1"/>
          <p:nvPr/>
        </p:nvSpPr>
        <p:spPr>
          <a:xfrm>
            <a:off x="3423422" y="4995091"/>
            <a:ext cx="8209253" cy="1034519"/>
          </a:xfrm>
          <a:prstGeom prst="roundRect">
            <a:avLst>
              <a:gd name="adj" fmla="val 9675"/>
            </a:avLst>
          </a:prstGeom>
          <a:solidFill>
            <a:schemeClr val="bg1"/>
          </a:solidFill>
          <a:ln w="12700" cap="rnd" cmpd="sng" algn="ctr">
            <a:gradFill flip="none" rotWithShape="1">
              <a:gsLst>
                <a:gs pos="49000">
                  <a:srgbClr val="319A89"/>
                </a:gs>
                <a:gs pos="0">
                  <a:srgbClr val="0078D4"/>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t" anchorCtr="0" forceAA="0" compatLnSpc="1">
            <a:prstTxWarp prst="textNoShape">
              <a:avLst/>
            </a:prstTxWarp>
            <a:noAutofit/>
          </a:bodyPr>
          <a:lstStyle>
            <a:defPPr>
              <a:defRPr lang="en-US"/>
            </a:defPPr>
            <a:lvl1pPr marR="0" lvl="0" indent="0" algn="ctr" defTabSz="885848" fontAlgn="base">
              <a:lnSpc>
                <a:spcPct val="100000"/>
              </a:lnSpc>
              <a:spcBef>
                <a:spcPct val="0"/>
              </a:spcBef>
              <a:spcAft>
                <a:spcPct val="0"/>
              </a:spcAft>
              <a:buClrTx/>
              <a:buSzTx/>
              <a:buFontTx/>
              <a:buNone/>
              <a:tabLst/>
              <a:defRPr kumimoji="0" b="0" i="0" u="none" strike="noStrike" kern="0" cap="none" spc="0" normalizeH="0" baseline="0">
                <a:ln>
                  <a:noFill/>
                </a:ln>
                <a:effectLst/>
                <a:uLnTx/>
                <a:uFillTx/>
                <a:latin typeface="+mj-lt"/>
                <a:cs typeface="Segoe Sans Display Thin"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885848"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Segoe Sans Display Thin" pitchFamily="2" charset="0"/>
              </a:rPr>
              <a:t>Sales Talk Track</a:t>
            </a:r>
          </a:p>
        </p:txBody>
      </p:sp>
      <p:sp>
        <p:nvSpPr>
          <p:cNvPr id="46" name="Text 29">
            <a:extLst>
              <a:ext uri="{FF2B5EF4-FFF2-40B4-BE49-F238E27FC236}">
                <a16:creationId xmlns:a16="http://schemas.microsoft.com/office/drawing/2014/main" id="{057AB300-FFAD-581C-BEAA-A469955F2922}"/>
              </a:ext>
            </a:extLst>
          </p:cNvPr>
          <p:cNvSpPr/>
          <p:nvPr/>
        </p:nvSpPr>
        <p:spPr>
          <a:xfrm>
            <a:off x="3631136" y="5445496"/>
            <a:ext cx="7249298"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000000"/>
                </a:solidFill>
                <a:effectLst/>
                <a:uLnTx/>
                <a:uFillTx/>
                <a:latin typeface="Segoe UI" pitchFamily="34" charset="0"/>
                <a:ea typeface="Segoe UI" pitchFamily="34" charset="-122"/>
                <a:cs typeface="Segoe UI" pitchFamily="34" charset="-120"/>
              </a:rPr>
              <a:t>“This gives you a scalable way to coordinate multiple AI agents and enterprise knowledge sources, without building separate experiences for every domain.”</a:t>
            </a: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0" name="Oval 49">
            <a:extLst>
              <a:ext uri="{FF2B5EF4-FFF2-40B4-BE49-F238E27FC236}">
                <a16:creationId xmlns:a16="http://schemas.microsoft.com/office/drawing/2014/main" id="{AC6E71BE-61ED-0A59-9398-D0B2853AE754}"/>
              </a:ext>
            </a:extLst>
          </p:cNvPr>
          <p:cNvSpPr/>
          <p:nvPr/>
        </p:nvSpPr>
        <p:spPr bwMode="auto">
          <a:xfrm>
            <a:off x="3513696" y="25577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2" name="Oval 51">
            <a:extLst>
              <a:ext uri="{FF2B5EF4-FFF2-40B4-BE49-F238E27FC236}">
                <a16:creationId xmlns:a16="http://schemas.microsoft.com/office/drawing/2014/main" id="{9AEC8795-0607-DBE0-7125-106FB573A3FA}"/>
              </a:ext>
            </a:extLst>
          </p:cNvPr>
          <p:cNvSpPr/>
          <p:nvPr/>
        </p:nvSpPr>
        <p:spPr bwMode="auto">
          <a:xfrm>
            <a:off x="3513696" y="31098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Oval 53">
            <a:extLst>
              <a:ext uri="{FF2B5EF4-FFF2-40B4-BE49-F238E27FC236}">
                <a16:creationId xmlns:a16="http://schemas.microsoft.com/office/drawing/2014/main" id="{1CD8521E-80E8-0C92-C0DE-7B939EE792AC}"/>
              </a:ext>
            </a:extLst>
          </p:cNvPr>
          <p:cNvSpPr/>
          <p:nvPr/>
        </p:nvSpPr>
        <p:spPr bwMode="auto">
          <a:xfrm>
            <a:off x="3513696" y="365812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6" name="Oval 55">
            <a:extLst>
              <a:ext uri="{FF2B5EF4-FFF2-40B4-BE49-F238E27FC236}">
                <a16:creationId xmlns:a16="http://schemas.microsoft.com/office/drawing/2014/main" id="{D9B90E97-DBA7-726A-4928-B9DEBE718153}"/>
              </a:ext>
            </a:extLst>
          </p:cNvPr>
          <p:cNvSpPr/>
          <p:nvPr/>
        </p:nvSpPr>
        <p:spPr bwMode="auto">
          <a:xfrm>
            <a:off x="7618323" y="255590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8" name="Oval 57">
            <a:extLst>
              <a:ext uri="{FF2B5EF4-FFF2-40B4-BE49-F238E27FC236}">
                <a16:creationId xmlns:a16="http://schemas.microsoft.com/office/drawing/2014/main" id="{A36963C2-B645-10A5-9FD6-1A96C61C167B}"/>
              </a:ext>
            </a:extLst>
          </p:cNvPr>
          <p:cNvSpPr/>
          <p:nvPr/>
        </p:nvSpPr>
        <p:spPr bwMode="auto">
          <a:xfrm>
            <a:off x="7618323" y="286706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0" name="Oval 59">
            <a:extLst>
              <a:ext uri="{FF2B5EF4-FFF2-40B4-BE49-F238E27FC236}">
                <a16:creationId xmlns:a16="http://schemas.microsoft.com/office/drawing/2014/main" id="{353B2E75-D2BB-F17C-3222-3DF3A204CEB8}"/>
              </a:ext>
            </a:extLst>
          </p:cNvPr>
          <p:cNvSpPr/>
          <p:nvPr/>
        </p:nvSpPr>
        <p:spPr bwMode="auto">
          <a:xfrm>
            <a:off x="7618323" y="361583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5" name="Rectangle 64">
            <a:extLst>
              <a:ext uri="{FF2B5EF4-FFF2-40B4-BE49-F238E27FC236}">
                <a16:creationId xmlns:a16="http://schemas.microsoft.com/office/drawing/2014/main" id="{C3F3BF87-8388-ABFF-8167-1A679AEBC805}"/>
              </a:ext>
              <a:ext uri="{C183D7F6-B498-43B3-948B-1728B52AA6E4}">
                <adec:decorative xmlns:adec="http://schemas.microsoft.com/office/drawing/2017/decorative" val="1"/>
              </a:ext>
            </a:extLst>
          </p:cNvPr>
          <p:cNvSpPr>
            <a:spLocks/>
          </p:cNvSpPr>
          <p:nvPr/>
        </p:nvSpPr>
        <p:spPr bwMode="auto">
          <a:xfrm rot="5400000">
            <a:off x="-2570147" y="3824064"/>
            <a:ext cx="5976000" cy="103637"/>
          </a:xfrm>
          <a:prstGeom prst="rect">
            <a:avLst/>
          </a:prstGeom>
          <a:gradFill flip="none" rotWithShape="1">
            <a:gsLst>
              <a:gs pos="84000">
                <a:srgbClr val="2AA4C0"/>
              </a:gs>
              <a:gs pos="100000">
                <a:srgbClr val="40BCB5"/>
              </a:gs>
              <a:gs pos="0">
                <a:schemeClr val="tx2"/>
              </a:gs>
            </a:gsLst>
            <a:lin ang="0" scaled="1"/>
            <a:tileRect/>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1200"/>
              </a:spcBef>
              <a:spcAft>
                <a:spcPts val="1200"/>
              </a:spcAft>
            </a:pPr>
            <a:endParaRPr lang="en-US" sz="1600" kern="0" noProof="0" dirty="0">
              <a:solidFill>
                <a:prstClr val="white"/>
              </a:solidFill>
              <a:latin typeface="Segoe Sans Text Semibold"/>
            </a:endParaRPr>
          </a:p>
        </p:txBody>
      </p:sp>
      <p:sp>
        <p:nvSpPr>
          <p:cNvPr id="63" name="TextBox 62">
            <a:extLst>
              <a:ext uri="{FF2B5EF4-FFF2-40B4-BE49-F238E27FC236}">
                <a16:creationId xmlns:a16="http://schemas.microsoft.com/office/drawing/2014/main" id="{559DD63C-F5E9-4C8B-9059-20B0F937E45B}"/>
              </a:ext>
            </a:extLst>
          </p:cNvPr>
          <p:cNvSpPr txBox="1"/>
          <p:nvPr/>
        </p:nvSpPr>
        <p:spPr>
          <a:xfrm>
            <a:off x="153492" y="436170"/>
            <a:ext cx="540000" cy="540000"/>
          </a:xfrm>
          <a:prstGeom prst="ellipse">
            <a:avLst/>
          </a:prstGeom>
          <a:solidFill>
            <a:schemeClr val="bg1"/>
          </a:solidFill>
          <a:ln w="12700" cap="rnd" cmpd="sng" algn="ctr">
            <a:gradFill flip="none" rotWithShape="1">
              <a:gsLst>
                <a:gs pos="51000">
                  <a:srgbClr val="2A72A7"/>
                </a:gs>
                <a:gs pos="0">
                  <a:srgbClr val="0078D4"/>
                </a:gs>
                <a:gs pos="100000">
                  <a:srgbClr val="44C0B3"/>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2800" b="1" i="0" u="none" strike="noStrike" cap="none" spc="0" normalizeH="0" baseline="0">
                <a:ln>
                  <a:noFill/>
                </a:ln>
                <a:solidFill>
                  <a:srgbClr val="000000">
                    <a:lumMod val="75000"/>
                    <a:lumOff val="25000"/>
                  </a:srgbClr>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2</a:t>
            </a:r>
          </a:p>
        </p:txBody>
      </p:sp>
      <p:sp>
        <p:nvSpPr>
          <p:cNvPr id="67" name="Title 101">
            <a:extLst>
              <a:ext uri="{FF2B5EF4-FFF2-40B4-BE49-F238E27FC236}">
                <a16:creationId xmlns:a16="http://schemas.microsoft.com/office/drawing/2014/main" id="{76002EBD-C085-6D50-E505-F828D0DA36C4}"/>
              </a:ext>
            </a:extLst>
          </p:cNvPr>
          <p:cNvSpPr txBox="1">
            <a:spLocks/>
          </p:cNvSpPr>
          <p:nvPr/>
        </p:nvSpPr>
        <p:spPr>
          <a:xfrm>
            <a:off x="906034" y="454190"/>
            <a:ext cx="11017250" cy="738664"/>
          </a:xfrm>
          <a:prstGeom prst="rect">
            <a:avLst/>
          </a:prstGeom>
        </p:spPr>
        <p:txBody>
          <a:bodyPr vert="horz" wrap="square" lIns="0" tIns="0" rIns="0" bIns="0" rtlCol="0" anchor="t">
            <a:noAutofit/>
          </a:bodyPr>
          <a:lstStyle>
            <a:defPPr>
              <a:defRPr lang="en-US"/>
            </a:defPPr>
            <a:lvl1pPr marR="0" lvl="0" indent="0" defTabSz="932742" fontAlgn="auto">
              <a:lnSpc>
                <a:spcPct val="100000"/>
              </a:lnSpc>
              <a:spcBef>
                <a:spcPts val="1800"/>
              </a:spcBef>
              <a:spcAft>
                <a:spcPts val="0"/>
              </a:spcAft>
              <a:buClrTx/>
              <a:buSzPct val="90000"/>
              <a:buFont typeface="Wingdings" panose="05000000000000000000" pitchFamily="2" charset="2"/>
              <a:buNone/>
              <a:tabLst/>
              <a:defRPr kumimoji="0" sz="2400" b="0" i="0" u="none" strike="noStrike" cap="none" spc="-50" normalizeH="0" baseline="0">
                <a:ln w="3175">
                  <a:noFill/>
                </a:ln>
                <a:solidFill>
                  <a:srgbClr val="0078D4"/>
                </a:solidFill>
                <a:effectLst/>
                <a:uLnTx/>
                <a:uFillTx/>
                <a:latin typeface="Segoe Sans Text Semibold"/>
                <a:ea typeface="+mj-ea"/>
                <a:cs typeface="Segoe UI" pitchFamily="34" charset="0"/>
              </a:defRPr>
            </a:lvl1pPr>
          </a:lstStyle>
          <a:p>
            <a:r>
              <a:rPr lang="en-US" noProof="0" dirty="0"/>
              <a:t>Cloud Accelerate Factory</a:t>
            </a:r>
            <a:br>
              <a:rPr lang="en-US" noProof="0" dirty="0"/>
            </a:br>
            <a:r>
              <a:rPr lang="en-US" sz="1600" noProof="0" dirty="0">
                <a:solidFill>
                  <a:schemeClr val="tx1"/>
                </a:solidFill>
              </a:rPr>
              <a:t>Agent Patterns</a:t>
            </a:r>
          </a:p>
        </p:txBody>
      </p:sp>
      <p:sp>
        <p:nvSpPr>
          <p:cNvPr id="2" name="TextBox 1">
            <a:extLst>
              <a:ext uri="{FF2B5EF4-FFF2-40B4-BE49-F238E27FC236}">
                <a16:creationId xmlns:a16="http://schemas.microsoft.com/office/drawing/2014/main" id="{F9BE5109-53FF-9C5D-454D-10CD0D96E564}"/>
              </a:ext>
            </a:extLst>
          </p:cNvPr>
          <p:cNvSpPr txBox="1"/>
          <p:nvPr/>
        </p:nvSpPr>
        <p:spPr>
          <a:xfrm>
            <a:off x="9315380" y="706677"/>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Medium Complexity</a:t>
            </a:r>
          </a:p>
        </p:txBody>
      </p:sp>
      <p:sp>
        <p:nvSpPr>
          <p:cNvPr id="4" name="TextBox 3">
            <a:extLst>
              <a:ext uri="{FF2B5EF4-FFF2-40B4-BE49-F238E27FC236}">
                <a16:creationId xmlns:a16="http://schemas.microsoft.com/office/drawing/2014/main" id="{0192213F-51E6-8D28-9621-BAC0FA0EB76B}"/>
              </a:ext>
            </a:extLst>
          </p:cNvPr>
          <p:cNvSpPr txBox="1"/>
          <p:nvPr/>
        </p:nvSpPr>
        <p:spPr>
          <a:xfrm>
            <a:off x="9315379" y="268122"/>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Single or Multi Agent</a:t>
            </a:r>
          </a:p>
        </p:txBody>
      </p:sp>
      <p:sp>
        <p:nvSpPr>
          <p:cNvPr id="14" name="TextBox 13">
            <a:extLst>
              <a:ext uri="{FF2B5EF4-FFF2-40B4-BE49-F238E27FC236}">
                <a16:creationId xmlns:a16="http://schemas.microsoft.com/office/drawing/2014/main" id="{1E4DE238-255C-BFA1-161C-1EA680B6E092}"/>
              </a:ext>
            </a:extLst>
          </p:cNvPr>
          <p:cNvSpPr txBox="1"/>
          <p:nvPr/>
        </p:nvSpPr>
        <p:spPr>
          <a:xfrm>
            <a:off x="1024981" y="4060178"/>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Copilot Studio</a:t>
            </a:r>
          </a:p>
        </p:txBody>
      </p:sp>
      <p:sp>
        <p:nvSpPr>
          <p:cNvPr id="15" name="TextBox 14">
            <a:extLst>
              <a:ext uri="{FF2B5EF4-FFF2-40B4-BE49-F238E27FC236}">
                <a16:creationId xmlns:a16="http://schemas.microsoft.com/office/drawing/2014/main" id="{3B019C8D-7978-AC8E-8838-F94233276732}"/>
              </a:ext>
            </a:extLst>
          </p:cNvPr>
          <p:cNvSpPr txBox="1"/>
          <p:nvPr/>
        </p:nvSpPr>
        <p:spPr>
          <a:xfrm>
            <a:off x="1024981" y="5709195"/>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Azure AI Search</a:t>
            </a:r>
          </a:p>
        </p:txBody>
      </p:sp>
      <p:sp>
        <p:nvSpPr>
          <p:cNvPr id="22" name="TextBox 21">
            <a:extLst>
              <a:ext uri="{FF2B5EF4-FFF2-40B4-BE49-F238E27FC236}">
                <a16:creationId xmlns:a16="http://schemas.microsoft.com/office/drawing/2014/main" id="{F407E0B8-034D-33AE-B466-2363A8999870}"/>
              </a:ext>
            </a:extLst>
          </p:cNvPr>
          <p:cNvSpPr txBox="1"/>
          <p:nvPr/>
        </p:nvSpPr>
        <p:spPr>
          <a:xfrm>
            <a:off x="1024981" y="4719784"/>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Foundry IQ</a:t>
            </a:r>
          </a:p>
        </p:txBody>
      </p:sp>
      <p:sp>
        <p:nvSpPr>
          <p:cNvPr id="23" name="TextBox 22">
            <a:extLst>
              <a:ext uri="{FF2B5EF4-FFF2-40B4-BE49-F238E27FC236}">
                <a16:creationId xmlns:a16="http://schemas.microsoft.com/office/drawing/2014/main" id="{13FDF51E-85B1-8E00-E8BA-2A5CB45CA5FE}"/>
              </a:ext>
            </a:extLst>
          </p:cNvPr>
          <p:cNvSpPr txBox="1"/>
          <p:nvPr/>
        </p:nvSpPr>
        <p:spPr>
          <a:xfrm>
            <a:off x="1024981" y="5049587"/>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050" noProof="0" dirty="0"/>
              <a:t>Microsoft Agent Framework</a:t>
            </a:r>
          </a:p>
        </p:txBody>
      </p:sp>
      <p:sp>
        <p:nvSpPr>
          <p:cNvPr id="24" name="TextBox 23">
            <a:extLst>
              <a:ext uri="{FF2B5EF4-FFF2-40B4-BE49-F238E27FC236}">
                <a16:creationId xmlns:a16="http://schemas.microsoft.com/office/drawing/2014/main" id="{CD943F60-FBC1-63E9-82F3-66D4FDC25051}"/>
              </a:ext>
            </a:extLst>
          </p:cNvPr>
          <p:cNvSpPr txBox="1"/>
          <p:nvPr/>
        </p:nvSpPr>
        <p:spPr>
          <a:xfrm>
            <a:off x="1024981" y="5379390"/>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050" noProof="0" dirty="0"/>
              <a:t>Azure Integration Services</a:t>
            </a:r>
          </a:p>
        </p:txBody>
      </p:sp>
      <p:sp>
        <p:nvSpPr>
          <p:cNvPr id="25" name="TextBox 24">
            <a:extLst>
              <a:ext uri="{FF2B5EF4-FFF2-40B4-BE49-F238E27FC236}">
                <a16:creationId xmlns:a16="http://schemas.microsoft.com/office/drawing/2014/main" id="{5E71F91B-3B2D-484D-A829-0715882F5302}"/>
              </a:ext>
            </a:extLst>
          </p:cNvPr>
          <p:cNvSpPr txBox="1"/>
          <p:nvPr/>
        </p:nvSpPr>
        <p:spPr>
          <a:xfrm>
            <a:off x="1024981" y="4389981"/>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Microsoft Foundry</a:t>
            </a:r>
          </a:p>
        </p:txBody>
      </p:sp>
      <p:sp>
        <p:nvSpPr>
          <p:cNvPr id="6" name="TextBox 5">
            <a:extLst>
              <a:ext uri="{FF2B5EF4-FFF2-40B4-BE49-F238E27FC236}">
                <a16:creationId xmlns:a16="http://schemas.microsoft.com/office/drawing/2014/main" id="{806D0BDE-EDCC-F74E-B882-126E83ADB989}"/>
              </a:ext>
            </a:extLst>
          </p:cNvPr>
          <p:cNvSpPr txBox="1"/>
          <p:nvPr/>
        </p:nvSpPr>
        <p:spPr>
          <a:xfrm>
            <a:off x="6897575" y="272085"/>
            <a:ext cx="2311533" cy="302955"/>
          </a:xfrm>
          <a:prstGeom prst="roundRect">
            <a:avLst>
              <a:gd name="adj" fmla="val 50000"/>
            </a:avLst>
          </a:prstGeom>
          <a:solidFill>
            <a:schemeClr val="tx2"/>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b="1" noProof="0" dirty="0">
                <a:solidFill>
                  <a:schemeClr val="bg1"/>
                </a:solidFill>
              </a:rPr>
              <a:t>SCOPE 1</a:t>
            </a:r>
          </a:p>
        </p:txBody>
      </p:sp>
    </p:spTree>
    <p:extLst>
      <p:ext uri="{BB962C8B-B14F-4D97-AF65-F5344CB8AC3E}">
        <p14:creationId xmlns:p14="http://schemas.microsoft.com/office/powerpoint/2010/main" val="1531735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6" presetClass="emph" presetSubtype="0" fill="hold" grpId="1" nodeType="withEffect">
                                  <p:stCondLst>
                                    <p:cond delay="0"/>
                                  </p:stCondLst>
                                  <p:childTnLst>
                                    <p:animScale>
                                      <p:cBhvr>
                                        <p:cTn id="9" dur="100" fill="hold"/>
                                        <p:tgtEl>
                                          <p:spTgt spid="4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63"/>
                                        </p:tgtEl>
                                        <p:attrNameLst>
                                          <p:attrName>style.visibility</p:attrName>
                                        </p:attrNameLst>
                                      </p:cBhvr>
                                      <p:to>
                                        <p:strVal val="visible"/>
                                      </p:to>
                                    </p:set>
                                    <p:animEffect transition="in" filter="fade">
                                      <p:cBhvr>
                                        <p:cTn id="14" dur="500"/>
                                        <p:tgtEl>
                                          <p:spTgt spid="63"/>
                                        </p:tgtEl>
                                      </p:cBhvr>
                                    </p:animEffect>
                                  </p:childTnLst>
                                </p:cTn>
                              </p:par>
                              <p:par>
                                <p:cTn id="15" presetID="6" presetClass="emph" presetSubtype="0" fill="hold" grpId="1" nodeType="withEffect">
                                  <p:stCondLst>
                                    <p:cond delay="0"/>
                                  </p:stCondLst>
                                  <p:childTnLst>
                                    <p:animScale>
                                      <p:cBhvr>
                                        <p:cTn id="16" dur="100" fill="hold"/>
                                        <p:tgtEl>
                                          <p:spTgt spid="63"/>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63"/>
                                        </p:tgtEl>
                                      </p:cBhvr>
                                      <p:by x="400000" y="400000"/>
                                    </p:animScale>
                                  </p:childTnLst>
                                </p:cTn>
                              </p:par>
                              <p:par>
                                <p:cTn id="19" presetID="10" presetClass="entr" presetSubtype="0" fill="hold" grpId="0" nodeType="withEffect">
                                  <p:stCondLst>
                                    <p:cond delay="20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6" presetClass="emph" presetSubtype="0" fill="hold" grpId="1" nodeType="withEffect">
                                  <p:stCondLst>
                                    <p:cond delay="0"/>
                                  </p:stCondLst>
                                  <p:childTnLst>
                                    <p:animScale>
                                      <p:cBhvr>
                                        <p:cTn id="23" dur="100" fill="hold"/>
                                        <p:tgtEl>
                                          <p:spTgt spid="2"/>
                                        </p:tgtEl>
                                      </p:cBhvr>
                                      <p:by x="25000" y="25000"/>
                                    </p:animScale>
                                  </p:childTnLst>
                                </p:cTn>
                              </p:par>
                              <p:par>
                                <p:cTn id="24" presetID="6" presetClass="emph" presetSubtype="0" decel="100000" fill="hold" grpId="2" nodeType="withEffect">
                                  <p:stCondLst>
                                    <p:cond delay="200"/>
                                  </p:stCondLst>
                                  <p:childTnLst>
                                    <p:animScale>
                                      <p:cBhvr>
                                        <p:cTn id="25" dur="500" fill="hold"/>
                                        <p:tgtEl>
                                          <p:spTgt spid="2"/>
                                        </p:tgtEl>
                                      </p:cBhvr>
                                      <p:by x="400000" y="400000"/>
                                    </p:animScale>
                                  </p:childTnLst>
                                </p:cTn>
                              </p:par>
                              <p:par>
                                <p:cTn id="26" presetID="10" presetClass="entr" presetSubtype="0" fill="hold" grpId="0" nodeType="withEffect">
                                  <p:stCondLst>
                                    <p:cond delay="2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6" presetClass="emph" presetSubtype="0" fill="hold" grpId="1" nodeType="withEffect">
                                  <p:stCondLst>
                                    <p:cond delay="0"/>
                                  </p:stCondLst>
                                  <p:childTnLst>
                                    <p:animScale>
                                      <p:cBhvr>
                                        <p:cTn id="30" dur="100" fill="hold"/>
                                        <p:tgtEl>
                                          <p:spTgt spid="4"/>
                                        </p:tgtEl>
                                      </p:cBhvr>
                                      <p:by x="25000" y="25000"/>
                                    </p:animScale>
                                  </p:childTnLst>
                                </p:cTn>
                              </p:par>
                              <p:par>
                                <p:cTn id="31" presetID="6" presetClass="emph" presetSubtype="0" decel="100000" fill="hold" grpId="2" nodeType="withEffect">
                                  <p:stCondLst>
                                    <p:cond delay="200"/>
                                  </p:stCondLst>
                                  <p:childTnLst>
                                    <p:animScale>
                                      <p:cBhvr>
                                        <p:cTn id="32" dur="500" fill="hold"/>
                                        <p:tgtEl>
                                          <p:spTgt spid="4"/>
                                        </p:tgtEl>
                                      </p:cBhvr>
                                      <p:by x="400000" y="400000"/>
                                    </p:animScale>
                                  </p:childTnLst>
                                </p:cTn>
                              </p:par>
                              <p:par>
                                <p:cTn id="33" presetID="10" presetClass="entr" presetSubtype="0" fill="hold" grpId="0" nodeType="withEffect">
                                  <p:stCondLst>
                                    <p:cond delay="2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6" presetClass="emph" presetSubtype="0" fill="hold" grpId="1" nodeType="withEffect">
                                  <p:stCondLst>
                                    <p:cond delay="0"/>
                                  </p:stCondLst>
                                  <p:childTnLst>
                                    <p:animScale>
                                      <p:cBhvr>
                                        <p:cTn id="37" dur="100" fill="hold"/>
                                        <p:tgtEl>
                                          <p:spTgt spid="14"/>
                                        </p:tgtEl>
                                      </p:cBhvr>
                                      <p:by x="25000" y="25000"/>
                                    </p:animScale>
                                  </p:childTnLst>
                                </p:cTn>
                              </p:par>
                              <p:par>
                                <p:cTn id="38" presetID="6" presetClass="emph" presetSubtype="0" decel="100000" fill="hold" grpId="2" nodeType="withEffect">
                                  <p:stCondLst>
                                    <p:cond delay="200"/>
                                  </p:stCondLst>
                                  <p:childTnLst>
                                    <p:animScale>
                                      <p:cBhvr>
                                        <p:cTn id="39" dur="500" fill="hold"/>
                                        <p:tgtEl>
                                          <p:spTgt spid="14"/>
                                        </p:tgtEl>
                                      </p:cBhvr>
                                      <p:by x="400000" y="400000"/>
                                    </p:animScale>
                                  </p:childTnLst>
                                </p:cTn>
                              </p:par>
                              <p:par>
                                <p:cTn id="40" presetID="10" presetClass="entr" presetSubtype="0" fill="hold" grpId="0" nodeType="withEffect">
                                  <p:stCondLst>
                                    <p:cond delay="2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6" presetClass="emph" presetSubtype="0" fill="hold" grpId="1" nodeType="withEffect">
                                  <p:stCondLst>
                                    <p:cond delay="0"/>
                                  </p:stCondLst>
                                  <p:childTnLst>
                                    <p:animScale>
                                      <p:cBhvr>
                                        <p:cTn id="44" dur="100" fill="hold"/>
                                        <p:tgtEl>
                                          <p:spTgt spid="15"/>
                                        </p:tgtEl>
                                      </p:cBhvr>
                                      <p:by x="25000" y="25000"/>
                                    </p:animScale>
                                  </p:childTnLst>
                                </p:cTn>
                              </p:par>
                              <p:par>
                                <p:cTn id="45" presetID="6" presetClass="emph" presetSubtype="0" decel="100000" fill="hold" grpId="2" nodeType="withEffect">
                                  <p:stCondLst>
                                    <p:cond delay="200"/>
                                  </p:stCondLst>
                                  <p:childTnLst>
                                    <p:animScale>
                                      <p:cBhvr>
                                        <p:cTn id="46" dur="500" fill="hold"/>
                                        <p:tgtEl>
                                          <p:spTgt spid="15"/>
                                        </p:tgtEl>
                                      </p:cBhvr>
                                      <p:by x="400000" y="400000"/>
                                    </p:animScale>
                                  </p:childTnLst>
                                </p:cTn>
                              </p:par>
                              <p:par>
                                <p:cTn id="47" presetID="10" presetClass="entr" presetSubtype="0" fill="hold" grpId="0" nodeType="withEffect">
                                  <p:stCondLst>
                                    <p:cond delay="20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6" presetClass="emph" presetSubtype="0" fill="hold" grpId="1" nodeType="withEffect">
                                  <p:stCondLst>
                                    <p:cond delay="0"/>
                                  </p:stCondLst>
                                  <p:childTnLst>
                                    <p:animScale>
                                      <p:cBhvr>
                                        <p:cTn id="51" dur="100" fill="hold"/>
                                        <p:tgtEl>
                                          <p:spTgt spid="22"/>
                                        </p:tgtEl>
                                      </p:cBhvr>
                                      <p:by x="25000" y="25000"/>
                                    </p:animScale>
                                  </p:childTnLst>
                                </p:cTn>
                              </p:par>
                              <p:par>
                                <p:cTn id="52" presetID="6" presetClass="emph" presetSubtype="0" decel="100000" fill="hold" grpId="2" nodeType="withEffect">
                                  <p:stCondLst>
                                    <p:cond delay="200"/>
                                  </p:stCondLst>
                                  <p:childTnLst>
                                    <p:animScale>
                                      <p:cBhvr>
                                        <p:cTn id="53" dur="500" fill="hold"/>
                                        <p:tgtEl>
                                          <p:spTgt spid="22"/>
                                        </p:tgtEl>
                                      </p:cBhvr>
                                      <p:by x="400000" y="400000"/>
                                    </p:animScale>
                                  </p:childTnLst>
                                </p:cTn>
                              </p:par>
                              <p:par>
                                <p:cTn id="54" presetID="10" presetClass="entr" presetSubtype="0" fill="hold" grpId="0" nodeType="withEffect">
                                  <p:stCondLst>
                                    <p:cond delay="20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6" presetClass="emph" presetSubtype="0" fill="hold" grpId="1" nodeType="withEffect">
                                  <p:stCondLst>
                                    <p:cond delay="0"/>
                                  </p:stCondLst>
                                  <p:childTnLst>
                                    <p:animScale>
                                      <p:cBhvr>
                                        <p:cTn id="58" dur="100" fill="hold"/>
                                        <p:tgtEl>
                                          <p:spTgt spid="23"/>
                                        </p:tgtEl>
                                      </p:cBhvr>
                                      <p:by x="25000" y="25000"/>
                                    </p:animScale>
                                  </p:childTnLst>
                                </p:cTn>
                              </p:par>
                              <p:par>
                                <p:cTn id="59" presetID="6" presetClass="emph" presetSubtype="0" decel="100000" fill="hold" grpId="2" nodeType="withEffect">
                                  <p:stCondLst>
                                    <p:cond delay="200"/>
                                  </p:stCondLst>
                                  <p:childTnLst>
                                    <p:animScale>
                                      <p:cBhvr>
                                        <p:cTn id="60" dur="500" fill="hold"/>
                                        <p:tgtEl>
                                          <p:spTgt spid="23"/>
                                        </p:tgtEl>
                                      </p:cBhvr>
                                      <p:by x="400000" y="400000"/>
                                    </p:animScale>
                                  </p:childTnLst>
                                </p:cTn>
                              </p:par>
                              <p:par>
                                <p:cTn id="61" presetID="10" presetClass="entr" presetSubtype="0" fill="hold" grpId="0" nodeType="withEffect">
                                  <p:stCondLst>
                                    <p:cond delay="20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6" presetClass="emph" presetSubtype="0" fill="hold" grpId="1" nodeType="withEffect">
                                  <p:stCondLst>
                                    <p:cond delay="0"/>
                                  </p:stCondLst>
                                  <p:childTnLst>
                                    <p:animScale>
                                      <p:cBhvr>
                                        <p:cTn id="65" dur="100" fill="hold"/>
                                        <p:tgtEl>
                                          <p:spTgt spid="24"/>
                                        </p:tgtEl>
                                      </p:cBhvr>
                                      <p:by x="25000" y="25000"/>
                                    </p:animScale>
                                  </p:childTnLst>
                                </p:cTn>
                              </p:par>
                              <p:par>
                                <p:cTn id="66" presetID="6" presetClass="emph" presetSubtype="0" decel="100000" fill="hold" grpId="2" nodeType="withEffect">
                                  <p:stCondLst>
                                    <p:cond delay="200"/>
                                  </p:stCondLst>
                                  <p:childTnLst>
                                    <p:animScale>
                                      <p:cBhvr>
                                        <p:cTn id="67" dur="500" fill="hold"/>
                                        <p:tgtEl>
                                          <p:spTgt spid="24"/>
                                        </p:tgtEl>
                                      </p:cBhvr>
                                      <p:by x="400000" y="400000"/>
                                    </p:animScale>
                                  </p:childTnLst>
                                </p:cTn>
                              </p:par>
                              <p:par>
                                <p:cTn id="68" presetID="10" presetClass="entr" presetSubtype="0" fill="hold" grpId="0" nodeType="withEffect">
                                  <p:stCondLst>
                                    <p:cond delay="2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6" presetClass="emph" presetSubtype="0" fill="hold" grpId="1" nodeType="withEffect">
                                  <p:stCondLst>
                                    <p:cond delay="0"/>
                                  </p:stCondLst>
                                  <p:childTnLst>
                                    <p:animScale>
                                      <p:cBhvr>
                                        <p:cTn id="72" dur="100" fill="hold"/>
                                        <p:tgtEl>
                                          <p:spTgt spid="25"/>
                                        </p:tgtEl>
                                      </p:cBhvr>
                                      <p:by x="25000" y="25000"/>
                                    </p:animScale>
                                  </p:childTnLst>
                                </p:cTn>
                              </p:par>
                              <p:par>
                                <p:cTn id="73" presetID="6" presetClass="emph" presetSubtype="0" decel="100000" fill="hold" grpId="2" nodeType="withEffect">
                                  <p:stCondLst>
                                    <p:cond delay="200"/>
                                  </p:stCondLst>
                                  <p:childTnLst>
                                    <p:animScale>
                                      <p:cBhvr>
                                        <p:cTn id="74" dur="500" fill="hold"/>
                                        <p:tgtEl>
                                          <p:spTgt spid="25"/>
                                        </p:tgtEl>
                                      </p:cBhvr>
                                      <p:by x="400000" y="400000"/>
                                    </p:animScale>
                                  </p:childTnLst>
                                </p:cTn>
                              </p:par>
                              <p:par>
                                <p:cTn id="75" presetID="10" presetClass="entr" presetSubtype="0" fill="hold" grpId="0" nodeType="withEffect">
                                  <p:stCondLst>
                                    <p:cond delay="200"/>
                                  </p:stCondLst>
                                  <p:childTnLst>
                                    <p:set>
                                      <p:cBhvr>
                                        <p:cTn id="76" dur="1" fill="hold">
                                          <p:stCondLst>
                                            <p:cond delay="0"/>
                                          </p:stCondLst>
                                        </p:cTn>
                                        <p:tgtEl>
                                          <p:spTgt spid="6"/>
                                        </p:tgtEl>
                                        <p:attrNameLst>
                                          <p:attrName>style.visibility</p:attrName>
                                        </p:attrNameLst>
                                      </p:cBhvr>
                                      <p:to>
                                        <p:strVal val="visible"/>
                                      </p:to>
                                    </p:set>
                                    <p:animEffect transition="in" filter="fade">
                                      <p:cBhvr>
                                        <p:cTn id="77" dur="500"/>
                                        <p:tgtEl>
                                          <p:spTgt spid="6"/>
                                        </p:tgtEl>
                                      </p:cBhvr>
                                    </p:animEffect>
                                  </p:childTnLst>
                                </p:cTn>
                              </p:par>
                              <p:par>
                                <p:cTn id="78" presetID="6" presetClass="emph" presetSubtype="0" fill="hold" grpId="1" nodeType="withEffect">
                                  <p:stCondLst>
                                    <p:cond delay="0"/>
                                  </p:stCondLst>
                                  <p:childTnLst>
                                    <p:animScale>
                                      <p:cBhvr>
                                        <p:cTn id="79" dur="100" fill="hold"/>
                                        <p:tgtEl>
                                          <p:spTgt spid="6"/>
                                        </p:tgtEl>
                                      </p:cBhvr>
                                      <p:by x="25000" y="25000"/>
                                    </p:animScale>
                                  </p:childTnLst>
                                </p:cTn>
                              </p:par>
                              <p:par>
                                <p:cTn id="80" presetID="6" presetClass="emph" presetSubtype="0" decel="100000" fill="hold" grpId="2" nodeType="withEffect">
                                  <p:stCondLst>
                                    <p:cond delay="200"/>
                                  </p:stCondLst>
                                  <p:childTnLst>
                                    <p:animScale>
                                      <p:cBhvr>
                                        <p:cTn id="81" dur="5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5" grpId="2" animBg="1"/>
      <p:bldP spid="63" grpId="0" animBg="1"/>
      <p:bldP spid="63" grpId="1" animBg="1"/>
      <p:bldP spid="63" grpId="2" animBg="1"/>
      <p:bldP spid="2" grpId="0" animBg="1"/>
      <p:bldP spid="2" grpId="1" animBg="1"/>
      <p:bldP spid="2" grpId="2" animBg="1"/>
      <p:bldP spid="4" grpId="0" animBg="1"/>
      <p:bldP spid="4" grpId="1" animBg="1"/>
      <p:bldP spid="4" grpId="2" animBg="1"/>
      <p:bldP spid="14" grpId="0" animBg="1"/>
      <p:bldP spid="14" grpId="1" animBg="1"/>
      <p:bldP spid="14" grpId="2" animBg="1"/>
      <p:bldP spid="15" grpId="0" animBg="1"/>
      <p:bldP spid="15" grpId="1" animBg="1"/>
      <p:bldP spid="15" grpId="2" animBg="1"/>
      <p:bldP spid="22" grpId="0" animBg="1"/>
      <p:bldP spid="22" grpId="1" animBg="1"/>
      <p:bldP spid="22" grpId="2" animBg="1"/>
      <p:bldP spid="23" grpId="0" animBg="1"/>
      <p:bldP spid="23" grpId="1" animBg="1"/>
      <p:bldP spid="23" grpId="2" animBg="1"/>
      <p:bldP spid="24" grpId="0" animBg="1"/>
      <p:bldP spid="24" grpId="1" animBg="1"/>
      <p:bldP spid="24" grpId="2" animBg="1"/>
      <p:bldP spid="25" grpId="0" animBg="1"/>
      <p:bldP spid="25" grpId="1" animBg="1"/>
      <p:bldP spid="25" grpId="2" animBg="1"/>
      <p:bldP spid="6" grpId="0" animBg="1"/>
      <p:bldP spid="6" grpId="1" animBg="1"/>
      <p:bldP spid="6" grpId="2"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7D651-A276-2E28-C292-49157098DB1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1170513-AEDD-77C6-7943-2EBDB04B549D}"/>
              </a:ext>
              <a:ext uri="{C183D7F6-B498-43B3-948B-1728B52AA6E4}">
                <adec:decorative xmlns:adec="http://schemas.microsoft.com/office/drawing/2017/decorative" val="1"/>
              </a:ext>
            </a:extLst>
          </p:cNvPr>
          <p:cNvSpPr>
            <a:spLocks/>
          </p:cNvSpPr>
          <p:nvPr/>
        </p:nvSpPr>
        <p:spPr bwMode="auto">
          <a:xfrm>
            <a:off x="0" y="0"/>
            <a:ext cx="12192000" cy="1328749"/>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pic>
        <p:nvPicPr>
          <p:cNvPr id="4" name="Picture 3" descr="The image depicts a visual representation of an intelligent orchestration system, showcasing a multi-agent solution that connects various siloed sources and tools, routing each request to the appropriate specialist agent for a unified answer. It includes a comprehensive solution for education, healthcare, manufacturing, and other industries, featuring roles such as faculty, clinical lead, and shop-floor staff. The solution delivers unified, scaled, and consistent guidelines through an enterprise-grade Al speech platform, offering multilingual voice capabilities and hands-free productivity.&#10;&#10;AI-generated content may be incorrect.">
            <a:extLst>
              <a:ext uri="{FF2B5EF4-FFF2-40B4-BE49-F238E27FC236}">
                <a16:creationId xmlns:a16="http://schemas.microsoft.com/office/drawing/2014/main" id="{9BF1121F-153A-5A5B-41B4-E7772843B191}"/>
              </a:ext>
            </a:extLst>
          </p:cNvPr>
          <p:cNvPicPr>
            <a:picLocks noChangeAspect="1"/>
          </p:cNvPicPr>
          <p:nvPr/>
        </p:nvPicPr>
        <p:blipFill>
          <a:blip r:embed="rId2"/>
          <a:stretch>
            <a:fillRect/>
          </a:stretch>
        </p:blipFill>
        <p:spPr>
          <a:xfrm>
            <a:off x="0" y="1328749"/>
            <a:ext cx="12192000" cy="5526745"/>
          </a:xfrm>
          <a:prstGeom prst="rect">
            <a:avLst/>
          </a:prstGeom>
        </p:spPr>
      </p:pic>
      <p:sp>
        <p:nvSpPr>
          <p:cNvPr id="9" name="Title 5">
            <a:extLst>
              <a:ext uri="{FF2B5EF4-FFF2-40B4-BE49-F238E27FC236}">
                <a16:creationId xmlns:a16="http://schemas.microsoft.com/office/drawing/2014/main" id="{F0A3B37E-B5AF-4FB5-C050-F9FFB325760D}"/>
              </a:ext>
            </a:extLst>
          </p:cNvPr>
          <p:cNvSpPr txBox="1">
            <a:spLocks/>
          </p:cNvSpPr>
          <p:nvPr/>
        </p:nvSpPr>
        <p:spPr>
          <a:xfrm>
            <a:off x="0" y="664374"/>
            <a:ext cx="12192000" cy="369332"/>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algn="ctr" defTabSz="914400">
              <a:spcBef>
                <a:spcPts val="0"/>
              </a:spcBef>
              <a:defRPr/>
            </a:pPr>
            <a:r>
              <a:rPr lang="en-US" sz="2400" noProof="0" dirty="0">
                <a:solidFill>
                  <a:schemeClr val="bg1"/>
                </a:solidFill>
              </a:rPr>
              <a:t>Industry &amp; Persona Examples – Intelligent Orchestration Pattern</a:t>
            </a:r>
          </a:p>
        </p:txBody>
      </p:sp>
      <p:sp>
        <p:nvSpPr>
          <p:cNvPr id="10" name="TextBox 9">
            <a:extLst>
              <a:ext uri="{FF2B5EF4-FFF2-40B4-BE49-F238E27FC236}">
                <a16:creationId xmlns:a16="http://schemas.microsoft.com/office/drawing/2014/main" id="{76B55839-679C-86F1-C025-D5BB2416E815}"/>
              </a:ext>
            </a:extLst>
          </p:cNvPr>
          <p:cNvSpPr txBox="1"/>
          <p:nvPr/>
        </p:nvSpPr>
        <p:spPr>
          <a:xfrm>
            <a:off x="9546288" y="180710"/>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Scope 1</a:t>
            </a:r>
          </a:p>
        </p:txBody>
      </p:sp>
    </p:spTree>
    <p:extLst>
      <p:ext uri="{BB962C8B-B14F-4D97-AF65-F5344CB8AC3E}">
        <p14:creationId xmlns:p14="http://schemas.microsoft.com/office/powerpoint/2010/main" val="13419697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6" presetClass="emph" presetSubtype="0" fill="hold" grpId="1" nodeType="withEffect">
                                  <p:stCondLst>
                                    <p:cond delay="0"/>
                                  </p:stCondLst>
                                  <p:childTnLst>
                                    <p:animScale>
                                      <p:cBhvr>
                                        <p:cTn id="9" dur="100" fill="hold"/>
                                        <p:tgtEl>
                                          <p:spTgt spid="10"/>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00076-2402-93BA-5E66-78121AFE8207}"/>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BEA0785-1BF2-ACD4-79D9-DD0549B35A45}"/>
              </a:ext>
              <a:ext uri="{C183D7F6-B498-43B3-948B-1728B52AA6E4}">
                <adec:decorative xmlns:adec="http://schemas.microsoft.com/office/drawing/2017/decorative" val="1"/>
              </a:ext>
            </a:extLst>
          </p:cNvPr>
          <p:cNvSpPr>
            <a:spLocks/>
          </p:cNvSpPr>
          <p:nvPr/>
        </p:nvSpPr>
        <p:spPr bwMode="auto">
          <a:xfrm>
            <a:off x="712713" y="1123951"/>
            <a:ext cx="11025188" cy="5082885"/>
          </a:xfrm>
          <a:prstGeom prst="roundRect">
            <a:avLst>
              <a:gd name="adj" fmla="val 4159"/>
            </a:avLst>
          </a:prstGeom>
          <a:no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3EB82391-9D6E-11E7-6DF3-CC5C2EFDED39}"/>
              </a:ext>
              <a:ext uri="{C183D7F6-B498-43B3-948B-1728B52AA6E4}">
                <adec:decorative xmlns:adec="http://schemas.microsoft.com/office/drawing/2017/decorative" val="1"/>
              </a:ext>
            </a:extLst>
          </p:cNvPr>
          <p:cNvSpPr>
            <a:spLocks/>
          </p:cNvSpPr>
          <p:nvPr/>
        </p:nvSpPr>
        <p:spPr bwMode="auto">
          <a:xfrm flipV="1">
            <a:off x="822112" y="1676398"/>
            <a:ext cx="2493739" cy="4407049"/>
          </a:xfrm>
          <a:prstGeom prst="roundRect">
            <a:avLst>
              <a:gd name="adj" fmla="val 7326"/>
            </a:avLst>
          </a:prstGeom>
          <a:solidFill>
            <a:schemeClr val="bg1">
              <a:lumMod val="95000"/>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Sans Display"/>
              <a:ea typeface="+mn-ea"/>
              <a:cs typeface="+mn-cs"/>
            </a:endParaRPr>
          </a:p>
        </p:txBody>
      </p:sp>
      <p:sp>
        <p:nvSpPr>
          <p:cNvPr id="7" name="Rectangle: Top Corners Rounded 6">
            <a:extLst>
              <a:ext uri="{FF2B5EF4-FFF2-40B4-BE49-F238E27FC236}">
                <a16:creationId xmlns:a16="http://schemas.microsoft.com/office/drawing/2014/main" id="{82816D1F-C84C-49F9-C118-DA8A622922BD}"/>
              </a:ext>
              <a:ext uri="{C183D7F6-B498-43B3-948B-1728B52AA6E4}">
                <adec:decorative xmlns:adec="http://schemas.microsoft.com/office/drawing/2017/decorative" val="1"/>
              </a:ext>
            </a:extLst>
          </p:cNvPr>
          <p:cNvSpPr>
            <a:spLocks/>
          </p:cNvSpPr>
          <p:nvPr/>
        </p:nvSpPr>
        <p:spPr bwMode="auto">
          <a:xfrm>
            <a:off x="820524" y="1245115"/>
            <a:ext cx="10806389" cy="594360"/>
          </a:xfrm>
          <a:prstGeom prst="round2SameRect">
            <a:avLst>
              <a:gd name="adj1" fmla="val 22270"/>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16" name="Title 5">
            <a:extLst>
              <a:ext uri="{FF2B5EF4-FFF2-40B4-BE49-F238E27FC236}">
                <a16:creationId xmlns:a16="http://schemas.microsoft.com/office/drawing/2014/main" id="{78456B06-37CA-0D89-992E-86F0F6343BFA}"/>
              </a:ext>
            </a:extLst>
          </p:cNvPr>
          <p:cNvSpPr>
            <a:spLocks noGrp="1"/>
          </p:cNvSpPr>
          <p:nvPr>
            <p:ph type="title"/>
          </p:nvPr>
        </p:nvSpPr>
        <p:spPr>
          <a:xfrm>
            <a:off x="820525" y="1357629"/>
            <a:ext cx="10806388" cy="369332"/>
          </a:xfr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r>
              <a:rPr lang="en-US" sz="1800" kern="0" noProof="0" dirty="0">
                <a:solidFill>
                  <a:schemeClr val="bg1"/>
                </a:solidFill>
                <a:ea typeface="+mj-ea"/>
                <a:cs typeface="+mj-cs"/>
              </a:rPr>
              <a:t>Business Action Agents</a:t>
            </a:r>
          </a:p>
        </p:txBody>
      </p:sp>
      <p:sp>
        <p:nvSpPr>
          <p:cNvPr id="21" name="TextBox 20">
            <a:extLst>
              <a:ext uri="{FF2B5EF4-FFF2-40B4-BE49-F238E27FC236}">
                <a16:creationId xmlns:a16="http://schemas.microsoft.com/office/drawing/2014/main" id="{8C5637CD-9418-427B-BCE4-5F3D4AAF6920}"/>
              </a:ext>
            </a:extLst>
          </p:cNvPr>
          <p:cNvSpPr txBox="1"/>
          <p:nvPr/>
        </p:nvSpPr>
        <p:spPr>
          <a:xfrm>
            <a:off x="1066836" y="4052098"/>
            <a:ext cx="2004291" cy="184666"/>
          </a:xfrm>
          <a:prstGeom prst="rect">
            <a:avLst/>
          </a:prstGeom>
          <a:noFill/>
        </p:spPr>
        <p:txBody>
          <a:bodyPr wrap="square" lIns="0" tIns="0" rIns="0" bIns="0">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t>Workloads &amp; Services</a:t>
            </a:r>
          </a:p>
        </p:txBody>
      </p:sp>
      <p:sp>
        <p:nvSpPr>
          <p:cNvPr id="33" name="TextBox 32">
            <a:extLst>
              <a:ext uri="{FF2B5EF4-FFF2-40B4-BE49-F238E27FC236}">
                <a16:creationId xmlns:a16="http://schemas.microsoft.com/office/drawing/2014/main" id="{46563E0E-65E9-A47E-CD3B-43DBABD7198F}"/>
              </a:ext>
              <a:ext uri="{C183D7F6-B498-43B3-948B-1728B52AA6E4}">
                <adec:decorative xmlns:adec="http://schemas.microsoft.com/office/drawing/2017/decorative" val="0"/>
              </a:ext>
            </a:extLst>
          </p:cNvPr>
          <p:cNvSpPr txBox="1"/>
          <p:nvPr/>
        </p:nvSpPr>
        <p:spPr>
          <a:xfrm>
            <a:off x="3423422" y="1993112"/>
            <a:ext cx="4047960" cy="4043649"/>
          </a:xfrm>
          <a:prstGeom prst="roundRect">
            <a:avLst>
              <a:gd name="adj" fmla="val 4273"/>
            </a:avLst>
          </a:prstGeom>
          <a:solidFill>
            <a:schemeClr val="bg1">
              <a:lumMod val="95000"/>
              <a:alpha val="50000"/>
            </a:schemeClr>
          </a:solidFill>
          <a:ln w="3175">
            <a:solidFill>
              <a:srgbClr val="41B8A4"/>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EXAMPLE USE CASES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Banking assistant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checks balances, surfaces product recommendations, and initiates payments</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Travel booking agent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searches options, applies travel policy, and books flights and hotels</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Inventory &amp; order agent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that checks stock and raises purchase or replenishment orders</a:t>
            </a:r>
          </a:p>
          <a:p>
            <a:pPr marL="0" marR="0" lvl="0" indent="0" algn="l" defTabSz="868680" rtl="0" eaLnBrk="1" fontAlgn="auto" latinLnBrk="0" hangingPunct="1">
              <a:lnSpc>
                <a:spcPct val="15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FACTORY DELIVERY</a:t>
            </a:r>
            <a:endParaRPr kumimoji="0" lang="en-US" sz="12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1"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a:ea typeface="+mn-ea"/>
                <a:cs typeface="+mn-cs"/>
              </a:rPr>
              <a:t>1 multi-agent orchestration use case with up to 3 domain specialized agents</a:t>
            </a: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5" name="TextBox 34">
            <a:extLst>
              <a:ext uri="{FF2B5EF4-FFF2-40B4-BE49-F238E27FC236}">
                <a16:creationId xmlns:a16="http://schemas.microsoft.com/office/drawing/2014/main" id="{2C379904-E7FF-4AB4-AF58-1CBE1868B1A5}"/>
              </a:ext>
              <a:ext uri="{C183D7F6-B498-43B3-948B-1728B52AA6E4}">
                <adec:decorative xmlns:adec="http://schemas.microsoft.com/office/drawing/2017/decorative" val="0"/>
              </a:ext>
            </a:extLst>
          </p:cNvPr>
          <p:cNvSpPr txBox="1"/>
          <p:nvPr/>
        </p:nvSpPr>
        <p:spPr>
          <a:xfrm>
            <a:off x="7528049" y="1993112"/>
            <a:ext cx="4098864" cy="3207886"/>
          </a:xfrm>
          <a:prstGeom prst="roundRect">
            <a:avLst>
              <a:gd name="adj" fmla="val 4273"/>
            </a:avLst>
          </a:prstGeom>
          <a:solidFill>
            <a:schemeClr val="bg1">
              <a:lumMod val="95000"/>
              <a:alpha val="50000"/>
            </a:schemeClr>
          </a:solidFill>
          <a:ln w="3175">
            <a:solidFill>
              <a:srgbClr val="41B8A4"/>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CUSTOMER SIGNALS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Need to expose ERP, CRM, or line-of-business APIs to agents as callable tools</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Agents must orchestrate real backend actions, not just retrieve information</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Use cases where the agent books, orders, updates records, or initiates a transaction</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APIs already exist but aren’t yet surfaced to AI</a:t>
            </a: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7" name="TextBox 36">
            <a:extLst>
              <a:ext uri="{FF2B5EF4-FFF2-40B4-BE49-F238E27FC236}">
                <a16:creationId xmlns:a16="http://schemas.microsoft.com/office/drawing/2014/main" id="{DF265DA5-AFE5-5145-9F7F-5ED9F53676F2}"/>
              </a:ext>
            </a:extLst>
          </p:cNvPr>
          <p:cNvSpPr txBox="1"/>
          <p:nvPr/>
        </p:nvSpPr>
        <p:spPr>
          <a:xfrm>
            <a:off x="848478" y="1975364"/>
            <a:ext cx="2441006" cy="1892826"/>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TECHNICAL PATTERNS</a:t>
            </a:r>
            <a:b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br>
            <a:br>
              <a:rPr kumimoji="0" lang="en-US" sz="1100" b="1" i="0" u="none" strike="noStrike" kern="0" cap="none" spc="0" normalizeH="0" baseline="0" noProof="0" dirty="0">
                <a:ln>
                  <a:noFill/>
                </a:ln>
                <a:solidFill>
                  <a:srgbClr val="000000"/>
                </a:solidFill>
                <a:effectLst/>
                <a:uLnTx/>
                <a:uFillTx/>
                <a:latin typeface="Segoe Sans Text"/>
                <a:ea typeface="+mn-ea"/>
                <a:cs typeface="+mn-cs"/>
              </a:rPr>
            </a:br>
            <a:r>
              <a:rPr kumimoji="0" lang="en-US" sz="1100" b="1" i="0" u="none" strike="noStrike" kern="0" cap="none" spc="0" normalizeH="0" baseline="0" noProof="0" dirty="0">
                <a:ln>
                  <a:noFill/>
                </a:ln>
                <a:solidFill>
                  <a:srgbClr val="000000"/>
                </a:solidFill>
                <a:effectLst/>
                <a:uLnTx/>
                <a:uFillTx/>
                <a:latin typeface="Segoe Sans Text"/>
                <a:ea typeface="+mn-ea"/>
                <a:cs typeface="+mn-cs"/>
              </a:rPr>
              <a:t>Multi-agent orchestration + MCP tools + domain API integration</a:t>
            </a:r>
            <a:br>
              <a:rPr kumimoji="0" lang="en-US" sz="1100" b="1" i="0" u="none" strike="noStrike" kern="0" cap="none" spc="0" normalizeH="0" baseline="0" noProof="0" dirty="0">
                <a:ln>
                  <a:noFill/>
                </a:ln>
                <a:solidFill>
                  <a:srgbClr val="000000"/>
                </a:solidFill>
                <a:effectLst/>
                <a:uLnTx/>
                <a:uFillTx/>
                <a:latin typeface="Segoe Sans Text"/>
                <a:ea typeface="+mn-ea"/>
                <a:cs typeface="+mn-cs"/>
              </a:rPr>
            </a:br>
            <a:b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br>
            <a:b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br>
            <a:r>
              <a:rPr kumimoji="0" lang="en-US" sz="1000" b="0" i="1" u="none" strike="noStrike" kern="0" cap="none" spc="0" normalizeH="0" baseline="0" noProof="0" dirty="0">
                <a:ln>
                  <a:noFill/>
                </a:ln>
                <a:solidFill>
                  <a:srgbClr val="000000"/>
                </a:solidFill>
                <a:effectLst/>
                <a:uLnTx/>
                <a:uFillTx/>
                <a:latin typeface="Segoe Sans Text"/>
                <a:ea typeface="+mn-ea"/>
                <a:cs typeface="+mn-cs"/>
              </a:rPr>
              <a:t>An action-oriented agent pattern that connects AI agents to business systems and APIs to automate workflows, execute transactions, and perform real backend actions.</a:t>
            </a:r>
            <a:endParaRPr kumimoji="0" lang="en-US" sz="1100" b="0" i="1" u="none" strike="noStrike" kern="0" cap="none" spc="0" normalizeH="0" baseline="0" noProof="0" dirty="0">
              <a:ln>
                <a:noFill/>
              </a:ln>
              <a:solidFill>
                <a:srgbClr val="000000"/>
              </a:solidFill>
              <a:effectLst/>
              <a:uLnTx/>
              <a:uFillTx/>
              <a:latin typeface="Segoe Sans Text"/>
              <a:ea typeface="+mn-ea"/>
              <a:cs typeface="+mn-cs"/>
            </a:endParaRPr>
          </a:p>
        </p:txBody>
      </p:sp>
      <p:sp>
        <p:nvSpPr>
          <p:cNvPr id="45" name="TextBox 44">
            <a:extLst>
              <a:ext uri="{FF2B5EF4-FFF2-40B4-BE49-F238E27FC236}">
                <a16:creationId xmlns:a16="http://schemas.microsoft.com/office/drawing/2014/main" id="{DF483A53-B9B7-312C-E315-795201EDB8E7}"/>
              </a:ext>
            </a:extLst>
          </p:cNvPr>
          <p:cNvSpPr txBox="1"/>
          <p:nvPr/>
        </p:nvSpPr>
        <p:spPr>
          <a:xfrm>
            <a:off x="3423422" y="4948820"/>
            <a:ext cx="8209253" cy="1080790"/>
          </a:xfrm>
          <a:prstGeom prst="roundRect">
            <a:avLst>
              <a:gd name="adj" fmla="val 9675"/>
            </a:avLst>
          </a:prstGeom>
          <a:solidFill>
            <a:schemeClr val="bg1"/>
          </a:solidFill>
          <a:ln w="12700" cap="rnd" cmpd="sng" algn="ctr">
            <a:gradFill flip="none" rotWithShape="1">
              <a:gsLst>
                <a:gs pos="49000">
                  <a:srgbClr val="8661C5"/>
                </a:gs>
                <a:gs pos="0">
                  <a:srgbClr val="0078D4"/>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t" anchorCtr="0" forceAA="0" compatLnSpc="1">
            <a:prstTxWarp prst="textNoShape">
              <a:avLst/>
            </a:prstTxWarp>
            <a:noAutofit/>
          </a:bodyPr>
          <a:lstStyle>
            <a:defPPr>
              <a:defRPr lang="en-US"/>
            </a:defPPr>
            <a:lvl1pPr marR="0" lvl="0" indent="0" algn="ctr" defTabSz="885848" fontAlgn="base">
              <a:lnSpc>
                <a:spcPct val="100000"/>
              </a:lnSpc>
              <a:spcBef>
                <a:spcPct val="0"/>
              </a:spcBef>
              <a:spcAft>
                <a:spcPct val="0"/>
              </a:spcAft>
              <a:buClrTx/>
              <a:buSzTx/>
              <a:buFontTx/>
              <a:buNone/>
              <a:tabLst/>
              <a:defRPr kumimoji="0" b="0" i="0" u="none" strike="noStrike" kern="0" cap="none" spc="0" normalizeH="0" baseline="0">
                <a:ln>
                  <a:noFill/>
                </a:ln>
                <a:effectLst/>
                <a:uLnTx/>
                <a:uFillTx/>
                <a:latin typeface="+mj-lt"/>
                <a:cs typeface="Segoe Sans Display Thin"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885848"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Segoe Sans Display Thin" pitchFamily="2" charset="0"/>
              </a:rPr>
              <a:t>Sales Talk Track</a:t>
            </a:r>
          </a:p>
        </p:txBody>
      </p:sp>
      <p:sp>
        <p:nvSpPr>
          <p:cNvPr id="46" name="Text 29">
            <a:extLst>
              <a:ext uri="{FF2B5EF4-FFF2-40B4-BE49-F238E27FC236}">
                <a16:creationId xmlns:a16="http://schemas.microsoft.com/office/drawing/2014/main" id="{FAF9CFD1-2525-30AC-4916-BBF4B7F51AC5}"/>
              </a:ext>
            </a:extLst>
          </p:cNvPr>
          <p:cNvSpPr/>
          <p:nvPr/>
        </p:nvSpPr>
        <p:spPr>
          <a:xfrm>
            <a:off x="3631136" y="5408551"/>
            <a:ext cx="7249298"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000000"/>
                </a:solidFill>
                <a:effectLst/>
                <a:uLnTx/>
                <a:uFillTx/>
                <a:latin typeface="Segoe UI" pitchFamily="34" charset="0"/>
                <a:ea typeface="Segoe UI" pitchFamily="34" charset="-122"/>
                <a:cs typeface="Segoe UI" pitchFamily="34" charset="-120"/>
              </a:rPr>
              <a:t>“These are agents that do, not just answer. MCP servers bridge your AI agents to your business logic, turning APIs into tools agents can call.”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0" name="Oval 49">
            <a:extLst>
              <a:ext uri="{FF2B5EF4-FFF2-40B4-BE49-F238E27FC236}">
                <a16:creationId xmlns:a16="http://schemas.microsoft.com/office/drawing/2014/main" id="{912AFBB0-468F-CF76-646B-9B0E4350D41C}"/>
              </a:ext>
            </a:extLst>
          </p:cNvPr>
          <p:cNvSpPr/>
          <p:nvPr/>
        </p:nvSpPr>
        <p:spPr bwMode="auto">
          <a:xfrm>
            <a:off x="3513696" y="25577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2" name="Oval 51">
            <a:extLst>
              <a:ext uri="{FF2B5EF4-FFF2-40B4-BE49-F238E27FC236}">
                <a16:creationId xmlns:a16="http://schemas.microsoft.com/office/drawing/2014/main" id="{ADE485E7-3003-18D0-F4A7-9C5E025722ED}"/>
              </a:ext>
            </a:extLst>
          </p:cNvPr>
          <p:cNvSpPr/>
          <p:nvPr/>
        </p:nvSpPr>
        <p:spPr bwMode="auto">
          <a:xfrm>
            <a:off x="3513696" y="31098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Oval 53">
            <a:extLst>
              <a:ext uri="{FF2B5EF4-FFF2-40B4-BE49-F238E27FC236}">
                <a16:creationId xmlns:a16="http://schemas.microsoft.com/office/drawing/2014/main" id="{267FBDC1-369C-DABF-8524-2D2B76336F73}"/>
              </a:ext>
            </a:extLst>
          </p:cNvPr>
          <p:cNvSpPr/>
          <p:nvPr/>
        </p:nvSpPr>
        <p:spPr bwMode="auto">
          <a:xfrm>
            <a:off x="3513696" y="365812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6" name="Oval 55">
            <a:extLst>
              <a:ext uri="{FF2B5EF4-FFF2-40B4-BE49-F238E27FC236}">
                <a16:creationId xmlns:a16="http://schemas.microsoft.com/office/drawing/2014/main" id="{FE7AA7E0-85B2-71BB-E274-86854BBD4221}"/>
              </a:ext>
            </a:extLst>
          </p:cNvPr>
          <p:cNvSpPr/>
          <p:nvPr/>
        </p:nvSpPr>
        <p:spPr bwMode="auto">
          <a:xfrm>
            <a:off x="7618323" y="255590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8" name="Oval 57">
            <a:extLst>
              <a:ext uri="{FF2B5EF4-FFF2-40B4-BE49-F238E27FC236}">
                <a16:creationId xmlns:a16="http://schemas.microsoft.com/office/drawing/2014/main" id="{4EDC557A-9203-4F85-10CF-BA33C361045F}"/>
              </a:ext>
            </a:extLst>
          </p:cNvPr>
          <p:cNvSpPr/>
          <p:nvPr/>
        </p:nvSpPr>
        <p:spPr bwMode="auto">
          <a:xfrm>
            <a:off x="7618323" y="311515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0" name="Oval 59">
            <a:extLst>
              <a:ext uri="{FF2B5EF4-FFF2-40B4-BE49-F238E27FC236}">
                <a16:creationId xmlns:a16="http://schemas.microsoft.com/office/drawing/2014/main" id="{BB91685F-50C6-3676-81A5-0A5FB66878C8}"/>
              </a:ext>
            </a:extLst>
          </p:cNvPr>
          <p:cNvSpPr/>
          <p:nvPr/>
        </p:nvSpPr>
        <p:spPr bwMode="auto">
          <a:xfrm>
            <a:off x="7618323" y="367755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2" name="Oval 61">
            <a:extLst>
              <a:ext uri="{FF2B5EF4-FFF2-40B4-BE49-F238E27FC236}">
                <a16:creationId xmlns:a16="http://schemas.microsoft.com/office/drawing/2014/main" id="{2BF58461-AB5D-6C46-54F0-26F303C6850B}"/>
              </a:ext>
            </a:extLst>
          </p:cNvPr>
          <p:cNvSpPr/>
          <p:nvPr/>
        </p:nvSpPr>
        <p:spPr bwMode="auto">
          <a:xfrm>
            <a:off x="7618323" y="419769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5" name="Rectangle 64">
            <a:extLst>
              <a:ext uri="{FF2B5EF4-FFF2-40B4-BE49-F238E27FC236}">
                <a16:creationId xmlns:a16="http://schemas.microsoft.com/office/drawing/2014/main" id="{674B48FC-D6DB-E7EB-408A-401BD522D644}"/>
              </a:ext>
              <a:ext uri="{C183D7F6-B498-43B3-948B-1728B52AA6E4}">
                <adec:decorative xmlns:adec="http://schemas.microsoft.com/office/drawing/2017/decorative" val="1"/>
              </a:ext>
            </a:extLst>
          </p:cNvPr>
          <p:cNvSpPr>
            <a:spLocks/>
          </p:cNvSpPr>
          <p:nvPr/>
        </p:nvSpPr>
        <p:spPr bwMode="auto">
          <a:xfrm rot="5400000">
            <a:off x="-2570147" y="3824064"/>
            <a:ext cx="5976000" cy="103637"/>
          </a:xfrm>
          <a:prstGeom prst="rect">
            <a:avLst/>
          </a:prstGeom>
          <a:gradFill flip="none" rotWithShape="1">
            <a:gsLst>
              <a:gs pos="84000">
                <a:srgbClr val="2AA4C0"/>
              </a:gs>
              <a:gs pos="100000">
                <a:srgbClr val="40BCB5"/>
              </a:gs>
              <a:gs pos="0">
                <a:schemeClr val="tx2"/>
              </a:gs>
            </a:gsLst>
            <a:lin ang="0" scaled="1"/>
            <a:tileRect/>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1200"/>
              </a:spcBef>
              <a:spcAft>
                <a:spcPts val="1200"/>
              </a:spcAft>
            </a:pPr>
            <a:endParaRPr lang="en-US" sz="1600" kern="0" noProof="0" dirty="0">
              <a:solidFill>
                <a:prstClr val="white"/>
              </a:solidFill>
              <a:latin typeface="Segoe Sans Text Semibold"/>
            </a:endParaRPr>
          </a:p>
        </p:txBody>
      </p:sp>
      <p:sp>
        <p:nvSpPr>
          <p:cNvPr id="63" name="TextBox 62">
            <a:extLst>
              <a:ext uri="{FF2B5EF4-FFF2-40B4-BE49-F238E27FC236}">
                <a16:creationId xmlns:a16="http://schemas.microsoft.com/office/drawing/2014/main" id="{57E7CA41-E885-73F2-FE2F-C3E740A20223}"/>
              </a:ext>
            </a:extLst>
          </p:cNvPr>
          <p:cNvSpPr txBox="1"/>
          <p:nvPr/>
        </p:nvSpPr>
        <p:spPr>
          <a:xfrm>
            <a:off x="153492" y="436170"/>
            <a:ext cx="540000" cy="540000"/>
          </a:xfrm>
          <a:prstGeom prst="ellipse">
            <a:avLst/>
          </a:prstGeom>
          <a:solidFill>
            <a:schemeClr val="bg1"/>
          </a:solidFill>
          <a:ln w="12700" cap="rnd" cmpd="sng" algn="ctr">
            <a:gradFill flip="none" rotWithShape="1">
              <a:gsLst>
                <a:gs pos="41000">
                  <a:srgbClr val="319A89"/>
                </a:gs>
                <a:gs pos="0">
                  <a:srgbClr val="0078D4"/>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defTabSz="885848" fontAlgn="base">
              <a:lnSpc>
                <a:spcPct val="100000"/>
              </a:lnSpc>
              <a:spcBef>
                <a:spcPct val="0"/>
              </a:spcBef>
              <a:spcAft>
                <a:spcPct val="0"/>
              </a:spcAft>
              <a:buClrTx/>
              <a:buSzTx/>
              <a:buFontTx/>
              <a:buNone/>
              <a:tabLst/>
              <a:defRPr kumimoji="0" b="0" i="0" u="none" strike="noStrike" kern="0" cap="none" spc="0" normalizeH="0" baseline="0">
                <a:ln>
                  <a:noFill/>
                </a:ln>
                <a:effectLst/>
                <a:uLnTx/>
                <a:uFillTx/>
                <a:latin typeface="+mj-lt"/>
                <a:cs typeface="Segoe Sans Display Thin"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lumMod val="75000"/>
                    <a:lumOff val="25000"/>
                  </a:srgbClr>
                </a:solidFill>
                <a:effectLst/>
                <a:uLnTx/>
                <a:uFillTx/>
                <a:latin typeface="Segoe UI" panose="020B0502040204020203" pitchFamily="34" charset="0"/>
                <a:ea typeface="+mn-ea"/>
                <a:cs typeface="Segoe UI" panose="020B0502040204020203" pitchFamily="34" charset="0"/>
              </a:rPr>
              <a:t>3</a:t>
            </a:r>
          </a:p>
        </p:txBody>
      </p:sp>
      <p:sp>
        <p:nvSpPr>
          <p:cNvPr id="67" name="Title 101">
            <a:extLst>
              <a:ext uri="{FF2B5EF4-FFF2-40B4-BE49-F238E27FC236}">
                <a16:creationId xmlns:a16="http://schemas.microsoft.com/office/drawing/2014/main" id="{5E60A39F-64F6-61BB-416C-88F8E1E896B3}"/>
              </a:ext>
            </a:extLst>
          </p:cNvPr>
          <p:cNvSpPr txBox="1">
            <a:spLocks/>
          </p:cNvSpPr>
          <p:nvPr/>
        </p:nvSpPr>
        <p:spPr>
          <a:xfrm>
            <a:off x="906034" y="454190"/>
            <a:ext cx="11017250" cy="738664"/>
          </a:xfrm>
          <a:prstGeom prst="rect">
            <a:avLst/>
          </a:prstGeom>
        </p:spPr>
        <p:txBody>
          <a:bodyPr vert="horz" wrap="square" lIns="0" tIns="0" rIns="0" bIns="0" rtlCol="0" anchor="t">
            <a:noAutofit/>
          </a:bodyPr>
          <a:lstStyle>
            <a:lvl1pPr marL="0" algn="l" defTabSz="932742" rtl="0" eaLnBrk="1" latinLnBrk="0" hangingPunct="1">
              <a:lnSpc>
                <a:spcPct val="100000"/>
              </a:lnSpc>
              <a:spcBef>
                <a:spcPts val="1800"/>
              </a:spcBef>
              <a:buSzPct val="90000"/>
              <a:buFont typeface="Wingdings" panose="05000000000000000000" pitchFamily="2" charset="2"/>
              <a:buNone/>
              <a:defRPr lang="en-US" sz="3200" b="0" kern="1200" cap="none" spc="-50" baseline="0" dirty="0">
                <a:ln w="3175">
                  <a:noFill/>
                </a:ln>
                <a:gradFill flip="none" rotWithShape="1">
                  <a:gsLst>
                    <a:gs pos="0">
                      <a:srgbClr val="3948C6"/>
                    </a:gs>
                    <a:gs pos="100000">
                      <a:srgbClr val="E35BAD"/>
                    </a:gs>
                    <a:gs pos="74000">
                      <a:srgbClr val="DF4DD7"/>
                    </a:gs>
                  </a:gsLst>
                  <a:lin ang="0" scaled="1"/>
                  <a:tileRect/>
                </a:gradFill>
                <a:effectLst/>
                <a:latin typeface="+mj-lt"/>
                <a:ea typeface="+mj-ea"/>
                <a:cs typeface="Segoe Sans Display Semibold" pitchFamily="2" charset="0"/>
              </a:defRPr>
            </a:lvl1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2400" b="0" i="0" u="none" strike="noStrike" kern="1200" cap="none" spc="-50" normalizeH="0" baseline="0" noProof="0" dirty="0">
                <a:ln w="3175">
                  <a:noFill/>
                </a:ln>
                <a:solidFill>
                  <a:srgbClr val="0078D4"/>
                </a:solidFill>
                <a:effectLst/>
                <a:uLnTx/>
                <a:uFillTx/>
                <a:latin typeface="Segoe Sans Text Semibold"/>
                <a:ea typeface="+mj-ea"/>
                <a:cs typeface="Segoe UI" pitchFamily="34" charset="0"/>
              </a:rPr>
              <a:t>Cloud Accelerate Factory</a:t>
            </a:r>
            <a:br>
              <a:rPr kumimoji="0" lang="en-US" sz="2000" b="0" i="0" u="none" strike="noStrike" kern="1200" cap="none" spc="-50" normalizeH="0" baseline="0" noProof="0" dirty="0">
                <a:ln w="3175">
                  <a:noFill/>
                </a:ln>
                <a:gradFill flip="none" rotWithShape="1">
                  <a:gsLst>
                    <a:gs pos="0">
                      <a:srgbClr val="3948C6"/>
                    </a:gs>
                    <a:gs pos="100000">
                      <a:srgbClr val="E35BAD"/>
                    </a:gs>
                    <a:gs pos="74000">
                      <a:srgbClr val="DF4DD7"/>
                    </a:gs>
                  </a:gsLst>
                  <a:lin ang="0" scaled="1"/>
                  <a:tileRect/>
                </a:gradFill>
                <a:effectLst/>
                <a:uLnTx/>
                <a:uFillTx/>
                <a:latin typeface="Segoe Sans Text Semibold"/>
                <a:ea typeface="+mj-ea"/>
                <a:cs typeface="Segoe Sans Display Semibold" pitchFamily="2" charset="0"/>
              </a:rPr>
            </a:br>
            <a:r>
              <a:rPr kumimoji="0" lang="en-US" sz="1600" b="0" i="0" u="none" strike="noStrike" kern="1200" cap="none" spc="0" normalizeH="0" baseline="0" noProof="0" dirty="0">
                <a:ln>
                  <a:noFill/>
                </a:ln>
                <a:solidFill>
                  <a:srgbClr val="000000"/>
                </a:solidFill>
                <a:effectLst/>
                <a:uLnTx/>
                <a:uFillTx/>
                <a:latin typeface="Segoe Sans Text Semibold"/>
                <a:ea typeface="+mj-ea"/>
                <a:cs typeface="Segoe Sans Display Semilight" pitchFamily="2" charset="0"/>
              </a:rPr>
              <a:t>Agent Patterns</a:t>
            </a:r>
          </a:p>
        </p:txBody>
      </p:sp>
      <p:sp>
        <p:nvSpPr>
          <p:cNvPr id="2" name="TextBox 1">
            <a:extLst>
              <a:ext uri="{FF2B5EF4-FFF2-40B4-BE49-F238E27FC236}">
                <a16:creationId xmlns:a16="http://schemas.microsoft.com/office/drawing/2014/main" id="{D8B6A4A4-30B2-F08E-60CC-DC054C50C530}"/>
              </a:ext>
            </a:extLst>
          </p:cNvPr>
          <p:cNvSpPr txBox="1"/>
          <p:nvPr/>
        </p:nvSpPr>
        <p:spPr>
          <a:xfrm>
            <a:off x="9315380" y="706677"/>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Med/High Complexity</a:t>
            </a:r>
          </a:p>
        </p:txBody>
      </p:sp>
      <p:sp>
        <p:nvSpPr>
          <p:cNvPr id="4" name="TextBox 3">
            <a:extLst>
              <a:ext uri="{FF2B5EF4-FFF2-40B4-BE49-F238E27FC236}">
                <a16:creationId xmlns:a16="http://schemas.microsoft.com/office/drawing/2014/main" id="{D6628B56-CE4D-9B4E-0801-9210D56C6C6D}"/>
              </a:ext>
            </a:extLst>
          </p:cNvPr>
          <p:cNvSpPr txBox="1"/>
          <p:nvPr/>
        </p:nvSpPr>
        <p:spPr>
          <a:xfrm>
            <a:off x="9315379" y="268122"/>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Multi Agent</a:t>
            </a:r>
          </a:p>
        </p:txBody>
      </p:sp>
      <p:sp>
        <p:nvSpPr>
          <p:cNvPr id="14" name="TextBox 13">
            <a:extLst>
              <a:ext uri="{FF2B5EF4-FFF2-40B4-BE49-F238E27FC236}">
                <a16:creationId xmlns:a16="http://schemas.microsoft.com/office/drawing/2014/main" id="{691EA146-8B19-8FA6-50F2-F2418BF1D48B}"/>
              </a:ext>
            </a:extLst>
          </p:cNvPr>
          <p:cNvSpPr txBox="1"/>
          <p:nvPr/>
        </p:nvSpPr>
        <p:spPr>
          <a:xfrm>
            <a:off x="1024981" y="4343710"/>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Copilot Studio</a:t>
            </a:r>
          </a:p>
        </p:txBody>
      </p:sp>
      <p:sp>
        <p:nvSpPr>
          <p:cNvPr id="22" name="TextBox 21">
            <a:extLst>
              <a:ext uri="{FF2B5EF4-FFF2-40B4-BE49-F238E27FC236}">
                <a16:creationId xmlns:a16="http://schemas.microsoft.com/office/drawing/2014/main" id="{BBBF06A3-88D1-6E74-D1EA-261D23A4837F}"/>
              </a:ext>
            </a:extLst>
          </p:cNvPr>
          <p:cNvSpPr txBox="1"/>
          <p:nvPr/>
        </p:nvSpPr>
        <p:spPr>
          <a:xfrm>
            <a:off x="1024981" y="5003316"/>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Foundry Toolbox</a:t>
            </a:r>
          </a:p>
        </p:txBody>
      </p:sp>
      <p:sp>
        <p:nvSpPr>
          <p:cNvPr id="23" name="TextBox 22">
            <a:extLst>
              <a:ext uri="{FF2B5EF4-FFF2-40B4-BE49-F238E27FC236}">
                <a16:creationId xmlns:a16="http://schemas.microsoft.com/office/drawing/2014/main" id="{D90373AD-2011-C968-48AF-A19BD576A4FB}"/>
              </a:ext>
            </a:extLst>
          </p:cNvPr>
          <p:cNvSpPr txBox="1"/>
          <p:nvPr/>
        </p:nvSpPr>
        <p:spPr>
          <a:xfrm>
            <a:off x="1024981" y="5333119"/>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050" noProof="0" dirty="0"/>
              <a:t>Microsoft Agent Framework</a:t>
            </a:r>
          </a:p>
        </p:txBody>
      </p:sp>
      <p:sp>
        <p:nvSpPr>
          <p:cNvPr id="24" name="TextBox 23">
            <a:extLst>
              <a:ext uri="{FF2B5EF4-FFF2-40B4-BE49-F238E27FC236}">
                <a16:creationId xmlns:a16="http://schemas.microsoft.com/office/drawing/2014/main" id="{1AC484D3-E5A6-8739-D280-EE2478FDB2A9}"/>
              </a:ext>
            </a:extLst>
          </p:cNvPr>
          <p:cNvSpPr txBox="1"/>
          <p:nvPr/>
        </p:nvSpPr>
        <p:spPr>
          <a:xfrm>
            <a:off x="1024981" y="5662922"/>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100" noProof="0" dirty="0"/>
              <a:t>Azure Integration Services</a:t>
            </a:r>
          </a:p>
        </p:txBody>
      </p:sp>
      <p:sp>
        <p:nvSpPr>
          <p:cNvPr id="25" name="TextBox 24">
            <a:extLst>
              <a:ext uri="{FF2B5EF4-FFF2-40B4-BE49-F238E27FC236}">
                <a16:creationId xmlns:a16="http://schemas.microsoft.com/office/drawing/2014/main" id="{054BA1BE-9EEC-B4C4-77C1-E412CEE04157}"/>
              </a:ext>
            </a:extLst>
          </p:cNvPr>
          <p:cNvSpPr txBox="1"/>
          <p:nvPr/>
        </p:nvSpPr>
        <p:spPr>
          <a:xfrm>
            <a:off x="1024981" y="4673513"/>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Microsoft Foundry</a:t>
            </a:r>
          </a:p>
        </p:txBody>
      </p:sp>
      <p:sp>
        <p:nvSpPr>
          <p:cNvPr id="6" name="TextBox 5">
            <a:extLst>
              <a:ext uri="{FF2B5EF4-FFF2-40B4-BE49-F238E27FC236}">
                <a16:creationId xmlns:a16="http://schemas.microsoft.com/office/drawing/2014/main" id="{E216BCEE-D4DC-7A97-23EB-3E9F5BFA7966}"/>
              </a:ext>
            </a:extLst>
          </p:cNvPr>
          <p:cNvSpPr txBox="1"/>
          <p:nvPr/>
        </p:nvSpPr>
        <p:spPr>
          <a:xfrm>
            <a:off x="6897575" y="272085"/>
            <a:ext cx="2311533" cy="302955"/>
          </a:xfrm>
          <a:prstGeom prst="roundRect">
            <a:avLst>
              <a:gd name="adj" fmla="val 50000"/>
            </a:avLst>
          </a:prstGeom>
          <a:solidFill>
            <a:srgbClr val="0070C0"/>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b="1" noProof="0" dirty="0">
                <a:solidFill>
                  <a:schemeClr val="bg1"/>
                </a:solidFill>
              </a:rPr>
              <a:t>SCOPE 2</a:t>
            </a:r>
          </a:p>
        </p:txBody>
      </p:sp>
    </p:spTree>
    <p:extLst>
      <p:ext uri="{BB962C8B-B14F-4D97-AF65-F5344CB8AC3E}">
        <p14:creationId xmlns:p14="http://schemas.microsoft.com/office/powerpoint/2010/main" val="419342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6" presetClass="emph" presetSubtype="0" fill="hold" grpId="1" nodeType="withEffect">
                                  <p:stCondLst>
                                    <p:cond delay="0"/>
                                  </p:stCondLst>
                                  <p:childTnLst>
                                    <p:animScale>
                                      <p:cBhvr>
                                        <p:cTn id="9" dur="100" fill="hold"/>
                                        <p:tgtEl>
                                          <p:spTgt spid="4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63"/>
                                        </p:tgtEl>
                                        <p:attrNameLst>
                                          <p:attrName>style.visibility</p:attrName>
                                        </p:attrNameLst>
                                      </p:cBhvr>
                                      <p:to>
                                        <p:strVal val="visible"/>
                                      </p:to>
                                    </p:set>
                                    <p:animEffect transition="in" filter="fade">
                                      <p:cBhvr>
                                        <p:cTn id="14" dur="500"/>
                                        <p:tgtEl>
                                          <p:spTgt spid="63"/>
                                        </p:tgtEl>
                                      </p:cBhvr>
                                    </p:animEffect>
                                  </p:childTnLst>
                                </p:cTn>
                              </p:par>
                              <p:par>
                                <p:cTn id="15" presetID="6" presetClass="emph" presetSubtype="0" fill="hold" grpId="1" nodeType="withEffect">
                                  <p:stCondLst>
                                    <p:cond delay="0"/>
                                  </p:stCondLst>
                                  <p:childTnLst>
                                    <p:animScale>
                                      <p:cBhvr>
                                        <p:cTn id="16" dur="100" fill="hold"/>
                                        <p:tgtEl>
                                          <p:spTgt spid="63"/>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63"/>
                                        </p:tgtEl>
                                      </p:cBhvr>
                                      <p:by x="400000" y="400000"/>
                                    </p:animScale>
                                  </p:childTnLst>
                                </p:cTn>
                              </p:par>
                              <p:par>
                                <p:cTn id="19" presetID="10" presetClass="entr" presetSubtype="0" fill="hold" grpId="0" nodeType="withEffect">
                                  <p:stCondLst>
                                    <p:cond delay="20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6" presetClass="emph" presetSubtype="0" fill="hold" grpId="1" nodeType="withEffect">
                                  <p:stCondLst>
                                    <p:cond delay="0"/>
                                  </p:stCondLst>
                                  <p:childTnLst>
                                    <p:animScale>
                                      <p:cBhvr>
                                        <p:cTn id="23" dur="100" fill="hold"/>
                                        <p:tgtEl>
                                          <p:spTgt spid="2"/>
                                        </p:tgtEl>
                                      </p:cBhvr>
                                      <p:by x="25000" y="25000"/>
                                    </p:animScale>
                                  </p:childTnLst>
                                </p:cTn>
                              </p:par>
                              <p:par>
                                <p:cTn id="24" presetID="6" presetClass="emph" presetSubtype="0" decel="100000" fill="hold" grpId="2" nodeType="withEffect">
                                  <p:stCondLst>
                                    <p:cond delay="200"/>
                                  </p:stCondLst>
                                  <p:childTnLst>
                                    <p:animScale>
                                      <p:cBhvr>
                                        <p:cTn id="25" dur="500" fill="hold"/>
                                        <p:tgtEl>
                                          <p:spTgt spid="2"/>
                                        </p:tgtEl>
                                      </p:cBhvr>
                                      <p:by x="400000" y="400000"/>
                                    </p:animScale>
                                  </p:childTnLst>
                                </p:cTn>
                              </p:par>
                              <p:par>
                                <p:cTn id="26" presetID="10" presetClass="entr" presetSubtype="0" fill="hold" grpId="0" nodeType="withEffect">
                                  <p:stCondLst>
                                    <p:cond delay="2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6" presetClass="emph" presetSubtype="0" fill="hold" grpId="1" nodeType="withEffect">
                                  <p:stCondLst>
                                    <p:cond delay="0"/>
                                  </p:stCondLst>
                                  <p:childTnLst>
                                    <p:animScale>
                                      <p:cBhvr>
                                        <p:cTn id="30" dur="100" fill="hold"/>
                                        <p:tgtEl>
                                          <p:spTgt spid="4"/>
                                        </p:tgtEl>
                                      </p:cBhvr>
                                      <p:by x="25000" y="25000"/>
                                    </p:animScale>
                                  </p:childTnLst>
                                </p:cTn>
                              </p:par>
                              <p:par>
                                <p:cTn id="31" presetID="6" presetClass="emph" presetSubtype="0" decel="100000" fill="hold" grpId="2" nodeType="withEffect">
                                  <p:stCondLst>
                                    <p:cond delay="200"/>
                                  </p:stCondLst>
                                  <p:childTnLst>
                                    <p:animScale>
                                      <p:cBhvr>
                                        <p:cTn id="32" dur="500" fill="hold"/>
                                        <p:tgtEl>
                                          <p:spTgt spid="4"/>
                                        </p:tgtEl>
                                      </p:cBhvr>
                                      <p:by x="400000" y="400000"/>
                                    </p:animScale>
                                  </p:childTnLst>
                                </p:cTn>
                              </p:par>
                              <p:par>
                                <p:cTn id="33" presetID="10" presetClass="entr" presetSubtype="0" fill="hold" grpId="0" nodeType="withEffect">
                                  <p:stCondLst>
                                    <p:cond delay="2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6" presetClass="emph" presetSubtype="0" fill="hold" grpId="1" nodeType="withEffect">
                                  <p:stCondLst>
                                    <p:cond delay="0"/>
                                  </p:stCondLst>
                                  <p:childTnLst>
                                    <p:animScale>
                                      <p:cBhvr>
                                        <p:cTn id="37" dur="100" fill="hold"/>
                                        <p:tgtEl>
                                          <p:spTgt spid="14"/>
                                        </p:tgtEl>
                                      </p:cBhvr>
                                      <p:by x="25000" y="25000"/>
                                    </p:animScale>
                                  </p:childTnLst>
                                </p:cTn>
                              </p:par>
                              <p:par>
                                <p:cTn id="38" presetID="6" presetClass="emph" presetSubtype="0" decel="100000" fill="hold" grpId="2" nodeType="withEffect">
                                  <p:stCondLst>
                                    <p:cond delay="200"/>
                                  </p:stCondLst>
                                  <p:childTnLst>
                                    <p:animScale>
                                      <p:cBhvr>
                                        <p:cTn id="39" dur="500" fill="hold"/>
                                        <p:tgtEl>
                                          <p:spTgt spid="14"/>
                                        </p:tgtEl>
                                      </p:cBhvr>
                                      <p:by x="400000" y="400000"/>
                                    </p:animScale>
                                  </p:childTnLst>
                                </p:cTn>
                              </p:par>
                              <p:par>
                                <p:cTn id="40" presetID="10" presetClass="entr" presetSubtype="0" fill="hold" grpId="0" nodeType="withEffect">
                                  <p:stCondLst>
                                    <p:cond delay="2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6" presetClass="emph" presetSubtype="0" fill="hold" grpId="1" nodeType="withEffect">
                                  <p:stCondLst>
                                    <p:cond delay="0"/>
                                  </p:stCondLst>
                                  <p:childTnLst>
                                    <p:animScale>
                                      <p:cBhvr>
                                        <p:cTn id="44" dur="100" fill="hold"/>
                                        <p:tgtEl>
                                          <p:spTgt spid="22"/>
                                        </p:tgtEl>
                                      </p:cBhvr>
                                      <p:by x="25000" y="25000"/>
                                    </p:animScale>
                                  </p:childTnLst>
                                </p:cTn>
                              </p:par>
                              <p:par>
                                <p:cTn id="45" presetID="6" presetClass="emph" presetSubtype="0" decel="100000" fill="hold" grpId="2" nodeType="withEffect">
                                  <p:stCondLst>
                                    <p:cond delay="200"/>
                                  </p:stCondLst>
                                  <p:childTnLst>
                                    <p:animScale>
                                      <p:cBhvr>
                                        <p:cTn id="46" dur="500" fill="hold"/>
                                        <p:tgtEl>
                                          <p:spTgt spid="22"/>
                                        </p:tgtEl>
                                      </p:cBhvr>
                                      <p:by x="400000" y="400000"/>
                                    </p:animScale>
                                  </p:childTnLst>
                                </p:cTn>
                              </p:par>
                              <p:par>
                                <p:cTn id="47" presetID="10" presetClass="entr" presetSubtype="0" fill="hold" grpId="0" nodeType="withEffect">
                                  <p:stCondLst>
                                    <p:cond delay="20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6" presetClass="emph" presetSubtype="0" fill="hold" grpId="1" nodeType="withEffect">
                                  <p:stCondLst>
                                    <p:cond delay="0"/>
                                  </p:stCondLst>
                                  <p:childTnLst>
                                    <p:animScale>
                                      <p:cBhvr>
                                        <p:cTn id="51" dur="100" fill="hold"/>
                                        <p:tgtEl>
                                          <p:spTgt spid="23"/>
                                        </p:tgtEl>
                                      </p:cBhvr>
                                      <p:by x="25000" y="25000"/>
                                    </p:animScale>
                                  </p:childTnLst>
                                </p:cTn>
                              </p:par>
                              <p:par>
                                <p:cTn id="52" presetID="6" presetClass="emph" presetSubtype="0" decel="100000" fill="hold" grpId="2" nodeType="withEffect">
                                  <p:stCondLst>
                                    <p:cond delay="200"/>
                                  </p:stCondLst>
                                  <p:childTnLst>
                                    <p:animScale>
                                      <p:cBhvr>
                                        <p:cTn id="53" dur="500" fill="hold"/>
                                        <p:tgtEl>
                                          <p:spTgt spid="23"/>
                                        </p:tgtEl>
                                      </p:cBhvr>
                                      <p:by x="400000" y="400000"/>
                                    </p:animScale>
                                  </p:childTnLst>
                                </p:cTn>
                              </p:par>
                              <p:par>
                                <p:cTn id="54" presetID="10" presetClass="entr" presetSubtype="0" fill="hold" grpId="0" nodeType="withEffect">
                                  <p:stCondLst>
                                    <p:cond delay="20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par>
                                <p:cTn id="57" presetID="6" presetClass="emph" presetSubtype="0" fill="hold" grpId="1" nodeType="withEffect">
                                  <p:stCondLst>
                                    <p:cond delay="0"/>
                                  </p:stCondLst>
                                  <p:childTnLst>
                                    <p:animScale>
                                      <p:cBhvr>
                                        <p:cTn id="58" dur="100" fill="hold"/>
                                        <p:tgtEl>
                                          <p:spTgt spid="24"/>
                                        </p:tgtEl>
                                      </p:cBhvr>
                                      <p:by x="25000" y="25000"/>
                                    </p:animScale>
                                  </p:childTnLst>
                                </p:cTn>
                              </p:par>
                              <p:par>
                                <p:cTn id="59" presetID="6" presetClass="emph" presetSubtype="0" decel="100000" fill="hold" grpId="2" nodeType="withEffect">
                                  <p:stCondLst>
                                    <p:cond delay="200"/>
                                  </p:stCondLst>
                                  <p:childTnLst>
                                    <p:animScale>
                                      <p:cBhvr>
                                        <p:cTn id="60" dur="500" fill="hold"/>
                                        <p:tgtEl>
                                          <p:spTgt spid="24"/>
                                        </p:tgtEl>
                                      </p:cBhvr>
                                      <p:by x="400000" y="400000"/>
                                    </p:animScale>
                                  </p:childTnLst>
                                </p:cTn>
                              </p:par>
                              <p:par>
                                <p:cTn id="61" presetID="10" presetClass="entr" presetSubtype="0" fill="hold" grpId="0" nodeType="withEffect">
                                  <p:stCondLst>
                                    <p:cond delay="20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4" presetID="6" presetClass="emph" presetSubtype="0" fill="hold" grpId="1" nodeType="withEffect">
                                  <p:stCondLst>
                                    <p:cond delay="0"/>
                                  </p:stCondLst>
                                  <p:childTnLst>
                                    <p:animScale>
                                      <p:cBhvr>
                                        <p:cTn id="65" dur="100" fill="hold"/>
                                        <p:tgtEl>
                                          <p:spTgt spid="25"/>
                                        </p:tgtEl>
                                      </p:cBhvr>
                                      <p:by x="25000" y="25000"/>
                                    </p:animScale>
                                  </p:childTnLst>
                                </p:cTn>
                              </p:par>
                              <p:par>
                                <p:cTn id="66" presetID="6" presetClass="emph" presetSubtype="0" decel="100000" fill="hold" grpId="2" nodeType="withEffect">
                                  <p:stCondLst>
                                    <p:cond delay="200"/>
                                  </p:stCondLst>
                                  <p:childTnLst>
                                    <p:animScale>
                                      <p:cBhvr>
                                        <p:cTn id="67" dur="500" fill="hold"/>
                                        <p:tgtEl>
                                          <p:spTgt spid="25"/>
                                        </p:tgtEl>
                                      </p:cBhvr>
                                      <p:by x="400000" y="400000"/>
                                    </p:animScale>
                                  </p:childTnLst>
                                </p:cTn>
                              </p:par>
                              <p:par>
                                <p:cTn id="68" presetID="10" presetClass="entr" presetSubtype="0" fill="hold" grpId="0" nodeType="withEffect">
                                  <p:stCondLst>
                                    <p:cond delay="20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500"/>
                                        <p:tgtEl>
                                          <p:spTgt spid="6"/>
                                        </p:tgtEl>
                                      </p:cBhvr>
                                    </p:animEffect>
                                  </p:childTnLst>
                                </p:cTn>
                              </p:par>
                              <p:par>
                                <p:cTn id="71" presetID="6" presetClass="emph" presetSubtype="0" fill="hold" grpId="1" nodeType="withEffect">
                                  <p:stCondLst>
                                    <p:cond delay="0"/>
                                  </p:stCondLst>
                                  <p:childTnLst>
                                    <p:animScale>
                                      <p:cBhvr>
                                        <p:cTn id="72" dur="100" fill="hold"/>
                                        <p:tgtEl>
                                          <p:spTgt spid="6"/>
                                        </p:tgtEl>
                                      </p:cBhvr>
                                      <p:by x="25000" y="25000"/>
                                    </p:animScale>
                                  </p:childTnLst>
                                </p:cTn>
                              </p:par>
                              <p:par>
                                <p:cTn id="73" presetID="6" presetClass="emph" presetSubtype="0" decel="100000" fill="hold" grpId="2" nodeType="withEffect">
                                  <p:stCondLst>
                                    <p:cond delay="200"/>
                                  </p:stCondLst>
                                  <p:childTnLst>
                                    <p:animScale>
                                      <p:cBhvr>
                                        <p:cTn id="74" dur="5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5" grpId="2" animBg="1"/>
      <p:bldP spid="63" grpId="0" animBg="1"/>
      <p:bldP spid="63" grpId="1" animBg="1"/>
      <p:bldP spid="63" grpId="2" animBg="1"/>
      <p:bldP spid="2" grpId="0" animBg="1"/>
      <p:bldP spid="2" grpId="1" animBg="1"/>
      <p:bldP spid="2" grpId="2" animBg="1"/>
      <p:bldP spid="4" grpId="0" animBg="1"/>
      <p:bldP spid="4" grpId="1" animBg="1"/>
      <p:bldP spid="4" grpId="2" animBg="1"/>
      <p:bldP spid="14" grpId="0" animBg="1"/>
      <p:bldP spid="14" grpId="1" animBg="1"/>
      <p:bldP spid="14" grpId="2" animBg="1"/>
      <p:bldP spid="22" grpId="0" animBg="1"/>
      <p:bldP spid="22" grpId="1" animBg="1"/>
      <p:bldP spid="22" grpId="2" animBg="1"/>
      <p:bldP spid="23" grpId="0" animBg="1"/>
      <p:bldP spid="23" grpId="1" animBg="1"/>
      <p:bldP spid="23" grpId="2" animBg="1"/>
      <p:bldP spid="24" grpId="0" animBg="1"/>
      <p:bldP spid="24" grpId="1" animBg="1"/>
      <p:bldP spid="24" grpId="2" animBg="1"/>
      <p:bldP spid="25" grpId="0" animBg="1"/>
      <p:bldP spid="25" grpId="1" animBg="1"/>
      <p:bldP spid="25" grpId="2" animBg="1"/>
      <p:bldP spid="6" grpId="0" animBg="1"/>
      <p:bldP spid="6" grpId="1" animBg="1"/>
      <p:bldP spid="6" grpId="2"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4DC4-72B1-7DB9-8756-B5E4D7EE2DE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972DA4C-5E3B-44F5-9C93-005918291A10}"/>
              </a:ext>
              <a:ext uri="{C183D7F6-B498-43B3-948B-1728B52AA6E4}">
                <adec:decorative xmlns:adec="http://schemas.microsoft.com/office/drawing/2017/decorative" val="1"/>
              </a:ext>
            </a:extLst>
          </p:cNvPr>
          <p:cNvSpPr>
            <a:spLocks/>
          </p:cNvSpPr>
          <p:nvPr/>
        </p:nvSpPr>
        <p:spPr bwMode="auto">
          <a:xfrm>
            <a:off x="0" y="0"/>
            <a:ext cx="12192000" cy="1328749"/>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9" name="Title 5">
            <a:extLst>
              <a:ext uri="{FF2B5EF4-FFF2-40B4-BE49-F238E27FC236}">
                <a16:creationId xmlns:a16="http://schemas.microsoft.com/office/drawing/2014/main" id="{CEB09790-D0BA-BC6A-80DE-9FBF6F99813C}"/>
              </a:ext>
            </a:extLst>
          </p:cNvPr>
          <p:cNvSpPr txBox="1">
            <a:spLocks/>
          </p:cNvSpPr>
          <p:nvPr/>
        </p:nvSpPr>
        <p:spPr>
          <a:xfrm>
            <a:off x="0" y="664374"/>
            <a:ext cx="12192000" cy="369332"/>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algn="ctr" defTabSz="914400">
              <a:spcBef>
                <a:spcPts val="0"/>
              </a:spcBef>
              <a:defRPr/>
            </a:pPr>
            <a:r>
              <a:rPr lang="en-US" sz="2400" noProof="0" dirty="0">
                <a:solidFill>
                  <a:schemeClr val="bg1"/>
                </a:solidFill>
              </a:rPr>
              <a:t>Industry &amp; Persona Examples – Business Action Agents Pattern</a:t>
            </a:r>
          </a:p>
        </p:txBody>
      </p:sp>
      <p:pic>
        <p:nvPicPr>
          <p:cNvPr id="3" name="Picture 2" descr="The image depicts a dashboard or interface for Business Action Agents, illustrating various functions like API calls, account management, patient triage, and transactional tasks, with a focus on healthcare, retail, and financial services.&#10;&#10;AI-generated content may be incorrect.">
            <a:extLst>
              <a:ext uri="{FF2B5EF4-FFF2-40B4-BE49-F238E27FC236}">
                <a16:creationId xmlns:a16="http://schemas.microsoft.com/office/drawing/2014/main" id="{E5FAF64B-F11E-0770-1C1A-23DC1C2419B5}"/>
              </a:ext>
            </a:extLst>
          </p:cNvPr>
          <p:cNvPicPr>
            <a:picLocks noChangeAspect="1"/>
          </p:cNvPicPr>
          <p:nvPr/>
        </p:nvPicPr>
        <p:blipFill>
          <a:blip r:embed="rId3"/>
          <a:stretch>
            <a:fillRect/>
          </a:stretch>
        </p:blipFill>
        <p:spPr>
          <a:xfrm>
            <a:off x="0" y="1197627"/>
            <a:ext cx="12192000" cy="5660373"/>
          </a:xfrm>
          <a:prstGeom prst="rect">
            <a:avLst/>
          </a:prstGeom>
          <a:ln>
            <a:noFill/>
          </a:ln>
        </p:spPr>
      </p:pic>
      <p:sp>
        <p:nvSpPr>
          <p:cNvPr id="6" name="TextBox 5">
            <a:extLst>
              <a:ext uri="{FF2B5EF4-FFF2-40B4-BE49-F238E27FC236}">
                <a16:creationId xmlns:a16="http://schemas.microsoft.com/office/drawing/2014/main" id="{F774B230-3539-55E5-4513-BDD3DAE53A38}"/>
              </a:ext>
            </a:extLst>
          </p:cNvPr>
          <p:cNvSpPr txBox="1"/>
          <p:nvPr/>
        </p:nvSpPr>
        <p:spPr>
          <a:xfrm>
            <a:off x="9546288" y="180710"/>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Scope 2</a:t>
            </a:r>
          </a:p>
        </p:txBody>
      </p:sp>
    </p:spTree>
    <p:extLst>
      <p:ext uri="{BB962C8B-B14F-4D97-AF65-F5344CB8AC3E}">
        <p14:creationId xmlns:p14="http://schemas.microsoft.com/office/powerpoint/2010/main" val="1575114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 presetClass="emph" presetSubtype="0" fill="hold" grpId="1" nodeType="withEffect">
                                  <p:stCondLst>
                                    <p:cond delay="0"/>
                                  </p:stCondLst>
                                  <p:childTnLst>
                                    <p:animScale>
                                      <p:cBhvr>
                                        <p:cTn id="9" dur="100" fill="hold"/>
                                        <p:tgtEl>
                                          <p:spTgt spid="6"/>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7E2FF-9EAA-DBB7-034E-1F101C2B8FA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0629CC6-E608-C944-FD4D-FF997A7D293E}"/>
              </a:ext>
              <a:ext uri="{C183D7F6-B498-43B3-948B-1728B52AA6E4}">
                <adec:decorative xmlns:adec="http://schemas.microsoft.com/office/drawing/2017/decorative" val="1"/>
              </a:ext>
            </a:extLst>
          </p:cNvPr>
          <p:cNvSpPr>
            <a:spLocks/>
          </p:cNvSpPr>
          <p:nvPr/>
        </p:nvSpPr>
        <p:spPr bwMode="auto">
          <a:xfrm>
            <a:off x="712713" y="1123951"/>
            <a:ext cx="11025188" cy="5082885"/>
          </a:xfrm>
          <a:prstGeom prst="roundRect">
            <a:avLst>
              <a:gd name="adj" fmla="val 4159"/>
            </a:avLst>
          </a:prstGeom>
          <a:noFill/>
          <a:ln w="9525" cap="flat" cmpd="sng" algn="ctr">
            <a:solidFill>
              <a:srgbClr val="E8E6DF"/>
            </a:solidFill>
            <a:prstDash val="solid"/>
          </a:ln>
          <a:effectLst>
            <a:outerShdw blurRad="190500" dist="101600" dir="2700000" algn="tl" rotWithShape="0">
              <a:srgbClr val="463668">
                <a:alpha val="6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86D93DCD-0FB7-C8E6-5B8F-F5D0114BB66E}"/>
              </a:ext>
              <a:ext uri="{C183D7F6-B498-43B3-948B-1728B52AA6E4}">
                <adec:decorative xmlns:adec="http://schemas.microsoft.com/office/drawing/2017/decorative" val="1"/>
              </a:ext>
            </a:extLst>
          </p:cNvPr>
          <p:cNvSpPr>
            <a:spLocks/>
          </p:cNvSpPr>
          <p:nvPr/>
        </p:nvSpPr>
        <p:spPr bwMode="auto">
          <a:xfrm flipV="1">
            <a:off x="822112" y="1676398"/>
            <a:ext cx="2493739" cy="4407049"/>
          </a:xfrm>
          <a:prstGeom prst="roundRect">
            <a:avLst>
              <a:gd name="adj" fmla="val 7326"/>
            </a:avLst>
          </a:prstGeom>
          <a:solidFill>
            <a:schemeClr val="bg1">
              <a:lumMod val="95000"/>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Sans Display"/>
              <a:ea typeface="+mn-ea"/>
              <a:cs typeface="+mn-cs"/>
            </a:endParaRPr>
          </a:p>
        </p:txBody>
      </p:sp>
      <p:sp>
        <p:nvSpPr>
          <p:cNvPr id="7" name="Rectangle: Top Corners Rounded 6">
            <a:extLst>
              <a:ext uri="{FF2B5EF4-FFF2-40B4-BE49-F238E27FC236}">
                <a16:creationId xmlns:a16="http://schemas.microsoft.com/office/drawing/2014/main" id="{A56E798C-1BBF-AD4D-BB82-4E73C1612D54}"/>
              </a:ext>
              <a:ext uri="{C183D7F6-B498-43B3-948B-1728B52AA6E4}">
                <adec:decorative xmlns:adec="http://schemas.microsoft.com/office/drawing/2017/decorative" val="1"/>
              </a:ext>
            </a:extLst>
          </p:cNvPr>
          <p:cNvSpPr>
            <a:spLocks/>
          </p:cNvSpPr>
          <p:nvPr/>
        </p:nvSpPr>
        <p:spPr bwMode="auto">
          <a:xfrm>
            <a:off x="820524" y="1245115"/>
            <a:ext cx="10806389" cy="594360"/>
          </a:xfrm>
          <a:prstGeom prst="round2SameRect">
            <a:avLst>
              <a:gd name="adj1" fmla="val 22270"/>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16" name="Title 5">
            <a:extLst>
              <a:ext uri="{FF2B5EF4-FFF2-40B4-BE49-F238E27FC236}">
                <a16:creationId xmlns:a16="http://schemas.microsoft.com/office/drawing/2014/main" id="{7E83E6F1-6A88-4CE6-5269-571878BB7A03}"/>
              </a:ext>
            </a:extLst>
          </p:cNvPr>
          <p:cNvSpPr>
            <a:spLocks noGrp="1"/>
          </p:cNvSpPr>
          <p:nvPr>
            <p:ph type="title"/>
          </p:nvPr>
        </p:nvSpPr>
        <p:spPr>
          <a:xfrm>
            <a:off x="820525" y="1357629"/>
            <a:ext cx="10806388" cy="369332"/>
          </a:xfr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r>
              <a:rPr lang="en-US" sz="1800" kern="0" noProof="0" dirty="0">
                <a:solidFill>
                  <a:schemeClr val="bg1"/>
                </a:solidFill>
                <a:ea typeface="+mj-ea"/>
                <a:cs typeface="+mj-cs"/>
              </a:rPr>
              <a:t>Enterprise Process Automation Agents</a:t>
            </a:r>
          </a:p>
        </p:txBody>
      </p:sp>
      <p:sp>
        <p:nvSpPr>
          <p:cNvPr id="21" name="TextBox 20">
            <a:extLst>
              <a:ext uri="{FF2B5EF4-FFF2-40B4-BE49-F238E27FC236}">
                <a16:creationId xmlns:a16="http://schemas.microsoft.com/office/drawing/2014/main" id="{C25CCC8D-241B-9442-3813-1AA569FB471A}"/>
              </a:ext>
            </a:extLst>
          </p:cNvPr>
          <p:cNvSpPr txBox="1"/>
          <p:nvPr/>
        </p:nvSpPr>
        <p:spPr>
          <a:xfrm>
            <a:off x="1066836" y="3775657"/>
            <a:ext cx="2004291" cy="184666"/>
          </a:xfrm>
          <a:prstGeom prst="rect">
            <a:avLst/>
          </a:prstGeom>
          <a:noFill/>
        </p:spPr>
        <p:txBody>
          <a:bodyPr wrap="square" lIns="0" tIns="0" rIns="0" bIns="0">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t>Workloads &amp; Services</a:t>
            </a:r>
          </a:p>
        </p:txBody>
      </p:sp>
      <p:sp>
        <p:nvSpPr>
          <p:cNvPr id="33" name="TextBox 32">
            <a:extLst>
              <a:ext uri="{FF2B5EF4-FFF2-40B4-BE49-F238E27FC236}">
                <a16:creationId xmlns:a16="http://schemas.microsoft.com/office/drawing/2014/main" id="{8A15AA9D-E01E-CFBA-55E2-9EB26C8D988D}"/>
              </a:ext>
              <a:ext uri="{C183D7F6-B498-43B3-948B-1728B52AA6E4}">
                <adec:decorative xmlns:adec="http://schemas.microsoft.com/office/drawing/2017/decorative" val="0"/>
              </a:ext>
            </a:extLst>
          </p:cNvPr>
          <p:cNvSpPr txBox="1"/>
          <p:nvPr/>
        </p:nvSpPr>
        <p:spPr>
          <a:xfrm>
            <a:off x="3423422" y="1993112"/>
            <a:ext cx="4047960" cy="3871098"/>
          </a:xfrm>
          <a:prstGeom prst="roundRect">
            <a:avLst>
              <a:gd name="adj" fmla="val 4273"/>
            </a:avLst>
          </a:prstGeom>
          <a:solidFill>
            <a:schemeClr val="bg1">
              <a:lumMod val="95000"/>
              <a:alpha val="50000"/>
            </a:schemeClr>
          </a:solidFill>
          <a:ln w="3175">
            <a:solidFill>
              <a:srgbClr val="1A7385"/>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EXAMPLE USE CASES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Loan processing workflow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spanning intake, scoring, approval gates, and audit trail</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Claims processing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with triage, fraud detection, and escalation to a human adjuster</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1" i="0" u="none" strike="noStrike" kern="0" cap="none" spc="0" normalizeH="0" baseline="0" noProof="0" dirty="0">
                <a:ln>
                  <a:noFill/>
                </a:ln>
                <a:solidFill>
                  <a:prstClr val="black"/>
                </a:solidFill>
                <a:effectLst/>
                <a:uLnTx/>
                <a:uFillTx/>
                <a:latin typeface="Segoe Sans Text"/>
                <a:ea typeface="+mn-ea"/>
                <a:cs typeface="+mn-cs"/>
              </a:rPr>
              <a:t>Employee onboarding automation </a:t>
            </a:r>
            <a:r>
              <a:rPr kumimoji="0" lang="en-US" sz="1100" b="0" i="0" u="none" strike="noStrike" kern="0" cap="none" spc="0" normalizeH="0" baseline="0" noProof="0" dirty="0">
                <a:ln>
                  <a:noFill/>
                </a:ln>
                <a:solidFill>
                  <a:prstClr val="black"/>
                </a:solidFill>
                <a:effectLst/>
                <a:uLnTx/>
                <a:uFillTx/>
                <a:latin typeface="Segoe Sans Text"/>
                <a:ea typeface="+mn-ea"/>
                <a:cs typeface="+mn-cs"/>
              </a:rPr>
              <a:t>coordinating IT provisioning, HR tasks, and manager sign-off</a:t>
            </a:r>
          </a:p>
          <a:p>
            <a:pPr marL="0" marR="0" lvl="0" indent="0" algn="l" defTabSz="868680" rtl="0" eaLnBrk="1" fontAlgn="auto" latinLnBrk="0" hangingPunct="1">
              <a:lnSpc>
                <a:spcPct val="15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FACTORY DELIVERY</a:t>
            </a:r>
            <a:endParaRPr kumimoji="0" lang="en-US" sz="12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1"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Sans Text"/>
                <a:ea typeface="+mn-ea"/>
                <a:cs typeface="+mn-cs"/>
              </a:rPr>
              <a:t>1 agentic workflow solution</a:t>
            </a:r>
            <a:endParaRPr kumimoji="0" lang="en-US" sz="1100" b="1"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184150" marR="0" lvl="0" indent="-127000" algn="l" defTabSz="86868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5" name="TextBox 34">
            <a:extLst>
              <a:ext uri="{FF2B5EF4-FFF2-40B4-BE49-F238E27FC236}">
                <a16:creationId xmlns:a16="http://schemas.microsoft.com/office/drawing/2014/main" id="{CC64857A-41A6-856C-919C-BA2A8F794190}"/>
              </a:ext>
              <a:ext uri="{C183D7F6-B498-43B3-948B-1728B52AA6E4}">
                <adec:decorative xmlns:adec="http://schemas.microsoft.com/office/drawing/2017/decorative" val="0"/>
              </a:ext>
            </a:extLst>
          </p:cNvPr>
          <p:cNvSpPr txBox="1"/>
          <p:nvPr/>
        </p:nvSpPr>
        <p:spPr>
          <a:xfrm>
            <a:off x="7528049" y="1993112"/>
            <a:ext cx="4098864" cy="3466713"/>
          </a:xfrm>
          <a:prstGeom prst="roundRect">
            <a:avLst>
              <a:gd name="adj" fmla="val 4273"/>
            </a:avLst>
          </a:prstGeom>
          <a:solidFill>
            <a:schemeClr val="bg1">
              <a:lumMod val="95000"/>
              <a:alpha val="50000"/>
            </a:schemeClr>
          </a:solidFill>
          <a:ln w="3175">
            <a:solidFill>
              <a:srgbClr val="319A89"/>
            </a:solid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CUSTOMER SIGNALS</a:t>
            </a:r>
          </a:p>
          <a:p>
            <a:pPr marL="0" marR="0" lvl="0" indent="0" algn="l" defTabSz="86868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Content batch processing with agentic capabilities (entities extraction, summarization, conflict detection, etc.)</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Processes with approval gates and escalation paths that span multiple teams or systems</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Workflows that pause, resume, and run for hours or days rather than a single session</a:t>
            </a:r>
          </a:p>
          <a:p>
            <a:pPr marL="171450" marR="0" lvl="0" indent="-171450" algn="l" defTabSz="868680" rtl="0" eaLnBrk="1" fontAlgn="auto" latinLnBrk="0" hangingPunct="1">
              <a:lnSpc>
                <a:spcPct val="150000"/>
              </a:lnSpc>
              <a:spcBef>
                <a:spcPts val="0"/>
              </a:spcBef>
              <a:spcAft>
                <a:spcPts val="4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prstClr val="black"/>
                </a:solidFill>
                <a:effectLst/>
                <a:uLnTx/>
                <a:uFillTx/>
                <a:latin typeface="Segoe Sans Text"/>
                <a:ea typeface="+mn-ea"/>
                <a:cs typeface="+mn-cs"/>
              </a:rPr>
              <a:t>Human approval required at risk, compliance, or legal checkpoints</a:t>
            </a: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a:p>
            <a:pPr marL="57150" marR="0" lvl="0" indent="0" algn="l" defTabSz="868680" rtl="0" eaLnBrk="1" fontAlgn="auto" latinLnBrk="0" hangingPunct="1">
              <a:lnSpc>
                <a:spcPct val="100000"/>
              </a:lnSpc>
              <a:spcBef>
                <a:spcPts val="0"/>
              </a:spcBef>
              <a:spcAft>
                <a:spcPts val="60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Segoe Sans Text"/>
              <a:ea typeface="+mn-ea"/>
              <a:cs typeface="+mn-cs"/>
            </a:endParaRPr>
          </a:p>
        </p:txBody>
      </p:sp>
      <p:sp>
        <p:nvSpPr>
          <p:cNvPr id="37" name="TextBox 36">
            <a:extLst>
              <a:ext uri="{FF2B5EF4-FFF2-40B4-BE49-F238E27FC236}">
                <a16:creationId xmlns:a16="http://schemas.microsoft.com/office/drawing/2014/main" id="{9AFFF9DB-0E17-0EAC-7E46-82FE774434AC}"/>
              </a:ext>
            </a:extLst>
          </p:cNvPr>
          <p:cNvSpPr txBox="1"/>
          <p:nvPr/>
        </p:nvSpPr>
        <p:spPr>
          <a:xfrm>
            <a:off x="848478" y="1925748"/>
            <a:ext cx="2441006" cy="1862048"/>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2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TECHNICAL PATTERNS</a:t>
            </a:r>
            <a:br>
              <a:rPr kumimoji="0" lang="en-US" sz="1200" b="0" i="0" u="none" strike="noStrike" kern="0" cap="none" spc="0" normalizeH="0" baseline="0" noProof="0" dirty="0">
                <a:ln>
                  <a:noFill/>
                </a:ln>
                <a:solidFill>
                  <a:srgbClr val="0078D4"/>
                </a:solidFill>
                <a:effectLst/>
                <a:uLnTx/>
                <a:uFillTx/>
                <a:latin typeface="Segoe Sans Text Semibold"/>
                <a:ea typeface="+mn-ea"/>
                <a:cs typeface="+mn-cs"/>
              </a:rPr>
            </a:br>
            <a:endParaRPr kumimoji="0" lang="en-US" sz="1200" b="0" i="0" u="none" strike="noStrike" kern="0" cap="none" spc="0" normalizeH="0" baseline="0" noProof="0" dirty="0">
              <a:ln>
                <a:noFill/>
              </a:ln>
              <a:solidFill>
                <a:srgbClr val="0078D4"/>
              </a:solidFill>
              <a:effectLst/>
              <a:uLnTx/>
              <a:uFillTx/>
              <a:latin typeface="Segoe Sans Text Semibold"/>
              <a:ea typeface="+mn-ea"/>
              <a:cs typeface="+mn-cs"/>
            </a:endParaRPr>
          </a:p>
          <a:p>
            <a:pPr marL="0" marR="0" lvl="1" indent="0" algn="ctr" defTabSz="914400" rtl="0" eaLnBrk="1" fontAlgn="auto" latinLnBrk="0" hangingPunct="1">
              <a:lnSpc>
                <a:spcPct val="100000"/>
              </a:lnSpc>
              <a:spcBef>
                <a:spcPts val="0"/>
              </a:spcBef>
              <a:spcAft>
                <a:spcPts val="40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Segoe Sans Text"/>
                <a:ea typeface="+mn-ea"/>
                <a:cs typeface="+mn-cs"/>
              </a:rPr>
              <a:t>Agentic business processes with human-in-the-loop or batch content processing</a:t>
            </a:r>
          </a:p>
          <a:p>
            <a:pPr marL="0" marR="0" lvl="1" indent="0" algn="ctr" defTabSz="914400" rtl="0" eaLnBrk="1" fontAlgn="auto" latinLnBrk="0" hangingPunct="1">
              <a:lnSpc>
                <a:spcPct val="100000"/>
              </a:lnSpc>
              <a:spcBef>
                <a:spcPts val="0"/>
              </a:spcBef>
              <a:spcAft>
                <a:spcPts val="400"/>
              </a:spcAft>
              <a:buClrTx/>
              <a:buSzTx/>
              <a:buFontTx/>
              <a:buNone/>
              <a:tabLst/>
              <a:defRPr/>
            </a:pPr>
            <a:br>
              <a:rPr kumimoji="0" lang="en-US" sz="1100" b="1" i="0" u="none" strike="noStrike" kern="0" cap="none" spc="0" normalizeH="0" baseline="0" noProof="0" dirty="0">
                <a:ln>
                  <a:noFill/>
                </a:ln>
                <a:solidFill>
                  <a:srgbClr val="000000"/>
                </a:solidFill>
                <a:effectLst/>
                <a:uLnTx/>
                <a:uFillTx/>
                <a:latin typeface="Segoe Sans Text"/>
                <a:ea typeface="+mn-ea"/>
                <a:cs typeface="+mn-cs"/>
              </a:rPr>
            </a:br>
            <a:r>
              <a:rPr kumimoji="0" lang="en-US" sz="1000" b="0" i="1" u="none" strike="noStrike" kern="0" cap="none" spc="0" normalizeH="0" baseline="0" noProof="0" dirty="0">
                <a:ln>
                  <a:noFill/>
                </a:ln>
                <a:solidFill>
                  <a:srgbClr val="000000"/>
                </a:solidFill>
                <a:effectLst/>
                <a:uLnTx/>
                <a:uFillTx/>
                <a:latin typeface="Segoe Sans Text"/>
                <a:ea typeface="+mn-ea"/>
                <a:cs typeface="+mn-cs"/>
              </a:rPr>
              <a:t>A workflow pattern that automates long-running business processes across systems with AI orchestration, human approvals, and governance.</a:t>
            </a:r>
            <a:endParaRPr kumimoji="0" lang="en-US" sz="1100" b="0" i="1" u="none" strike="noStrike" kern="0" cap="none" spc="0" normalizeH="0" baseline="0" noProof="0" dirty="0">
              <a:ln>
                <a:noFill/>
              </a:ln>
              <a:solidFill>
                <a:srgbClr val="000000"/>
              </a:solidFill>
              <a:effectLst/>
              <a:uLnTx/>
              <a:uFillTx/>
              <a:latin typeface="Segoe Sans Text"/>
              <a:ea typeface="+mn-ea"/>
              <a:cs typeface="+mn-cs"/>
            </a:endParaRPr>
          </a:p>
        </p:txBody>
      </p:sp>
      <p:sp>
        <p:nvSpPr>
          <p:cNvPr id="45" name="TextBox 44">
            <a:extLst>
              <a:ext uri="{FF2B5EF4-FFF2-40B4-BE49-F238E27FC236}">
                <a16:creationId xmlns:a16="http://schemas.microsoft.com/office/drawing/2014/main" id="{992D7184-771A-6726-8620-21B6914D48B0}"/>
              </a:ext>
            </a:extLst>
          </p:cNvPr>
          <p:cNvSpPr txBox="1"/>
          <p:nvPr/>
        </p:nvSpPr>
        <p:spPr>
          <a:xfrm>
            <a:off x="3423422" y="5002182"/>
            <a:ext cx="8209253" cy="1027428"/>
          </a:xfrm>
          <a:prstGeom prst="roundRect">
            <a:avLst>
              <a:gd name="adj" fmla="val 9675"/>
            </a:avLst>
          </a:prstGeom>
          <a:solidFill>
            <a:schemeClr val="bg1"/>
          </a:solidFill>
          <a:ln w="12700" cap="rnd" cmpd="sng" algn="ctr">
            <a:gradFill flip="none" rotWithShape="1">
              <a:gsLst>
                <a:gs pos="72000">
                  <a:srgbClr val="1A7385"/>
                </a:gs>
                <a:gs pos="0">
                  <a:srgbClr val="0078D4"/>
                </a:gs>
                <a:gs pos="100000">
                  <a:srgbClr val="339E8D"/>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t" anchorCtr="0" forceAA="0" compatLnSpc="1">
            <a:prstTxWarp prst="textNoShape">
              <a:avLst/>
            </a:prstTxWarp>
            <a:noAutofit/>
          </a:bodyPr>
          <a:lstStyle>
            <a:defPPr>
              <a:defRPr lang="en-US"/>
            </a:defPPr>
            <a:lvl1pPr marR="0" lvl="0" indent="0" algn="ctr" defTabSz="885848" fontAlgn="base">
              <a:lnSpc>
                <a:spcPct val="100000"/>
              </a:lnSpc>
              <a:spcBef>
                <a:spcPct val="0"/>
              </a:spcBef>
              <a:spcAft>
                <a:spcPct val="0"/>
              </a:spcAft>
              <a:buClrTx/>
              <a:buSzTx/>
              <a:buFontTx/>
              <a:buNone/>
              <a:tabLst/>
              <a:defRPr kumimoji="0" b="0" i="0" u="none" strike="noStrike" kern="0" cap="none" spc="0" normalizeH="0" baseline="0">
                <a:ln>
                  <a:noFill/>
                </a:ln>
                <a:effectLst/>
                <a:uLnTx/>
                <a:uFillTx/>
                <a:latin typeface="+mj-lt"/>
                <a:cs typeface="Segoe Sans Display Thin"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885848"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Segoe Sans Text Semibold"/>
                <a:ea typeface="+mn-ea"/>
                <a:cs typeface="Segoe Sans Display Thin" pitchFamily="2" charset="0"/>
              </a:rPr>
              <a:t>Sales Talk Track</a:t>
            </a:r>
          </a:p>
        </p:txBody>
      </p:sp>
      <p:sp>
        <p:nvSpPr>
          <p:cNvPr id="46" name="Text 29">
            <a:extLst>
              <a:ext uri="{FF2B5EF4-FFF2-40B4-BE49-F238E27FC236}">
                <a16:creationId xmlns:a16="http://schemas.microsoft.com/office/drawing/2014/main" id="{D195ADF0-1BC5-1FFD-DBF6-DE63A66F1682}"/>
              </a:ext>
            </a:extLst>
          </p:cNvPr>
          <p:cNvSpPr/>
          <p:nvPr/>
        </p:nvSpPr>
        <p:spPr>
          <a:xfrm>
            <a:off x="3631136" y="5463969"/>
            <a:ext cx="7249298"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000000"/>
                </a:solidFill>
                <a:effectLst/>
                <a:uLnTx/>
                <a:uFillTx/>
                <a:latin typeface="Segoe UI" pitchFamily="34" charset="0"/>
                <a:ea typeface="Segoe UI" pitchFamily="34" charset="-122"/>
                <a:cs typeface="Segoe UI" pitchFamily="34" charset="-120"/>
              </a:rPr>
              <a:t>“This is end-to-end agentic workflow delivery with human-in-the-loop governance, orchestrating across systems and resuming automatically.”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0" name="Oval 49">
            <a:extLst>
              <a:ext uri="{FF2B5EF4-FFF2-40B4-BE49-F238E27FC236}">
                <a16:creationId xmlns:a16="http://schemas.microsoft.com/office/drawing/2014/main" id="{C7AC73DB-CD93-79D7-B4CB-B1ECF8E3477A}"/>
              </a:ext>
            </a:extLst>
          </p:cNvPr>
          <p:cNvSpPr/>
          <p:nvPr/>
        </p:nvSpPr>
        <p:spPr bwMode="auto">
          <a:xfrm>
            <a:off x="3513696" y="255773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2" name="Oval 51">
            <a:extLst>
              <a:ext uri="{FF2B5EF4-FFF2-40B4-BE49-F238E27FC236}">
                <a16:creationId xmlns:a16="http://schemas.microsoft.com/office/drawing/2014/main" id="{27B0E7B9-89F8-DE12-3D91-C96C40658466}"/>
              </a:ext>
            </a:extLst>
          </p:cNvPr>
          <p:cNvSpPr/>
          <p:nvPr/>
        </p:nvSpPr>
        <p:spPr bwMode="auto">
          <a:xfrm>
            <a:off x="3513696" y="310989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Oval 53">
            <a:extLst>
              <a:ext uri="{FF2B5EF4-FFF2-40B4-BE49-F238E27FC236}">
                <a16:creationId xmlns:a16="http://schemas.microsoft.com/office/drawing/2014/main" id="{BF4D7EA8-7E13-04C2-364D-5CBA6BBC8DBD}"/>
              </a:ext>
            </a:extLst>
          </p:cNvPr>
          <p:cNvSpPr/>
          <p:nvPr/>
        </p:nvSpPr>
        <p:spPr bwMode="auto">
          <a:xfrm>
            <a:off x="3513696" y="365812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6" name="Oval 55">
            <a:extLst>
              <a:ext uri="{FF2B5EF4-FFF2-40B4-BE49-F238E27FC236}">
                <a16:creationId xmlns:a16="http://schemas.microsoft.com/office/drawing/2014/main" id="{C8D7E9D8-D43B-BA3F-5865-15D26FB74E1D}"/>
              </a:ext>
            </a:extLst>
          </p:cNvPr>
          <p:cNvSpPr/>
          <p:nvPr/>
        </p:nvSpPr>
        <p:spPr bwMode="auto">
          <a:xfrm>
            <a:off x="7618323" y="255590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8" name="Oval 57">
            <a:extLst>
              <a:ext uri="{FF2B5EF4-FFF2-40B4-BE49-F238E27FC236}">
                <a16:creationId xmlns:a16="http://schemas.microsoft.com/office/drawing/2014/main" id="{EF946EB9-D0D2-1E60-C173-CFB26FE3AEF2}"/>
              </a:ext>
            </a:extLst>
          </p:cNvPr>
          <p:cNvSpPr/>
          <p:nvPr/>
        </p:nvSpPr>
        <p:spPr bwMode="auto">
          <a:xfrm>
            <a:off x="7618323" y="311515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0" name="Oval 59">
            <a:extLst>
              <a:ext uri="{FF2B5EF4-FFF2-40B4-BE49-F238E27FC236}">
                <a16:creationId xmlns:a16="http://schemas.microsoft.com/office/drawing/2014/main" id="{59EA75AF-1DC0-2CD6-6D18-CDDF2C1BCEEC}"/>
              </a:ext>
            </a:extLst>
          </p:cNvPr>
          <p:cNvSpPr/>
          <p:nvPr/>
        </p:nvSpPr>
        <p:spPr bwMode="auto">
          <a:xfrm>
            <a:off x="7618323" y="365629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5" name="Rectangle 64">
            <a:extLst>
              <a:ext uri="{FF2B5EF4-FFF2-40B4-BE49-F238E27FC236}">
                <a16:creationId xmlns:a16="http://schemas.microsoft.com/office/drawing/2014/main" id="{D3D171A9-77AD-BAD6-0F80-8448F70A11E0}"/>
              </a:ext>
              <a:ext uri="{C183D7F6-B498-43B3-948B-1728B52AA6E4}">
                <adec:decorative xmlns:adec="http://schemas.microsoft.com/office/drawing/2017/decorative" val="1"/>
              </a:ext>
            </a:extLst>
          </p:cNvPr>
          <p:cNvSpPr>
            <a:spLocks/>
          </p:cNvSpPr>
          <p:nvPr/>
        </p:nvSpPr>
        <p:spPr bwMode="auto">
          <a:xfrm rot="5400000">
            <a:off x="-2570147" y="3824064"/>
            <a:ext cx="5976000" cy="103637"/>
          </a:xfrm>
          <a:prstGeom prst="rect">
            <a:avLst/>
          </a:prstGeom>
          <a:gradFill flip="none" rotWithShape="1">
            <a:gsLst>
              <a:gs pos="84000">
                <a:srgbClr val="2AA4C0"/>
              </a:gs>
              <a:gs pos="100000">
                <a:srgbClr val="40BCB5"/>
              </a:gs>
              <a:gs pos="0">
                <a:schemeClr val="tx2"/>
              </a:gs>
            </a:gsLst>
            <a:lin ang="0" scaled="1"/>
            <a:tileRect/>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1200"/>
              </a:spcBef>
              <a:spcAft>
                <a:spcPts val="1200"/>
              </a:spcAft>
            </a:pPr>
            <a:endParaRPr lang="en-US" sz="1600" kern="0" noProof="0" dirty="0">
              <a:solidFill>
                <a:prstClr val="white"/>
              </a:solidFill>
              <a:latin typeface="Segoe Sans Text Semibold"/>
            </a:endParaRPr>
          </a:p>
        </p:txBody>
      </p:sp>
      <p:sp>
        <p:nvSpPr>
          <p:cNvPr id="63" name="TextBox 62">
            <a:extLst>
              <a:ext uri="{FF2B5EF4-FFF2-40B4-BE49-F238E27FC236}">
                <a16:creationId xmlns:a16="http://schemas.microsoft.com/office/drawing/2014/main" id="{3C115A94-E619-EBA3-D49A-EDD30A6799F7}"/>
              </a:ext>
            </a:extLst>
          </p:cNvPr>
          <p:cNvSpPr txBox="1"/>
          <p:nvPr/>
        </p:nvSpPr>
        <p:spPr>
          <a:xfrm>
            <a:off x="153492" y="436170"/>
            <a:ext cx="540000" cy="54000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2400" b="1" noProof="0" dirty="0"/>
              <a:t>4</a:t>
            </a:r>
          </a:p>
        </p:txBody>
      </p:sp>
      <p:sp>
        <p:nvSpPr>
          <p:cNvPr id="67" name="Title 101">
            <a:extLst>
              <a:ext uri="{FF2B5EF4-FFF2-40B4-BE49-F238E27FC236}">
                <a16:creationId xmlns:a16="http://schemas.microsoft.com/office/drawing/2014/main" id="{280BDAE3-93AC-4A10-A976-21E1F0D59ACB}"/>
              </a:ext>
            </a:extLst>
          </p:cNvPr>
          <p:cNvSpPr txBox="1">
            <a:spLocks/>
          </p:cNvSpPr>
          <p:nvPr/>
        </p:nvSpPr>
        <p:spPr>
          <a:xfrm>
            <a:off x="906034" y="454190"/>
            <a:ext cx="11017250" cy="738664"/>
          </a:xfrm>
          <a:prstGeom prst="rect">
            <a:avLst/>
          </a:prstGeom>
        </p:spPr>
        <p:txBody>
          <a:bodyPr vert="horz" wrap="square" lIns="0" tIns="0" rIns="0" bIns="0" rtlCol="0" anchor="t">
            <a:noAutofit/>
          </a:bodyPr>
          <a:lstStyle>
            <a:lvl1pPr marL="0" algn="l" defTabSz="932742" rtl="0" eaLnBrk="1" latinLnBrk="0" hangingPunct="1">
              <a:lnSpc>
                <a:spcPct val="100000"/>
              </a:lnSpc>
              <a:spcBef>
                <a:spcPts val="1800"/>
              </a:spcBef>
              <a:buSzPct val="90000"/>
              <a:buFont typeface="Wingdings" panose="05000000000000000000" pitchFamily="2" charset="2"/>
              <a:buNone/>
              <a:defRPr lang="en-US" sz="3200" b="0" kern="1200" cap="none" spc="-50" baseline="0" dirty="0">
                <a:ln w="3175">
                  <a:noFill/>
                </a:ln>
                <a:gradFill flip="none" rotWithShape="1">
                  <a:gsLst>
                    <a:gs pos="0">
                      <a:srgbClr val="3948C6"/>
                    </a:gs>
                    <a:gs pos="100000">
                      <a:srgbClr val="E35BAD"/>
                    </a:gs>
                    <a:gs pos="74000">
                      <a:srgbClr val="DF4DD7"/>
                    </a:gs>
                  </a:gsLst>
                  <a:lin ang="0" scaled="1"/>
                  <a:tileRect/>
                </a:gradFill>
                <a:effectLst/>
                <a:latin typeface="+mj-lt"/>
                <a:ea typeface="+mj-ea"/>
                <a:cs typeface="Segoe Sans Display Semibold" pitchFamily="2" charset="0"/>
              </a:defRPr>
            </a:lvl1p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2400" b="0" i="0" u="none" strike="noStrike" kern="1200" cap="none" spc="-50" normalizeH="0" baseline="0" noProof="0" dirty="0">
                <a:ln w="3175">
                  <a:noFill/>
                </a:ln>
                <a:solidFill>
                  <a:srgbClr val="0078D4"/>
                </a:solidFill>
                <a:effectLst/>
                <a:uLnTx/>
                <a:uFillTx/>
                <a:latin typeface="Segoe Sans Text Semibold"/>
                <a:ea typeface="+mj-ea"/>
                <a:cs typeface="Segoe UI" pitchFamily="34" charset="0"/>
              </a:rPr>
              <a:t>Cloud Accelerate Factory</a:t>
            </a:r>
            <a:br>
              <a:rPr kumimoji="0" lang="en-US" sz="2000" b="0" i="0" u="none" strike="noStrike" kern="1200" cap="none" spc="-50" normalizeH="0" baseline="0" noProof="0" dirty="0">
                <a:ln w="3175">
                  <a:noFill/>
                </a:ln>
                <a:gradFill flip="none" rotWithShape="1">
                  <a:gsLst>
                    <a:gs pos="0">
                      <a:srgbClr val="3948C6"/>
                    </a:gs>
                    <a:gs pos="100000">
                      <a:srgbClr val="E35BAD"/>
                    </a:gs>
                    <a:gs pos="74000">
                      <a:srgbClr val="DF4DD7"/>
                    </a:gs>
                  </a:gsLst>
                  <a:lin ang="0" scaled="1"/>
                  <a:tileRect/>
                </a:gradFill>
                <a:effectLst/>
                <a:uLnTx/>
                <a:uFillTx/>
                <a:latin typeface="Segoe Sans Text Semibold"/>
                <a:ea typeface="+mj-ea"/>
                <a:cs typeface="Segoe Sans Display Semibold" pitchFamily="2" charset="0"/>
              </a:rPr>
            </a:br>
            <a:r>
              <a:rPr kumimoji="0" lang="en-US" sz="1600" b="0" i="0" u="none" strike="noStrike" kern="1200" cap="none" spc="0" normalizeH="0" baseline="0" noProof="0" dirty="0">
                <a:ln>
                  <a:noFill/>
                </a:ln>
                <a:solidFill>
                  <a:srgbClr val="000000"/>
                </a:solidFill>
                <a:effectLst/>
                <a:uLnTx/>
                <a:uFillTx/>
                <a:latin typeface="Segoe Sans Text Semibold"/>
                <a:ea typeface="+mj-ea"/>
                <a:cs typeface="Segoe Sans Display Semilight" pitchFamily="2" charset="0"/>
              </a:rPr>
              <a:t>Agent Patterns</a:t>
            </a:r>
          </a:p>
        </p:txBody>
      </p:sp>
      <p:sp>
        <p:nvSpPr>
          <p:cNvPr id="2" name="TextBox 1">
            <a:extLst>
              <a:ext uri="{FF2B5EF4-FFF2-40B4-BE49-F238E27FC236}">
                <a16:creationId xmlns:a16="http://schemas.microsoft.com/office/drawing/2014/main" id="{2F16D6F7-C683-9E13-0B63-2FCE7A47CC4F}"/>
              </a:ext>
            </a:extLst>
          </p:cNvPr>
          <p:cNvSpPr txBox="1"/>
          <p:nvPr/>
        </p:nvSpPr>
        <p:spPr>
          <a:xfrm>
            <a:off x="9315380" y="706677"/>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High Complexity</a:t>
            </a:r>
          </a:p>
        </p:txBody>
      </p:sp>
      <p:sp>
        <p:nvSpPr>
          <p:cNvPr id="4" name="TextBox 3">
            <a:extLst>
              <a:ext uri="{FF2B5EF4-FFF2-40B4-BE49-F238E27FC236}">
                <a16:creationId xmlns:a16="http://schemas.microsoft.com/office/drawing/2014/main" id="{E22B2AC0-B568-C284-4F50-C144D151B579}"/>
              </a:ext>
            </a:extLst>
          </p:cNvPr>
          <p:cNvSpPr txBox="1"/>
          <p:nvPr/>
        </p:nvSpPr>
        <p:spPr>
          <a:xfrm>
            <a:off x="9315379" y="268122"/>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Agentic Workflows</a:t>
            </a:r>
          </a:p>
        </p:txBody>
      </p:sp>
      <p:sp>
        <p:nvSpPr>
          <p:cNvPr id="14" name="TextBox 13">
            <a:extLst>
              <a:ext uri="{FF2B5EF4-FFF2-40B4-BE49-F238E27FC236}">
                <a16:creationId xmlns:a16="http://schemas.microsoft.com/office/drawing/2014/main" id="{00757F28-9950-E904-6313-1C8B3C2FB940}"/>
              </a:ext>
            </a:extLst>
          </p:cNvPr>
          <p:cNvSpPr txBox="1"/>
          <p:nvPr/>
        </p:nvSpPr>
        <p:spPr>
          <a:xfrm>
            <a:off x="1024981" y="4067269"/>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Copilot Studio Workflow</a:t>
            </a:r>
          </a:p>
        </p:txBody>
      </p:sp>
      <p:sp>
        <p:nvSpPr>
          <p:cNvPr id="22" name="TextBox 21">
            <a:extLst>
              <a:ext uri="{FF2B5EF4-FFF2-40B4-BE49-F238E27FC236}">
                <a16:creationId xmlns:a16="http://schemas.microsoft.com/office/drawing/2014/main" id="{818FE961-FDD2-3D13-7E7E-9C44EADD07AC}"/>
              </a:ext>
            </a:extLst>
          </p:cNvPr>
          <p:cNvSpPr txBox="1"/>
          <p:nvPr/>
        </p:nvSpPr>
        <p:spPr>
          <a:xfrm>
            <a:off x="1024981" y="4726875"/>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Foundry IQ</a:t>
            </a:r>
          </a:p>
        </p:txBody>
      </p:sp>
      <p:sp>
        <p:nvSpPr>
          <p:cNvPr id="23" name="TextBox 22">
            <a:extLst>
              <a:ext uri="{FF2B5EF4-FFF2-40B4-BE49-F238E27FC236}">
                <a16:creationId xmlns:a16="http://schemas.microsoft.com/office/drawing/2014/main" id="{45B5AAD2-CFE9-2109-1468-50A66E838246}"/>
              </a:ext>
            </a:extLst>
          </p:cNvPr>
          <p:cNvSpPr txBox="1"/>
          <p:nvPr/>
        </p:nvSpPr>
        <p:spPr>
          <a:xfrm>
            <a:off x="1024981" y="5056678"/>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050" noProof="0" dirty="0"/>
              <a:t>Microsoft Agent Framework</a:t>
            </a:r>
          </a:p>
        </p:txBody>
      </p:sp>
      <p:sp>
        <p:nvSpPr>
          <p:cNvPr id="24" name="TextBox 23">
            <a:extLst>
              <a:ext uri="{FF2B5EF4-FFF2-40B4-BE49-F238E27FC236}">
                <a16:creationId xmlns:a16="http://schemas.microsoft.com/office/drawing/2014/main" id="{24D6BC2A-D8EB-DD45-5AA8-148440F6D361}"/>
              </a:ext>
            </a:extLst>
          </p:cNvPr>
          <p:cNvSpPr txBox="1"/>
          <p:nvPr/>
        </p:nvSpPr>
        <p:spPr>
          <a:xfrm>
            <a:off x="1024981" y="5386481"/>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100" noProof="0" dirty="0"/>
              <a:t>Azure Integration Services</a:t>
            </a:r>
          </a:p>
        </p:txBody>
      </p:sp>
      <p:sp>
        <p:nvSpPr>
          <p:cNvPr id="25" name="TextBox 24">
            <a:extLst>
              <a:ext uri="{FF2B5EF4-FFF2-40B4-BE49-F238E27FC236}">
                <a16:creationId xmlns:a16="http://schemas.microsoft.com/office/drawing/2014/main" id="{C39E6A74-3F25-B659-A2F1-E9133E4DDAD3}"/>
              </a:ext>
            </a:extLst>
          </p:cNvPr>
          <p:cNvSpPr txBox="1"/>
          <p:nvPr/>
        </p:nvSpPr>
        <p:spPr>
          <a:xfrm>
            <a:off x="1024981" y="4397072"/>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Microsoft Foundry</a:t>
            </a:r>
          </a:p>
        </p:txBody>
      </p:sp>
      <p:sp>
        <p:nvSpPr>
          <p:cNvPr id="6" name="TextBox 5">
            <a:extLst>
              <a:ext uri="{FF2B5EF4-FFF2-40B4-BE49-F238E27FC236}">
                <a16:creationId xmlns:a16="http://schemas.microsoft.com/office/drawing/2014/main" id="{20C3896F-74DD-ADE8-B414-95065DFA52E2}"/>
              </a:ext>
            </a:extLst>
          </p:cNvPr>
          <p:cNvSpPr txBox="1"/>
          <p:nvPr/>
        </p:nvSpPr>
        <p:spPr>
          <a:xfrm>
            <a:off x="1024981" y="5746847"/>
            <a:ext cx="2088000" cy="275307"/>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Cosmos DB · PostgreSQL</a:t>
            </a:r>
          </a:p>
        </p:txBody>
      </p:sp>
      <p:sp>
        <p:nvSpPr>
          <p:cNvPr id="9" name="Oval 59">
            <a:extLst>
              <a:ext uri="{FF2B5EF4-FFF2-40B4-BE49-F238E27FC236}">
                <a16:creationId xmlns:a16="http://schemas.microsoft.com/office/drawing/2014/main" id="{E63888AF-9392-C5F7-5674-920385D9E129}"/>
              </a:ext>
            </a:extLst>
          </p:cNvPr>
          <p:cNvSpPr/>
          <p:nvPr/>
        </p:nvSpPr>
        <p:spPr bwMode="auto">
          <a:xfrm>
            <a:off x="7618323" y="421741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97B5A3DB-5581-F048-667B-D648F3F65267}"/>
              </a:ext>
            </a:extLst>
          </p:cNvPr>
          <p:cNvSpPr txBox="1"/>
          <p:nvPr/>
        </p:nvSpPr>
        <p:spPr>
          <a:xfrm>
            <a:off x="6897575" y="272085"/>
            <a:ext cx="2311533" cy="302955"/>
          </a:xfrm>
          <a:prstGeom prst="roundRect">
            <a:avLst>
              <a:gd name="adj" fmla="val 50000"/>
            </a:avLst>
          </a:prstGeom>
          <a:solidFill>
            <a:srgbClr val="0070C0"/>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b="1" noProof="0" dirty="0">
                <a:solidFill>
                  <a:schemeClr val="bg1"/>
                </a:solidFill>
              </a:rPr>
              <a:t>SCOPE 2</a:t>
            </a:r>
          </a:p>
        </p:txBody>
      </p:sp>
    </p:spTree>
    <p:extLst>
      <p:ext uri="{BB962C8B-B14F-4D97-AF65-F5344CB8AC3E}">
        <p14:creationId xmlns:p14="http://schemas.microsoft.com/office/powerpoint/2010/main" val="2172354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6" presetClass="emph" presetSubtype="0" fill="hold" grpId="1" nodeType="withEffect">
                                  <p:stCondLst>
                                    <p:cond delay="0"/>
                                  </p:stCondLst>
                                  <p:childTnLst>
                                    <p:animScale>
                                      <p:cBhvr>
                                        <p:cTn id="9" dur="100" fill="hold"/>
                                        <p:tgtEl>
                                          <p:spTgt spid="4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63"/>
                                        </p:tgtEl>
                                        <p:attrNameLst>
                                          <p:attrName>style.visibility</p:attrName>
                                        </p:attrNameLst>
                                      </p:cBhvr>
                                      <p:to>
                                        <p:strVal val="visible"/>
                                      </p:to>
                                    </p:set>
                                    <p:animEffect transition="in" filter="fade">
                                      <p:cBhvr>
                                        <p:cTn id="14" dur="500"/>
                                        <p:tgtEl>
                                          <p:spTgt spid="63"/>
                                        </p:tgtEl>
                                      </p:cBhvr>
                                    </p:animEffect>
                                  </p:childTnLst>
                                </p:cTn>
                              </p:par>
                              <p:par>
                                <p:cTn id="15" presetID="6" presetClass="emph" presetSubtype="0" fill="hold" grpId="1" nodeType="withEffect">
                                  <p:stCondLst>
                                    <p:cond delay="0"/>
                                  </p:stCondLst>
                                  <p:childTnLst>
                                    <p:animScale>
                                      <p:cBhvr>
                                        <p:cTn id="16" dur="100" fill="hold"/>
                                        <p:tgtEl>
                                          <p:spTgt spid="63"/>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63"/>
                                        </p:tgtEl>
                                      </p:cBhvr>
                                      <p:by x="400000" y="400000"/>
                                    </p:animScale>
                                  </p:childTnLst>
                                </p:cTn>
                              </p:par>
                              <p:par>
                                <p:cTn id="19" presetID="10" presetClass="entr" presetSubtype="0" fill="hold" grpId="0" nodeType="withEffect">
                                  <p:stCondLst>
                                    <p:cond delay="20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6" presetClass="emph" presetSubtype="0" fill="hold" grpId="1" nodeType="withEffect">
                                  <p:stCondLst>
                                    <p:cond delay="0"/>
                                  </p:stCondLst>
                                  <p:childTnLst>
                                    <p:animScale>
                                      <p:cBhvr>
                                        <p:cTn id="23" dur="100" fill="hold"/>
                                        <p:tgtEl>
                                          <p:spTgt spid="2"/>
                                        </p:tgtEl>
                                      </p:cBhvr>
                                      <p:by x="25000" y="25000"/>
                                    </p:animScale>
                                  </p:childTnLst>
                                </p:cTn>
                              </p:par>
                              <p:par>
                                <p:cTn id="24" presetID="6" presetClass="emph" presetSubtype="0" decel="100000" fill="hold" grpId="2" nodeType="withEffect">
                                  <p:stCondLst>
                                    <p:cond delay="200"/>
                                  </p:stCondLst>
                                  <p:childTnLst>
                                    <p:animScale>
                                      <p:cBhvr>
                                        <p:cTn id="25" dur="500" fill="hold"/>
                                        <p:tgtEl>
                                          <p:spTgt spid="2"/>
                                        </p:tgtEl>
                                      </p:cBhvr>
                                      <p:by x="400000" y="400000"/>
                                    </p:animScale>
                                  </p:childTnLst>
                                </p:cTn>
                              </p:par>
                              <p:par>
                                <p:cTn id="26" presetID="10" presetClass="entr" presetSubtype="0" fill="hold" grpId="0" nodeType="withEffect">
                                  <p:stCondLst>
                                    <p:cond delay="2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6" presetClass="emph" presetSubtype="0" fill="hold" grpId="1" nodeType="withEffect">
                                  <p:stCondLst>
                                    <p:cond delay="0"/>
                                  </p:stCondLst>
                                  <p:childTnLst>
                                    <p:animScale>
                                      <p:cBhvr>
                                        <p:cTn id="30" dur="100" fill="hold"/>
                                        <p:tgtEl>
                                          <p:spTgt spid="4"/>
                                        </p:tgtEl>
                                      </p:cBhvr>
                                      <p:by x="25000" y="25000"/>
                                    </p:animScale>
                                  </p:childTnLst>
                                </p:cTn>
                              </p:par>
                              <p:par>
                                <p:cTn id="31" presetID="6" presetClass="emph" presetSubtype="0" decel="100000" fill="hold" grpId="2" nodeType="withEffect">
                                  <p:stCondLst>
                                    <p:cond delay="200"/>
                                  </p:stCondLst>
                                  <p:childTnLst>
                                    <p:animScale>
                                      <p:cBhvr>
                                        <p:cTn id="32" dur="500" fill="hold"/>
                                        <p:tgtEl>
                                          <p:spTgt spid="4"/>
                                        </p:tgtEl>
                                      </p:cBhvr>
                                      <p:by x="400000" y="400000"/>
                                    </p:animScale>
                                  </p:childTnLst>
                                </p:cTn>
                              </p:par>
                              <p:par>
                                <p:cTn id="33" presetID="10" presetClass="entr" presetSubtype="0" fill="hold" grpId="0" nodeType="withEffect">
                                  <p:stCondLst>
                                    <p:cond delay="2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6" presetClass="emph" presetSubtype="0" fill="hold" grpId="1" nodeType="withEffect">
                                  <p:stCondLst>
                                    <p:cond delay="0"/>
                                  </p:stCondLst>
                                  <p:childTnLst>
                                    <p:animScale>
                                      <p:cBhvr>
                                        <p:cTn id="37" dur="100" fill="hold"/>
                                        <p:tgtEl>
                                          <p:spTgt spid="14"/>
                                        </p:tgtEl>
                                      </p:cBhvr>
                                      <p:by x="25000" y="25000"/>
                                    </p:animScale>
                                  </p:childTnLst>
                                </p:cTn>
                              </p:par>
                              <p:par>
                                <p:cTn id="38" presetID="6" presetClass="emph" presetSubtype="0" decel="100000" fill="hold" grpId="2" nodeType="withEffect">
                                  <p:stCondLst>
                                    <p:cond delay="200"/>
                                  </p:stCondLst>
                                  <p:childTnLst>
                                    <p:animScale>
                                      <p:cBhvr>
                                        <p:cTn id="39" dur="500" fill="hold"/>
                                        <p:tgtEl>
                                          <p:spTgt spid="14"/>
                                        </p:tgtEl>
                                      </p:cBhvr>
                                      <p:by x="400000" y="400000"/>
                                    </p:animScale>
                                  </p:childTnLst>
                                </p:cTn>
                              </p:par>
                              <p:par>
                                <p:cTn id="40" presetID="10" presetClass="entr" presetSubtype="0" fill="hold" grpId="0" nodeType="withEffect">
                                  <p:stCondLst>
                                    <p:cond delay="2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6" presetClass="emph" presetSubtype="0" fill="hold" grpId="1" nodeType="withEffect">
                                  <p:stCondLst>
                                    <p:cond delay="0"/>
                                  </p:stCondLst>
                                  <p:childTnLst>
                                    <p:animScale>
                                      <p:cBhvr>
                                        <p:cTn id="44" dur="100" fill="hold"/>
                                        <p:tgtEl>
                                          <p:spTgt spid="22"/>
                                        </p:tgtEl>
                                      </p:cBhvr>
                                      <p:by x="25000" y="25000"/>
                                    </p:animScale>
                                  </p:childTnLst>
                                </p:cTn>
                              </p:par>
                              <p:par>
                                <p:cTn id="45" presetID="6" presetClass="emph" presetSubtype="0" decel="100000" fill="hold" grpId="2" nodeType="withEffect">
                                  <p:stCondLst>
                                    <p:cond delay="200"/>
                                  </p:stCondLst>
                                  <p:childTnLst>
                                    <p:animScale>
                                      <p:cBhvr>
                                        <p:cTn id="46" dur="500" fill="hold"/>
                                        <p:tgtEl>
                                          <p:spTgt spid="22"/>
                                        </p:tgtEl>
                                      </p:cBhvr>
                                      <p:by x="400000" y="400000"/>
                                    </p:animScale>
                                  </p:childTnLst>
                                </p:cTn>
                              </p:par>
                              <p:par>
                                <p:cTn id="47" presetID="10" presetClass="entr" presetSubtype="0" fill="hold" grpId="0" nodeType="withEffect">
                                  <p:stCondLst>
                                    <p:cond delay="20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6" presetClass="emph" presetSubtype="0" fill="hold" grpId="1" nodeType="withEffect">
                                  <p:stCondLst>
                                    <p:cond delay="0"/>
                                  </p:stCondLst>
                                  <p:childTnLst>
                                    <p:animScale>
                                      <p:cBhvr>
                                        <p:cTn id="51" dur="100" fill="hold"/>
                                        <p:tgtEl>
                                          <p:spTgt spid="23"/>
                                        </p:tgtEl>
                                      </p:cBhvr>
                                      <p:by x="25000" y="25000"/>
                                    </p:animScale>
                                  </p:childTnLst>
                                </p:cTn>
                              </p:par>
                              <p:par>
                                <p:cTn id="52" presetID="6" presetClass="emph" presetSubtype="0" decel="100000" fill="hold" grpId="2" nodeType="withEffect">
                                  <p:stCondLst>
                                    <p:cond delay="200"/>
                                  </p:stCondLst>
                                  <p:childTnLst>
                                    <p:animScale>
                                      <p:cBhvr>
                                        <p:cTn id="53" dur="500" fill="hold"/>
                                        <p:tgtEl>
                                          <p:spTgt spid="23"/>
                                        </p:tgtEl>
                                      </p:cBhvr>
                                      <p:by x="400000" y="400000"/>
                                    </p:animScale>
                                  </p:childTnLst>
                                </p:cTn>
                              </p:par>
                              <p:par>
                                <p:cTn id="54" presetID="10" presetClass="entr" presetSubtype="0" fill="hold" grpId="0" nodeType="withEffect">
                                  <p:stCondLst>
                                    <p:cond delay="20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par>
                                <p:cTn id="57" presetID="6" presetClass="emph" presetSubtype="0" fill="hold" grpId="1" nodeType="withEffect">
                                  <p:stCondLst>
                                    <p:cond delay="0"/>
                                  </p:stCondLst>
                                  <p:childTnLst>
                                    <p:animScale>
                                      <p:cBhvr>
                                        <p:cTn id="58" dur="100" fill="hold"/>
                                        <p:tgtEl>
                                          <p:spTgt spid="24"/>
                                        </p:tgtEl>
                                      </p:cBhvr>
                                      <p:by x="25000" y="25000"/>
                                    </p:animScale>
                                  </p:childTnLst>
                                </p:cTn>
                              </p:par>
                              <p:par>
                                <p:cTn id="59" presetID="6" presetClass="emph" presetSubtype="0" decel="100000" fill="hold" grpId="2" nodeType="withEffect">
                                  <p:stCondLst>
                                    <p:cond delay="200"/>
                                  </p:stCondLst>
                                  <p:childTnLst>
                                    <p:animScale>
                                      <p:cBhvr>
                                        <p:cTn id="60" dur="500" fill="hold"/>
                                        <p:tgtEl>
                                          <p:spTgt spid="24"/>
                                        </p:tgtEl>
                                      </p:cBhvr>
                                      <p:by x="400000" y="400000"/>
                                    </p:animScale>
                                  </p:childTnLst>
                                </p:cTn>
                              </p:par>
                              <p:par>
                                <p:cTn id="61" presetID="10" presetClass="entr" presetSubtype="0" fill="hold" grpId="0" nodeType="withEffect">
                                  <p:stCondLst>
                                    <p:cond delay="20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4" presetID="6" presetClass="emph" presetSubtype="0" fill="hold" grpId="1" nodeType="withEffect">
                                  <p:stCondLst>
                                    <p:cond delay="0"/>
                                  </p:stCondLst>
                                  <p:childTnLst>
                                    <p:animScale>
                                      <p:cBhvr>
                                        <p:cTn id="65" dur="100" fill="hold"/>
                                        <p:tgtEl>
                                          <p:spTgt spid="25"/>
                                        </p:tgtEl>
                                      </p:cBhvr>
                                      <p:by x="25000" y="25000"/>
                                    </p:animScale>
                                  </p:childTnLst>
                                </p:cTn>
                              </p:par>
                              <p:par>
                                <p:cTn id="66" presetID="6" presetClass="emph" presetSubtype="0" decel="100000" fill="hold" grpId="2" nodeType="withEffect">
                                  <p:stCondLst>
                                    <p:cond delay="200"/>
                                  </p:stCondLst>
                                  <p:childTnLst>
                                    <p:animScale>
                                      <p:cBhvr>
                                        <p:cTn id="67" dur="500" fill="hold"/>
                                        <p:tgtEl>
                                          <p:spTgt spid="25"/>
                                        </p:tgtEl>
                                      </p:cBhvr>
                                      <p:by x="400000" y="400000"/>
                                    </p:animScale>
                                  </p:childTnLst>
                                </p:cTn>
                              </p:par>
                              <p:par>
                                <p:cTn id="68" presetID="10" presetClass="entr" presetSubtype="0" fill="hold" grpId="0" nodeType="withEffect">
                                  <p:stCondLst>
                                    <p:cond delay="20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500"/>
                                        <p:tgtEl>
                                          <p:spTgt spid="6"/>
                                        </p:tgtEl>
                                      </p:cBhvr>
                                    </p:animEffect>
                                  </p:childTnLst>
                                </p:cTn>
                              </p:par>
                              <p:par>
                                <p:cTn id="71" presetID="6" presetClass="emph" presetSubtype="0" fill="hold" grpId="1" nodeType="withEffect">
                                  <p:stCondLst>
                                    <p:cond delay="0"/>
                                  </p:stCondLst>
                                  <p:childTnLst>
                                    <p:animScale>
                                      <p:cBhvr>
                                        <p:cTn id="72" dur="100" fill="hold"/>
                                        <p:tgtEl>
                                          <p:spTgt spid="6"/>
                                        </p:tgtEl>
                                      </p:cBhvr>
                                      <p:by x="25000" y="25000"/>
                                    </p:animScale>
                                  </p:childTnLst>
                                </p:cTn>
                              </p:par>
                              <p:par>
                                <p:cTn id="73" presetID="6" presetClass="emph" presetSubtype="0" decel="100000" fill="hold" grpId="2" nodeType="withEffect">
                                  <p:stCondLst>
                                    <p:cond delay="200"/>
                                  </p:stCondLst>
                                  <p:childTnLst>
                                    <p:animScale>
                                      <p:cBhvr>
                                        <p:cTn id="74" dur="500" fill="hold"/>
                                        <p:tgtEl>
                                          <p:spTgt spid="6"/>
                                        </p:tgtEl>
                                      </p:cBhvr>
                                      <p:by x="400000" y="400000"/>
                                    </p:animScale>
                                  </p:childTnLst>
                                </p:cTn>
                              </p:par>
                              <p:par>
                                <p:cTn id="75" presetID="10" presetClass="entr" presetSubtype="0" fill="hold" grpId="0" nodeType="withEffect">
                                  <p:stCondLst>
                                    <p:cond delay="200"/>
                                  </p:stCondLst>
                                  <p:childTnLst>
                                    <p:set>
                                      <p:cBhvr>
                                        <p:cTn id="76" dur="1" fill="hold">
                                          <p:stCondLst>
                                            <p:cond delay="0"/>
                                          </p:stCondLst>
                                        </p:cTn>
                                        <p:tgtEl>
                                          <p:spTgt spid="8"/>
                                        </p:tgtEl>
                                        <p:attrNameLst>
                                          <p:attrName>style.visibility</p:attrName>
                                        </p:attrNameLst>
                                      </p:cBhvr>
                                      <p:to>
                                        <p:strVal val="visible"/>
                                      </p:to>
                                    </p:set>
                                    <p:animEffect transition="in" filter="fade">
                                      <p:cBhvr>
                                        <p:cTn id="77" dur="500"/>
                                        <p:tgtEl>
                                          <p:spTgt spid="8"/>
                                        </p:tgtEl>
                                      </p:cBhvr>
                                    </p:animEffect>
                                  </p:childTnLst>
                                </p:cTn>
                              </p:par>
                              <p:par>
                                <p:cTn id="78" presetID="6" presetClass="emph" presetSubtype="0" fill="hold" grpId="1" nodeType="withEffect">
                                  <p:stCondLst>
                                    <p:cond delay="0"/>
                                  </p:stCondLst>
                                  <p:childTnLst>
                                    <p:animScale>
                                      <p:cBhvr>
                                        <p:cTn id="79" dur="100" fill="hold"/>
                                        <p:tgtEl>
                                          <p:spTgt spid="8"/>
                                        </p:tgtEl>
                                      </p:cBhvr>
                                      <p:by x="25000" y="25000"/>
                                    </p:animScale>
                                  </p:childTnLst>
                                </p:cTn>
                              </p:par>
                              <p:par>
                                <p:cTn id="80" presetID="6" presetClass="emph" presetSubtype="0" decel="100000" fill="hold" grpId="2" nodeType="withEffect">
                                  <p:stCondLst>
                                    <p:cond delay="200"/>
                                  </p:stCondLst>
                                  <p:childTnLst>
                                    <p:animScale>
                                      <p:cBhvr>
                                        <p:cTn id="81" dur="500" fill="hold"/>
                                        <p:tgtEl>
                                          <p:spTgt spid="8"/>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5" grpId="2" animBg="1"/>
      <p:bldP spid="63" grpId="0" animBg="1"/>
      <p:bldP spid="63" grpId="1" animBg="1"/>
      <p:bldP spid="63" grpId="2" animBg="1"/>
      <p:bldP spid="2" grpId="0" animBg="1"/>
      <p:bldP spid="2" grpId="1" animBg="1"/>
      <p:bldP spid="2" grpId="2" animBg="1"/>
      <p:bldP spid="4" grpId="0" animBg="1"/>
      <p:bldP spid="4" grpId="1" animBg="1"/>
      <p:bldP spid="4" grpId="2" animBg="1"/>
      <p:bldP spid="14" grpId="0" animBg="1"/>
      <p:bldP spid="14" grpId="1" animBg="1"/>
      <p:bldP spid="14" grpId="2" animBg="1"/>
      <p:bldP spid="22" grpId="0" animBg="1"/>
      <p:bldP spid="22" grpId="1" animBg="1"/>
      <p:bldP spid="22" grpId="2" animBg="1"/>
      <p:bldP spid="23" grpId="0" animBg="1"/>
      <p:bldP spid="23" grpId="1" animBg="1"/>
      <p:bldP spid="23" grpId="2" animBg="1"/>
      <p:bldP spid="24" grpId="0" animBg="1"/>
      <p:bldP spid="24" grpId="1" animBg="1"/>
      <p:bldP spid="24" grpId="2" animBg="1"/>
      <p:bldP spid="25" grpId="0" animBg="1"/>
      <p:bldP spid="25" grpId="1" animBg="1"/>
      <p:bldP spid="25" grpId="2" animBg="1"/>
      <p:bldP spid="6" grpId="0" animBg="1"/>
      <p:bldP spid="6" grpId="1" animBg="1"/>
      <p:bldP spid="6" grpId="2" animBg="1"/>
      <p:bldP spid="8" grpId="0" animBg="1"/>
      <p:bldP spid="8" grpId="1" animBg="1"/>
      <p:bldP spid="8" grpId="2"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FB241-D7B4-0FA0-1B55-A0DEFB7E1EBF}"/>
            </a:ext>
          </a:extLst>
        </p:cNvPr>
        <p:cNvGrpSpPr/>
        <p:nvPr/>
      </p:nvGrpSpPr>
      <p:grpSpPr>
        <a:xfrm>
          <a:off x="0" y="0"/>
          <a:ext cx="0" cy="0"/>
          <a:chOff x="0" y="0"/>
          <a:chExt cx="0" cy="0"/>
        </a:xfrm>
      </p:grpSpPr>
      <p:pic>
        <p:nvPicPr>
          <p:cNvPr id="10" name="Picture 9" descr="The image depicts an enterprise process automation system that integrates various services, such as invoice processing, cybersecurity assessments, pharmacovigilance, and compliance, across multiple departments and industries, including retail, professional services, pharma, finance, and healthcare.&#10;&#10;AI-generated content may be incorrect.">
            <a:extLst>
              <a:ext uri="{FF2B5EF4-FFF2-40B4-BE49-F238E27FC236}">
                <a16:creationId xmlns:a16="http://schemas.microsoft.com/office/drawing/2014/main" id="{9D8F87F8-01A0-B0D3-5D88-93A1A94DCDF3}"/>
              </a:ext>
            </a:extLst>
          </p:cNvPr>
          <p:cNvPicPr>
            <a:picLocks noChangeAspect="1"/>
          </p:cNvPicPr>
          <p:nvPr/>
        </p:nvPicPr>
        <p:blipFill>
          <a:blip r:embed="rId2"/>
          <a:stretch>
            <a:fillRect/>
          </a:stretch>
        </p:blipFill>
        <p:spPr>
          <a:xfrm>
            <a:off x="0" y="1236870"/>
            <a:ext cx="12192000" cy="5621130"/>
          </a:xfrm>
          <a:prstGeom prst="rect">
            <a:avLst/>
          </a:prstGeom>
        </p:spPr>
      </p:pic>
      <p:sp>
        <p:nvSpPr>
          <p:cNvPr id="5" name="Rectangle 4">
            <a:extLst>
              <a:ext uri="{FF2B5EF4-FFF2-40B4-BE49-F238E27FC236}">
                <a16:creationId xmlns:a16="http://schemas.microsoft.com/office/drawing/2014/main" id="{E47FF74A-AB21-C4EB-B7A1-CD4426F2FCBC}"/>
              </a:ext>
              <a:ext uri="{C183D7F6-B498-43B3-948B-1728B52AA6E4}">
                <adec:decorative xmlns:adec="http://schemas.microsoft.com/office/drawing/2017/decorative" val="1"/>
              </a:ext>
            </a:extLst>
          </p:cNvPr>
          <p:cNvSpPr>
            <a:spLocks/>
          </p:cNvSpPr>
          <p:nvPr/>
        </p:nvSpPr>
        <p:spPr bwMode="auto">
          <a:xfrm>
            <a:off x="0" y="0"/>
            <a:ext cx="12192000" cy="1328749"/>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6" name="Title 5">
            <a:extLst>
              <a:ext uri="{FF2B5EF4-FFF2-40B4-BE49-F238E27FC236}">
                <a16:creationId xmlns:a16="http://schemas.microsoft.com/office/drawing/2014/main" id="{47308212-7549-D365-6A23-9EF5A7A80972}"/>
              </a:ext>
            </a:extLst>
          </p:cNvPr>
          <p:cNvSpPr txBox="1">
            <a:spLocks/>
          </p:cNvSpPr>
          <p:nvPr/>
        </p:nvSpPr>
        <p:spPr>
          <a:xfrm>
            <a:off x="0" y="664374"/>
            <a:ext cx="12192000" cy="369332"/>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algn="ctr" defTabSz="914400">
              <a:spcBef>
                <a:spcPts val="0"/>
              </a:spcBef>
              <a:defRPr/>
            </a:pPr>
            <a:r>
              <a:rPr lang="en-US" sz="2400" noProof="0" dirty="0">
                <a:solidFill>
                  <a:schemeClr val="bg1"/>
                </a:solidFill>
              </a:rPr>
              <a:t>Industry &amp; Persona Examples – Enterprise Process Automation Pattern</a:t>
            </a:r>
          </a:p>
        </p:txBody>
      </p:sp>
      <p:sp>
        <p:nvSpPr>
          <p:cNvPr id="11" name="TextBox 10">
            <a:extLst>
              <a:ext uri="{FF2B5EF4-FFF2-40B4-BE49-F238E27FC236}">
                <a16:creationId xmlns:a16="http://schemas.microsoft.com/office/drawing/2014/main" id="{087165E7-3D3B-1814-AE3D-909840F53623}"/>
              </a:ext>
            </a:extLst>
          </p:cNvPr>
          <p:cNvSpPr txBox="1"/>
          <p:nvPr/>
        </p:nvSpPr>
        <p:spPr>
          <a:xfrm>
            <a:off x="9546288" y="180710"/>
            <a:ext cx="2311533"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Scope 2</a:t>
            </a:r>
          </a:p>
        </p:txBody>
      </p:sp>
    </p:spTree>
    <p:extLst>
      <p:ext uri="{BB962C8B-B14F-4D97-AF65-F5344CB8AC3E}">
        <p14:creationId xmlns:p14="http://schemas.microsoft.com/office/powerpoint/2010/main" val="3837212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6" presetClass="emph" presetSubtype="0" fill="hold" grpId="1" nodeType="withEffect">
                                  <p:stCondLst>
                                    <p:cond delay="0"/>
                                  </p:stCondLst>
                                  <p:childTnLst>
                                    <p:animScale>
                                      <p:cBhvr>
                                        <p:cTn id="9" dur="100" fill="hold"/>
                                        <p:tgtEl>
                                          <p:spTgt spid="11"/>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1"/>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DC0F6-C25D-FB48-D688-AEB2070D407C}"/>
            </a:ext>
          </a:extLst>
        </p:cNvPr>
        <p:cNvGrpSpPr/>
        <p:nvPr/>
      </p:nvGrpSpPr>
      <p:grpSpPr>
        <a:xfrm>
          <a:off x="0" y="0"/>
          <a:ext cx="0" cy="0"/>
          <a:chOff x="0" y="0"/>
          <a:chExt cx="0" cy="0"/>
        </a:xfrm>
      </p:grpSpPr>
      <p:sp>
        <p:nvSpPr>
          <p:cNvPr id="93" name="TextBox 92">
            <a:extLst>
              <a:ext uri="{FF2B5EF4-FFF2-40B4-BE49-F238E27FC236}">
                <a16:creationId xmlns:a16="http://schemas.microsoft.com/office/drawing/2014/main" id="{23F881DD-59FB-3F6F-703C-3509C7835A08}"/>
              </a:ext>
              <a:ext uri="{C183D7F6-B498-43B3-948B-1728B52AA6E4}">
                <adec:decorative xmlns:adec="http://schemas.microsoft.com/office/drawing/2017/decorative" val="0"/>
              </a:ext>
            </a:extLst>
          </p:cNvPr>
          <p:cNvSpPr txBox="1"/>
          <p:nvPr/>
        </p:nvSpPr>
        <p:spPr>
          <a:xfrm>
            <a:off x="6907845" y="6374828"/>
            <a:ext cx="4697414" cy="138499"/>
          </a:xfrm>
          <a:prstGeom prst="rect">
            <a:avLst/>
          </a:prstGeom>
          <a:noFill/>
          <a:ln>
            <a:noFill/>
          </a:ln>
        </p:spPr>
        <p:txBody>
          <a:bodyPr wrap="square" lIns="0" tIns="0" rIns="0" bIns="0" rtlCol="0">
            <a:spAutoFit/>
          </a:bodyPr>
          <a:lstStyle/>
          <a:p>
            <a:pPr marL="0" marR="0" lvl="0" indent="0" algn="l" defTabSz="868680" rtl="0" eaLnBrk="1" fontAlgn="auto" latinLnBrk="0" hangingPunct="1">
              <a:lnSpc>
                <a:spcPct val="100000"/>
              </a:lnSpc>
              <a:spcBef>
                <a:spcPts val="255"/>
              </a:spcBef>
              <a:spcAft>
                <a:spcPts val="0"/>
              </a:spcAft>
              <a:buClrTx/>
              <a:buSzTx/>
              <a:buFontTx/>
              <a:buNone/>
              <a:tabLst/>
              <a:defRPr/>
            </a:pPr>
            <a:r>
              <a:rPr kumimoji="0" lang="en-US" sz="900" b="0" i="1" u="none" strike="noStrike" kern="0" cap="none" spc="0" normalizeH="0" baseline="0" noProof="0" dirty="0">
                <a:ln>
                  <a:noFill/>
                </a:ln>
                <a:solidFill>
                  <a:srgbClr val="000000"/>
                </a:solidFill>
                <a:effectLst/>
                <a:uLnTx/>
                <a:uFillTx/>
                <a:latin typeface="Segoe Sans Text"/>
                <a:ea typeface="+mn-ea"/>
                <a:cs typeface="+mn-cs"/>
              </a:rPr>
              <a:t>* High Level – For additional details refer to detailed in-scope &amp; out-of-scope slides</a:t>
            </a:r>
            <a:endParaRPr kumimoji="0" lang="en-US" sz="900" b="0" i="1"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Rectangle: Rounded Corners 5">
            <a:extLst>
              <a:ext uri="{FF2B5EF4-FFF2-40B4-BE49-F238E27FC236}">
                <a16:creationId xmlns:a16="http://schemas.microsoft.com/office/drawing/2014/main" id="{BC74E99B-B7E0-FEA0-B4D1-0F752EF69483}"/>
              </a:ext>
              <a:ext uri="{C183D7F6-B498-43B3-948B-1728B52AA6E4}">
                <adec:decorative xmlns:adec="http://schemas.microsoft.com/office/drawing/2017/decorative" val="1"/>
              </a:ext>
            </a:extLst>
          </p:cNvPr>
          <p:cNvSpPr>
            <a:spLocks/>
          </p:cNvSpPr>
          <p:nvPr/>
        </p:nvSpPr>
        <p:spPr bwMode="auto">
          <a:xfrm>
            <a:off x="586739" y="1370985"/>
            <a:ext cx="11018520" cy="4769649"/>
          </a:xfrm>
          <a:prstGeom prst="roundRect">
            <a:avLst>
              <a:gd name="adj" fmla="val 3099"/>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8" name="Rounded Rectangle 35">
            <a:extLst>
              <a:ext uri="{FF2B5EF4-FFF2-40B4-BE49-F238E27FC236}">
                <a16:creationId xmlns:a16="http://schemas.microsoft.com/office/drawing/2014/main" id="{EEEFEA49-ACF9-E270-AF45-6D93E644E06D}"/>
              </a:ext>
              <a:ext uri="{C183D7F6-B498-43B3-948B-1728B52AA6E4}">
                <adec:decorative xmlns:adec="http://schemas.microsoft.com/office/drawing/2017/decorative" val="1"/>
              </a:ext>
            </a:extLst>
          </p:cNvPr>
          <p:cNvSpPr>
            <a:spLocks/>
          </p:cNvSpPr>
          <p:nvPr/>
        </p:nvSpPr>
        <p:spPr bwMode="auto">
          <a:xfrm>
            <a:off x="1566863" y="1480401"/>
            <a:ext cx="9931717" cy="2428519"/>
          </a:xfrm>
          <a:prstGeom prst="roundRect">
            <a:avLst>
              <a:gd name="adj" fmla="val 4317"/>
            </a:avLst>
          </a:prstGeom>
          <a:no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Segoe Sans Text"/>
              <a:ea typeface="+mn-ea"/>
              <a:cs typeface="Segoe UI" pitchFamily="34" charset="0"/>
            </a:endParaRPr>
          </a:p>
        </p:txBody>
      </p:sp>
      <p:sp>
        <p:nvSpPr>
          <p:cNvPr id="13" name="TextBox 12">
            <a:extLst>
              <a:ext uri="{FF2B5EF4-FFF2-40B4-BE49-F238E27FC236}">
                <a16:creationId xmlns:a16="http://schemas.microsoft.com/office/drawing/2014/main" id="{0571FAD5-5A8C-85F0-0076-EEEF424B4F04}"/>
              </a:ext>
              <a:ext uri="{C183D7F6-B498-43B3-948B-1728B52AA6E4}">
                <adec:decorative xmlns:adec="http://schemas.microsoft.com/office/drawing/2017/decorative" val="0"/>
              </a:ext>
            </a:extLst>
          </p:cNvPr>
          <p:cNvSpPr txBox="1"/>
          <p:nvPr/>
        </p:nvSpPr>
        <p:spPr>
          <a:xfrm>
            <a:off x="1717322" y="4880306"/>
            <a:ext cx="1292408" cy="1077218"/>
          </a:xfrm>
          <a:prstGeom prst="rect">
            <a:avLst/>
          </a:prstGeom>
          <a:noFill/>
        </p:spPr>
        <p:txBody>
          <a:bodyPr wrap="square" lIns="0" tIns="0" rIns="0" bIns="0" rtlCol="0" anchor="t">
            <a:spAutoFit/>
          </a:bodyPr>
          <a:lstStyle/>
          <a:p>
            <a:pPr marL="0" marR="0" lvl="0" indent="0" algn="ctr" defTabSz="868680" rtl="0" eaLnBrk="1" fontAlgn="auto" latinLnBrk="0" hangingPunct="1">
              <a:lnSpc>
                <a:spcPct val="100000"/>
              </a:lnSpc>
              <a:spcBef>
                <a:spcPts val="0"/>
              </a:spcBef>
              <a:spcAft>
                <a:spcPts val="1200"/>
              </a:spcAft>
              <a:buClrTx/>
              <a:buSzTx/>
              <a:buFontTx/>
              <a:buNone/>
              <a:tabLst/>
              <a:defRPr/>
            </a:pPr>
            <a:r>
              <a:rPr kumimoji="0" lang="en-US" sz="1000" b="0" i="0" u="none" strike="noStrike" kern="1200" cap="none" spc="0" normalizeH="0" baseline="0" noProof="0" dirty="0">
                <a:ln>
                  <a:noFill/>
                </a:ln>
                <a:solidFill>
                  <a:srgbClr val="0078D4"/>
                </a:solidFill>
                <a:effectLst/>
                <a:uLnTx/>
                <a:uFillTx/>
                <a:latin typeface="Segoe Sans Text Semibold"/>
                <a:ea typeface="+mn-ea"/>
                <a:cs typeface="+mn-cs"/>
              </a:rPr>
              <a:t>Copilot Studio and/or Microsoft Foundry Agents</a:t>
            </a:r>
          </a:p>
          <a:p>
            <a:pPr marL="0" marR="0" lvl="0" indent="0" algn="ctr" defTabSz="868680" rtl="0" eaLnBrk="1" fontAlgn="auto" latinLnBrk="0" hangingPunct="1">
              <a:lnSpc>
                <a:spcPct val="100000"/>
              </a:lnSpc>
              <a:spcBef>
                <a:spcPts val="0"/>
              </a:spcBef>
              <a:spcAft>
                <a:spcPts val="1800"/>
              </a:spcAft>
              <a:buClrTx/>
              <a:buSzTx/>
              <a:buFontTx/>
              <a:buNone/>
              <a:tabLst/>
              <a:defRPr/>
            </a:pPr>
            <a:r>
              <a:rPr kumimoji="0" lang="en-US" sz="1000" b="0" i="0" u="none" strike="noStrike" kern="1200" cap="none" spc="0" normalizeH="0" baseline="0" noProof="0" dirty="0">
                <a:ln>
                  <a:noFill/>
                </a:ln>
                <a:solidFill>
                  <a:srgbClr val="0078D4"/>
                </a:solidFill>
                <a:effectLst/>
                <a:uLnTx/>
                <a:uFillTx/>
                <a:latin typeface="Segoe Sans Text Semibold"/>
                <a:ea typeface="+mn-ea"/>
                <a:cs typeface="+mn-cs"/>
              </a:rPr>
              <a:t>&amp; Additional Services in Agent Development P3</a:t>
            </a:r>
          </a:p>
        </p:txBody>
      </p:sp>
      <p:sp>
        <p:nvSpPr>
          <p:cNvPr id="16" name="TextBox 15">
            <a:extLst>
              <a:ext uri="{FF2B5EF4-FFF2-40B4-BE49-F238E27FC236}">
                <a16:creationId xmlns:a16="http://schemas.microsoft.com/office/drawing/2014/main" id="{AE118319-6F6F-086D-EED5-0E405459E4AE}"/>
              </a:ext>
              <a:ext uri="{C183D7F6-B498-43B3-948B-1728B52AA6E4}">
                <adec:decorative xmlns:adec="http://schemas.microsoft.com/office/drawing/2017/decorative" val="0"/>
              </a:ext>
            </a:extLst>
          </p:cNvPr>
          <p:cNvSpPr txBox="1"/>
          <p:nvPr/>
        </p:nvSpPr>
        <p:spPr>
          <a:xfrm>
            <a:off x="1678172" y="1580287"/>
            <a:ext cx="4560644" cy="3200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Technology Path Assessment &amp; Design</a:t>
            </a:r>
          </a:p>
        </p:txBody>
      </p:sp>
      <p:sp>
        <p:nvSpPr>
          <p:cNvPr id="17" name="TextBox 16">
            <a:extLst>
              <a:ext uri="{FF2B5EF4-FFF2-40B4-BE49-F238E27FC236}">
                <a16:creationId xmlns:a16="http://schemas.microsoft.com/office/drawing/2014/main" id="{5D3A745D-0801-F9D9-91C8-CB30CD53AC4A}"/>
              </a:ext>
              <a:ext uri="{C183D7F6-B498-43B3-948B-1728B52AA6E4}">
                <adec:decorative xmlns:adec="http://schemas.microsoft.com/office/drawing/2017/decorative" val="0"/>
              </a:ext>
            </a:extLst>
          </p:cNvPr>
          <p:cNvSpPr txBox="1"/>
          <p:nvPr/>
        </p:nvSpPr>
        <p:spPr>
          <a:xfrm>
            <a:off x="6299481" y="1580286"/>
            <a:ext cx="3335442" cy="3200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Implement</a:t>
            </a:r>
          </a:p>
        </p:txBody>
      </p:sp>
      <p:sp>
        <p:nvSpPr>
          <p:cNvPr id="18" name="Rectangle: Rounded Corners 17">
            <a:extLst>
              <a:ext uri="{FF2B5EF4-FFF2-40B4-BE49-F238E27FC236}">
                <a16:creationId xmlns:a16="http://schemas.microsoft.com/office/drawing/2014/main" id="{CA1AC10E-E8DC-E7E3-D255-793275B345FE}"/>
              </a:ext>
              <a:ext uri="{C183D7F6-B498-43B3-948B-1728B52AA6E4}">
                <adec:decorative xmlns:adec="http://schemas.microsoft.com/office/drawing/2017/decorative" val="0"/>
              </a:ext>
            </a:extLst>
          </p:cNvPr>
          <p:cNvSpPr/>
          <p:nvPr/>
        </p:nvSpPr>
        <p:spPr bwMode="auto">
          <a:xfrm>
            <a:off x="1659063" y="2490824"/>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Single Agent System</a:t>
            </a:r>
          </a:p>
        </p:txBody>
      </p:sp>
      <p:sp>
        <p:nvSpPr>
          <p:cNvPr id="46" name="Rectangle: Rounded Corners 45">
            <a:extLst>
              <a:ext uri="{FF2B5EF4-FFF2-40B4-BE49-F238E27FC236}">
                <a16:creationId xmlns:a16="http://schemas.microsoft.com/office/drawing/2014/main" id="{48B040C1-C0BD-5348-EC41-33D514F5BD35}"/>
              </a:ext>
              <a:ext uri="{C183D7F6-B498-43B3-948B-1728B52AA6E4}">
                <adec:decorative xmlns:adec="http://schemas.microsoft.com/office/drawing/2017/decorative" val="0"/>
              </a:ext>
            </a:extLst>
          </p:cNvPr>
          <p:cNvSpPr/>
          <p:nvPr/>
        </p:nvSpPr>
        <p:spPr>
          <a:xfrm>
            <a:off x="1566863" y="3982265"/>
            <a:ext cx="9930384" cy="22474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Scope * </a:t>
            </a:r>
          </a:p>
        </p:txBody>
      </p:sp>
      <p:sp>
        <p:nvSpPr>
          <p:cNvPr id="48" name="TextBox 47">
            <a:extLst>
              <a:ext uri="{FF2B5EF4-FFF2-40B4-BE49-F238E27FC236}">
                <a16:creationId xmlns:a16="http://schemas.microsoft.com/office/drawing/2014/main" id="{1BB24A32-F28F-F097-F9F6-A75321878B21}"/>
              </a:ext>
              <a:ext uri="{C183D7F6-B498-43B3-948B-1728B52AA6E4}">
                <adec:decorative xmlns:adec="http://schemas.microsoft.com/office/drawing/2017/decorative" val="0"/>
              </a:ext>
            </a:extLst>
          </p:cNvPr>
          <p:cNvSpPr txBox="1"/>
          <p:nvPr/>
        </p:nvSpPr>
        <p:spPr>
          <a:xfrm>
            <a:off x="3128395" y="4280354"/>
            <a:ext cx="4472252" cy="1775826"/>
          </a:xfrm>
          <a:prstGeom prst="roundRect">
            <a:avLst>
              <a:gd name="adj" fmla="val 4273"/>
            </a:avLst>
          </a:prstGeom>
          <a:solidFill>
            <a:schemeClr val="bg1">
              <a:lumMod val="95000"/>
              <a:alpha val="50000"/>
            </a:schemeClr>
          </a:solidFill>
          <a:ln>
            <a:noFill/>
          </a:ln>
        </p:spPr>
        <p:txBody>
          <a:bodyPr wrap="square" rtlCol="0">
            <a:sp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In Scope</a:t>
            </a:r>
            <a:endParaRPr kumimoji="0" lang="en-US" sz="1000" b="0" i="0" u="none" strike="noStrike" kern="1200" cap="none" spc="0" normalizeH="0" baseline="0" noProof="0" dirty="0">
              <a:ln>
                <a:noFill/>
              </a:ln>
              <a:solidFill>
                <a:srgbClr val="0078D4"/>
              </a:solidFill>
              <a:effectLst/>
              <a:uLnTx/>
              <a:uFillTx/>
              <a:latin typeface="Segoe Sans Text Semibold"/>
              <a:ea typeface="+mn-ea"/>
              <a:cs typeface="+mn-cs"/>
            </a:endParaRPr>
          </a:p>
          <a:p>
            <a:pPr marL="184150" marR="0" lvl="0" indent="-127000" algn="l" defTabSz="8686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Architectures for Agents with Foundry, Copilot Studio, or both</a:t>
            </a:r>
          </a:p>
          <a:p>
            <a:pPr marL="184150" marR="0" lvl="0" indent="-127000" algn="l" defTabSz="8686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Extending Custom Copilot Agents with Foundry &amp; Azure AI Services </a:t>
            </a:r>
          </a:p>
          <a:p>
            <a:pPr marL="184150" marR="0" lvl="0" indent="-127000" algn="l" defTabSz="8686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Agentic Virtual Assistants across business domains</a:t>
            </a:r>
          </a:p>
          <a:p>
            <a:pPr marL="184150" marR="0" lvl="0" indent="-127000" algn="l" defTabSz="8686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Agent Workflows &amp; Multi Agent Systems</a:t>
            </a:r>
          </a:p>
          <a:p>
            <a:pPr marL="184150" marR="0" lvl="0" indent="-127000" algn="l" defTabSz="8686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Finetuning LLM outputs for Custom Copilots</a:t>
            </a:r>
          </a:p>
          <a:p>
            <a:pPr marL="184150" marR="0" lvl="0" indent="-127000" algn="l" defTabSz="8686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Semibold"/>
                <a:ea typeface="+mn-ea"/>
                <a:cs typeface="+mn-cs"/>
              </a:rPr>
              <a:t>Identified Industry Patterns for: </a:t>
            </a:r>
            <a:r>
              <a:rPr kumimoji="0" lang="en-US" sz="800" b="0" i="0" u="none" strike="noStrike" kern="0" cap="none" spc="0" normalizeH="0" baseline="0" noProof="0" dirty="0">
                <a:ln>
                  <a:noFill/>
                </a:ln>
                <a:solidFill>
                  <a:prstClr val="black"/>
                </a:solidFill>
                <a:effectLst/>
                <a:uLnTx/>
                <a:uFillTx/>
                <a:latin typeface="Segoe Sans Text"/>
                <a:ea typeface="+mn-ea"/>
                <a:cs typeface="+mn-cs"/>
              </a:rPr>
              <a:t>Contact Center, Knowledge Lifecycle, Customer Intent, Knowledge Management, Case Management, Employee Assist, Time &amp; Expense, Supplier Communications</a:t>
            </a:r>
          </a:p>
        </p:txBody>
      </p:sp>
      <p:grpSp>
        <p:nvGrpSpPr>
          <p:cNvPr id="29" name="Group 28">
            <a:extLst>
              <a:ext uri="{FF2B5EF4-FFF2-40B4-BE49-F238E27FC236}">
                <a16:creationId xmlns:a16="http://schemas.microsoft.com/office/drawing/2014/main" id="{602B4E60-BB31-C520-8125-7D5618B8ECD5}"/>
              </a:ext>
            </a:extLst>
          </p:cNvPr>
          <p:cNvGrpSpPr/>
          <p:nvPr/>
        </p:nvGrpSpPr>
        <p:grpSpPr>
          <a:xfrm>
            <a:off x="1377610" y="1603147"/>
            <a:ext cx="269625" cy="274320"/>
            <a:chOff x="1429640" y="1603147"/>
            <a:chExt cx="269625" cy="274320"/>
          </a:xfrm>
        </p:grpSpPr>
        <p:sp>
          <p:nvSpPr>
            <p:cNvPr id="78" name="Oval 77">
              <a:extLst>
                <a:ext uri="{FF2B5EF4-FFF2-40B4-BE49-F238E27FC236}">
                  <a16:creationId xmlns:a16="http://schemas.microsoft.com/office/drawing/2014/main" id="{FECEE5B4-27C2-E714-A0C0-81C78397CA08}"/>
                </a:ext>
                <a:ext uri="{C183D7F6-B498-43B3-948B-1728B52AA6E4}">
                  <adec:decorative xmlns:adec="http://schemas.microsoft.com/office/drawing/2017/decorative" val="1"/>
                </a:ext>
              </a:extLst>
            </p:cNvPr>
            <p:cNvSpPr/>
            <p:nvPr/>
          </p:nvSpPr>
          <p:spPr bwMode="auto">
            <a:xfrm>
              <a:off x="1429640" y="1603147"/>
              <a:ext cx="269625" cy="274320"/>
            </a:xfrm>
            <a:prstGeom prst="ellipse">
              <a:avLst/>
            </a:prstGeom>
            <a:solidFill>
              <a:srgbClr val="FFFFFF"/>
            </a:solidFill>
            <a:ln w="38100">
              <a:noFill/>
              <a:headEnd type="none" w="med" len="med"/>
              <a:tailEnd type="none" w="med" len="med"/>
            </a:ln>
            <a:effectLst>
              <a:outerShdw blurRad="88900" dist="38100" dir="2700000" algn="t"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0078D4"/>
                </a:solidFill>
                <a:effectLst/>
                <a:uLnTx/>
                <a:uFillTx/>
                <a:latin typeface="Segoe UI"/>
                <a:ea typeface="+mn-ea"/>
                <a:cs typeface="Segoe UI" pitchFamily="34" charset="0"/>
              </a:endParaRPr>
            </a:p>
          </p:txBody>
        </p:sp>
        <p:sp>
          <p:nvSpPr>
            <p:cNvPr id="4" name="Graphic 2">
              <a:extLst>
                <a:ext uri="{FF2B5EF4-FFF2-40B4-BE49-F238E27FC236}">
                  <a16:creationId xmlns:a16="http://schemas.microsoft.com/office/drawing/2014/main" id="{BDE65D7B-4D42-632C-560E-47CAD8C98D24}"/>
                </a:ext>
              </a:extLst>
            </p:cNvPr>
            <p:cNvSpPr/>
            <p:nvPr/>
          </p:nvSpPr>
          <p:spPr>
            <a:xfrm>
              <a:off x="1476157" y="1650475"/>
              <a:ext cx="176591" cy="179665"/>
            </a:xfrm>
            <a:custGeom>
              <a:avLst/>
              <a:gdLst>
                <a:gd name="csX0" fmla="*/ 74860 w 149719"/>
                <a:gd name="csY0" fmla="*/ 0 h 149720"/>
                <a:gd name="csX1" fmla="*/ 149720 w 149719"/>
                <a:gd name="csY1" fmla="*/ 74860 h 149720"/>
                <a:gd name="csX2" fmla="*/ 74860 w 149719"/>
                <a:gd name="csY2" fmla="*/ 149721 h 149720"/>
                <a:gd name="csX3" fmla="*/ 0 w 149719"/>
                <a:gd name="csY3" fmla="*/ 74860 h 149720"/>
                <a:gd name="csX4" fmla="*/ 74860 w 149719"/>
                <a:gd name="csY4" fmla="*/ 0 h 149720"/>
                <a:gd name="csX5" fmla="*/ 74860 w 149719"/>
                <a:gd name="csY5" fmla="*/ 11229 h 149720"/>
                <a:gd name="csX6" fmla="*/ 11229 w 149719"/>
                <a:gd name="csY6" fmla="*/ 74860 h 149720"/>
                <a:gd name="csX7" fmla="*/ 74860 w 149719"/>
                <a:gd name="csY7" fmla="*/ 138492 h 149720"/>
                <a:gd name="csX8" fmla="*/ 138491 w 149719"/>
                <a:gd name="csY8" fmla="*/ 74860 h 149720"/>
                <a:gd name="csX9" fmla="*/ 74860 w 149719"/>
                <a:gd name="csY9" fmla="*/ 11229 h 149720"/>
                <a:gd name="csX10" fmla="*/ 72217 w 149719"/>
                <a:gd name="csY10" fmla="*/ 41571 h 149720"/>
                <a:gd name="csX11" fmla="*/ 72761 w 149719"/>
                <a:gd name="csY11" fmla="*/ 40941 h 149720"/>
                <a:gd name="csX12" fmla="*/ 80072 w 149719"/>
                <a:gd name="csY12" fmla="*/ 40397 h 149720"/>
                <a:gd name="csX13" fmla="*/ 80701 w 149719"/>
                <a:gd name="csY13" fmla="*/ 40941 h 149720"/>
                <a:gd name="csX14" fmla="*/ 110651 w 149719"/>
                <a:gd name="csY14" fmla="*/ 70891 h 149720"/>
                <a:gd name="csX15" fmla="*/ 111194 w 149719"/>
                <a:gd name="csY15" fmla="*/ 78202 h 149720"/>
                <a:gd name="csX16" fmla="*/ 110650 w 149719"/>
                <a:gd name="csY16" fmla="*/ 78833 h 149720"/>
                <a:gd name="csX17" fmla="*/ 80695 w 149719"/>
                <a:gd name="csY17" fmla="*/ 108777 h 149720"/>
                <a:gd name="csX18" fmla="*/ 72755 w 149719"/>
                <a:gd name="csY18" fmla="*/ 108774 h 149720"/>
                <a:gd name="csX19" fmla="*/ 72213 w 149719"/>
                <a:gd name="csY19" fmla="*/ 101464 h 149720"/>
                <a:gd name="csX20" fmla="*/ 72756 w 149719"/>
                <a:gd name="csY20" fmla="*/ 100835 h 149720"/>
                <a:gd name="csX21" fmla="*/ 93133 w 149719"/>
                <a:gd name="csY21" fmla="*/ 80467 h 149720"/>
                <a:gd name="csX22" fmla="*/ 43039 w 149719"/>
                <a:gd name="csY22" fmla="*/ 80470 h 149720"/>
                <a:gd name="csX23" fmla="*/ 37476 w 149719"/>
                <a:gd name="csY23" fmla="*/ 75617 h 149720"/>
                <a:gd name="csX24" fmla="*/ 37425 w 149719"/>
                <a:gd name="csY24" fmla="*/ 74855 h 149720"/>
                <a:gd name="csX25" fmla="*/ 42277 w 149719"/>
                <a:gd name="csY25" fmla="*/ 69292 h 149720"/>
                <a:gd name="csX26" fmla="*/ 43039 w 149719"/>
                <a:gd name="csY26" fmla="*/ 69241 h 149720"/>
                <a:gd name="csX27" fmla="*/ 93118 w 149719"/>
                <a:gd name="csY27" fmla="*/ 69238 h 149720"/>
                <a:gd name="csX28" fmla="*/ 72761 w 149719"/>
                <a:gd name="csY28" fmla="*/ 48881 h 149720"/>
                <a:gd name="csX29" fmla="*/ 72217 w 149719"/>
                <a:gd name="csY29" fmla="*/ 41571 h 149720"/>
                <a:gd name="csX30" fmla="*/ 72761 w 149719"/>
                <a:gd name="csY30" fmla="*/ 40941 h 149720"/>
                <a:gd name="csX31" fmla="*/ 72217 w 149719"/>
                <a:gd name="csY31" fmla="*/ 41571 h 1497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9719" h="149720">
                  <a:moveTo>
                    <a:pt x="74860" y="0"/>
                  </a:moveTo>
                  <a:cubicBezTo>
                    <a:pt x="116203" y="0"/>
                    <a:pt x="149720" y="33516"/>
                    <a:pt x="149720" y="74860"/>
                  </a:cubicBezTo>
                  <a:cubicBezTo>
                    <a:pt x="149720" y="116204"/>
                    <a:pt x="116203" y="149721"/>
                    <a:pt x="74860" y="149721"/>
                  </a:cubicBezTo>
                  <a:cubicBezTo>
                    <a:pt x="33516" y="149721"/>
                    <a:pt x="0" y="116204"/>
                    <a:pt x="0" y="74860"/>
                  </a:cubicBezTo>
                  <a:cubicBezTo>
                    <a:pt x="0" y="33516"/>
                    <a:pt x="33516" y="0"/>
                    <a:pt x="74860" y="0"/>
                  </a:cubicBezTo>
                  <a:close/>
                  <a:moveTo>
                    <a:pt x="74860" y="11229"/>
                  </a:moveTo>
                  <a:cubicBezTo>
                    <a:pt x="39717" y="11229"/>
                    <a:pt x="11229" y="39718"/>
                    <a:pt x="11229" y="74860"/>
                  </a:cubicBezTo>
                  <a:cubicBezTo>
                    <a:pt x="11229" y="110003"/>
                    <a:pt x="39717" y="138492"/>
                    <a:pt x="74860" y="138492"/>
                  </a:cubicBezTo>
                  <a:cubicBezTo>
                    <a:pt x="110002" y="138492"/>
                    <a:pt x="138491" y="110003"/>
                    <a:pt x="138491" y="74860"/>
                  </a:cubicBezTo>
                  <a:cubicBezTo>
                    <a:pt x="138491" y="39718"/>
                    <a:pt x="110002" y="11229"/>
                    <a:pt x="74860" y="11229"/>
                  </a:cubicBezTo>
                  <a:close/>
                  <a:moveTo>
                    <a:pt x="72217" y="41571"/>
                  </a:moveTo>
                  <a:lnTo>
                    <a:pt x="72761" y="40941"/>
                  </a:lnTo>
                  <a:cubicBezTo>
                    <a:pt x="74754" y="38948"/>
                    <a:pt x="77874" y="38766"/>
                    <a:pt x="80072" y="40397"/>
                  </a:cubicBezTo>
                  <a:lnTo>
                    <a:pt x="80701" y="40941"/>
                  </a:lnTo>
                  <a:lnTo>
                    <a:pt x="110651" y="70891"/>
                  </a:lnTo>
                  <a:cubicBezTo>
                    <a:pt x="112645" y="72885"/>
                    <a:pt x="112826" y="76004"/>
                    <a:pt x="111194" y="78202"/>
                  </a:cubicBezTo>
                  <a:lnTo>
                    <a:pt x="110650" y="78833"/>
                  </a:lnTo>
                  <a:lnTo>
                    <a:pt x="80695" y="108777"/>
                  </a:lnTo>
                  <a:cubicBezTo>
                    <a:pt x="78503" y="110969"/>
                    <a:pt x="74947" y="110968"/>
                    <a:pt x="72755" y="108774"/>
                  </a:cubicBezTo>
                  <a:cubicBezTo>
                    <a:pt x="70762" y="106781"/>
                    <a:pt x="70582" y="103662"/>
                    <a:pt x="72213" y="101464"/>
                  </a:cubicBezTo>
                  <a:lnTo>
                    <a:pt x="72756" y="100835"/>
                  </a:lnTo>
                  <a:lnTo>
                    <a:pt x="93133" y="80467"/>
                  </a:lnTo>
                  <a:lnTo>
                    <a:pt x="43039" y="80470"/>
                  </a:lnTo>
                  <a:cubicBezTo>
                    <a:pt x="40197" y="80470"/>
                    <a:pt x="37848" y="78357"/>
                    <a:pt x="37476" y="75617"/>
                  </a:cubicBezTo>
                  <a:lnTo>
                    <a:pt x="37425" y="74855"/>
                  </a:lnTo>
                  <a:cubicBezTo>
                    <a:pt x="37425" y="72013"/>
                    <a:pt x="39537" y="69664"/>
                    <a:pt x="42277" y="69292"/>
                  </a:cubicBezTo>
                  <a:lnTo>
                    <a:pt x="43039" y="69241"/>
                  </a:lnTo>
                  <a:lnTo>
                    <a:pt x="93118" y="69238"/>
                  </a:lnTo>
                  <a:lnTo>
                    <a:pt x="72761" y="48881"/>
                  </a:lnTo>
                  <a:cubicBezTo>
                    <a:pt x="70768" y="46888"/>
                    <a:pt x="70587" y="43769"/>
                    <a:pt x="72217" y="41571"/>
                  </a:cubicBezTo>
                  <a:lnTo>
                    <a:pt x="72761" y="40941"/>
                  </a:lnTo>
                  <a:lnTo>
                    <a:pt x="72217" y="41571"/>
                  </a:lnTo>
                  <a:close/>
                </a:path>
              </a:pathLst>
            </a:custGeom>
            <a:gradFill>
              <a:gsLst>
                <a:gs pos="100000">
                  <a:srgbClr val="0573CE"/>
                </a:gs>
                <a:gs pos="0">
                  <a:srgbClr val="319A89"/>
                </a:gs>
              </a:gsLst>
              <a:path path="circle">
                <a:fillToRect l="100000" t="100000"/>
              </a:path>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Sans Text"/>
                <a:ea typeface="+mn-ea"/>
                <a:cs typeface="+mn-cs"/>
              </a:endParaRPr>
            </a:p>
          </p:txBody>
        </p:sp>
      </p:grpSp>
      <p:pic>
        <p:nvPicPr>
          <p:cNvPr id="34" name="!! Logo Foundry">
            <a:extLst>
              <a:ext uri="{FF2B5EF4-FFF2-40B4-BE49-F238E27FC236}">
                <a16:creationId xmlns:a16="http://schemas.microsoft.com/office/drawing/2014/main" id="{0C0DD9DB-024B-0D8E-697B-DB7E7D9B3977}"/>
              </a:ext>
            </a:extLst>
          </p:cNvPr>
          <p:cNvPicPr>
            <a:picLocks noChangeAspect="1"/>
          </p:cNvPicPr>
          <p:nvPr/>
        </p:nvPicPr>
        <p:blipFill>
          <a:blip r:embed="rId3"/>
          <a:stretch>
            <a:fillRect/>
          </a:stretch>
        </p:blipFill>
        <p:spPr>
          <a:xfrm>
            <a:off x="2515413" y="4352429"/>
            <a:ext cx="323497" cy="365760"/>
          </a:xfrm>
          <a:prstGeom prst="rect">
            <a:avLst/>
          </a:prstGeom>
          <a:effectLst>
            <a:outerShdw blurRad="330200" sx="102000" sy="102000" algn="ctr" rotWithShape="0">
              <a:schemeClr val="bg1">
                <a:alpha val="40000"/>
              </a:schemeClr>
            </a:outerShdw>
          </a:effectLst>
        </p:spPr>
      </p:pic>
      <p:pic>
        <p:nvPicPr>
          <p:cNvPr id="35" name="Graphic 1">
            <a:extLst>
              <a:ext uri="{FF2B5EF4-FFF2-40B4-BE49-F238E27FC236}">
                <a16:creationId xmlns:a16="http://schemas.microsoft.com/office/drawing/2014/main" id="{4A51A6C5-E0EC-5F77-BAB7-FC7E453633B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88143" y="4352429"/>
            <a:ext cx="339056" cy="365760"/>
          </a:xfrm>
          <a:prstGeom prst="rect">
            <a:avLst/>
          </a:prstGeom>
        </p:spPr>
      </p:pic>
      <p:sp>
        <p:nvSpPr>
          <p:cNvPr id="5" name="Rectangle: Rounded Corners 4">
            <a:extLst>
              <a:ext uri="{FF2B5EF4-FFF2-40B4-BE49-F238E27FC236}">
                <a16:creationId xmlns:a16="http://schemas.microsoft.com/office/drawing/2014/main" id="{7597FE1D-83A7-D085-7678-DEF047A0581C}"/>
              </a:ext>
              <a:ext uri="{C183D7F6-B498-43B3-948B-1728B52AA6E4}">
                <adec:decorative xmlns:adec="http://schemas.microsoft.com/office/drawing/2017/decorative" val="0"/>
              </a:ext>
            </a:extLst>
          </p:cNvPr>
          <p:cNvSpPr>
            <a:spLocks/>
          </p:cNvSpPr>
          <p:nvPr/>
        </p:nvSpPr>
        <p:spPr>
          <a:xfrm>
            <a:off x="1659063" y="2003453"/>
            <a:ext cx="1089456" cy="429904"/>
          </a:xfrm>
          <a:prstGeom prst="roundRect">
            <a:avLst/>
          </a:prstGeom>
          <a:solidFill>
            <a:schemeClr val="tx2"/>
          </a:solidFill>
          <a:ln w="12700" cap="flat" cmpd="sng" algn="ctr">
            <a:noFill/>
            <a:prstDash val="solid"/>
            <a:miter lim="800000"/>
          </a:ln>
          <a:effectLst/>
        </p:spPr>
        <p:txBody>
          <a:bodyPr lIns="45720" tIns="36576" rIns="45720" bIns="36576" rtlCol="0" anchor="ctr"/>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Segoe Sans Text Semibold"/>
                <a:ea typeface="+mn-ea"/>
                <a:cs typeface="+mn-cs"/>
              </a:rPr>
              <a:t>Map Use Case to Agent System Pattern </a:t>
            </a:r>
          </a:p>
        </p:txBody>
      </p:sp>
      <p:sp>
        <p:nvSpPr>
          <p:cNvPr id="7" name="TextBox 6">
            <a:extLst>
              <a:ext uri="{FF2B5EF4-FFF2-40B4-BE49-F238E27FC236}">
                <a16:creationId xmlns:a16="http://schemas.microsoft.com/office/drawing/2014/main" id="{388D0787-E61F-E49E-7609-32299B53A566}"/>
              </a:ext>
              <a:ext uri="{C183D7F6-B498-43B3-948B-1728B52AA6E4}">
                <adec:decorative xmlns:adec="http://schemas.microsoft.com/office/drawing/2017/decorative" val="0"/>
              </a:ext>
            </a:extLst>
          </p:cNvPr>
          <p:cNvSpPr txBox="1"/>
          <p:nvPr/>
        </p:nvSpPr>
        <p:spPr>
          <a:xfrm>
            <a:off x="9695588" y="1580287"/>
            <a:ext cx="1696312" cy="3200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sz="1100" noProof="0" dirty="0"/>
              <a:t>Validate &amp; Handover</a:t>
            </a:r>
          </a:p>
        </p:txBody>
      </p:sp>
      <p:sp>
        <p:nvSpPr>
          <p:cNvPr id="9" name="TextBox 8">
            <a:extLst>
              <a:ext uri="{FF2B5EF4-FFF2-40B4-BE49-F238E27FC236}">
                <a16:creationId xmlns:a16="http://schemas.microsoft.com/office/drawing/2014/main" id="{306E02D9-75C5-AFB0-912A-6C1A1952C11B}"/>
              </a:ext>
              <a:ext uri="{C183D7F6-B498-43B3-948B-1728B52AA6E4}">
                <adec:decorative xmlns:adec="http://schemas.microsoft.com/office/drawing/2017/decorative" val="0"/>
              </a:ext>
            </a:extLst>
          </p:cNvPr>
          <p:cNvSpPr txBox="1"/>
          <p:nvPr/>
        </p:nvSpPr>
        <p:spPr>
          <a:xfrm>
            <a:off x="7698614" y="4280354"/>
            <a:ext cx="3798634" cy="1775826"/>
          </a:xfrm>
          <a:prstGeom prst="roundRect">
            <a:avLst>
              <a:gd name="adj" fmla="val 4273"/>
            </a:avLst>
          </a:prstGeom>
          <a:solidFill>
            <a:schemeClr val="bg1">
              <a:lumMod val="95000"/>
              <a:alpha val="50000"/>
            </a:schemeClr>
          </a:solidFill>
          <a:ln>
            <a:noFill/>
          </a:ln>
        </p:spPr>
        <p:txBody>
          <a:bodyPr wrap="square" rtlCol="0">
            <a:noAutofit/>
          </a:bodyPr>
          <a:lstStyle/>
          <a:p>
            <a:pPr marL="0" marR="0" lvl="0" indent="0" algn="l" defTabSz="86868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rgbClr val="0078D4"/>
                </a:solidFill>
                <a:effectLst/>
                <a:uLnTx/>
                <a:uFillTx/>
                <a:latin typeface="Segoe Sans Text Semibold"/>
                <a:ea typeface="+mn-ea"/>
                <a:cs typeface="+mn-cs"/>
              </a:rPr>
              <a:t>Out of Scope </a:t>
            </a:r>
          </a:p>
          <a:p>
            <a:pPr marL="184150" marR="0" lvl="0" indent="-127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Presales Evaluations</a:t>
            </a:r>
          </a:p>
          <a:p>
            <a:pPr marL="184150" marR="0" lvl="0" indent="-127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Custom UI development and integration (can be supported in overall project when delivered alongside Partner &amp;/or Unified)</a:t>
            </a:r>
          </a:p>
          <a:p>
            <a:pPr marL="184150" marR="0" lvl="0" indent="-127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Cloud Accelerate Factory will perform unit testing &amp; functional testing, but the end user acceptance testing will be owned by Customer &amp;/or Partner</a:t>
            </a:r>
          </a:p>
          <a:p>
            <a:pPr marL="184150" marR="0" lvl="0" indent="-127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On-premise System Integration or connection to 3</a:t>
            </a:r>
            <a:r>
              <a:rPr kumimoji="0" lang="en-US" sz="800" b="0" i="0" u="none" strike="noStrike" kern="0" cap="none" spc="0" normalizeH="0" baseline="30000" noProof="0" dirty="0">
                <a:ln>
                  <a:noFill/>
                </a:ln>
                <a:solidFill>
                  <a:prstClr val="black"/>
                </a:solidFill>
                <a:effectLst/>
                <a:uLnTx/>
                <a:uFillTx/>
                <a:latin typeface="Segoe Sans Text"/>
                <a:ea typeface="+mn-ea"/>
                <a:cs typeface="+mn-cs"/>
              </a:rPr>
              <a:t>rd</a:t>
            </a:r>
            <a:r>
              <a:rPr kumimoji="0" lang="en-US" sz="800" b="0" i="0" u="none" strike="noStrike" kern="0" cap="none" spc="0" normalizeH="0" baseline="0" noProof="0" dirty="0">
                <a:ln>
                  <a:noFill/>
                </a:ln>
                <a:solidFill>
                  <a:prstClr val="black"/>
                </a:solidFill>
                <a:effectLst/>
                <a:uLnTx/>
                <a:uFillTx/>
                <a:latin typeface="Segoe Sans Text"/>
                <a:ea typeface="+mn-ea"/>
                <a:cs typeface="+mn-cs"/>
              </a:rPr>
              <a:t> Party Systems (that are not supported by </a:t>
            </a:r>
            <a:r>
              <a:rPr kumimoji="0" lang="en-US" sz="800" b="0" i="0" u="none" strike="noStrike" kern="0" cap="none" spc="0" normalizeH="0" baseline="0" noProof="0" dirty="0">
                <a:ln>
                  <a:noFill/>
                </a:ln>
                <a:solidFill>
                  <a:srgbClr val="0078D4"/>
                </a:solidFill>
                <a:effectLst/>
                <a:uLnTx/>
                <a:uFillTx/>
                <a:latin typeface="Segoe Sans Text"/>
                <a:ea typeface="+mn-ea"/>
                <a:cs typeface="+mn-cs"/>
                <a:hlinkClick r:id="rId5">
                  <a:extLst>
                    <a:ext uri="{A12FA001-AC4F-418D-AE19-62706E023703}">
                      <ahyp:hlinkClr xmlns:ahyp="http://schemas.microsoft.com/office/drawing/2018/hyperlinkcolor" val="tx"/>
                    </a:ext>
                  </a:extLst>
                </a:hlinkClick>
              </a:rPr>
              <a:t>OTB Copilot Connectors </a:t>
            </a:r>
            <a:r>
              <a:rPr kumimoji="0" lang="en-US" sz="800" b="0" i="0" u="none" strike="noStrike" kern="0" cap="none" spc="0" normalizeH="0" baseline="0" noProof="0" dirty="0">
                <a:ln>
                  <a:noFill/>
                </a:ln>
                <a:solidFill>
                  <a:prstClr val="black"/>
                </a:solidFill>
                <a:effectLst/>
                <a:uLnTx/>
                <a:uFillTx/>
                <a:latin typeface="Segoe Sans Text"/>
                <a:ea typeface="+mn-ea"/>
                <a:cs typeface="+mn-cs"/>
              </a:rPr>
              <a:t>or MCP or OpenAPI)</a:t>
            </a:r>
          </a:p>
          <a:p>
            <a:pPr marL="184150" marR="0" lvl="0" indent="-127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Upskilling, training &amp; user adoption</a:t>
            </a:r>
          </a:p>
          <a:p>
            <a:pPr marL="184150" marR="0" lvl="0" indent="-127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0" cap="none" spc="0" normalizeH="0" baseline="0" noProof="0" dirty="0">
                <a:ln>
                  <a:noFill/>
                </a:ln>
                <a:solidFill>
                  <a:prstClr val="black"/>
                </a:solidFill>
                <a:effectLst/>
                <a:uLnTx/>
                <a:uFillTx/>
                <a:latin typeface="Segoe Sans Text"/>
                <a:ea typeface="+mn-ea"/>
                <a:cs typeface="+mn-cs"/>
              </a:rPr>
              <a:t>Agent Ops &amp; Governance</a:t>
            </a:r>
            <a:endParaRPr kumimoji="0" lang="en-US" sz="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 name="Rectangle: Rounded Corners 11">
            <a:extLst>
              <a:ext uri="{FF2B5EF4-FFF2-40B4-BE49-F238E27FC236}">
                <a16:creationId xmlns:a16="http://schemas.microsoft.com/office/drawing/2014/main" id="{D20D98FE-9566-A23F-5F3D-63BDA255F1A3}"/>
              </a:ext>
              <a:ext uri="{C183D7F6-B498-43B3-948B-1728B52AA6E4}">
                <adec:decorative xmlns:adec="http://schemas.microsoft.com/office/drawing/2017/decorative" val="0"/>
              </a:ext>
            </a:extLst>
          </p:cNvPr>
          <p:cNvSpPr>
            <a:spLocks/>
          </p:cNvSpPr>
          <p:nvPr/>
        </p:nvSpPr>
        <p:spPr>
          <a:xfrm>
            <a:off x="2822495" y="2002470"/>
            <a:ext cx="1089456" cy="429904"/>
          </a:xfrm>
          <a:prstGeom prst="roundRect">
            <a:avLst/>
          </a:prstGeom>
          <a:solidFill>
            <a:schemeClr val="tx2"/>
          </a:solidFill>
          <a:ln w="12700" cap="flat" cmpd="sng" algn="ctr">
            <a:noFill/>
            <a:prstDash val="solid"/>
            <a:miter lim="800000"/>
          </a:ln>
          <a:effectLst/>
        </p:spPr>
        <p:txBody>
          <a:bodyPr lIns="45720" tIns="36576" rIns="45720" bIns="36576" rtlCol="0" anchor="ctr"/>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Segoe Sans Text Semibold"/>
                <a:ea typeface="+mn-ea"/>
                <a:cs typeface="+mn-cs"/>
              </a:rPr>
              <a:t>Define Required Tools &amp; Knowledge Sources</a:t>
            </a:r>
          </a:p>
        </p:txBody>
      </p:sp>
      <p:sp>
        <p:nvSpPr>
          <p:cNvPr id="14" name="Rectangle: Rounded Corners 13">
            <a:extLst>
              <a:ext uri="{FF2B5EF4-FFF2-40B4-BE49-F238E27FC236}">
                <a16:creationId xmlns:a16="http://schemas.microsoft.com/office/drawing/2014/main" id="{B31AACFE-1295-959E-C22A-4303007F1505}"/>
              </a:ext>
              <a:ext uri="{C183D7F6-B498-43B3-948B-1728B52AA6E4}">
                <adec:decorative xmlns:adec="http://schemas.microsoft.com/office/drawing/2017/decorative" val="0"/>
              </a:ext>
            </a:extLst>
          </p:cNvPr>
          <p:cNvSpPr>
            <a:spLocks/>
          </p:cNvSpPr>
          <p:nvPr/>
        </p:nvSpPr>
        <p:spPr>
          <a:xfrm>
            <a:off x="3985927" y="2002470"/>
            <a:ext cx="1089456" cy="429904"/>
          </a:xfrm>
          <a:prstGeom prst="roundRect">
            <a:avLst/>
          </a:prstGeom>
          <a:solidFill>
            <a:schemeClr val="tx2"/>
          </a:solidFill>
          <a:ln w="12700" cap="flat" cmpd="sng" algn="ctr">
            <a:noFill/>
            <a:prstDash val="solid"/>
            <a:miter lim="800000"/>
          </a:ln>
          <a:effectLst/>
        </p:spPr>
        <p:txBody>
          <a:bodyPr lIns="45720" tIns="36576" rIns="45720" bIns="36576" rtlCol="0" anchor="ctr"/>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Segoe Sans Text Semibold"/>
                <a:ea typeface="+mn-ea"/>
                <a:cs typeface="+mn-cs"/>
              </a:rPr>
              <a:t>Define </a:t>
            </a:r>
          </a:p>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Segoe Sans Text Semibold"/>
                <a:ea typeface="+mn-ea"/>
                <a:cs typeface="+mn-cs"/>
              </a:rPr>
              <a:t>Orchestration</a:t>
            </a:r>
          </a:p>
        </p:txBody>
      </p:sp>
      <p:sp>
        <p:nvSpPr>
          <p:cNvPr id="15" name="Rectangle: Rounded Corners 14">
            <a:extLst>
              <a:ext uri="{FF2B5EF4-FFF2-40B4-BE49-F238E27FC236}">
                <a16:creationId xmlns:a16="http://schemas.microsoft.com/office/drawing/2014/main" id="{4649960E-946F-09A3-63D7-AA4189DDE911}"/>
              </a:ext>
              <a:ext uri="{C183D7F6-B498-43B3-948B-1728B52AA6E4}">
                <adec:decorative xmlns:adec="http://schemas.microsoft.com/office/drawing/2017/decorative" val="0"/>
              </a:ext>
            </a:extLst>
          </p:cNvPr>
          <p:cNvSpPr>
            <a:spLocks/>
          </p:cNvSpPr>
          <p:nvPr/>
        </p:nvSpPr>
        <p:spPr>
          <a:xfrm>
            <a:off x="5149360" y="2002470"/>
            <a:ext cx="1089456" cy="429904"/>
          </a:xfrm>
          <a:prstGeom prst="roundRect">
            <a:avLst/>
          </a:prstGeom>
          <a:solidFill>
            <a:schemeClr val="tx2"/>
          </a:solidFill>
          <a:ln w="12700" cap="flat" cmpd="sng" algn="ctr">
            <a:noFill/>
            <a:prstDash val="solid"/>
            <a:miter lim="800000"/>
          </a:ln>
          <a:effectLst/>
        </p:spPr>
        <p:txBody>
          <a:bodyPr lIns="45720" tIns="36576" rIns="45720" bIns="36576" rtlCol="0" anchor="ctr"/>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Segoe Sans Text Semibold"/>
                <a:ea typeface="+mn-ea"/>
                <a:cs typeface="+mn-cs"/>
              </a:rPr>
              <a:t>Agent Publish Approach &amp; UX</a:t>
            </a:r>
          </a:p>
        </p:txBody>
      </p:sp>
      <p:sp>
        <p:nvSpPr>
          <p:cNvPr id="54" name="Rectangle: Rounded Corners 53">
            <a:extLst>
              <a:ext uri="{FF2B5EF4-FFF2-40B4-BE49-F238E27FC236}">
                <a16:creationId xmlns:a16="http://schemas.microsoft.com/office/drawing/2014/main" id="{5F86961A-40E5-012E-13C5-B1BDF1A02BA6}"/>
              </a:ext>
              <a:ext uri="{C183D7F6-B498-43B3-948B-1728B52AA6E4}">
                <adec:decorative xmlns:adec="http://schemas.microsoft.com/office/drawing/2017/decorative" val="0"/>
              </a:ext>
            </a:extLst>
          </p:cNvPr>
          <p:cNvSpPr/>
          <p:nvPr/>
        </p:nvSpPr>
        <p:spPr bwMode="auto">
          <a:xfrm>
            <a:off x="1659063" y="2849706"/>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Multi Agent System</a:t>
            </a:r>
          </a:p>
        </p:txBody>
      </p:sp>
      <p:sp>
        <p:nvSpPr>
          <p:cNvPr id="57" name="Rectangle: Rounded Corners 56">
            <a:extLst>
              <a:ext uri="{FF2B5EF4-FFF2-40B4-BE49-F238E27FC236}">
                <a16:creationId xmlns:a16="http://schemas.microsoft.com/office/drawing/2014/main" id="{9F1EC245-8BB6-EDA3-9A0B-3C16FCD5B546}"/>
              </a:ext>
              <a:ext uri="{C183D7F6-B498-43B3-948B-1728B52AA6E4}">
                <adec:decorative xmlns:adec="http://schemas.microsoft.com/office/drawing/2017/decorative" val="0"/>
              </a:ext>
            </a:extLst>
          </p:cNvPr>
          <p:cNvSpPr/>
          <p:nvPr/>
        </p:nvSpPr>
        <p:spPr bwMode="auto">
          <a:xfrm>
            <a:off x="1659063" y="3208587"/>
            <a:ext cx="1088136" cy="644440"/>
          </a:xfrm>
          <a:prstGeom prst="roundRect">
            <a:avLst>
              <a:gd name="adj" fmla="val 7286"/>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Select Agent models &amp; map capabilities to task complexity</a:t>
            </a:r>
          </a:p>
        </p:txBody>
      </p:sp>
      <p:sp>
        <p:nvSpPr>
          <p:cNvPr id="58" name="Rectangle: Rounded Corners 57">
            <a:extLst>
              <a:ext uri="{FF2B5EF4-FFF2-40B4-BE49-F238E27FC236}">
                <a16:creationId xmlns:a16="http://schemas.microsoft.com/office/drawing/2014/main" id="{CACD48B5-EFBE-0D58-7606-2EDCD204D162}"/>
              </a:ext>
              <a:ext uri="{C183D7F6-B498-43B3-948B-1728B52AA6E4}">
                <adec:decorative xmlns:adec="http://schemas.microsoft.com/office/drawing/2017/decorative" val="0"/>
              </a:ext>
            </a:extLst>
          </p:cNvPr>
          <p:cNvSpPr/>
          <p:nvPr/>
        </p:nvSpPr>
        <p:spPr bwMode="auto">
          <a:xfrm>
            <a:off x="2822495" y="2486122"/>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Data Sources</a:t>
            </a:r>
          </a:p>
        </p:txBody>
      </p:sp>
      <p:sp>
        <p:nvSpPr>
          <p:cNvPr id="59" name="Rectangle: Rounded Corners 58">
            <a:extLst>
              <a:ext uri="{FF2B5EF4-FFF2-40B4-BE49-F238E27FC236}">
                <a16:creationId xmlns:a16="http://schemas.microsoft.com/office/drawing/2014/main" id="{E538A93E-CB8D-CABE-AD2F-AFBDD76D5211}"/>
              </a:ext>
              <a:ext uri="{C183D7F6-B498-43B3-948B-1728B52AA6E4}">
                <adec:decorative xmlns:adec="http://schemas.microsoft.com/office/drawing/2017/decorative" val="0"/>
              </a:ext>
            </a:extLst>
          </p:cNvPr>
          <p:cNvSpPr/>
          <p:nvPr/>
        </p:nvSpPr>
        <p:spPr bwMode="auto">
          <a:xfrm>
            <a:off x="2822495" y="2841285"/>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APIs/MCP/A2A</a:t>
            </a:r>
          </a:p>
        </p:txBody>
      </p:sp>
      <p:sp>
        <p:nvSpPr>
          <p:cNvPr id="64" name="Rectangle: Rounded Corners 63">
            <a:extLst>
              <a:ext uri="{FF2B5EF4-FFF2-40B4-BE49-F238E27FC236}">
                <a16:creationId xmlns:a16="http://schemas.microsoft.com/office/drawing/2014/main" id="{D14DFEF6-617D-4F89-604E-26CAC682C6AF}"/>
              </a:ext>
              <a:ext uri="{C183D7F6-B498-43B3-948B-1728B52AA6E4}">
                <adec:decorative xmlns:adec="http://schemas.microsoft.com/office/drawing/2017/decorative" val="0"/>
              </a:ext>
            </a:extLst>
          </p:cNvPr>
          <p:cNvSpPr/>
          <p:nvPr/>
        </p:nvSpPr>
        <p:spPr bwMode="auto">
          <a:xfrm>
            <a:off x="2822495" y="3196448"/>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3</a:t>
            </a:r>
            <a:r>
              <a:rPr kumimoji="0" lang="en-US" sz="800" b="0" i="0" u="none" strike="noStrike" kern="1200" cap="none" spc="0" normalizeH="0" baseline="30000" noProof="0" dirty="0">
                <a:ln>
                  <a:noFill/>
                </a:ln>
                <a:solidFill>
                  <a:srgbClr val="000000"/>
                </a:solidFill>
                <a:effectLst/>
                <a:uLnTx/>
                <a:uFillTx/>
                <a:latin typeface="Segoe Sans Text Semibold"/>
                <a:ea typeface="+mn-ea"/>
                <a:cs typeface="+mn-cs"/>
              </a:rPr>
              <a:t>rd</a:t>
            </a: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 Party System Connectivity</a:t>
            </a:r>
          </a:p>
        </p:txBody>
      </p:sp>
      <p:sp>
        <p:nvSpPr>
          <p:cNvPr id="65" name="Rectangle: Rounded Corners 64">
            <a:extLst>
              <a:ext uri="{FF2B5EF4-FFF2-40B4-BE49-F238E27FC236}">
                <a16:creationId xmlns:a16="http://schemas.microsoft.com/office/drawing/2014/main" id="{CAC4A886-3C2C-7773-6166-9D568CDEE4F9}"/>
              </a:ext>
              <a:ext uri="{C183D7F6-B498-43B3-948B-1728B52AA6E4}">
                <adec:decorative xmlns:adec="http://schemas.microsoft.com/office/drawing/2017/decorative" val="0"/>
              </a:ext>
            </a:extLst>
          </p:cNvPr>
          <p:cNvSpPr/>
          <p:nvPr/>
        </p:nvSpPr>
        <p:spPr bwMode="auto">
          <a:xfrm>
            <a:off x="3985927" y="2841285"/>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Define Orchestration Pattern</a:t>
            </a:r>
          </a:p>
        </p:txBody>
      </p:sp>
      <p:sp>
        <p:nvSpPr>
          <p:cNvPr id="69" name="Rectangle: Rounded Corners 68">
            <a:extLst>
              <a:ext uri="{FF2B5EF4-FFF2-40B4-BE49-F238E27FC236}">
                <a16:creationId xmlns:a16="http://schemas.microsoft.com/office/drawing/2014/main" id="{15716C39-6FD8-6966-74A2-E4A7B54D207C}"/>
              </a:ext>
              <a:ext uri="{C183D7F6-B498-43B3-948B-1728B52AA6E4}">
                <adec:decorative xmlns:adec="http://schemas.microsoft.com/office/drawing/2017/decorative" val="0"/>
              </a:ext>
            </a:extLst>
          </p:cNvPr>
          <p:cNvSpPr/>
          <p:nvPr/>
        </p:nvSpPr>
        <p:spPr bwMode="auto">
          <a:xfrm>
            <a:off x="3985927" y="2486122"/>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Select Orchestration Approach</a:t>
            </a:r>
          </a:p>
        </p:txBody>
      </p:sp>
      <p:sp>
        <p:nvSpPr>
          <p:cNvPr id="70" name="Rectangle: Rounded Corners 69">
            <a:extLst>
              <a:ext uri="{FF2B5EF4-FFF2-40B4-BE49-F238E27FC236}">
                <a16:creationId xmlns:a16="http://schemas.microsoft.com/office/drawing/2014/main" id="{07EB9E7D-D5B8-6E2B-0A4E-7C0A3BC0ACF9}"/>
              </a:ext>
              <a:ext uri="{C183D7F6-B498-43B3-948B-1728B52AA6E4}">
                <adec:decorative xmlns:adec="http://schemas.microsoft.com/office/drawing/2017/decorative" val="0"/>
              </a:ext>
            </a:extLst>
          </p:cNvPr>
          <p:cNvSpPr/>
          <p:nvPr/>
        </p:nvSpPr>
        <p:spPr bwMode="auto">
          <a:xfrm>
            <a:off x="3985927" y="3196448"/>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Define Agent</a:t>
            </a:r>
          </a:p>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Instructions </a:t>
            </a:r>
          </a:p>
        </p:txBody>
      </p:sp>
      <p:sp>
        <p:nvSpPr>
          <p:cNvPr id="72" name="Rectangle: Rounded Corners 71">
            <a:extLst>
              <a:ext uri="{FF2B5EF4-FFF2-40B4-BE49-F238E27FC236}">
                <a16:creationId xmlns:a16="http://schemas.microsoft.com/office/drawing/2014/main" id="{7C4A909C-0875-D630-05E7-9B28075DCDF8}"/>
              </a:ext>
              <a:ext uri="{C183D7F6-B498-43B3-948B-1728B52AA6E4}">
                <adec:decorative xmlns:adec="http://schemas.microsoft.com/office/drawing/2017/decorative" val="0"/>
              </a:ext>
            </a:extLst>
          </p:cNvPr>
          <p:cNvSpPr/>
          <p:nvPr/>
        </p:nvSpPr>
        <p:spPr bwMode="auto">
          <a:xfrm>
            <a:off x="5149360" y="2486122"/>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Define Publish Channels</a:t>
            </a:r>
          </a:p>
        </p:txBody>
      </p:sp>
      <p:sp>
        <p:nvSpPr>
          <p:cNvPr id="73" name="Rectangle: Rounded Corners 72">
            <a:extLst>
              <a:ext uri="{FF2B5EF4-FFF2-40B4-BE49-F238E27FC236}">
                <a16:creationId xmlns:a16="http://schemas.microsoft.com/office/drawing/2014/main" id="{E21DFB62-CA41-2411-345B-B8FD960DFD22}"/>
              </a:ext>
              <a:ext uri="{C183D7F6-B498-43B3-948B-1728B52AA6E4}">
                <adec:decorative xmlns:adec="http://schemas.microsoft.com/office/drawing/2017/decorative" val="0"/>
              </a:ext>
            </a:extLst>
          </p:cNvPr>
          <p:cNvSpPr/>
          <p:nvPr/>
        </p:nvSpPr>
        <p:spPr>
          <a:xfrm>
            <a:off x="6350069" y="2002469"/>
            <a:ext cx="756526" cy="1850557"/>
          </a:xfrm>
          <a:prstGeom prst="roundRect">
            <a:avLst>
              <a:gd name="adj" fmla="val 7854"/>
            </a:avLst>
          </a:prstGeom>
          <a:solidFill>
            <a:schemeClr val="accent3">
              <a:lumMod val="40000"/>
              <a:lumOff val="60000"/>
            </a:schemeClr>
          </a:solidFill>
          <a:ln w="12700" cap="flat" cmpd="sng" algn="ctr">
            <a:solidFill>
              <a:schemeClr val="bg1"/>
            </a:solidFill>
            <a:prstDash val="solid"/>
            <a:miter lim="800000"/>
          </a:ln>
          <a:effectLst/>
        </p:spPr>
        <p:txBody>
          <a:bodyPr lIns="45720" tIns="36576" rIns="45720" bIns="36576" rtlCol="0" anchor="ctr"/>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Segoe Sans Text Semibold"/>
                <a:ea typeface="+mn-ea"/>
                <a:cs typeface="+mn-cs"/>
              </a:rPr>
              <a:t>Build &amp; Iterate Agent Orchestration Instructions for MVP</a:t>
            </a:r>
          </a:p>
        </p:txBody>
      </p:sp>
      <p:sp>
        <p:nvSpPr>
          <p:cNvPr id="80" name="Rectangle: Rounded Corners 79">
            <a:extLst>
              <a:ext uri="{FF2B5EF4-FFF2-40B4-BE49-F238E27FC236}">
                <a16:creationId xmlns:a16="http://schemas.microsoft.com/office/drawing/2014/main" id="{B108AB78-A3A4-F332-5D3D-A2C1CE49F97C}"/>
              </a:ext>
              <a:ext uri="{C183D7F6-B498-43B3-948B-1728B52AA6E4}">
                <adec:decorative xmlns:adec="http://schemas.microsoft.com/office/drawing/2017/decorative" val="0"/>
              </a:ext>
            </a:extLst>
          </p:cNvPr>
          <p:cNvSpPr/>
          <p:nvPr/>
        </p:nvSpPr>
        <p:spPr>
          <a:xfrm>
            <a:off x="7256017" y="2002468"/>
            <a:ext cx="989247" cy="574989"/>
          </a:xfrm>
          <a:prstGeom prst="roundRect">
            <a:avLst>
              <a:gd name="adj" fmla="val 10103"/>
            </a:avLst>
          </a:prstGeom>
          <a:solidFill>
            <a:schemeClr val="accent3">
              <a:lumMod val="40000"/>
              <a:lumOff val="60000"/>
            </a:schemeClr>
          </a:solidFill>
          <a:ln w="12700" cap="flat" cmpd="sng" algn="ctr">
            <a:solidFill>
              <a:schemeClr val="bg1"/>
            </a:solidFill>
            <a:prstDash val="solid"/>
            <a:miter lim="800000"/>
          </a:ln>
          <a:effectLst/>
        </p:spPr>
        <p:txBody>
          <a:bodyPr lIns="45720" tIns="36576" rIns="45720" bIns="36576" rtlCol="0" anchor="t"/>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Segoe Sans Text Semibold"/>
                <a:ea typeface="+mn-ea"/>
                <a:cs typeface="+mn-cs"/>
              </a:rPr>
              <a:t>Build Agents Wave 1 </a:t>
            </a:r>
          </a:p>
        </p:txBody>
      </p:sp>
      <p:grpSp>
        <p:nvGrpSpPr>
          <p:cNvPr id="31" name="Group 30">
            <a:extLst>
              <a:ext uri="{FF2B5EF4-FFF2-40B4-BE49-F238E27FC236}">
                <a16:creationId xmlns:a16="http://schemas.microsoft.com/office/drawing/2014/main" id="{3E074D00-1E96-3BB9-7CE2-A466353C51D7}"/>
              </a:ext>
            </a:extLst>
          </p:cNvPr>
          <p:cNvGrpSpPr/>
          <p:nvPr/>
        </p:nvGrpSpPr>
        <p:grpSpPr>
          <a:xfrm>
            <a:off x="6131173" y="1603147"/>
            <a:ext cx="269625" cy="274320"/>
            <a:chOff x="6131173" y="1603147"/>
            <a:chExt cx="269625" cy="274320"/>
          </a:xfrm>
        </p:grpSpPr>
        <p:sp>
          <p:nvSpPr>
            <p:cNvPr id="84" name="Oval 83">
              <a:extLst>
                <a:ext uri="{FF2B5EF4-FFF2-40B4-BE49-F238E27FC236}">
                  <a16:creationId xmlns:a16="http://schemas.microsoft.com/office/drawing/2014/main" id="{97368FEC-F835-884D-21A2-7CCBC1C1E4F5}"/>
                </a:ext>
                <a:ext uri="{C183D7F6-B498-43B3-948B-1728B52AA6E4}">
                  <adec:decorative xmlns:adec="http://schemas.microsoft.com/office/drawing/2017/decorative" val="1"/>
                </a:ext>
              </a:extLst>
            </p:cNvPr>
            <p:cNvSpPr/>
            <p:nvPr/>
          </p:nvSpPr>
          <p:spPr bwMode="auto">
            <a:xfrm>
              <a:off x="6131173" y="1603147"/>
              <a:ext cx="269625" cy="274320"/>
            </a:xfrm>
            <a:prstGeom prst="ellipse">
              <a:avLst/>
            </a:prstGeom>
            <a:solidFill>
              <a:srgbClr val="FFFFFF"/>
            </a:solidFill>
            <a:ln w="38100">
              <a:noFill/>
              <a:headEnd type="none" w="med" len="med"/>
              <a:tailEnd type="none" w="med" len="med"/>
            </a:ln>
            <a:effectLst>
              <a:outerShdw blurRad="88900" dist="38100" dir="2700000" algn="t"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0078D4"/>
                </a:solidFill>
                <a:effectLst/>
                <a:uLnTx/>
                <a:uFillTx/>
                <a:latin typeface="Segoe UI"/>
                <a:ea typeface="+mn-ea"/>
                <a:cs typeface="Segoe UI" pitchFamily="34" charset="0"/>
              </a:endParaRPr>
            </a:p>
          </p:txBody>
        </p:sp>
        <p:sp>
          <p:nvSpPr>
            <p:cNvPr id="28" name="Graphic 2">
              <a:extLst>
                <a:ext uri="{FF2B5EF4-FFF2-40B4-BE49-F238E27FC236}">
                  <a16:creationId xmlns:a16="http://schemas.microsoft.com/office/drawing/2014/main" id="{5CD0BA31-897A-4A24-76E3-83ECDEA5777F}"/>
                </a:ext>
              </a:extLst>
            </p:cNvPr>
            <p:cNvSpPr/>
            <p:nvPr/>
          </p:nvSpPr>
          <p:spPr>
            <a:xfrm>
              <a:off x="6177689" y="1650474"/>
              <a:ext cx="176591" cy="179665"/>
            </a:xfrm>
            <a:custGeom>
              <a:avLst/>
              <a:gdLst>
                <a:gd name="csX0" fmla="*/ 74860 w 149719"/>
                <a:gd name="csY0" fmla="*/ 0 h 149720"/>
                <a:gd name="csX1" fmla="*/ 149720 w 149719"/>
                <a:gd name="csY1" fmla="*/ 74860 h 149720"/>
                <a:gd name="csX2" fmla="*/ 74860 w 149719"/>
                <a:gd name="csY2" fmla="*/ 149721 h 149720"/>
                <a:gd name="csX3" fmla="*/ 0 w 149719"/>
                <a:gd name="csY3" fmla="*/ 74860 h 149720"/>
                <a:gd name="csX4" fmla="*/ 74860 w 149719"/>
                <a:gd name="csY4" fmla="*/ 0 h 149720"/>
                <a:gd name="csX5" fmla="*/ 74860 w 149719"/>
                <a:gd name="csY5" fmla="*/ 11229 h 149720"/>
                <a:gd name="csX6" fmla="*/ 11229 w 149719"/>
                <a:gd name="csY6" fmla="*/ 74860 h 149720"/>
                <a:gd name="csX7" fmla="*/ 74860 w 149719"/>
                <a:gd name="csY7" fmla="*/ 138492 h 149720"/>
                <a:gd name="csX8" fmla="*/ 138491 w 149719"/>
                <a:gd name="csY8" fmla="*/ 74860 h 149720"/>
                <a:gd name="csX9" fmla="*/ 74860 w 149719"/>
                <a:gd name="csY9" fmla="*/ 11229 h 149720"/>
                <a:gd name="csX10" fmla="*/ 72217 w 149719"/>
                <a:gd name="csY10" fmla="*/ 41571 h 149720"/>
                <a:gd name="csX11" fmla="*/ 72761 w 149719"/>
                <a:gd name="csY11" fmla="*/ 40941 h 149720"/>
                <a:gd name="csX12" fmla="*/ 80072 w 149719"/>
                <a:gd name="csY12" fmla="*/ 40397 h 149720"/>
                <a:gd name="csX13" fmla="*/ 80701 w 149719"/>
                <a:gd name="csY13" fmla="*/ 40941 h 149720"/>
                <a:gd name="csX14" fmla="*/ 110651 w 149719"/>
                <a:gd name="csY14" fmla="*/ 70891 h 149720"/>
                <a:gd name="csX15" fmla="*/ 111194 w 149719"/>
                <a:gd name="csY15" fmla="*/ 78202 h 149720"/>
                <a:gd name="csX16" fmla="*/ 110650 w 149719"/>
                <a:gd name="csY16" fmla="*/ 78833 h 149720"/>
                <a:gd name="csX17" fmla="*/ 80695 w 149719"/>
                <a:gd name="csY17" fmla="*/ 108777 h 149720"/>
                <a:gd name="csX18" fmla="*/ 72755 w 149719"/>
                <a:gd name="csY18" fmla="*/ 108774 h 149720"/>
                <a:gd name="csX19" fmla="*/ 72213 w 149719"/>
                <a:gd name="csY19" fmla="*/ 101464 h 149720"/>
                <a:gd name="csX20" fmla="*/ 72756 w 149719"/>
                <a:gd name="csY20" fmla="*/ 100835 h 149720"/>
                <a:gd name="csX21" fmla="*/ 93133 w 149719"/>
                <a:gd name="csY21" fmla="*/ 80467 h 149720"/>
                <a:gd name="csX22" fmla="*/ 43039 w 149719"/>
                <a:gd name="csY22" fmla="*/ 80470 h 149720"/>
                <a:gd name="csX23" fmla="*/ 37476 w 149719"/>
                <a:gd name="csY23" fmla="*/ 75617 h 149720"/>
                <a:gd name="csX24" fmla="*/ 37425 w 149719"/>
                <a:gd name="csY24" fmla="*/ 74855 h 149720"/>
                <a:gd name="csX25" fmla="*/ 42277 w 149719"/>
                <a:gd name="csY25" fmla="*/ 69292 h 149720"/>
                <a:gd name="csX26" fmla="*/ 43039 w 149719"/>
                <a:gd name="csY26" fmla="*/ 69241 h 149720"/>
                <a:gd name="csX27" fmla="*/ 93118 w 149719"/>
                <a:gd name="csY27" fmla="*/ 69238 h 149720"/>
                <a:gd name="csX28" fmla="*/ 72761 w 149719"/>
                <a:gd name="csY28" fmla="*/ 48881 h 149720"/>
                <a:gd name="csX29" fmla="*/ 72217 w 149719"/>
                <a:gd name="csY29" fmla="*/ 41571 h 149720"/>
                <a:gd name="csX30" fmla="*/ 72761 w 149719"/>
                <a:gd name="csY30" fmla="*/ 40941 h 149720"/>
                <a:gd name="csX31" fmla="*/ 72217 w 149719"/>
                <a:gd name="csY31" fmla="*/ 41571 h 1497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9719" h="149720">
                  <a:moveTo>
                    <a:pt x="74860" y="0"/>
                  </a:moveTo>
                  <a:cubicBezTo>
                    <a:pt x="116203" y="0"/>
                    <a:pt x="149720" y="33516"/>
                    <a:pt x="149720" y="74860"/>
                  </a:cubicBezTo>
                  <a:cubicBezTo>
                    <a:pt x="149720" y="116204"/>
                    <a:pt x="116203" y="149721"/>
                    <a:pt x="74860" y="149721"/>
                  </a:cubicBezTo>
                  <a:cubicBezTo>
                    <a:pt x="33516" y="149721"/>
                    <a:pt x="0" y="116204"/>
                    <a:pt x="0" y="74860"/>
                  </a:cubicBezTo>
                  <a:cubicBezTo>
                    <a:pt x="0" y="33516"/>
                    <a:pt x="33516" y="0"/>
                    <a:pt x="74860" y="0"/>
                  </a:cubicBezTo>
                  <a:close/>
                  <a:moveTo>
                    <a:pt x="74860" y="11229"/>
                  </a:moveTo>
                  <a:cubicBezTo>
                    <a:pt x="39717" y="11229"/>
                    <a:pt x="11229" y="39718"/>
                    <a:pt x="11229" y="74860"/>
                  </a:cubicBezTo>
                  <a:cubicBezTo>
                    <a:pt x="11229" y="110003"/>
                    <a:pt x="39717" y="138492"/>
                    <a:pt x="74860" y="138492"/>
                  </a:cubicBezTo>
                  <a:cubicBezTo>
                    <a:pt x="110002" y="138492"/>
                    <a:pt x="138491" y="110003"/>
                    <a:pt x="138491" y="74860"/>
                  </a:cubicBezTo>
                  <a:cubicBezTo>
                    <a:pt x="138491" y="39718"/>
                    <a:pt x="110002" y="11229"/>
                    <a:pt x="74860" y="11229"/>
                  </a:cubicBezTo>
                  <a:close/>
                  <a:moveTo>
                    <a:pt x="72217" y="41571"/>
                  </a:moveTo>
                  <a:lnTo>
                    <a:pt x="72761" y="40941"/>
                  </a:lnTo>
                  <a:cubicBezTo>
                    <a:pt x="74754" y="38948"/>
                    <a:pt x="77874" y="38766"/>
                    <a:pt x="80072" y="40397"/>
                  </a:cubicBezTo>
                  <a:lnTo>
                    <a:pt x="80701" y="40941"/>
                  </a:lnTo>
                  <a:lnTo>
                    <a:pt x="110651" y="70891"/>
                  </a:lnTo>
                  <a:cubicBezTo>
                    <a:pt x="112645" y="72885"/>
                    <a:pt x="112826" y="76004"/>
                    <a:pt x="111194" y="78202"/>
                  </a:cubicBezTo>
                  <a:lnTo>
                    <a:pt x="110650" y="78833"/>
                  </a:lnTo>
                  <a:lnTo>
                    <a:pt x="80695" y="108777"/>
                  </a:lnTo>
                  <a:cubicBezTo>
                    <a:pt x="78503" y="110969"/>
                    <a:pt x="74947" y="110968"/>
                    <a:pt x="72755" y="108774"/>
                  </a:cubicBezTo>
                  <a:cubicBezTo>
                    <a:pt x="70762" y="106781"/>
                    <a:pt x="70582" y="103662"/>
                    <a:pt x="72213" y="101464"/>
                  </a:cubicBezTo>
                  <a:lnTo>
                    <a:pt x="72756" y="100835"/>
                  </a:lnTo>
                  <a:lnTo>
                    <a:pt x="93133" y="80467"/>
                  </a:lnTo>
                  <a:lnTo>
                    <a:pt x="43039" y="80470"/>
                  </a:lnTo>
                  <a:cubicBezTo>
                    <a:pt x="40197" y="80470"/>
                    <a:pt x="37848" y="78357"/>
                    <a:pt x="37476" y="75617"/>
                  </a:cubicBezTo>
                  <a:lnTo>
                    <a:pt x="37425" y="74855"/>
                  </a:lnTo>
                  <a:cubicBezTo>
                    <a:pt x="37425" y="72013"/>
                    <a:pt x="39537" y="69664"/>
                    <a:pt x="42277" y="69292"/>
                  </a:cubicBezTo>
                  <a:lnTo>
                    <a:pt x="43039" y="69241"/>
                  </a:lnTo>
                  <a:lnTo>
                    <a:pt x="93118" y="69238"/>
                  </a:lnTo>
                  <a:lnTo>
                    <a:pt x="72761" y="48881"/>
                  </a:lnTo>
                  <a:cubicBezTo>
                    <a:pt x="70768" y="46888"/>
                    <a:pt x="70587" y="43769"/>
                    <a:pt x="72217" y="41571"/>
                  </a:cubicBezTo>
                  <a:lnTo>
                    <a:pt x="72761" y="40941"/>
                  </a:lnTo>
                  <a:lnTo>
                    <a:pt x="72217" y="41571"/>
                  </a:lnTo>
                  <a:close/>
                </a:path>
              </a:pathLst>
            </a:custGeom>
            <a:gradFill>
              <a:gsLst>
                <a:gs pos="100000">
                  <a:srgbClr val="0573CE"/>
                </a:gs>
                <a:gs pos="0">
                  <a:srgbClr val="319A89"/>
                </a:gs>
              </a:gsLst>
              <a:path path="circle">
                <a:fillToRect l="100000" t="100000"/>
              </a:path>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Sans Text"/>
                <a:ea typeface="+mn-ea"/>
                <a:cs typeface="+mn-cs"/>
              </a:endParaRPr>
            </a:p>
          </p:txBody>
        </p:sp>
      </p:grpSp>
      <p:grpSp>
        <p:nvGrpSpPr>
          <p:cNvPr id="32" name="Group 31">
            <a:extLst>
              <a:ext uri="{FF2B5EF4-FFF2-40B4-BE49-F238E27FC236}">
                <a16:creationId xmlns:a16="http://schemas.microsoft.com/office/drawing/2014/main" id="{C9EBC493-E13E-9C6D-918C-0B331DDAAF89}"/>
              </a:ext>
            </a:extLst>
          </p:cNvPr>
          <p:cNvGrpSpPr/>
          <p:nvPr/>
        </p:nvGrpSpPr>
        <p:grpSpPr>
          <a:xfrm>
            <a:off x="9518450" y="1603147"/>
            <a:ext cx="269625" cy="274320"/>
            <a:chOff x="9518450" y="1603147"/>
            <a:chExt cx="269625" cy="274320"/>
          </a:xfrm>
        </p:grpSpPr>
        <p:sp>
          <p:nvSpPr>
            <p:cNvPr id="87" name="Oval 86">
              <a:extLst>
                <a:ext uri="{FF2B5EF4-FFF2-40B4-BE49-F238E27FC236}">
                  <a16:creationId xmlns:a16="http://schemas.microsoft.com/office/drawing/2014/main" id="{BA96A9CA-9036-20E2-743F-DAD2C0564613}"/>
                </a:ext>
                <a:ext uri="{C183D7F6-B498-43B3-948B-1728B52AA6E4}">
                  <adec:decorative xmlns:adec="http://schemas.microsoft.com/office/drawing/2017/decorative" val="1"/>
                </a:ext>
              </a:extLst>
            </p:cNvPr>
            <p:cNvSpPr/>
            <p:nvPr/>
          </p:nvSpPr>
          <p:spPr bwMode="auto">
            <a:xfrm>
              <a:off x="9518450" y="1603147"/>
              <a:ext cx="269625" cy="274320"/>
            </a:xfrm>
            <a:prstGeom prst="ellipse">
              <a:avLst/>
            </a:prstGeom>
            <a:solidFill>
              <a:srgbClr val="FFFFFF"/>
            </a:solidFill>
            <a:ln w="38100">
              <a:noFill/>
              <a:headEnd type="none" w="med" len="med"/>
              <a:tailEnd type="none" w="med" len="med"/>
            </a:ln>
            <a:effectLst>
              <a:outerShdw blurRad="88900" dist="38100" dir="2700000" algn="t"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0078D4"/>
                </a:solidFill>
                <a:effectLst/>
                <a:uLnTx/>
                <a:uFillTx/>
                <a:latin typeface="Segoe UI"/>
                <a:ea typeface="+mn-ea"/>
                <a:cs typeface="Segoe UI" pitchFamily="34" charset="0"/>
              </a:endParaRPr>
            </a:p>
          </p:txBody>
        </p:sp>
        <p:sp>
          <p:nvSpPr>
            <p:cNvPr id="30" name="Graphic 2">
              <a:extLst>
                <a:ext uri="{FF2B5EF4-FFF2-40B4-BE49-F238E27FC236}">
                  <a16:creationId xmlns:a16="http://schemas.microsoft.com/office/drawing/2014/main" id="{81685581-A617-9545-0013-3E6067D7BB12}"/>
                </a:ext>
              </a:extLst>
            </p:cNvPr>
            <p:cNvSpPr/>
            <p:nvPr/>
          </p:nvSpPr>
          <p:spPr>
            <a:xfrm>
              <a:off x="9564966" y="1650474"/>
              <a:ext cx="176591" cy="179665"/>
            </a:xfrm>
            <a:custGeom>
              <a:avLst/>
              <a:gdLst>
                <a:gd name="csX0" fmla="*/ 74860 w 149719"/>
                <a:gd name="csY0" fmla="*/ 0 h 149720"/>
                <a:gd name="csX1" fmla="*/ 149720 w 149719"/>
                <a:gd name="csY1" fmla="*/ 74860 h 149720"/>
                <a:gd name="csX2" fmla="*/ 74860 w 149719"/>
                <a:gd name="csY2" fmla="*/ 149721 h 149720"/>
                <a:gd name="csX3" fmla="*/ 0 w 149719"/>
                <a:gd name="csY3" fmla="*/ 74860 h 149720"/>
                <a:gd name="csX4" fmla="*/ 74860 w 149719"/>
                <a:gd name="csY4" fmla="*/ 0 h 149720"/>
                <a:gd name="csX5" fmla="*/ 74860 w 149719"/>
                <a:gd name="csY5" fmla="*/ 11229 h 149720"/>
                <a:gd name="csX6" fmla="*/ 11229 w 149719"/>
                <a:gd name="csY6" fmla="*/ 74860 h 149720"/>
                <a:gd name="csX7" fmla="*/ 74860 w 149719"/>
                <a:gd name="csY7" fmla="*/ 138492 h 149720"/>
                <a:gd name="csX8" fmla="*/ 138491 w 149719"/>
                <a:gd name="csY8" fmla="*/ 74860 h 149720"/>
                <a:gd name="csX9" fmla="*/ 74860 w 149719"/>
                <a:gd name="csY9" fmla="*/ 11229 h 149720"/>
                <a:gd name="csX10" fmla="*/ 72217 w 149719"/>
                <a:gd name="csY10" fmla="*/ 41571 h 149720"/>
                <a:gd name="csX11" fmla="*/ 72761 w 149719"/>
                <a:gd name="csY11" fmla="*/ 40941 h 149720"/>
                <a:gd name="csX12" fmla="*/ 80072 w 149719"/>
                <a:gd name="csY12" fmla="*/ 40397 h 149720"/>
                <a:gd name="csX13" fmla="*/ 80701 w 149719"/>
                <a:gd name="csY13" fmla="*/ 40941 h 149720"/>
                <a:gd name="csX14" fmla="*/ 110651 w 149719"/>
                <a:gd name="csY14" fmla="*/ 70891 h 149720"/>
                <a:gd name="csX15" fmla="*/ 111194 w 149719"/>
                <a:gd name="csY15" fmla="*/ 78202 h 149720"/>
                <a:gd name="csX16" fmla="*/ 110650 w 149719"/>
                <a:gd name="csY16" fmla="*/ 78833 h 149720"/>
                <a:gd name="csX17" fmla="*/ 80695 w 149719"/>
                <a:gd name="csY17" fmla="*/ 108777 h 149720"/>
                <a:gd name="csX18" fmla="*/ 72755 w 149719"/>
                <a:gd name="csY18" fmla="*/ 108774 h 149720"/>
                <a:gd name="csX19" fmla="*/ 72213 w 149719"/>
                <a:gd name="csY19" fmla="*/ 101464 h 149720"/>
                <a:gd name="csX20" fmla="*/ 72756 w 149719"/>
                <a:gd name="csY20" fmla="*/ 100835 h 149720"/>
                <a:gd name="csX21" fmla="*/ 93133 w 149719"/>
                <a:gd name="csY21" fmla="*/ 80467 h 149720"/>
                <a:gd name="csX22" fmla="*/ 43039 w 149719"/>
                <a:gd name="csY22" fmla="*/ 80470 h 149720"/>
                <a:gd name="csX23" fmla="*/ 37476 w 149719"/>
                <a:gd name="csY23" fmla="*/ 75617 h 149720"/>
                <a:gd name="csX24" fmla="*/ 37425 w 149719"/>
                <a:gd name="csY24" fmla="*/ 74855 h 149720"/>
                <a:gd name="csX25" fmla="*/ 42277 w 149719"/>
                <a:gd name="csY25" fmla="*/ 69292 h 149720"/>
                <a:gd name="csX26" fmla="*/ 43039 w 149719"/>
                <a:gd name="csY26" fmla="*/ 69241 h 149720"/>
                <a:gd name="csX27" fmla="*/ 93118 w 149719"/>
                <a:gd name="csY27" fmla="*/ 69238 h 149720"/>
                <a:gd name="csX28" fmla="*/ 72761 w 149719"/>
                <a:gd name="csY28" fmla="*/ 48881 h 149720"/>
                <a:gd name="csX29" fmla="*/ 72217 w 149719"/>
                <a:gd name="csY29" fmla="*/ 41571 h 149720"/>
                <a:gd name="csX30" fmla="*/ 72761 w 149719"/>
                <a:gd name="csY30" fmla="*/ 40941 h 149720"/>
                <a:gd name="csX31" fmla="*/ 72217 w 149719"/>
                <a:gd name="csY31" fmla="*/ 41571 h 1497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9719" h="149720">
                  <a:moveTo>
                    <a:pt x="74860" y="0"/>
                  </a:moveTo>
                  <a:cubicBezTo>
                    <a:pt x="116203" y="0"/>
                    <a:pt x="149720" y="33516"/>
                    <a:pt x="149720" y="74860"/>
                  </a:cubicBezTo>
                  <a:cubicBezTo>
                    <a:pt x="149720" y="116204"/>
                    <a:pt x="116203" y="149721"/>
                    <a:pt x="74860" y="149721"/>
                  </a:cubicBezTo>
                  <a:cubicBezTo>
                    <a:pt x="33516" y="149721"/>
                    <a:pt x="0" y="116204"/>
                    <a:pt x="0" y="74860"/>
                  </a:cubicBezTo>
                  <a:cubicBezTo>
                    <a:pt x="0" y="33516"/>
                    <a:pt x="33516" y="0"/>
                    <a:pt x="74860" y="0"/>
                  </a:cubicBezTo>
                  <a:close/>
                  <a:moveTo>
                    <a:pt x="74860" y="11229"/>
                  </a:moveTo>
                  <a:cubicBezTo>
                    <a:pt x="39717" y="11229"/>
                    <a:pt x="11229" y="39718"/>
                    <a:pt x="11229" y="74860"/>
                  </a:cubicBezTo>
                  <a:cubicBezTo>
                    <a:pt x="11229" y="110003"/>
                    <a:pt x="39717" y="138492"/>
                    <a:pt x="74860" y="138492"/>
                  </a:cubicBezTo>
                  <a:cubicBezTo>
                    <a:pt x="110002" y="138492"/>
                    <a:pt x="138491" y="110003"/>
                    <a:pt x="138491" y="74860"/>
                  </a:cubicBezTo>
                  <a:cubicBezTo>
                    <a:pt x="138491" y="39718"/>
                    <a:pt x="110002" y="11229"/>
                    <a:pt x="74860" y="11229"/>
                  </a:cubicBezTo>
                  <a:close/>
                  <a:moveTo>
                    <a:pt x="72217" y="41571"/>
                  </a:moveTo>
                  <a:lnTo>
                    <a:pt x="72761" y="40941"/>
                  </a:lnTo>
                  <a:cubicBezTo>
                    <a:pt x="74754" y="38948"/>
                    <a:pt x="77874" y="38766"/>
                    <a:pt x="80072" y="40397"/>
                  </a:cubicBezTo>
                  <a:lnTo>
                    <a:pt x="80701" y="40941"/>
                  </a:lnTo>
                  <a:lnTo>
                    <a:pt x="110651" y="70891"/>
                  </a:lnTo>
                  <a:cubicBezTo>
                    <a:pt x="112645" y="72885"/>
                    <a:pt x="112826" y="76004"/>
                    <a:pt x="111194" y="78202"/>
                  </a:cubicBezTo>
                  <a:lnTo>
                    <a:pt x="110650" y="78833"/>
                  </a:lnTo>
                  <a:lnTo>
                    <a:pt x="80695" y="108777"/>
                  </a:lnTo>
                  <a:cubicBezTo>
                    <a:pt x="78503" y="110969"/>
                    <a:pt x="74947" y="110968"/>
                    <a:pt x="72755" y="108774"/>
                  </a:cubicBezTo>
                  <a:cubicBezTo>
                    <a:pt x="70762" y="106781"/>
                    <a:pt x="70582" y="103662"/>
                    <a:pt x="72213" y="101464"/>
                  </a:cubicBezTo>
                  <a:lnTo>
                    <a:pt x="72756" y="100835"/>
                  </a:lnTo>
                  <a:lnTo>
                    <a:pt x="93133" y="80467"/>
                  </a:lnTo>
                  <a:lnTo>
                    <a:pt x="43039" y="80470"/>
                  </a:lnTo>
                  <a:cubicBezTo>
                    <a:pt x="40197" y="80470"/>
                    <a:pt x="37848" y="78357"/>
                    <a:pt x="37476" y="75617"/>
                  </a:cubicBezTo>
                  <a:lnTo>
                    <a:pt x="37425" y="74855"/>
                  </a:lnTo>
                  <a:cubicBezTo>
                    <a:pt x="37425" y="72013"/>
                    <a:pt x="39537" y="69664"/>
                    <a:pt x="42277" y="69292"/>
                  </a:cubicBezTo>
                  <a:lnTo>
                    <a:pt x="43039" y="69241"/>
                  </a:lnTo>
                  <a:lnTo>
                    <a:pt x="93118" y="69238"/>
                  </a:lnTo>
                  <a:lnTo>
                    <a:pt x="72761" y="48881"/>
                  </a:lnTo>
                  <a:cubicBezTo>
                    <a:pt x="70768" y="46888"/>
                    <a:pt x="70587" y="43769"/>
                    <a:pt x="72217" y="41571"/>
                  </a:cubicBezTo>
                  <a:lnTo>
                    <a:pt x="72761" y="40941"/>
                  </a:lnTo>
                  <a:lnTo>
                    <a:pt x="72217" y="41571"/>
                  </a:lnTo>
                  <a:close/>
                </a:path>
              </a:pathLst>
            </a:custGeom>
            <a:gradFill>
              <a:gsLst>
                <a:gs pos="100000">
                  <a:srgbClr val="0573CE"/>
                </a:gs>
                <a:gs pos="0">
                  <a:srgbClr val="319A89"/>
                </a:gs>
              </a:gsLst>
              <a:path path="circle">
                <a:fillToRect l="100000" t="100000"/>
              </a:path>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Sans Text"/>
                <a:ea typeface="+mn-ea"/>
                <a:cs typeface="+mn-cs"/>
              </a:endParaRPr>
            </a:p>
          </p:txBody>
        </p:sp>
      </p:grpSp>
      <p:sp>
        <p:nvSpPr>
          <p:cNvPr id="90" name="Rectangle: Rounded Corners 89">
            <a:extLst>
              <a:ext uri="{FF2B5EF4-FFF2-40B4-BE49-F238E27FC236}">
                <a16:creationId xmlns:a16="http://schemas.microsoft.com/office/drawing/2014/main" id="{D6066722-E504-0C4A-89A6-0D0F95A2F163}"/>
              </a:ext>
              <a:ext uri="{C183D7F6-B498-43B3-948B-1728B52AA6E4}">
                <adec:decorative xmlns:adec="http://schemas.microsoft.com/office/drawing/2017/decorative" val="0"/>
              </a:ext>
            </a:extLst>
          </p:cNvPr>
          <p:cNvSpPr/>
          <p:nvPr/>
        </p:nvSpPr>
        <p:spPr>
          <a:xfrm>
            <a:off x="9695589" y="2002470"/>
            <a:ext cx="1696312" cy="450444"/>
          </a:xfrm>
          <a:prstGeom prst="roundRect">
            <a:avLst>
              <a:gd name="adj" fmla="val 15081"/>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Perform functional testing</a:t>
            </a:r>
          </a:p>
        </p:txBody>
      </p:sp>
      <p:sp>
        <p:nvSpPr>
          <p:cNvPr id="92" name="Rectangle: Rounded Corners 91">
            <a:extLst>
              <a:ext uri="{FF2B5EF4-FFF2-40B4-BE49-F238E27FC236}">
                <a16:creationId xmlns:a16="http://schemas.microsoft.com/office/drawing/2014/main" id="{8BB201FE-4B75-CEC1-61F9-7B6D295A8C6A}"/>
              </a:ext>
              <a:ext uri="{C183D7F6-B498-43B3-948B-1728B52AA6E4}">
                <adec:decorative xmlns:adec="http://schemas.microsoft.com/office/drawing/2017/decorative" val="0"/>
              </a:ext>
            </a:extLst>
          </p:cNvPr>
          <p:cNvSpPr/>
          <p:nvPr/>
        </p:nvSpPr>
        <p:spPr>
          <a:xfrm>
            <a:off x="9695589" y="2518917"/>
            <a:ext cx="1696312" cy="450444"/>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Final approval, sign-off</a:t>
            </a:r>
          </a:p>
        </p:txBody>
      </p:sp>
      <p:cxnSp>
        <p:nvCxnSpPr>
          <p:cNvPr id="94" name="Straight Arrow Connector 93">
            <a:extLst>
              <a:ext uri="{FF2B5EF4-FFF2-40B4-BE49-F238E27FC236}">
                <a16:creationId xmlns:a16="http://schemas.microsoft.com/office/drawing/2014/main" id="{3CAEE5BF-9C30-48BD-A406-B1F1BB8B2295}"/>
              </a:ext>
              <a:ext uri="{C183D7F6-B498-43B3-948B-1728B52AA6E4}">
                <adec:decorative xmlns:adec="http://schemas.microsoft.com/office/drawing/2017/decorative" val="1"/>
              </a:ext>
            </a:extLst>
          </p:cNvPr>
          <p:cNvCxnSpPr>
            <a:cxnSpLocks/>
            <a:endCxn id="19" idx="0"/>
          </p:cNvCxnSpPr>
          <p:nvPr/>
        </p:nvCxnSpPr>
        <p:spPr>
          <a:xfrm>
            <a:off x="1019764" y="2312873"/>
            <a:ext cx="0" cy="322499"/>
          </a:xfrm>
          <a:prstGeom prst="straightConnector1">
            <a:avLst/>
          </a:prstGeom>
          <a:solidFill>
            <a:schemeClr val="bg1"/>
          </a:solidFill>
          <a:ln w="12700" cap="rnd">
            <a:solidFill>
              <a:schemeClr val="tx2"/>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25F3145A-87CA-7DBF-7010-1FCD8E7B94A4}"/>
              </a:ext>
              <a:ext uri="{C183D7F6-B498-43B3-948B-1728B52AA6E4}">
                <adec:decorative xmlns:adec="http://schemas.microsoft.com/office/drawing/2017/decorative" val="1"/>
              </a:ext>
            </a:extLst>
          </p:cNvPr>
          <p:cNvCxnSpPr>
            <a:cxnSpLocks/>
            <a:stCxn id="19" idx="2"/>
            <a:endCxn id="20" idx="0"/>
          </p:cNvCxnSpPr>
          <p:nvPr/>
        </p:nvCxnSpPr>
        <p:spPr>
          <a:xfrm>
            <a:off x="1019764" y="2907611"/>
            <a:ext cx="0" cy="322498"/>
          </a:xfrm>
          <a:prstGeom prst="straightConnector1">
            <a:avLst/>
          </a:prstGeom>
          <a:solidFill>
            <a:schemeClr val="bg1"/>
          </a:solidFill>
          <a:ln w="12700" cap="rnd">
            <a:solidFill>
              <a:schemeClr val="tx2"/>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6A13772-1F3A-2C37-8D1E-0FF17F37C227}"/>
              </a:ext>
              <a:ext uri="{C183D7F6-B498-43B3-948B-1728B52AA6E4}">
                <adec:decorative xmlns:adec="http://schemas.microsoft.com/office/drawing/2017/decorative" val="0"/>
              </a:ext>
            </a:extLst>
          </p:cNvPr>
          <p:cNvSpPr/>
          <p:nvPr/>
        </p:nvSpPr>
        <p:spPr bwMode="auto">
          <a:xfrm>
            <a:off x="2822495" y="3551612"/>
            <a:ext cx="1088136" cy="301415"/>
          </a:xfrm>
          <a:prstGeom prst="roundRect">
            <a:avLst/>
          </a:prstGeom>
          <a:solidFill>
            <a:schemeClr val="tx2">
              <a:lumMod val="20000"/>
              <a:lumOff val="80000"/>
              <a:alpha val="50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Semibold"/>
                <a:ea typeface="+mn-ea"/>
                <a:cs typeface="+mn-cs"/>
              </a:rPr>
              <a:t>Workflows</a:t>
            </a:r>
          </a:p>
        </p:txBody>
      </p:sp>
      <p:sp>
        <p:nvSpPr>
          <p:cNvPr id="22" name="Rectangle: Rounded Corners 21">
            <a:extLst>
              <a:ext uri="{FF2B5EF4-FFF2-40B4-BE49-F238E27FC236}">
                <a16:creationId xmlns:a16="http://schemas.microsoft.com/office/drawing/2014/main" id="{DA519780-C572-2560-0EC5-7DEC99E59882}"/>
              </a:ext>
              <a:ext uri="{C183D7F6-B498-43B3-948B-1728B52AA6E4}">
                <adec:decorative xmlns:adec="http://schemas.microsoft.com/office/drawing/2017/decorative" val="0"/>
              </a:ext>
            </a:extLst>
          </p:cNvPr>
          <p:cNvSpPr/>
          <p:nvPr/>
        </p:nvSpPr>
        <p:spPr>
          <a:xfrm>
            <a:off x="7505391" y="2351564"/>
            <a:ext cx="819584" cy="397142"/>
          </a:xfrm>
          <a:prstGeom prst="roundRect">
            <a:avLst/>
          </a:prstGeom>
          <a:solidFill>
            <a:schemeClr val="accent3">
              <a:lumMod val="40000"/>
              <a:lumOff val="60000"/>
            </a:schemeClr>
          </a:solidFill>
          <a:ln w="12700" cap="flat" cmpd="sng" algn="ctr">
            <a:solidFill>
              <a:schemeClr val="bg1"/>
            </a:solidFill>
            <a:prstDash val="solid"/>
            <a:miter lim="800000"/>
          </a:ln>
          <a:effectLst/>
        </p:spPr>
        <p:txBody>
          <a:bodyPr lIns="45720" tIns="36576" rIns="45720" bIns="36576" rtlCol="0" anchor="t"/>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Segoe Sans Text Semibold"/>
                <a:ea typeface="+mn-ea"/>
                <a:cs typeface="+mn-cs"/>
              </a:rPr>
              <a:t>Unit Test</a:t>
            </a:r>
          </a:p>
        </p:txBody>
      </p:sp>
      <p:sp>
        <p:nvSpPr>
          <p:cNvPr id="82" name="Rectangle: Rounded Corners 81">
            <a:extLst>
              <a:ext uri="{FF2B5EF4-FFF2-40B4-BE49-F238E27FC236}">
                <a16:creationId xmlns:a16="http://schemas.microsoft.com/office/drawing/2014/main" id="{7B16F2C1-CDB3-5EA0-7947-BB268C3454D4}"/>
              </a:ext>
              <a:ext uri="{C183D7F6-B498-43B3-948B-1728B52AA6E4}">
                <adec:decorative xmlns:adec="http://schemas.microsoft.com/office/drawing/2017/decorative" val="0"/>
              </a:ext>
            </a:extLst>
          </p:cNvPr>
          <p:cNvSpPr/>
          <p:nvPr/>
        </p:nvSpPr>
        <p:spPr>
          <a:xfrm>
            <a:off x="7698613" y="2572218"/>
            <a:ext cx="777002" cy="397143"/>
          </a:xfrm>
          <a:prstGeom prst="roundRect">
            <a:avLst/>
          </a:prstGeom>
          <a:solidFill>
            <a:schemeClr val="accent3">
              <a:lumMod val="50000"/>
            </a:schemeClr>
          </a:solidFill>
          <a:ln w="12700" cap="flat" cmpd="sng" algn="ctr">
            <a:solidFill>
              <a:schemeClr val="bg1"/>
            </a:solidFill>
            <a:prstDash val="solid"/>
            <a:miter lim="800000"/>
          </a:ln>
          <a:effectLst/>
        </p:spPr>
        <p:txBody>
          <a:bodyPr lIns="45720" tIns="36576" rIns="45720" bIns="36576" rtlCol="0" anchor="t"/>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Segoe Sans Text Semibold"/>
                <a:ea typeface="+mn-ea"/>
                <a:cs typeface="+mn-cs"/>
              </a:rPr>
              <a:t>Publish Agents </a:t>
            </a:r>
          </a:p>
        </p:txBody>
      </p:sp>
      <p:sp>
        <p:nvSpPr>
          <p:cNvPr id="24" name="Rectangle: Rounded Corners 23">
            <a:extLst>
              <a:ext uri="{FF2B5EF4-FFF2-40B4-BE49-F238E27FC236}">
                <a16:creationId xmlns:a16="http://schemas.microsoft.com/office/drawing/2014/main" id="{3DFA33C5-D331-CB03-E5EE-6C33414A85AA}"/>
              </a:ext>
              <a:ext uri="{C183D7F6-B498-43B3-948B-1728B52AA6E4}">
                <adec:decorative xmlns:adec="http://schemas.microsoft.com/office/drawing/2017/decorative" val="0"/>
              </a:ext>
            </a:extLst>
          </p:cNvPr>
          <p:cNvSpPr/>
          <p:nvPr/>
        </p:nvSpPr>
        <p:spPr>
          <a:xfrm>
            <a:off x="8391264" y="2002468"/>
            <a:ext cx="989247" cy="574989"/>
          </a:xfrm>
          <a:prstGeom prst="roundRect">
            <a:avLst>
              <a:gd name="adj" fmla="val 10103"/>
            </a:avLst>
          </a:prstGeom>
          <a:solidFill>
            <a:schemeClr val="accent3">
              <a:lumMod val="40000"/>
              <a:lumOff val="60000"/>
            </a:schemeClr>
          </a:solidFill>
          <a:ln w="12700" cap="flat" cmpd="sng" algn="ctr">
            <a:solidFill>
              <a:schemeClr val="bg1"/>
            </a:solidFill>
            <a:prstDash val="solid"/>
            <a:miter lim="800000"/>
          </a:ln>
          <a:effectLst/>
        </p:spPr>
        <p:txBody>
          <a:bodyPr lIns="45720" tIns="36576" rIns="45720" bIns="36576" rtlCol="0" anchor="t"/>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Segoe Sans Text Semibold"/>
                <a:ea typeface="+mn-ea"/>
                <a:cs typeface="+mn-cs"/>
              </a:rPr>
              <a:t>Build Agents Wave 2 </a:t>
            </a:r>
          </a:p>
        </p:txBody>
      </p:sp>
      <p:sp>
        <p:nvSpPr>
          <p:cNvPr id="25" name="Rectangle: Rounded Corners 24">
            <a:extLst>
              <a:ext uri="{FF2B5EF4-FFF2-40B4-BE49-F238E27FC236}">
                <a16:creationId xmlns:a16="http://schemas.microsoft.com/office/drawing/2014/main" id="{938DE874-954A-D3FA-9D38-62E494B391EE}"/>
              </a:ext>
              <a:ext uri="{C183D7F6-B498-43B3-948B-1728B52AA6E4}">
                <adec:decorative xmlns:adec="http://schemas.microsoft.com/office/drawing/2017/decorative" val="0"/>
              </a:ext>
            </a:extLst>
          </p:cNvPr>
          <p:cNvSpPr/>
          <p:nvPr/>
        </p:nvSpPr>
        <p:spPr>
          <a:xfrm>
            <a:off x="8640638" y="2351564"/>
            <a:ext cx="819584" cy="397142"/>
          </a:xfrm>
          <a:prstGeom prst="roundRect">
            <a:avLst/>
          </a:prstGeom>
          <a:solidFill>
            <a:schemeClr val="accent3">
              <a:lumMod val="40000"/>
              <a:lumOff val="60000"/>
            </a:schemeClr>
          </a:solidFill>
          <a:ln w="12700" cap="flat" cmpd="sng" algn="ctr">
            <a:solidFill>
              <a:schemeClr val="bg1"/>
            </a:solidFill>
            <a:prstDash val="solid"/>
            <a:miter lim="800000"/>
          </a:ln>
          <a:effectLst/>
        </p:spPr>
        <p:txBody>
          <a:bodyPr lIns="45720" tIns="36576" rIns="45720" bIns="36576" rtlCol="0" anchor="t"/>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Segoe Sans Text Semibold"/>
                <a:ea typeface="+mn-ea"/>
                <a:cs typeface="+mn-cs"/>
              </a:rPr>
              <a:t>Unit Test</a:t>
            </a:r>
          </a:p>
        </p:txBody>
      </p:sp>
      <p:sp>
        <p:nvSpPr>
          <p:cNvPr id="26" name="Rectangle: Rounded Corners 25">
            <a:extLst>
              <a:ext uri="{FF2B5EF4-FFF2-40B4-BE49-F238E27FC236}">
                <a16:creationId xmlns:a16="http://schemas.microsoft.com/office/drawing/2014/main" id="{7D9586AC-20D9-7F34-FC0F-E00CADF74C6B}"/>
              </a:ext>
              <a:ext uri="{C183D7F6-B498-43B3-948B-1728B52AA6E4}">
                <adec:decorative xmlns:adec="http://schemas.microsoft.com/office/drawing/2017/decorative" val="0"/>
              </a:ext>
            </a:extLst>
          </p:cNvPr>
          <p:cNvSpPr/>
          <p:nvPr/>
        </p:nvSpPr>
        <p:spPr>
          <a:xfrm>
            <a:off x="8833861" y="2572218"/>
            <a:ext cx="777002" cy="397143"/>
          </a:xfrm>
          <a:prstGeom prst="roundRect">
            <a:avLst/>
          </a:prstGeom>
          <a:solidFill>
            <a:schemeClr val="accent3">
              <a:lumMod val="50000"/>
            </a:schemeClr>
          </a:solidFill>
          <a:ln w="12700" cap="flat" cmpd="sng" algn="ctr">
            <a:solidFill>
              <a:schemeClr val="bg1"/>
            </a:solidFill>
            <a:prstDash val="solid"/>
            <a:miter lim="800000"/>
          </a:ln>
          <a:effectLst/>
        </p:spPr>
        <p:txBody>
          <a:bodyPr lIns="45720" tIns="36576" rIns="45720" bIns="36576" rtlCol="0" anchor="t"/>
          <a:lstStyle/>
          <a:p>
            <a:pPr marL="0" marR="0" lvl="0" indent="0" algn="ctr" defTabSz="86868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FFFF"/>
                </a:solidFill>
                <a:effectLst/>
                <a:uLnTx/>
                <a:uFillTx/>
                <a:latin typeface="Segoe Sans Text Semibold"/>
                <a:ea typeface="+mn-ea"/>
                <a:cs typeface="+mn-cs"/>
              </a:rPr>
              <a:t>Publish Agents </a:t>
            </a:r>
          </a:p>
        </p:txBody>
      </p:sp>
      <p:sp>
        <p:nvSpPr>
          <p:cNvPr id="27" name="TextBox 26">
            <a:extLst>
              <a:ext uri="{FF2B5EF4-FFF2-40B4-BE49-F238E27FC236}">
                <a16:creationId xmlns:a16="http://schemas.microsoft.com/office/drawing/2014/main" id="{9797122B-826E-D528-2DB3-1B68889C0CA7}"/>
              </a:ext>
            </a:extLst>
          </p:cNvPr>
          <p:cNvSpPr txBox="1"/>
          <p:nvPr/>
        </p:nvSpPr>
        <p:spPr>
          <a:xfrm>
            <a:off x="586740" y="6374828"/>
            <a:ext cx="5590950" cy="1384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Pre-requisite: </a:t>
            </a:r>
            <a:r>
              <a:rPr kumimoji="0" lang="en-US" sz="900" b="0" i="0" u="none" strike="noStrike" kern="1200" cap="none" spc="0" normalizeH="0" baseline="0" noProof="0" dirty="0">
                <a:ln>
                  <a:noFill/>
                </a:ln>
                <a:solidFill>
                  <a:srgbClr val="000000"/>
                </a:solidFill>
                <a:effectLst/>
                <a:uLnTx/>
                <a:uFillTx/>
                <a:latin typeface="Segoe Sans Text"/>
                <a:ea typeface="+mn-ea"/>
                <a:cs typeface="+mn-cs"/>
              </a:rPr>
              <a:t>Customer commitment to deploy, Access to environment, Unified or CWAA agreement in place</a:t>
            </a:r>
          </a:p>
        </p:txBody>
      </p:sp>
      <p:sp>
        <p:nvSpPr>
          <p:cNvPr id="21" name="Title 5">
            <a:extLst>
              <a:ext uri="{FF2B5EF4-FFF2-40B4-BE49-F238E27FC236}">
                <a16:creationId xmlns:a16="http://schemas.microsoft.com/office/drawing/2014/main" id="{989A041B-EAD6-A3FB-71BD-349AC682A3E2}"/>
              </a:ext>
            </a:extLst>
          </p:cNvPr>
          <p:cNvSpPr txBox="1">
            <a:spLocks noGrp="1"/>
          </p:cNvSpPr>
          <p:nvPr>
            <p:ph type="title" idx="4294967295"/>
          </p:nvPr>
        </p:nvSpPr>
        <p:spPr>
          <a:xfrm>
            <a:off x="553789" y="526837"/>
            <a:ext cx="7610960" cy="4308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Engagement Approach for Agent Development</a:t>
            </a:r>
          </a:p>
        </p:txBody>
      </p:sp>
      <p:sp>
        <p:nvSpPr>
          <p:cNvPr id="11" name="TextBox 10">
            <a:extLst>
              <a:ext uri="{FF2B5EF4-FFF2-40B4-BE49-F238E27FC236}">
                <a16:creationId xmlns:a16="http://schemas.microsoft.com/office/drawing/2014/main" id="{15FF96DD-C480-B5AD-381B-09202F94931C}"/>
              </a:ext>
              <a:ext uri="{C183D7F6-B498-43B3-948B-1728B52AA6E4}">
                <adec:decorative xmlns:adec="http://schemas.microsoft.com/office/drawing/2017/decorative" val="0"/>
              </a:ext>
            </a:extLst>
          </p:cNvPr>
          <p:cNvSpPr txBox="1"/>
          <p:nvPr/>
        </p:nvSpPr>
        <p:spPr>
          <a:xfrm>
            <a:off x="661918" y="1626244"/>
            <a:ext cx="715692" cy="615553"/>
          </a:xfrm>
          <a:prstGeom prst="rect">
            <a:avLst/>
          </a:prstGeom>
          <a:noFill/>
        </p:spPr>
        <p:txBody>
          <a:bodyPr wrap="square" lIns="0" tIns="0" rIns="0" bIns="0" rtlCol="0" anchor="t">
            <a:spAutoFit/>
          </a:bodyPr>
          <a:lstStyle/>
          <a:p>
            <a:pPr marL="0" marR="0" lvl="0" indent="0" algn="ctr" defTabSz="868680" rtl="0" eaLnBrk="1" fontAlgn="auto" latinLnBrk="0" hangingPunct="1">
              <a:lnSpc>
                <a:spcPct val="100000"/>
              </a:lnSpc>
              <a:spcBef>
                <a:spcPts val="1710"/>
              </a:spcBef>
              <a:spcAft>
                <a:spcPts val="0"/>
              </a:spcAft>
              <a:buClrTx/>
              <a:buSzTx/>
              <a:buFontTx/>
              <a:buNone/>
              <a:tabLst/>
              <a:defRPr/>
            </a:pPr>
            <a:r>
              <a:rPr kumimoji="0" lang="en-US" sz="1000" b="0" i="0" u="none" strike="noStrike" kern="1200" cap="none" spc="0" normalizeH="0" baseline="0" noProof="0" dirty="0">
                <a:ln>
                  <a:noFill/>
                </a:ln>
                <a:solidFill>
                  <a:srgbClr val="0078D4"/>
                </a:solidFill>
                <a:effectLst/>
                <a:uLnTx/>
                <a:uFillTx/>
                <a:latin typeface="Segoe Sans Text Semibold"/>
                <a:ea typeface="+mn-ea"/>
                <a:cs typeface="+mn-cs"/>
              </a:rPr>
              <a:t>Factory Concierge Service Assessment</a:t>
            </a:r>
          </a:p>
        </p:txBody>
      </p:sp>
      <p:sp>
        <p:nvSpPr>
          <p:cNvPr id="19" name="TextBox 18">
            <a:extLst>
              <a:ext uri="{FF2B5EF4-FFF2-40B4-BE49-F238E27FC236}">
                <a16:creationId xmlns:a16="http://schemas.microsoft.com/office/drawing/2014/main" id="{109BE17B-6CDE-A4D0-0D1C-64C14989D1AD}"/>
              </a:ext>
              <a:ext uri="{C183D7F6-B498-43B3-948B-1728B52AA6E4}">
                <adec:decorative xmlns:adec="http://schemas.microsoft.com/office/drawing/2017/decorative" val="0"/>
              </a:ext>
            </a:extLst>
          </p:cNvPr>
          <p:cNvSpPr txBox="1"/>
          <p:nvPr/>
        </p:nvSpPr>
        <p:spPr>
          <a:xfrm>
            <a:off x="661918" y="2599834"/>
            <a:ext cx="715692" cy="307777"/>
          </a:xfrm>
          <a:prstGeom prst="rect">
            <a:avLst/>
          </a:prstGeom>
          <a:noFill/>
        </p:spPr>
        <p:txBody>
          <a:bodyPr wrap="square" lIns="0" tIns="0" rIns="0" bIns="0" rtlCol="0" anchor="t">
            <a:spAutoFit/>
          </a:bodyPr>
          <a:lstStyle/>
          <a:p>
            <a:pPr marL="0" marR="0" lvl="0" indent="0" algn="ctr" defTabSz="868680" rtl="0" eaLnBrk="1" fontAlgn="auto" latinLnBrk="0" hangingPunct="1">
              <a:lnSpc>
                <a:spcPct val="100000"/>
              </a:lnSpc>
              <a:spcBef>
                <a:spcPts val="1710"/>
              </a:spcBef>
              <a:spcAft>
                <a:spcPts val="0"/>
              </a:spcAft>
              <a:buClrTx/>
              <a:buSzTx/>
              <a:buFontTx/>
              <a:buNone/>
              <a:tabLst/>
              <a:defRPr/>
            </a:pPr>
            <a:r>
              <a:rPr kumimoji="0" lang="en-US" sz="1000" b="0" i="0" u="none" strike="noStrike" kern="1200" cap="none" spc="0" normalizeH="0" baseline="0" noProof="0" dirty="0">
                <a:ln>
                  <a:noFill/>
                </a:ln>
                <a:solidFill>
                  <a:srgbClr val="0078D4"/>
                </a:solidFill>
                <a:effectLst/>
                <a:uLnTx/>
                <a:uFillTx/>
                <a:latin typeface="Segoe Sans Text Semibold"/>
                <a:ea typeface="+mn-ea"/>
                <a:cs typeface="+mn-cs"/>
              </a:rPr>
              <a:t>Use Case Review</a:t>
            </a:r>
          </a:p>
        </p:txBody>
      </p:sp>
      <p:sp>
        <p:nvSpPr>
          <p:cNvPr id="20" name="TextBox 19">
            <a:extLst>
              <a:ext uri="{FF2B5EF4-FFF2-40B4-BE49-F238E27FC236}">
                <a16:creationId xmlns:a16="http://schemas.microsoft.com/office/drawing/2014/main" id="{A7A87EBE-6E37-CE99-FEB2-BCC14BAECE74}"/>
              </a:ext>
              <a:ext uri="{C183D7F6-B498-43B3-948B-1728B52AA6E4}">
                <adec:decorative xmlns:adec="http://schemas.microsoft.com/office/drawing/2017/decorative" val="0"/>
              </a:ext>
            </a:extLst>
          </p:cNvPr>
          <p:cNvSpPr txBox="1"/>
          <p:nvPr/>
        </p:nvSpPr>
        <p:spPr>
          <a:xfrm>
            <a:off x="661918" y="3230109"/>
            <a:ext cx="715692" cy="615553"/>
          </a:xfrm>
          <a:prstGeom prst="rect">
            <a:avLst/>
          </a:prstGeom>
          <a:noFill/>
        </p:spPr>
        <p:txBody>
          <a:bodyPr wrap="square" lIns="0" tIns="0" rIns="0" bIns="0" rtlCol="0" anchor="t">
            <a:spAutoFit/>
          </a:bodyPr>
          <a:lstStyle/>
          <a:p>
            <a:pPr marL="0" marR="0" lvl="0" indent="0" algn="ctr" defTabSz="868680" rtl="0" eaLnBrk="1" fontAlgn="auto" latinLnBrk="0" hangingPunct="1">
              <a:lnSpc>
                <a:spcPct val="100000"/>
              </a:lnSpc>
              <a:spcBef>
                <a:spcPts val="1710"/>
              </a:spcBef>
              <a:spcAft>
                <a:spcPts val="0"/>
              </a:spcAft>
              <a:buClrTx/>
              <a:buSzTx/>
              <a:buFontTx/>
              <a:buNone/>
              <a:tabLst/>
              <a:defRPr/>
            </a:pPr>
            <a:r>
              <a:rPr kumimoji="0" lang="en-US" sz="1000" b="0" i="0" u="none" strike="noStrike" kern="1200" cap="none" spc="0" normalizeH="0" baseline="0" noProof="0" dirty="0">
                <a:ln>
                  <a:noFill/>
                </a:ln>
                <a:solidFill>
                  <a:srgbClr val="0078D4"/>
                </a:solidFill>
                <a:effectLst/>
                <a:uLnTx/>
                <a:uFillTx/>
                <a:latin typeface="Segoe Sans Text Semibold"/>
                <a:ea typeface="+mn-ea"/>
                <a:cs typeface="+mn-cs"/>
              </a:rPr>
              <a:t>Prioritize &amp; Select Business Use Case</a:t>
            </a:r>
          </a:p>
        </p:txBody>
      </p:sp>
      <p:sp>
        <p:nvSpPr>
          <p:cNvPr id="3" name="TextBox 2">
            <a:extLst>
              <a:ext uri="{FF2B5EF4-FFF2-40B4-BE49-F238E27FC236}">
                <a16:creationId xmlns:a16="http://schemas.microsoft.com/office/drawing/2014/main" id="{9DECB3B2-C88F-B4A8-C4AB-2848C22B4758}"/>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51150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C29FF-110B-2E6A-2E3E-F9A24B3FE3C2}"/>
            </a:ext>
          </a:extLst>
        </p:cNvPr>
        <p:cNvGrpSpPr/>
        <p:nvPr/>
      </p:nvGrpSpPr>
      <p:grpSpPr>
        <a:xfrm>
          <a:off x="0" y="0"/>
          <a:ext cx="0" cy="0"/>
          <a:chOff x="0" y="0"/>
          <a:chExt cx="0" cy="0"/>
        </a:xfrm>
      </p:grpSpPr>
      <p:sp>
        <p:nvSpPr>
          <p:cNvPr id="90" name="Rectangle: Rounded Corners 89">
            <a:extLst>
              <a:ext uri="{FF2B5EF4-FFF2-40B4-BE49-F238E27FC236}">
                <a16:creationId xmlns:a16="http://schemas.microsoft.com/office/drawing/2014/main" id="{422A9349-9456-15E0-DA62-EA668561AEE2}"/>
              </a:ext>
              <a:ext uri="{C183D7F6-B498-43B3-948B-1728B52AA6E4}">
                <adec:decorative xmlns:adec="http://schemas.microsoft.com/office/drawing/2017/decorative" val="1"/>
              </a:ext>
            </a:extLst>
          </p:cNvPr>
          <p:cNvSpPr>
            <a:spLocks/>
          </p:cNvSpPr>
          <p:nvPr/>
        </p:nvSpPr>
        <p:spPr bwMode="auto">
          <a:xfrm>
            <a:off x="584202" y="1352551"/>
            <a:ext cx="3393177" cy="5203189"/>
          </a:xfrm>
          <a:prstGeom prst="roundRect">
            <a:avLst>
              <a:gd name="adj" fmla="val 3117"/>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91" name="Rectangle: Rounded Corners 90">
            <a:extLst>
              <a:ext uri="{FF2B5EF4-FFF2-40B4-BE49-F238E27FC236}">
                <a16:creationId xmlns:a16="http://schemas.microsoft.com/office/drawing/2014/main" id="{62163BE0-0F6A-DDA7-594E-DEC008124E29}"/>
              </a:ext>
              <a:ext uri="{C183D7F6-B498-43B3-948B-1728B52AA6E4}">
                <adec:decorative xmlns:adec="http://schemas.microsoft.com/office/drawing/2017/decorative" val="1"/>
              </a:ext>
            </a:extLst>
          </p:cNvPr>
          <p:cNvSpPr>
            <a:spLocks/>
          </p:cNvSpPr>
          <p:nvPr/>
        </p:nvSpPr>
        <p:spPr bwMode="auto">
          <a:xfrm>
            <a:off x="4075962" y="1352551"/>
            <a:ext cx="3393177" cy="5203189"/>
          </a:xfrm>
          <a:prstGeom prst="roundRect">
            <a:avLst>
              <a:gd name="adj" fmla="val 3117"/>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92" name="Rectangle: Rounded Corners 91">
            <a:extLst>
              <a:ext uri="{FF2B5EF4-FFF2-40B4-BE49-F238E27FC236}">
                <a16:creationId xmlns:a16="http://schemas.microsoft.com/office/drawing/2014/main" id="{7BB66168-D22E-4FFF-5EB0-E84C3D59383F}"/>
              </a:ext>
              <a:ext uri="{C183D7F6-B498-43B3-948B-1728B52AA6E4}">
                <adec:decorative xmlns:adec="http://schemas.microsoft.com/office/drawing/2017/decorative" val="1"/>
              </a:ext>
            </a:extLst>
          </p:cNvPr>
          <p:cNvSpPr>
            <a:spLocks/>
          </p:cNvSpPr>
          <p:nvPr/>
        </p:nvSpPr>
        <p:spPr bwMode="auto">
          <a:xfrm>
            <a:off x="7567723" y="1352551"/>
            <a:ext cx="4039760" cy="5203189"/>
          </a:xfrm>
          <a:prstGeom prst="roundRect">
            <a:avLst>
              <a:gd name="adj" fmla="val 3117"/>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3" name="Title 5">
            <a:extLst>
              <a:ext uri="{FF2B5EF4-FFF2-40B4-BE49-F238E27FC236}">
                <a16:creationId xmlns:a16="http://schemas.microsoft.com/office/drawing/2014/main" id="{1BF0781C-DB29-9650-F6E7-62841903DD29}"/>
              </a:ext>
            </a:extLst>
          </p:cNvPr>
          <p:cNvSpPr txBox="1">
            <a:spLocks noGrp="1"/>
          </p:cNvSpPr>
          <p:nvPr>
            <p:ph type="title" idx="4294967295"/>
          </p:nvPr>
        </p:nvSpPr>
        <p:spPr>
          <a:xfrm>
            <a:off x="584201" y="389469"/>
            <a:ext cx="7801041" cy="110799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In Scope Services for Agent Development*</a:t>
            </a:r>
          </a:p>
        </p:txBody>
      </p:sp>
      <p:sp>
        <p:nvSpPr>
          <p:cNvPr id="44" name="Rectangle: Rounded Corners 43">
            <a:extLst>
              <a:ext uri="{FF2B5EF4-FFF2-40B4-BE49-F238E27FC236}">
                <a16:creationId xmlns:a16="http://schemas.microsoft.com/office/drawing/2014/main" id="{ECB73F83-F5B2-384C-9F4B-10B963D7892D}"/>
              </a:ext>
              <a:ext uri="{C183D7F6-B498-43B3-948B-1728B52AA6E4}">
                <adec:decorative xmlns:adec="http://schemas.microsoft.com/office/drawing/2017/decorative" val="1"/>
              </a:ext>
            </a:extLst>
          </p:cNvPr>
          <p:cNvSpPr>
            <a:spLocks/>
          </p:cNvSpPr>
          <p:nvPr/>
        </p:nvSpPr>
        <p:spPr bwMode="auto">
          <a:xfrm>
            <a:off x="687967" y="1446213"/>
            <a:ext cx="3185648" cy="365760"/>
          </a:xfrm>
          <a:prstGeom prst="roundRect">
            <a:avLst>
              <a:gd name="adj" fmla="val 22526"/>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45" name="Rectangle: Rounded Corners 44">
            <a:extLst>
              <a:ext uri="{FF2B5EF4-FFF2-40B4-BE49-F238E27FC236}">
                <a16:creationId xmlns:a16="http://schemas.microsoft.com/office/drawing/2014/main" id="{55FEBA40-A9FD-6E5F-FFA1-9BBC838DF54C}"/>
              </a:ext>
              <a:ext uri="{C183D7F6-B498-43B3-948B-1728B52AA6E4}">
                <adec:decorative xmlns:adec="http://schemas.microsoft.com/office/drawing/2017/decorative" val="1"/>
              </a:ext>
            </a:extLst>
          </p:cNvPr>
          <p:cNvSpPr>
            <a:spLocks/>
          </p:cNvSpPr>
          <p:nvPr/>
        </p:nvSpPr>
        <p:spPr bwMode="auto">
          <a:xfrm>
            <a:off x="4179727" y="1446213"/>
            <a:ext cx="3185648" cy="365760"/>
          </a:xfrm>
          <a:prstGeom prst="roundRect">
            <a:avLst>
              <a:gd name="adj" fmla="val 22526"/>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46" name="Rectangle: Rounded Corners 45">
            <a:extLst>
              <a:ext uri="{FF2B5EF4-FFF2-40B4-BE49-F238E27FC236}">
                <a16:creationId xmlns:a16="http://schemas.microsoft.com/office/drawing/2014/main" id="{AFB01C5C-D3EA-9692-DD00-2EE05B37AC3A}"/>
              </a:ext>
              <a:ext uri="{C183D7F6-B498-43B3-948B-1728B52AA6E4}">
                <adec:decorative xmlns:adec="http://schemas.microsoft.com/office/drawing/2017/decorative" val="1"/>
              </a:ext>
            </a:extLst>
          </p:cNvPr>
          <p:cNvSpPr>
            <a:spLocks/>
          </p:cNvSpPr>
          <p:nvPr/>
        </p:nvSpPr>
        <p:spPr bwMode="auto">
          <a:xfrm>
            <a:off x="7690773" y="1446213"/>
            <a:ext cx="3793662" cy="365760"/>
          </a:xfrm>
          <a:prstGeom prst="roundRect">
            <a:avLst>
              <a:gd name="adj" fmla="val 22526"/>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graphicFrame>
        <p:nvGraphicFramePr>
          <p:cNvPr id="24" name="Table 23">
            <a:extLst>
              <a:ext uri="{FF2B5EF4-FFF2-40B4-BE49-F238E27FC236}">
                <a16:creationId xmlns:a16="http://schemas.microsoft.com/office/drawing/2014/main" id="{3DA49BDB-14B9-383F-461C-3D0918A1B78A}"/>
              </a:ext>
            </a:extLst>
          </p:cNvPr>
          <p:cNvGraphicFramePr>
            <a:graphicFrameLocks noGrp="1"/>
          </p:cNvGraphicFramePr>
          <p:nvPr>
            <p:extLst>
              <p:ext uri="{D42A27DB-BD31-4B8C-83A1-F6EECF244321}">
                <p14:modId xmlns:p14="http://schemas.microsoft.com/office/powerpoint/2010/main" val="336936645"/>
              </p:ext>
            </p:extLst>
          </p:nvPr>
        </p:nvGraphicFramePr>
        <p:xfrm>
          <a:off x="707565" y="1446213"/>
          <a:ext cx="3182112" cy="4883782"/>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4190835532"/>
                    </a:ext>
                  </a:extLst>
                </a:gridCol>
              </a:tblGrid>
              <a:tr h="375055">
                <a:tc>
                  <a:txBody>
                    <a:bodyPr/>
                    <a:lstStyle/>
                    <a:p>
                      <a:pPr algn="l" fontAlgn="ctr">
                        <a:buNone/>
                      </a:pPr>
                      <a:r>
                        <a:rPr lang="en-US" sz="1400" b="0" u="none" strike="noStrike" noProof="0" dirty="0">
                          <a:effectLst/>
                          <a:latin typeface="+mj-lt"/>
                          <a:ea typeface="+mj-ea"/>
                          <a:cs typeface="+mj-cs"/>
                        </a:rPr>
                        <a:t>Microsoft Foundry</a:t>
                      </a:r>
                      <a:endParaRPr lang="en-US" sz="1400" b="0" i="0" u="none" strike="noStrike" noProof="0" dirty="0">
                        <a:solidFill>
                          <a:srgbClr val="000000"/>
                        </a:solidFill>
                        <a:effectLst/>
                        <a:latin typeface="+mj-lt"/>
                        <a:ea typeface="+mj-ea"/>
                        <a:cs typeface="+mj-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4038025"/>
                  </a:ext>
                </a:extLst>
              </a:tr>
              <a:tr h="243786">
                <a:tc>
                  <a:txBody>
                    <a:bodyPr/>
                    <a:lstStyle/>
                    <a:p>
                      <a:pPr algn="l" fontAlgn="b">
                        <a:buNone/>
                      </a:pPr>
                      <a:endParaRPr lang="en-US" sz="1200" u="none" strike="noStrike" noProof="0" dirty="0">
                        <a:effectLst/>
                        <a:latin typeface="+mn-lt"/>
                        <a:ea typeface="+mn-ea"/>
                        <a:cs typeface="+mn-cs"/>
                      </a:endParaRPr>
                    </a:p>
                    <a:p>
                      <a:pPr algn="l" fontAlgn="b">
                        <a:buNone/>
                      </a:pPr>
                      <a:r>
                        <a:rPr lang="en-US" sz="1200" u="none" strike="noStrike" noProof="0" dirty="0">
                          <a:effectLst/>
                          <a:latin typeface="+mn-lt"/>
                          <a:ea typeface="+mn-ea"/>
                          <a:cs typeface="+mn-cs"/>
                        </a:rPr>
                        <a:t>Azure Agent Unit</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2229624"/>
                  </a:ext>
                </a:extLst>
              </a:tr>
              <a:tr h="243786">
                <a:tc>
                  <a:txBody>
                    <a:bodyPr/>
                    <a:lstStyle/>
                    <a:p>
                      <a:pPr algn="l" fontAlgn="b">
                        <a:buNone/>
                      </a:pPr>
                      <a:r>
                        <a:rPr lang="en-US" sz="1200" u="none" strike="noStrike" noProof="0" dirty="0">
                          <a:effectLst/>
                          <a:latin typeface="+mn-lt"/>
                          <a:ea typeface="+mn-ea"/>
                          <a:cs typeface="+mn-cs"/>
                        </a:rPr>
                        <a:t>Azure AI Content Safety</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792376"/>
                  </a:ext>
                </a:extLst>
              </a:tr>
              <a:tr h="243786">
                <a:tc>
                  <a:txBody>
                    <a:bodyPr/>
                    <a:lstStyle/>
                    <a:p>
                      <a:pPr algn="l" fontAlgn="b">
                        <a:buNone/>
                      </a:pPr>
                      <a:r>
                        <a:rPr lang="en-US" sz="1200" u="none" strike="noStrike" noProof="0" dirty="0">
                          <a:effectLst/>
                          <a:latin typeface="+mn-lt"/>
                          <a:ea typeface="+mn-ea"/>
                          <a:cs typeface="+mn-cs"/>
                        </a:rPr>
                        <a:t>Azure AI Content Understanding</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1680461"/>
                  </a:ext>
                </a:extLst>
              </a:tr>
              <a:tr h="243786">
                <a:tc>
                  <a:txBody>
                    <a:bodyPr/>
                    <a:lstStyle/>
                    <a:p>
                      <a:pPr algn="l" fontAlgn="b">
                        <a:buNone/>
                      </a:pPr>
                      <a:r>
                        <a:rPr lang="en-US" sz="1200" u="none" strike="noStrike" noProof="0" dirty="0">
                          <a:effectLst/>
                          <a:latin typeface="+mn-lt"/>
                          <a:ea typeface="+mn-ea"/>
                          <a:cs typeface="+mn-cs"/>
                        </a:rPr>
                        <a:t>Azure AI Document Intelligence</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6951173"/>
                  </a:ext>
                </a:extLst>
              </a:tr>
              <a:tr h="431313">
                <a:tc>
                  <a:txBody>
                    <a:bodyPr/>
                    <a:lstStyle/>
                    <a:p>
                      <a:pPr algn="l" fontAlgn="b">
                        <a:buNone/>
                      </a:pPr>
                      <a:r>
                        <a:rPr lang="en-US" sz="1200" u="none" strike="noStrike" noProof="0" dirty="0">
                          <a:effectLst/>
                          <a:latin typeface="+mn-lt"/>
                          <a:ea typeface="+mn-ea"/>
                          <a:cs typeface="+mn-cs"/>
                        </a:rPr>
                        <a:t>Azure AI Document Intelligence – disconnected</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0869314"/>
                  </a:ext>
                </a:extLst>
              </a:tr>
              <a:tr h="243786">
                <a:tc>
                  <a:txBody>
                    <a:bodyPr/>
                    <a:lstStyle/>
                    <a:p>
                      <a:pPr algn="l" fontAlgn="b">
                        <a:buNone/>
                      </a:pPr>
                      <a:r>
                        <a:rPr lang="en-US" sz="1200" u="none" strike="noStrike" noProof="0" dirty="0">
                          <a:effectLst/>
                          <a:latin typeface="+mn-lt"/>
                          <a:ea typeface="+mn-ea"/>
                          <a:cs typeface="+mn-cs"/>
                        </a:rPr>
                        <a:t>Azure AI Search</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1421650"/>
                  </a:ext>
                </a:extLst>
              </a:tr>
              <a:tr h="243786">
                <a:tc>
                  <a:txBody>
                    <a:bodyPr/>
                    <a:lstStyle/>
                    <a:p>
                      <a:pPr algn="l" fontAlgn="b">
                        <a:buNone/>
                      </a:pPr>
                      <a:r>
                        <a:rPr lang="en-US" sz="1200" u="none" strike="noStrike" noProof="0" dirty="0">
                          <a:effectLst/>
                          <a:latin typeface="+mn-lt"/>
                          <a:ea typeface="+mn-ea"/>
                          <a:cs typeface="+mn-cs"/>
                        </a:rPr>
                        <a:t>Azure AI Translator</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0289061"/>
                  </a:ext>
                </a:extLst>
              </a:tr>
              <a:tr h="243786">
                <a:tc>
                  <a:txBody>
                    <a:bodyPr/>
                    <a:lstStyle/>
                    <a:p>
                      <a:pPr algn="l" fontAlgn="b">
                        <a:buNone/>
                      </a:pPr>
                      <a:r>
                        <a:rPr lang="en-US" sz="1200" u="none" strike="noStrike" noProof="0" dirty="0">
                          <a:effectLst/>
                          <a:latin typeface="+mn-lt"/>
                          <a:ea typeface="+mn-ea"/>
                          <a:cs typeface="+mn-cs"/>
                        </a:rPr>
                        <a:t>Azure Metrics Advisor</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823100"/>
                  </a:ext>
                </a:extLst>
              </a:tr>
              <a:tr h="243786">
                <a:tc>
                  <a:txBody>
                    <a:bodyPr/>
                    <a:lstStyle/>
                    <a:p>
                      <a:pPr algn="l" fontAlgn="b">
                        <a:buNone/>
                      </a:pPr>
                      <a:r>
                        <a:rPr lang="en-US" sz="1200" u="none" strike="noStrike" noProof="0" dirty="0">
                          <a:effectLst/>
                          <a:latin typeface="+mn-lt"/>
                          <a:ea typeface="+mn-ea"/>
                          <a:cs typeface="+mn-cs"/>
                        </a:rPr>
                        <a:t>Azure OpenAI</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4720494"/>
                  </a:ext>
                </a:extLst>
              </a:tr>
              <a:tr h="243786">
                <a:tc>
                  <a:txBody>
                    <a:bodyPr/>
                    <a:lstStyle/>
                    <a:p>
                      <a:pPr algn="l" fontAlgn="b">
                        <a:buNone/>
                      </a:pPr>
                      <a:r>
                        <a:rPr lang="en-US" sz="1200" u="none" strike="noStrike" noProof="0" dirty="0">
                          <a:effectLst/>
                          <a:latin typeface="+mn-lt"/>
                          <a:ea typeface="+mn-ea"/>
                          <a:cs typeface="+mn-cs"/>
                        </a:rPr>
                        <a:t>Azure OpenAI GPT5</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8858410"/>
                  </a:ext>
                </a:extLst>
              </a:tr>
              <a:tr h="243786">
                <a:tc>
                  <a:txBody>
                    <a:bodyPr/>
                    <a:lstStyle/>
                    <a:p>
                      <a:pPr algn="l" fontAlgn="b">
                        <a:buNone/>
                      </a:pPr>
                      <a:r>
                        <a:rPr lang="en-US" sz="1200" u="none" strike="noStrike" noProof="0" dirty="0">
                          <a:effectLst/>
                          <a:latin typeface="+mn-lt"/>
                          <a:ea typeface="+mn-ea"/>
                          <a:cs typeface="+mn-cs"/>
                        </a:rPr>
                        <a:t>Azure OpenAI Media</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2026054"/>
                  </a:ext>
                </a:extLst>
              </a:tr>
              <a:tr h="243786">
                <a:tc>
                  <a:txBody>
                    <a:bodyPr/>
                    <a:lstStyle/>
                    <a:p>
                      <a:pPr algn="l" fontAlgn="b">
                        <a:buNone/>
                      </a:pPr>
                      <a:r>
                        <a:rPr lang="en-US" sz="1200" u="none" strike="noStrike" noProof="0" dirty="0">
                          <a:effectLst/>
                          <a:latin typeface="+mn-lt"/>
                          <a:ea typeface="+mn-ea"/>
                          <a:cs typeface="+mn-cs"/>
                        </a:rPr>
                        <a:t>Azure OpenAI OSS models</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1125775"/>
                  </a:ext>
                </a:extLst>
              </a:tr>
              <a:tr h="243786">
                <a:tc>
                  <a:txBody>
                    <a:bodyPr/>
                    <a:lstStyle/>
                    <a:p>
                      <a:pPr algn="l" fontAlgn="b">
                        <a:buNone/>
                      </a:pPr>
                      <a:r>
                        <a:rPr lang="en-US" sz="1200" u="none" strike="noStrike" noProof="0" dirty="0">
                          <a:effectLst/>
                          <a:latin typeface="+mn-lt"/>
                          <a:ea typeface="+mn-ea"/>
                          <a:cs typeface="+mn-cs"/>
                        </a:rPr>
                        <a:t>Azure OpenAI PP GPT4s</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5785099"/>
                  </a:ext>
                </a:extLst>
              </a:tr>
              <a:tr h="243786">
                <a:tc>
                  <a:txBody>
                    <a:bodyPr/>
                    <a:lstStyle/>
                    <a:p>
                      <a:pPr algn="l" fontAlgn="b">
                        <a:buNone/>
                      </a:pPr>
                      <a:r>
                        <a:rPr lang="en-US" sz="1200" u="none" strike="noStrike" noProof="0" dirty="0">
                          <a:effectLst/>
                          <a:latin typeface="+mn-lt"/>
                          <a:ea typeface="+mn-ea"/>
                          <a:cs typeface="+mn-cs"/>
                        </a:rPr>
                        <a:t>Azure OpenAI Reasoning</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7807465"/>
                  </a:ext>
                </a:extLst>
              </a:tr>
              <a:tr h="243786">
                <a:tc>
                  <a:txBody>
                    <a:bodyPr/>
                    <a:lstStyle/>
                    <a:p>
                      <a:pPr algn="l" fontAlgn="b">
                        <a:buNone/>
                      </a:pPr>
                      <a:r>
                        <a:rPr lang="en-US" sz="1200" u="none" strike="noStrike" noProof="0" dirty="0">
                          <a:effectLst/>
                          <a:latin typeface="+mn-lt"/>
                          <a:ea typeface="+mn-ea"/>
                          <a:cs typeface="+mn-cs"/>
                        </a:rPr>
                        <a:t>BFL Flux Models</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918471"/>
                  </a:ext>
                </a:extLst>
              </a:tr>
              <a:tr h="243786">
                <a:tc>
                  <a:txBody>
                    <a:bodyPr/>
                    <a:lstStyle/>
                    <a:p>
                      <a:pPr algn="l" fontAlgn="b">
                        <a:buNone/>
                      </a:pPr>
                      <a:r>
                        <a:rPr lang="en-US" sz="1200" u="none" strike="noStrike" noProof="0" dirty="0">
                          <a:effectLst/>
                          <a:latin typeface="+mn-lt"/>
                          <a:ea typeface="+mn-ea"/>
                          <a:cs typeface="+mn-cs"/>
                        </a:rPr>
                        <a:t>Computer Vision</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3950492"/>
                  </a:ext>
                </a:extLst>
              </a:tr>
              <a:tr h="243786">
                <a:tc>
                  <a:txBody>
                    <a:bodyPr/>
                    <a:lstStyle/>
                    <a:p>
                      <a:pPr algn="l" fontAlgn="b">
                        <a:buNone/>
                      </a:pPr>
                      <a:r>
                        <a:rPr lang="en-US" sz="1200" u="none" strike="noStrike" noProof="0" dirty="0">
                          <a:effectLst/>
                          <a:latin typeface="+mn-lt"/>
                          <a:ea typeface="+mn-ea"/>
                          <a:cs typeface="+mn-cs"/>
                        </a:rPr>
                        <a:t>Computer Vision – disconnected</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7969239"/>
                  </a:ext>
                </a:extLst>
              </a:tr>
            </a:tbl>
          </a:graphicData>
        </a:graphic>
      </p:graphicFrame>
      <p:graphicFrame>
        <p:nvGraphicFramePr>
          <p:cNvPr id="25" name="Table 24">
            <a:extLst>
              <a:ext uri="{FF2B5EF4-FFF2-40B4-BE49-F238E27FC236}">
                <a16:creationId xmlns:a16="http://schemas.microsoft.com/office/drawing/2014/main" id="{F13B601F-3521-BA26-0E44-45F7692DE51C}"/>
              </a:ext>
            </a:extLst>
          </p:cNvPr>
          <p:cNvGraphicFramePr>
            <a:graphicFrameLocks noGrp="1"/>
          </p:cNvGraphicFramePr>
          <p:nvPr>
            <p:extLst>
              <p:ext uri="{D42A27DB-BD31-4B8C-83A1-F6EECF244321}">
                <p14:modId xmlns:p14="http://schemas.microsoft.com/office/powerpoint/2010/main" val="2867731342"/>
              </p:ext>
            </p:extLst>
          </p:nvPr>
        </p:nvGraphicFramePr>
        <p:xfrm>
          <a:off x="4301319" y="1485767"/>
          <a:ext cx="3182112" cy="3779520"/>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406102260"/>
                    </a:ext>
                  </a:extLst>
                </a:gridCol>
              </a:tblGrid>
              <a:tr h="262468">
                <a:tc>
                  <a:txBody>
                    <a:bodyPr/>
                    <a:lstStyle/>
                    <a:p>
                      <a:pPr marL="0" algn="l" defTabSz="932742" rtl="0" eaLnBrk="1" fontAlgn="ctr" latinLnBrk="0" hangingPunct="1">
                        <a:buNone/>
                      </a:pPr>
                      <a:r>
                        <a:rPr lang="en-US" sz="1400" b="0" u="none" strike="noStrike" kern="1200" noProof="0" dirty="0">
                          <a:solidFill>
                            <a:schemeClr val="lt1"/>
                          </a:solidFill>
                          <a:effectLst/>
                          <a:latin typeface="+mj-lt"/>
                          <a:ea typeface="+mj-ea"/>
                          <a:cs typeface="+mj-cs"/>
                        </a:rPr>
                        <a:t>Microsoft Foundry</a:t>
                      </a: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9205425"/>
                  </a:ext>
                </a:extLst>
              </a:tr>
              <a:tr h="342413">
                <a:tc>
                  <a:txBody>
                    <a:bodyPr/>
                    <a:lstStyle/>
                    <a:p>
                      <a:pPr algn="l" fontAlgn="b">
                        <a:buNone/>
                      </a:pPr>
                      <a:endParaRPr lang="en-US" sz="1200" u="none" strike="noStrike" noProof="0" dirty="0">
                        <a:effectLst/>
                        <a:latin typeface="+mn-lt"/>
                        <a:ea typeface="+mn-ea"/>
                        <a:cs typeface="+mn-cs"/>
                      </a:endParaRPr>
                    </a:p>
                    <a:p>
                      <a:pPr algn="l" fontAlgn="b">
                        <a:buNone/>
                      </a:pPr>
                      <a:r>
                        <a:rPr lang="en-US" sz="1200" u="none" strike="noStrike" noProof="0" dirty="0">
                          <a:effectLst/>
                          <a:latin typeface="+mn-lt"/>
                          <a:ea typeface="+mn-ea"/>
                          <a:cs typeface="+mn-cs"/>
                        </a:rPr>
                        <a:t>DeepSeek model family</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7287678"/>
                  </a:ext>
                </a:extLst>
              </a:tr>
              <a:tr h="193538">
                <a:tc>
                  <a:txBody>
                    <a:bodyPr/>
                    <a:lstStyle/>
                    <a:p>
                      <a:pPr algn="l" fontAlgn="b">
                        <a:buNone/>
                      </a:pPr>
                      <a:r>
                        <a:rPr lang="en-US" sz="1200" u="none" strike="noStrike" noProof="0" dirty="0">
                          <a:effectLst/>
                          <a:latin typeface="+mn-lt"/>
                          <a:ea typeface="+mn-ea"/>
                          <a:cs typeface="+mn-cs"/>
                        </a:rPr>
                        <a:t>Face</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2223010"/>
                  </a:ext>
                </a:extLst>
              </a:tr>
              <a:tr h="193538">
                <a:tc>
                  <a:txBody>
                    <a:bodyPr/>
                    <a:lstStyle/>
                    <a:p>
                      <a:pPr algn="l" fontAlgn="b">
                        <a:buNone/>
                      </a:pPr>
                      <a:r>
                        <a:rPr lang="en-US" sz="1200" u="none" strike="noStrike" noProof="0" dirty="0">
                          <a:effectLst/>
                          <a:latin typeface="+mn-lt"/>
                          <a:ea typeface="+mn-ea"/>
                          <a:cs typeface="+mn-cs"/>
                        </a:rPr>
                        <a:t>Foundry Model Tools</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5713412"/>
                  </a:ext>
                </a:extLst>
              </a:tr>
              <a:tr h="193538">
                <a:tc>
                  <a:txBody>
                    <a:bodyPr/>
                    <a:lstStyle/>
                    <a:p>
                      <a:pPr algn="l" fontAlgn="b">
                        <a:buNone/>
                      </a:pPr>
                      <a:r>
                        <a:rPr lang="en-US" sz="1200" u="none" strike="noStrike" noProof="0" dirty="0">
                          <a:effectLst/>
                          <a:latin typeface="+mn-lt"/>
                          <a:ea typeface="+mn-ea"/>
                          <a:cs typeface="+mn-cs"/>
                        </a:rPr>
                        <a:t>Foundry Observability</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3298804"/>
                  </a:ext>
                </a:extLst>
              </a:tr>
              <a:tr h="193538">
                <a:tc>
                  <a:txBody>
                    <a:bodyPr/>
                    <a:lstStyle/>
                    <a:p>
                      <a:pPr algn="l" fontAlgn="b">
                        <a:buNone/>
                      </a:pPr>
                      <a:r>
                        <a:rPr lang="en-US" sz="1200" u="none" strike="noStrike" noProof="0" dirty="0">
                          <a:effectLst/>
                          <a:latin typeface="+mn-lt"/>
                          <a:ea typeface="+mn-ea"/>
                          <a:cs typeface="+mn-cs"/>
                        </a:rPr>
                        <a:t>Grok model family</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9536689"/>
                  </a:ext>
                </a:extLst>
              </a:tr>
              <a:tr h="193538">
                <a:tc>
                  <a:txBody>
                    <a:bodyPr/>
                    <a:lstStyle/>
                    <a:p>
                      <a:pPr algn="l" fontAlgn="b">
                        <a:buNone/>
                      </a:pPr>
                      <a:r>
                        <a:rPr lang="en-US" sz="1200" u="none" strike="noStrike" noProof="0" dirty="0">
                          <a:effectLst/>
                          <a:latin typeface="+mn-lt"/>
                          <a:ea typeface="+mn-ea"/>
                          <a:cs typeface="+mn-cs"/>
                        </a:rPr>
                        <a:t>Language</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421229"/>
                  </a:ext>
                </a:extLst>
              </a:tr>
              <a:tr h="193538">
                <a:tc>
                  <a:txBody>
                    <a:bodyPr/>
                    <a:lstStyle/>
                    <a:p>
                      <a:pPr algn="l" fontAlgn="b">
                        <a:buNone/>
                      </a:pPr>
                      <a:r>
                        <a:rPr lang="en-US" sz="1200" u="none" strike="noStrike" noProof="0" dirty="0">
                          <a:effectLst/>
                          <a:latin typeface="+mn-lt"/>
                          <a:ea typeface="+mn-ea"/>
                          <a:cs typeface="+mn-cs"/>
                        </a:rPr>
                        <a:t>Language – disconnected</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8746699"/>
                  </a:ext>
                </a:extLst>
              </a:tr>
              <a:tr h="193538">
                <a:tc>
                  <a:txBody>
                    <a:bodyPr/>
                    <a:lstStyle/>
                    <a:p>
                      <a:pPr algn="l" fontAlgn="b">
                        <a:buNone/>
                      </a:pPr>
                      <a:r>
                        <a:rPr lang="en-US" sz="1200" u="none" strike="noStrike" noProof="0" dirty="0">
                          <a:effectLst/>
                          <a:latin typeface="+mn-lt"/>
                          <a:ea typeface="+mn-ea"/>
                          <a:cs typeface="+mn-cs"/>
                        </a:rPr>
                        <a:t>Llama models</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8987306"/>
                  </a:ext>
                </a:extLst>
              </a:tr>
              <a:tr h="193538">
                <a:tc>
                  <a:txBody>
                    <a:bodyPr/>
                    <a:lstStyle/>
                    <a:p>
                      <a:pPr algn="l" fontAlgn="b">
                        <a:buNone/>
                      </a:pPr>
                      <a:r>
                        <a:rPr lang="en-US" sz="1200" u="none" strike="noStrike" noProof="0" dirty="0">
                          <a:effectLst/>
                          <a:latin typeface="+mn-lt"/>
                          <a:ea typeface="+mn-ea"/>
                          <a:cs typeface="+mn-cs"/>
                        </a:rPr>
                        <a:t>Microsoft Discovery**</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4824130"/>
                  </a:ext>
                </a:extLst>
              </a:tr>
              <a:tr h="193538">
                <a:tc>
                  <a:txBody>
                    <a:bodyPr/>
                    <a:lstStyle/>
                    <a:p>
                      <a:pPr algn="l" fontAlgn="b">
                        <a:buNone/>
                      </a:pPr>
                      <a:r>
                        <a:rPr lang="en-US" sz="1200" u="none" strike="noStrike" noProof="0" dirty="0">
                          <a:effectLst/>
                          <a:latin typeface="+mn-lt"/>
                          <a:ea typeface="+mn-ea"/>
                          <a:cs typeface="+mn-cs"/>
                        </a:rPr>
                        <a:t>Mistral Models</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3615396"/>
                  </a:ext>
                </a:extLst>
              </a:tr>
              <a:tr h="193538">
                <a:tc>
                  <a:txBody>
                    <a:bodyPr/>
                    <a:lstStyle/>
                    <a:p>
                      <a:pPr algn="l" fontAlgn="b">
                        <a:buNone/>
                      </a:pPr>
                      <a:r>
                        <a:rPr lang="en-US" sz="1200" u="none" strike="noStrike" noProof="0" dirty="0">
                          <a:effectLst/>
                          <a:latin typeface="+mn-lt"/>
                          <a:ea typeface="+mn-ea"/>
                          <a:cs typeface="+mn-cs"/>
                        </a:rPr>
                        <a:t>Phi</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1113571"/>
                  </a:ext>
                </a:extLst>
              </a:tr>
              <a:tr h="193538">
                <a:tc>
                  <a:txBody>
                    <a:bodyPr/>
                    <a:lstStyle/>
                    <a:p>
                      <a:pPr algn="l" fontAlgn="b">
                        <a:buNone/>
                      </a:pPr>
                      <a:r>
                        <a:rPr lang="en-US" sz="1200" u="none" strike="noStrike" noProof="0" dirty="0">
                          <a:effectLst/>
                          <a:latin typeface="+mn-lt"/>
                          <a:ea typeface="+mn-ea"/>
                          <a:cs typeface="+mn-cs"/>
                        </a:rPr>
                        <a:t>Speech</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327042"/>
                  </a:ext>
                </a:extLst>
              </a:tr>
              <a:tr h="193538">
                <a:tc>
                  <a:txBody>
                    <a:bodyPr/>
                    <a:lstStyle/>
                    <a:p>
                      <a:pPr algn="l" fontAlgn="b">
                        <a:buNone/>
                      </a:pPr>
                      <a:r>
                        <a:rPr lang="en-US" sz="1200" u="none" strike="noStrike" noProof="0" dirty="0">
                          <a:effectLst/>
                          <a:latin typeface="+mn-lt"/>
                          <a:ea typeface="+mn-ea"/>
                          <a:cs typeface="+mn-cs"/>
                        </a:rPr>
                        <a:t>Speech – disconnected</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4242480"/>
                  </a:ext>
                </a:extLst>
              </a:tr>
              <a:tr h="193538">
                <a:tc>
                  <a:txBody>
                    <a:bodyPr/>
                    <a:lstStyle/>
                    <a:p>
                      <a:pPr algn="l" fontAlgn="b">
                        <a:buNone/>
                      </a:pPr>
                      <a:r>
                        <a:rPr lang="en-US" sz="1200" u="none" strike="noStrike" noProof="0" dirty="0">
                          <a:effectLst/>
                          <a:latin typeface="+mn-lt"/>
                          <a:ea typeface="+mn-ea"/>
                          <a:cs typeface="+mn-cs"/>
                        </a:rPr>
                        <a:t>Translator Speech</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543720"/>
                  </a:ext>
                </a:extLst>
              </a:tr>
            </a:tbl>
          </a:graphicData>
        </a:graphic>
      </p:graphicFrame>
      <p:graphicFrame>
        <p:nvGraphicFramePr>
          <p:cNvPr id="26" name="Table 25">
            <a:extLst>
              <a:ext uri="{FF2B5EF4-FFF2-40B4-BE49-F238E27FC236}">
                <a16:creationId xmlns:a16="http://schemas.microsoft.com/office/drawing/2014/main" id="{5C1C3315-B198-9F4A-76BA-C322783712A5}"/>
              </a:ext>
            </a:extLst>
          </p:cNvPr>
          <p:cNvGraphicFramePr>
            <a:graphicFrameLocks noGrp="1"/>
          </p:cNvGraphicFramePr>
          <p:nvPr>
            <p:extLst>
              <p:ext uri="{D42A27DB-BD31-4B8C-83A1-F6EECF244321}">
                <p14:modId xmlns:p14="http://schemas.microsoft.com/office/powerpoint/2010/main" val="3748962450"/>
              </p:ext>
            </p:extLst>
          </p:nvPr>
        </p:nvGraphicFramePr>
        <p:xfrm>
          <a:off x="7690773" y="1446213"/>
          <a:ext cx="3784600" cy="1261872"/>
        </p:xfrm>
        <a:graphic>
          <a:graphicData uri="http://schemas.openxmlformats.org/drawingml/2006/table">
            <a:tbl>
              <a:tblPr firstRow="1" bandRow="1">
                <a:tableStyleId>{5C22544A-7EE6-4342-B048-85BDC9FD1C3A}</a:tableStyleId>
              </a:tblPr>
              <a:tblGrid>
                <a:gridCol w="3784600">
                  <a:extLst>
                    <a:ext uri="{9D8B030D-6E8A-4147-A177-3AD203B41FA5}">
                      <a16:colId xmlns:a16="http://schemas.microsoft.com/office/drawing/2014/main" val="4111394276"/>
                    </a:ext>
                  </a:extLst>
                </a:gridCol>
              </a:tblGrid>
              <a:tr h="365760">
                <a:tc>
                  <a:txBody>
                    <a:bodyPr/>
                    <a:lstStyle/>
                    <a:p>
                      <a:pPr marL="0" algn="l" defTabSz="932742" rtl="0" eaLnBrk="1" fontAlgn="ctr" latinLnBrk="0" hangingPunct="1">
                        <a:buNone/>
                      </a:pPr>
                      <a:r>
                        <a:rPr lang="en-US" sz="1400" b="0" u="none" strike="noStrike" kern="1200" noProof="0" dirty="0">
                          <a:solidFill>
                            <a:schemeClr val="lt1"/>
                          </a:solidFill>
                          <a:effectLst/>
                          <a:latin typeface="+mj-lt"/>
                          <a:ea typeface="+mj-ea"/>
                          <a:cs typeface="+mj-cs"/>
                        </a:rPr>
                        <a:t>Copilot Credits*** enabled agentic services</a:t>
                      </a: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929021"/>
                  </a:ext>
                </a:extLst>
              </a:tr>
              <a:tr h="0">
                <a:tc>
                  <a:txBody>
                    <a:bodyPr/>
                    <a:lstStyle/>
                    <a:p>
                      <a:pPr algn="l" fontAlgn="b">
                        <a:buNone/>
                      </a:pPr>
                      <a:endParaRPr lang="en-US" sz="1200" u="none" strike="noStrike" noProof="0" dirty="0">
                        <a:effectLst/>
                        <a:latin typeface="+mn-lt"/>
                        <a:ea typeface="+mn-ea"/>
                        <a:cs typeface="+mn-cs"/>
                      </a:endParaRPr>
                    </a:p>
                    <a:p>
                      <a:pPr algn="l" fontAlgn="b">
                        <a:buNone/>
                      </a:pPr>
                      <a:r>
                        <a:rPr lang="en-US" sz="1200" u="none" strike="noStrike" noProof="0" dirty="0">
                          <a:effectLst/>
                          <a:latin typeface="+mn-lt"/>
                          <a:ea typeface="+mn-ea"/>
                          <a:cs typeface="+mn-cs"/>
                        </a:rPr>
                        <a:t>Microsoft 365 Copilot Chat</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5315"/>
                  </a:ext>
                </a:extLst>
              </a:tr>
              <a:tr h="0">
                <a:tc>
                  <a:txBody>
                    <a:bodyPr/>
                    <a:lstStyle/>
                    <a:p>
                      <a:pPr algn="l" fontAlgn="b">
                        <a:buNone/>
                      </a:pPr>
                      <a:r>
                        <a:rPr lang="en-US" sz="1200" u="none" strike="noStrike" noProof="0" dirty="0">
                          <a:effectLst/>
                          <a:latin typeface="+mn-lt"/>
                          <a:ea typeface="+mn-ea"/>
                          <a:cs typeface="+mn-cs"/>
                        </a:rPr>
                        <a:t>Dynamics 365 first-party agents</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4951947"/>
                  </a:ext>
                </a:extLst>
              </a:tr>
              <a:tr h="0">
                <a:tc>
                  <a:txBody>
                    <a:bodyPr/>
                    <a:lstStyle/>
                    <a:p>
                      <a:pPr algn="l" fontAlgn="b">
                        <a:buNone/>
                      </a:pPr>
                      <a:r>
                        <a:rPr lang="en-US" sz="1200" u="none" strike="noStrike" noProof="0" dirty="0">
                          <a:effectLst/>
                          <a:latin typeface="+mn-lt"/>
                          <a:ea typeface="+mn-ea"/>
                          <a:cs typeface="+mn-cs"/>
                        </a:rPr>
                        <a:t>Microsoft Copilot Studio</a:t>
                      </a:r>
                      <a:endParaRPr lang="en-US" sz="1200" b="0" i="0" u="none" strike="noStrike" noProof="0" dirty="0">
                        <a:solidFill>
                          <a:srgbClr val="000000"/>
                        </a:solidFill>
                        <a:effectLst/>
                        <a:latin typeface="+mn-lt"/>
                        <a:ea typeface="+mn-ea"/>
                        <a:cs typeface="+mn-cs"/>
                      </a:endParaRPr>
                    </a:p>
                  </a:txBody>
                  <a:tcPr marT="27432" marB="2743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9269263"/>
                  </a:ext>
                </a:extLst>
              </a:tr>
            </a:tbl>
          </a:graphicData>
        </a:graphic>
      </p:graphicFrame>
      <p:sp>
        <p:nvSpPr>
          <p:cNvPr id="2" name="TextBox 1">
            <a:extLst>
              <a:ext uri="{FF2B5EF4-FFF2-40B4-BE49-F238E27FC236}">
                <a16:creationId xmlns:a16="http://schemas.microsoft.com/office/drawing/2014/main" id="{1853B9BD-3FD4-3ED8-D9EC-A9CC97CAFAA0}"/>
              </a:ext>
            </a:extLst>
          </p:cNvPr>
          <p:cNvSpPr txBox="1"/>
          <p:nvPr/>
        </p:nvSpPr>
        <p:spPr>
          <a:xfrm>
            <a:off x="586740" y="6567830"/>
            <a:ext cx="11018520" cy="123111"/>
          </a:xfrm>
          <a:prstGeom prst="rect">
            <a:avLst/>
          </a:prstGeom>
          <a:no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wrap="square" lIns="0" tIns="0" rIns="0" bIns="0" anchor="b">
            <a:spAutoFit/>
          </a:bodyPr>
          <a:lstStyle/>
          <a:p>
            <a:pPr marL="0" marR="0" lvl="0" indent="0" algn="l" defTabSz="932472" rtl="0" eaLnBrk="1" fontAlgn="base"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Sans Text"/>
                <a:ea typeface="+mn-ea"/>
                <a:cs typeface="+mn-cs"/>
              </a:rPr>
              <a:t>* List as of </a:t>
            </a:r>
            <a:r>
              <a:rPr lang="en-US" sz="800" noProof="0" dirty="0">
                <a:solidFill>
                  <a:srgbClr val="000000"/>
                </a:solidFill>
                <a:latin typeface="Segoe Sans Text"/>
              </a:rPr>
              <a:t>June 2026</a:t>
            </a:r>
            <a:r>
              <a:rPr kumimoji="0" lang="en-US" sz="800" b="0" i="0" u="none" strike="noStrike" kern="1200" cap="none" spc="0" normalizeH="0" baseline="0" noProof="0" dirty="0">
                <a:ln>
                  <a:noFill/>
                </a:ln>
                <a:solidFill>
                  <a:srgbClr val="000000"/>
                </a:solidFill>
                <a:effectLst/>
                <a:uLnTx/>
                <a:uFillTx/>
                <a:latin typeface="Segoe Sans Text"/>
                <a:ea typeface="+mn-ea"/>
                <a:cs typeface="+mn-cs"/>
              </a:rPr>
              <a:t>, subject to change | ** Currently in Private Preview | *** Microsoft reserves the right to update Copilot Credit eligible products.</a:t>
            </a:r>
          </a:p>
        </p:txBody>
      </p:sp>
      <p:sp>
        <p:nvSpPr>
          <p:cNvPr id="4" name="TextBox 3">
            <a:extLst>
              <a:ext uri="{FF2B5EF4-FFF2-40B4-BE49-F238E27FC236}">
                <a16:creationId xmlns:a16="http://schemas.microsoft.com/office/drawing/2014/main" id="{825FC324-C9BC-E63B-DCAA-47DA82AD5841}"/>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4434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8639-FD1A-EEC6-6711-5482C470986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558F166-3046-FB13-574D-D78B84E1A8A0}"/>
              </a:ext>
            </a:extLst>
          </p:cNvPr>
          <p:cNvSpPr txBox="1">
            <a:spLocks/>
          </p:cNvSpPr>
          <p:nvPr/>
        </p:nvSpPr>
        <p:spPr>
          <a:xfrm>
            <a:off x="585215" y="2485382"/>
            <a:ext cx="11110915" cy="1046440"/>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2"/>
                </a:solidFill>
                <a:effectLst/>
                <a:latin typeface="+mj-lt"/>
                <a:ea typeface="+mn-ea"/>
                <a:cs typeface="Segoe UI" pitchFamily="34" charset="0"/>
              </a:defRPr>
            </a:lvl1pPr>
          </a:lstStyle>
          <a:p>
            <a:r>
              <a:rPr lang="en-US" noProof="0" dirty="0"/>
              <a:t>Cloud Accelerate Factory</a:t>
            </a:r>
            <a:br>
              <a:rPr lang="en-US" noProof="0" dirty="0"/>
            </a:br>
            <a:r>
              <a:rPr lang="en-US" sz="2800" noProof="0" dirty="0">
                <a:solidFill>
                  <a:schemeClr val="tx1"/>
                </a:solidFill>
              </a:rPr>
              <a:t>Ubiquitous Innovation | Amplify Your Intelligence</a:t>
            </a:r>
            <a:endParaRPr lang="en-US" sz="2800" noProof="0" dirty="0"/>
          </a:p>
        </p:txBody>
      </p:sp>
      <p:sp>
        <p:nvSpPr>
          <p:cNvPr id="10" name="TextBox 9">
            <a:extLst>
              <a:ext uri="{FF2B5EF4-FFF2-40B4-BE49-F238E27FC236}">
                <a16:creationId xmlns:a16="http://schemas.microsoft.com/office/drawing/2014/main" id="{B84EC6B1-9A49-A035-9F00-04B73EC6D507}"/>
              </a:ext>
            </a:extLst>
          </p:cNvPr>
          <p:cNvSpPr txBox="1"/>
          <p:nvPr/>
        </p:nvSpPr>
        <p:spPr>
          <a:xfrm>
            <a:off x="584200" y="3884579"/>
            <a:ext cx="4376906" cy="745673"/>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800" b="1" noProof="0" dirty="0"/>
              <a:t>Microsoft Foundry</a:t>
            </a:r>
          </a:p>
          <a:p>
            <a:r>
              <a:rPr lang="en-US" noProof="0" dirty="0"/>
              <a:t>(Gen AI uses cases e.g. Chat Bot, RAG GPT, Document Analysis etc..)</a:t>
            </a:r>
          </a:p>
        </p:txBody>
      </p:sp>
      <p:sp>
        <p:nvSpPr>
          <p:cNvPr id="9" name="TextBox 8">
            <a:extLst>
              <a:ext uri="{FF2B5EF4-FFF2-40B4-BE49-F238E27FC236}">
                <a16:creationId xmlns:a16="http://schemas.microsoft.com/office/drawing/2014/main" id="{576B4D49-828A-C587-BE4D-24BBE57DD182}"/>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3" name="Image 10" descr="Home (outlined)">
            <a:hlinkClick r:id="rId2" action="ppaction://hlinksldjump" tooltip="Home"/>
            <a:extLst>
              <a:ext uri="{FF2B5EF4-FFF2-40B4-BE49-F238E27FC236}">
                <a16:creationId xmlns:a16="http://schemas.microsoft.com/office/drawing/2014/main" id="{6E8D0863-B088-C7D7-1455-AB2767727116}"/>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308578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6" presetClass="emph" presetSubtype="0" fill="hold" grpId="1" nodeType="withEffect">
                                  <p:stCondLst>
                                    <p:cond delay="0"/>
                                  </p:stCondLst>
                                  <p:childTnLst>
                                    <p:animScale>
                                      <p:cBhvr>
                                        <p:cTn id="9" dur="100" fill="hold"/>
                                        <p:tgtEl>
                                          <p:spTgt spid="10"/>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0"/>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6" presetClass="emph" presetSubtype="0" fill="hold" grpId="1" nodeType="withEffect">
                                  <p:stCondLst>
                                    <p:cond delay="0"/>
                                  </p:stCondLst>
                                  <p:childTnLst>
                                    <p:animScale>
                                      <p:cBhvr>
                                        <p:cTn id="16" dur="100" fill="hold"/>
                                        <p:tgtEl>
                                          <p:spTgt spid="9"/>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9"/>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P spid="9" grpId="0" animBg="1"/>
      <p:bldP spid="9" grpId="1" animBg="1"/>
      <p:bldP spid="9" grpId="2"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A6B2C-655E-530C-23E2-8FE7EA0EDF37}"/>
            </a:ext>
          </a:extLst>
        </p:cNvPr>
        <p:cNvGrpSpPr/>
        <p:nvPr/>
      </p:nvGrpSpPr>
      <p:grpSpPr>
        <a:xfrm>
          <a:off x="0" y="0"/>
          <a:ext cx="0" cy="0"/>
          <a:chOff x="0" y="0"/>
          <a:chExt cx="0" cy="0"/>
        </a:xfrm>
      </p:grpSpPr>
      <p:sp>
        <p:nvSpPr>
          <p:cNvPr id="10" name="Rounded Rectangle 55">
            <a:extLst>
              <a:ext uri="{FF2B5EF4-FFF2-40B4-BE49-F238E27FC236}">
                <a16:creationId xmlns:a16="http://schemas.microsoft.com/office/drawing/2014/main" id="{7A1C4895-6853-2583-D94A-DF2CD3DFADFD}"/>
              </a:ext>
              <a:ext uri="{C183D7F6-B498-43B3-948B-1728B52AA6E4}">
                <adec:decorative xmlns:adec="http://schemas.microsoft.com/office/drawing/2017/decorative" val="1"/>
              </a:ext>
            </a:extLst>
          </p:cNvPr>
          <p:cNvSpPr/>
          <p:nvPr/>
        </p:nvSpPr>
        <p:spPr bwMode="auto">
          <a:xfrm>
            <a:off x="9154160" y="1328731"/>
            <a:ext cx="2448877" cy="499198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42DAD68C-60AE-493B-46E1-284E95BC8861}"/>
              </a:ext>
              <a:ext uri="{C183D7F6-B498-43B3-948B-1728B52AA6E4}">
                <adec:decorative xmlns:adec="http://schemas.microsoft.com/office/drawing/2017/decorative" val="1"/>
              </a:ext>
            </a:extLst>
          </p:cNvPr>
          <p:cNvSpPr/>
          <p:nvPr/>
        </p:nvSpPr>
        <p:spPr bwMode="auto">
          <a:xfrm>
            <a:off x="588961" y="1328731"/>
            <a:ext cx="8443279" cy="4991988"/>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4DBE87B3-DD25-7557-5750-59EF674CF1A9}"/>
              </a:ext>
            </a:extLst>
          </p:cNvPr>
          <p:cNvSpPr>
            <a:spLocks noGrp="1"/>
          </p:cNvSpPr>
          <p:nvPr>
            <p:ph type="title"/>
          </p:nvPr>
        </p:nvSpPr>
        <p:spPr>
          <a:xfrm>
            <a:off x="582929" y="603390"/>
            <a:ext cx="8364221" cy="707886"/>
          </a:xfrm>
        </p:spPr>
        <p:txBody>
          <a:bodyPr/>
          <a:lstStyle/>
          <a:p>
            <a:r>
              <a:rPr lang="en-US" sz="2800" noProof="0" dirty="0"/>
              <a:t>Gen AI Apps and Agents</a:t>
            </a:r>
            <a:br>
              <a:rPr lang="en-US" sz="2800" noProof="0" dirty="0"/>
            </a:br>
            <a:r>
              <a:rPr lang="en-US" sz="1800" spc="0" noProof="0" dirty="0">
                <a:ln>
                  <a:noFill/>
                </a:ln>
                <a:solidFill>
                  <a:srgbClr val="000000"/>
                </a:solidFill>
              </a:rPr>
              <a:t>Jumpstart Azure AI Adoption</a:t>
            </a:r>
            <a:endParaRPr lang="en-US" sz="1800" noProof="0" dirty="0"/>
          </a:p>
        </p:txBody>
      </p:sp>
      <p:sp>
        <p:nvSpPr>
          <p:cNvPr id="18" name="Content Placeholder 4">
            <a:extLst>
              <a:ext uri="{FF2B5EF4-FFF2-40B4-BE49-F238E27FC236}">
                <a16:creationId xmlns:a16="http://schemas.microsoft.com/office/drawing/2014/main" id="{30F3F47C-34A5-9E56-7015-B5F2434796C5}"/>
              </a:ext>
            </a:extLst>
          </p:cNvPr>
          <p:cNvSpPr txBox="1">
            <a:spLocks/>
          </p:cNvSpPr>
          <p:nvPr/>
        </p:nvSpPr>
        <p:spPr>
          <a:xfrm>
            <a:off x="9154160" y="1498855"/>
            <a:ext cx="2448877" cy="4413516"/>
          </a:xfrm>
          <a:prstGeom prst="rect">
            <a:avLst/>
          </a:prstGeom>
        </p:spPr>
        <p:txBody>
          <a:bodyPr vert="horz" wrap="square" lIns="91440" tIns="91440" rIns="91440" bIns="73152"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endParaRPr lang="en-US" sz="1200" noProof="0" dirty="0">
              <a:solidFill>
                <a:schemeClr val="dk1"/>
              </a:solidFill>
              <a:latin typeface="+mj-lt"/>
              <a:ea typeface="+mj-ea"/>
              <a:cs typeface="+mj-cs"/>
            </a:endParaRPr>
          </a:p>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have a clear understanding of the objective for the desired AI application and intent to deploy in production</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have an active Azure subscription with required permissions</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have the ability to maintain the application after Factory program concludes</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delegate required IAM roles to deploy Bicep infrastructure</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or account team must be able to provide support for IP allocation/Vnet integration (in the case of ZTA deployment)</a:t>
            </a:r>
          </a:p>
          <a:p>
            <a:pPr marL="203200" indent="-146050">
              <a:spcBef>
                <a:spcPts val="0"/>
              </a:spcBef>
              <a:spcAft>
                <a:spcPts val="600"/>
              </a:spcAft>
              <a:buSzPct val="100000"/>
              <a:buFont typeface="Arial" panose="020B0604020202020204" pitchFamily="34" charset="0"/>
              <a:buChar char="•"/>
              <a:defRPr/>
            </a:pPr>
            <a:r>
              <a:rPr lang="en-US" sz="1000" noProof="0" dirty="0">
                <a:ln w="3175">
                  <a:noFill/>
                </a:ln>
                <a:solidFill>
                  <a:prstClr val="black"/>
                </a:solidFill>
                <a:cs typeface="+mn-cs"/>
              </a:rPr>
              <a:t>Customer must install the required SDKs have necessary permissions for pip install—Azure CLI, Python 3.8 or higher</a:t>
            </a:r>
          </a:p>
        </p:txBody>
      </p:sp>
      <p:sp>
        <p:nvSpPr>
          <p:cNvPr id="20" name="TextBox 19">
            <a:extLst>
              <a:ext uri="{FF2B5EF4-FFF2-40B4-BE49-F238E27FC236}">
                <a16:creationId xmlns:a16="http://schemas.microsoft.com/office/drawing/2014/main" id="{FAC22172-9DEC-D93C-2391-3350C8579CFB}"/>
              </a:ext>
            </a:extLst>
          </p:cNvPr>
          <p:cNvSpPr txBox="1"/>
          <p:nvPr/>
        </p:nvSpPr>
        <p:spPr>
          <a:xfrm>
            <a:off x="674050" y="1406500"/>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F83F4F13-0E33-19C7-9E5F-D7EBA56D8CCF}"/>
              </a:ext>
            </a:extLst>
          </p:cNvPr>
          <p:cNvSpPr/>
          <p:nvPr/>
        </p:nvSpPr>
        <p:spPr>
          <a:xfrm>
            <a:off x="3834447" y="1455900"/>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83A5F22E-2880-3F26-A7E8-83E2A31B1880}"/>
              </a:ext>
            </a:extLst>
          </p:cNvPr>
          <p:cNvSpPr txBox="1"/>
          <p:nvPr/>
        </p:nvSpPr>
        <p:spPr>
          <a:xfrm>
            <a:off x="9241631" y="1406500"/>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E2BB6AC6-D625-72DE-D870-FBD32593EA58}"/>
              </a:ext>
            </a:extLst>
          </p:cNvPr>
          <p:cNvSpPr/>
          <p:nvPr/>
        </p:nvSpPr>
        <p:spPr>
          <a:xfrm>
            <a:off x="9852025" y="1462727"/>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graphicFrame>
        <p:nvGraphicFramePr>
          <p:cNvPr id="24" name="Table 23" title="Exchange Online Technet Guidance">
            <a:extLst>
              <a:ext uri="{FF2B5EF4-FFF2-40B4-BE49-F238E27FC236}">
                <a16:creationId xmlns:a16="http://schemas.microsoft.com/office/drawing/2014/main" id="{766CE284-6DDD-921A-3236-10D8E160B769}"/>
              </a:ext>
            </a:extLst>
          </p:cNvPr>
          <p:cNvGraphicFramePr>
            <a:graphicFrameLocks noGrp="1"/>
          </p:cNvGraphicFramePr>
          <p:nvPr>
            <p:extLst>
              <p:ext uri="{D42A27DB-BD31-4B8C-83A1-F6EECF244321}">
                <p14:modId xmlns:p14="http://schemas.microsoft.com/office/powerpoint/2010/main" val="2852479655"/>
              </p:ext>
            </p:extLst>
          </p:nvPr>
        </p:nvGraphicFramePr>
        <p:xfrm>
          <a:off x="582929" y="1617980"/>
          <a:ext cx="8443279" cy="4550230"/>
        </p:xfrm>
        <a:graphic>
          <a:graphicData uri="http://schemas.openxmlformats.org/drawingml/2006/table">
            <a:tbl>
              <a:tblPr firstRow="1" bandRow="1">
                <a:tableStyleId>{5C22544A-7EE6-4342-B048-85BDC9FD1C3A}</a:tableStyleId>
              </a:tblPr>
              <a:tblGrid>
                <a:gridCol w="276938">
                  <a:extLst>
                    <a:ext uri="{9D8B030D-6E8A-4147-A177-3AD203B41FA5}">
                      <a16:colId xmlns:a16="http://schemas.microsoft.com/office/drawing/2014/main" val="920430407"/>
                    </a:ext>
                  </a:extLst>
                </a:gridCol>
                <a:gridCol w="8166341">
                  <a:extLst>
                    <a:ext uri="{9D8B030D-6E8A-4147-A177-3AD203B41FA5}">
                      <a16:colId xmlns:a16="http://schemas.microsoft.com/office/drawing/2014/main" val="125040094"/>
                    </a:ext>
                  </a:extLst>
                </a:gridCol>
              </a:tblGrid>
              <a:tr h="406518">
                <a:tc gridSpan="2">
                  <a:txBody>
                    <a:bodyPr/>
                    <a:lstStyle/>
                    <a:p>
                      <a:pPr marL="0" marR="0" lvl="0" indent="0" algn="just" rtl="0" eaLnBrk="1" fontAlgn="auto" latinLnBrk="0" hangingPunct="1">
                        <a:lnSpc>
                          <a:spcPct val="100000"/>
                        </a:lnSpc>
                        <a:spcBef>
                          <a:spcPts val="0"/>
                        </a:spcBef>
                        <a:spcAft>
                          <a:spcPts val="0"/>
                        </a:spcAft>
                        <a:buClrTx/>
                        <a:buSzTx/>
                        <a:buFontTx/>
                        <a:buNone/>
                      </a:pPr>
                      <a:endParaRPr kumimoji="0" lang="en-US" sz="105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rtl="0" eaLnBrk="1" fontAlgn="auto" latinLnBrk="0" hangingPunct="1">
                        <a:lnSpc>
                          <a:spcPct val="100000"/>
                        </a:lnSpc>
                        <a:spcBef>
                          <a:spcPts val="0"/>
                        </a:spcBef>
                        <a:spcAft>
                          <a:spcPts val="0"/>
                        </a:spcAft>
                        <a:buClrTx/>
                        <a:buSzTx/>
                        <a:buFontTx/>
                        <a:buNone/>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lang="en-US" sz="1050" b="0" i="0" u="none" strike="noStrike" kern="1200" cap="none" spc="0" normalizeH="0" baseline="0" noProof="0" dirty="0">
                          <a:ln>
                            <a:noFill/>
                          </a:ln>
                          <a:solidFill>
                            <a:schemeClr val="tx1"/>
                          </a:solidFill>
                          <a:effectLst/>
                          <a:uLnTx/>
                          <a:uFillTx/>
                          <a:latin typeface="+mn-lt"/>
                          <a:ea typeface="+mn-ea"/>
                          <a:cs typeface="+mn-cs"/>
                        </a:rPr>
                        <a:t>AI-</a:t>
                      </a:r>
                      <a:r>
                        <a:rPr kumimoji="0" lang="en-US" sz="1050" b="0" i="0" u="none" strike="noStrike" kern="1200" cap="none" spc="0" normalizeH="0" baseline="0" noProof="0" dirty="0">
                          <a:ln>
                            <a:noFill/>
                          </a:ln>
                          <a:solidFill>
                            <a:schemeClr val="tx1"/>
                          </a:solidFill>
                          <a:effectLst/>
                          <a:uLnTx/>
                          <a:uFillTx/>
                          <a:latin typeface="+mn-lt"/>
                          <a:ea typeface="+mn-ea"/>
                          <a:cs typeface="+mn-cs"/>
                        </a:rPr>
                        <a:t>enabled application </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753560">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3256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mj-lt"/>
                          <a:ea typeface="+mn-ea"/>
                          <a:cs typeface="+mn-cs"/>
                        </a:rPr>
                        <a:t>Conduct and in-depth analysis </a:t>
                      </a:r>
                      <a:r>
                        <a:rPr kumimoji="0" lang="en-US" sz="1000" b="0" i="0" u="none" strike="noStrike" kern="1200" cap="none" spc="0" normalizeH="0" baseline="0" noProof="0" dirty="0">
                          <a:ln>
                            <a:noFill/>
                          </a:ln>
                          <a:solidFill>
                            <a:schemeClr val="tx1"/>
                          </a:solidFill>
                          <a:effectLst/>
                          <a:uLnTx/>
                          <a:uFillTx/>
                          <a:latin typeface="+mn-lt"/>
                          <a:ea typeface="+mn-ea"/>
                          <a:cs typeface="+mn-cs"/>
                        </a:rPr>
                        <a:t>to determine customer business need and architecture requirements. This will ensure the solution aligns with the optimal Azure LLM Direct Model use cases. Concluding this analysis, the Cloud Factory team will determine the most suitable approach for the GenAI solution, with current resources and future scalability in mind</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5581804"/>
                  </a:ext>
                </a:extLst>
              </a:tr>
              <a:tr h="1047928">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a:lnSpc>
                          <a:spcPct val="100000"/>
                        </a:lnSpc>
                        <a:spcBef>
                          <a:spcPts val="0"/>
                        </a:spcBef>
                        <a:spcAft>
                          <a:spcPts val="400"/>
                        </a:spcAft>
                        <a:buNone/>
                      </a:pPr>
                      <a:r>
                        <a:rPr lang="en-US" sz="1000" b="0" i="0" u="none" strike="noStrike" kern="1200" noProof="0" dirty="0">
                          <a:solidFill>
                            <a:schemeClr val="tx1"/>
                          </a:solidFill>
                          <a:latin typeface="+mj-lt"/>
                        </a:rPr>
                        <a:t>Deploy the solution </a:t>
                      </a:r>
                      <a:r>
                        <a:rPr lang="en-US" sz="1000" b="0" i="0" u="none" strike="noStrike" kern="1200" noProof="0" dirty="0">
                          <a:solidFill>
                            <a:schemeClr val="tx1"/>
                          </a:solidFill>
                          <a:latin typeface="+mn-lt"/>
                        </a:rPr>
                        <a:t>using pre-built reference architectures, leveraging Microsoft endorsed Infrastructure </a:t>
                      </a:r>
                      <a:br>
                        <a:rPr lang="en-US" sz="1000" b="0" i="0" u="none" strike="noStrike" kern="1200" noProof="0" dirty="0">
                          <a:solidFill>
                            <a:schemeClr val="tx1"/>
                          </a:solidFill>
                          <a:latin typeface="+mn-lt"/>
                        </a:rPr>
                      </a:br>
                      <a:r>
                        <a:rPr lang="en-US" sz="1000" b="0" i="0" u="none" strike="noStrike" kern="1200" noProof="0" dirty="0">
                          <a:solidFill>
                            <a:schemeClr val="tx1"/>
                          </a:solidFill>
                          <a:latin typeface="+mn-lt"/>
                        </a:rPr>
                        <a:t>as Code (IaC) templates</a:t>
                      </a:r>
                    </a:p>
                    <a:p>
                      <a:pPr marL="209550" marR="0" lvl="2" indent="-133350" algn="l">
                        <a:lnSpc>
                          <a:spcPct val="100000"/>
                        </a:lnSpc>
                        <a:spcBef>
                          <a:spcPts val="0"/>
                        </a:spcBef>
                        <a:spcAft>
                          <a:spcPts val="0"/>
                        </a:spcAft>
                        <a:buFont typeface="Arial" panose="020B0604020202020204" pitchFamily="34" charset="0"/>
                        <a:buChar char="•"/>
                      </a:pPr>
                      <a:r>
                        <a:rPr lang="en-US" sz="1000" b="0" i="0" u="none" strike="noStrike" kern="1200" noProof="0" dirty="0">
                          <a:solidFill>
                            <a:schemeClr val="tx1"/>
                          </a:solidFill>
                          <a:latin typeface="+mn-lt"/>
                        </a:rPr>
                        <a:t>These template will lay the foundation for accelerating the development of customer’s Generative AI use case, including AI search to create efficient data retrieval indexes from your documents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851683">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rtl="0" eaLnBrk="1" fontAlgn="auto" latinLnBrk="0" hangingPunct="1">
                        <a:lnSpc>
                          <a:spcPct val="100000"/>
                        </a:lnSpc>
                        <a:spcBef>
                          <a:spcPts val="0"/>
                        </a:spcBef>
                        <a:spcAft>
                          <a:spcPts val="400"/>
                        </a:spcAft>
                        <a:buClrTx/>
                        <a:buSzTx/>
                        <a:buFont typeface="Arial" panose="020B0604020202020204" pitchFamily="34" charset="0"/>
                        <a:buNone/>
                      </a:pPr>
                      <a:r>
                        <a:rPr lang="en-US" sz="1000" b="0" kern="1200" noProof="0" dirty="0">
                          <a:solidFill>
                            <a:schemeClr val="tx1"/>
                          </a:solidFill>
                          <a:latin typeface="+mj-lt"/>
                          <a:ea typeface="+mn-ea"/>
                          <a:cs typeface="+mn-cs"/>
                        </a:rPr>
                        <a:t>Develop, test, and deploy </a:t>
                      </a:r>
                      <a:r>
                        <a:rPr lang="en-US" sz="1000" kern="1200" noProof="0" dirty="0">
                          <a:solidFill>
                            <a:schemeClr val="tx1"/>
                          </a:solidFill>
                          <a:latin typeface="+mn-lt"/>
                          <a:ea typeface="+mn-ea"/>
                          <a:cs typeface="+mn-cs"/>
                        </a:rPr>
                        <a:t>a comprehensive, end-to-end customer-specific use case</a:t>
                      </a:r>
                    </a:p>
                    <a:p>
                      <a:pPr marL="209550" marR="0" lvl="2" indent="-1333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The use case will encompass capabilities such as AI-based search, document intelligence, personalized content, and prompt tuning, depending on the agreed scope</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370904">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32563"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noProof="0" dirty="0">
                          <a:solidFill>
                            <a:schemeClr val="tx1"/>
                          </a:solidFill>
                          <a:latin typeface="+mj-lt"/>
                          <a:ea typeface="+mn-ea"/>
                          <a:cs typeface="+mn-cs"/>
                        </a:rPr>
                        <a:t>Hand over to partner </a:t>
                      </a:r>
                      <a:r>
                        <a:rPr lang="en-US" sz="1000" kern="1200" noProof="0" dirty="0">
                          <a:solidFill>
                            <a:schemeClr val="tx1"/>
                          </a:solidFill>
                          <a:latin typeface="+mn-lt"/>
                          <a:ea typeface="+mn-ea"/>
                          <a:cs typeface="+mn-cs"/>
                        </a:rPr>
                        <a:t>for testing and post-development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3254040"/>
                  </a:ext>
                </a:extLst>
              </a:tr>
              <a:tr h="635836">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pitchFamily="2" charset="0"/>
                        </a:rPr>
                        <a:t>attending checkpoint meetings; and implementing user communications, documentation, training, and change management. </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3999" marR="63999" marT="63999" marB="63999">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0574908"/>
                  </a:ext>
                </a:extLst>
              </a:tr>
              <a:tr h="478839">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dirty="0">
                          <a:ln>
                            <a:noFill/>
                          </a:ln>
                          <a:solidFill>
                            <a:schemeClr val="tx1"/>
                          </a:solidFill>
                          <a:effectLst/>
                          <a:uLnTx/>
                          <a:uFillTx/>
                          <a:latin typeface="+mn-lt"/>
                          <a:ea typeface="+mn-ea"/>
                          <a:cs typeface="+mn-cs"/>
                        </a:rPr>
                        <a:t>Estimated duration for completing all activities in a typical engagement is within three weeks per use case, when all the requirements are met, and customer and partner are ready for execution</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3" name="TextBox 2">
            <a:extLst>
              <a:ext uri="{FF2B5EF4-FFF2-40B4-BE49-F238E27FC236}">
                <a16:creationId xmlns:a16="http://schemas.microsoft.com/office/drawing/2014/main" id="{8C3927A6-F506-6BEA-5A0D-F3336F3775C1}"/>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747097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01">
            <a:extLst>
              <a:ext uri="{FF2B5EF4-FFF2-40B4-BE49-F238E27FC236}">
                <a16:creationId xmlns:a16="http://schemas.microsoft.com/office/drawing/2014/main" id="{4B41F807-39D4-59D4-BA0A-71F802D81A2E}"/>
              </a:ext>
            </a:extLst>
          </p:cNvPr>
          <p:cNvSpPr>
            <a:spLocks noGrp="1"/>
          </p:cNvSpPr>
          <p:nvPr>
            <p:ph type="title"/>
          </p:nvPr>
        </p:nvSpPr>
        <p:spPr>
          <a:xfrm>
            <a:off x="588963" y="533865"/>
            <a:ext cx="7767959"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Gen AI Apps and Agents </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Jumpstart Azure AI </a:t>
            </a:r>
            <a:r>
              <a:rPr lang="en-US" sz="1800" spc="0" noProof="0" dirty="0">
                <a:ln>
                  <a:noFill/>
                </a:ln>
                <a:solidFill>
                  <a:srgbClr val="000000"/>
                </a:solidFill>
                <a:latin typeface="Segoe Sans Text Semibold"/>
                <a:cs typeface="+mn-cs"/>
              </a:rPr>
              <a:t>A</a:t>
            </a: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doption</a:t>
            </a:r>
            <a:endParaRPr lang="en-US" sz="2800" noProof="0" dirty="0"/>
          </a:p>
        </p:txBody>
      </p:sp>
      <p:sp>
        <p:nvSpPr>
          <p:cNvPr id="25" name="Rounded Rectangle 55">
            <a:extLst>
              <a:ext uri="{FF2B5EF4-FFF2-40B4-BE49-F238E27FC236}">
                <a16:creationId xmlns:a16="http://schemas.microsoft.com/office/drawing/2014/main" id="{E7A3BB8B-C6C1-8989-2973-41F063A9A304}"/>
              </a:ext>
              <a:ext uri="{C183D7F6-B498-43B3-948B-1728B52AA6E4}">
                <adec:decorative xmlns:adec="http://schemas.microsoft.com/office/drawing/2017/decorative" val="1"/>
              </a:ext>
            </a:extLst>
          </p:cNvPr>
          <p:cNvSpPr>
            <a:spLocks/>
          </p:cNvSpPr>
          <p:nvPr/>
        </p:nvSpPr>
        <p:spPr bwMode="auto">
          <a:xfrm>
            <a:off x="6152452" y="1272540"/>
            <a:ext cx="5453761" cy="5071110"/>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6" name="Rounded Rectangle 55">
            <a:extLst>
              <a:ext uri="{FF2B5EF4-FFF2-40B4-BE49-F238E27FC236}">
                <a16:creationId xmlns:a16="http://schemas.microsoft.com/office/drawing/2014/main" id="{3C8D9363-FE03-629C-A5C7-7488F4841C1C}"/>
              </a:ext>
              <a:ext uri="{C183D7F6-B498-43B3-948B-1728B52AA6E4}">
                <adec:decorative xmlns:adec="http://schemas.microsoft.com/office/drawing/2017/decorative" val="1"/>
              </a:ext>
            </a:extLst>
          </p:cNvPr>
          <p:cNvSpPr>
            <a:spLocks/>
          </p:cNvSpPr>
          <p:nvPr/>
        </p:nvSpPr>
        <p:spPr bwMode="auto">
          <a:xfrm>
            <a:off x="588963" y="1272540"/>
            <a:ext cx="5453761" cy="5071110"/>
          </a:xfrm>
          <a:prstGeom prst="roundRect">
            <a:avLst>
              <a:gd name="adj" fmla="val 27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9" name="Oval 28">
            <a:extLst>
              <a:ext uri="{FF2B5EF4-FFF2-40B4-BE49-F238E27FC236}">
                <a16:creationId xmlns:a16="http://schemas.microsoft.com/office/drawing/2014/main" id="{40A915F5-7D70-3F8B-78F6-CE70BC8D595E}"/>
              </a:ext>
            </a:extLst>
          </p:cNvPr>
          <p:cNvSpPr/>
          <p:nvPr/>
        </p:nvSpPr>
        <p:spPr bwMode="auto">
          <a:xfrm>
            <a:off x="6320111" y="199561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1" name="Oval 30">
            <a:extLst>
              <a:ext uri="{FF2B5EF4-FFF2-40B4-BE49-F238E27FC236}">
                <a16:creationId xmlns:a16="http://schemas.microsoft.com/office/drawing/2014/main" id="{D9F8E5E0-E307-0713-B476-FD65AECB2094}"/>
              </a:ext>
            </a:extLst>
          </p:cNvPr>
          <p:cNvSpPr/>
          <p:nvPr/>
        </p:nvSpPr>
        <p:spPr bwMode="auto">
          <a:xfrm>
            <a:off x="775653" y="186749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5" name="TextBox 34">
            <a:extLst>
              <a:ext uri="{FF2B5EF4-FFF2-40B4-BE49-F238E27FC236}">
                <a16:creationId xmlns:a16="http://schemas.microsoft.com/office/drawing/2014/main" id="{5931D27F-67E6-01C5-98A8-11C4FD78C4FC}"/>
              </a:ext>
            </a:extLst>
          </p:cNvPr>
          <p:cNvSpPr txBox="1"/>
          <p:nvPr/>
        </p:nvSpPr>
        <p:spPr>
          <a:xfrm>
            <a:off x="1044951" y="1867490"/>
            <a:ext cx="4906333" cy="346249"/>
          </a:xfrm>
          <a:prstGeom prst="rect">
            <a:avLst/>
          </a:prstGeom>
          <a:noFill/>
        </p:spPr>
        <p:txBody>
          <a:bodyPr wrap="square" lIns="0" tIns="0" rIns="0" bIns="0" anchor="t">
            <a:spAutoFit/>
          </a:bodyPr>
          <a:lstStyle/>
          <a:p>
            <a:pPr lvl="0">
              <a:defRPr/>
            </a:pPr>
            <a:r>
              <a:rPr lang="en-US" sz="1200" kern="0" noProof="0" dirty="0">
                <a:latin typeface="+mj-lt"/>
              </a:rPr>
              <a:t>Azure Direct Model (LLM) use cases: </a:t>
            </a:r>
            <a:r>
              <a:rPr lang="en-US" sz="1050" kern="0" noProof="0" dirty="0"/>
              <a:t>Conversational AI/search, virtual assistant, document intelligence, personalized content, image analysis</a:t>
            </a:r>
            <a:endParaRPr lang="en-US" sz="1100" kern="0" noProof="0" dirty="0"/>
          </a:p>
        </p:txBody>
      </p:sp>
      <p:sp>
        <p:nvSpPr>
          <p:cNvPr id="39" name="TextBox 38">
            <a:extLst>
              <a:ext uri="{FF2B5EF4-FFF2-40B4-BE49-F238E27FC236}">
                <a16:creationId xmlns:a16="http://schemas.microsoft.com/office/drawing/2014/main" id="{567F3212-AF4D-9F7F-9464-C6013814D57F}"/>
              </a:ext>
            </a:extLst>
          </p:cNvPr>
          <p:cNvSpPr txBox="1"/>
          <p:nvPr/>
        </p:nvSpPr>
        <p:spPr>
          <a:xfrm>
            <a:off x="1044951" y="2432568"/>
            <a:ext cx="4906333" cy="769441"/>
          </a:xfrm>
          <a:prstGeom prst="rect">
            <a:avLst/>
          </a:prstGeom>
          <a:noFill/>
        </p:spPr>
        <p:txBody>
          <a:bodyPr wrap="square" lIns="0" tIns="0" rIns="0" bIns="0" anchor="t">
            <a:spAutoFit/>
          </a:bodyPr>
          <a:lstStyle/>
          <a:p>
            <a:pPr lvl="0">
              <a:spcAft>
                <a:spcPts val="200"/>
              </a:spcAft>
              <a:defRPr/>
            </a:pPr>
            <a:r>
              <a:rPr lang="en-US" sz="1200" kern="0" noProof="0" dirty="0">
                <a:latin typeface="+mj-lt"/>
                <a:cs typeface="Segoe Sans Text" pitchFamily="2" charset="0"/>
              </a:rPr>
              <a:t>Supported workloads:</a:t>
            </a:r>
          </a:p>
          <a:p>
            <a:pPr marL="195263" lvl="1" indent="-123825">
              <a:spcAft>
                <a:spcPts val="400"/>
              </a:spcAft>
              <a:buFont typeface="Arial" panose="020B0604020202020204" pitchFamily="34" charset="0"/>
              <a:buChar char="•"/>
              <a:defRPr/>
            </a:pPr>
            <a:r>
              <a:rPr lang="en-US" sz="1100" kern="0" noProof="0" dirty="0">
                <a:cs typeface="Segoe Sans Text" pitchFamily="2" charset="0"/>
              </a:rPr>
              <a:t>Azure Direct Models (Azure OpenAI, Mistral, Grok, Cohere)</a:t>
            </a:r>
          </a:p>
          <a:p>
            <a:pPr marL="195263" lvl="1" indent="-123825">
              <a:spcAft>
                <a:spcPts val="400"/>
              </a:spcAft>
              <a:buFont typeface="Arial" panose="020B0604020202020204" pitchFamily="34" charset="0"/>
              <a:buChar char="•"/>
              <a:defRPr/>
            </a:pPr>
            <a:r>
              <a:rPr lang="en-US" sz="1100" kern="0" noProof="0" dirty="0">
                <a:cs typeface="Segoe Sans Text" pitchFamily="2" charset="0"/>
              </a:rPr>
              <a:t>Services attached to LLM use case: Azure AI Search and Azure AI Document Intelligence </a:t>
            </a:r>
            <a:endParaRPr lang="en-US" sz="2400" noProof="0" dirty="0"/>
          </a:p>
        </p:txBody>
      </p:sp>
      <p:sp>
        <p:nvSpPr>
          <p:cNvPr id="40" name="TextBox 39">
            <a:extLst>
              <a:ext uri="{FF2B5EF4-FFF2-40B4-BE49-F238E27FC236}">
                <a16:creationId xmlns:a16="http://schemas.microsoft.com/office/drawing/2014/main" id="{5296F7E0-F11F-E92D-699A-8BA907232C2A}"/>
              </a:ext>
            </a:extLst>
          </p:cNvPr>
          <p:cNvSpPr txBox="1"/>
          <p:nvPr/>
        </p:nvSpPr>
        <p:spPr>
          <a:xfrm>
            <a:off x="1044951" y="3303152"/>
            <a:ext cx="4906333" cy="1718419"/>
          </a:xfrm>
          <a:prstGeom prst="rect">
            <a:avLst/>
          </a:prstGeom>
          <a:noFill/>
        </p:spPr>
        <p:txBody>
          <a:bodyPr wrap="square" lIns="0" tIns="0" rIns="0" bIns="0" anchor="t">
            <a:spAutoFit/>
          </a:bodyPr>
          <a:lstStyle/>
          <a:p>
            <a:pPr lvl="0">
              <a:spcAft>
                <a:spcPts val="200"/>
              </a:spcAft>
              <a:defRPr/>
            </a:pPr>
            <a:r>
              <a:rPr lang="en-US" sz="1200" kern="0" noProof="0" dirty="0">
                <a:latin typeface="+mj-lt"/>
              </a:rPr>
              <a:t>AI technical patterns:</a:t>
            </a:r>
            <a:endParaRPr lang="en-US" sz="500" kern="0" noProof="0" dirty="0">
              <a:latin typeface="+mj-lt"/>
              <a:cs typeface="Segoe UI"/>
            </a:endParaRPr>
          </a:p>
          <a:p>
            <a:pPr marL="195263" lvl="0" indent="-123825">
              <a:spcAft>
                <a:spcPts val="400"/>
              </a:spcAft>
              <a:buFont typeface="Arial" panose="020B0604020202020204" pitchFamily="34" charset="0"/>
              <a:buChar char="•"/>
              <a:defRPr/>
            </a:pPr>
            <a:r>
              <a:rPr lang="en-US" sz="1100" kern="0" noProof="0" dirty="0">
                <a:latin typeface="+mj-lt"/>
              </a:rPr>
              <a:t>GenAI assistant: </a:t>
            </a:r>
            <a:r>
              <a:rPr lang="en-US" sz="1100" kern="0" noProof="0" dirty="0"/>
              <a:t>Deploy conversational AI based on RAG approach, GenAI based search, document intelligence, image analysis, prompt tuning.</a:t>
            </a:r>
          </a:p>
          <a:p>
            <a:pPr marL="195263" lvl="0" indent="-123825">
              <a:spcAft>
                <a:spcPts val="400"/>
              </a:spcAft>
              <a:buFont typeface="Arial" panose="020B0604020202020204" pitchFamily="34" charset="0"/>
              <a:buChar char="•"/>
              <a:defRPr/>
            </a:pPr>
            <a:r>
              <a:rPr lang="en-US" sz="1100" kern="0" noProof="0" dirty="0">
                <a:latin typeface="+mj-lt"/>
              </a:rPr>
              <a:t>Fine tuning: </a:t>
            </a:r>
            <a:r>
              <a:rPr lang="en-US" sz="1100" kern="0" noProof="0" dirty="0"/>
              <a:t>Leverage fine tuning API to tailor model responses based on a dataset of question/answer interactions.</a:t>
            </a:r>
          </a:p>
          <a:p>
            <a:pPr marL="195263" lvl="0" indent="-123825">
              <a:spcAft>
                <a:spcPts val="400"/>
              </a:spcAft>
              <a:buFont typeface="Arial" panose="020B0604020202020204" pitchFamily="34" charset="0"/>
              <a:buChar char="•"/>
              <a:defRPr/>
            </a:pPr>
            <a:r>
              <a:rPr lang="en-US" sz="1100" kern="0" noProof="0" dirty="0">
                <a:latin typeface="+mj-lt"/>
                <a:cs typeface="Segoe UI"/>
              </a:rPr>
              <a:t>AI document processing: </a:t>
            </a:r>
            <a:r>
              <a:rPr lang="en-US" sz="1100" kern="0" noProof="0" dirty="0">
                <a:cs typeface="Segoe UI"/>
              </a:rPr>
              <a:t>Apply OCR and LLMs to automate a document processing workflow. </a:t>
            </a:r>
          </a:p>
          <a:p>
            <a:pPr marL="195263" lvl="0" indent="-123825">
              <a:spcAft>
                <a:spcPts val="400"/>
              </a:spcAft>
              <a:buFont typeface="Arial" panose="020B0604020202020204" pitchFamily="34" charset="0"/>
              <a:buChar char="•"/>
              <a:defRPr/>
            </a:pPr>
            <a:r>
              <a:rPr lang="en-US" sz="1100" kern="0" noProof="0" dirty="0">
                <a:latin typeface="+mj-lt"/>
                <a:cs typeface="Segoe UI"/>
              </a:rPr>
              <a:t>AI landing zone: </a:t>
            </a:r>
            <a:r>
              <a:rPr lang="en-US" sz="1100" kern="0" noProof="0" dirty="0">
                <a:cs typeface="Segoe UI"/>
              </a:rPr>
              <a:t>Set up AI infrastructure hub to provide foundation for future AI projects.</a:t>
            </a:r>
          </a:p>
        </p:txBody>
      </p:sp>
      <p:sp>
        <p:nvSpPr>
          <p:cNvPr id="41" name="TextBox 40">
            <a:extLst>
              <a:ext uri="{FF2B5EF4-FFF2-40B4-BE49-F238E27FC236}">
                <a16:creationId xmlns:a16="http://schemas.microsoft.com/office/drawing/2014/main" id="{46F31FA7-D9F0-1DB9-C607-B15F69A9C1CC}"/>
              </a:ext>
            </a:extLst>
          </p:cNvPr>
          <p:cNvSpPr txBox="1"/>
          <p:nvPr/>
        </p:nvSpPr>
        <p:spPr>
          <a:xfrm>
            <a:off x="1044951" y="5802550"/>
            <a:ext cx="4914576" cy="353943"/>
          </a:xfrm>
          <a:prstGeom prst="rect">
            <a:avLst/>
          </a:prstGeom>
          <a:noFill/>
          <a:ln>
            <a:noFill/>
          </a:ln>
        </p:spPr>
        <p:txBody>
          <a:bodyPr rot="0" spcFirstLastPara="0" vertOverflow="overflow" horzOverflow="overflow" vert="horz" wrap="square" lIns="0" tIns="0" rIns="91440" bIns="0" numCol="1" spcCol="0" rtlCol="0" fromWordArt="0" anchor="t" anchorCtr="0" forceAA="0" compatLnSpc="1">
            <a:prstTxWarp prst="textNoShape">
              <a:avLst/>
            </a:prstTxWarp>
            <a:spAutoFit/>
          </a:bodyPr>
          <a:lstStyle/>
          <a:p>
            <a:pPr marL="0" marR="0" lvl="0" indent="0" algn="l" defTabSz="914400" rtl="0" eaLnBrk="1" fontAlgn="auto" latinLnBrk="0" hangingPunct="1">
              <a:spcBef>
                <a:spcPct val="0"/>
              </a:spcBef>
              <a:spcAft>
                <a:spcPts val="0"/>
              </a:spcAft>
              <a:buClrTx/>
              <a:buSzTx/>
              <a:buFontTx/>
              <a:buNone/>
              <a:tabLst/>
              <a:defRPr/>
            </a:pPr>
            <a:r>
              <a:rPr kumimoji="0" lang="en-US" sz="1200" i="0" u="none" strike="noStrike" kern="1200" cap="none" spc="0" normalizeH="0" baseline="0" noProof="0" dirty="0">
                <a:ln>
                  <a:noFill/>
                </a:ln>
                <a:effectLst/>
                <a:uLnTx/>
                <a:uFillTx/>
                <a:latin typeface="+mj-lt"/>
                <a:ea typeface="+mn-ea"/>
                <a:cs typeface="+mn-cs"/>
              </a:rPr>
              <a:t>Pre-requisite: </a:t>
            </a:r>
            <a:r>
              <a:rPr kumimoji="0" lang="en-US" sz="1100" b="0" i="0" u="none" strike="noStrike" kern="1200" cap="none" spc="0" normalizeH="0" baseline="0" noProof="0" dirty="0">
                <a:ln>
                  <a:noFill/>
                </a:ln>
                <a:effectLst/>
                <a:uLnTx/>
                <a:uFillTx/>
                <a:ea typeface="+mn-ea"/>
                <a:cs typeface="+mn-cs"/>
              </a:rPr>
              <a:t>Customer commitment to deploy, Access to environment, Unified or CWAA agreement in place</a:t>
            </a:r>
            <a:endParaRPr kumimoji="0" lang="en-US" sz="1050" b="0" i="0" u="none" strike="noStrike" kern="1200" cap="none" spc="0" normalizeH="0" baseline="0" noProof="0" dirty="0">
              <a:ln>
                <a:noFill/>
              </a:ln>
              <a:effectLst/>
              <a:uLnTx/>
              <a:uFillTx/>
              <a:ea typeface="+mn-ea"/>
              <a:cs typeface="+mn-cs"/>
            </a:endParaRPr>
          </a:p>
        </p:txBody>
      </p:sp>
      <p:sp>
        <p:nvSpPr>
          <p:cNvPr id="42" name="TextBox 41">
            <a:extLst>
              <a:ext uri="{FF2B5EF4-FFF2-40B4-BE49-F238E27FC236}">
                <a16:creationId xmlns:a16="http://schemas.microsoft.com/office/drawing/2014/main" id="{6E534BD9-0F97-1C52-D9A6-FCBAABDA24F6}"/>
              </a:ext>
            </a:extLst>
          </p:cNvPr>
          <p:cNvSpPr txBox="1"/>
          <p:nvPr/>
        </p:nvSpPr>
        <p:spPr>
          <a:xfrm>
            <a:off x="6608440" y="1991023"/>
            <a:ext cx="4906333" cy="169277"/>
          </a:xfrm>
          <a:prstGeom prst="rect">
            <a:avLst/>
          </a:prstGeom>
          <a:noFill/>
        </p:spPr>
        <p:txBody>
          <a:bodyPr wrap="square" lIns="0" tIns="0" rIns="0" bIns="0">
            <a:spAutoFit/>
          </a:bodyPr>
          <a:lstStyle/>
          <a:p>
            <a:pPr lvl="0">
              <a:defRPr/>
            </a:pPr>
            <a:r>
              <a:rPr lang="en-US" sz="1100" kern="0" noProof="0" dirty="0">
                <a:cs typeface="Segoe Sans Text"/>
              </a:rPr>
              <a:t>Presales evaluations, consultative engagements, uncommitted milestones</a:t>
            </a:r>
            <a:endParaRPr lang="en-US" sz="2400" noProof="0" dirty="0">
              <a:cs typeface="Segoe Sans Text"/>
            </a:endParaRPr>
          </a:p>
        </p:txBody>
      </p:sp>
      <p:cxnSp>
        <p:nvCxnSpPr>
          <p:cNvPr id="43" name="Straight Connector 42">
            <a:extLst>
              <a:ext uri="{FF2B5EF4-FFF2-40B4-BE49-F238E27FC236}">
                <a16:creationId xmlns:a16="http://schemas.microsoft.com/office/drawing/2014/main" id="{CB91F02F-C1FB-0EC6-B24E-9370EB123964}"/>
              </a:ext>
              <a:ext uri="{C183D7F6-B498-43B3-948B-1728B52AA6E4}">
                <adec:decorative xmlns:adec="http://schemas.microsoft.com/office/drawing/2017/decorative" val="1"/>
              </a:ext>
            </a:extLst>
          </p:cNvPr>
          <p:cNvCxnSpPr>
            <a:cxnSpLocks/>
          </p:cNvCxnSpPr>
          <p:nvPr/>
        </p:nvCxnSpPr>
        <p:spPr>
          <a:xfrm>
            <a:off x="1044951" y="232397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B923B54-8968-E25A-BB69-9C387B6B5BB0}"/>
              </a:ext>
            </a:extLst>
          </p:cNvPr>
          <p:cNvSpPr txBox="1"/>
          <p:nvPr/>
        </p:nvSpPr>
        <p:spPr>
          <a:xfrm>
            <a:off x="6608440" y="2346112"/>
            <a:ext cx="4906333" cy="169277"/>
          </a:xfrm>
          <a:prstGeom prst="rect">
            <a:avLst/>
          </a:prstGeom>
          <a:noFill/>
        </p:spPr>
        <p:txBody>
          <a:bodyPr wrap="square" lIns="0" tIns="0" rIns="0" bIns="0">
            <a:spAutoFit/>
          </a:bodyPr>
          <a:lstStyle/>
          <a:p>
            <a:pPr lvl="0">
              <a:defRPr/>
            </a:pPr>
            <a:r>
              <a:rPr lang="en-US" sz="1100" kern="0" noProof="0" dirty="0">
                <a:cs typeface="Segoe Sans Text"/>
              </a:rPr>
              <a:t>App deployment to 1P and 3P services </a:t>
            </a:r>
            <a:endParaRPr lang="en-US" sz="2400" noProof="0" dirty="0">
              <a:cs typeface="Segoe Sans Text"/>
            </a:endParaRPr>
          </a:p>
        </p:txBody>
      </p:sp>
      <p:sp>
        <p:nvSpPr>
          <p:cNvPr id="45" name="TextBox 44">
            <a:extLst>
              <a:ext uri="{FF2B5EF4-FFF2-40B4-BE49-F238E27FC236}">
                <a16:creationId xmlns:a16="http://schemas.microsoft.com/office/drawing/2014/main" id="{522D011A-29F0-5B9C-2412-85099C558FF3}"/>
              </a:ext>
            </a:extLst>
          </p:cNvPr>
          <p:cNvSpPr txBox="1"/>
          <p:nvPr/>
        </p:nvSpPr>
        <p:spPr>
          <a:xfrm>
            <a:off x="6608440" y="2701201"/>
            <a:ext cx="4906333" cy="169277"/>
          </a:xfrm>
          <a:prstGeom prst="rect">
            <a:avLst/>
          </a:prstGeom>
          <a:noFill/>
        </p:spPr>
        <p:txBody>
          <a:bodyPr wrap="square" lIns="0" tIns="0" rIns="0" bIns="0">
            <a:spAutoFit/>
          </a:bodyPr>
          <a:lstStyle/>
          <a:p>
            <a:pPr lvl="0">
              <a:defRPr/>
            </a:pPr>
            <a:r>
              <a:rPr lang="en-US" sz="1100" kern="0" noProof="0" dirty="0">
                <a:cs typeface="Segoe Sans Text"/>
              </a:rPr>
              <a:t>Kubernetes cluster setup &amp; configuration</a:t>
            </a:r>
            <a:endParaRPr lang="en-US" sz="2400" noProof="0" dirty="0">
              <a:cs typeface="Segoe Sans Text"/>
            </a:endParaRPr>
          </a:p>
        </p:txBody>
      </p:sp>
      <p:sp>
        <p:nvSpPr>
          <p:cNvPr id="46" name="TextBox 45">
            <a:extLst>
              <a:ext uri="{FF2B5EF4-FFF2-40B4-BE49-F238E27FC236}">
                <a16:creationId xmlns:a16="http://schemas.microsoft.com/office/drawing/2014/main" id="{924FCA66-95DB-6C43-6B52-07D860BC728C}"/>
              </a:ext>
            </a:extLst>
          </p:cNvPr>
          <p:cNvSpPr txBox="1"/>
          <p:nvPr/>
        </p:nvSpPr>
        <p:spPr>
          <a:xfrm>
            <a:off x="6608440" y="3056290"/>
            <a:ext cx="4906333" cy="169277"/>
          </a:xfrm>
          <a:prstGeom prst="rect">
            <a:avLst/>
          </a:prstGeom>
          <a:noFill/>
        </p:spPr>
        <p:txBody>
          <a:bodyPr wrap="square" lIns="0" tIns="0" rIns="0" bIns="0">
            <a:spAutoFit/>
          </a:bodyPr>
          <a:lstStyle/>
          <a:p>
            <a:pPr lvl="0">
              <a:defRPr/>
            </a:pPr>
            <a:r>
              <a:rPr lang="en-US" sz="1100" kern="0" noProof="0" dirty="0">
                <a:cs typeface="Segoe Sans Text"/>
              </a:rPr>
              <a:t>Azure Machine Learning service; data science; MLOps</a:t>
            </a:r>
          </a:p>
        </p:txBody>
      </p:sp>
      <p:sp>
        <p:nvSpPr>
          <p:cNvPr id="47" name="TextBox 46">
            <a:extLst>
              <a:ext uri="{FF2B5EF4-FFF2-40B4-BE49-F238E27FC236}">
                <a16:creationId xmlns:a16="http://schemas.microsoft.com/office/drawing/2014/main" id="{57A7D1B4-7508-6323-2929-3CB62DA89230}"/>
              </a:ext>
            </a:extLst>
          </p:cNvPr>
          <p:cNvSpPr txBox="1"/>
          <p:nvPr/>
        </p:nvSpPr>
        <p:spPr>
          <a:xfrm>
            <a:off x="6608440" y="3411379"/>
            <a:ext cx="4906333" cy="169277"/>
          </a:xfrm>
          <a:prstGeom prst="rect">
            <a:avLst/>
          </a:prstGeom>
          <a:noFill/>
        </p:spPr>
        <p:txBody>
          <a:bodyPr wrap="square" lIns="0" tIns="0" rIns="0" bIns="0">
            <a:spAutoFit/>
          </a:bodyPr>
          <a:lstStyle/>
          <a:p>
            <a:pPr lvl="0">
              <a:defRPr/>
            </a:pPr>
            <a:r>
              <a:rPr lang="en-US" sz="1100" kern="0" noProof="0" dirty="0">
                <a:cs typeface="Segoe UI"/>
              </a:rPr>
              <a:t>Text-to-video (Sora, etc..)</a:t>
            </a:r>
          </a:p>
        </p:txBody>
      </p:sp>
      <p:sp>
        <p:nvSpPr>
          <p:cNvPr id="48" name="TextBox 47">
            <a:extLst>
              <a:ext uri="{FF2B5EF4-FFF2-40B4-BE49-F238E27FC236}">
                <a16:creationId xmlns:a16="http://schemas.microsoft.com/office/drawing/2014/main" id="{FE83F2FB-13D7-C2CF-3EA3-555E3CE0A45A}"/>
              </a:ext>
            </a:extLst>
          </p:cNvPr>
          <p:cNvSpPr txBox="1"/>
          <p:nvPr/>
        </p:nvSpPr>
        <p:spPr>
          <a:xfrm>
            <a:off x="6608440" y="3766468"/>
            <a:ext cx="4906333" cy="169277"/>
          </a:xfrm>
          <a:prstGeom prst="rect">
            <a:avLst/>
          </a:prstGeom>
          <a:noFill/>
        </p:spPr>
        <p:txBody>
          <a:bodyPr wrap="square" lIns="0" tIns="0" rIns="0" bIns="0">
            <a:spAutoFit/>
          </a:bodyPr>
          <a:lstStyle/>
          <a:p>
            <a:pPr lvl="0">
              <a:defRPr/>
            </a:pPr>
            <a:r>
              <a:rPr lang="en-US" sz="1100" kern="0" noProof="0" dirty="0">
                <a:cs typeface="Segoe Sans Text"/>
              </a:rPr>
              <a:t>User acceptance testing; Testing of internal customer applications</a:t>
            </a:r>
          </a:p>
        </p:txBody>
      </p:sp>
      <p:sp>
        <p:nvSpPr>
          <p:cNvPr id="49" name="TextBox 48">
            <a:extLst>
              <a:ext uri="{FF2B5EF4-FFF2-40B4-BE49-F238E27FC236}">
                <a16:creationId xmlns:a16="http://schemas.microsoft.com/office/drawing/2014/main" id="{B3F21961-79C3-3274-49AA-2E08B5283BB9}"/>
              </a:ext>
            </a:extLst>
          </p:cNvPr>
          <p:cNvSpPr txBox="1"/>
          <p:nvPr/>
        </p:nvSpPr>
        <p:spPr>
          <a:xfrm>
            <a:off x="6608440" y="4121554"/>
            <a:ext cx="4906333" cy="169277"/>
          </a:xfrm>
          <a:prstGeom prst="rect">
            <a:avLst/>
          </a:prstGeom>
          <a:noFill/>
        </p:spPr>
        <p:txBody>
          <a:bodyPr wrap="square" lIns="0" tIns="0" rIns="0" bIns="0">
            <a:spAutoFit/>
          </a:bodyPr>
          <a:lstStyle/>
          <a:p>
            <a:pPr lvl="0">
              <a:defRPr/>
            </a:pPr>
            <a:r>
              <a:rPr lang="en-US" sz="1100" kern="0" noProof="0" dirty="0">
                <a:cs typeface="Segoe Sans Text"/>
              </a:rPr>
              <a:t>App DevOps pipelines (GitHub Actions/Azure DevOps)</a:t>
            </a:r>
            <a:endParaRPr lang="en-US" sz="1100" noProof="0" dirty="0">
              <a:cs typeface="Segoe Sans Text"/>
            </a:endParaRPr>
          </a:p>
        </p:txBody>
      </p:sp>
      <p:sp>
        <p:nvSpPr>
          <p:cNvPr id="50" name="Oval 49">
            <a:extLst>
              <a:ext uri="{FF2B5EF4-FFF2-40B4-BE49-F238E27FC236}">
                <a16:creationId xmlns:a16="http://schemas.microsoft.com/office/drawing/2014/main" id="{02AD8FBB-F1AB-A276-9FDD-CFB8CA5C2FDB}"/>
              </a:ext>
            </a:extLst>
          </p:cNvPr>
          <p:cNvSpPr/>
          <p:nvPr/>
        </p:nvSpPr>
        <p:spPr bwMode="auto">
          <a:xfrm>
            <a:off x="6320111" y="235171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1" name="Oval 50">
            <a:extLst>
              <a:ext uri="{FF2B5EF4-FFF2-40B4-BE49-F238E27FC236}">
                <a16:creationId xmlns:a16="http://schemas.microsoft.com/office/drawing/2014/main" id="{6EA8FE43-2ADB-33CB-C406-9C6790C0DB58}"/>
              </a:ext>
            </a:extLst>
          </p:cNvPr>
          <p:cNvSpPr/>
          <p:nvPr/>
        </p:nvSpPr>
        <p:spPr bwMode="auto">
          <a:xfrm>
            <a:off x="6320111" y="27088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2" name="Oval 51">
            <a:extLst>
              <a:ext uri="{FF2B5EF4-FFF2-40B4-BE49-F238E27FC236}">
                <a16:creationId xmlns:a16="http://schemas.microsoft.com/office/drawing/2014/main" id="{6F5A2CC6-AF90-0C62-263C-21DC62BCE11D}"/>
              </a:ext>
            </a:extLst>
          </p:cNvPr>
          <p:cNvSpPr/>
          <p:nvPr/>
        </p:nvSpPr>
        <p:spPr bwMode="auto">
          <a:xfrm>
            <a:off x="6320111" y="306601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3" name="Oval 52">
            <a:extLst>
              <a:ext uri="{FF2B5EF4-FFF2-40B4-BE49-F238E27FC236}">
                <a16:creationId xmlns:a16="http://schemas.microsoft.com/office/drawing/2014/main" id="{D506AFAE-A580-B3A8-5EDC-DD59910FCF5E}"/>
              </a:ext>
            </a:extLst>
          </p:cNvPr>
          <p:cNvSpPr/>
          <p:nvPr/>
        </p:nvSpPr>
        <p:spPr bwMode="auto">
          <a:xfrm>
            <a:off x="6320111" y="342778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Oval 53">
            <a:extLst>
              <a:ext uri="{FF2B5EF4-FFF2-40B4-BE49-F238E27FC236}">
                <a16:creationId xmlns:a16="http://schemas.microsoft.com/office/drawing/2014/main" id="{E127151E-2624-2505-F4A5-D7DC55B4A18C}"/>
              </a:ext>
            </a:extLst>
          </p:cNvPr>
          <p:cNvSpPr/>
          <p:nvPr/>
        </p:nvSpPr>
        <p:spPr bwMode="auto">
          <a:xfrm>
            <a:off x="6320111" y="378096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5" name="Oval 54">
            <a:extLst>
              <a:ext uri="{FF2B5EF4-FFF2-40B4-BE49-F238E27FC236}">
                <a16:creationId xmlns:a16="http://schemas.microsoft.com/office/drawing/2014/main" id="{8049483F-E2B6-D048-F460-6235597FC18E}"/>
              </a:ext>
            </a:extLst>
          </p:cNvPr>
          <p:cNvSpPr/>
          <p:nvPr/>
        </p:nvSpPr>
        <p:spPr bwMode="auto">
          <a:xfrm>
            <a:off x="6320111" y="413761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6" name="Oval 55">
            <a:extLst>
              <a:ext uri="{FF2B5EF4-FFF2-40B4-BE49-F238E27FC236}">
                <a16:creationId xmlns:a16="http://schemas.microsoft.com/office/drawing/2014/main" id="{DBE25398-92EF-2ED6-6216-92608AC503C0}"/>
              </a:ext>
            </a:extLst>
          </p:cNvPr>
          <p:cNvSpPr/>
          <p:nvPr/>
        </p:nvSpPr>
        <p:spPr bwMode="auto">
          <a:xfrm>
            <a:off x="775653" y="245497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7" name="Oval 56">
            <a:extLst>
              <a:ext uri="{FF2B5EF4-FFF2-40B4-BE49-F238E27FC236}">
                <a16:creationId xmlns:a16="http://schemas.microsoft.com/office/drawing/2014/main" id="{F5E1C1EB-D8CF-9CFF-B6D9-F106FEAF1EE8}"/>
              </a:ext>
            </a:extLst>
          </p:cNvPr>
          <p:cNvSpPr/>
          <p:nvPr/>
        </p:nvSpPr>
        <p:spPr bwMode="auto">
          <a:xfrm>
            <a:off x="775653" y="33242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58" name="Straight Connector 57">
            <a:extLst>
              <a:ext uri="{FF2B5EF4-FFF2-40B4-BE49-F238E27FC236}">
                <a16:creationId xmlns:a16="http://schemas.microsoft.com/office/drawing/2014/main" id="{09728387-5B5E-8426-3766-A0BDEEC81AC9}"/>
              </a:ext>
              <a:ext uri="{C183D7F6-B498-43B3-948B-1728B52AA6E4}">
                <adec:decorative xmlns:adec="http://schemas.microsoft.com/office/drawing/2017/decorative" val="1"/>
              </a:ext>
            </a:extLst>
          </p:cNvPr>
          <p:cNvCxnSpPr>
            <a:cxnSpLocks/>
          </p:cNvCxnSpPr>
          <p:nvPr/>
        </p:nvCxnSpPr>
        <p:spPr>
          <a:xfrm>
            <a:off x="1044951" y="324218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EB7ED00-1C28-A2C2-1F1A-9B3728E5EF03}"/>
              </a:ext>
              <a:ext uri="{C183D7F6-B498-43B3-948B-1728B52AA6E4}">
                <adec:decorative xmlns:adec="http://schemas.microsoft.com/office/drawing/2017/decorative" val="1"/>
              </a:ext>
            </a:extLst>
          </p:cNvPr>
          <p:cNvCxnSpPr>
            <a:cxnSpLocks/>
          </p:cNvCxnSpPr>
          <p:nvPr/>
        </p:nvCxnSpPr>
        <p:spPr>
          <a:xfrm>
            <a:off x="6617966" y="226163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8DDF75E-0305-6C7C-8319-C6830EA70109}"/>
              </a:ext>
              <a:ext uri="{C183D7F6-B498-43B3-948B-1728B52AA6E4}">
                <adec:decorative xmlns:adec="http://schemas.microsoft.com/office/drawing/2017/decorative" val="1"/>
              </a:ext>
            </a:extLst>
          </p:cNvPr>
          <p:cNvCxnSpPr>
            <a:cxnSpLocks/>
          </p:cNvCxnSpPr>
          <p:nvPr/>
        </p:nvCxnSpPr>
        <p:spPr>
          <a:xfrm>
            <a:off x="6617966" y="259501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FE2B689-AFA1-97BE-52C9-0199B44CB267}"/>
              </a:ext>
              <a:ext uri="{C183D7F6-B498-43B3-948B-1728B52AA6E4}">
                <adec:decorative xmlns:adec="http://schemas.microsoft.com/office/drawing/2017/decorative" val="1"/>
              </a:ext>
            </a:extLst>
          </p:cNvPr>
          <p:cNvCxnSpPr>
            <a:cxnSpLocks/>
          </p:cNvCxnSpPr>
          <p:nvPr/>
        </p:nvCxnSpPr>
        <p:spPr>
          <a:xfrm>
            <a:off x="6617966" y="295219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4FF83C-7332-DA49-C720-4F40F29040BC}"/>
              </a:ext>
              <a:ext uri="{C183D7F6-B498-43B3-948B-1728B52AA6E4}">
                <adec:decorative xmlns:adec="http://schemas.microsoft.com/office/drawing/2017/decorative" val="1"/>
              </a:ext>
            </a:extLst>
          </p:cNvPr>
          <p:cNvCxnSpPr>
            <a:cxnSpLocks/>
          </p:cNvCxnSpPr>
          <p:nvPr/>
        </p:nvCxnSpPr>
        <p:spPr>
          <a:xfrm>
            <a:off x="6617966" y="333319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AD181D-84D7-85E8-8050-1B1098D19D57}"/>
              </a:ext>
              <a:ext uri="{C183D7F6-B498-43B3-948B-1728B52AA6E4}">
                <adec:decorative xmlns:adec="http://schemas.microsoft.com/office/drawing/2017/decorative" val="1"/>
              </a:ext>
            </a:extLst>
          </p:cNvPr>
          <p:cNvCxnSpPr>
            <a:cxnSpLocks/>
          </p:cNvCxnSpPr>
          <p:nvPr/>
        </p:nvCxnSpPr>
        <p:spPr>
          <a:xfrm>
            <a:off x="6617966" y="368086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02F0C52-45FC-32BE-52A0-D29C95991A8E}"/>
              </a:ext>
              <a:ext uri="{C183D7F6-B498-43B3-948B-1728B52AA6E4}">
                <adec:decorative xmlns:adec="http://schemas.microsoft.com/office/drawing/2017/decorative" val="1"/>
              </a:ext>
            </a:extLst>
          </p:cNvPr>
          <p:cNvCxnSpPr>
            <a:cxnSpLocks/>
          </p:cNvCxnSpPr>
          <p:nvPr/>
        </p:nvCxnSpPr>
        <p:spPr>
          <a:xfrm>
            <a:off x="6617966" y="403328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BCF1BEE-BA8A-AB1C-780A-D37FD17B161B}"/>
              </a:ext>
            </a:extLst>
          </p:cNvPr>
          <p:cNvSpPr txBox="1">
            <a:spLocks/>
          </p:cNvSpPr>
          <p:nvPr/>
        </p:nvSpPr>
        <p:spPr>
          <a:xfrm>
            <a:off x="671728" y="1392869"/>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6" name="TextBox 5">
            <a:extLst>
              <a:ext uri="{FF2B5EF4-FFF2-40B4-BE49-F238E27FC236}">
                <a16:creationId xmlns:a16="http://schemas.microsoft.com/office/drawing/2014/main" id="{D83CD3CD-FC93-9A29-DB77-7A96B12A0C31}"/>
              </a:ext>
            </a:extLst>
          </p:cNvPr>
          <p:cNvSpPr txBox="1">
            <a:spLocks/>
          </p:cNvSpPr>
          <p:nvPr/>
        </p:nvSpPr>
        <p:spPr>
          <a:xfrm>
            <a:off x="6231561" y="1385251"/>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Unified / ISD / Partner / Customer – Led*</a:t>
            </a:r>
          </a:p>
        </p:txBody>
      </p:sp>
      <p:sp>
        <p:nvSpPr>
          <p:cNvPr id="4" name="TextBox 3">
            <a:extLst>
              <a:ext uri="{FF2B5EF4-FFF2-40B4-BE49-F238E27FC236}">
                <a16:creationId xmlns:a16="http://schemas.microsoft.com/office/drawing/2014/main" id="{108E0D58-26A3-C72E-8124-80EE6CFEE9A8}"/>
              </a:ext>
            </a:extLst>
          </p:cNvPr>
          <p:cNvSpPr txBox="1"/>
          <p:nvPr/>
        </p:nvSpPr>
        <p:spPr>
          <a:xfrm>
            <a:off x="6291689" y="1723836"/>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8" name="TextBox 7">
            <a:extLst>
              <a:ext uri="{FF2B5EF4-FFF2-40B4-BE49-F238E27FC236}">
                <a16:creationId xmlns:a16="http://schemas.microsoft.com/office/drawing/2014/main" id="{399FA9DB-250A-FDDD-2A2C-0DEFC5FAE489}"/>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A87AE712-8A9E-0074-5DEA-CFAB5C2F7D8C}"/>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38793130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A13C1-4BB4-E26B-11F2-E5D3513D8DD8}"/>
            </a:ext>
          </a:extLst>
        </p:cNvPr>
        <p:cNvGrpSpPr/>
        <p:nvPr/>
      </p:nvGrpSpPr>
      <p:grpSpPr>
        <a:xfrm>
          <a:off x="0" y="0"/>
          <a:ext cx="0" cy="0"/>
          <a:chOff x="0" y="0"/>
          <a:chExt cx="0" cy="0"/>
        </a:xfrm>
      </p:grpSpPr>
      <p:sp>
        <p:nvSpPr>
          <p:cNvPr id="14" name="Rounded Rectangle 55">
            <a:extLst>
              <a:ext uri="{FF2B5EF4-FFF2-40B4-BE49-F238E27FC236}">
                <a16:creationId xmlns:a16="http://schemas.microsoft.com/office/drawing/2014/main" id="{DB7967CA-BE65-D9E6-0F5B-0BE93B565245}"/>
              </a:ext>
              <a:ext uri="{C183D7F6-B498-43B3-948B-1728B52AA6E4}">
                <adec:decorative xmlns:adec="http://schemas.microsoft.com/office/drawing/2017/decorative" val="1"/>
              </a:ext>
            </a:extLst>
          </p:cNvPr>
          <p:cNvSpPr/>
          <p:nvPr/>
        </p:nvSpPr>
        <p:spPr bwMode="auto">
          <a:xfrm>
            <a:off x="474563" y="1303189"/>
            <a:ext cx="2552308" cy="434495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1" name="Content Placeholder 4">
            <a:extLst>
              <a:ext uri="{FF2B5EF4-FFF2-40B4-BE49-F238E27FC236}">
                <a16:creationId xmlns:a16="http://schemas.microsoft.com/office/drawing/2014/main" id="{92AB46A1-EEA5-6290-2485-3901E0755D54}"/>
              </a:ext>
            </a:extLst>
          </p:cNvPr>
          <p:cNvSpPr txBox="1">
            <a:spLocks/>
          </p:cNvSpPr>
          <p:nvPr/>
        </p:nvSpPr>
        <p:spPr>
          <a:xfrm>
            <a:off x="682168" y="1705177"/>
            <a:ext cx="2448877" cy="3496919"/>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200000"/>
              </a:lnSpc>
              <a:spcBef>
                <a:spcPts val="0"/>
              </a:spcBef>
              <a:spcAft>
                <a:spcPts val="600"/>
              </a:spcAft>
              <a:buSzTx/>
              <a:buFont typeface="Wingdings" panose="05000000000000000000" pitchFamily="2" charset="2"/>
              <a:buChar char="ü"/>
              <a:defRPr/>
            </a:pPr>
            <a:r>
              <a:rPr lang="en-US" sz="1200" noProof="0" dirty="0"/>
              <a:t>Conversational AI based </a:t>
            </a:r>
            <a:br>
              <a:rPr lang="en-US" sz="1200" noProof="0" dirty="0"/>
            </a:br>
            <a:r>
              <a:rPr lang="en-US" sz="1200" noProof="0" dirty="0"/>
              <a:t>on RAG approach</a:t>
            </a:r>
          </a:p>
          <a:p>
            <a:pPr lvl="0" defTabSz="914400">
              <a:lnSpc>
                <a:spcPct val="200000"/>
              </a:lnSpc>
              <a:spcBef>
                <a:spcPts val="0"/>
              </a:spcBef>
              <a:spcAft>
                <a:spcPts val="600"/>
              </a:spcAft>
              <a:buSzTx/>
              <a:buFont typeface="Wingdings" panose="05000000000000000000" pitchFamily="2" charset="2"/>
              <a:buChar char="ü"/>
              <a:defRPr/>
            </a:pPr>
            <a:r>
              <a:rPr lang="en-US" sz="1200" noProof="0" dirty="0"/>
              <a:t>GenAI-based search</a:t>
            </a:r>
          </a:p>
          <a:p>
            <a:pPr lvl="0" defTabSz="914400">
              <a:lnSpc>
                <a:spcPct val="200000"/>
              </a:lnSpc>
              <a:spcBef>
                <a:spcPts val="0"/>
              </a:spcBef>
              <a:spcAft>
                <a:spcPts val="600"/>
              </a:spcAft>
              <a:buSzTx/>
              <a:buFont typeface="Wingdings" panose="05000000000000000000" pitchFamily="2" charset="2"/>
              <a:buChar char="ü"/>
              <a:defRPr/>
            </a:pPr>
            <a:r>
              <a:rPr lang="en-US" sz="1200" noProof="0" dirty="0"/>
              <a:t>Document intelligence</a:t>
            </a:r>
          </a:p>
          <a:p>
            <a:pPr lvl="0" defTabSz="914400">
              <a:lnSpc>
                <a:spcPct val="200000"/>
              </a:lnSpc>
              <a:spcBef>
                <a:spcPts val="0"/>
              </a:spcBef>
              <a:spcAft>
                <a:spcPts val="600"/>
              </a:spcAft>
              <a:buSzTx/>
              <a:buFont typeface="Wingdings" panose="05000000000000000000" pitchFamily="2" charset="2"/>
              <a:buChar char="ü"/>
              <a:defRPr/>
            </a:pPr>
            <a:r>
              <a:rPr lang="en-US" sz="1200" noProof="0" dirty="0"/>
              <a:t>Personalized content creation</a:t>
            </a:r>
          </a:p>
          <a:p>
            <a:pPr lvl="0" defTabSz="914400">
              <a:lnSpc>
                <a:spcPct val="200000"/>
              </a:lnSpc>
              <a:spcBef>
                <a:spcPts val="0"/>
              </a:spcBef>
              <a:spcAft>
                <a:spcPts val="600"/>
              </a:spcAft>
              <a:buSzTx/>
              <a:buFont typeface="Wingdings" panose="05000000000000000000" pitchFamily="2" charset="2"/>
              <a:buChar char="ü"/>
              <a:defRPr/>
            </a:pPr>
            <a:r>
              <a:rPr lang="en-US" sz="1200" noProof="0" dirty="0"/>
              <a:t>Image analysis</a:t>
            </a:r>
          </a:p>
          <a:p>
            <a:pPr lvl="0" defTabSz="914400">
              <a:lnSpc>
                <a:spcPct val="200000"/>
              </a:lnSpc>
              <a:spcBef>
                <a:spcPts val="0"/>
              </a:spcBef>
              <a:spcAft>
                <a:spcPts val="600"/>
              </a:spcAft>
              <a:buSzTx/>
              <a:buFont typeface="Wingdings" panose="05000000000000000000" pitchFamily="2" charset="2"/>
              <a:buChar char="ü"/>
              <a:defRPr/>
            </a:pPr>
            <a:r>
              <a:rPr lang="en-US" sz="1200" noProof="0" dirty="0"/>
              <a:t>Prompt tuning</a:t>
            </a:r>
          </a:p>
          <a:p>
            <a:pPr lvl="0" defTabSz="914400">
              <a:lnSpc>
                <a:spcPct val="200000"/>
              </a:lnSpc>
              <a:spcBef>
                <a:spcPts val="0"/>
              </a:spcBef>
              <a:spcAft>
                <a:spcPts val="600"/>
              </a:spcAft>
              <a:buSzTx/>
              <a:buFont typeface="Wingdings" panose="05000000000000000000" pitchFamily="2" charset="2"/>
              <a:buChar char="ü"/>
              <a:defRPr/>
            </a:pPr>
            <a:r>
              <a:rPr lang="en-US" sz="1200" noProof="0" dirty="0"/>
              <a:t>Fine tuning</a:t>
            </a:r>
            <a:endParaRPr lang="en-US" sz="1200" noProof="0" dirty="0">
              <a:latin typeface="Segoe UI"/>
              <a:cs typeface="Segoe UI"/>
            </a:endParaRPr>
          </a:p>
        </p:txBody>
      </p:sp>
      <p:sp>
        <p:nvSpPr>
          <p:cNvPr id="22" name="TextBox 21">
            <a:extLst>
              <a:ext uri="{FF2B5EF4-FFF2-40B4-BE49-F238E27FC236}">
                <a16:creationId xmlns:a16="http://schemas.microsoft.com/office/drawing/2014/main" id="{9BAAF70A-E46F-88D3-78E3-6D3F84150CA0}"/>
              </a:ext>
            </a:extLst>
          </p:cNvPr>
          <p:cNvSpPr txBox="1"/>
          <p:nvPr/>
        </p:nvSpPr>
        <p:spPr>
          <a:xfrm>
            <a:off x="647910" y="1388193"/>
            <a:ext cx="2309042" cy="330263"/>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4" name="TextBox 23">
            <a:extLst>
              <a:ext uri="{FF2B5EF4-FFF2-40B4-BE49-F238E27FC236}">
                <a16:creationId xmlns:a16="http://schemas.microsoft.com/office/drawing/2014/main" id="{618EDDA8-0603-AAFF-7583-19F8D195BDF4}"/>
              </a:ext>
            </a:extLst>
          </p:cNvPr>
          <p:cNvSpPr txBox="1"/>
          <p:nvPr/>
        </p:nvSpPr>
        <p:spPr>
          <a:xfrm>
            <a:off x="3286066" y="1541333"/>
            <a:ext cx="3823152" cy="3872855"/>
          </a:xfrm>
          <a:prstGeom prst="rect">
            <a:avLst/>
          </a:prstGeom>
          <a:noFill/>
        </p:spPr>
        <p:txBody>
          <a:bodyPr wrap="square">
            <a:spAutoFit/>
          </a:bodyPr>
          <a:lstStyle/>
          <a:p>
            <a:pPr marL="0" lvl="1">
              <a:spcAft>
                <a:spcPts val="200"/>
              </a:spcAft>
              <a:defRPr/>
            </a:pPr>
            <a:r>
              <a:rPr lang="en-US" sz="1600" kern="0" noProof="0" dirty="0">
                <a:solidFill>
                  <a:schemeClr val="tx2"/>
                </a:solidFill>
                <a:latin typeface="+mj-lt"/>
              </a:rPr>
              <a:t>Supported workloads</a:t>
            </a:r>
          </a:p>
          <a:p>
            <a:pPr marL="234950" lvl="1" indent="-146050">
              <a:spcAft>
                <a:spcPts val="400"/>
              </a:spcAft>
              <a:buFont typeface="Arial" panose="020B0604020202020204" pitchFamily="34" charset="0"/>
              <a:buChar char="•"/>
              <a:defRPr/>
            </a:pPr>
            <a:r>
              <a:rPr lang="en-US" sz="1200" kern="0" noProof="0" dirty="0">
                <a:latin typeface="+mj-lt"/>
              </a:rPr>
              <a:t>Azure Direct Models </a:t>
            </a:r>
            <a:r>
              <a:rPr lang="en-US" sz="1200" kern="0" noProof="0" dirty="0"/>
              <a:t>(Azure OpenAI, Mistral, Grok, Cohere)</a:t>
            </a:r>
          </a:p>
          <a:p>
            <a:pPr marL="234950" lvl="1" indent="-146050">
              <a:spcAft>
                <a:spcPts val="400"/>
              </a:spcAft>
              <a:buFont typeface="Arial" panose="020B0604020202020204" pitchFamily="34" charset="0"/>
              <a:buChar char="•"/>
              <a:defRPr/>
            </a:pPr>
            <a:r>
              <a:rPr lang="en-US" sz="1200" kern="0" noProof="0" dirty="0">
                <a:latin typeface="+mj-lt"/>
              </a:rPr>
              <a:t>Services attached to LLM use case</a:t>
            </a:r>
            <a:r>
              <a:rPr lang="en-US" sz="1200" kern="0" noProof="0" dirty="0"/>
              <a:t>: Azure AI Search and Azure AI Document Intelligence</a:t>
            </a:r>
          </a:p>
          <a:p>
            <a:pPr marL="234950" lvl="1" indent="-146050">
              <a:spcAft>
                <a:spcPts val="400"/>
              </a:spcAft>
              <a:buFont typeface="Arial" panose="020B0604020202020204" pitchFamily="34" charset="0"/>
              <a:buChar char="•"/>
              <a:defRPr/>
            </a:pPr>
            <a:r>
              <a:rPr lang="en-US" sz="1200" kern="0" noProof="0" dirty="0"/>
              <a:t>App Services Deployment (basic)</a:t>
            </a:r>
          </a:p>
          <a:p>
            <a:pPr marL="234950" lvl="1" indent="-146050">
              <a:spcAft>
                <a:spcPts val="800"/>
              </a:spcAft>
              <a:buFont typeface="Arial" panose="020B0604020202020204" pitchFamily="34" charset="0"/>
              <a:buChar char="•"/>
              <a:defRPr/>
            </a:pPr>
            <a:r>
              <a:rPr lang="en-US" sz="1200" kern="0" noProof="0" dirty="0"/>
              <a:t>Azure AI Speech/Azure OpenAI Whisper</a:t>
            </a:r>
          </a:p>
          <a:p>
            <a:pPr marL="0" lvl="1">
              <a:spcAft>
                <a:spcPts val="200"/>
              </a:spcAft>
              <a:defRPr/>
            </a:pPr>
            <a:r>
              <a:rPr lang="en-US" sz="1600" kern="0" noProof="0" dirty="0">
                <a:solidFill>
                  <a:schemeClr val="tx2"/>
                </a:solidFill>
                <a:latin typeface="+mj-lt"/>
              </a:rPr>
              <a:t>Supported data sources</a:t>
            </a:r>
          </a:p>
          <a:p>
            <a:pPr marL="234950" lvl="1" indent="-139700">
              <a:spcAft>
                <a:spcPts val="400"/>
              </a:spcAft>
              <a:buFont typeface="Arial" panose="020B0604020202020204" pitchFamily="34" charset="0"/>
              <a:buChar char="•"/>
              <a:defRPr/>
            </a:pPr>
            <a:r>
              <a:rPr lang="en-US" sz="1200" kern="0" noProof="0" dirty="0"/>
              <a:t>Blob Storage</a:t>
            </a:r>
          </a:p>
          <a:p>
            <a:pPr marL="234950" lvl="1" indent="-139700">
              <a:spcAft>
                <a:spcPts val="400"/>
              </a:spcAft>
              <a:buFont typeface="Arial" panose="020B0604020202020204" pitchFamily="34" charset="0"/>
              <a:buChar char="•"/>
              <a:defRPr/>
            </a:pPr>
            <a:r>
              <a:rPr lang="en-US" sz="1200" kern="0" noProof="0" dirty="0"/>
              <a:t>Fabric</a:t>
            </a:r>
          </a:p>
          <a:p>
            <a:pPr marL="234950" lvl="1" indent="-139700">
              <a:spcAft>
                <a:spcPts val="400"/>
              </a:spcAft>
              <a:buFont typeface="Arial" panose="020B0604020202020204" pitchFamily="34" charset="0"/>
              <a:buChar char="•"/>
              <a:defRPr/>
            </a:pPr>
            <a:r>
              <a:rPr lang="en-US" sz="1200" kern="0" noProof="0" dirty="0"/>
              <a:t>SharePoint</a:t>
            </a:r>
          </a:p>
          <a:p>
            <a:pPr marL="234950" lvl="1" indent="-139700">
              <a:spcAft>
                <a:spcPts val="800"/>
              </a:spcAft>
              <a:buFont typeface="Arial" panose="020B0604020202020204" pitchFamily="34" charset="0"/>
              <a:buChar char="•"/>
              <a:defRPr/>
            </a:pPr>
            <a:r>
              <a:rPr lang="en-US" sz="1200" kern="0" noProof="0" dirty="0"/>
              <a:t>Postgres/SQL</a:t>
            </a:r>
          </a:p>
          <a:p>
            <a:pPr marL="0" lvl="1">
              <a:spcAft>
                <a:spcPts val="200"/>
              </a:spcAft>
              <a:defRPr/>
            </a:pPr>
            <a:r>
              <a:rPr lang="en-US" sz="1600" kern="0" noProof="0" dirty="0">
                <a:solidFill>
                  <a:schemeClr val="tx2"/>
                </a:solidFill>
                <a:latin typeface="+mj-lt"/>
              </a:rPr>
              <a:t>AI use case architecture</a:t>
            </a:r>
          </a:p>
          <a:p>
            <a:pPr marL="247650" lvl="1" indent="-146050">
              <a:spcAft>
                <a:spcPts val="400"/>
              </a:spcAft>
              <a:buFont typeface="Arial" panose="020B0604020202020204" pitchFamily="34" charset="0"/>
              <a:buChar char="•"/>
              <a:defRPr/>
            </a:pPr>
            <a:r>
              <a:rPr lang="en-US" sz="1200" kern="0" noProof="0" dirty="0"/>
              <a:t>Standard architecture (for scrubbed/non-confidential data)</a:t>
            </a:r>
          </a:p>
          <a:p>
            <a:pPr marL="247650" lvl="1" indent="-146050">
              <a:spcAft>
                <a:spcPts val="400"/>
              </a:spcAft>
              <a:buFont typeface="Arial" panose="020B0604020202020204" pitchFamily="34" charset="0"/>
              <a:buChar char="•"/>
              <a:defRPr/>
            </a:pPr>
            <a:r>
              <a:rPr lang="en-US" sz="1200" kern="0" noProof="0" dirty="0"/>
              <a:t>ZTA architecture (for confidential/production data)</a:t>
            </a:r>
          </a:p>
        </p:txBody>
      </p:sp>
      <p:sp>
        <p:nvSpPr>
          <p:cNvPr id="26" name="TextBox 25">
            <a:extLst>
              <a:ext uri="{FF2B5EF4-FFF2-40B4-BE49-F238E27FC236}">
                <a16:creationId xmlns:a16="http://schemas.microsoft.com/office/drawing/2014/main" id="{35ED456D-A470-60C2-87EB-5868724C50D2}"/>
              </a:ext>
            </a:extLst>
          </p:cNvPr>
          <p:cNvSpPr txBox="1"/>
          <p:nvPr/>
        </p:nvSpPr>
        <p:spPr>
          <a:xfrm>
            <a:off x="7524520" y="1509621"/>
            <a:ext cx="4082529" cy="3185487"/>
          </a:xfrm>
          <a:prstGeom prst="rect">
            <a:avLst/>
          </a:prstGeom>
          <a:noFill/>
        </p:spPr>
        <p:txBody>
          <a:bodyPr wrap="square">
            <a:spAutoFit/>
          </a:bodyPr>
          <a:lstStyle/>
          <a:p>
            <a:pPr marL="0" lvl="1">
              <a:spcAft>
                <a:spcPts val="200"/>
              </a:spcAft>
              <a:defRPr/>
            </a:pPr>
            <a:r>
              <a:rPr lang="en-US" sz="1600" kern="0" noProof="0" dirty="0">
                <a:solidFill>
                  <a:schemeClr val="tx2"/>
                </a:solidFill>
                <a:latin typeface="+mj-lt"/>
              </a:rPr>
              <a:t>AI-specific landing zone</a:t>
            </a:r>
          </a:p>
          <a:p>
            <a:pPr marL="288925" lvl="1" indent="-174625">
              <a:spcAft>
                <a:spcPts val="400"/>
              </a:spcAft>
              <a:buFont typeface="Arial" panose="020B0604020202020204" pitchFamily="34" charset="0"/>
              <a:buChar char="•"/>
              <a:defRPr/>
            </a:pPr>
            <a:r>
              <a:rPr lang="en-US" sz="1200" kern="0" noProof="0" dirty="0"/>
              <a:t>Deploy and configure dev/prod environment to support Azure AI use case development by Factory based on the finalized architecture</a:t>
            </a:r>
          </a:p>
          <a:p>
            <a:pPr marL="288925" lvl="1" indent="-174625">
              <a:spcAft>
                <a:spcPts val="400"/>
              </a:spcAft>
              <a:buFont typeface="Arial" panose="020B0604020202020204" pitchFamily="34" charset="0"/>
              <a:buChar char="•"/>
              <a:defRPr/>
            </a:pPr>
            <a:r>
              <a:rPr lang="en-US" sz="1200" kern="0" noProof="0" dirty="0"/>
              <a:t>Using Bicep templates and scripting </a:t>
            </a:r>
          </a:p>
          <a:p>
            <a:pPr marL="288925" lvl="1" indent="-174625">
              <a:spcAft>
                <a:spcPts val="800"/>
              </a:spcAft>
              <a:buFont typeface="Arial" panose="020B0604020202020204" pitchFamily="34" charset="0"/>
              <a:buChar char="•"/>
              <a:defRPr/>
            </a:pPr>
            <a:r>
              <a:rPr lang="en-US" sz="1200" kern="0" noProof="0" dirty="0"/>
              <a:t>Azure Functions, Azure Container Apps, Azure Storage Accounts, Key Vault and Managed Identity Integrations</a:t>
            </a:r>
          </a:p>
          <a:p>
            <a:pPr marL="0" lvl="1">
              <a:spcBef>
                <a:spcPts val="600"/>
              </a:spcBef>
              <a:spcAft>
                <a:spcPts val="200"/>
              </a:spcAft>
              <a:defRPr/>
            </a:pPr>
            <a:r>
              <a:rPr lang="en-US" sz="1600" kern="0" noProof="0" dirty="0">
                <a:solidFill>
                  <a:schemeClr val="tx2"/>
                </a:solidFill>
                <a:latin typeface="+mj-lt"/>
              </a:rPr>
              <a:t>MVP AI application</a:t>
            </a:r>
          </a:p>
          <a:p>
            <a:pPr marL="288925" lvl="1" indent="-174625">
              <a:spcAft>
                <a:spcPts val="400"/>
              </a:spcAft>
              <a:buFont typeface="Arial" panose="020B0604020202020204" pitchFamily="34" charset="0"/>
              <a:buChar char="•"/>
              <a:defRPr/>
            </a:pPr>
            <a:r>
              <a:rPr lang="en-US" sz="1200" kern="0" noProof="0" dirty="0"/>
              <a:t>Fully functional RAG pipeline, Chat Assistant, Document Processing Pipeline, and/or agentic workflow</a:t>
            </a:r>
          </a:p>
          <a:p>
            <a:pPr marL="288925" lvl="1" indent="-174625">
              <a:spcAft>
                <a:spcPts val="400"/>
              </a:spcAft>
              <a:buFont typeface="Arial" panose="020B0604020202020204" pitchFamily="34" charset="0"/>
              <a:buChar char="•"/>
              <a:defRPr/>
            </a:pPr>
            <a:r>
              <a:rPr lang="en-US" sz="1200" kern="0" noProof="0" dirty="0"/>
              <a:t>Deployed on Azure Functions, Container Apps from an accessible endpoint</a:t>
            </a:r>
          </a:p>
        </p:txBody>
      </p:sp>
      <p:sp>
        <p:nvSpPr>
          <p:cNvPr id="27" name="Title 101">
            <a:extLst>
              <a:ext uri="{FF2B5EF4-FFF2-40B4-BE49-F238E27FC236}">
                <a16:creationId xmlns:a16="http://schemas.microsoft.com/office/drawing/2014/main" id="{F2F91CA9-3BB8-DB33-3590-6FAE07F2CEF5}"/>
              </a:ext>
            </a:extLst>
          </p:cNvPr>
          <p:cNvSpPr txBox="1">
            <a:spLocks/>
          </p:cNvSpPr>
          <p:nvPr/>
        </p:nvSpPr>
        <p:spPr>
          <a:xfrm>
            <a:off x="474563" y="519920"/>
            <a:ext cx="6457296" cy="70788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Gen AI Apps</a:t>
            </a:r>
          </a:p>
        </p:txBody>
      </p:sp>
      <p:sp>
        <p:nvSpPr>
          <p:cNvPr id="10" name="Graphic 23">
            <a:extLst>
              <a:ext uri="{FF2B5EF4-FFF2-40B4-BE49-F238E27FC236}">
                <a16:creationId xmlns:a16="http://schemas.microsoft.com/office/drawing/2014/main" id="{F36AFA52-1C89-A7D5-8482-2025D04FEC1C}"/>
              </a:ext>
              <a:ext uri="{C183D7F6-B498-43B3-948B-1728B52AA6E4}">
                <adec:decorative xmlns:adec="http://schemas.microsoft.com/office/drawing/2017/decorative" val="1"/>
              </a:ext>
            </a:extLst>
          </p:cNvPr>
          <p:cNvSpPr/>
          <p:nvPr/>
        </p:nvSpPr>
        <p:spPr>
          <a:xfrm>
            <a:off x="707050" y="1922085"/>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Graphic 23">
            <a:extLst>
              <a:ext uri="{FF2B5EF4-FFF2-40B4-BE49-F238E27FC236}">
                <a16:creationId xmlns:a16="http://schemas.microsoft.com/office/drawing/2014/main" id="{7AB3722D-5A28-CB42-52BF-0A0E1AA86439}"/>
              </a:ext>
              <a:ext uri="{C183D7F6-B498-43B3-948B-1728B52AA6E4}">
                <adec:decorative xmlns:adec="http://schemas.microsoft.com/office/drawing/2017/decorative" val="1"/>
              </a:ext>
            </a:extLst>
          </p:cNvPr>
          <p:cNvSpPr/>
          <p:nvPr/>
        </p:nvSpPr>
        <p:spPr>
          <a:xfrm>
            <a:off x="707050" y="2311371"/>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Graphic 23">
            <a:extLst>
              <a:ext uri="{FF2B5EF4-FFF2-40B4-BE49-F238E27FC236}">
                <a16:creationId xmlns:a16="http://schemas.microsoft.com/office/drawing/2014/main" id="{2F3475D8-0A19-551C-2431-337D6A9B39C2}"/>
              </a:ext>
              <a:ext uri="{C183D7F6-B498-43B3-948B-1728B52AA6E4}">
                <adec:decorative xmlns:adec="http://schemas.microsoft.com/office/drawing/2017/decorative" val="1"/>
              </a:ext>
            </a:extLst>
          </p:cNvPr>
          <p:cNvSpPr/>
          <p:nvPr/>
        </p:nvSpPr>
        <p:spPr>
          <a:xfrm>
            <a:off x="707050" y="2713338"/>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Graphic 23">
            <a:extLst>
              <a:ext uri="{FF2B5EF4-FFF2-40B4-BE49-F238E27FC236}">
                <a16:creationId xmlns:a16="http://schemas.microsoft.com/office/drawing/2014/main" id="{03259752-E0F4-CBB8-AD33-DD8E34EE9ACC}"/>
              </a:ext>
              <a:ext uri="{C183D7F6-B498-43B3-948B-1728B52AA6E4}">
                <adec:decorative xmlns:adec="http://schemas.microsoft.com/office/drawing/2017/decorative" val="1"/>
              </a:ext>
            </a:extLst>
          </p:cNvPr>
          <p:cNvSpPr/>
          <p:nvPr/>
        </p:nvSpPr>
        <p:spPr>
          <a:xfrm>
            <a:off x="707050" y="315711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0" name="Graphic 23">
            <a:extLst>
              <a:ext uri="{FF2B5EF4-FFF2-40B4-BE49-F238E27FC236}">
                <a16:creationId xmlns:a16="http://schemas.microsoft.com/office/drawing/2014/main" id="{88DE0916-CF20-7F2C-2758-E1A59622218C}"/>
              </a:ext>
              <a:ext uri="{C183D7F6-B498-43B3-948B-1728B52AA6E4}">
                <adec:decorative xmlns:adec="http://schemas.microsoft.com/office/drawing/2017/decorative" val="1"/>
              </a:ext>
            </a:extLst>
          </p:cNvPr>
          <p:cNvSpPr/>
          <p:nvPr/>
        </p:nvSpPr>
        <p:spPr>
          <a:xfrm>
            <a:off x="707050" y="3600886"/>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8" name="Graphic 23">
            <a:extLst>
              <a:ext uri="{FF2B5EF4-FFF2-40B4-BE49-F238E27FC236}">
                <a16:creationId xmlns:a16="http://schemas.microsoft.com/office/drawing/2014/main" id="{DDFA55E2-5711-192D-1FBC-D799D8DC3107}"/>
              </a:ext>
              <a:ext uri="{C183D7F6-B498-43B3-948B-1728B52AA6E4}">
                <adec:decorative xmlns:adec="http://schemas.microsoft.com/office/drawing/2017/decorative" val="1"/>
              </a:ext>
            </a:extLst>
          </p:cNvPr>
          <p:cNvSpPr/>
          <p:nvPr/>
        </p:nvSpPr>
        <p:spPr>
          <a:xfrm>
            <a:off x="707050" y="405396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0" name="Graphic 23">
            <a:extLst>
              <a:ext uri="{FF2B5EF4-FFF2-40B4-BE49-F238E27FC236}">
                <a16:creationId xmlns:a16="http://schemas.microsoft.com/office/drawing/2014/main" id="{A8EF2483-2BA6-A7D6-384D-E8A960D93FF0}"/>
              </a:ext>
              <a:ext uri="{C183D7F6-B498-43B3-948B-1728B52AA6E4}">
                <adec:decorative xmlns:adec="http://schemas.microsoft.com/office/drawing/2017/decorative" val="1"/>
              </a:ext>
            </a:extLst>
          </p:cNvPr>
          <p:cNvSpPr/>
          <p:nvPr/>
        </p:nvSpPr>
        <p:spPr>
          <a:xfrm>
            <a:off x="707050" y="450705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2" name="Graphic 23">
            <a:extLst>
              <a:ext uri="{FF2B5EF4-FFF2-40B4-BE49-F238E27FC236}">
                <a16:creationId xmlns:a16="http://schemas.microsoft.com/office/drawing/2014/main" id="{3E95ED44-E562-4140-AB65-7B7D9853AE07}"/>
              </a:ext>
              <a:ext uri="{C183D7F6-B498-43B3-948B-1728B52AA6E4}">
                <adec:decorative xmlns:adec="http://schemas.microsoft.com/office/drawing/2017/decorative" val="1"/>
              </a:ext>
            </a:extLst>
          </p:cNvPr>
          <p:cNvSpPr/>
          <p:nvPr/>
        </p:nvSpPr>
        <p:spPr>
          <a:xfrm>
            <a:off x="707050" y="493253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15DEEBB2-FAA4-ABDD-3F15-AC399B936030}"/>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3" name="Group 2">
            <a:extLst>
              <a:ext uri="{FF2B5EF4-FFF2-40B4-BE49-F238E27FC236}">
                <a16:creationId xmlns:a16="http://schemas.microsoft.com/office/drawing/2014/main" id="{9F0DD5D5-8D66-C796-6AE6-AE615280A41D}"/>
              </a:ext>
            </a:extLst>
          </p:cNvPr>
          <p:cNvGrpSpPr/>
          <p:nvPr/>
        </p:nvGrpSpPr>
        <p:grpSpPr>
          <a:xfrm>
            <a:off x="3185692" y="1303569"/>
            <a:ext cx="8531745" cy="4344959"/>
            <a:chOff x="3122613" y="2481106"/>
            <a:chExt cx="8521464" cy="4920648"/>
          </a:xfrm>
        </p:grpSpPr>
        <p:grpSp>
          <p:nvGrpSpPr>
            <p:cNvPr id="4" name="Group 3">
              <a:extLst>
                <a:ext uri="{FF2B5EF4-FFF2-40B4-BE49-F238E27FC236}">
                  <a16:creationId xmlns:a16="http://schemas.microsoft.com/office/drawing/2014/main" id="{9EF73316-F0C9-D447-D6EA-75690651A3EB}"/>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6" name="Rectangle: Rounded Corners 5">
                <a:extLst>
                  <a:ext uri="{FF2B5EF4-FFF2-40B4-BE49-F238E27FC236}">
                    <a16:creationId xmlns:a16="http://schemas.microsoft.com/office/drawing/2014/main" id="{4698960E-0D43-43DD-78ED-8C1744F8A903}"/>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7" name="Rectangle: Rounded Corners 6">
                <a:extLst>
                  <a:ext uri="{FF2B5EF4-FFF2-40B4-BE49-F238E27FC236}">
                    <a16:creationId xmlns:a16="http://schemas.microsoft.com/office/drawing/2014/main" id="{99651785-95E4-B944-3F14-3026F63C0415}"/>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5" name="Arrow: Bent 4">
              <a:extLst>
                <a:ext uri="{FF2B5EF4-FFF2-40B4-BE49-F238E27FC236}">
                  <a16:creationId xmlns:a16="http://schemas.microsoft.com/office/drawing/2014/main" id="{3CB76772-EEFF-7CCF-BAAB-53AF9A40C964}"/>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37956912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3E952-3C34-F6DB-0AE5-2DDD75FAC7C5}"/>
            </a:ext>
          </a:extLst>
        </p:cNvPr>
        <p:cNvGrpSpPr/>
        <p:nvPr/>
      </p:nvGrpSpPr>
      <p:grpSpPr>
        <a:xfrm>
          <a:off x="0" y="0"/>
          <a:ext cx="0" cy="0"/>
          <a:chOff x="0" y="0"/>
          <a:chExt cx="0" cy="0"/>
        </a:xfrm>
      </p:grpSpPr>
      <p:sp>
        <p:nvSpPr>
          <p:cNvPr id="15" name="Rounded Rectangle 55">
            <a:extLst>
              <a:ext uri="{FF2B5EF4-FFF2-40B4-BE49-F238E27FC236}">
                <a16:creationId xmlns:a16="http://schemas.microsoft.com/office/drawing/2014/main" id="{09D783FA-A2EB-E823-B9DD-6175AE279DF6}"/>
              </a:ext>
              <a:ext uri="{C183D7F6-B498-43B3-948B-1728B52AA6E4}">
                <adec:decorative xmlns:adec="http://schemas.microsoft.com/office/drawing/2017/decorative" val="1"/>
              </a:ext>
            </a:extLst>
          </p:cNvPr>
          <p:cNvSpPr/>
          <p:nvPr/>
        </p:nvSpPr>
        <p:spPr bwMode="auto">
          <a:xfrm>
            <a:off x="381965" y="1241538"/>
            <a:ext cx="2702781" cy="4832032"/>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6" name="Rounded Rectangle 55">
            <a:extLst>
              <a:ext uri="{FF2B5EF4-FFF2-40B4-BE49-F238E27FC236}">
                <a16:creationId xmlns:a16="http://schemas.microsoft.com/office/drawing/2014/main" id="{C4AB2827-CA6E-AF80-E8AC-F9239CAB39AC}"/>
              </a:ext>
              <a:ext uri="{C183D7F6-B498-43B3-948B-1728B52AA6E4}">
                <adec:decorative xmlns:adec="http://schemas.microsoft.com/office/drawing/2017/decorative" val="1"/>
              </a:ext>
            </a:extLst>
          </p:cNvPr>
          <p:cNvSpPr/>
          <p:nvPr/>
        </p:nvSpPr>
        <p:spPr bwMode="auto">
          <a:xfrm>
            <a:off x="3180488" y="1234931"/>
            <a:ext cx="8497887" cy="4832032"/>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Content Placeholder 4">
            <a:extLst>
              <a:ext uri="{FF2B5EF4-FFF2-40B4-BE49-F238E27FC236}">
                <a16:creationId xmlns:a16="http://schemas.microsoft.com/office/drawing/2014/main" id="{0A9A2387-5EF4-233F-609B-981E9683477F}"/>
              </a:ext>
            </a:extLst>
          </p:cNvPr>
          <p:cNvSpPr txBox="1">
            <a:spLocks/>
          </p:cNvSpPr>
          <p:nvPr/>
        </p:nvSpPr>
        <p:spPr>
          <a:xfrm>
            <a:off x="520117" y="1646177"/>
            <a:ext cx="2801813" cy="2548775"/>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Conversational AI search with enterprise data and virtual assistants</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Agentic RAG for automated decision-making</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NL2SQL for self-service analytics</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Multi-modal RAG for document intelligence</a:t>
            </a:r>
            <a:endParaRPr lang="en-US" sz="2000" noProof="0" dirty="0">
              <a:solidFill>
                <a:srgbClr val="FFFFFF"/>
              </a:solidFill>
            </a:endParaRPr>
          </a:p>
        </p:txBody>
      </p:sp>
      <p:sp>
        <p:nvSpPr>
          <p:cNvPr id="18" name="Graphic 22">
            <a:extLst>
              <a:ext uri="{FF2B5EF4-FFF2-40B4-BE49-F238E27FC236}">
                <a16:creationId xmlns:a16="http://schemas.microsoft.com/office/drawing/2014/main" id="{CA4FEA6E-21FA-E51A-45D5-BF5EF68D6143}"/>
              </a:ext>
            </a:extLst>
          </p:cNvPr>
          <p:cNvSpPr/>
          <p:nvPr/>
        </p:nvSpPr>
        <p:spPr>
          <a:xfrm>
            <a:off x="6749822" y="114217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19" name="TextBox 18">
            <a:extLst>
              <a:ext uri="{FF2B5EF4-FFF2-40B4-BE49-F238E27FC236}">
                <a16:creationId xmlns:a16="http://schemas.microsoft.com/office/drawing/2014/main" id="{3B0B6B24-F53F-35E1-E257-F89FA445333F}"/>
              </a:ext>
            </a:extLst>
          </p:cNvPr>
          <p:cNvSpPr txBox="1"/>
          <p:nvPr/>
        </p:nvSpPr>
        <p:spPr>
          <a:xfrm>
            <a:off x="577992" y="1309327"/>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Use case examples</a:t>
            </a:r>
          </a:p>
        </p:txBody>
      </p:sp>
      <p:sp>
        <p:nvSpPr>
          <p:cNvPr id="20" name="TextBox 19">
            <a:extLst>
              <a:ext uri="{FF2B5EF4-FFF2-40B4-BE49-F238E27FC236}">
                <a16:creationId xmlns:a16="http://schemas.microsoft.com/office/drawing/2014/main" id="{D43F4E9A-8C1A-283F-C245-2207DA367FB3}"/>
              </a:ext>
            </a:extLst>
          </p:cNvPr>
          <p:cNvSpPr txBox="1"/>
          <p:nvPr/>
        </p:nvSpPr>
        <p:spPr>
          <a:xfrm>
            <a:off x="3245575" y="1255300"/>
            <a:ext cx="8432800" cy="4760278"/>
          </a:xfrm>
          <a:prstGeom prst="rect">
            <a:avLst/>
          </a:prstGeom>
          <a:noFill/>
        </p:spPr>
        <p:txBody>
          <a:bodyPr wrap="square">
            <a:spAutoFit/>
          </a:bodyPr>
          <a:lstStyle/>
          <a:p>
            <a:pPr marL="0" marR="0" lvl="1" indent="0" algn="l" defTabSz="914400" rtl="0" eaLnBrk="1" fontAlgn="auto" latinLnBrk="0" hangingPunct="1">
              <a:lnSpc>
                <a:spcPct val="100000"/>
              </a:lnSpc>
              <a:spcAft>
                <a:spcPts val="400"/>
              </a:spcAft>
              <a:buClrTx/>
              <a:buSzTx/>
              <a:buFontTx/>
              <a:buNone/>
              <a:tabLst/>
              <a:defRPr/>
            </a:pPr>
            <a:r>
              <a:rPr kumimoji="0" lang="en-US" sz="1400" i="0" u="none" strike="noStrike" kern="0" cap="none" spc="0" normalizeH="0" baseline="0" noProof="0" dirty="0">
                <a:ln>
                  <a:noFill/>
                </a:ln>
                <a:solidFill>
                  <a:schemeClr val="tx2"/>
                </a:solidFill>
                <a:effectLst/>
                <a:uLnTx/>
                <a:uFillTx/>
                <a:latin typeface="+mj-lt"/>
                <a:ea typeface="+mj-ea"/>
                <a:cs typeface="+mj-cs"/>
              </a:rPr>
              <a:t>1. Customer experience and unified enterprise search</a:t>
            </a:r>
            <a:endParaRPr kumimoji="0" lang="en-US" sz="1400" i="0" u="none" strike="noStrike" kern="1200" cap="none" spc="0" normalizeH="0" baseline="0" noProof="0" dirty="0">
              <a:ln>
                <a:noFill/>
              </a:ln>
              <a:solidFill>
                <a:schemeClr val="tx2"/>
              </a:solidFill>
              <a:effectLst/>
              <a:uLnTx/>
              <a:uFillTx/>
              <a:latin typeface="+mj-lt"/>
              <a:ea typeface="+mj-ea"/>
              <a:cs typeface="+mj-cs"/>
            </a:endParaRPr>
          </a:p>
          <a:p>
            <a:pPr marR="0" lvl="0" indent="0" algn="l" defTabSz="914400" rtl="0" eaLnBrk="1" fontAlgn="auto" latinLnBrk="0" hangingPunct="1">
              <a:lnSpc>
                <a:spcPct val="100000"/>
              </a:lnSpc>
              <a:spcAft>
                <a:spcPts val="1000"/>
              </a:spcAft>
              <a:buClrTx/>
              <a:buSzTx/>
              <a:buFontTx/>
              <a:buNone/>
              <a:tabLst/>
              <a:defRPr/>
            </a:pPr>
            <a:r>
              <a:rPr kumimoji="0" lang="en-US" sz="1100" i="0" u="sng" strike="noStrike" kern="1200" cap="none" spc="0" normalizeH="0" baseline="0" noProof="0" dirty="0">
                <a:ln>
                  <a:noFill/>
                </a:ln>
                <a:effectLst/>
                <a:uLnTx/>
                <a:uFillTx/>
                <a:latin typeface="+mj-lt"/>
                <a:ea typeface="+mj-ea"/>
                <a:cs typeface="+mj-cs"/>
              </a:rPr>
              <a:t>Use case:</a:t>
            </a:r>
            <a:r>
              <a:rPr kumimoji="0" lang="en-US" sz="1100" i="0" u="none" strike="noStrike" kern="1200" cap="none" spc="0" normalizeH="0" baseline="0" noProof="0" dirty="0">
                <a:ln>
                  <a:noFill/>
                </a:ln>
                <a:effectLst/>
                <a:uLnTx/>
                <a:uFillTx/>
                <a:latin typeface="+mj-lt"/>
                <a:ea typeface="+mj-ea"/>
                <a:cs typeface="+mj-cs"/>
              </a:rPr>
              <a:t> Conversational AI search with enterprise data (virtual assistants)</a:t>
            </a:r>
            <a:br>
              <a:rPr kumimoji="0" lang="en-US" sz="1100" b="0" i="0" u="none" strike="noStrike" kern="1200" cap="none" spc="0" normalizeH="0" baseline="0" noProof="0" dirty="0">
                <a:ln>
                  <a:noFill/>
                </a:ln>
                <a:effectLst/>
                <a:uLnTx/>
                <a:uFillTx/>
              </a:rPr>
            </a:br>
            <a:r>
              <a:rPr kumimoji="0" lang="en-US" sz="1100" b="0" i="0" u="none" strike="noStrike" kern="1200" cap="none" spc="0" normalizeH="0" baseline="0" noProof="0" dirty="0">
                <a:ln>
                  <a:noFill/>
                </a:ln>
                <a:effectLst/>
                <a:uLnTx/>
                <a:uFillTx/>
              </a:rPr>
              <a:t>Deploy enterprise-ready Gen AI assistants that deliver instant, context-aware answers by securely searching across structured and unstructured enterprise data (e.g., </a:t>
            </a:r>
            <a:r>
              <a:rPr kumimoji="0" lang="en-US" sz="1100" i="0" u="none" strike="noStrike" kern="1200" cap="none" spc="0" normalizeH="0" baseline="0" noProof="0" dirty="0">
                <a:ln>
                  <a:noFill/>
                </a:ln>
                <a:effectLst/>
                <a:uLnTx/>
                <a:uFillTx/>
              </a:rPr>
              <a:t>Microsoft Fabric</a:t>
            </a:r>
            <a:r>
              <a:rPr kumimoji="0" lang="en-US" sz="1100" b="0" i="0" u="none" strike="noStrike" kern="1200" cap="none" spc="0" normalizeH="0" baseline="0" noProof="0" dirty="0">
                <a:ln>
                  <a:noFill/>
                </a:ln>
                <a:effectLst/>
                <a:uLnTx/>
                <a:uFillTx/>
              </a:rPr>
              <a:t>, SharePoint).</a:t>
            </a:r>
            <a:br>
              <a:rPr kumimoji="0" lang="en-US" sz="1100" b="0" i="0" u="none" strike="noStrike" kern="1200" cap="none" spc="0" normalizeH="0" baseline="0" noProof="0" dirty="0">
                <a:ln>
                  <a:noFill/>
                </a:ln>
                <a:effectLst/>
                <a:uLnTx/>
                <a:uFillTx/>
              </a:rPr>
            </a:br>
            <a:r>
              <a:rPr kumimoji="0" lang="en-US" sz="1100" i="0" u="none" strike="noStrike" kern="1200" cap="none" spc="0" normalizeH="0" baseline="0" noProof="0" dirty="0">
                <a:ln>
                  <a:noFill/>
                </a:ln>
                <a:effectLst/>
                <a:uLnTx/>
                <a:uFillTx/>
                <a:latin typeface="+mj-lt"/>
                <a:ea typeface="+mj-ea"/>
                <a:cs typeface="+mj-cs"/>
              </a:rPr>
              <a:t>Business benefits</a:t>
            </a:r>
            <a:r>
              <a:rPr kumimoji="0" lang="en-US" sz="1100" b="0" i="0" u="none" strike="noStrike" kern="1200" cap="none" spc="0" normalizeH="0" baseline="0" noProof="0" dirty="0">
                <a:ln>
                  <a:noFill/>
                </a:ln>
                <a:effectLst/>
                <a:uLnTx/>
                <a:uFillTx/>
                <a:latin typeface="+mj-lt"/>
              </a:rPr>
              <a:t>: </a:t>
            </a:r>
            <a:r>
              <a:rPr kumimoji="0" lang="en-US" sz="1100" b="0" i="0" u="none" strike="noStrike" kern="1200" cap="none" spc="0" normalizeH="0" baseline="0" noProof="0" dirty="0">
                <a:ln>
                  <a:noFill/>
                </a:ln>
                <a:effectLst/>
                <a:uLnTx/>
                <a:uFillTx/>
              </a:rPr>
              <a:t>Improves user satisfaction, reduces support costs, accelerates information access, ensures security </a:t>
            </a:r>
            <a:br>
              <a:rPr kumimoji="0" lang="en-US" sz="1100" b="0" i="0" u="none" strike="noStrike" kern="1200" cap="none" spc="0" normalizeH="0" baseline="0" noProof="0" dirty="0">
                <a:ln>
                  <a:noFill/>
                </a:ln>
                <a:effectLst/>
                <a:uLnTx/>
                <a:uFillTx/>
              </a:rPr>
            </a:br>
            <a:r>
              <a:rPr kumimoji="0" lang="en-US" sz="1100" b="0" i="0" u="none" strike="noStrike" kern="1200" cap="none" spc="0" normalizeH="0" baseline="0" noProof="0" dirty="0">
                <a:ln>
                  <a:noFill/>
                </a:ln>
                <a:effectLst/>
                <a:uLnTx/>
                <a:uFillTx/>
              </a:rPr>
              <a:t>and compliance.</a:t>
            </a:r>
          </a:p>
          <a:p>
            <a:pPr marR="0" lvl="0" indent="0" algn="l" defTabSz="914400" rtl="0" eaLnBrk="1" fontAlgn="auto" latinLnBrk="0" hangingPunct="1">
              <a:lnSpc>
                <a:spcPct val="100000"/>
              </a:lnSpc>
              <a:spcAft>
                <a:spcPts val="400"/>
              </a:spcAft>
              <a:buClrTx/>
              <a:buSzTx/>
              <a:buFontTx/>
              <a:buNone/>
              <a:tabLst/>
              <a:defRPr/>
            </a:pPr>
            <a:r>
              <a:rPr kumimoji="0" lang="en-US" sz="1400" i="0" u="none" strike="noStrike" kern="0" cap="none" spc="0" normalizeH="0" baseline="0" noProof="0" dirty="0">
                <a:ln>
                  <a:noFill/>
                </a:ln>
                <a:solidFill>
                  <a:schemeClr val="tx2"/>
                </a:solidFill>
                <a:effectLst/>
                <a:uLnTx/>
                <a:uFillTx/>
                <a:latin typeface="+mj-lt"/>
                <a:ea typeface="+mj-ea"/>
                <a:cs typeface="+mj-cs"/>
              </a:rPr>
              <a:t>2. Operational efficiency and automation</a:t>
            </a:r>
            <a:endParaRPr kumimoji="0" lang="en-US" sz="1400" i="0" u="none" strike="noStrike" kern="1200" cap="none" spc="0" normalizeH="0" baseline="0" noProof="0" dirty="0">
              <a:ln>
                <a:noFill/>
              </a:ln>
              <a:solidFill>
                <a:schemeClr val="tx2"/>
              </a:solidFill>
              <a:effectLst/>
              <a:uLnTx/>
              <a:uFillTx/>
              <a:latin typeface="+mj-lt"/>
              <a:ea typeface="+mj-ea"/>
              <a:cs typeface="+mj-cs"/>
            </a:endParaRPr>
          </a:p>
          <a:p>
            <a:pPr marR="0" lvl="0" indent="0" algn="l" defTabSz="914400" rtl="0" eaLnBrk="1" fontAlgn="auto" latinLnBrk="0" hangingPunct="1">
              <a:lnSpc>
                <a:spcPct val="100000"/>
              </a:lnSpc>
              <a:spcAft>
                <a:spcPts val="1000"/>
              </a:spcAft>
              <a:buClrTx/>
              <a:buSzTx/>
              <a:buFontTx/>
              <a:buNone/>
              <a:tabLst/>
              <a:defRPr/>
            </a:pPr>
            <a:r>
              <a:rPr kumimoji="0" lang="en-US" sz="1100" i="0" u="sng" strike="noStrike" kern="1200" cap="none" spc="0" normalizeH="0" baseline="0" noProof="0" dirty="0">
                <a:ln>
                  <a:noFill/>
                </a:ln>
                <a:effectLst/>
                <a:uLnTx/>
                <a:uFillTx/>
                <a:latin typeface="+mj-lt"/>
                <a:ea typeface="+mj-ea"/>
                <a:cs typeface="+mj-cs"/>
              </a:rPr>
              <a:t>Use case:</a:t>
            </a:r>
            <a:r>
              <a:rPr kumimoji="0" lang="en-US" sz="1100" i="0" u="none" strike="noStrike" kern="1200" cap="none" spc="0" normalizeH="0" baseline="0" noProof="0" dirty="0">
                <a:ln>
                  <a:noFill/>
                </a:ln>
                <a:effectLst/>
                <a:uLnTx/>
                <a:uFillTx/>
                <a:latin typeface="+mj-lt"/>
                <a:ea typeface="+mj-ea"/>
                <a:cs typeface="+mj-cs"/>
              </a:rPr>
              <a:t> Agentic RAG for automated decision-making</a:t>
            </a:r>
            <a:br>
              <a:rPr kumimoji="0" lang="en-US" sz="1100" b="0" i="0" u="none" strike="noStrike" kern="1200" cap="none" spc="0" normalizeH="0" baseline="0" noProof="0" dirty="0">
                <a:ln>
                  <a:noFill/>
                </a:ln>
                <a:effectLst/>
                <a:uLnTx/>
                <a:uFillTx/>
              </a:rPr>
            </a:br>
            <a:r>
              <a:rPr kumimoji="0" lang="en-US" sz="1100" b="0" i="0" u="none" strike="noStrike" kern="1200" cap="none" spc="0" normalizeH="0" baseline="0" noProof="0" dirty="0">
                <a:ln>
                  <a:noFill/>
                </a:ln>
                <a:effectLst/>
                <a:uLnTx/>
                <a:uFillTx/>
              </a:rPr>
              <a:t>Leverage autonomous agents to orchestrate multi-step business processes—such as report generation, compliance checks, or policy analysis—by integrating LLMs with external tools and databases.</a:t>
            </a:r>
            <a:br>
              <a:rPr kumimoji="0" lang="en-US" sz="1100" b="0" i="0" u="none" strike="noStrike" kern="1200" cap="none" spc="0" normalizeH="0" baseline="0" noProof="0" dirty="0">
                <a:ln>
                  <a:noFill/>
                </a:ln>
                <a:effectLst/>
                <a:uLnTx/>
                <a:uFillTx/>
              </a:rPr>
            </a:br>
            <a:r>
              <a:rPr kumimoji="0" lang="en-US" sz="1100" i="0" u="none" strike="noStrike" kern="1200" cap="none" spc="0" normalizeH="0" baseline="0" noProof="0" dirty="0">
                <a:ln>
                  <a:noFill/>
                </a:ln>
                <a:effectLst/>
                <a:uLnTx/>
                <a:uFillTx/>
                <a:latin typeface="+mj-lt"/>
                <a:ea typeface="+mj-ea"/>
                <a:cs typeface="+mj-cs"/>
              </a:rPr>
              <a:t>Business benefits</a:t>
            </a:r>
            <a:r>
              <a:rPr kumimoji="0" lang="en-US" sz="1100" b="0" i="0" u="none" strike="noStrike" kern="1200" cap="none" spc="0" normalizeH="0" baseline="0" noProof="0" dirty="0">
                <a:ln>
                  <a:noFill/>
                </a:ln>
                <a:effectLst/>
                <a:uLnTx/>
                <a:uFillTx/>
                <a:latin typeface="+mj-lt"/>
              </a:rPr>
              <a:t>: </a:t>
            </a:r>
            <a:r>
              <a:rPr kumimoji="0" lang="en-US" sz="1100" b="0" i="0" u="none" strike="noStrike" kern="1200" cap="none" spc="0" normalizeH="0" baseline="0" noProof="0" dirty="0">
                <a:ln>
                  <a:noFill/>
                </a:ln>
                <a:effectLst/>
                <a:uLnTx/>
                <a:uFillTx/>
              </a:rPr>
              <a:t>Reduces manual effort, minimizes errors, enables faster decisions, improves process scalability.</a:t>
            </a:r>
          </a:p>
          <a:p>
            <a:pPr marR="0" lvl="0" indent="0" algn="l" defTabSz="914400" rtl="0" eaLnBrk="1" fontAlgn="auto" latinLnBrk="0" hangingPunct="1">
              <a:lnSpc>
                <a:spcPct val="100000"/>
              </a:lnSpc>
              <a:spcAft>
                <a:spcPts val="400"/>
              </a:spcAft>
              <a:buClrTx/>
              <a:buSzTx/>
              <a:buFontTx/>
              <a:buNone/>
              <a:tabLst/>
              <a:defRPr/>
            </a:pPr>
            <a:r>
              <a:rPr kumimoji="0" lang="en-US" sz="1400" i="0" u="none" strike="noStrike" kern="0" cap="none" spc="0" normalizeH="0" baseline="0" noProof="0" dirty="0">
                <a:ln>
                  <a:noFill/>
                </a:ln>
                <a:solidFill>
                  <a:schemeClr val="tx2"/>
                </a:solidFill>
                <a:effectLst/>
                <a:uLnTx/>
                <a:uFillTx/>
                <a:latin typeface="+mj-lt"/>
                <a:ea typeface="+mj-ea"/>
                <a:cs typeface="+mj-cs"/>
              </a:rPr>
              <a:t>3. Data-driven insights and analytics</a:t>
            </a:r>
          </a:p>
          <a:p>
            <a:pPr marR="0" lvl="0" indent="0" algn="l" defTabSz="914400" rtl="0" eaLnBrk="1" fontAlgn="auto" latinLnBrk="0" hangingPunct="1">
              <a:lnSpc>
                <a:spcPct val="100000"/>
              </a:lnSpc>
              <a:spcAft>
                <a:spcPts val="1000"/>
              </a:spcAft>
              <a:buClrTx/>
              <a:buSzTx/>
              <a:buFontTx/>
              <a:buNone/>
              <a:tabLst/>
              <a:defRPr/>
            </a:pPr>
            <a:r>
              <a:rPr kumimoji="0" lang="en-US" sz="1100" i="0" u="sng" strike="noStrike" kern="1200" cap="none" spc="0" normalizeH="0" baseline="0" noProof="0" dirty="0">
                <a:ln>
                  <a:noFill/>
                </a:ln>
                <a:effectLst/>
                <a:uLnTx/>
                <a:uFillTx/>
                <a:latin typeface="+mj-lt"/>
                <a:ea typeface="+mj-ea"/>
                <a:cs typeface="+mj-cs"/>
              </a:rPr>
              <a:t>Use case</a:t>
            </a:r>
            <a:r>
              <a:rPr kumimoji="0" lang="en-US" sz="1100" i="0" u="none" strike="noStrike" kern="1200" cap="none" spc="0" normalizeH="0" baseline="0" noProof="0" dirty="0">
                <a:ln>
                  <a:noFill/>
                </a:ln>
                <a:effectLst/>
                <a:uLnTx/>
                <a:uFillTx/>
                <a:latin typeface="+mj-lt"/>
                <a:ea typeface="+mj-ea"/>
                <a:cs typeface="+mj-cs"/>
              </a:rPr>
              <a:t>: NL2SQL for self-service analytics</a:t>
            </a:r>
            <a:br>
              <a:rPr kumimoji="0" lang="en-US" sz="1100" b="0" i="0" u="none" strike="noStrike" kern="1200" cap="none" spc="0" normalizeH="0" baseline="0" noProof="0" dirty="0">
                <a:ln>
                  <a:noFill/>
                </a:ln>
                <a:effectLst/>
                <a:uLnTx/>
                <a:uFillTx/>
              </a:rPr>
            </a:br>
            <a:r>
              <a:rPr kumimoji="0" lang="en-US" sz="1100" b="0" i="0" u="none" strike="noStrike" kern="1200" cap="none" spc="0" normalizeH="0" baseline="0" noProof="0" dirty="0">
                <a:ln>
                  <a:noFill/>
                </a:ln>
                <a:effectLst/>
                <a:uLnTx/>
                <a:uFillTx/>
              </a:rPr>
              <a:t>Empower business users to ask natural language questions and receive real-time, actionable insights from enterprise databases—without writing code.</a:t>
            </a:r>
            <a:br>
              <a:rPr kumimoji="0" lang="en-US" sz="1100" b="0" i="0" u="none" strike="noStrike" kern="1200" cap="none" spc="0" normalizeH="0" baseline="0" noProof="0" dirty="0">
                <a:ln>
                  <a:noFill/>
                </a:ln>
                <a:effectLst/>
                <a:uLnTx/>
                <a:uFillTx/>
              </a:rPr>
            </a:br>
            <a:r>
              <a:rPr kumimoji="0" lang="en-US" sz="1100" i="0" u="none" strike="noStrike" kern="1200" cap="none" spc="0" normalizeH="0" baseline="0" noProof="0" dirty="0">
                <a:ln>
                  <a:noFill/>
                </a:ln>
                <a:effectLst/>
                <a:uLnTx/>
                <a:uFillTx/>
                <a:latin typeface="+mj-lt"/>
                <a:ea typeface="+mj-ea"/>
                <a:cs typeface="+mj-cs"/>
              </a:rPr>
              <a:t>Business benefits</a:t>
            </a:r>
            <a:r>
              <a:rPr kumimoji="0" lang="en-US" sz="1100" b="0" i="0" u="none" strike="noStrike" kern="1200" cap="none" spc="0" normalizeH="0" baseline="0" noProof="0" dirty="0">
                <a:ln>
                  <a:noFill/>
                </a:ln>
                <a:effectLst/>
                <a:uLnTx/>
                <a:uFillTx/>
                <a:latin typeface="+mj-lt"/>
              </a:rPr>
              <a:t>: </a:t>
            </a:r>
            <a:r>
              <a:rPr kumimoji="0" lang="en-US" sz="1100" b="0" i="0" u="none" strike="noStrike" kern="1200" cap="none" spc="0" normalizeH="0" baseline="0" noProof="0" dirty="0">
                <a:ln>
                  <a:noFill/>
                </a:ln>
                <a:effectLst/>
                <a:uLnTx/>
                <a:uFillTx/>
              </a:rPr>
              <a:t>Democratizes data access, accelerates reporting, improves decision-making, reduces dependency on </a:t>
            </a:r>
            <a:br>
              <a:rPr kumimoji="0" lang="en-US" sz="1100" b="0" i="0" u="none" strike="noStrike" kern="1200" cap="none" spc="0" normalizeH="0" baseline="0" noProof="0" dirty="0">
                <a:ln>
                  <a:noFill/>
                </a:ln>
                <a:effectLst/>
                <a:uLnTx/>
                <a:uFillTx/>
              </a:rPr>
            </a:br>
            <a:r>
              <a:rPr kumimoji="0" lang="en-US" sz="1100" b="0" i="0" u="none" strike="noStrike" kern="1200" cap="none" spc="0" normalizeH="0" baseline="0" noProof="0" dirty="0">
                <a:ln>
                  <a:noFill/>
                </a:ln>
                <a:effectLst/>
                <a:uLnTx/>
                <a:uFillTx/>
              </a:rPr>
              <a:t>technical teams.</a:t>
            </a:r>
          </a:p>
          <a:p>
            <a:pPr marR="0" lvl="0" indent="0" algn="l" defTabSz="914400" rtl="0" eaLnBrk="1" fontAlgn="auto" latinLnBrk="0" hangingPunct="1">
              <a:lnSpc>
                <a:spcPct val="100000"/>
              </a:lnSpc>
              <a:spcAft>
                <a:spcPts val="400"/>
              </a:spcAft>
              <a:buClrTx/>
              <a:buSzTx/>
              <a:buFontTx/>
              <a:buNone/>
              <a:tabLst/>
              <a:defRPr/>
            </a:pPr>
            <a:r>
              <a:rPr kumimoji="0" lang="en-US" sz="1400" i="0" u="none" strike="noStrike" kern="0" cap="none" spc="0" normalizeH="0" baseline="0" noProof="0" dirty="0">
                <a:ln>
                  <a:noFill/>
                </a:ln>
                <a:solidFill>
                  <a:schemeClr val="tx2"/>
                </a:solidFill>
                <a:effectLst/>
                <a:uLnTx/>
                <a:uFillTx/>
                <a:latin typeface="+mj-lt"/>
                <a:ea typeface="+mj-ea"/>
                <a:cs typeface="+mj-cs"/>
              </a:rPr>
              <a:t>4. Knowledge management and compliance</a:t>
            </a:r>
          </a:p>
          <a:p>
            <a:pPr marR="0" lvl="0" indent="0" algn="l" defTabSz="914400" rtl="0" eaLnBrk="1" fontAlgn="auto" latinLnBrk="0" hangingPunct="1">
              <a:lnSpc>
                <a:spcPct val="100000"/>
              </a:lnSpc>
              <a:spcAft>
                <a:spcPts val="400"/>
              </a:spcAft>
              <a:buClrTx/>
              <a:buSzTx/>
              <a:buFontTx/>
              <a:buNone/>
              <a:tabLst/>
              <a:defRPr/>
            </a:pPr>
            <a:r>
              <a:rPr kumimoji="0" lang="en-US" sz="1100" i="0" u="sng" strike="noStrike" kern="1200" cap="none" spc="0" normalizeH="0" baseline="0" noProof="0" dirty="0">
                <a:ln>
                  <a:noFill/>
                </a:ln>
                <a:effectLst/>
                <a:uLnTx/>
                <a:uFillTx/>
                <a:latin typeface="+mj-lt"/>
                <a:ea typeface="+mj-ea"/>
                <a:cs typeface="+mj-cs"/>
              </a:rPr>
              <a:t>Use case:</a:t>
            </a:r>
            <a:r>
              <a:rPr kumimoji="0" lang="en-US" sz="1100" i="0" u="none" strike="noStrike" kern="1200" cap="none" spc="0" normalizeH="0" baseline="0" noProof="0" dirty="0">
                <a:ln>
                  <a:noFill/>
                </a:ln>
                <a:effectLst/>
                <a:uLnTx/>
                <a:uFillTx/>
                <a:latin typeface="+mj-lt"/>
                <a:ea typeface="+mj-ea"/>
                <a:cs typeface="+mj-cs"/>
              </a:rPr>
              <a:t> Multi-modal RAG for document intelligence</a:t>
            </a:r>
            <a:br>
              <a:rPr kumimoji="0" lang="en-US" sz="1100" b="0" i="0" u="none" strike="noStrike" kern="1200" cap="none" spc="0" normalizeH="0" baseline="0" noProof="0" dirty="0">
                <a:ln>
                  <a:noFill/>
                </a:ln>
                <a:effectLst/>
                <a:uLnTx/>
                <a:uFillTx/>
              </a:rPr>
            </a:br>
            <a:r>
              <a:rPr kumimoji="0" lang="en-US" sz="1100" b="0" i="0" u="none" strike="noStrike" kern="1200" cap="none" spc="0" normalizeH="0" baseline="0" noProof="0" dirty="0">
                <a:ln>
                  <a:noFill/>
                </a:ln>
                <a:effectLst/>
                <a:uLnTx/>
                <a:uFillTx/>
              </a:rPr>
              <a:t>Collectively index and retrieve information from both text and visual assets (e.g., product manuals, annotated diagrams) to support compliance audits, knowledge management, and regulatory reporting.</a:t>
            </a:r>
            <a:br>
              <a:rPr kumimoji="0" lang="en-US" sz="1100" b="0" i="0" u="none" strike="noStrike" kern="1200" cap="none" spc="0" normalizeH="0" baseline="0" noProof="0" dirty="0">
                <a:ln>
                  <a:noFill/>
                </a:ln>
                <a:effectLst/>
                <a:uLnTx/>
                <a:uFillTx/>
              </a:rPr>
            </a:br>
            <a:r>
              <a:rPr kumimoji="0" lang="en-US" sz="1100" i="0" u="none" strike="noStrike" kern="1200" cap="none" spc="0" normalizeH="0" baseline="0" noProof="0" dirty="0">
                <a:ln>
                  <a:noFill/>
                </a:ln>
                <a:effectLst/>
                <a:uLnTx/>
                <a:uFillTx/>
                <a:latin typeface="+mj-lt"/>
                <a:ea typeface="+mj-ea"/>
                <a:cs typeface="+mj-cs"/>
              </a:rPr>
              <a:t>Business benefits:</a:t>
            </a:r>
            <a:r>
              <a:rPr kumimoji="0" lang="en-US" sz="1100" b="0" i="0" u="none" strike="noStrike" kern="1200" cap="none" spc="0" normalizeH="0" baseline="0" noProof="0" dirty="0">
                <a:ln>
                  <a:noFill/>
                </a:ln>
                <a:effectLst/>
                <a:uLnTx/>
                <a:uFillTx/>
                <a:latin typeface="+mj-lt"/>
              </a:rPr>
              <a:t> </a:t>
            </a:r>
            <a:r>
              <a:rPr kumimoji="0" lang="en-US" sz="1100" b="0" i="0" u="none" strike="noStrike" kern="1200" cap="none" spc="0" normalizeH="0" baseline="0" noProof="0" dirty="0">
                <a:ln>
                  <a:noFill/>
                </a:ln>
                <a:effectLst/>
                <a:uLnTx/>
                <a:uFillTx/>
              </a:rPr>
              <a:t>Improves information accessibility, ensures accuracy, supports audits and regulatory needs, enhances </a:t>
            </a:r>
            <a:br>
              <a:rPr kumimoji="0" lang="en-US" sz="1100" b="0" i="0" u="none" strike="noStrike" kern="1200" cap="none" spc="0" normalizeH="0" baseline="0" noProof="0" dirty="0">
                <a:ln>
                  <a:noFill/>
                </a:ln>
                <a:effectLst/>
                <a:uLnTx/>
                <a:uFillTx/>
              </a:rPr>
            </a:br>
            <a:r>
              <a:rPr kumimoji="0" lang="en-US" sz="1100" b="0" i="0" u="none" strike="noStrike" kern="1200" cap="none" spc="0" normalizeH="0" baseline="0" noProof="0" dirty="0">
                <a:ln>
                  <a:noFill/>
                </a:ln>
                <a:effectLst/>
                <a:uLnTx/>
                <a:uFillTx/>
              </a:rPr>
              <a:t>knowledge reuse.</a:t>
            </a:r>
            <a:endParaRPr kumimoji="0" lang="en-US" sz="1600" b="0" i="0" u="none" strike="noStrike" kern="1200" cap="none" spc="0" normalizeH="0" baseline="0" noProof="0" dirty="0">
              <a:ln>
                <a:noFill/>
              </a:ln>
              <a:effectLst/>
              <a:uLnTx/>
              <a:uFillTx/>
            </a:endParaRPr>
          </a:p>
        </p:txBody>
      </p:sp>
      <p:sp>
        <p:nvSpPr>
          <p:cNvPr id="22" name="Title 48">
            <a:extLst>
              <a:ext uri="{FF2B5EF4-FFF2-40B4-BE49-F238E27FC236}">
                <a16:creationId xmlns:a16="http://schemas.microsoft.com/office/drawing/2014/main" id="{60F55310-350F-CEEB-1DAF-5F77FDEDD1CF}"/>
              </a:ext>
            </a:extLst>
          </p:cNvPr>
          <p:cNvSpPr>
            <a:spLocks noGrp="1"/>
          </p:cNvSpPr>
          <p:nvPr>
            <p:ph type="title"/>
          </p:nvPr>
        </p:nvSpPr>
        <p:spPr>
          <a:xfrm>
            <a:off x="381965" y="508508"/>
            <a:ext cx="5753964" cy="763523"/>
          </a:xfrm>
        </p:spPr>
        <p:txBody>
          <a:bodyPr>
            <a:noAutofit/>
          </a:bodyPr>
          <a:lstStyle/>
          <a:p>
            <a:pPr lvl="0" defTabSz="914400">
              <a:spcBef>
                <a:spcPts val="0"/>
              </a:spcBef>
              <a:defRPr/>
            </a:pPr>
            <a:r>
              <a:rPr lang="en-US" sz="2800" noProof="0" dirty="0">
                <a:cs typeface="Segoe Sans Text" pitchFamily="2" charset="0"/>
              </a:rPr>
              <a:t>GenAI Assistant (RAG)</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Segoe UI Semibold"/>
              </a:rPr>
              <a:t>Jumpstart use case examples</a:t>
            </a:r>
            <a:endParaRPr lang="en-US" sz="2800" noProof="0" dirty="0"/>
          </a:p>
        </p:txBody>
      </p:sp>
      <p:sp>
        <p:nvSpPr>
          <p:cNvPr id="7" name="Graphic 23">
            <a:extLst>
              <a:ext uri="{FF2B5EF4-FFF2-40B4-BE49-F238E27FC236}">
                <a16:creationId xmlns:a16="http://schemas.microsoft.com/office/drawing/2014/main" id="{38CDB50F-995D-F4F2-8EFA-9D2FF357CD5C}"/>
              </a:ext>
              <a:ext uri="{C183D7F6-B498-43B3-948B-1728B52AA6E4}">
                <adec:decorative xmlns:adec="http://schemas.microsoft.com/office/drawing/2017/decorative" val="1"/>
              </a:ext>
            </a:extLst>
          </p:cNvPr>
          <p:cNvSpPr/>
          <p:nvPr/>
        </p:nvSpPr>
        <p:spPr>
          <a:xfrm>
            <a:off x="577992" y="177109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Graphic 23">
            <a:extLst>
              <a:ext uri="{FF2B5EF4-FFF2-40B4-BE49-F238E27FC236}">
                <a16:creationId xmlns:a16="http://schemas.microsoft.com/office/drawing/2014/main" id="{9FB94E70-DBE3-812C-F2D1-8E6490C1A59A}"/>
              </a:ext>
              <a:ext uri="{C183D7F6-B498-43B3-948B-1728B52AA6E4}">
                <adec:decorative xmlns:adec="http://schemas.microsoft.com/office/drawing/2017/decorative" val="1"/>
              </a:ext>
            </a:extLst>
          </p:cNvPr>
          <p:cNvSpPr/>
          <p:nvPr/>
        </p:nvSpPr>
        <p:spPr>
          <a:xfrm>
            <a:off x="577992" y="2681406"/>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Graphic 23">
            <a:extLst>
              <a:ext uri="{FF2B5EF4-FFF2-40B4-BE49-F238E27FC236}">
                <a16:creationId xmlns:a16="http://schemas.microsoft.com/office/drawing/2014/main" id="{6ED97533-C8A3-A807-0DBB-63F1CC871FA8}"/>
              </a:ext>
              <a:ext uri="{C183D7F6-B498-43B3-948B-1728B52AA6E4}">
                <adec:decorative xmlns:adec="http://schemas.microsoft.com/office/drawing/2017/decorative" val="1"/>
              </a:ext>
            </a:extLst>
          </p:cNvPr>
          <p:cNvSpPr/>
          <p:nvPr/>
        </p:nvSpPr>
        <p:spPr>
          <a:xfrm>
            <a:off x="577992" y="331181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Graphic 23">
            <a:extLst>
              <a:ext uri="{FF2B5EF4-FFF2-40B4-BE49-F238E27FC236}">
                <a16:creationId xmlns:a16="http://schemas.microsoft.com/office/drawing/2014/main" id="{01D80625-FF45-2551-3005-AE9907D98650}"/>
              </a:ext>
              <a:ext uri="{C183D7F6-B498-43B3-948B-1728B52AA6E4}">
                <adec:decorative xmlns:adec="http://schemas.microsoft.com/office/drawing/2017/decorative" val="1"/>
              </a:ext>
            </a:extLst>
          </p:cNvPr>
          <p:cNvSpPr/>
          <p:nvPr/>
        </p:nvSpPr>
        <p:spPr>
          <a:xfrm>
            <a:off x="577992" y="368454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9761BCA8-78D5-1BF2-7561-F2CFD9344741}"/>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629401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EF25-4D7B-861B-1F4B-DB17581136D7}"/>
            </a:ext>
          </a:extLst>
        </p:cNvPr>
        <p:cNvGrpSpPr/>
        <p:nvPr/>
      </p:nvGrpSpPr>
      <p:grpSpPr>
        <a:xfrm>
          <a:off x="0" y="0"/>
          <a:ext cx="0" cy="0"/>
          <a:chOff x="0" y="0"/>
          <a:chExt cx="0" cy="0"/>
        </a:xfrm>
      </p:grpSpPr>
      <p:sp>
        <p:nvSpPr>
          <p:cNvPr id="17" name="Title 5">
            <a:extLst>
              <a:ext uri="{FF2B5EF4-FFF2-40B4-BE49-F238E27FC236}">
                <a16:creationId xmlns:a16="http://schemas.microsoft.com/office/drawing/2014/main" id="{9D3FDE44-1F16-80AD-27E8-4506AA740F35}"/>
              </a:ext>
            </a:extLst>
          </p:cNvPr>
          <p:cNvSpPr>
            <a:spLocks noGrp="1"/>
          </p:cNvSpPr>
          <p:nvPr>
            <p:ph type="title"/>
          </p:nvPr>
        </p:nvSpPr>
        <p:spPr>
          <a:xfrm>
            <a:off x="588963" y="476713"/>
            <a:ext cx="4596495" cy="737604"/>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LLM Fine –Tuning </a:t>
            </a:r>
            <a:br>
              <a:rPr lang="en-US" sz="2800" noProof="0" dirty="0"/>
            </a:br>
            <a:r>
              <a:rPr lang="en-US" sz="1800" spc="0" noProof="0" dirty="0">
                <a:ln>
                  <a:noFill/>
                </a:ln>
                <a:solidFill>
                  <a:srgbClr val="000000"/>
                </a:solidFill>
                <a:latin typeface="Segoe Sans Text Semibold"/>
                <a:cs typeface="Segoe Sans Display Semilight" pitchFamily="2" charset="0"/>
              </a:rPr>
              <a:t>U</a:t>
            </a:r>
            <a:r>
              <a:rPr kumimoji="0" lang="en-US" sz="1800" b="0" i="0" u="none" strike="noStrike" kern="1200" cap="none" spc="0" normalizeH="0" baseline="0" noProof="0" dirty="0">
                <a:ln>
                  <a:noFill/>
                </a:ln>
                <a:solidFill>
                  <a:srgbClr val="000000"/>
                </a:solidFill>
                <a:effectLst/>
                <a:uLnTx/>
                <a:uFillTx/>
                <a:latin typeface="Segoe Sans Text Semibold"/>
                <a:ea typeface="+mn-ea"/>
                <a:cs typeface="Segoe Sans Display Semilight" pitchFamily="2" charset="0"/>
              </a:rPr>
              <a:t>se </a:t>
            </a:r>
            <a:r>
              <a:rPr lang="en-US" sz="1800" spc="0" noProof="0" dirty="0">
                <a:ln>
                  <a:noFill/>
                </a:ln>
                <a:solidFill>
                  <a:srgbClr val="000000"/>
                </a:solidFill>
                <a:latin typeface="Segoe Sans Text Semibold"/>
                <a:cs typeface="Segoe Sans Display Semilight" pitchFamily="2" charset="0"/>
              </a:rPr>
              <a:t>C</a:t>
            </a:r>
            <a:r>
              <a:rPr kumimoji="0" lang="en-US" sz="1800" b="0" i="0" u="none" strike="noStrike" kern="1200" cap="none" spc="0" normalizeH="0" baseline="0" noProof="0" dirty="0">
                <a:ln>
                  <a:noFill/>
                </a:ln>
                <a:solidFill>
                  <a:srgbClr val="000000"/>
                </a:solidFill>
                <a:effectLst/>
                <a:uLnTx/>
                <a:uFillTx/>
                <a:latin typeface="Segoe Sans Text Semibold"/>
                <a:ea typeface="+mn-ea"/>
                <a:cs typeface="Segoe Sans Display Semilight" pitchFamily="2" charset="0"/>
              </a:rPr>
              <a:t>ase </a:t>
            </a:r>
            <a:r>
              <a:rPr lang="en-US" sz="1800" spc="0" noProof="0" dirty="0">
                <a:ln>
                  <a:noFill/>
                </a:ln>
                <a:solidFill>
                  <a:srgbClr val="000000"/>
                </a:solidFill>
                <a:latin typeface="Segoe Sans Text Semibold"/>
                <a:cs typeface="Segoe Sans Display Semilight" pitchFamily="2" charset="0"/>
              </a:rPr>
              <a:t>E</a:t>
            </a:r>
            <a:r>
              <a:rPr kumimoji="0" lang="en-US" sz="1800" b="0" i="0" u="none" strike="noStrike" kern="1200" cap="none" spc="0" normalizeH="0" baseline="0" noProof="0" dirty="0">
                <a:ln>
                  <a:noFill/>
                </a:ln>
                <a:solidFill>
                  <a:srgbClr val="000000"/>
                </a:solidFill>
                <a:effectLst/>
                <a:uLnTx/>
                <a:uFillTx/>
                <a:latin typeface="Segoe Sans Text Semibold"/>
                <a:ea typeface="+mn-ea"/>
                <a:cs typeface="Segoe Sans Display Semilight" pitchFamily="2" charset="0"/>
              </a:rPr>
              <a:t>xamples</a:t>
            </a:r>
            <a:endParaRPr lang="en-US" sz="2800" noProof="0" dirty="0"/>
          </a:p>
        </p:txBody>
      </p:sp>
      <p:sp>
        <p:nvSpPr>
          <p:cNvPr id="19" name="Rounded Rectangle 55">
            <a:extLst>
              <a:ext uri="{FF2B5EF4-FFF2-40B4-BE49-F238E27FC236}">
                <a16:creationId xmlns:a16="http://schemas.microsoft.com/office/drawing/2014/main" id="{E9DE2CF8-6EAE-A28D-5C96-15D91AC135D5}"/>
              </a:ext>
              <a:ext uri="{C183D7F6-B498-43B3-948B-1728B52AA6E4}">
                <adec:decorative xmlns:adec="http://schemas.microsoft.com/office/drawing/2017/decorative" val="1"/>
              </a:ext>
            </a:extLst>
          </p:cNvPr>
          <p:cNvSpPr/>
          <p:nvPr/>
        </p:nvSpPr>
        <p:spPr bwMode="auto">
          <a:xfrm>
            <a:off x="577993" y="1236569"/>
            <a:ext cx="2448877" cy="4939343"/>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0" name="Rounded Rectangle 55">
            <a:extLst>
              <a:ext uri="{FF2B5EF4-FFF2-40B4-BE49-F238E27FC236}">
                <a16:creationId xmlns:a16="http://schemas.microsoft.com/office/drawing/2014/main" id="{F19520F2-4DE6-55BF-E5DC-53767D751CDA}"/>
              </a:ext>
              <a:ext uri="{C183D7F6-B498-43B3-948B-1728B52AA6E4}">
                <adec:decorative xmlns:adec="http://schemas.microsoft.com/office/drawing/2017/decorative" val="1"/>
              </a:ext>
            </a:extLst>
          </p:cNvPr>
          <p:cNvSpPr/>
          <p:nvPr/>
        </p:nvSpPr>
        <p:spPr bwMode="auto">
          <a:xfrm>
            <a:off x="3122613" y="1229962"/>
            <a:ext cx="8497887" cy="4939343"/>
          </a:xfrm>
          <a:prstGeom prst="roundRect">
            <a:avLst>
              <a:gd name="adj" fmla="val 2021"/>
            </a:avLst>
          </a:prstGeom>
          <a:solidFill>
            <a:schemeClr val="bg1"/>
          </a:solid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1" name="Content Placeholder 4">
            <a:extLst>
              <a:ext uri="{FF2B5EF4-FFF2-40B4-BE49-F238E27FC236}">
                <a16:creationId xmlns:a16="http://schemas.microsoft.com/office/drawing/2014/main" id="{A3EB6D1B-DE99-FA55-0AAB-96D4B7B99E83}"/>
              </a:ext>
            </a:extLst>
          </p:cNvPr>
          <p:cNvSpPr txBox="1">
            <a:spLocks/>
          </p:cNvSpPr>
          <p:nvPr/>
        </p:nvSpPr>
        <p:spPr>
          <a:xfrm>
            <a:off x="682168" y="1652784"/>
            <a:ext cx="2448877" cy="1717778"/>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Prompt optimization</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Skill and tool enhancement</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Domain and language adaptation</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Enterprise knowledge infusion</a:t>
            </a:r>
            <a:endParaRPr lang="en-US" sz="1100" noProof="0" dirty="0">
              <a:solidFill>
                <a:srgbClr val="000000"/>
              </a:solidFill>
            </a:endParaRPr>
          </a:p>
        </p:txBody>
      </p:sp>
      <p:sp>
        <p:nvSpPr>
          <p:cNvPr id="22" name="TextBox 21">
            <a:extLst>
              <a:ext uri="{FF2B5EF4-FFF2-40B4-BE49-F238E27FC236}">
                <a16:creationId xmlns:a16="http://schemas.microsoft.com/office/drawing/2014/main" id="{86014A2B-D4AD-A15C-7ACB-A3096802C6A3}"/>
              </a:ext>
            </a:extLst>
          </p:cNvPr>
          <p:cNvSpPr txBox="1"/>
          <p:nvPr/>
        </p:nvSpPr>
        <p:spPr>
          <a:xfrm>
            <a:off x="659485" y="1322520"/>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Use case examples</a:t>
            </a:r>
          </a:p>
        </p:txBody>
      </p:sp>
      <p:sp>
        <p:nvSpPr>
          <p:cNvPr id="23" name="TextBox 22">
            <a:extLst>
              <a:ext uri="{FF2B5EF4-FFF2-40B4-BE49-F238E27FC236}">
                <a16:creationId xmlns:a16="http://schemas.microsoft.com/office/drawing/2014/main" id="{E99934B8-9063-569C-F779-F8951A3E46A0}"/>
              </a:ext>
            </a:extLst>
          </p:cNvPr>
          <p:cNvSpPr txBox="1"/>
          <p:nvPr/>
        </p:nvSpPr>
        <p:spPr>
          <a:xfrm>
            <a:off x="3213621" y="3124826"/>
            <a:ext cx="3680892" cy="1677382"/>
          </a:xfrm>
          <a:prstGeom prst="rect">
            <a:avLst/>
          </a:prstGeom>
          <a:noFill/>
        </p:spPr>
        <p:txBody>
          <a:bodyPr wrap="square">
            <a:spAutoFit/>
          </a:bodyPr>
          <a:lstStyle/>
          <a:p>
            <a:pPr marL="0" lvl="1">
              <a:defRPr/>
            </a:pPr>
            <a:r>
              <a:rPr lang="en-US" sz="1400" b="1" kern="0" noProof="0" dirty="0">
                <a:solidFill>
                  <a:srgbClr val="0078D4"/>
                </a:solidFill>
                <a:latin typeface="Segoe Sans Text Semibold"/>
              </a:rPr>
              <a:t>Skill and tool enhancement</a:t>
            </a:r>
          </a:p>
          <a:p>
            <a:pPr marL="0" lvl="1">
              <a:spcAft>
                <a:spcPts val="600"/>
              </a:spcAft>
              <a:defRPr/>
            </a:pPr>
            <a:r>
              <a:rPr lang="en-US" sz="1200" kern="0" noProof="0" dirty="0"/>
              <a:t>Teach models new capabilities and improve their interaction with tools, APIs, or workflows—enabling automation and smarter task execution.</a:t>
            </a:r>
          </a:p>
          <a:p>
            <a:pPr marL="0" lvl="1">
              <a:spcAft>
                <a:spcPts val="600"/>
              </a:spcAft>
              <a:defRPr/>
            </a:pPr>
            <a:r>
              <a:rPr lang="en-US" sz="1200" kern="0" noProof="0" dirty="0">
                <a:latin typeface="+mj-lt"/>
                <a:cs typeface="Segoe Sans Text"/>
              </a:rPr>
              <a:t>Example scenario: </a:t>
            </a:r>
            <a:r>
              <a:rPr lang="en-US" sz="1200" kern="0" noProof="0" dirty="0">
                <a:cs typeface="Segoe Sans Text"/>
              </a:rPr>
              <a:t>A financial services firm fine-tunes a model to generate SQL queries from natural language, allowing analysts to retrieve insights from databases without writing code.</a:t>
            </a:r>
            <a:endParaRPr lang="en-US" sz="1400" b="1" kern="0" noProof="0" dirty="0">
              <a:cs typeface="Segoe Sans Text Semibold"/>
            </a:endParaRPr>
          </a:p>
        </p:txBody>
      </p:sp>
      <p:sp>
        <p:nvSpPr>
          <p:cNvPr id="24" name="TextBox 23">
            <a:extLst>
              <a:ext uri="{FF2B5EF4-FFF2-40B4-BE49-F238E27FC236}">
                <a16:creationId xmlns:a16="http://schemas.microsoft.com/office/drawing/2014/main" id="{0A977853-7D1C-75FF-2ADF-24FF694D25AF}"/>
              </a:ext>
            </a:extLst>
          </p:cNvPr>
          <p:cNvSpPr txBox="1"/>
          <p:nvPr/>
        </p:nvSpPr>
        <p:spPr>
          <a:xfrm>
            <a:off x="7455160" y="3124826"/>
            <a:ext cx="4087712" cy="1677382"/>
          </a:xfrm>
          <a:prstGeom prst="rect">
            <a:avLst/>
          </a:prstGeom>
          <a:noFill/>
        </p:spPr>
        <p:txBody>
          <a:bodyPr wrap="square">
            <a:spAutoFit/>
          </a:bodyPr>
          <a:lstStyle/>
          <a:p>
            <a:pPr marL="0" lvl="1">
              <a:defRPr/>
            </a:pPr>
            <a:r>
              <a:rPr lang="en-US" sz="1400" b="1" kern="0" noProof="0" dirty="0">
                <a:solidFill>
                  <a:srgbClr val="0078D4"/>
                </a:solidFill>
                <a:latin typeface="Segoe Sans Text Semibold"/>
              </a:rPr>
              <a:t>Enterprise knowledge infusion</a:t>
            </a:r>
          </a:p>
          <a:p>
            <a:pPr marL="0" lvl="1">
              <a:spcAft>
                <a:spcPts val="600"/>
              </a:spcAft>
              <a:defRPr/>
            </a:pPr>
            <a:r>
              <a:rPr lang="en-US" sz="1200" kern="0" noProof="0" dirty="0"/>
              <a:t>Inject customer-specific data and business logic into models to deliver context-aware, reliable, and brand-aligned outputs.</a:t>
            </a:r>
          </a:p>
          <a:p>
            <a:pPr marL="0" lvl="1">
              <a:spcAft>
                <a:spcPts val="600"/>
              </a:spcAft>
              <a:defRPr/>
            </a:pPr>
            <a:r>
              <a:rPr lang="en-US" sz="1200" kern="0" noProof="0" dirty="0">
                <a:latin typeface="+mj-lt"/>
              </a:rPr>
              <a:t>Example scenario: </a:t>
            </a:r>
            <a:r>
              <a:rPr lang="en-US" sz="1200" kern="0" noProof="0" dirty="0"/>
              <a:t>An insurance company fine-tunes a model with proprietary policy documents and claim workflows, enabling agents to answer complex customer queries with precision.</a:t>
            </a:r>
            <a:endParaRPr lang="en-US" sz="1400" kern="0" noProof="0" dirty="0"/>
          </a:p>
        </p:txBody>
      </p:sp>
      <p:sp>
        <p:nvSpPr>
          <p:cNvPr id="25" name="TextBox 24">
            <a:extLst>
              <a:ext uri="{FF2B5EF4-FFF2-40B4-BE49-F238E27FC236}">
                <a16:creationId xmlns:a16="http://schemas.microsoft.com/office/drawing/2014/main" id="{D388B8E1-F6C3-5B3B-BB88-A0FB64C89E14}"/>
              </a:ext>
            </a:extLst>
          </p:cNvPr>
          <p:cNvSpPr txBox="1"/>
          <p:nvPr/>
        </p:nvSpPr>
        <p:spPr>
          <a:xfrm>
            <a:off x="7455160" y="1312707"/>
            <a:ext cx="4087712" cy="1708160"/>
          </a:xfrm>
          <a:prstGeom prst="rect">
            <a:avLst/>
          </a:prstGeom>
          <a:noFill/>
        </p:spPr>
        <p:txBody>
          <a:bodyPr wrap="square">
            <a:spAutoFit/>
          </a:bodyPr>
          <a:lstStyle/>
          <a:p>
            <a:pPr marL="0" lvl="1">
              <a:defRPr/>
            </a:pPr>
            <a:r>
              <a:rPr lang="en-US" sz="1400" kern="0" noProof="0" dirty="0">
                <a:solidFill>
                  <a:srgbClr val="0078D4"/>
                </a:solidFill>
                <a:latin typeface="+mj-lt"/>
              </a:rPr>
              <a:t>Domain and language adaptation</a:t>
            </a:r>
          </a:p>
          <a:p>
            <a:pPr marL="0" lvl="1">
              <a:spcAft>
                <a:spcPts val="600"/>
              </a:spcAft>
              <a:defRPr/>
            </a:pPr>
            <a:r>
              <a:rPr lang="en-US" sz="1200" kern="0" noProof="0" dirty="0"/>
              <a:t>Adapt models to specific industries, dialects, or formatting styles to increase accuracy, localization, and compliance in specialized contexts.</a:t>
            </a:r>
          </a:p>
          <a:p>
            <a:pPr marL="0" lvl="1">
              <a:spcAft>
                <a:spcPts val="600"/>
              </a:spcAft>
              <a:defRPr/>
            </a:pPr>
            <a:r>
              <a:rPr lang="en-US" sz="1200" kern="0" noProof="0" dirty="0">
                <a:latin typeface="+mj-lt"/>
              </a:rPr>
              <a:t>Example scenario: </a:t>
            </a:r>
            <a:r>
              <a:rPr lang="en-US" sz="1200" kern="0" noProof="0" dirty="0"/>
              <a:t>A multinational retailer fine-tunes a model to understand regional dialects and product terminology, improving accuracy in localized </a:t>
            </a:r>
            <a:br>
              <a:rPr lang="en-US" sz="1200" kern="0" noProof="0" dirty="0"/>
            </a:br>
            <a:r>
              <a:rPr lang="en-US" sz="1200" kern="0" noProof="0" dirty="0"/>
              <a:t>customer support.</a:t>
            </a:r>
            <a:endParaRPr lang="en-US" sz="1400" kern="0" noProof="0" dirty="0"/>
          </a:p>
        </p:txBody>
      </p:sp>
      <p:sp>
        <p:nvSpPr>
          <p:cNvPr id="26" name="TextBox 25">
            <a:extLst>
              <a:ext uri="{FF2B5EF4-FFF2-40B4-BE49-F238E27FC236}">
                <a16:creationId xmlns:a16="http://schemas.microsoft.com/office/drawing/2014/main" id="{A73AF048-72AD-CFDE-BC62-D9B094D53E02}"/>
              </a:ext>
            </a:extLst>
          </p:cNvPr>
          <p:cNvSpPr txBox="1"/>
          <p:nvPr/>
        </p:nvSpPr>
        <p:spPr>
          <a:xfrm>
            <a:off x="3213620" y="1312707"/>
            <a:ext cx="3680892" cy="1708160"/>
          </a:xfrm>
          <a:prstGeom prst="rect">
            <a:avLst/>
          </a:prstGeom>
          <a:noFill/>
        </p:spPr>
        <p:txBody>
          <a:bodyPr wrap="square">
            <a:spAutoFit/>
          </a:bodyPr>
          <a:lstStyle/>
          <a:p>
            <a:pPr marL="0" lvl="1">
              <a:defRPr/>
            </a:pPr>
            <a:r>
              <a:rPr lang="en-US" sz="1400" kern="0" noProof="0" dirty="0">
                <a:solidFill>
                  <a:srgbClr val="0078D4"/>
                </a:solidFill>
                <a:latin typeface="+mj-lt"/>
              </a:rPr>
              <a:t>Prompt optimization</a:t>
            </a:r>
          </a:p>
          <a:p>
            <a:pPr marL="0" lvl="1">
              <a:spcAft>
                <a:spcPts val="600"/>
              </a:spcAft>
              <a:defRPr/>
            </a:pPr>
            <a:r>
              <a:rPr lang="en-US" sz="1200" kern="0" noProof="0" dirty="0"/>
              <a:t>Reduce prompt length and improve response efficiency by fine-tuning models to better understand intent with minimal input.</a:t>
            </a:r>
          </a:p>
          <a:p>
            <a:pPr marL="0" lvl="1">
              <a:spcAft>
                <a:spcPts val="600"/>
              </a:spcAft>
              <a:defRPr/>
            </a:pPr>
            <a:r>
              <a:rPr lang="en-US" sz="1200" kern="0" noProof="0" dirty="0">
                <a:latin typeface="+mj-lt"/>
              </a:rPr>
              <a:t>Example scenario: </a:t>
            </a:r>
            <a:r>
              <a:rPr lang="en-US" sz="1200" kern="0" noProof="0" dirty="0"/>
              <a:t>A customer service team fine-tunes GPT-4o to handle common inquiries with shorter prompts, reducing latency and improving throughput in chatbot interactions.</a:t>
            </a:r>
          </a:p>
        </p:txBody>
      </p:sp>
      <p:cxnSp>
        <p:nvCxnSpPr>
          <p:cNvPr id="27" name="Straight Connector 26">
            <a:extLst>
              <a:ext uri="{FF2B5EF4-FFF2-40B4-BE49-F238E27FC236}">
                <a16:creationId xmlns:a16="http://schemas.microsoft.com/office/drawing/2014/main" id="{DB75312D-39DA-0979-E7C5-80B5C787329A}"/>
              </a:ext>
            </a:extLst>
          </p:cNvPr>
          <p:cNvCxnSpPr>
            <a:cxnSpLocks/>
          </p:cNvCxnSpPr>
          <p:nvPr/>
        </p:nvCxnSpPr>
        <p:spPr>
          <a:xfrm>
            <a:off x="3308457" y="3047232"/>
            <a:ext cx="398525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5D32F05-83D4-A2CE-91B8-FD4C2A62F39A}"/>
              </a:ext>
            </a:extLst>
          </p:cNvPr>
          <p:cNvCxnSpPr>
            <a:cxnSpLocks/>
          </p:cNvCxnSpPr>
          <p:nvPr/>
        </p:nvCxnSpPr>
        <p:spPr>
          <a:xfrm>
            <a:off x="7531360" y="3047232"/>
            <a:ext cx="39081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Graphic 23">
            <a:extLst>
              <a:ext uri="{FF2B5EF4-FFF2-40B4-BE49-F238E27FC236}">
                <a16:creationId xmlns:a16="http://schemas.microsoft.com/office/drawing/2014/main" id="{89599CA1-A5A8-9644-AFD7-E4E379169A44}"/>
              </a:ext>
              <a:ext uri="{C183D7F6-B498-43B3-948B-1728B52AA6E4}">
                <adec:decorative xmlns:adec="http://schemas.microsoft.com/office/drawing/2017/decorative" val="1"/>
              </a:ext>
            </a:extLst>
          </p:cNvPr>
          <p:cNvSpPr/>
          <p:nvPr/>
        </p:nvSpPr>
        <p:spPr>
          <a:xfrm>
            <a:off x="723173" y="180648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Graphic 23">
            <a:extLst>
              <a:ext uri="{FF2B5EF4-FFF2-40B4-BE49-F238E27FC236}">
                <a16:creationId xmlns:a16="http://schemas.microsoft.com/office/drawing/2014/main" id="{A26BEE01-25D0-86A6-0B7E-CB51F01CCA37}"/>
              </a:ext>
              <a:ext uri="{C183D7F6-B498-43B3-948B-1728B52AA6E4}">
                <adec:decorative xmlns:adec="http://schemas.microsoft.com/office/drawing/2017/decorative" val="1"/>
              </a:ext>
            </a:extLst>
          </p:cNvPr>
          <p:cNvSpPr/>
          <p:nvPr/>
        </p:nvSpPr>
        <p:spPr>
          <a:xfrm>
            <a:off x="722140" y="2145841"/>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Graphic 23">
            <a:extLst>
              <a:ext uri="{FF2B5EF4-FFF2-40B4-BE49-F238E27FC236}">
                <a16:creationId xmlns:a16="http://schemas.microsoft.com/office/drawing/2014/main" id="{58CF9008-C0CE-CC2D-5A43-B758272DC37A}"/>
              </a:ext>
              <a:ext uri="{C183D7F6-B498-43B3-948B-1728B52AA6E4}">
                <adec:decorative xmlns:adec="http://schemas.microsoft.com/office/drawing/2017/decorative" val="1"/>
              </a:ext>
            </a:extLst>
          </p:cNvPr>
          <p:cNvSpPr/>
          <p:nvPr/>
        </p:nvSpPr>
        <p:spPr>
          <a:xfrm>
            <a:off x="722140" y="2462746"/>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Graphic 23">
            <a:extLst>
              <a:ext uri="{FF2B5EF4-FFF2-40B4-BE49-F238E27FC236}">
                <a16:creationId xmlns:a16="http://schemas.microsoft.com/office/drawing/2014/main" id="{3D17BF9B-8A0C-C691-2A03-38FB0DCFBF16}"/>
              </a:ext>
              <a:ext uri="{C183D7F6-B498-43B3-948B-1728B52AA6E4}">
                <adec:decorative xmlns:adec="http://schemas.microsoft.com/office/drawing/2017/decorative" val="1"/>
              </a:ext>
            </a:extLst>
          </p:cNvPr>
          <p:cNvSpPr/>
          <p:nvPr/>
        </p:nvSpPr>
        <p:spPr>
          <a:xfrm>
            <a:off x="722140" y="307765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CBDC56D2-6F54-07BB-F7BC-7E1464A634B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7329182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A0F39-4AB6-8EEC-FD43-D30B8AA32111}"/>
            </a:ext>
          </a:extLst>
        </p:cNvPr>
        <p:cNvGrpSpPr/>
        <p:nvPr/>
      </p:nvGrpSpPr>
      <p:grpSpPr>
        <a:xfrm>
          <a:off x="0" y="0"/>
          <a:ext cx="0" cy="0"/>
          <a:chOff x="0" y="0"/>
          <a:chExt cx="0" cy="0"/>
        </a:xfrm>
      </p:grpSpPr>
      <p:sp>
        <p:nvSpPr>
          <p:cNvPr id="19" name="Graphic 22">
            <a:extLst>
              <a:ext uri="{FF2B5EF4-FFF2-40B4-BE49-F238E27FC236}">
                <a16:creationId xmlns:a16="http://schemas.microsoft.com/office/drawing/2014/main" id="{35956536-8FD2-9745-8C73-A3D896E413AF}"/>
              </a:ext>
            </a:extLst>
          </p:cNvPr>
          <p:cNvSpPr/>
          <p:nvPr/>
        </p:nvSpPr>
        <p:spPr>
          <a:xfrm>
            <a:off x="6691947" y="1419663"/>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0" name="Rounded Rectangle 55">
            <a:extLst>
              <a:ext uri="{FF2B5EF4-FFF2-40B4-BE49-F238E27FC236}">
                <a16:creationId xmlns:a16="http://schemas.microsoft.com/office/drawing/2014/main" id="{059512D2-D7DA-E240-3756-8CDCF0CEFA2D}"/>
              </a:ext>
              <a:ext uri="{C183D7F6-B498-43B3-948B-1728B52AA6E4}">
                <adec:decorative xmlns:adec="http://schemas.microsoft.com/office/drawing/2017/decorative" val="1"/>
              </a:ext>
            </a:extLst>
          </p:cNvPr>
          <p:cNvSpPr/>
          <p:nvPr/>
        </p:nvSpPr>
        <p:spPr bwMode="auto">
          <a:xfrm>
            <a:off x="577993" y="1426270"/>
            <a:ext cx="2448877" cy="4832032"/>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1" name="Content Placeholder 4">
            <a:extLst>
              <a:ext uri="{FF2B5EF4-FFF2-40B4-BE49-F238E27FC236}">
                <a16:creationId xmlns:a16="http://schemas.microsoft.com/office/drawing/2014/main" id="{671A6EB1-C6E7-D0F1-84CD-60AFD8BFC421}"/>
              </a:ext>
            </a:extLst>
          </p:cNvPr>
          <p:cNvSpPr txBox="1">
            <a:spLocks/>
          </p:cNvSpPr>
          <p:nvPr/>
        </p:nvSpPr>
        <p:spPr>
          <a:xfrm>
            <a:off x="693743" y="1819334"/>
            <a:ext cx="2448877" cy="2625719"/>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cs typeface="Segoe UI"/>
              </a:rPr>
              <a:t>Document digitization</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cs typeface="Segoe UI"/>
              </a:rPr>
              <a:t>Research paper processing</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cs typeface="Segoe UI"/>
              </a:rPr>
              <a:t>Contract and legal document analysis</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cs typeface="Segoe UI"/>
              </a:rPr>
              <a:t>Financial document processing</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cs typeface="Segoe UI"/>
              </a:rPr>
              <a:t>Form processing and data extraction</a:t>
            </a:r>
          </a:p>
        </p:txBody>
      </p:sp>
      <p:sp>
        <p:nvSpPr>
          <p:cNvPr id="22" name="Rounded Rectangle 55">
            <a:extLst>
              <a:ext uri="{FF2B5EF4-FFF2-40B4-BE49-F238E27FC236}">
                <a16:creationId xmlns:a16="http://schemas.microsoft.com/office/drawing/2014/main" id="{DD41B00B-0F36-6597-EB63-DCEE740CF89C}"/>
              </a:ext>
              <a:ext uri="{C183D7F6-B498-43B3-948B-1728B52AA6E4}">
                <adec:decorative xmlns:adec="http://schemas.microsoft.com/office/drawing/2017/decorative" val="1"/>
              </a:ext>
            </a:extLst>
          </p:cNvPr>
          <p:cNvSpPr/>
          <p:nvPr/>
        </p:nvSpPr>
        <p:spPr bwMode="auto">
          <a:xfrm>
            <a:off x="3122613" y="1419663"/>
            <a:ext cx="8497887" cy="4832032"/>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3" name="TextBox 22">
            <a:extLst>
              <a:ext uri="{FF2B5EF4-FFF2-40B4-BE49-F238E27FC236}">
                <a16:creationId xmlns:a16="http://schemas.microsoft.com/office/drawing/2014/main" id="{47674AA2-D2F1-7F13-4D5B-B0ACE0A38952}"/>
              </a:ext>
            </a:extLst>
          </p:cNvPr>
          <p:cNvSpPr txBox="1"/>
          <p:nvPr/>
        </p:nvSpPr>
        <p:spPr>
          <a:xfrm>
            <a:off x="3213620" y="1479257"/>
            <a:ext cx="3800366" cy="1492716"/>
          </a:xfrm>
          <a:prstGeom prst="rect">
            <a:avLst/>
          </a:prstGeom>
          <a:noFill/>
        </p:spPr>
        <p:txBody>
          <a:bodyPr wrap="square">
            <a:spAutoFit/>
          </a:bodyPr>
          <a:lstStyle/>
          <a:p>
            <a:pPr marL="0" lvl="1">
              <a:defRPr/>
            </a:pPr>
            <a:r>
              <a:rPr lang="en-US" sz="1400" kern="0" noProof="0" dirty="0">
                <a:solidFill>
                  <a:srgbClr val="0078D4"/>
                </a:solidFill>
                <a:latin typeface="+mj-lt"/>
              </a:rPr>
              <a:t>Document digitization</a:t>
            </a:r>
          </a:p>
          <a:p>
            <a:pPr marL="0" lvl="1">
              <a:spcAft>
                <a:spcPts val="600"/>
              </a:spcAft>
              <a:defRPr/>
            </a:pPr>
            <a:r>
              <a:rPr lang="en-US" sz="1200" kern="0" noProof="0" dirty="0">
                <a:solidFill>
                  <a:srgbClr val="000000"/>
                </a:solidFill>
              </a:rPr>
              <a:t>Convert scanned PDF documents into searchable, </a:t>
            </a:r>
            <a:r>
              <a:rPr lang="en-US" sz="1200" kern="0" noProof="0" dirty="0"/>
              <a:t>structured text for digital archives.</a:t>
            </a:r>
          </a:p>
          <a:p>
            <a:pPr marL="0" lvl="1">
              <a:spcAft>
                <a:spcPts val="600"/>
              </a:spcAft>
              <a:defRPr/>
            </a:pPr>
            <a:r>
              <a:rPr lang="en-US" sz="1200" kern="0" noProof="0" dirty="0">
                <a:latin typeface="+mj-lt"/>
              </a:rPr>
              <a:t>Example scenario: </a:t>
            </a:r>
            <a:r>
              <a:rPr lang="en-US" sz="1200" kern="0" noProof="0" dirty="0"/>
              <a:t>A law firm digitizes historical case files by converting PDF scans into searchable text, enabling lawyers to quickly find </a:t>
            </a:r>
            <a:r>
              <a:rPr lang="en-US" sz="1200" kern="0" noProof="0" dirty="0">
                <a:solidFill>
                  <a:srgbClr val="000000"/>
                </a:solidFill>
              </a:rPr>
              <a:t>relevant precedents and case information.</a:t>
            </a:r>
          </a:p>
        </p:txBody>
      </p:sp>
      <p:sp>
        <p:nvSpPr>
          <p:cNvPr id="24" name="TextBox 23">
            <a:extLst>
              <a:ext uri="{FF2B5EF4-FFF2-40B4-BE49-F238E27FC236}">
                <a16:creationId xmlns:a16="http://schemas.microsoft.com/office/drawing/2014/main" id="{51D83A16-0470-0FF4-C8CE-39F3F3C24BBA}"/>
              </a:ext>
            </a:extLst>
          </p:cNvPr>
          <p:cNvSpPr txBox="1"/>
          <p:nvPr/>
        </p:nvSpPr>
        <p:spPr>
          <a:xfrm>
            <a:off x="7455160" y="1479257"/>
            <a:ext cx="4087712" cy="1308050"/>
          </a:xfrm>
          <a:prstGeom prst="rect">
            <a:avLst/>
          </a:prstGeom>
          <a:noFill/>
        </p:spPr>
        <p:txBody>
          <a:bodyPr wrap="square">
            <a:spAutoFit/>
          </a:bodyPr>
          <a:lstStyle/>
          <a:p>
            <a:pPr marL="0" lvl="1">
              <a:defRPr/>
            </a:pPr>
            <a:r>
              <a:rPr lang="en-US" sz="1400" kern="0" noProof="0" dirty="0">
                <a:solidFill>
                  <a:srgbClr val="0078D4"/>
                </a:solidFill>
                <a:latin typeface="+mj-lt"/>
              </a:rPr>
              <a:t>Financial document processing</a:t>
            </a:r>
          </a:p>
          <a:p>
            <a:pPr marL="0" lvl="1">
              <a:spcAft>
                <a:spcPts val="600"/>
              </a:spcAft>
              <a:defRPr/>
            </a:pPr>
            <a:r>
              <a:rPr lang="en-US" sz="1200" kern="0" noProof="0" dirty="0">
                <a:solidFill>
                  <a:srgbClr val="000000"/>
                </a:solidFill>
              </a:rPr>
              <a:t>Extract text from financial reports, statements, and regulatory filings.</a:t>
            </a:r>
          </a:p>
          <a:p>
            <a:pPr marL="0" lvl="1">
              <a:spcAft>
                <a:spcPts val="600"/>
              </a:spcAft>
              <a:defRPr/>
            </a:pPr>
            <a:r>
              <a:rPr lang="en-US" sz="1200" kern="0" noProof="0" dirty="0">
                <a:solidFill>
                  <a:srgbClr val="000000"/>
                </a:solidFill>
                <a:latin typeface="+mj-lt"/>
              </a:rPr>
              <a:t>Example scenario: </a:t>
            </a:r>
            <a:r>
              <a:rPr lang="en-US" sz="1200" kern="0" noProof="0" dirty="0">
                <a:solidFill>
                  <a:srgbClr val="000000"/>
                </a:solidFill>
              </a:rPr>
              <a:t>Financial analysts process quarterly reports and SEC filings to extract key financial metrics and management commentary for investment analysis.</a:t>
            </a:r>
            <a:endParaRPr lang="en-US" sz="1400" kern="0" noProof="0" dirty="0">
              <a:solidFill>
                <a:srgbClr val="000000"/>
              </a:solidFill>
            </a:endParaRPr>
          </a:p>
        </p:txBody>
      </p:sp>
      <p:sp>
        <p:nvSpPr>
          <p:cNvPr id="25" name="TextBox 24">
            <a:extLst>
              <a:ext uri="{FF2B5EF4-FFF2-40B4-BE49-F238E27FC236}">
                <a16:creationId xmlns:a16="http://schemas.microsoft.com/office/drawing/2014/main" id="{DA103FD8-577D-FD33-AE7E-65032E7A70B7}"/>
              </a:ext>
            </a:extLst>
          </p:cNvPr>
          <p:cNvSpPr txBox="1"/>
          <p:nvPr/>
        </p:nvSpPr>
        <p:spPr>
          <a:xfrm>
            <a:off x="3213620" y="3147372"/>
            <a:ext cx="3800366" cy="1492716"/>
          </a:xfrm>
          <a:prstGeom prst="rect">
            <a:avLst/>
          </a:prstGeom>
          <a:noFill/>
        </p:spPr>
        <p:txBody>
          <a:bodyPr wrap="square">
            <a:spAutoFit/>
          </a:bodyPr>
          <a:lstStyle/>
          <a:p>
            <a:pPr marL="0" lvl="1">
              <a:defRPr/>
            </a:pPr>
            <a:r>
              <a:rPr lang="en-US" sz="1400" kern="0" noProof="0" dirty="0">
                <a:solidFill>
                  <a:srgbClr val="0078D4"/>
                </a:solidFill>
                <a:latin typeface="+mj-lt"/>
              </a:rPr>
              <a:t>Research paper processing</a:t>
            </a:r>
          </a:p>
          <a:p>
            <a:pPr marL="0" lvl="1">
              <a:spcAft>
                <a:spcPts val="600"/>
              </a:spcAft>
              <a:defRPr/>
            </a:pPr>
            <a:r>
              <a:rPr lang="en-US" sz="1200" kern="0" noProof="0" dirty="0">
                <a:solidFill>
                  <a:srgbClr val="000000"/>
                </a:solidFill>
              </a:rPr>
              <a:t>Extract text and analyze figures, tables, and diagrams from academic papers.</a:t>
            </a:r>
          </a:p>
          <a:p>
            <a:pPr marL="0" lvl="1">
              <a:spcAft>
                <a:spcPts val="600"/>
              </a:spcAft>
              <a:defRPr/>
            </a:pPr>
            <a:r>
              <a:rPr lang="en-US" sz="1200" kern="0" noProof="0" dirty="0">
                <a:solidFill>
                  <a:srgbClr val="000000"/>
                </a:solidFill>
                <a:latin typeface="+mj-lt"/>
              </a:rPr>
              <a:t>Example scenario: </a:t>
            </a:r>
            <a:r>
              <a:rPr lang="en-US" sz="1200" kern="0" noProof="0" dirty="0">
                <a:solidFill>
                  <a:srgbClr val="000000"/>
                </a:solidFill>
              </a:rPr>
              <a:t>Researchers process scientific literature to extract key findings, methodology descriptions, and experimental data for systematic reviews and meta-analyses.</a:t>
            </a:r>
          </a:p>
        </p:txBody>
      </p:sp>
      <p:sp>
        <p:nvSpPr>
          <p:cNvPr id="26" name="TextBox 25">
            <a:extLst>
              <a:ext uri="{FF2B5EF4-FFF2-40B4-BE49-F238E27FC236}">
                <a16:creationId xmlns:a16="http://schemas.microsoft.com/office/drawing/2014/main" id="{34F0F124-336C-71F2-DB23-CB4D8B2E44F1}"/>
              </a:ext>
            </a:extLst>
          </p:cNvPr>
          <p:cNvSpPr txBox="1"/>
          <p:nvPr/>
        </p:nvSpPr>
        <p:spPr>
          <a:xfrm>
            <a:off x="7455160" y="3147372"/>
            <a:ext cx="4087712" cy="1123384"/>
          </a:xfrm>
          <a:prstGeom prst="rect">
            <a:avLst/>
          </a:prstGeom>
          <a:noFill/>
        </p:spPr>
        <p:txBody>
          <a:bodyPr wrap="square">
            <a:spAutoFit/>
          </a:bodyPr>
          <a:lstStyle/>
          <a:p>
            <a:pPr marL="0" lvl="1">
              <a:defRPr/>
            </a:pPr>
            <a:r>
              <a:rPr lang="en-US" sz="1400" kern="0" noProof="0" dirty="0">
                <a:solidFill>
                  <a:srgbClr val="0078D4"/>
                </a:solidFill>
                <a:latin typeface="+mj-lt"/>
              </a:rPr>
              <a:t>Form processing and data extraction</a:t>
            </a:r>
          </a:p>
          <a:p>
            <a:pPr marL="0" lvl="1">
              <a:spcAft>
                <a:spcPts val="600"/>
              </a:spcAft>
              <a:defRPr/>
            </a:pPr>
            <a:r>
              <a:rPr lang="en-US" sz="1200" kern="0" noProof="0" dirty="0">
                <a:solidFill>
                  <a:srgbClr val="000000"/>
                </a:solidFill>
              </a:rPr>
              <a:t>Extract structured data from filled forms and applications.</a:t>
            </a:r>
          </a:p>
          <a:p>
            <a:pPr marL="0" lvl="1">
              <a:spcAft>
                <a:spcPts val="600"/>
              </a:spcAft>
              <a:defRPr/>
            </a:pPr>
            <a:r>
              <a:rPr lang="en-US" sz="1200" kern="0" noProof="0" dirty="0">
                <a:solidFill>
                  <a:srgbClr val="000000"/>
                </a:solidFill>
                <a:latin typeface="+mj-lt"/>
              </a:rPr>
              <a:t>Example scenario: </a:t>
            </a:r>
            <a:r>
              <a:rPr lang="en-US" sz="1200" kern="0" noProof="0" dirty="0">
                <a:solidFill>
                  <a:srgbClr val="000000"/>
                </a:solidFill>
              </a:rPr>
              <a:t>An insurance company processes claim forms by extracting policyholder information, incident details, and damage assessments.</a:t>
            </a:r>
            <a:endParaRPr lang="en-US" sz="1400" kern="0" noProof="0" dirty="0">
              <a:solidFill>
                <a:srgbClr val="000000"/>
              </a:solidFill>
            </a:endParaRPr>
          </a:p>
        </p:txBody>
      </p:sp>
      <p:sp>
        <p:nvSpPr>
          <p:cNvPr id="27" name="TextBox 26">
            <a:extLst>
              <a:ext uri="{FF2B5EF4-FFF2-40B4-BE49-F238E27FC236}">
                <a16:creationId xmlns:a16="http://schemas.microsoft.com/office/drawing/2014/main" id="{ADD7D10B-FC1F-E96F-AD7E-077AA4DB953A}"/>
              </a:ext>
            </a:extLst>
          </p:cNvPr>
          <p:cNvSpPr txBox="1"/>
          <p:nvPr/>
        </p:nvSpPr>
        <p:spPr>
          <a:xfrm>
            <a:off x="3213620" y="4815487"/>
            <a:ext cx="4087712" cy="1308050"/>
          </a:xfrm>
          <a:prstGeom prst="rect">
            <a:avLst/>
          </a:prstGeom>
          <a:noFill/>
        </p:spPr>
        <p:txBody>
          <a:bodyPr wrap="square">
            <a:spAutoFit/>
          </a:bodyPr>
          <a:lstStyle/>
          <a:p>
            <a:pPr marL="0" lvl="1">
              <a:defRPr/>
            </a:pPr>
            <a:r>
              <a:rPr lang="en-US" sz="1400" kern="0" noProof="0" dirty="0">
                <a:solidFill>
                  <a:srgbClr val="0078D4"/>
                </a:solidFill>
                <a:latin typeface="+mj-lt"/>
              </a:rPr>
              <a:t>Contract and legal document analysis</a:t>
            </a:r>
          </a:p>
          <a:p>
            <a:pPr marL="0" lvl="1">
              <a:spcAft>
                <a:spcPts val="600"/>
              </a:spcAft>
              <a:defRPr/>
            </a:pPr>
            <a:r>
              <a:rPr lang="en-US" sz="1200" kern="0" noProof="0" dirty="0">
                <a:solidFill>
                  <a:srgbClr val="000000"/>
                </a:solidFill>
              </a:rPr>
              <a:t>Extract text from legal contracts while preserving formatting and identifying key clauses.</a:t>
            </a:r>
          </a:p>
          <a:p>
            <a:pPr marL="0" lvl="1">
              <a:spcAft>
                <a:spcPts val="600"/>
              </a:spcAft>
              <a:defRPr/>
            </a:pPr>
            <a:r>
              <a:rPr lang="en-US" sz="1200" kern="0" noProof="0" dirty="0">
                <a:solidFill>
                  <a:srgbClr val="000000"/>
                </a:solidFill>
                <a:latin typeface="+mj-lt"/>
              </a:rPr>
              <a:t>Example scenario: </a:t>
            </a:r>
            <a:r>
              <a:rPr lang="en-US" sz="1200" kern="0" noProof="0" dirty="0">
                <a:solidFill>
                  <a:srgbClr val="000000"/>
                </a:solidFill>
              </a:rPr>
              <a:t>A corporate legal department processes hundreds of contracts to extract key terms, dates, and obligations for compliance monitoring.</a:t>
            </a:r>
            <a:endParaRPr lang="en-US" sz="1600" kern="0" noProof="0" dirty="0">
              <a:solidFill>
                <a:srgbClr val="0078D4"/>
              </a:solidFill>
            </a:endParaRPr>
          </a:p>
        </p:txBody>
      </p:sp>
      <p:cxnSp>
        <p:nvCxnSpPr>
          <p:cNvPr id="28" name="Straight Connector 27">
            <a:extLst>
              <a:ext uri="{FF2B5EF4-FFF2-40B4-BE49-F238E27FC236}">
                <a16:creationId xmlns:a16="http://schemas.microsoft.com/office/drawing/2014/main" id="{1E576C49-5A0E-F769-9ED9-1FFE488C8C3A}"/>
              </a:ext>
            </a:extLst>
          </p:cNvPr>
          <p:cNvCxnSpPr>
            <a:cxnSpLocks/>
          </p:cNvCxnSpPr>
          <p:nvPr/>
        </p:nvCxnSpPr>
        <p:spPr>
          <a:xfrm>
            <a:off x="3308457" y="3059672"/>
            <a:ext cx="398525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6996323-E033-2625-C881-12DF1AB9E9DB}"/>
              </a:ext>
            </a:extLst>
          </p:cNvPr>
          <p:cNvCxnSpPr>
            <a:cxnSpLocks/>
          </p:cNvCxnSpPr>
          <p:nvPr/>
        </p:nvCxnSpPr>
        <p:spPr>
          <a:xfrm>
            <a:off x="3308457" y="4727787"/>
            <a:ext cx="398525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CDA937C-F37D-DEAC-7EFF-9EF17392CE87}"/>
              </a:ext>
            </a:extLst>
          </p:cNvPr>
          <p:cNvCxnSpPr>
            <a:cxnSpLocks/>
          </p:cNvCxnSpPr>
          <p:nvPr/>
        </p:nvCxnSpPr>
        <p:spPr>
          <a:xfrm>
            <a:off x="7531360" y="3059672"/>
            <a:ext cx="39081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5501154-1F3D-DBA6-176D-851E4C6BD9AD}"/>
              </a:ext>
            </a:extLst>
          </p:cNvPr>
          <p:cNvSpPr txBox="1"/>
          <p:nvPr/>
        </p:nvSpPr>
        <p:spPr>
          <a:xfrm>
            <a:off x="659485" y="1489070"/>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Use case examples</a:t>
            </a:r>
          </a:p>
        </p:txBody>
      </p:sp>
      <p:sp>
        <p:nvSpPr>
          <p:cNvPr id="32" name="Title 5">
            <a:extLst>
              <a:ext uri="{FF2B5EF4-FFF2-40B4-BE49-F238E27FC236}">
                <a16:creationId xmlns:a16="http://schemas.microsoft.com/office/drawing/2014/main" id="{E943A3AF-3946-6272-6E7D-EC50698471C8}"/>
              </a:ext>
            </a:extLst>
          </p:cNvPr>
          <p:cNvSpPr txBox="1">
            <a:spLocks/>
          </p:cNvSpPr>
          <p:nvPr/>
        </p:nvSpPr>
        <p:spPr>
          <a:xfrm>
            <a:off x="552637" y="680377"/>
            <a:ext cx="4561166" cy="707886"/>
          </a:xfrm>
          <a:prstGeom prst="rect">
            <a:avLst/>
          </a:prstGeom>
        </p:spPr>
        <p:txBody>
          <a:bodyPr vert="horz" wrap="square" lIns="0" tIns="0" rIns="0" bIns="0" rtlCol="0" anchor="t">
            <a:spAutoFit/>
          </a:bodyPr>
          <a:lstStyle>
            <a:lvl1pPr marR="0" lvl="0" indent="0" fontAlgn="auto">
              <a:lnSpc>
                <a:spcPct val="100000"/>
              </a:lnSpc>
              <a:spcBef>
                <a:spcPts val="0"/>
              </a:spcBef>
              <a:spcAft>
                <a:spcPts val="0"/>
              </a:spcAft>
              <a:buClrTx/>
              <a:buSzTx/>
              <a:buFontTx/>
              <a:buNone/>
              <a:tabLst/>
              <a:defRPr lang="en-US" sz="2800" b="0" cap="none" spc="-50" baseline="0" dirty="0" smtClean="0">
                <a:ln w="3175">
                  <a:noFill/>
                </a:ln>
                <a:solidFill>
                  <a:schemeClr val="tx2"/>
                </a:solidFill>
                <a:effectLst/>
                <a:latin typeface="+mj-lt"/>
                <a:cs typeface="Segoe UI" pitchFamily="34" charset="0"/>
              </a:defRPr>
            </a:lvl1pPr>
          </a:lstStyle>
          <a:p>
            <a:r>
              <a:rPr lang="en-US" noProof="0" dirty="0"/>
              <a:t>Document Processing </a:t>
            </a:r>
          </a:p>
          <a:p>
            <a:r>
              <a:rPr lang="en-US" sz="1800" spc="0" noProof="0" dirty="0">
                <a:ln>
                  <a:noFill/>
                </a:ln>
                <a:solidFill>
                  <a:srgbClr val="000000"/>
                </a:solidFill>
                <a:latin typeface="Segoe Sans Text Semibold"/>
                <a:cs typeface="+mn-cs"/>
              </a:rPr>
              <a:t>Use Case Examples  </a:t>
            </a:r>
          </a:p>
        </p:txBody>
      </p:sp>
      <p:sp>
        <p:nvSpPr>
          <p:cNvPr id="8" name="Graphic 23">
            <a:extLst>
              <a:ext uri="{FF2B5EF4-FFF2-40B4-BE49-F238E27FC236}">
                <a16:creationId xmlns:a16="http://schemas.microsoft.com/office/drawing/2014/main" id="{C49CE74A-32DC-8BEC-4E57-A80EC3A08C48}"/>
              </a:ext>
              <a:ext uri="{C183D7F6-B498-43B3-948B-1728B52AA6E4}">
                <adec:decorative xmlns:adec="http://schemas.microsoft.com/office/drawing/2017/decorative" val="1"/>
              </a:ext>
            </a:extLst>
          </p:cNvPr>
          <p:cNvSpPr/>
          <p:nvPr/>
        </p:nvSpPr>
        <p:spPr>
          <a:xfrm>
            <a:off x="722140" y="192684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Graphic 23">
            <a:extLst>
              <a:ext uri="{FF2B5EF4-FFF2-40B4-BE49-F238E27FC236}">
                <a16:creationId xmlns:a16="http://schemas.microsoft.com/office/drawing/2014/main" id="{71EFF7B2-8209-92E9-AA47-C5B781760028}"/>
              </a:ext>
              <a:ext uri="{C183D7F6-B498-43B3-948B-1728B52AA6E4}">
                <adec:decorative xmlns:adec="http://schemas.microsoft.com/office/drawing/2017/decorative" val="1"/>
              </a:ext>
            </a:extLst>
          </p:cNvPr>
          <p:cNvSpPr/>
          <p:nvPr/>
        </p:nvSpPr>
        <p:spPr>
          <a:xfrm>
            <a:off x="722140" y="2319911"/>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Graphic 23">
            <a:extLst>
              <a:ext uri="{FF2B5EF4-FFF2-40B4-BE49-F238E27FC236}">
                <a16:creationId xmlns:a16="http://schemas.microsoft.com/office/drawing/2014/main" id="{D7CD6626-AFBB-7B04-83ED-86B8F2CF2E54}"/>
              </a:ext>
              <a:ext uri="{C183D7F6-B498-43B3-948B-1728B52AA6E4}">
                <adec:decorative xmlns:adec="http://schemas.microsoft.com/office/drawing/2017/decorative" val="1"/>
              </a:ext>
            </a:extLst>
          </p:cNvPr>
          <p:cNvSpPr/>
          <p:nvPr/>
        </p:nvSpPr>
        <p:spPr>
          <a:xfrm>
            <a:off x="722140" y="264554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Graphic 23">
            <a:extLst>
              <a:ext uri="{FF2B5EF4-FFF2-40B4-BE49-F238E27FC236}">
                <a16:creationId xmlns:a16="http://schemas.microsoft.com/office/drawing/2014/main" id="{3408B24D-DD0D-2BD1-B6CA-FA68AB47228D}"/>
              </a:ext>
              <a:ext uri="{C183D7F6-B498-43B3-948B-1728B52AA6E4}">
                <adec:decorative xmlns:adec="http://schemas.microsoft.com/office/drawing/2017/decorative" val="1"/>
              </a:ext>
            </a:extLst>
          </p:cNvPr>
          <p:cNvSpPr/>
          <p:nvPr/>
        </p:nvSpPr>
        <p:spPr>
          <a:xfrm>
            <a:off x="726212" y="3271021"/>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Graphic 23">
            <a:extLst>
              <a:ext uri="{FF2B5EF4-FFF2-40B4-BE49-F238E27FC236}">
                <a16:creationId xmlns:a16="http://schemas.microsoft.com/office/drawing/2014/main" id="{FD0A63B5-AEA8-DBC1-A10F-CC55C3DC0B43}"/>
              </a:ext>
              <a:ext uri="{C183D7F6-B498-43B3-948B-1728B52AA6E4}">
                <adec:decorative xmlns:adec="http://schemas.microsoft.com/office/drawing/2017/decorative" val="1"/>
              </a:ext>
            </a:extLst>
          </p:cNvPr>
          <p:cNvSpPr/>
          <p:nvPr/>
        </p:nvSpPr>
        <p:spPr>
          <a:xfrm>
            <a:off x="722140" y="3893730"/>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BE442BA5-C582-C9D8-2F1C-01FCC930B1D3}"/>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879061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B95A-711C-2A2A-9C3A-DE93FEC44578}"/>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144F6E25-DC32-D788-5E16-F077D322EDDE}"/>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039D6DC3-36D1-5585-A825-3E7387F79BD6}"/>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F5B88488-8F01-A8B6-E277-969D6710ECF3}"/>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1B31E255-F526-B407-C845-0CCB22F3C0D5}"/>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383B042D-D836-5FE1-0630-CBB54D179EA9}"/>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AF253690-8BC0-8CE0-5F67-D854356B91F4}"/>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648ED1C2-D479-8A0C-F4F8-9A384A2CB55E}"/>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14570DCD-A83E-7A78-0F9F-DB55CE5097ED}"/>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71C44A7C-B3D0-626D-42BF-00A019E5F2CE}"/>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0521DEB8-2193-A7C7-9652-5B2AC9992F24}"/>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2ED197FC-65BA-AC92-6000-7424FADDD510}"/>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5175EA8B-DDE3-BB41-4B9D-697D5EAE5C79}"/>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E41AE273-96E8-6ADC-903D-B59D508A2566}"/>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24A7C229-2466-6451-7C26-81328EBB87A5}"/>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F827EC9C-CED1-5385-BF72-7BC06B62AC8E}"/>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DE7F5229-0989-200F-7CCC-FBE6025EBEAB}"/>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A59A6349-F6F5-3942-82C7-61420C0DBA1E}"/>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6FBEDFC4-1875-DEA6-A418-CFC5691E10A8}"/>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8AE3A5B7-6E55-F99D-B9DE-66ACB9857BF4}"/>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A6662D02-1DA7-FAD8-42F5-0F502AABE678}"/>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9F5D4B97-04ED-A2DE-E5CC-04F85F4B6FFA}"/>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01E3A661-A242-2B18-6635-FC6480DE9DC4}"/>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ACAEE5BF-A1A5-1CC6-0730-6D8B7E6B8848}"/>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71715FCC-0340-B641-5D7F-E57D316FC509}"/>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7A2F78A9-F5A5-8A77-BA45-D88CEDA7A03D}"/>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430C2A9B-47EC-5046-C77F-4DABA8E51FED}"/>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724D0BD1-7933-7309-D43A-9ADAFDD4499E}"/>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025A1F90-C277-732A-D2D2-58E28CB90975}"/>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9925262B-8A2D-90B9-6816-4FC5BF8DDCC6}"/>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A69E43E3-CAC8-6D96-EAF7-E7C29D007E42}"/>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A67BBF65-64D5-5AFF-92A8-B54F29EFAF08}"/>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4043D5DF-DEE0-DC5C-B151-4F0754462A78}"/>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D69A39B2-9CB5-87D6-3638-DACB3FA74BF0}"/>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E7BFB574-E1AC-7C83-8A72-954B0F8919DF}"/>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DB1D77F4-BB7C-59D3-4D5F-D5228E73B2A4}"/>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45CC4954-CBFA-F696-012A-25BB76088ADF}"/>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DA30439C-20B3-3B51-DC57-FF15F8DFB02A}"/>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F647D8E3-570E-5124-5925-E58BE37C72B7}"/>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EF107719-8E32-F425-7DB6-7FEDAFE1EAE2}"/>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7" name="TextBox 136">
            <a:extLst>
              <a:ext uri="{FF2B5EF4-FFF2-40B4-BE49-F238E27FC236}">
                <a16:creationId xmlns:a16="http://schemas.microsoft.com/office/drawing/2014/main" id="{1CDDF6C5-E24E-51E3-E4D9-846E6781E70D}"/>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64C2B83F-0917-9309-26E9-F07058D12C0D}"/>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B9B7EE03-1152-B1A3-4FDA-FFCC4480450D}"/>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6E12B13D-6067-0AFD-F526-10D718801259}"/>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08B72D0E-197C-45F6-7164-008B8F22BCB6}"/>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D445D9E0-4931-65A7-8FCA-FF00DE1AD93F}"/>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FBDBE497-795E-6BA5-9A99-4AC8BC114957}"/>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1CC1D954-3EC3-3802-384A-45BB3AFB4E15}"/>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54DA811C-9B19-597A-C31A-14EECCB9085A}"/>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D17E11DA-6832-19E9-7969-3C3EEDAFA913}"/>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CEF3553A-32C7-4B05-0DD6-E641BFDDF331}"/>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8294DFB4-7D34-F220-13D2-095014EB99AE}"/>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934A9A83-A6A0-2A2C-B17E-C11F7867D6F4}"/>
              </a:ext>
              <a:ext uri="{C183D7F6-B498-43B3-948B-1728B52AA6E4}">
                <adec:decorative xmlns:adec="http://schemas.microsoft.com/office/drawing/2017/decorative" val="1"/>
              </a:ext>
            </a:extLst>
          </p:cNvPr>
          <p:cNvSpPr>
            <a:spLocks noChangeAspect="1"/>
          </p:cNvSpPr>
          <p:nvPr/>
        </p:nvSpPr>
        <p:spPr>
          <a:xfrm>
            <a:off x="9227053" y="5158582"/>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BA95C13D-6816-9E36-3D98-EF8848640C63}"/>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F75BD2CC-6C5E-C4ED-4231-2A85F2B85A89}"/>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7384582B-DF08-08A0-40F6-61A2986B32B6}"/>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AD0A9108-A155-E939-CECC-618A87CBF5B8}"/>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32784E64-8E11-3F56-59C1-4124758A41B7}"/>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012F52DC-89FF-6579-7244-55156F6D2A35}"/>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7AE6670F-D271-BEF3-628D-D75C19488C23}"/>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326FEE79-130F-1E4F-6D4A-39591F419B76}"/>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1CC94E2C-128C-05AC-204D-282CA2603959}"/>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E5E7B576-37D2-F3CD-EED8-F41BFB1B554E}"/>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CDE981A4-6356-32BC-F2DE-4C957A59197C}"/>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13" name="Title 61">
            <a:extLst>
              <a:ext uri="{FF2B5EF4-FFF2-40B4-BE49-F238E27FC236}">
                <a16:creationId xmlns:a16="http://schemas.microsoft.com/office/drawing/2014/main" id="{941386D1-DCEA-E75C-0B45-0049ABD9924B}"/>
              </a:ext>
            </a:extLst>
          </p:cNvPr>
          <p:cNvSpPr txBox="1">
            <a:spLocks/>
          </p:cNvSpPr>
          <p:nvPr/>
        </p:nvSpPr>
        <p:spPr>
          <a:xfrm>
            <a:off x="419100" y="419100"/>
            <a:ext cx="3162300" cy="1477328"/>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Gen AI Assistant</a:t>
            </a:r>
          </a:p>
        </p:txBody>
      </p:sp>
      <p:sp>
        <p:nvSpPr>
          <p:cNvPr id="17" name="TextBox 16">
            <a:extLst>
              <a:ext uri="{FF2B5EF4-FFF2-40B4-BE49-F238E27FC236}">
                <a16:creationId xmlns:a16="http://schemas.microsoft.com/office/drawing/2014/main" id="{CE12E44C-5C54-CA30-FC93-5DB7C6574F98}"/>
              </a:ext>
            </a:extLst>
          </p:cNvPr>
          <p:cNvSpPr txBox="1"/>
          <p:nvPr/>
        </p:nvSpPr>
        <p:spPr>
          <a:xfrm>
            <a:off x="4698213" y="2848806"/>
            <a:ext cx="1359346" cy="307777"/>
          </a:xfrm>
          <a:prstGeom prst="rect">
            <a:avLst/>
          </a:prstGeom>
          <a:noFill/>
        </p:spPr>
        <p:txBody>
          <a:bodyPr wrap="non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LnTx/>
                <a:uFillTx/>
                <a:latin typeface="Segoe Sans Text"/>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rPr>
              <a:t>Scope of </a:t>
            </a:r>
            <a:br>
              <a:rPr kumimoji="0" lang="en-US" sz="1000" b="0" i="0" u="none" strike="noStrike" kern="1200" cap="none" spc="0" normalizeH="0" baseline="0" noProof="0" dirty="0">
                <a:ln>
                  <a:noFill/>
                </a:ln>
                <a:solidFill>
                  <a:schemeClr val="tx1"/>
                </a:solidFill>
                <a:effectLst/>
                <a:uLnTx/>
                <a:uFillTx/>
                <a:latin typeface="+mn-lt"/>
              </a:rPr>
            </a:br>
            <a:r>
              <a:rPr kumimoji="0" lang="en-US" sz="1000" b="0" i="0" u="none" strike="noStrike" kern="1200" cap="none" spc="0" normalizeH="0" baseline="0" noProof="0" dirty="0">
                <a:ln>
                  <a:noFill/>
                </a:ln>
                <a:solidFill>
                  <a:schemeClr val="tx1"/>
                </a:solidFill>
                <a:effectLst/>
                <a:uLnTx/>
                <a:uFillTx/>
                <a:latin typeface="+mn-lt"/>
              </a:rPr>
              <a:t>GenAI Assist application</a:t>
            </a:r>
          </a:p>
        </p:txBody>
      </p:sp>
      <p:sp>
        <p:nvSpPr>
          <p:cNvPr id="21" name="TextBox 20">
            <a:extLst>
              <a:ext uri="{FF2B5EF4-FFF2-40B4-BE49-F238E27FC236}">
                <a16:creationId xmlns:a16="http://schemas.microsoft.com/office/drawing/2014/main" id="{2BB09C58-659D-911E-5673-B2528AE9AD0C}"/>
              </a:ext>
            </a:extLst>
          </p:cNvPr>
          <p:cNvSpPr txBox="1"/>
          <p:nvPr/>
        </p:nvSpPr>
        <p:spPr>
          <a:xfrm>
            <a:off x="9328219" y="5360894"/>
            <a:ext cx="1136530"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Deploy GenAI Assist</a:t>
            </a:r>
          </a:p>
        </p:txBody>
      </p:sp>
      <p:sp>
        <p:nvSpPr>
          <p:cNvPr id="24" name="TextBox 23">
            <a:extLst>
              <a:ext uri="{FF2B5EF4-FFF2-40B4-BE49-F238E27FC236}">
                <a16:creationId xmlns:a16="http://schemas.microsoft.com/office/drawing/2014/main" id="{51592A27-9F1D-7351-FDCC-B4152544E6A3}"/>
              </a:ext>
              <a:ext uri="{C183D7F6-B498-43B3-948B-1728B52AA6E4}">
                <adec:decorative xmlns:adec="http://schemas.microsoft.com/office/drawing/2017/decorative" val="1"/>
              </a:ext>
            </a:extLst>
          </p:cNvPr>
          <p:cNvSpPr txBox="1"/>
          <p:nvPr/>
        </p:nvSpPr>
        <p:spPr>
          <a:xfrm>
            <a:off x="7995983" y="5343478"/>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Dev-test-deploy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scoped workloads</a:t>
            </a:r>
          </a:p>
        </p:txBody>
      </p:sp>
      <p:sp>
        <p:nvSpPr>
          <p:cNvPr id="27" name="Oval 26">
            <a:extLst>
              <a:ext uri="{FF2B5EF4-FFF2-40B4-BE49-F238E27FC236}">
                <a16:creationId xmlns:a16="http://schemas.microsoft.com/office/drawing/2014/main" id="{7A0A5EB5-7FA4-E7BB-9352-C5DEE537A133}"/>
              </a:ext>
              <a:ext uri="{C183D7F6-B498-43B3-948B-1728B52AA6E4}">
                <adec:decorative xmlns:adec="http://schemas.microsoft.com/office/drawing/2017/decorative" val="1"/>
              </a:ext>
            </a:extLst>
          </p:cNvPr>
          <p:cNvSpPr>
            <a:spLocks noChangeAspect="1"/>
          </p:cNvSpPr>
          <p:nvPr/>
        </p:nvSpPr>
        <p:spPr>
          <a:xfrm>
            <a:off x="8550328" y="5056258"/>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8" name="TextBox 27">
            <a:extLst>
              <a:ext uri="{FF2B5EF4-FFF2-40B4-BE49-F238E27FC236}">
                <a16:creationId xmlns:a16="http://schemas.microsoft.com/office/drawing/2014/main" id="{E09811A0-4699-95B1-DB2D-3386AD40428C}"/>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347714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6" presetClass="emph" presetSubtype="0" fill="hold" grpId="1" nodeType="withEffect">
                                  <p:stCondLst>
                                    <p:cond delay="0"/>
                                  </p:stCondLst>
                                  <p:childTnLst>
                                    <p:animScale>
                                      <p:cBhvr>
                                        <p:cTn id="9" dur="100" fill="hold"/>
                                        <p:tgtEl>
                                          <p:spTgt spid="28"/>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8"/>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28" grpId="2"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5570-3371-7C76-89DA-D95997164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DCDAC-C1B8-06B1-3F88-953BE4E7A263}"/>
              </a:ext>
            </a:extLst>
          </p:cNvPr>
          <p:cNvSpPr>
            <a:spLocks noGrp="1"/>
          </p:cNvSpPr>
          <p:nvPr>
            <p:ph type="title"/>
          </p:nvPr>
        </p:nvSpPr>
        <p:spPr>
          <a:xfrm>
            <a:off x="585215" y="1685163"/>
            <a:ext cx="10312522" cy="1846659"/>
          </a:xfrm>
        </p:spPr>
        <p:txBody>
          <a:bodyPr/>
          <a:lstStyle/>
          <a:p>
            <a:r>
              <a:rPr lang="en-US" noProof="0" dirty="0"/>
              <a:t>Cloud Accelerate Factory </a:t>
            </a:r>
            <a:br>
              <a:rPr lang="en-US" noProof="0" dirty="0"/>
            </a:br>
            <a:r>
              <a:rPr lang="en-US" noProof="0" dirty="0">
                <a:solidFill>
                  <a:schemeClr val="tx1"/>
                </a:solidFill>
              </a:rPr>
              <a:t>Build a Unified, Governed Data, and AI Estate</a:t>
            </a:r>
          </a:p>
        </p:txBody>
      </p:sp>
      <p:sp>
        <p:nvSpPr>
          <p:cNvPr id="5" name="TextBox 4">
            <a:extLst>
              <a:ext uri="{FF2B5EF4-FFF2-40B4-BE49-F238E27FC236}">
                <a16:creationId xmlns:a16="http://schemas.microsoft.com/office/drawing/2014/main" id="{7122F4E2-4964-8B30-D311-CB51B3E211C4}"/>
              </a:ext>
            </a:extLst>
          </p:cNvPr>
          <p:cNvSpPr txBox="1"/>
          <p:nvPr/>
        </p:nvSpPr>
        <p:spPr>
          <a:xfrm>
            <a:off x="584199" y="4173053"/>
            <a:ext cx="2891817" cy="398948"/>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b="1" noProof="0" dirty="0"/>
              <a:t>P SKU F SKU Migration </a:t>
            </a:r>
          </a:p>
        </p:txBody>
      </p:sp>
      <p:sp>
        <p:nvSpPr>
          <p:cNvPr id="10" name="TextBox 9">
            <a:extLst>
              <a:ext uri="{FF2B5EF4-FFF2-40B4-BE49-F238E27FC236}">
                <a16:creationId xmlns:a16="http://schemas.microsoft.com/office/drawing/2014/main" id="{99DD46D0-3938-3AA1-9D4A-BA15C2D6AFFD}"/>
              </a:ext>
            </a:extLst>
          </p:cNvPr>
          <p:cNvSpPr txBox="1"/>
          <p:nvPr/>
        </p:nvSpPr>
        <p:spPr>
          <a:xfrm>
            <a:off x="9195953" y="142935"/>
            <a:ext cx="236220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4" name="Image 10" descr="Home (outlined)">
            <a:hlinkClick r:id="rId3" action="ppaction://hlinksldjump" tooltip="Home"/>
            <a:extLst>
              <a:ext uri="{FF2B5EF4-FFF2-40B4-BE49-F238E27FC236}">
                <a16:creationId xmlns:a16="http://schemas.microsoft.com/office/drawing/2014/main" id="{BBE0C754-D483-EBF6-A97D-BB4235C8E47B}"/>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961791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10" grpId="0" animBg="1"/>
      <p:bldP spid="10" grpId="1" animBg="1"/>
      <p:bldP spid="10" grpId="2"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650B9-C6FC-3B3E-66CE-BA7244005CB0}"/>
            </a:ext>
          </a:extLst>
        </p:cNvPr>
        <p:cNvGrpSpPr/>
        <p:nvPr/>
      </p:nvGrpSpPr>
      <p:grpSpPr>
        <a:xfrm>
          <a:off x="0" y="0"/>
          <a:ext cx="0" cy="0"/>
          <a:chOff x="0" y="0"/>
          <a:chExt cx="0" cy="0"/>
        </a:xfrm>
      </p:grpSpPr>
      <p:sp>
        <p:nvSpPr>
          <p:cNvPr id="16" name="Rounded Rectangle 55">
            <a:extLst>
              <a:ext uri="{FF2B5EF4-FFF2-40B4-BE49-F238E27FC236}">
                <a16:creationId xmlns:a16="http://schemas.microsoft.com/office/drawing/2014/main" id="{6B54BB4E-1ED9-7BE7-E3FB-E992394C90F6}"/>
              </a:ext>
              <a:ext uri="{C183D7F6-B498-43B3-948B-1728B52AA6E4}">
                <adec:decorative xmlns:adec="http://schemas.microsoft.com/office/drawing/2017/decorative" val="1"/>
              </a:ext>
            </a:extLst>
          </p:cNvPr>
          <p:cNvSpPr/>
          <p:nvPr/>
        </p:nvSpPr>
        <p:spPr bwMode="auto">
          <a:xfrm>
            <a:off x="8727792" y="1143747"/>
            <a:ext cx="3152459" cy="5239886"/>
          </a:xfrm>
          <a:prstGeom prst="roundRect">
            <a:avLst>
              <a:gd name="adj" fmla="val 507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Rounded Rectangle 55">
            <a:extLst>
              <a:ext uri="{FF2B5EF4-FFF2-40B4-BE49-F238E27FC236}">
                <a16:creationId xmlns:a16="http://schemas.microsoft.com/office/drawing/2014/main" id="{A60454B8-6312-72C2-6B84-B5963556B3AC}"/>
              </a:ext>
              <a:ext uri="{C183D7F6-B498-43B3-948B-1728B52AA6E4}">
                <adec:decorative xmlns:adec="http://schemas.microsoft.com/office/drawing/2017/decorative" val="1"/>
              </a:ext>
            </a:extLst>
          </p:cNvPr>
          <p:cNvSpPr/>
          <p:nvPr/>
        </p:nvSpPr>
        <p:spPr bwMode="auto">
          <a:xfrm>
            <a:off x="588962" y="1143747"/>
            <a:ext cx="7541577" cy="5244852"/>
          </a:xfrm>
          <a:prstGeom prst="roundRect">
            <a:avLst>
              <a:gd name="adj" fmla="val 2533"/>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 name="Title 1">
            <a:extLst>
              <a:ext uri="{FF2B5EF4-FFF2-40B4-BE49-F238E27FC236}">
                <a16:creationId xmlns:a16="http://schemas.microsoft.com/office/drawing/2014/main" id="{6299FE8E-42AC-C853-245F-1F605D0F39CF}"/>
              </a:ext>
            </a:extLst>
          </p:cNvPr>
          <p:cNvSpPr>
            <a:spLocks noGrp="1"/>
          </p:cNvSpPr>
          <p:nvPr>
            <p:ph type="title" idx="4294967295"/>
          </p:nvPr>
        </p:nvSpPr>
        <p:spPr>
          <a:xfrm>
            <a:off x="585788" y="405559"/>
            <a:ext cx="4576521" cy="707886"/>
          </a:xfrm>
        </p:spPr>
        <p:txBody>
          <a:bodyPr/>
          <a:lstStyle/>
          <a:p>
            <a:r>
              <a:rPr lang="en-US" sz="2800" noProof="0" dirty="0"/>
              <a:t>Analytic</a:t>
            </a:r>
            <a:br>
              <a:rPr lang="en-US" sz="2800" noProof="0" dirty="0"/>
            </a:br>
            <a:r>
              <a:rPr lang="en-US" sz="1800" noProof="0" dirty="0">
                <a:solidFill>
                  <a:schemeClr val="tx1"/>
                </a:solidFill>
              </a:rPr>
              <a:t>P SKU to F SKU</a:t>
            </a:r>
          </a:p>
        </p:txBody>
      </p:sp>
      <p:sp>
        <p:nvSpPr>
          <p:cNvPr id="5" name="Content Placeholder 4">
            <a:extLst>
              <a:ext uri="{FF2B5EF4-FFF2-40B4-BE49-F238E27FC236}">
                <a16:creationId xmlns:a16="http://schemas.microsoft.com/office/drawing/2014/main" id="{CC4ED8DF-E891-77B8-F945-85A9E7C0EE11}"/>
              </a:ext>
            </a:extLst>
          </p:cNvPr>
          <p:cNvSpPr>
            <a:spLocks noGrp="1"/>
          </p:cNvSpPr>
          <p:nvPr>
            <p:ph sz="quarter" idx="4294967295"/>
          </p:nvPr>
        </p:nvSpPr>
        <p:spPr>
          <a:xfrm>
            <a:off x="8864300" y="1702323"/>
            <a:ext cx="2713054" cy="1032532"/>
          </a:xfrm>
        </p:spPr>
        <p:txBody>
          <a:bodyPr vert="horz" wrap="square" lIns="91440" tIns="0" rIns="91440" bIns="0" rtlCol="0" anchor="t">
            <a:noAutofit/>
          </a:bodyPr>
          <a:lstStyle/>
          <a:p>
            <a:pPr marL="0" lvl="3" indent="0">
              <a:spcBef>
                <a:spcPts val="600"/>
              </a:spcBef>
              <a:spcAft>
                <a:spcPts val="600"/>
              </a:spcAft>
              <a:buNone/>
              <a:defRPr/>
            </a:pPr>
            <a:r>
              <a:rPr lang="en-US" sz="1000" b="1" noProof="0" dirty="0">
                <a:solidFill>
                  <a:srgbClr val="000000"/>
                </a:solidFill>
              </a:rPr>
              <a:t>Requirements to leveraging </a:t>
            </a:r>
            <a:br>
              <a:rPr lang="en-US" sz="1000" b="1" noProof="0" dirty="0">
                <a:solidFill>
                  <a:srgbClr val="000000"/>
                </a:solidFill>
              </a:rPr>
            </a:br>
            <a:r>
              <a:rPr lang="en-US" sz="1000" b="1" noProof="0" dirty="0">
                <a:solidFill>
                  <a:srgbClr val="000000"/>
                </a:solidFill>
              </a:rPr>
              <a:t>this service:</a:t>
            </a:r>
          </a:p>
          <a:p>
            <a:pPr marL="171450" indent="-171450">
              <a:spcBef>
                <a:spcPts val="0"/>
              </a:spcBef>
              <a:spcAft>
                <a:spcPts val="600"/>
              </a:spcAft>
              <a:buFont typeface="Arial" panose="020B0604020202020204" pitchFamily="34" charset="0"/>
              <a:buChar char="•"/>
              <a:defRPr/>
            </a:pPr>
            <a:r>
              <a:rPr lang="en-US" sz="1000" noProof="0" dirty="0">
                <a:ln w="3175">
                  <a:noFill/>
                </a:ln>
                <a:solidFill>
                  <a:prstClr val="black"/>
                </a:solidFill>
                <a:ea typeface="+mn-lt"/>
                <a:cs typeface="+mn-lt"/>
              </a:rPr>
              <a:t>For P to F SKU, Fabric capacity should be provisioned by customer</a:t>
            </a:r>
          </a:p>
          <a:p>
            <a:pPr marL="171450" indent="-171450">
              <a:spcBef>
                <a:spcPts val="0"/>
              </a:spcBef>
              <a:spcAft>
                <a:spcPts val="600"/>
              </a:spcAft>
              <a:buFont typeface="Arial" panose="020B0604020202020204" pitchFamily="34" charset="0"/>
              <a:buChar char="•"/>
              <a:defRPr/>
            </a:pPr>
            <a:endParaRPr lang="en-US" sz="1000" noProof="0" dirty="0">
              <a:ln w="3175">
                <a:noFill/>
              </a:ln>
              <a:solidFill>
                <a:prstClr val="black"/>
              </a:solidFill>
              <a:ea typeface="+mn-lt"/>
              <a:cs typeface="+mn-lt"/>
            </a:endParaRPr>
          </a:p>
        </p:txBody>
      </p:sp>
      <p:graphicFrame>
        <p:nvGraphicFramePr>
          <p:cNvPr id="3" name="Table 2" title="Exchange Online Technet Guidance">
            <a:extLst>
              <a:ext uri="{FF2B5EF4-FFF2-40B4-BE49-F238E27FC236}">
                <a16:creationId xmlns:a16="http://schemas.microsoft.com/office/drawing/2014/main" id="{51463514-7DCB-A9E8-B7B9-6E2868577868}"/>
              </a:ext>
            </a:extLst>
          </p:cNvPr>
          <p:cNvGraphicFramePr>
            <a:graphicFrameLocks noGrp="1"/>
          </p:cNvGraphicFramePr>
          <p:nvPr>
            <p:extLst>
              <p:ext uri="{D42A27DB-BD31-4B8C-83A1-F6EECF244321}">
                <p14:modId xmlns:p14="http://schemas.microsoft.com/office/powerpoint/2010/main" val="2435517399"/>
              </p:ext>
            </p:extLst>
          </p:nvPr>
        </p:nvGraphicFramePr>
        <p:xfrm>
          <a:off x="723936" y="1713430"/>
          <a:ext cx="7271627" cy="4103925"/>
        </p:xfrm>
        <a:graphic>
          <a:graphicData uri="http://schemas.openxmlformats.org/drawingml/2006/table">
            <a:tbl>
              <a:tblPr firstRow="1" bandRow="1">
                <a:tableStyleId>{5C22544A-7EE6-4342-B048-85BDC9FD1C3A}</a:tableStyleId>
              </a:tblPr>
              <a:tblGrid>
                <a:gridCol w="355220">
                  <a:extLst>
                    <a:ext uri="{9D8B030D-6E8A-4147-A177-3AD203B41FA5}">
                      <a16:colId xmlns:a16="http://schemas.microsoft.com/office/drawing/2014/main" val="920430407"/>
                    </a:ext>
                  </a:extLst>
                </a:gridCol>
                <a:gridCol w="6916407">
                  <a:extLst>
                    <a:ext uri="{9D8B030D-6E8A-4147-A177-3AD203B41FA5}">
                      <a16:colId xmlns:a16="http://schemas.microsoft.com/office/drawing/2014/main" val="125040094"/>
                    </a:ext>
                  </a:extLst>
                </a:gridCol>
              </a:tblGrid>
              <a:tr h="0">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mn-lt"/>
                          <a:ea typeface="+mn-ea"/>
                          <a:cs typeface="+mn-cs"/>
                        </a:rPr>
                        <a:t>Microsoft Cloud Accelerate Factory (Factory) </a:t>
                      </a:r>
                      <a:r>
                        <a:rPr kumimoji="0" lang="en-US" sz="1000" b="0" i="0" u="none" strike="noStrike" kern="1200" cap="none" spc="0" normalizeH="0" baseline="0" noProof="0" dirty="0">
                          <a:ln>
                            <a:noFill/>
                          </a:ln>
                          <a:solidFill>
                            <a:srgbClr val="000000"/>
                          </a:solidFill>
                          <a:effectLst/>
                          <a:uLnTx/>
                          <a:uFillTx/>
                          <a:latin typeface="+mn-lt"/>
                          <a:ea typeface="+mn-ea"/>
                          <a:cs typeface="+mn-cs"/>
                        </a:rPr>
                        <a:t>Analytics—P SKU to F SKU</a:t>
                      </a: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0">
                <a:tc>
                  <a:txBody>
                    <a:bodyPr/>
                    <a:lstStyle/>
                    <a:p>
                      <a:pPr algn="ctr"/>
                      <a:r>
                        <a:rPr lang="en-US" sz="1050" b="1" noProof="0" dirty="0">
                          <a:solidFill>
                            <a:srgbClr val="0078D7"/>
                          </a:solidFill>
                          <a:latin typeface="+mj-lt"/>
                        </a:rPr>
                        <a:t>1</a:t>
                      </a:r>
                    </a:p>
                  </a:txBody>
                  <a:tcPr marL="64008" marR="64008" marT="64008" marB="64008">
                    <a:lnL w="12700" cmpd="sng">
                      <a:noFill/>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2713"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000" b="1" kern="1200" noProof="0" dirty="0">
                          <a:solidFill>
                            <a:srgbClr val="000000"/>
                          </a:solidFill>
                          <a:latin typeface="+mn-lt"/>
                          <a:ea typeface="+mn-ea"/>
                          <a:cs typeface="+mn-cs"/>
                        </a:rPr>
                        <a:t>Determine the appropriate path</a:t>
                      </a:r>
                      <a:r>
                        <a:rPr lang="en-US" sz="1000" kern="1200" noProof="0" dirty="0">
                          <a:solidFill>
                            <a:srgbClr val="000000"/>
                          </a:solidFill>
                          <a:latin typeface="+mn-lt"/>
                          <a:ea typeface="+mn-ea"/>
                          <a:cs typeface="+mn-cs"/>
                        </a:rPr>
                        <a:t>:</a:t>
                      </a:r>
                    </a:p>
                    <a:p>
                      <a:pPr marL="284163"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noProof="0" dirty="0">
                          <a:solidFill>
                            <a:srgbClr val="000000"/>
                          </a:solidFill>
                          <a:latin typeface="+mn-lt"/>
                          <a:ea typeface="+mn-ea"/>
                          <a:cs typeface="+mn-cs"/>
                        </a:rPr>
                        <a:t>Migrating from Power BI Premium (P SKU) to Fabric (F SKU)</a:t>
                      </a:r>
                    </a:p>
                  </a:txBody>
                  <a:tcPr marL="63999" marR="63999" marT="63999" marB="63999" anchor="ctr">
                    <a:lnL w="12700"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0">
                <a:tc>
                  <a:txBody>
                    <a:bodyPr/>
                    <a:lstStyle/>
                    <a:p>
                      <a:pPr algn="ctr"/>
                      <a:r>
                        <a:rPr lang="en-US" sz="1050" b="1" noProof="0" dirty="0">
                          <a:solidFill>
                            <a:srgbClr val="0078D7"/>
                          </a:solidFill>
                          <a:latin typeface="+mj-lt"/>
                        </a:rPr>
                        <a:t>2</a:t>
                      </a:r>
                    </a:p>
                  </a:txBody>
                  <a:tcPr marL="64008" marR="64008" marT="64008" marB="64008">
                    <a:lnL w="12700" cmpd="sng">
                      <a:noFill/>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2713"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000" b="1" kern="1200" noProof="0" dirty="0">
                          <a:solidFill>
                            <a:srgbClr val="000000"/>
                          </a:solidFill>
                          <a:latin typeface="+mn-lt"/>
                          <a:ea typeface="+mn-ea"/>
                          <a:cs typeface="+mn-cs"/>
                        </a:rPr>
                        <a:t>Identify the Azure region </a:t>
                      </a:r>
                      <a:r>
                        <a:rPr lang="en-US" sz="1000" kern="1200" noProof="0" dirty="0">
                          <a:solidFill>
                            <a:srgbClr val="000000"/>
                          </a:solidFill>
                          <a:latin typeface="+mn-lt"/>
                          <a:ea typeface="+mn-ea"/>
                          <a:cs typeface="+mn-cs"/>
                        </a:rPr>
                        <a:t>for P to F SKU migration</a:t>
                      </a:r>
                    </a:p>
                    <a:p>
                      <a:pPr marL="112713"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000" strike="sngStrike" kern="1200" noProof="0" dirty="0">
                        <a:solidFill>
                          <a:srgbClr val="000000"/>
                        </a:solidFill>
                        <a:latin typeface="+mn-lt"/>
                        <a:ea typeface="+mn-ea"/>
                        <a:cs typeface="+mn-cs"/>
                      </a:endParaRPr>
                    </a:p>
                  </a:txBody>
                  <a:tcPr marL="63999" marR="63999" marT="63999" marB="63999">
                    <a:lnL w="12700"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0">
                <a:tc>
                  <a:txBody>
                    <a:bodyPr/>
                    <a:lstStyle/>
                    <a:p>
                      <a:pPr algn="ctr"/>
                      <a:r>
                        <a:rPr lang="en-US" sz="1050" b="1" noProof="0" dirty="0">
                          <a:solidFill>
                            <a:srgbClr val="0078D7"/>
                          </a:solidFill>
                          <a:latin typeface="+mj-lt"/>
                        </a:rPr>
                        <a:t>3</a:t>
                      </a:r>
                    </a:p>
                  </a:txBody>
                  <a:tcPr marL="64008" marR="64008" marT="64008" marB="64008">
                    <a:lnL w="12700" cmpd="sng">
                      <a:noFill/>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2713"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1" kern="1200" noProof="0" dirty="0">
                          <a:solidFill>
                            <a:srgbClr val="000000"/>
                          </a:solidFill>
                          <a:latin typeface="+mn-lt"/>
                          <a:ea typeface="+mn-ea"/>
                          <a:cs typeface="+mn-cs"/>
                        </a:rPr>
                        <a:t>Reassign and validate Workspace </a:t>
                      </a:r>
                      <a:r>
                        <a:rPr lang="en-US" sz="1000" kern="1200" noProof="0" dirty="0">
                          <a:solidFill>
                            <a:srgbClr val="000000"/>
                          </a:solidFill>
                          <a:latin typeface="+mn-lt"/>
                          <a:ea typeface="+mn-ea"/>
                          <a:cs typeface="+mn-cs"/>
                        </a:rPr>
                        <a:t>to ensure compatibility and optimize performance</a:t>
                      </a:r>
                    </a:p>
                  </a:txBody>
                  <a:tcPr marL="63999" marR="63999" marT="63999" marB="63999">
                    <a:lnL w="12700"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1750739"/>
                  </a:ext>
                </a:extLst>
              </a:tr>
              <a:tr h="0">
                <a:tc>
                  <a:txBody>
                    <a:bodyPr/>
                    <a:lstStyle/>
                    <a:p>
                      <a:pPr algn="ctr"/>
                      <a:r>
                        <a:rPr lang="en-US" sz="1050" b="1" noProof="0" dirty="0">
                          <a:solidFill>
                            <a:srgbClr val="0078D7"/>
                          </a:solidFill>
                          <a:latin typeface="+mj-lt"/>
                        </a:rPr>
                        <a:t>4</a:t>
                      </a:r>
                    </a:p>
                  </a:txBody>
                  <a:tcPr marL="64008" marR="64008" marT="64008" marB="64008">
                    <a:lnL w="12700" cmpd="sng">
                      <a:noFill/>
                    </a:lnL>
                    <a:lnR w="1270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2713"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1" kern="1200" noProof="0" dirty="0">
                          <a:solidFill>
                            <a:srgbClr val="000000"/>
                          </a:solidFill>
                          <a:latin typeface="+mn-lt"/>
                          <a:ea typeface="+mn-ea"/>
                          <a:cs typeface="+mn-cs"/>
                        </a:rPr>
                        <a:t>Handover</a:t>
                      </a:r>
                      <a:r>
                        <a:rPr lang="en-US" sz="1000" kern="1200" noProof="0" dirty="0">
                          <a:solidFill>
                            <a:srgbClr val="000000"/>
                          </a:solidFill>
                          <a:latin typeface="+mn-lt"/>
                          <a:ea typeface="+mn-ea"/>
                          <a:cs typeface="+mn-cs"/>
                        </a:rPr>
                        <a:t> </a:t>
                      </a:r>
                      <a:r>
                        <a:rPr lang="en-US" sz="1000" b="1" kern="1200" noProof="0" dirty="0">
                          <a:solidFill>
                            <a:schemeClr val="dk1"/>
                          </a:solidFill>
                          <a:latin typeface="+mn-lt"/>
                          <a:ea typeface="+mn-ea"/>
                          <a:cs typeface="+mn-cs"/>
                        </a:rPr>
                        <a:t>to customer </a:t>
                      </a:r>
                      <a:r>
                        <a:rPr lang="en-US" sz="1000" kern="1200" noProof="0" dirty="0">
                          <a:solidFill>
                            <a:schemeClr val="dk1"/>
                          </a:solidFill>
                          <a:latin typeface="+mn-lt"/>
                          <a:ea typeface="+mn-ea"/>
                          <a:cs typeface="+mn-cs"/>
                        </a:rPr>
                        <a:t>for any infrastructure or networking related services </a:t>
                      </a:r>
                      <a:endParaRPr lang="en-US" sz="1000" kern="1200" noProof="0" dirty="0">
                        <a:solidFill>
                          <a:srgbClr val="000000"/>
                        </a:solidFill>
                        <a:latin typeface="+mn-lt"/>
                        <a:ea typeface="+mn-ea"/>
                        <a:cs typeface="+mn-cs"/>
                      </a:endParaRPr>
                    </a:p>
                  </a:txBody>
                  <a:tcPr marL="63999" marR="63999" marT="63999" marB="63999">
                    <a:lnL w="12700" cap="flat" cmpd="sng" algn="ctr">
                      <a:solidFill>
                        <a:schemeClr val="bg1"/>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112017"/>
                  </a:ext>
                </a:extLst>
              </a:tr>
              <a:tr h="394545">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a:t>
                      </a:r>
                      <a:r>
                        <a:rPr kumimoji="0" lang="en-US" sz="800" b="0" i="0" u="none" strike="noStrike" kern="1200" cap="none" spc="0" normalizeH="0" baseline="0" noProof="0" dirty="0">
                          <a:ln>
                            <a:noFill/>
                          </a:ln>
                          <a:solidFill>
                            <a:srgbClr val="282828"/>
                          </a:solidFill>
                          <a:effectLst/>
                          <a:uLnTx/>
                          <a:uFillTx/>
                          <a:latin typeface="+mn-lt"/>
                          <a:ea typeface="+mn-ea"/>
                          <a:cs typeface="Segoe Sans Text" pitchFamily="2" charset="0"/>
                        </a:rPr>
                        <a:t>user communications, training, and change management</a:t>
                      </a:r>
                      <a:r>
                        <a:rPr kumimoji="0" lang="en-US" sz="800" b="0" i="0" u="none" strike="noStrike" kern="1200" cap="none" spc="0" normalizeH="0" baseline="0" noProof="0" dirty="0">
                          <a:ln>
                            <a:noFill/>
                          </a:ln>
                          <a:solidFill>
                            <a:srgbClr val="000000"/>
                          </a:solidFill>
                          <a:effectLst/>
                          <a:uLnTx/>
                          <a:uFillTx/>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n-lt"/>
                          <a:ea typeface="+mn-ea"/>
                          <a:cs typeface="+mn-cs"/>
                        </a:rPr>
                        <a:t>Factory will provide overall project management; coordinating and </a:t>
                      </a:r>
                      <a:r>
                        <a:rPr kumimoji="0" lang="en-US" sz="800" b="0" i="0" u="none" strike="noStrike" kern="1200" cap="none" spc="0" normalizeH="0" baseline="0" noProof="0" dirty="0">
                          <a:ln>
                            <a:noFill/>
                          </a:ln>
                          <a:solidFill>
                            <a:srgbClr val="282828"/>
                          </a:solidFill>
                          <a:effectLst/>
                          <a:uLnTx/>
                          <a:uFillTx/>
                          <a:latin typeface="+mn-lt"/>
                          <a:ea typeface="+mn-ea"/>
                          <a:cs typeface="Segoe Sans Text" pitchFamily="2" charset="0"/>
                        </a:rPr>
                        <a:t>attending checkpoint meetings. </a:t>
                      </a:r>
                      <a:endParaRPr kumimoji="0" lang="en-US" sz="800" b="0" i="0" u="none" strike="noStrike" kern="1200" cap="none" spc="0" normalizeH="0" baseline="0" noProof="0" dirty="0">
                        <a:ln>
                          <a:noFill/>
                        </a:ln>
                        <a:solidFill>
                          <a:srgbClr val="000000"/>
                        </a:solidFill>
                        <a:effectLst/>
                        <a:uLnTx/>
                        <a:uFillTx/>
                        <a:latin typeface="+mn-lt"/>
                        <a:ea typeface="+mn-ea"/>
                        <a:cs typeface="+mn-cs"/>
                      </a:endParaRP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r h="394545">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0" i="0" u="none" strike="noStrike" kern="1200" cap="none" spc="0" normalizeH="0" baseline="0" noProof="0" dirty="0">
                          <a:ln>
                            <a:noFill/>
                          </a:ln>
                          <a:solidFill>
                            <a:srgbClr val="000000"/>
                          </a:solidFill>
                          <a:effectLst/>
                          <a:uLnTx/>
                          <a:uFillTx/>
                          <a:latin typeface="+mn-lt"/>
                          <a:ea typeface="+mn-ea"/>
                          <a:cs typeface="+mn-cs"/>
                        </a:rPr>
                        <a:t>Estimated duration for completing all activities in a typical engagement is within 3 weeks per scenario identified, when all the requirements are met, and customer and partner are ready for execution</a:t>
                      </a:r>
                    </a:p>
                  </a:txBody>
                  <a:tcPr marL="64008" marR="64008" marT="64008" marB="64008">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162794223"/>
                  </a:ext>
                </a:extLst>
              </a:tr>
            </a:tbl>
          </a:graphicData>
        </a:graphic>
      </p:graphicFrame>
      <p:pic>
        <p:nvPicPr>
          <p:cNvPr id="11" name="Graphic 10">
            <a:extLst>
              <a:ext uri="{FF2B5EF4-FFF2-40B4-BE49-F238E27FC236}">
                <a16:creationId xmlns:a16="http://schemas.microsoft.com/office/drawing/2014/main" id="{421083C1-3739-F1EA-E3C1-7A4A44B2726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62959" y="1536657"/>
            <a:ext cx="203202" cy="203200"/>
          </a:xfrm>
          <a:prstGeom prst="rect">
            <a:avLst/>
          </a:prstGeom>
        </p:spPr>
      </p:pic>
      <p:sp>
        <p:nvSpPr>
          <p:cNvPr id="12" name="TextBox 11">
            <a:extLst>
              <a:ext uri="{FF2B5EF4-FFF2-40B4-BE49-F238E27FC236}">
                <a16:creationId xmlns:a16="http://schemas.microsoft.com/office/drawing/2014/main" id="{7B29F4B3-7FA0-D5A4-C0D4-2C58CA3C250B}"/>
              </a:ext>
            </a:extLst>
          </p:cNvPr>
          <p:cNvSpPr txBox="1"/>
          <p:nvPr/>
        </p:nvSpPr>
        <p:spPr>
          <a:xfrm>
            <a:off x="8905864" y="1233373"/>
            <a:ext cx="2738737" cy="325812"/>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7" name="TextBox 6">
            <a:extLst>
              <a:ext uri="{FF2B5EF4-FFF2-40B4-BE49-F238E27FC236}">
                <a16:creationId xmlns:a16="http://schemas.microsoft.com/office/drawing/2014/main" id="{CB2DE575-D547-DEAB-EB12-545CE5D23427}"/>
              </a:ext>
            </a:extLst>
          </p:cNvPr>
          <p:cNvSpPr txBox="1"/>
          <p:nvPr/>
        </p:nvSpPr>
        <p:spPr>
          <a:xfrm>
            <a:off x="627353" y="1227718"/>
            <a:ext cx="7368210" cy="277491"/>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8" name="TextBox 7">
            <a:extLst>
              <a:ext uri="{FF2B5EF4-FFF2-40B4-BE49-F238E27FC236}">
                <a16:creationId xmlns:a16="http://schemas.microsoft.com/office/drawing/2014/main" id="{98DBADA6-4F06-65D4-0468-A48E0A1C3EEE}"/>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29080643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6" presetClass="emph" presetSubtype="0" fill="hold" grpId="1" nodeType="withEffect">
                                  <p:stCondLst>
                                    <p:cond delay="0"/>
                                  </p:stCondLst>
                                  <p:childTnLst>
                                    <p:animScale>
                                      <p:cBhvr>
                                        <p:cTn id="9" dur="100" fill="hold"/>
                                        <p:tgtEl>
                                          <p:spTgt spid="8"/>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8"/>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01">
            <a:extLst>
              <a:ext uri="{FF2B5EF4-FFF2-40B4-BE49-F238E27FC236}">
                <a16:creationId xmlns:a16="http://schemas.microsoft.com/office/drawing/2014/main" id="{46B5A782-CB46-B6B1-95F2-014329F918D5}"/>
              </a:ext>
            </a:extLst>
          </p:cNvPr>
          <p:cNvSpPr>
            <a:spLocks noGrp="1"/>
          </p:cNvSpPr>
          <p:nvPr>
            <p:ph type="title" idx="4294967295"/>
          </p:nvPr>
        </p:nvSpPr>
        <p:spPr>
          <a:xfrm>
            <a:off x="620041" y="539773"/>
            <a:ext cx="5804784" cy="707886"/>
          </a:xfrm>
        </p:spPr>
        <p:txBody>
          <a:bodyPr/>
          <a:lstStyle/>
          <a:p>
            <a:r>
              <a:rPr lang="en-US" sz="2800" noProof="0" dirty="0"/>
              <a:t>Analytics</a:t>
            </a:r>
            <a:br>
              <a:rPr lang="en-US" sz="2400" noProof="0" dirty="0"/>
            </a:br>
            <a:r>
              <a:rPr lang="en-US" sz="1800" noProof="0" dirty="0">
                <a:solidFill>
                  <a:schemeClr val="tx1"/>
                </a:solidFill>
              </a:rPr>
              <a:t>P SKU to F SKU Migration Scope</a:t>
            </a:r>
          </a:p>
        </p:txBody>
      </p:sp>
      <p:sp>
        <p:nvSpPr>
          <p:cNvPr id="48" name="Rounded Rectangle 47">
            <a:extLst>
              <a:ext uri="{FF2B5EF4-FFF2-40B4-BE49-F238E27FC236}">
                <a16:creationId xmlns:a16="http://schemas.microsoft.com/office/drawing/2014/main" id="{713F1C01-478D-AECB-8748-91362E159373}"/>
              </a:ext>
              <a:ext uri="{C183D7F6-B498-43B3-948B-1728B52AA6E4}">
                <adec:decorative xmlns:adec="http://schemas.microsoft.com/office/drawing/2017/decorative" val="1"/>
              </a:ext>
            </a:extLst>
          </p:cNvPr>
          <p:cNvSpPr>
            <a:spLocks/>
          </p:cNvSpPr>
          <p:nvPr/>
        </p:nvSpPr>
        <p:spPr bwMode="auto">
          <a:xfrm>
            <a:off x="585048" y="1521982"/>
            <a:ext cx="5440680" cy="4110707"/>
          </a:xfrm>
          <a:prstGeom prst="roundRect">
            <a:avLst>
              <a:gd name="adj" fmla="val 527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49" name="Rounded Rectangle 48">
            <a:extLst>
              <a:ext uri="{FF2B5EF4-FFF2-40B4-BE49-F238E27FC236}">
                <a16:creationId xmlns:a16="http://schemas.microsoft.com/office/drawing/2014/main" id="{87204E34-9A51-1129-816C-BBF2EF6C2DC7}"/>
              </a:ext>
              <a:ext uri="{C183D7F6-B498-43B3-948B-1728B52AA6E4}">
                <adec:decorative xmlns:adec="http://schemas.microsoft.com/office/drawing/2017/decorative" val="1"/>
              </a:ext>
            </a:extLst>
          </p:cNvPr>
          <p:cNvSpPr>
            <a:spLocks/>
          </p:cNvSpPr>
          <p:nvPr/>
        </p:nvSpPr>
        <p:spPr bwMode="auto">
          <a:xfrm>
            <a:off x="6151557" y="1521982"/>
            <a:ext cx="5440680" cy="4110707"/>
          </a:xfrm>
          <a:prstGeom prst="roundRect">
            <a:avLst>
              <a:gd name="adj" fmla="val 527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24" name="TextBox 123">
            <a:extLst>
              <a:ext uri="{FF2B5EF4-FFF2-40B4-BE49-F238E27FC236}">
                <a16:creationId xmlns:a16="http://schemas.microsoft.com/office/drawing/2014/main" id="{FB43B720-6AB9-3EC6-4A3A-534A46DA0C8A}"/>
              </a:ext>
            </a:extLst>
          </p:cNvPr>
          <p:cNvSpPr txBox="1"/>
          <p:nvPr/>
        </p:nvSpPr>
        <p:spPr>
          <a:xfrm>
            <a:off x="992100" y="2316446"/>
            <a:ext cx="4754880" cy="34111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egoe Sans Text Semibold"/>
                <a:ea typeface="+mn-ea"/>
                <a:cs typeface="Segoe Sans Text" pitchFamily="2" charset="0"/>
              </a:rPr>
              <a:t>Offerings:</a:t>
            </a: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P SKU to F SKU</a:t>
            </a:r>
          </a:p>
        </p:txBody>
      </p:sp>
      <p:sp>
        <p:nvSpPr>
          <p:cNvPr id="127" name="TextBox 126">
            <a:extLst>
              <a:ext uri="{FF2B5EF4-FFF2-40B4-BE49-F238E27FC236}">
                <a16:creationId xmlns:a16="http://schemas.microsoft.com/office/drawing/2014/main" id="{44832970-80C6-7033-D479-198C36C0AD95}"/>
              </a:ext>
            </a:extLst>
          </p:cNvPr>
          <p:cNvSpPr txBox="1"/>
          <p:nvPr/>
        </p:nvSpPr>
        <p:spPr>
          <a:xfrm>
            <a:off x="992100" y="3079437"/>
            <a:ext cx="4754880" cy="49500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egoe Sans Text Semibold"/>
                <a:ea typeface="+mn-ea"/>
                <a:cs typeface="Segoe Sans Text" pitchFamily="2" charset="0"/>
              </a:rPr>
              <a:t>What:</a:t>
            </a:r>
            <a:endParaRPr kumimoji="0" lang="en-US" sz="1800" b="0" i="0" u="none" strike="noStrike" kern="1200" cap="none" spc="0" normalizeH="0" baseline="0" noProof="0" dirty="0">
              <a:ln>
                <a:noFill/>
              </a:ln>
              <a:solidFill>
                <a:srgbClr val="000000"/>
              </a:solidFill>
              <a:effectLst/>
              <a:uLnTx/>
              <a:uFillTx/>
              <a:latin typeface="Segoe Sans Text Semibold"/>
              <a:ea typeface="+mn-ea"/>
              <a:cs typeface="Segoe Sans Text" pitchFamily="2" charset="0"/>
            </a:endParaRPr>
          </a:p>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Migration of P SKU to F SKU workspaces in the same region / cross region with considerations</a:t>
            </a:r>
          </a:p>
        </p:txBody>
      </p:sp>
      <p:sp>
        <p:nvSpPr>
          <p:cNvPr id="179" name="TextBox 178">
            <a:extLst>
              <a:ext uri="{FF2B5EF4-FFF2-40B4-BE49-F238E27FC236}">
                <a16:creationId xmlns:a16="http://schemas.microsoft.com/office/drawing/2014/main" id="{F90F3C8F-66A1-1219-6ED9-610AA06C19CC}"/>
              </a:ext>
            </a:extLst>
          </p:cNvPr>
          <p:cNvSpPr txBox="1"/>
          <p:nvPr/>
        </p:nvSpPr>
        <p:spPr>
          <a:xfrm>
            <a:off x="992100" y="3979575"/>
            <a:ext cx="4754880" cy="52065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egoe Sans Text Semibold"/>
                <a:ea typeface="+mn-ea"/>
                <a:cs typeface="Segoe Sans Text" pitchFamily="2" charset="0"/>
              </a:rPr>
              <a:t>How:</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Factory approved scripts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kern="0" noProof="0" dirty="0">
                <a:solidFill>
                  <a:srgbClr val="000000"/>
                </a:solidFill>
                <a:latin typeface="Segoe Sans Text" pitchFamily="2" charset="0"/>
                <a:cs typeface="Segoe Sans Text" pitchFamily="2" charset="0"/>
              </a:rPr>
              <a:t>Fabric UI</a:t>
            </a:r>
            <a:endPar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cxnSp>
        <p:nvCxnSpPr>
          <p:cNvPr id="121" name="Straight Connector 120">
            <a:extLst>
              <a:ext uri="{FF2B5EF4-FFF2-40B4-BE49-F238E27FC236}">
                <a16:creationId xmlns:a16="http://schemas.microsoft.com/office/drawing/2014/main" id="{82670E57-78D5-832F-4634-6A62AB91F381}"/>
              </a:ext>
              <a:ext uri="{C183D7F6-B498-43B3-948B-1728B52AA6E4}">
                <adec:decorative xmlns:adec="http://schemas.microsoft.com/office/drawing/2017/decorative" val="1"/>
              </a:ext>
            </a:extLst>
          </p:cNvPr>
          <p:cNvCxnSpPr>
            <a:cxnSpLocks/>
          </p:cNvCxnSpPr>
          <p:nvPr/>
        </p:nvCxnSpPr>
        <p:spPr>
          <a:xfrm>
            <a:off x="992100" y="2971028"/>
            <a:ext cx="475488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5F23E904-DD44-9D80-1A8F-DE4BEE18AA8A}"/>
              </a:ext>
              <a:ext uri="{C183D7F6-B498-43B3-948B-1728B52AA6E4}">
                <adec:decorative xmlns:adec="http://schemas.microsoft.com/office/drawing/2017/decorative" val="1"/>
              </a:ext>
            </a:extLst>
          </p:cNvPr>
          <p:cNvCxnSpPr>
            <a:cxnSpLocks/>
          </p:cNvCxnSpPr>
          <p:nvPr/>
        </p:nvCxnSpPr>
        <p:spPr>
          <a:xfrm>
            <a:off x="992100" y="3812109"/>
            <a:ext cx="475488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C77DC118-A3E0-3B16-799B-A56612E3C54E}"/>
              </a:ext>
            </a:extLst>
          </p:cNvPr>
          <p:cNvSpPr txBox="1"/>
          <p:nvPr/>
        </p:nvSpPr>
        <p:spPr>
          <a:xfrm>
            <a:off x="6644987" y="2408443"/>
            <a:ext cx="4663440" cy="1538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egoe Sans Text" pitchFamily="2" charset="0"/>
                <a:ea typeface="+mn-ea"/>
                <a:cs typeface="Segoe Sans Text" pitchFamily="2" charset="0"/>
              </a:rPr>
              <a:t>Migrate P SKU (PBI Premium) to F SKU (Fabric)</a:t>
            </a:r>
            <a:endParaRPr kumimoji="0" lang="en-US" sz="18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sp>
        <p:nvSpPr>
          <p:cNvPr id="25" name="TextBox 24">
            <a:extLst>
              <a:ext uri="{FF2B5EF4-FFF2-40B4-BE49-F238E27FC236}">
                <a16:creationId xmlns:a16="http://schemas.microsoft.com/office/drawing/2014/main" id="{D17DC482-259B-7829-11C6-0992CFB782EA}"/>
              </a:ext>
            </a:extLst>
          </p:cNvPr>
          <p:cNvSpPr txBox="1"/>
          <p:nvPr/>
        </p:nvSpPr>
        <p:spPr>
          <a:xfrm>
            <a:off x="6644986" y="2971028"/>
            <a:ext cx="4663440" cy="153888"/>
          </a:xfrm>
          <a:prstGeom prst="rect">
            <a:avLst/>
          </a:prstGeom>
          <a:noFill/>
        </p:spPr>
        <p:txBody>
          <a:bodyPr wrap="square" lIns="0" tIns="0" rIns="0" bIns="0">
            <a:spAutoFit/>
          </a:bodyPr>
          <a:lstStyle/>
          <a:p>
            <a:pPr marL="0" marR="0" lvl="0" indent="0" algn="l" defTabSz="93229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Fabric capacity should be provisioned by customer</a:t>
            </a:r>
          </a:p>
        </p:txBody>
      </p:sp>
      <p:cxnSp>
        <p:nvCxnSpPr>
          <p:cNvPr id="56" name="Straight Connector 55">
            <a:extLst>
              <a:ext uri="{FF2B5EF4-FFF2-40B4-BE49-F238E27FC236}">
                <a16:creationId xmlns:a16="http://schemas.microsoft.com/office/drawing/2014/main" id="{561A6ECD-DB44-9D01-AD15-2C59B502EC36}"/>
              </a:ext>
              <a:ext uri="{C183D7F6-B498-43B3-948B-1728B52AA6E4}">
                <adec:decorative xmlns:adec="http://schemas.microsoft.com/office/drawing/2017/decorative" val="1"/>
              </a:ext>
            </a:extLst>
          </p:cNvPr>
          <p:cNvCxnSpPr>
            <a:cxnSpLocks/>
          </p:cNvCxnSpPr>
          <p:nvPr/>
        </p:nvCxnSpPr>
        <p:spPr>
          <a:xfrm>
            <a:off x="6644986" y="2860565"/>
            <a:ext cx="466344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6E4D0F1-869C-65F5-DDD0-1C6DE1C2E03D}"/>
              </a:ext>
            </a:extLst>
          </p:cNvPr>
          <p:cNvSpPr/>
          <p:nvPr/>
        </p:nvSpPr>
        <p:spPr bwMode="auto">
          <a:xfrm>
            <a:off x="762737" y="231644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8" name="Oval 7">
            <a:extLst>
              <a:ext uri="{FF2B5EF4-FFF2-40B4-BE49-F238E27FC236}">
                <a16:creationId xmlns:a16="http://schemas.microsoft.com/office/drawing/2014/main" id="{03143C00-F40A-96F7-E357-7A03BABA4A4E}"/>
              </a:ext>
            </a:extLst>
          </p:cNvPr>
          <p:cNvSpPr/>
          <p:nvPr/>
        </p:nvSpPr>
        <p:spPr bwMode="auto">
          <a:xfrm>
            <a:off x="762737" y="305701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Oval 8">
            <a:extLst>
              <a:ext uri="{FF2B5EF4-FFF2-40B4-BE49-F238E27FC236}">
                <a16:creationId xmlns:a16="http://schemas.microsoft.com/office/drawing/2014/main" id="{6750C762-E1E2-5B93-4439-E95B9E4528B0}"/>
              </a:ext>
            </a:extLst>
          </p:cNvPr>
          <p:cNvSpPr/>
          <p:nvPr/>
        </p:nvSpPr>
        <p:spPr bwMode="auto">
          <a:xfrm>
            <a:off x="785936" y="397957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Oval 11">
            <a:extLst>
              <a:ext uri="{FF2B5EF4-FFF2-40B4-BE49-F238E27FC236}">
                <a16:creationId xmlns:a16="http://schemas.microsoft.com/office/drawing/2014/main" id="{621339BF-4305-DB9F-2A8E-4A80468A6DE6}"/>
              </a:ext>
            </a:extLst>
          </p:cNvPr>
          <p:cNvSpPr/>
          <p:nvPr/>
        </p:nvSpPr>
        <p:spPr bwMode="auto">
          <a:xfrm>
            <a:off x="6350888" y="297102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5681893F-7F08-B19C-EA32-2E0351043FB1}"/>
              </a:ext>
            </a:extLst>
          </p:cNvPr>
          <p:cNvSpPr/>
          <p:nvPr/>
        </p:nvSpPr>
        <p:spPr bwMode="auto">
          <a:xfrm>
            <a:off x="6350888" y="242621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6" name="TextBox 5">
            <a:extLst>
              <a:ext uri="{FF2B5EF4-FFF2-40B4-BE49-F238E27FC236}">
                <a16:creationId xmlns:a16="http://schemas.microsoft.com/office/drawing/2014/main" id="{7160F49D-748B-CB90-1339-DFFE68B659EA}"/>
              </a:ext>
            </a:extLst>
          </p:cNvPr>
          <p:cNvSpPr txBox="1">
            <a:spLocks/>
          </p:cNvSpPr>
          <p:nvPr/>
        </p:nvSpPr>
        <p:spPr>
          <a:xfrm>
            <a:off x="667120" y="1662991"/>
            <a:ext cx="5242475"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1: Factory - Led</a:t>
            </a:r>
          </a:p>
        </p:txBody>
      </p:sp>
      <p:sp>
        <p:nvSpPr>
          <p:cNvPr id="13" name="TextBox 12">
            <a:extLst>
              <a:ext uri="{FF2B5EF4-FFF2-40B4-BE49-F238E27FC236}">
                <a16:creationId xmlns:a16="http://schemas.microsoft.com/office/drawing/2014/main" id="{1DD03540-8B65-0E9E-1EF2-98DC61BAC2F7}"/>
              </a:ext>
            </a:extLst>
          </p:cNvPr>
          <p:cNvSpPr txBox="1">
            <a:spLocks/>
          </p:cNvSpPr>
          <p:nvPr/>
        </p:nvSpPr>
        <p:spPr>
          <a:xfrm>
            <a:off x="6226953" y="1655373"/>
            <a:ext cx="5283212" cy="361756"/>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Scope 2: Customer – Led*</a:t>
            </a:r>
          </a:p>
        </p:txBody>
      </p:sp>
      <p:sp>
        <p:nvSpPr>
          <p:cNvPr id="4" name="TextBox 3">
            <a:extLst>
              <a:ext uri="{FF2B5EF4-FFF2-40B4-BE49-F238E27FC236}">
                <a16:creationId xmlns:a16="http://schemas.microsoft.com/office/drawing/2014/main" id="{FBA8A463-C8DC-1344-E4C0-CC9FC48ECEAA}"/>
              </a:ext>
            </a:extLst>
          </p:cNvPr>
          <p:cNvSpPr txBox="1"/>
          <p:nvPr/>
        </p:nvSpPr>
        <p:spPr>
          <a:xfrm>
            <a:off x="6291689" y="2015342"/>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16" name="TextBox 15">
            <a:extLst>
              <a:ext uri="{FF2B5EF4-FFF2-40B4-BE49-F238E27FC236}">
                <a16:creationId xmlns:a16="http://schemas.microsoft.com/office/drawing/2014/main" id="{524F5CD1-56C6-B13D-8CE1-C7742B09AC46}"/>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 name="TextBox 1">
            <a:extLst>
              <a:ext uri="{FF2B5EF4-FFF2-40B4-BE49-F238E27FC236}">
                <a16:creationId xmlns:a16="http://schemas.microsoft.com/office/drawing/2014/main" id="{2015446E-99AF-BC1E-3AF1-23D38ED756BF}"/>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666666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3AC21-AB5B-BA3C-2567-CECF68482919}"/>
            </a:ext>
          </a:extLst>
        </p:cNvPr>
        <p:cNvGrpSpPr/>
        <p:nvPr/>
      </p:nvGrpSpPr>
      <p:grpSpPr>
        <a:xfrm>
          <a:off x="0" y="0"/>
          <a:ext cx="0" cy="0"/>
          <a:chOff x="0" y="0"/>
          <a:chExt cx="0" cy="0"/>
        </a:xfrm>
      </p:grpSpPr>
      <p:sp>
        <p:nvSpPr>
          <p:cNvPr id="170" name="Rectangle 169">
            <a:extLst>
              <a:ext uri="{FF2B5EF4-FFF2-40B4-BE49-F238E27FC236}">
                <a16:creationId xmlns:a16="http://schemas.microsoft.com/office/drawing/2014/main" id="{16069D7E-D22E-7462-6178-E1FF80384D2E}"/>
              </a:ext>
              <a:ext uri="{C183D7F6-B498-43B3-948B-1728B52AA6E4}">
                <adec:decorative xmlns:adec="http://schemas.microsoft.com/office/drawing/2017/decorative" val="1"/>
              </a:ext>
            </a:extLst>
          </p:cNvPr>
          <p:cNvSpPr/>
          <p:nvPr/>
        </p:nvSpPr>
        <p:spPr>
          <a:xfrm>
            <a:off x="0" y="0"/>
            <a:ext cx="3984960" cy="6867832"/>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74" name="Oval 73">
            <a:extLst>
              <a:ext uri="{FF2B5EF4-FFF2-40B4-BE49-F238E27FC236}">
                <a16:creationId xmlns:a16="http://schemas.microsoft.com/office/drawing/2014/main" id="{EB378F2E-182C-2A2D-FF12-C66E51B58624}"/>
              </a:ext>
            </a:extLst>
          </p:cNvPr>
          <p:cNvSpPr/>
          <p:nvPr/>
        </p:nvSpPr>
        <p:spPr>
          <a:xfrm>
            <a:off x="588263" y="1682826"/>
            <a:ext cx="402842" cy="402842"/>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81" name="Graphic 120" descr="Icon of an arrow hitting the bullseye">
            <a:extLst>
              <a:ext uri="{FF2B5EF4-FFF2-40B4-BE49-F238E27FC236}">
                <a16:creationId xmlns:a16="http://schemas.microsoft.com/office/drawing/2014/main" id="{3B2E9541-F890-014A-FF12-A8425FAFE518}"/>
              </a:ext>
            </a:extLst>
          </p:cNvPr>
          <p:cNvSpPr>
            <a:spLocks noChangeAspect="1"/>
          </p:cNvSpPr>
          <p:nvPr/>
        </p:nvSpPr>
        <p:spPr>
          <a:xfrm>
            <a:off x="686707" y="1782084"/>
            <a:ext cx="205144" cy="204326"/>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cs typeface="Segoe Sans Display ExtraBold" pitchFamily="2" charset="0"/>
            </a:endParaRPr>
          </a:p>
        </p:txBody>
      </p:sp>
      <p:grpSp>
        <p:nvGrpSpPr>
          <p:cNvPr id="116" name="Group 115">
            <a:extLst>
              <a:ext uri="{FF2B5EF4-FFF2-40B4-BE49-F238E27FC236}">
                <a16:creationId xmlns:a16="http://schemas.microsoft.com/office/drawing/2014/main" id="{7B045674-A4DC-47CD-3873-2A6976B9FF1F}"/>
              </a:ext>
            </a:extLst>
          </p:cNvPr>
          <p:cNvGrpSpPr/>
          <p:nvPr/>
        </p:nvGrpSpPr>
        <p:grpSpPr>
          <a:xfrm>
            <a:off x="588263" y="5384478"/>
            <a:ext cx="403656" cy="403654"/>
            <a:chOff x="431210" y="5754940"/>
            <a:chExt cx="482209" cy="482208"/>
          </a:xfrm>
        </p:grpSpPr>
        <p:sp>
          <p:nvSpPr>
            <p:cNvPr id="204" name="Oval 203">
              <a:extLst>
                <a:ext uri="{FF2B5EF4-FFF2-40B4-BE49-F238E27FC236}">
                  <a16:creationId xmlns:a16="http://schemas.microsoft.com/office/drawing/2014/main" id="{93F2715A-71AC-B5B8-7236-C2852C1D4915}"/>
                </a:ext>
                <a:ext uri="{C183D7F6-B498-43B3-948B-1728B52AA6E4}">
                  <adec:decorative xmlns:adec="http://schemas.microsoft.com/office/drawing/2017/decorative" val="1"/>
                </a:ext>
              </a:extLst>
            </p:cNvPr>
            <p:cNvSpPr/>
            <p:nvPr/>
          </p:nvSpPr>
          <p:spPr>
            <a:xfrm>
              <a:off x="431210" y="5754940"/>
              <a:ext cx="482209" cy="482208"/>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205" name="Graphic 33" descr="Icon of a notepad with a pen">
              <a:extLst>
                <a:ext uri="{FF2B5EF4-FFF2-40B4-BE49-F238E27FC236}">
                  <a16:creationId xmlns:a16="http://schemas.microsoft.com/office/drawing/2014/main" id="{9D0A2BAB-F95A-E582-72E8-8E3B329BF732}"/>
                </a:ext>
              </a:extLst>
            </p:cNvPr>
            <p:cNvSpPr/>
            <p:nvPr/>
          </p:nvSpPr>
          <p:spPr>
            <a:xfrm>
              <a:off x="556545" y="5864842"/>
              <a:ext cx="231538" cy="262405"/>
            </a:xfrm>
            <a:custGeom>
              <a:avLst/>
              <a:gdLst>
                <a:gd name="connsiteX0" fmla="*/ 65747 w 328770"/>
                <a:gd name="connsiteY0" fmla="*/ 120535 h 372600"/>
                <a:gd name="connsiteX1" fmla="*/ 76704 w 328770"/>
                <a:gd name="connsiteY1" fmla="*/ 109577 h 372600"/>
                <a:gd name="connsiteX2" fmla="*/ 186282 w 328770"/>
                <a:gd name="connsiteY2" fmla="*/ 109577 h 372600"/>
                <a:gd name="connsiteX3" fmla="*/ 197240 w 328770"/>
                <a:gd name="connsiteY3" fmla="*/ 120535 h 372600"/>
                <a:gd name="connsiteX4" fmla="*/ 186282 w 328770"/>
                <a:gd name="connsiteY4" fmla="*/ 131492 h 372600"/>
                <a:gd name="connsiteX5" fmla="*/ 76704 w 328770"/>
                <a:gd name="connsiteY5" fmla="*/ 131492 h 372600"/>
                <a:gd name="connsiteX6" fmla="*/ 65747 w 328770"/>
                <a:gd name="connsiteY6" fmla="*/ 120535 h 372600"/>
                <a:gd name="connsiteX7" fmla="*/ 76704 w 328770"/>
                <a:gd name="connsiteY7" fmla="*/ 175323 h 372600"/>
                <a:gd name="connsiteX8" fmla="*/ 65747 w 328770"/>
                <a:gd name="connsiteY8" fmla="*/ 186281 h 372600"/>
                <a:gd name="connsiteX9" fmla="*/ 76704 w 328770"/>
                <a:gd name="connsiteY9" fmla="*/ 197239 h 372600"/>
                <a:gd name="connsiteX10" fmla="*/ 186282 w 328770"/>
                <a:gd name="connsiteY10" fmla="*/ 197239 h 372600"/>
                <a:gd name="connsiteX11" fmla="*/ 197240 w 328770"/>
                <a:gd name="connsiteY11" fmla="*/ 186281 h 372600"/>
                <a:gd name="connsiteX12" fmla="*/ 186282 w 328770"/>
                <a:gd name="connsiteY12" fmla="*/ 175323 h 372600"/>
                <a:gd name="connsiteX13" fmla="*/ 76704 w 328770"/>
                <a:gd name="connsiteY13" fmla="*/ 175323 h 372600"/>
                <a:gd name="connsiteX14" fmla="*/ 65747 w 328770"/>
                <a:gd name="connsiteY14" fmla="*/ 252027 h 372600"/>
                <a:gd name="connsiteX15" fmla="*/ 76704 w 328770"/>
                <a:gd name="connsiteY15" fmla="*/ 241069 h 372600"/>
                <a:gd name="connsiteX16" fmla="*/ 120535 w 328770"/>
                <a:gd name="connsiteY16" fmla="*/ 241069 h 372600"/>
                <a:gd name="connsiteX17" fmla="*/ 131493 w 328770"/>
                <a:gd name="connsiteY17" fmla="*/ 252027 h 372600"/>
                <a:gd name="connsiteX18" fmla="*/ 120535 w 328770"/>
                <a:gd name="connsiteY18" fmla="*/ 262985 h 372600"/>
                <a:gd name="connsiteX19" fmla="*/ 76704 w 328770"/>
                <a:gd name="connsiteY19" fmla="*/ 262985 h 372600"/>
                <a:gd name="connsiteX20" fmla="*/ 65747 w 328770"/>
                <a:gd name="connsiteY20" fmla="*/ 252027 h 372600"/>
                <a:gd name="connsiteX21" fmla="*/ 43831 w 328770"/>
                <a:gd name="connsiteY21" fmla="*/ 10958 h 372600"/>
                <a:gd name="connsiteX22" fmla="*/ 54789 w 328770"/>
                <a:gd name="connsiteY22" fmla="*/ 0 h 372600"/>
                <a:gd name="connsiteX23" fmla="*/ 65747 w 328770"/>
                <a:gd name="connsiteY23" fmla="*/ 10958 h 372600"/>
                <a:gd name="connsiteX24" fmla="*/ 65747 w 328770"/>
                <a:gd name="connsiteY24" fmla="*/ 21915 h 372600"/>
                <a:gd name="connsiteX25" fmla="*/ 120535 w 328770"/>
                <a:gd name="connsiteY25" fmla="*/ 21915 h 372600"/>
                <a:gd name="connsiteX26" fmla="*/ 120535 w 328770"/>
                <a:gd name="connsiteY26" fmla="*/ 10958 h 372600"/>
                <a:gd name="connsiteX27" fmla="*/ 131493 w 328770"/>
                <a:gd name="connsiteY27" fmla="*/ 0 h 372600"/>
                <a:gd name="connsiteX28" fmla="*/ 142451 w 328770"/>
                <a:gd name="connsiteY28" fmla="*/ 10958 h 372600"/>
                <a:gd name="connsiteX29" fmla="*/ 142451 w 328770"/>
                <a:gd name="connsiteY29" fmla="*/ 21915 h 372600"/>
                <a:gd name="connsiteX30" fmla="*/ 197240 w 328770"/>
                <a:gd name="connsiteY30" fmla="*/ 21915 h 372600"/>
                <a:gd name="connsiteX31" fmla="*/ 197240 w 328770"/>
                <a:gd name="connsiteY31" fmla="*/ 10958 h 372600"/>
                <a:gd name="connsiteX32" fmla="*/ 208197 w 328770"/>
                <a:gd name="connsiteY32" fmla="*/ 0 h 372600"/>
                <a:gd name="connsiteX33" fmla="*/ 219155 w 328770"/>
                <a:gd name="connsiteY33" fmla="*/ 10958 h 372600"/>
                <a:gd name="connsiteX34" fmla="*/ 219155 w 328770"/>
                <a:gd name="connsiteY34" fmla="*/ 21915 h 372600"/>
                <a:gd name="connsiteX35" fmla="*/ 230113 w 328770"/>
                <a:gd name="connsiteY35" fmla="*/ 21915 h 372600"/>
                <a:gd name="connsiteX36" fmla="*/ 262986 w 328770"/>
                <a:gd name="connsiteY36" fmla="*/ 54789 h 372600"/>
                <a:gd name="connsiteX37" fmla="*/ 262986 w 328770"/>
                <a:gd name="connsiteY37" fmla="*/ 158484 h 372600"/>
                <a:gd name="connsiteX38" fmla="*/ 243306 w 328770"/>
                <a:gd name="connsiteY38" fmla="*/ 171831 h 372600"/>
                <a:gd name="connsiteX39" fmla="*/ 241071 w 328770"/>
                <a:gd name="connsiteY39" fmla="*/ 174067 h 372600"/>
                <a:gd name="connsiteX40" fmla="*/ 241071 w 328770"/>
                <a:gd name="connsiteY40" fmla="*/ 54789 h 372600"/>
                <a:gd name="connsiteX41" fmla="*/ 230113 w 328770"/>
                <a:gd name="connsiteY41" fmla="*/ 43831 h 372600"/>
                <a:gd name="connsiteX42" fmla="*/ 32873 w 328770"/>
                <a:gd name="connsiteY42" fmla="*/ 43831 h 372600"/>
                <a:gd name="connsiteX43" fmla="*/ 21916 w 328770"/>
                <a:gd name="connsiteY43" fmla="*/ 54789 h 372600"/>
                <a:gd name="connsiteX44" fmla="*/ 21916 w 328770"/>
                <a:gd name="connsiteY44" fmla="*/ 317773 h 372600"/>
                <a:gd name="connsiteX45" fmla="*/ 32873 w 328770"/>
                <a:gd name="connsiteY45" fmla="*/ 328731 h 372600"/>
                <a:gd name="connsiteX46" fmla="*/ 114409 w 328770"/>
                <a:gd name="connsiteY46" fmla="*/ 328731 h 372600"/>
                <a:gd name="connsiteX47" fmla="*/ 110830 w 328770"/>
                <a:gd name="connsiteY47" fmla="*/ 343046 h 372600"/>
                <a:gd name="connsiteX48" fmla="*/ 109640 w 328770"/>
                <a:gd name="connsiteY48" fmla="*/ 350646 h 372600"/>
                <a:gd name="connsiteX49" fmla="*/ 32873 w 328770"/>
                <a:gd name="connsiteY49" fmla="*/ 350646 h 372600"/>
                <a:gd name="connsiteX50" fmla="*/ 0 w 328770"/>
                <a:gd name="connsiteY50" fmla="*/ 317773 h 372600"/>
                <a:gd name="connsiteX51" fmla="*/ 0 w 328770"/>
                <a:gd name="connsiteY51" fmla="*/ 54789 h 372600"/>
                <a:gd name="connsiteX52" fmla="*/ 32873 w 328770"/>
                <a:gd name="connsiteY52" fmla="*/ 21915 h 372600"/>
                <a:gd name="connsiteX53" fmla="*/ 43831 w 328770"/>
                <a:gd name="connsiteY53" fmla="*/ 21915 h 372600"/>
                <a:gd name="connsiteX54" fmla="*/ 43831 w 328770"/>
                <a:gd name="connsiteY54" fmla="*/ 10958 h 372600"/>
                <a:gd name="connsiteX55" fmla="*/ 258805 w 328770"/>
                <a:gd name="connsiteY55" fmla="*/ 187328 h 372600"/>
                <a:gd name="connsiteX56" fmla="*/ 152966 w 328770"/>
                <a:gd name="connsiteY56" fmla="*/ 293167 h 372600"/>
                <a:gd name="connsiteX57" fmla="*/ 140299 w 328770"/>
                <a:gd name="connsiteY57" fmla="*/ 315536 h 372600"/>
                <a:gd name="connsiteX58" fmla="*/ 132093 w 328770"/>
                <a:gd name="connsiteY58" fmla="*/ 348363 h 372600"/>
                <a:gd name="connsiteX59" fmla="*/ 155732 w 328770"/>
                <a:gd name="connsiteY59" fmla="*/ 372001 h 372600"/>
                <a:gd name="connsiteX60" fmla="*/ 188559 w 328770"/>
                <a:gd name="connsiteY60" fmla="*/ 363793 h 372600"/>
                <a:gd name="connsiteX61" fmla="*/ 210928 w 328770"/>
                <a:gd name="connsiteY61" fmla="*/ 351129 h 372600"/>
                <a:gd name="connsiteX62" fmla="*/ 316767 w 328770"/>
                <a:gd name="connsiteY62" fmla="*/ 245290 h 372600"/>
                <a:gd name="connsiteX63" fmla="*/ 316767 w 328770"/>
                <a:gd name="connsiteY63" fmla="*/ 187328 h 372600"/>
                <a:gd name="connsiteX64" fmla="*/ 258805 w 328770"/>
                <a:gd name="connsiteY64" fmla="*/ 187328 h 37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28770" h="372600">
                  <a:moveTo>
                    <a:pt x="65747" y="120535"/>
                  </a:moveTo>
                  <a:cubicBezTo>
                    <a:pt x="65747" y="114483"/>
                    <a:pt x="70653" y="109577"/>
                    <a:pt x="76704" y="109577"/>
                  </a:cubicBezTo>
                  <a:lnTo>
                    <a:pt x="186282" y="109577"/>
                  </a:lnTo>
                  <a:cubicBezTo>
                    <a:pt x="192333" y="109577"/>
                    <a:pt x="197240" y="114483"/>
                    <a:pt x="197240" y="120535"/>
                  </a:cubicBezTo>
                  <a:cubicBezTo>
                    <a:pt x="197240" y="126586"/>
                    <a:pt x="192333" y="131492"/>
                    <a:pt x="186282" y="131492"/>
                  </a:cubicBezTo>
                  <a:lnTo>
                    <a:pt x="76704" y="131492"/>
                  </a:lnTo>
                  <a:cubicBezTo>
                    <a:pt x="70653" y="131492"/>
                    <a:pt x="65747" y="126586"/>
                    <a:pt x="65747" y="120535"/>
                  </a:cubicBezTo>
                  <a:close/>
                  <a:moveTo>
                    <a:pt x="76704" y="175323"/>
                  </a:moveTo>
                  <a:cubicBezTo>
                    <a:pt x="70653" y="175323"/>
                    <a:pt x="65747" y="180230"/>
                    <a:pt x="65747" y="186281"/>
                  </a:cubicBezTo>
                  <a:cubicBezTo>
                    <a:pt x="65747" y="192332"/>
                    <a:pt x="70653" y="197239"/>
                    <a:pt x="76704" y="197239"/>
                  </a:cubicBezTo>
                  <a:lnTo>
                    <a:pt x="186282" y="197239"/>
                  </a:lnTo>
                  <a:cubicBezTo>
                    <a:pt x="192333" y="197239"/>
                    <a:pt x="197240" y="192332"/>
                    <a:pt x="197240" y="186281"/>
                  </a:cubicBezTo>
                  <a:cubicBezTo>
                    <a:pt x="197240" y="180230"/>
                    <a:pt x="192333" y="175323"/>
                    <a:pt x="186282" y="175323"/>
                  </a:cubicBezTo>
                  <a:lnTo>
                    <a:pt x="76704" y="175323"/>
                  </a:lnTo>
                  <a:close/>
                  <a:moveTo>
                    <a:pt x="65747" y="252027"/>
                  </a:moveTo>
                  <a:cubicBezTo>
                    <a:pt x="65747" y="245976"/>
                    <a:pt x="70653" y="241069"/>
                    <a:pt x="76704" y="241069"/>
                  </a:cubicBezTo>
                  <a:lnTo>
                    <a:pt x="120535" y="241069"/>
                  </a:lnTo>
                  <a:cubicBezTo>
                    <a:pt x="126587" y="241069"/>
                    <a:pt x="131493" y="245976"/>
                    <a:pt x="131493" y="252027"/>
                  </a:cubicBezTo>
                  <a:cubicBezTo>
                    <a:pt x="131493" y="258078"/>
                    <a:pt x="126587" y="262985"/>
                    <a:pt x="120535" y="262985"/>
                  </a:cubicBezTo>
                  <a:lnTo>
                    <a:pt x="76704" y="262985"/>
                  </a:lnTo>
                  <a:cubicBezTo>
                    <a:pt x="70653" y="262985"/>
                    <a:pt x="65747" y="258078"/>
                    <a:pt x="65747" y="252027"/>
                  </a:cubicBezTo>
                  <a:close/>
                  <a:moveTo>
                    <a:pt x="43831" y="10958"/>
                  </a:moveTo>
                  <a:cubicBezTo>
                    <a:pt x="43831" y="4906"/>
                    <a:pt x="48737" y="0"/>
                    <a:pt x="54789" y="0"/>
                  </a:cubicBezTo>
                  <a:cubicBezTo>
                    <a:pt x="60841" y="0"/>
                    <a:pt x="65747" y="4906"/>
                    <a:pt x="65747" y="10958"/>
                  </a:cubicBezTo>
                  <a:lnTo>
                    <a:pt x="65747" y="21915"/>
                  </a:lnTo>
                  <a:lnTo>
                    <a:pt x="120535" y="21915"/>
                  </a:lnTo>
                  <a:lnTo>
                    <a:pt x="120535" y="10958"/>
                  </a:lnTo>
                  <a:cubicBezTo>
                    <a:pt x="120535" y="4906"/>
                    <a:pt x="125441" y="0"/>
                    <a:pt x="131493" y="0"/>
                  </a:cubicBezTo>
                  <a:cubicBezTo>
                    <a:pt x="137544" y="0"/>
                    <a:pt x="142451" y="4906"/>
                    <a:pt x="142451" y="10958"/>
                  </a:cubicBezTo>
                  <a:lnTo>
                    <a:pt x="142451" y="21915"/>
                  </a:lnTo>
                  <a:lnTo>
                    <a:pt x="197240" y="21915"/>
                  </a:lnTo>
                  <a:lnTo>
                    <a:pt x="197240" y="10958"/>
                  </a:lnTo>
                  <a:cubicBezTo>
                    <a:pt x="197240" y="4906"/>
                    <a:pt x="202146" y="0"/>
                    <a:pt x="208197" y="0"/>
                  </a:cubicBezTo>
                  <a:cubicBezTo>
                    <a:pt x="214248" y="0"/>
                    <a:pt x="219155" y="4906"/>
                    <a:pt x="219155" y="10958"/>
                  </a:cubicBezTo>
                  <a:lnTo>
                    <a:pt x="219155" y="21915"/>
                  </a:lnTo>
                  <a:lnTo>
                    <a:pt x="230113" y="21915"/>
                  </a:lnTo>
                  <a:cubicBezTo>
                    <a:pt x="248268" y="21915"/>
                    <a:pt x="262986" y="36633"/>
                    <a:pt x="262986" y="54789"/>
                  </a:cubicBezTo>
                  <a:lnTo>
                    <a:pt x="262986" y="158484"/>
                  </a:lnTo>
                  <a:cubicBezTo>
                    <a:pt x="255837" y="161547"/>
                    <a:pt x="249142" y="165996"/>
                    <a:pt x="243306" y="171831"/>
                  </a:cubicBezTo>
                  <a:lnTo>
                    <a:pt x="241071" y="174067"/>
                  </a:lnTo>
                  <a:lnTo>
                    <a:pt x="241071" y="54789"/>
                  </a:lnTo>
                  <a:cubicBezTo>
                    <a:pt x="241071" y="48737"/>
                    <a:pt x="236164" y="43831"/>
                    <a:pt x="230113" y="43831"/>
                  </a:cubicBezTo>
                  <a:lnTo>
                    <a:pt x="32873" y="43831"/>
                  </a:lnTo>
                  <a:cubicBezTo>
                    <a:pt x="26822" y="43831"/>
                    <a:pt x="21916" y="48737"/>
                    <a:pt x="21916" y="54789"/>
                  </a:cubicBezTo>
                  <a:lnTo>
                    <a:pt x="21916" y="317773"/>
                  </a:lnTo>
                  <a:cubicBezTo>
                    <a:pt x="21916" y="323824"/>
                    <a:pt x="26822" y="328731"/>
                    <a:pt x="32873" y="328731"/>
                  </a:cubicBezTo>
                  <a:lnTo>
                    <a:pt x="114409" y="328731"/>
                  </a:lnTo>
                  <a:lnTo>
                    <a:pt x="110830" y="343046"/>
                  </a:lnTo>
                  <a:cubicBezTo>
                    <a:pt x="110190" y="345608"/>
                    <a:pt x="109800" y="348146"/>
                    <a:pt x="109640" y="350646"/>
                  </a:cubicBezTo>
                  <a:lnTo>
                    <a:pt x="32873" y="350646"/>
                  </a:lnTo>
                  <a:cubicBezTo>
                    <a:pt x="14718" y="350646"/>
                    <a:pt x="0" y="335928"/>
                    <a:pt x="0" y="317773"/>
                  </a:cubicBezTo>
                  <a:lnTo>
                    <a:pt x="0" y="54789"/>
                  </a:lnTo>
                  <a:cubicBezTo>
                    <a:pt x="0" y="36633"/>
                    <a:pt x="14718" y="21915"/>
                    <a:pt x="32873" y="21915"/>
                  </a:cubicBezTo>
                  <a:lnTo>
                    <a:pt x="43831" y="21915"/>
                  </a:lnTo>
                  <a:lnTo>
                    <a:pt x="43831" y="10958"/>
                  </a:lnTo>
                  <a:close/>
                  <a:moveTo>
                    <a:pt x="258805" y="187328"/>
                  </a:moveTo>
                  <a:lnTo>
                    <a:pt x="152966" y="293167"/>
                  </a:lnTo>
                  <a:cubicBezTo>
                    <a:pt x="146794" y="299338"/>
                    <a:pt x="142416" y="307070"/>
                    <a:pt x="140299" y="315536"/>
                  </a:cubicBezTo>
                  <a:lnTo>
                    <a:pt x="132093" y="348363"/>
                  </a:lnTo>
                  <a:cubicBezTo>
                    <a:pt x="128524" y="362639"/>
                    <a:pt x="141456" y="375569"/>
                    <a:pt x="155732" y="372001"/>
                  </a:cubicBezTo>
                  <a:lnTo>
                    <a:pt x="188559" y="363793"/>
                  </a:lnTo>
                  <a:cubicBezTo>
                    <a:pt x="197025" y="361676"/>
                    <a:pt x="204757" y="357300"/>
                    <a:pt x="210928" y="351129"/>
                  </a:cubicBezTo>
                  <a:lnTo>
                    <a:pt x="316767" y="245290"/>
                  </a:lnTo>
                  <a:cubicBezTo>
                    <a:pt x="332772" y="229283"/>
                    <a:pt x="332772" y="203333"/>
                    <a:pt x="316767" y="187328"/>
                  </a:cubicBezTo>
                  <a:cubicBezTo>
                    <a:pt x="300762" y="171322"/>
                    <a:pt x="274809" y="171322"/>
                    <a:pt x="258805" y="187328"/>
                  </a:cubicBezTo>
                  <a:close/>
                </a:path>
              </a:pathLst>
            </a:custGeom>
            <a:gradFill>
              <a:gsLst>
                <a:gs pos="0">
                  <a:srgbClr val="0078D4"/>
                </a:gs>
                <a:gs pos="36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latin typeface="Segoe UI"/>
              </a:endParaRPr>
            </a:p>
          </p:txBody>
        </p:sp>
      </p:grpSp>
      <p:sp>
        <p:nvSpPr>
          <p:cNvPr id="173" name="TextBox 172">
            <a:extLst>
              <a:ext uri="{FF2B5EF4-FFF2-40B4-BE49-F238E27FC236}">
                <a16:creationId xmlns:a16="http://schemas.microsoft.com/office/drawing/2014/main" id="{849E2420-6C9A-B92A-6D3F-0E5154820270}"/>
              </a:ext>
            </a:extLst>
          </p:cNvPr>
          <p:cNvSpPr txBox="1"/>
          <p:nvPr/>
        </p:nvSpPr>
        <p:spPr>
          <a:xfrm>
            <a:off x="588262" y="1175846"/>
            <a:ext cx="3221882" cy="246221"/>
          </a:xfrm>
          <a:prstGeom prst="rect">
            <a:avLst/>
          </a:prstGeom>
          <a:noFill/>
        </p:spPr>
        <p:txBody>
          <a:bodyPr wrap="square" lIns="0" tIns="0" rIns="0" bIns="0">
            <a:spAutoFit/>
          </a:bodyPr>
          <a:lstStyle/>
          <a:p>
            <a:pPr defTabSz="914367">
              <a:defRPr/>
            </a:pPr>
            <a:r>
              <a:rPr lang="en-US" sz="1600" noProof="0" dirty="0">
                <a:solidFill>
                  <a:srgbClr val="FFFFFF"/>
                </a:solidFill>
                <a:latin typeface="Segoe Sans Display"/>
                <a:cs typeface="Segoe Sans Display" pitchFamily="2" charset="0"/>
              </a:rPr>
              <a:t>P SKU to F SKU</a:t>
            </a:r>
            <a:endParaRPr lang="en-US" sz="1600" noProof="0" dirty="0">
              <a:solidFill>
                <a:schemeClr val="bg1"/>
              </a:solidFill>
              <a:latin typeface="+mj-lt"/>
            </a:endParaRPr>
          </a:p>
        </p:txBody>
      </p:sp>
      <p:sp>
        <p:nvSpPr>
          <p:cNvPr id="180" name="TextBox 338">
            <a:extLst>
              <a:ext uri="{FF2B5EF4-FFF2-40B4-BE49-F238E27FC236}">
                <a16:creationId xmlns:a16="http://schemas.microsoft.com/office/drawing/2014/main" id="{33DF1F66-DD08-EC57-A710-BCD03222A8E6}"/>
              </a:ext>
            </a:extLst>
          </p:cNvPr>
          <p:cNvSpPr txBox="1"/>
          <p:nvPr/>
        </p:nvSpPr>
        <p:spPr>
          <a:xfrm>
            <a:off x="1103512" y="1768831"/>
            <a:ext cx="716543"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Purpose</a:t>
            </a:r>
          </a:p>
        </p:txBody>
      </p:sp>
      <p:sp>
        <p:nvSpPr>
          <p:cNvPr id="171" name="Rectangle 170">
            <a:extLst>
              <a:ext uri="{FF2B5EF4-FFF2-40B4-BE49-F238E27FC236}">
                <a16:creationId xmlns:a16="http://schemas.microsoft.com/office/drawing/2014/main" id="{4A0A1BAA-C4ED-8CB6-C914-1DA44EB6279F}"/>
              </a:ext>
            </a:extLst>
          </p:cNvPr>
          <p:cNvSpPr/>
          <p:nvPr/>
        </p:nvSpPr>
        <p:spPr>
          <a:xfrm>
            <a:off x="613861" y="2152287"/>
            <a:ext cx="3170683" cy="507831"/>
          </a:xfrm>
          <a:prstGeom prst="rect">
            <a:avLst/>
          </a:prstGeom>
        </p:spPr>
        <p:txBody>
          <a:bodyPr wrap="square" lIns="0" tIns="0" rIns="0" bIns="0">
            <a:spAutoFit/>
          </a:bodyPr>
          <a:lstStyle/>
          <a:p>
            <a:pPr defTabSz="896386">
              <a:spcAft>
                <a:spcPts val="588"/>
              </a:spcAft>
              <a:defRPr/>
            </a:pPr>
            <a:r>
              <a:rPr lang="en-US" sz="1100" noProof="0" dirty="0">
                <a:solidFill>
                  <a:srgbClr val="FFFFFF"/>
                </a:solidFill>
              </a:rPr>
              <a:t>Design, build and deploy </a:t>
            </a:r>
            <a:r>
              <a:rPr lang="en-US" sz="1050" noProof="0" dirty="0">
                <a:solidFill>
                  <a:srgbClr val="FFFFFF"/>
                </a:solidFill>
              </a:rPr>
              <a:t>repeatable, low-to-no code </a:t>
            </a:r>
            <a:r>
              <a:rPr lang="en-US" sz="1100" noProof="0" dirty="0">
                <a:solidFill>
                  <a:srgbClr val="FFFFFF"/>
                </a:solidFill>
              </a:rPr>
              <a:t>migrations from Power BI Premium (P SKU) to Microsoft Fabric Capacity (F SKU). </a:t>
            </a:r>
          </a:p>
        </p:txBody>
      </p:sp>
      <p:sp>
        <p:nvSpPr>
          <p:cNvPr id="189" name="TextBox 338">
            <a:extLst>
              <a:ext uri="{FF2B5EF4-FFF2-40B4-BE49-F238E27FC236}">
                <a16:creationId xmlns:a16="http://schemas.microsoft.com/office/drawing/2014/main" id="{343943D9-8F4C-E704-C877-1BB1FA0CB4BC}"/>
              </a:ext>
            </a:extLst>
          </p:cNvPr>
          <p:cNvSpPr txBox="1"/>
          <p:nvPr/>
        </p:nvSpPr>
        <p:spPr>
          <a:xfrm>
            <a:off x="1103512" y="2968844"/>
            <a:ext cx="1732269"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Microsoft resources</a:t>
            </a:r>
          </a:p>
        </p:txBody>
      </p:sp>
      <p:sp>
        <p:nvSpPr>
          <p:cNvPr id="172" name="Rectangle 171">
            <a:extLst>
              <a:ext uri="{FF2B5EF4-FFF2-40B4-BE49-F238E27FC236}">
                <a16:creationId xmlns:a16="http://schemas.microsoft.com/office/drawing/2014/main" id="{E963369F-69FD-86E0-3F46-DBF6021EE298}"/>
              </a:ext>
            </a:extLst>
          </p:cNvPr>
          <p:cNvSpPr/>
          <p:nvPr/>
        </p:nvSpPr>
        <p:spPr>
          <a:xfrm>
            <a:off x="639383" y="3351894"/>
            <a:ext cx="3172813" cy="610424"/>
          </a:xfrm>
          <a:prstGeom prst="rect">
            <a:avLst/>
          </a:prstGeom>
        </p:spPr>
        <p:txBody>
          <a:bodyPr wrap="square" lIns="0" tIns="0" rIns="0" bIns="0">
            <a:spAutoFit/>
          </a:bodyPr>
          <a:lstStyle/>
          <a:p>
            <a:pPr marL="236546" indent="-171185" defTabSz="896386">
              <a:spcAft>
                <a:spcPts val="400"/>
              </a:spcAft>
              <a:buFont typeface="Arial" panose="020B0604020202020204" pitchFamily="34" charset="0"/>
              <a:buChar char="•"/>
              <a:defRPr/>
            </a:pPr>
            <a:r>
              <a:rPr lang="en-US" sz="1100" noProof="0" dirty="0">
                <a:solidFill>
                  <a:schemeClr val="bg1"/>
                </a:solidFill>
              </a:rPr>
              <a:t>Microsoft architects, PM, and Developers</a:t>
            </a:r>
          </a:p>
          <a:p>
            <a:pPr marL="236546" indent="-171185" defTabSz="896386">
              <a:spcAft>
                <a:spcPts val="400"/>
              </a:spcAft>
              <a:buFont typeface="Arial" panose="020B0604020202020204" pitchFamily="34" charset="0"/>
              <a:buChar char="•"/>
              <a:defRPr/>
            </a:pPr>
            <a:r>
              <a:rPr lang="en-US" sz="1100" noProof="0" dirty="0">
                <a:solidFill>
                  <a:schemeClr val="bg1"/>
                </a:solidFill>
              </a:rPr>
              <a:t>Microsoft Field Account team </a:t>
            </a:r>
          </a:p>
          <a:p>
            <a:pPr marL="236546" indent="-171185" defTabSz="896386">
              <a:spcAft>
                <a:spcPts val="400"/>
              </a:spcAft>
              <a:buFont typeface="Arial" panose="020B0604020202020204" pitchFamily="34" charset="0"/>
              <a:buChar char="•"/>
              <a:defRPr/>
            </a:pPr>
            <a:r>
              <a:rPr lang="en-US" sz="1100" noProof="0" dirty="0">
                <a:solidFill>
                  <a:schemeClr val="bg1"/>
                </a:solidFill>
              </a:rPr>
              <a:t>Repeatable assets for rapid deployment</a:t>
            </a:r>
          </a:p>
        </p:txBody>
      </p:sp>
      <p:sp>
        <p:nvSpPr>
          <p:cNvPr id="174" name="Rectangle 173">
            <a:extLst>
              <a:ext uri="{FF2B5EF4-FFF2-40B4-BE49-F238E27FC236}">
                <a16:creationId xmlns:a16="http://schemas.microsoft.com/office/drawing/2014/main" id="{812DC41B-E0B1-98CA-4318-6F356C3E05C6}"/>
              </a:ext>
            </a:extLst>
          </p:cNvPr>
          <p:cNvSpPr/>
          <p:nvPr/>
        </p:nvSpPr>
        <p:spPr>
          <a:xfrm>
            <a:off x="639383" y="4614550"/>
            <a:ext cx="3172813" cy="574516"/>
          </a:xfrm>
          <a:prstGeom prst="rect">
            <a:avLst/>
          </a:prstGeom>
        </p:spPr>
        <p:txBody>
          <a:bodyPr wrap="square" lIns="0" tIns="0" rIns="0" bIns="0">
            <a:spAutoFit/>
          </a:bodyPr>
          <a:lstStyle/>
          <a:p>
            <a:pPr marL="236546" indent="-171185" defTabSz="896386">
              <a:spcAft>
                <a:spcPts val="400"/>
              </a:spcAft>
              <a:buFont typeface="Arial" panose="020B0604020202020204" pitchFamily="34" charset="0"/>
              <a:buChar char="•"/>
              <a:defRPr/>
            </a:pPr>
            <a:r>
              <a:rPr lang="en-US" sz="1100" noProof="0" dirty="0">
                <a:solidFill>
                  <a:schemeClr val="bg1"/>
                </a:solidFill>
              </a:rPr>
              <a:t>Customer Executive Sponsor</a:t>
            </a:r>
          </a:p>
          <a:p>
            <a:pPr marL="236220" indent="-170815" defTabSz="896386">
              <a:spcAft>
                <a:spcPts val="588"/>
              </a:spcAft>
              <a:buFont typeface="Arial" panose="020B0604020202020204" pitchFamily="34" charset="0"/>
              <a:buChar char="•"/>
              <a:defRPr/>
            </a:pPr>
            <a:r>
              <a:rPr lang="en-US" sz="1100" noProof="0" dirty="0">
                <a:solidFill>
                  <a:srgbClr val="FFFFFF"/>
                </a:solidFill>
              </a:rPr>
              <a:t>Customer: Administrator (PBI or Fabric), capacity administrator, domain administrator</a:t>
            </a:r>
            <a:endParaRPr lang="en-US" sz="1100" noProof="0" dirty="0">
              <a:solidFill>
                <a:srgbClr val="FFFFFF"/>
              </a:solidFill>
              <a:cs typeface="Segoe Sans Text Semilight"/>
            </a:endParaRPr>
          </a:p>
        </p:txBody>
      </p:sp>
      <p:sp>
        <p:nvSpPr>
          <p:cNvPr id="202" name="TextBox 338">
            <a:extLst>
              <a:ext uri="{FF2B5EF4-FFF2-40B4-BE49-F238E27FC236}">
                <a16:creationId xmlns:a16="http://schemas.microsoft.com/office/drawing/2014/main" id="{9BAA260A-7C33-AF97-8A37-E1CA1DF6897E}"/>
              </a:ext>
            </a:extLst>
          </p:cNvPr>
          <p:cNvSpPr txBox="1"/>
          <p:nvPr/>
        </p:nvSpPr>
        <p:spPr>
          <a:xfrm>
            <a:off x="1103512" y="5470889"/>
            <a:ext cx="1424301"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Nominate today</a:t>
            </a:r>
          </a:p>
        </p:txBody>
      </p:sp>
      <p:sp>
        <p:nvSpPr>
          <p:cNvPr id="175" name="Rectangle 174">
            <a:extLst>
              <a:ext uri="{FF2B5EF4-FFF2-40B4-BE49-F238E27FC236}">
                <a16:creationId xmlns:a16="http://schemas.microsoft.com/office/drawing/2014/main" id="{B8092FA3-8711-DA50-3C21-D30B8860C8C0}"/>
              </a:ext>
            </a:extLst>
          </p:cNvPr>
          <p:cNvSpPr/>
          <p:nvPr/>
        </p:nvSpPr>
        <p:spPr>
          <a:xfrm>
            <a:off x="639383" y="5854345"/>
            <a:ext cx="3172813" cy="169277"/>
          </a:xfrm>
          <a:prstGeom prst="rect">
            <a:avLst/>
          </a:prstGeom>
        </p:spPr>
        <p:txBody>
          <a:bodyPr wrap="square" lIns="0" tIns="0" rIns="0" bIns="0" anchor="t">
            <a:spAutoFit/>
          </a:bodyPr>
          <a:lstStyle/>
          <a:p>
            <a:pPr defTabSz="896386">
              <a:spcAft>
                <a:spcPts val="588"/>
              </a:spcAft>
              <a:defRPr/>
            </a:pPr>
            <a:r>
              <a:rPr lang="en-US" sz="1100" noProof="0" dirty="0">
                <a:solidFill>
                  <a:schemeClr val="bg1"/>
                </a:solidFill>
              </a:rPr>
              <a:t>Submit here: </a:t>
            </a:r>
            <a:r>
              <a:rPr lang="en-US" sz="1100" noProof="0" dirty="0">
                <a:solidFill>
                  <a:schemeClr val="bg1"/>
                </a:solidFill>
                <a:hlinkClick r:id="rId3">
                  <a:extLst>
                    <a:ext uri="{A12FA001-AC4F-418D-AE19-62706E023703}">
                      <ahyp:hlinkClr xmlns:ahyp="http://schemas.microsoft.com/office/drawing/2018/hyperlinkcolor" val="tx"/>
                    </a:ext>
                  </a:extLst>
                </a:hlinkClick>
              </a:rPr>
              <a:t>https://aka.ms/AzureOfferNavigator</a:t>
            </a:r>
            <a:endParaRPr lang="en-US" sz="1100" noProof="0" dirty="0">
              <a:solidFill>
                <a:schemeClr val="bg1"/>
              </a:solidFill>
            </a:endParaRPr>
          </a:p>
        </p:txBody>
      </p:sp>
      <p:sp>
        <p:nvSpPr>
          <p:cNvPr id="130" name="TextBox 338">
            <a:extLst>
              <a:ext uri="{FF2B5EF4-FFF2-40B4-BE49-F238E27FC236}">
                <a16:creationId xmlns:a16="http://schemas.microsoft.com/office/drawing/2014/main" id="{D4B51AE5-21A8-4DE0-1B30-D187863C4F98}"/>
              </a:ext>
              <a:ext uri="{C183D7F6-B498-43B3-948B-1728B52AA6E4}">
                <adec:decorative xmlns:adec="http://schemas.microsoft.com/office/drawing/2017/decorative" val="1"/>
              </a:ext>
            </a:extLst>
          </p:cNvPr>
          <p:cNvSpPr txBox="1"/>
          <p:nvPr/>
        </p:nvSpPr>
        <p:spPr>
          <a:xfrm rot="5400000">
            <a:off x="5246510" y="-653178"/>
            <a:ext cx="279094" cy="2198791"/>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noProof="0" dirty="0"/>
          </a:p>
        </p:txBody>
      </p:sp>
      <p:grpSp>
        <p:nvGrpSpPr>
          <p:cNvPr id="77" name="Group 76">
            <a:extLst>
              <a:ext uri="{FF2B5EF4-FFF2-40B4-BE49-F238E27FC236}">
                <a16:creationId xmlns:a16="http://schemas.microsoft.com/office/drawing/2014/main" id="{F519FB93-DFEF-2F5E-403B-B256A0C2D47F}"/>
              </a:ext>
            </a:extLst>
          </p:cNvPr>
          <p:cNvGrpSpPr/>
          <p:nvPr/>
        </p:nvGrpSpPr>
        <p:grpSpPr>
          <a:xfrm>
            <a:off x="4116083" y="278072"/>
            <a:ext cx="336291" cy="336290"/>
            <a:chOff x="4222705" y="278072"/>
            <a:chExt cx="336291" cy="336290"/>
          </a:xfrm>
        </p:grpSpPr>
        <p:sp>
          <p:nvSpPr>
            <p:cNvPr id="138" name="Oval 137">
              <a:extLst>
                <a:ext uri="{FF2B5EF4-FFF2-40B4-BE49-F238E27FC236}">
                  <a16:creationId xmlns:a16="http://schemas.microsoft.com/office/drawing/2014/main" id="{3F920826-89EC-EC88-2565-1A0E21B6DBC3}"/>
                </a:ext>
                <a:ext uri="{C183D7F6-B498-43B3-948B-1728B52AA6E4}">
                  <adec:decorative xmlns:adec="http://schemas.microsoft.com/office/drawing/2017/decorative" val="1"/>
                </a:ext>
              </a:extLst>
            </p:cNvPr>
            <p:cNvSpPr/>
            <p:nvPr/>
          </p:nvSpPr>
          <p:spPr>
            <a:xfrm>
              <a:off x="4222705" y="278072"/>
              <a:ext cx="336291" cy="3362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6" name="Oval 135">
              <a:extLst>
                <a:ext uri="{FF2B5EF4-FFF2-40B4-BE49-F238E27FC236}">
                  <a16:creationId xmlns:a16="http://schemas.microsoft.com/office/drawing/2014/main" id="{EA8AE278-C7B1-BCEE-D901-C5AA97ECABBA}"/>
                </a:ext>
                <a:ext uri="{C183D7F6-B498-43B3-948B-1728B52AA6E4}">
                  <adec:decorative xmlns:adec="http://schemas.microsoft.com/office/drawing/2017/decorative" val="1"/>
                </a:ext>
              </a:extLst>
            </p:cNvPr>
            <p:cNvSpPr/>
            <p:nvPr/>
          </p:nvSpPr>
          <p:spPr>
            <a:xfrm>
              <a:off x="4223043" y="278410"/>
              <a:ext cx="335615" cy="335615"/>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34" name="Graphic 62" descr="Icon of a person in front of a notepad">
              <a:extLst>
                <a:ext uri="{FF2B5EF4-FFF2-40B4-BE49-F238E27FC236}">
                  <a16:creationId xmlns:a16="http://schemas.microsoft.com/office/drawing/2014/main" id="{717D679A-B7DA-F5B0-E51B-DAF72DB8D31B}"/>
                </a:ext>
              </a:extLst>
            </p:cNvPr>
            <p:cNvSpPr/>
            <p:nvPr/>
          </p:nvSpPr>
          <p:spPr>
            <a:xfrm>
              <a:off x="4302677" y="351262"/>
              <a:ext cx="176346" cy="189910"/>
            </a:xfrm>
            <a:custGeom>
              <a:avLst/>
              <a:gdLst>
                <a:gd name="connsiteX0" fmla="*/ 21450 w 185737"/>
                <a:gd name="connsiteY0" fmla="*/ 190548 h 200025"/>
                <a:gd name="connsiteX1" fmla="*/ 19 w 185737"/>
                <a:gd name="connsiteY1" fmla="*/ 169116 h 200025"/>
                <a:gd name="connsiteX2" fmla="*/ 0 w 185737"/>
                <a:gd name="connsiteY2" fmla="*/ 35719 h 200025"/>
                <a:gd name="connsiteX3" fmla="*/ 21431 w 185737"/>
                <a:gd name="connsiteY3" fmla="*/ 14288 h 200025"/>
                <a:gd name="connsiteX4" fmla="*/ 28546 w 185737"/>
                <a:gd name="connsiteY4" fmla="*/ 14278 h 200025"/>
                <a:gd name="connsiteX5" fmla="*/ 28546 w 185737"/>
                <a:gd name="connsiteY5" fmla="*/ 7144 h 200025"/>
                <a:gd name="connsiteX6" fmla="*/ 34738 w 185737"/>
                <a:gd name="connsiteY6" fmla="*/ 67 h 200025"/>
                <a:gd name="connsiteX7" fmla="*/ 35690 w 185737"/>
                <a:gd name="connsiteY7" fmla="*/ 0 h 200025"/>
                <a:gd name="connsiteX8" fmla="*/ 42767 w 185737"/>
                <a:gd name="connsiteY8" fmla="*/ 6172 h 200025"/>
                <a:gd name="connsiteX9" fmla="*/ 42834 w 185737"/>
                <a:gd name="connsiteY9" fmla="*/ 7144 h 200025"/>
                <a:gd name="connsiteX10" fmla="*/ 42834 w 185737"/>
                <a:gd name="connsiteY10" fmla="*/ 14278 h 200025"/>
                <a:gd name="connsiteX11" fmla="*/ 71438 w 185737"/>
                <a:gd name="connsiteY11" fmla="*/ 14278 h 200025"/>
                <a:gd name="connsiteX12" fmla="*/ 71438 w 185737"/>
                <a:gd name="connsiteY12" fmla="*/ 7144 h 200025"/>
                <a:gd name="connsiteX13" fmla="*/ 77619 w 185737"/>
                <a:gd name="connsiteY13" fmla="*/ 67 h 200025"/>
                <a:gd name="connsiteX14" fmla="*/ 78581 w 185737"/>
                <a:gd name="connsiteY14" fmla="*/ 0 h 200025"/>
                <a:gd name="connsiteX15" fmla="*/ 85658 w 185737"/>
                <a:gd name="connsiteY15" fmla="*/ 6172 h 200025"/>
                <a:gd name="connsiteX16" fmla="*/ 85725 w 185737"/>
                <a:gd name="connsiteY16" fmla="*/ 7144 h 200025"/>
                <a:gd name="connsiteX17" fmla="*/ 85725 w 185737"/>
                <a:gd name="connsiteY17" fmla="*/ 14278 h 200025"/>
                <a:gd name="connsiteX18" fmla="*/ 114281 w 185737"/>
                <a:gd name="connsiteY18" fmla="*/ 14278 h 200025"/>
                <a:gd name="connsiteX19" fmla="*/ 114281 w 185737"/>
                <a:gd name="connsiteY19" fmla="*/ 7144 h 200025"/>
                <a:gd name="connsiteX20" fmla="*/ 120453 w 185737"/>
                <a:gd name="connsiteY20" fmla="*/ 67 h 200025"/>
                <a:gd name="connsiteX21" fmla="*/ 121444 w 185737"/>
                <a:gd name="connsiteY21" fmla="*/ 0 h 200025"/>
                <a:gd name="connsiteX22" fmla="*/ 128521 w 185737"/>
                <a:gd name="connsiteY22" fmla="*/ 6172 h 200025"/>
                <a:gd name="connsiteX23" fmla="*/ 128588 w 185737"/>
                <a:gd name="connsiteY23" fmla="*/ 7144 h 200025"/>
                <a:gd name="connsiteX24" fmla="*/ 128588 w 185737"/>
                <a:gd name="connsiteY24" fmla="*/ 14278 h 200025"/>
                <a:gd name="connsiteX25" fmla="*/ 135722 w 185737"/>
                <a:gd name="connsiteY25" fmla="*/ 14278 h 200025"/>
                <a:gd name="connsiteX26" fmla="*/ 157153 w 185737"/>
                <a:gd name="connsiteY26" fmla="*/ 35709 h 200025"/>
                <a:gd name="connsiteX27" fmla="*/ 157153 w 185737"/>
                <a:gd name="connsiteY27" fmla="*/ 76933 h 200025"/>
                <a:gd name="connsiteX28" fmla="*/ 142865 w 185737"/>
                <a:gd name="connsiteY28" fmla="*/ 71752 h 200025"/>
                <a:gd name="connsiteX29" fmla="*/ 142865 w 185737"/>
                <a:gd name="connsiteY29" fmla="*/ 35719 h 200025"/>
                <a:gd name="connsiteX30" fmla="*/ 135722 w 185737"/>
                <a:gd name="connsiteY30" fmla="*/ 28575 h 200025"/>
                <a:gd name="connsiteX31" fmla="*/ 21336 w 185737"/>
                <a:gd name="connsiteY31" fmla="*/ 28575 h 200025"/>
                <a:gd name="connsiteX32" fmla="*/ 14288 w 185737"/>
                <a:gd name="connsiteY32" fmla="*/ 35719 h 200025"/>
                <a:gd name="connsiteX33" fmla="*/ 14297 w 185737"/>
                <a:gd name="connsiteY33" fmla="*/ 169107 h 200025"/>
                <a:gd name="connsiteX34" fmla="*/ 21441 w 185737"/>
                <a:gd name="connsiteY34" fmla="*/ 176251 h 200025"/>
                <a:gd name="connsiteX35" fmla="*/ 83525 w 185737"/>
                <a:gd name="connsiteY35" fmla="*/ 176251 h 200025"/>
                <a:gd name="connsiteX36" fmla="*/ 92126 w 185737"/>
                <a:gd name="connsiteY36" fmla="*/ 190538 h 200025"/>
                <a:gd name="connsiteX37" fmla="*/ 21450 w 185737"/>
                <a:gd name="connsiteY37" fmla="*/ 190538 h 200025"/>
                <a:gd name="connsiteX38" fmla="*/ 142856 w 185737"/>
                <a:gd name="connsiteY38" fmla="*/ 81391 h 200025"/>
                <a:gd name="connsiteX39" fmla="*/ 157143 w 185737"/>
                <a:gd name="connsiteY39" fmla="*/ 89173 h 200025"/>
                <a:gd name="connsiteX40" fmla="*/ 164306 w 185737"/>
                <a:gd name="connsiteY40" fmla="*/ 107156 h 200025"/>
                <a:gd name="connsiteX41" fmla="*/ 157163 w 185737"/>
                <a:gd name="connsiteY41" fmla="*/ 125139 h 200025"/>
                <a:gd name="connsiteX42" fmla="*/ 138113 w 185737"/>
                <a:gd name="connsiteY42" fmla="*/ 133350 h 200025"/>
                <a:gd name="connsiteX43" fmla="*/ 111944 w 185737"/>
                <a:gd name="connsiteY43" fmla="*/ 107131 h 200025"/>
                <a:gd name="connsiteX44" fmla="*/ 138161 w 185737"/>
                <a:gd name="connsiteY44" fmla="*/ 80963 h 200025"/>
                <a:gd name="connsiteX45" fmla="*/ 142856 w 185737"/>
                <a:gd name="connsiteY45" fmla="*/ 81391 h 200025"/>
                <a:gd name="connsiteX46" fmla="*/ 104623 w 185737"/>
                <a:gd name="connsiteY46" fmla="*/ 142875 h 200025"/>
                <a:gd name="connsiteX47" fmla="*/ 171450 w 185737"/>
                <a:gd name="connsiteY47" fmla="*/ 142875 h 200025"/>
                <a:gd name="connsiteX48" fmla="*/ 185738 w 185737"/>
                <a:gd name="connsiteY48" fmla="*/ 157163 h 200025"/>
                <a:gd name="connsiteX49" fmla="*/ 185738 w 185737"/>
                <a:gd name="connsiteY49" fmla="*/ 161925 h 200025"/>
                <a:gd name="connsiteX50" fmla="*/ 138113 w 185737"/>
                <a:gd name="connsiteY50" fmla="*/ 200025 h 200025"/>
                <a:gd name="connsiteX51" fmla="*/ 106242 w 185737"/>
                <a:gd name="connsiteY51" fmla="*/ 190548 h 200025"/>
                <a:gd name="connsiteX52" fmla="*/ 93926 w 185737"/>
                <a:gd name="connsiteY52" fmla="*/ 176251 h 200025"/>
                <a:gd name="connsiteX53" fmla="*/ 90488 w 185737"/>
                <a:gd name="connsiteY53" fmla="*/ 161925 h 200025"/>
                <a:gd name="connsiteX54" fmla="*/ 90488 w 185737"/>
                <a:gd name="connsiteY54" fmla="*/ 157163 h 200025"/>
                <a:gd name="connsiteX55" fmla="*/ 104642 w 185737"/>
                <a:gd name="connsiteY55" fmla="*/ 142875 h 200025"/>
                <a:gd name="connsiteX56" fmla="*/ 35700 w 185737"/>
                <a:gd name="connsiteY56" fmla="*/ 95250 h 200025"/>
                <a:gd name="connsiteX57" fmla="*/ 104413 w 185737"/>
                <a:gd name="connsiteY57" fmla="*/ 95250 h 200025"/>
                <a:gd name="connsiteX58" fmla="*/ 102460 w 185737"/>
                <a:gd name="connsiteY58" fmla="*/ 109538 h 200025"/>
                <a:gd name="connsiteX59" fmla="*/ 35700 w 185737"/>
                <a:gd name="connsiteY59" fmla="*/ 109538 h 200025"/>
                <a:gd name="connsiteX60" fmla="*/ 28558 w 185737"/>
                <a:gd name="connsiteY60" fmla="*/ 102392 h 200025"/>
                <a:gd name="connsiteX61" fmla="*/ 34728 w 185737"/>
                <a:gd name="connsiteY61" fmla="*/ 95317 h 200025"/>
                <a:gd name="connsiteX62" fmla="*/ 35700 w 185737"/>
                <a:gd name="connsiteY62" fmla="*/ 95250 h 200025"/>
                <a:gd name="connsiteX63" fmla="*/ 35700 w 185737"/>
                <a:gd name="connsiteY63" fmla="*/ 133350 h 200025"/>
                <a:gd name="connsiteX64" fmla="*/ 73790 w 185737"/>
                <a:gd name="connsiteY64" fmla="*/ 133350 h 200025"/>
                <a:gd name="connsiteX65" fmla="*/ 80932 w 185737"/>
                <a:gd name="connsiteY65" fmla="*/ 140496 h 200025"/>
                <a:gd name="connsiteX66" fmla="*/ 74762 w 185737"/>
                <a:gd name="connsiteY66" fmla="*/ 147571 h 200025"/>
                <a:gd name="connsiteX67" fmla="*/ 73790 w 185737"/>
                <a:gd name="connsiteY67" fmla="*/ 147638 h 200025"/>
                <a:gd name="connsiteX68" fmla="*/ 35700 w 185737"/>
                <a:gd name="connsiteY68" fmla="*/ 147638 h 200025"/>
                <a:gd name="connsiteX69" fmla="*/ 28558 w 185737"/>
                <a:gd name="connsiteY69" fmla="*/ 140492 h 200025"/>
                <a:gd name="connsiteX70" fmla="*/ 34728 w 185737"/>
                <a:gd name="connsiteY70" fmla="*/ 133417 h 200025"/>
                <a:gd name="connsiteX71" fmla="*/ 35700 w 185737"/>
                <a:gd name="connsiteY71" fmla="*/ 133350 h 200025"/>
                <a:gd name="connsiteX72" fmla="*/ 35700 w 185737"/>
                <a:gd name="connsiteY72" fmla="*/ 57150 h 200025"/>
                <a:gd name="connsiteX73" fmla="*/ 121425 w 185737"/>
                <a:gd name="connsiteY73" fmla="*/ 57150 h 200025"/>
                <a:gd name="connsiteX74" fmla="*/ 128557 w 185737"/>
                <a:gd name="connsiteY74" fmla="*/ 64305 h 200025"/>
                <a:gd name="connsiteX75" fmla="*/ 122387 w 185737"/>
                <a:gd name="connsiteY75" fmla="*/ 71371 h 200025"/>
                <a:gd name="connsiteX76" fmla="*/ 121425 w 185737"/>
                <a:gd name="connsiteY76" fmla="*/ 71438 h 200025"/>
                <a:gd name="connsiteX77" fmla="*/ 35700 w 185737"/>
                <a:gd name="connsiteY77" fmla="*/ 71438 h 200025"/>
                <a:gd name="connsiteX78" fmla="*/ 28558 w 185737"/>
                <a:gd name="connsiteY78" fmla="*/ 64292 h 200025"/>
                <a:gd name="connsiteX79" fmla="*/ 34728 w 185737"/>
                <a:gd name="connsiteY79" fmla="*/ 57217 h 200025"/>
                <a:gd name="connsiteX80" fmla="*/ 35700 w 185737"/>
                <a:gd name="connsiteY80" fmla="*/ 5715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85737" h="200025">
                  <a:moveTo>
                    <a:pt x="21450" y="190548"/>
                  </a:moveTo>
                  <a:cubicBezTo>
                    <a:pt x="9614" y="190548"/>
                    <a:pt x="19" y="180952"/>
                    <a:pt x="19" y="169116"/>
                  </a:cubicBezTo>
                  <a:lnTo>
                    <a:pt x="0" y="35719"/>
                  </a:lnTo>
                  <a:cubicBezTo>
                    <a:pt x="0" y="23883"/>
                    <a:pt x="9595" y="14288"/>
                    <a:pt x="21431" y="14288"/>
                  </a:cubicBezTo>
                  <a:lnTo>
                    <a:pt x="28546" y="14278"/>
                  </a:lnTo>
                  <a:lnTo>
                    <a:pt x="28546" y="7144"/>
                  </a:lnTo>
                  <a:cubicBezTo>
                    <a:pt x="28548" y="3568"/>
                    <a:pt x="31193" y="543"/>
                    <a:pt x="34738" y="67"/>
                  </a:cubicBezTo>
                  <a:lnTo>
                    <a:pt x="35690" y="0"/>
                  </a:lnTo>
                  <a:cubicBezTo>
                    <a:pt x="39260" y="0"/>
                    <a:pt x="42282" y="2636"/>
                    <a:pt x="42767" y="6172"/>
                  </a:cubicBezTo>
                  <a:lnTo>
                    <a:pt x="42834" y="7144"/>
                  </a:lnTo>
                  <a:lnTo>
                    <a:pt x="42834" y="14278"/>
                  </a:lnTo>
                  <a:lnTo>
                    <a:pt x="71438" y="14278"/>
                  </a:lnTo>
                  <a:lnTo>
                    <a:pt x="71438" y="7144"/>
                  </a:lnTo>
                  <a:cubicBezTo>
                    <a:pt x="71438" y="3571"/>
                    <a:pt x="74079" y="548"/>
                    <a:pt x="77619" y="67"/>
                  </a:cubicBezTo>
                  <a:lnTo>
                    <a:pt x="78581" y="0"/>
                  </a:lnTo>
                  <a:cubicBezTo>
                    <a:pt x="82151" y="0"/>
                    <a:pt x="85173" y="2636"/>
                    <a:pt x="85658" y="6172"/>
                  </a:cubicBezTo>
                  <a:lnTo>
                    <a:pt x="85725" y="7144"/>
                  </a:lnTo>
                  <a:lnTo>
                    <a:pt x="85725" y="14278"/>
                  </a:lnTo>
                  <a:lnTo>
                    <a:pt x="114281" y="14278"/>
                  </a:lnTo>
                  <a:lnTo>
                    <a:pt x="114281" y="7144"/>
                  </a:lnTo>
                  <a:cubicBezTo>
                    <a:pt x="114281" y="3574"/>
                    <a:pt x="116917" y="552"/>
                    <a:pt x="120453" y="67"/>
                  </a:cubicBezTo>
                  <a:lnTo>
                    <a:pt x="121444" y="0"/>
                  </a:lnTo>
                  <a:cubicBezTo>
                    <a:pt x="125014" y="0"/>
                    <a:pt x="128035" y="2636"/>
                    <a:pt x="128521" y="6172"/>
                  </a:cubicBezTo>
                  <a:lnTo>
                    <a:pt x="128588" y="7144"/>
                  </a:lnTo>
                  <a:lnTo>
                    <a:pt x="128588" y="14278"/>
                  </a:lnTo>
                  <a:lnTo>
                    <a:pt x="135722" y="14278"/>
                  </a:lnTo>
                  <a:cubicBezTo>
                    <a:pt x="147557" y="14278"/>
                    <a:pt x="157153" y="23873"/>
                    <a:pt x="157153" y="35709"/>
                  </a:cubicBezTo>
                  <a:lnTo>
                    <a:pt x="157153" y="76933"/>
                  </a:lnTo>
                  <a:cubicBezTo>
                    <a:pt x="152820" y="74195"/>
                    <a:pt x="147946" y="72427"/>
                    <a:pt x="142865" y="71752"/>
                  </a:cubicBezTo>
                  <a:lnTo>
                    <a:pt x="142865" y="35719"/>
                  </a:lnTo>
                  <a:cubicBezTo>
                    <a:pt x="142865" y="31773"/>
                    <a:pt x="139667" y="28575"/>
                    <a:pt x="135722" y="28575"/>
                  </a:cubicBezTo>
                  <a:lnTo>
                    <a:pt x="21336" y="28575"/>
                  </a:lnTo>
                  <a:cubicBezTo>
                    <a:pt x="17428" y="28627"/>
                    <a:pt x="14287" y="31810"/>
                    <a:pt x="14288" y="35719"/>
                  </a:cubicBezTo>
                  <a:lnTo>
                    <a:pt x="14297" y="169107"/>
                  </a:lnTo>
                  <a:cubicBezTo>
                    <a:pt x="14297" y="173060"/>
                    <a:pt x="17507" y="176251"/>
                    <a:pt x="21441" y="176251"/>
                  </a:cubicBezTo>
                  <a:lnTo>
                    <a:pt x="83525" y="176251"/>
                  </a:lnTo>
                  <a:cubicBezTo>
                    <a:pt x="85430" y="181404"/>
                    <a:pt x="88335" y="186242"/>
                    <a:pt x="92126" y="190538"/>
                  </a:cubicBezTo>
                  <a:lnTo>
                    <a:pt x="21450" y="190538"/>
                  </a:lnTo>
                  <a:close/>
                  <a:moveTo>
                    <a:pt x="142856" y="81391"/>
                  </a:moveTo>
                  <a:cubicBezTo>
                    <a:pt x="148447" y="82420"/>
                    <a:pt x="153410" y="85201"/>
                    <a:pt x="157143" y="89173"/>
                  </a:cubicBezTo>
                  <a:cubicBezTo>
                    <a:pt x="161748" y="94028"/>
                    <a:pt x="164312" y="100465"/>
                    <a:pt x="164306" y="107156"/>
                  </a:cubicBezTo>
                  <a:cubicBezTo>
                    <a:pt x="164318" y="113845"/>
                    <a:pt x="161760" y="120282"/>
                    <a:pt x="157163" y="125139"/>
                  </a:cubicBezTo>
                  <a:cubicBezTo>
                    <a:pt x="152215" y="130385"/>
                    <a:pt x="145323" y="133356"/>
                    <a:pt x="138113" y="133350"/>
                  </a:cubicBezTo>
                  <a:cubicBezTo>
                    <a:pt x="123646" y="133337"/>
                    <a:pt x="111929" y="121598"/>
                    <a:pt x="111944" y="107131"/>
                  </a:cubicBezTo>
                  <a:cubicBezTo>
                    <a:pt x="111957" y="92666"/>
                    <a:pt x="123695" y="80949"/>
                    <a:pt x="138161" y="80963"/>
                  </a:cubicBezTo>
                  <a:cubicBezTo>
                    <a:pt x="139736" y="80964"/>
                    <a:pt x="141307" y="81107"/>
                    <a:pt x="142856" y="81391"/>
                  </a:cubicBezTo>
                  <a:close/>
                  <a:moveTo>
                    <a:pt x="104623" y="142875"/>
                  </a:moveTo>
                  <a:lnTo>
                    <a:pt x="171450" y="142875"/>
                  </a:lnTo>
                  <a:cubicBezTo>
                    <a:pt x="179341" y="142875"/>
                    <a:pt x="185738" y="149272"/>
                    <a:pt x="185738" y="157163"/>
                  </a:cubicBezTo>
                  <a:lnTo>
                    <a:pt x="185738" y="161925"/>
                  </a:lnTo>
                  <a:cubicBezTo>
                    <a:pt x="185738" y="180699"/>
                    <a:pt x="168021" y="200025"/>
                    <a:pt x="138113" y="200025"/>
                  </a:cubicBezTo>
                  <a:cubicBezTo>
                    <a:pt x="124978" y="200025"/>
                    <a:pt x="114205" y="196310"/>
                    <a:pt x="106242" y="190548"/>
                  </a:cubicBezTo>
                  <a:cubicBezTo>
                    <a:pt x="101037" y="186852"/>
                    <a:pt x="96810" y="181945"/>
                    <a:pt x="93926" y="176251"/>
                  </a:cubicBezTo>
                  <a:cubicBezTo>
                    <a:pt x="91691" y="171804"/>
                    <a:pt x="90514" y="166902"/>
                    <a:pt x="90488" y="161925"/>
                  </a:cubicBezTo>
                  <a:lnTo>
                    <a:pt x="90488" y="157163"/>
                  </a:lnTo>
                  <a:cubicBezTo>
                    <a:pt x="90488" y="149323"/>
                    <a:pt x="96803" y="142948"/>
                    <a:pt x="104642" y="142875"/>
                  </a:cubicBezTo>
                  <a:close/>
                  <a:moveTo>
                    <a:pt x="35700" y="95250"/>
                  </a:moveTo>
                  <a:lnTo>
                    <a:pt x="104413" y="95250"/>
                  </a:lnTo>
                  <a:cubicBezTo>
                    <a:pt x="102796" y="99830"/>
                    <a:pt x="102132" y="104692"/>
                    <a:pt x="102460" y="109538"/>
                  </a:cubicBezTo>
                  <a:lnTo>
                    <a:pt x="35700" y="109538"/>
                  </a:lnTo>
                  <a:cubicBezTo>
                    <a:pt x="31754" y="109537"/>
                    <a:pt x="28557" y="106337"/>
                    <a:pt x="28558" y="102392"/>
                  </a:cubicBezTo>
                  <a:cubicBezTo>
                    <a:pt x="28559" y="98823"/>
                    <a:pt x="31193" y="95803"/>
                    <a:pt x="34728" y="95317"/>
                  </a:cubicBezTo>
                  <a:lnTo>
                    <a:pt x="35700" y="95250"/>
                  </a:lnTo>
                  <a:close/>
                  <a:moveTo>
                    <a:pt x="35700" y="133350"/>
                  </a:moveTo>
                  <a:lnTo>
                    <a:pt x="73790" y="133350"/>
                  </a:lnTo>
                  <a:cubicBezTo>
                    <a:pt x="77735" y="133351"/>
                    <a:pt x="80933" y="136550"/>
                    <a:pt x="80932" y="140496"/>
                  </a:cubicBezTo>
                  <a:cubicBezTo>
                    <a:pt x="80931" y="144065"/>
                    <a:pt x="78296" y="147084"/>
                    <a:pt x="74762" y="147571"/>
                  </a:cubicBezTo>
                  <a:lnTo>
                    <a:pt x="73790" y="147638"/>
                  </a:lnTo>
                  <a:lnTo>
                    <a:pt x="35700" y="147638"/>
                  </a:lnTo>
                  <a:cubicBezTo>
                    <a:pt x="31754" y="147637"/>
                    <a:pt x="28557" y="144437"/>
                    <a:pt x="28558" y="140492"/>
                  </a:cubicBezTo>
                  <a:cubicBezTo>
                    <a:pt x="28559" y="136923"/>
                    <a:pt x="31193" y="133903"/>
                    <a:pt x="34728" y="133417"/>
                  </a:cubicBezTo>
                  <a:lnTo>
                    <a:pt x="35700" y="133350"/>
                  </a:lnTo>
                  <a:close/>
                  <a:moveTo>
                    <a:pt x="35700" y="57150"/>
                  </a:moveTo>
                  <a:lnTo>
                    <a:pt x="121425" y="57150"/>
                  </a:lnTo>
                  <a:cubicBezTo>
                    <a:pt x="125370" y="57156"/>
                    <a:pt x="128563" y="60360"/>
                    <a:pt x="128557" y="64305"/>
                  </a:cubicBezTo>
                  <a:cubicBezTo>
                    <a:pt x="128551" y="67870"/>
                    <a:pt x="125919" y="70885"/>
                    <a:pt x="122387" y="71371"/>
                  </a:cubicBezTo>
                  <a:lnTo>
                    <a:pt x="121425" y="71438"/>
                  </a:lnTo>
                  <a:lnTo>
                    <a:pt x="35700" y="71438"/>
                  </a:lnTo>
                  <a:cubicBezTo>
                    <a:pt x="31754" y="71436"/>
                    <a:pt x="28557" y="68237"/>
                    <a:pt x="28558" y="64292"/>
                  </a:cubicBezTo>
                  <a:cubicBezTo>
                    <a:pt x="28559" y="60723"/>
                    <a:pt x="31193" y="57703"/>
                    <a:pt x="34728" y="57217"/>
                  </a:cubicBezTo>
                  <a:lnTo>
                    <a:pt x="35700" y="57150"/>
                  </a:ln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sp>
        <p:nvSpPr>
          <p:cNvPr id="133" name="TextBox 338">
            <a:extLst>
              <a:ext uri="{FF2B5EF4-FFF2-40B4-BE49-F238E27FC236}">
                <a16:creationId xmlns:a16="http://schemas.microsoft.com/office/drawing/2014/main" id="{EA2F5120-1B44-98CD-46B1-5F27E639C328}"/>
              </a:ext>
            </a:extLst>
          </p:cNvPr>
          <p:cNvSpPr txBox="1"/>
          <p:nvPr/>
        </p:nvSpPr>
        <p:spPr>
          <a:xfrm>
            <a:off x="4534307" y="361579"/>
            <a:ext cx="1685855" cy="1692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mj-lt"/>
              </a:rPr>
              <a:t>Accelerated</a:t>
            </a:r>
            <a:r>
              <a:rPr kumimoji="0" lang="en-US" sz="1100" b="0" i="0" u="none" strike="noStrike" kern="1200" cap="none" spc="0" normalizeH="0" baseline="0" noProof="0" dirty="0">
                <a:ln>
                  <a:noFill/>
                </a:ln>
                <a:solidFill>
                  <a:schemeClr val="tx2"/>
                </a:solidFill>
                <a:effectLst/>
                <a:uLnTx/>
                <a:uFillTx/>
                <a:latin typeface="+mj-lt"/>
              </a:rPr>
              <a:t> results</a:t>
            </a:r>
          </a:p>
        </p:txBody>
      </p:sp>
      <p:sp>
        <p:nvSpPr>
          <p:cNvPr id="142" name="TextBox 338">
            <a:extLst>
              <a:ext uri="{FF2B5EF4-FFF2-40B4-BE49-F238E27FC236}">
                <a16:creationId xmlns:a16="http://schemas.microsoft.com/office/drawing/2014/main" id="{DB0A54D7-A196-96FC-6BE3-B73C6714BBBF}"/>
              </a:ext>
              <a:ext uri="{C183D7F6-B498-43B3-948B-1728B52AA6E4}">
                <adec:decorative xmlns:adec="http://schemas.microsoft.com/office/drawing/2017/decorative" val="1"/>
              </a:ext>
            </a:extLst>
          </p:cNvPr>
          <p:cNvSpPr txBox="1"/>
          <p:nvPr/>
        </p:nvSpPr>
        <p:spPr>
          <a:xfrm rot="5400000">
            <a:off x="7847176" y="-653178"/>
            <a:ext cx="279094" cy="2198791"/>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noProof="0" dirty="0">
              <a:solidFill>
                <a:schemeClr val="tx2"/>
              </a:solidFill>
            </a:endParaRPr>
          </a:p>
        </p:txBody>
      </p:sp>
      <p:sp>
        <p:nvSpPr>
          <p:cNvPr id="149" name="Oval 148">
            <a:extLst>
              <a:ext uri="{FF2B5EF4-FFF2-40B4-BE49-F238E27FC236}">
                <a16:creationId xmlns:a16="http://schemas.microsoft.com/office/drawing/2014/main" id="{4A120813-CA65-F664-AA0B-35119BB0C23F}"/>
              </a:ext>
              <a:ext uri="{C183D7F6-B498-43B3-948B-1728B52AA6E4}">
                <adec:decorative xmlns:adec="http://schemas.microsoft.com/office/drawing/2017/decorative" val="1"/>
              </a:ext>
            </a:extLst>
          </p:cNvPr>
          <p:cNvSpPr/>
          <p:nvPr/>
        </p:nvSpPr>
        <p:spPr>
          <a:xfrm>
            <a:off x="6716411" y="278072"/>
            <a:ext cx="336291" cy="3362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solidFill>
                <a:schemeClr val="tx2"/>
              </a:solidFill>
              <a:effectLst/>
              <a:uLnTx/>
              <a:uFillTx/>
              <a:latin typeface="Segoe Sans Display"/>
              <a:ea typeface="+mn-ea"/>
              <a:cs typeface="Segoe Sans Display Semibold" pitchFamily="2" charset="0"/>
            </a:endParaRPr>
          </a:p>
        </p:txBody>
      </p:sp>
      <p:grpSp>
        <p:nvGrpSpPr>
          <p:cNvPr id="79" name="Group 78">
            <a:extLst>
              <a:ext uri="{FF2B5EF4-FFF2-40B4-BE49-F238E27FC236}">
                <a16:creationId xmlns:a16="http://schemas.microsoft.com/office/drawing/2014/main" id="{54949347-1625-976B-6D63-9400642103BC}"/>
              </a:ext>
            </a:extLst>
          </p:cNvPr>
          <p:cNvGrpSpPr/>
          <p:nvPr/>
        </p:nvGrpSpPr>
        <p:grpSpPr>
          <a:xfrm>
            <a:off x="6716749" y="278410"/>
            <a:ext cx="335615" cy="335615"/>
            <a:chOff x="6797487" y="278410"/>
            <a:chExt cx="335615" cy="335615"/>
          </a:xfrm>
        </p:grpSpPr>
        <p:sp>
          <p:nvSpPr>
            <p:cNvPr id="147" name="Oval 146">
              <a:extLst>
                <a:ext uri="{FF2B5EF4-FFF2-40B4-BE49-F238E27FC236}">
                  <a16:creationId xmlns:a16="http://schemas.microsoft.com/office/drawing/2014/main" id="{6AA3E3FA-1343-7823-D667-BBC050803BBF}"/>
                </a:ext>
                <a:ext uri="{C183D7F6-B498-43B3-948B-1728B52AA6E4}">
                  <adec:decorative xmlns:adec="http://schemas.microsoft.com/office/drawing/2017/decorative" val="1"/>
                </a:ext>
              </a:extLst>
            </p:cNvPr>
            <p:cNvSpPr/>
            <p:nvPr/>
          </p:nvSpPr>
          <p:spPr>
            <a:xfrm>
              <a:off x="6797487" y="278410"/>
              <a:ext cx="335615" cy="335615"/>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chemeClr val="tx2"/>
                </a:solidFill>
                <a:cs typeface="Segoe UI" pitchFamily="34" charset="0"/>
              </a:endParaRPr>
            </a:p>
          </p:txBody>
        </p:sp>
        <p:sp>
          <p:nvSpPr>
            <p:cNvPr id="141" name="Freeform: Shape 140" descr="Icon of a gear with three clockwise rotating arrows">
              <a:extLst>
                <a:ext uri="{FF2B5EF4-FFF2-40B4-BE49-F238E27FC236}">
                  <a16:creationId xmlns:a16="http://schemas.microsoft.com/office/drawing/2014/main" id="{D745DEA1-C641-4D70-E7B8-26C74D1105CA}"/>
                </a:ext>
              </a:extLst>
            </p:cNvPr>
            <p:cNvSpPr>
              <a:spLocks noChangeAspect="1"/>
            </p:cNvSpPr>
            <p:nvPr/>
          </p:nvSpPr>
          <p:spPr>
            <a:xfrm>
              <a:off x="6859434" y="344311"/>
              <a:ext cx="211721" cy="203813"/>
            </a:xfrm>
            <a:custGeom>
              <a:avLst/>
              <a:gdLst>
                <a:gd name="connsiteX0" fmla="*/ 36064 w 439688"/>
                <a:gd name="connsiteY0" fmla="*/ 183736 h 423266"/>
                <a:gd name="connsiteX1" fmla="*/ 48030 w 439688"/>
                <a:gd name="connsiteY1" fmla="*/ 185302 h 423266"/>
                <a:gd name="connsiteX2" fmla="*/ 72701 w 439688"/>
                <a:gd name="connsiteY2" fmla="*/ 218007 h 423266"/>
                <a:gd name="connsiteX3" fmla="*/ 70992 w 439688"/>
                <a:gd name="connsiteY3" fmla="*/ 229845 h 423266"/>
                <a:gd name="connsiteX4" fmla="*/ 64570 w 439688"/>
                <a:gd name="connsiteY4" fmla="*/ 231458 h 423266"/>
                <a:gd name="connsiteX5" fmla="*/ 59072 w 439688"/>
                <a:gd name="connsiteY5" fmla="*/ 228095 h 423266"/>
                <a:gd name="connsiteX6" fmla="*/ 46043 w 439688"/>
                <a:gd name="connsiteY6" fmla="*/ 211097 h 423266"/>
                <a:gd name="connsiteX7" fmla="*/ 67388 w 439688"/>
                <a:gd name="connsiteY7" fmla="*/ 301059 h 423266"/>
                <a:gd name="connsiteX8" fmla="*/ 222393 w 439688"/>
                <a:gd name="connsiteY8" fmla="*/ 394292 h 423266"/>
                <a:gd name="connsiteX9" fmla="*/ 228630 w 439688"/>
                <a:gd name="connsiteY9" fmla="*/ 397332 h 423266"/>
                <a:gd name="connsiteX10" fmla="*/ 230386 w 439688"/>
                <a:gd name="connsiteY10" fmla="*/ 404196 h 423266"/>
                <a:gd name="connsiteX11" fmla="*/ 222255 w 439688"/>
                <a:gd name="connsiteY11" fmla="*/ 410921 h 423266"/>
                <a:gd name="connsiteX12" fmla="*/ 222116 w 439688"/>
                <a:gd name="connsiteY12" fmla="*/ 410921 h 423266"/>
                <a:gd name="connsiteX13" fmla="*/ 52696 w 439688"/>
                <a:gd name="connsiteY13" fmla="*/ 308936 h 423266"/>
                <a:gd name="connsiteX14" fmla="*/ 29503 w 439688"/>
                <a:gd name="connsiteY14" fmla="*/ 209992 h 423266"/>
                <a:gd name="connsiteX15" fmla="*/ 13610 w 439688"/>
                <a:gd name="connsiteY15" fmla="*/ 221876 h 423266"/>
                <a:gd name="connsiteX16" fmla="*/ 7419 w 439688"/>
                <a:gd name="connsiteY16" fmla="*/ 223489 h 423266"/>
                <a:gd name="connsiteX17" fmla="*/ 1690 w 439688"/>
                <a:gd name="connsiteY17" fmla="*/ 220172 h 423266"/>
                <a:gd name="connsiteX18" fmla="*/ 3445 w 439688"/>
                <a:gd name="connsiteY18" fmla="*/ 208195 h 423266"/>
                <a:gd name="connsiteX19" fmla="*/ 236855 w 439688"/>
                <a:gd name="connsiteY19" fmla="*/ 175675 h 423266"/>
                <a:gd name="connsiteX20" fmla="*/ 205484 w 439688"/>
                <a:gd name="connsiteY20" fmla="*/ 213953 h 423266"/>
                <a:gd name="connsiteX21" fmla="*/ 230433 w 439688"/>
                <a:gd name="connsiteY21" fmla="*/ 238828 h 423266"/>
                <a:gd name="connsiteX22" fmla="*/ 268826 w 439688"/>
                <a:gd name="connsiteY22" fmla="*/ 207551 h 423266"/>
                <a:gd name="connsiteX23" fmla="*/ 236855 w 439688"/>
                <a:gd name="connsiteY23" fmla="*/ 175675 h 423266"/>
                <a:gd name="connsiteX24" fmla="*/ 236855 w 439688"/>
                <a:gd name="connsiteY24" fmla="*/ 154393 h 423266"/>
                <a:gd name="connsiteX25" fmla="*/ 290171 w 439688"/>
                <a:gd name="connsiteY25" fmla="*/ 207551 h 423266"/>
                <a:gd name="connsiteX26" fmla="*/ 236855 w 439688"/>
                <a:gd name="connsiteY26" fmla="*/ 260708 h 423266"/>
                <a:gd name="connsiteX27" fmla="*/ 183538 w 439688"/>
                <a:gd name="connsiteY27" fmla="*/ 207551 h 423266"/>
                <a:gd name="connsiteX28" fmla="*/ 236855 w 439688"/>
                <a:gd name="connsiteY28" fmla="*/ 154393 h 423266"/>
                <a:gd name="connsiteX29" fmla="*/ 399991 w 439688"/>
                <a:gd name="connsiteY29" fmla="*/ 97873 h 423266"/>
                <a:gd name="connsiteX30" fmla="*/ 405350 w 439688"/>
                <a:gd name="connsiteY30" fmla="*/ 101236 h 423266"/>
                <a:gd name="connsiteX31" fmla="*/ 388625 w 439688"/>
                <a:gd name="connsiteY31" fmla="*/ 342102 h 423266"/>
                <a:gd name="connsiteX32" fmla="*/ 302645 w 439688"/>
                <a:gd name="connsiteY32" fmla="*/ 396779 h 423266"/>
                <a:gd name="connsiteX33" fmla="*/ 319092 w 439688"/>
                <a:gd name="connsiteY33" fmla="*/ 407742 h 423266"/>
                <a:gd name="connsiteX34" fmla="*/ 322742 w 439688"/>
                <a:gd name="connsiteY34" fmla="*/ 413132 h 423266"/>
                <a:gd name="connsiteX35" fmla="*/ 321541 w 439688"/>
                <a:gd name="connsiteY35" fmla="*/ 419488 h 423266"/>
                <a:gd name="connsiteX36" fmla="*/ 314334 w 439688"/>
                <a:gd name="connsiteY36" fmla="*/ 423266 h 423266"/>
                <a:gd name="connsiteX37" fmla="*/ 309621 w 439688"/>
                <a:gd name="connsiteY37" fmla="*/ 421884 h 423266"/>
                <a:gd name="connsiteX38" fmla="*/ 275617 w 439688"/>
                <a:gd name="connsiteY38" fmla="*/ 399267 h 423266"/>
                <a:gd name="connsiteX39" fmla="*/ 273168 w 439688"/>
                <a:gd name="connsiteY39" fmla="*/ 387474 h 423266"/>
                <a:gd name="connsiteX40" fmla="*/ 295899 w 439688"/>
                <a:gd name="connsiteY40" fmla="*/ 353433 h 423266"/>
                <a:gd name="connsiteX41" fmla="*/ 301444 w 439688"/>
                <a:gd name="connsiteY41" fmla="*/ 349840 h 423266"/>
                <a:gd name="connsiteX42" fmla="*/ 307773 w 439688"/>
                <a:gd name="connsiteY42" fmla="*/ 351176 h 423266"/>
                <a:gd name="connsiteX43" fmla="*/ 311377 w 439688"/>
                <a:gd name="connsiteY43" fmla="*/ 356566 h 423266"/>
                <a:gd name="connsiteX44" fmla="*/ 310083 w 439688"/>
                <a:gd name="connsiteY44" fmla="*/ 362923 h 423266"/>
                <a:gd name="connsiteX45" fmla="*/ 298209 w 439688"/>
                <a:gd name="connsiteY45" fmla="*/ 380795 h 423266"/>
                <a:gd name="connsiteX46" fmla="*/ 376336 w 439688"/>
                <a:gd name="connsiteY46" fmla="*/ 330908 h 423266"/>
                <a:gd name="connsiteX47" fmla="*/ 391721 w 439688"/>
                <a:gd name="connsiteY47" fmla="*/ 110817 h 423266"/>
                <a:gd name="connsiteX48" fmla="*/ 393384 w 439688"/>
                <a:gd name="connsiteY48" fmla="*/ 99578 h 423266"/>
                <a:gd name="connsiteX49" fmla="*/ 394863 w 439688"/>
                <a:gd name="connsiteY49" fmla="*/ 101374 h 423266"/>
                <a:gd name="connsiteX50" fmla="*/ 393476 w 439688"/>
                <a:gd name="connsiteY50" fmla="*/ 99532 h 423266"/>
                <a:gd name="connsiteX51" fmla="*/ 399991 w 439688"/>
                <a:gd name="connsiteY51" fmla="*/ 97873 h 423266"/>
                <a:gd name="connsiteX52" fmla="*/ 237039 w 439688"/>
                <a:gd name="connsiteY52" fmla="*/ 90595 h 423266"/>
                <a:gd name="connsiteX53" fmla="*/ 217773 w 439688"/>
                <a:gd name="connsiteY53" fmla="*/ 92254 h 423266"/>
                <a:gd name="connsiteX54" fmla="*/ 216341 w 439688"/>
                <a:gd name="connsiteY54" fmla="*/ 105059 h 423266"/>
                <a:gd name="connsiteX55" fmla="*/ 194765 w 439688"/>
                <a:gd name="connsiteY55" fmla="*/ 137718 h 423266"/>
                <a:gd name="connsiteX56" fmla="*/ 159005 w 439688"/>
                <a:gd name="connsiteY56" fmla="*/ 139054 h 423266"/>
                <a:gd name="connsiteX57" fmla="*/ 146254 w 439688"/>
                <a:gd name="connsiteY57" fmla="*/ 133480 h 423266"/>
                <a:gd name="connsiteX58" fmla="*/ 127080 w 439688"/>
                <a:gd name="connsiteY58" fmla="*/ 166324 h 423266"/>
                <a:gd name="connsiteX59" fmla="*/ 137614 w 439688"/>
                <a:gd name="connsiteY59" fmla="*/ 174062 h 423266"/>
                <a:gd name="connsiteX60" fmla="*/ 155125 w 439688"/>
                <a:gd name="connsiteY60" fmla="*/ 208886 h 423266"/>
                <a:gd name="connsiteX61" fmla="*/ 138400 w 439688"/>
                <a:gd name="connsiteY61" fmla="*/ 240440 h 423266"/>
                <a:gd name="connsiteX62" fmla="*/ 127034 w 439688"/>
                <a:gd name="connsiteY62" fmla="*/ 248777 h 423266"/>
                <a:gd name="connsiteX63" fmla="*/ 146208 w 439688"/>
                <a:gd name="connsiteY63" fmla="*/ 281713 h 423266"/>
                <a:gd name="connsiteX64" fmla="*/ 159052 w 439688"/>
                <a:gd name="connsiteY64" fmla="*/ 276093 h 423266"/>
                <a:gd name="connsiteX65" fmla="*/ 213015 w 439688"/>
                <a:gd name="connsiteY65" fmla="*/ 297190 h 423266"/>
                <a:gd name="connsiteX66" fmla="*/ 216156 w 439688"/>
                <a:gd name="connsiteY66" fmla="*/ 308936 h 423266"/>
                <a:gd name="connsiteX67" fmla="*/ 217727 w 439688"/>
                <a:gd name="connsiteY67" fmla="*/ 322893 h 423266"/>
                <a:gd name="connsiteX68" fmla="*/ 255936 w 439688"/>
                <a:gd name="connsiteY68" fmla="*/ 322893 h 423266"/>
                <a:gd name="connsiteX69" fmla="*/ 257507 w 439688"/>
                <a:gd name="connsiteY69" fmla="*/ 308936 h 423266"/>
                <a:gd name="connsiteX70" fmla="*/ 302738 w 439688"/>
                <a:gd name="connsiteY70" fmla="*/ 272869 h 423266"/>
                <a:gd name="connsiteX71" fmla="*/ 314657 w 439688"/>
                <a:gd name="connsiteY71" fmla="*/ 276047 h 423266"/>
                <a:gd name="connsiteX72" fmla="*/ 327501 w 439688"/>
                <a:gd name="connsiteY72" fmla="*/ 281667 h 423266"/>
                <a:gd name="connsiteX73" fmla="*/ 346629 w 439688"/>
                <a:gd name="connsiteY73" fmla="*/ 248823 h 423266"/>
                <a:gd name="connsiteX74" fmla="*/ 335263 w 439688"/>
                <a:gd name="connsiteY74" fmla="*/ 240486 h 423266"/>
                <a:gd name="connsiteX75" fmla="*/ 326531 w 439688"/>
                <a:gd name="connsiteY75" fmla="*/ 183413 h 423266"/>
                <a:gd name="connsiteX76" fmla="*/ 335263 w 439688"/>
                <a:gd name="connsiteY76" fmla="*/ 174707 h 423266"/>
                <a:gd name="connsiteX77" fmla="*/ 346583 w 439688"/>
                <a:gd name="connsiteY77" fmla="*/ 166370 h 423266"/>
                <a:gd name="connsiteX78" fmla="*/ 327409 w 439688"/>
                <a:gd name="connsiteY78" fmla="*/ 133526 h 423266"/>
                <a:gd name="connsiteX79" fmla="*/ 314657 w 439688"/>
                <a:gd name="connsiteY79" fmla="*/ 139100 h 423266"/>
                <a:gd name="connsiteX80" fmla="*/ 260648 w 439688"/>
                <a:gd name="connsiteY80" fmla="*/ 118049 h 423266"/>
                <a:gd name="connsiteX81" fmla="*/ 257460 w 439688"/>
                <a:gd name="connsiteY81" fmla="*/ 106165 h 423266"/>
                <a:gd name="connsiteX82" fmla="*/ 255889 w 439688"/>
                <a:gd name="connsiteY82" fmla="*/ 92346 h 423266"/>
                <a:gd name="connsiteX83" fmla="*/ 236947 w 439688"/>
                <a:gd name="connsiteY83" fmla="*/ 90687 h 423266"/>
                <a:gd name="connsiteX84" fmla="*/ 237039 w 439688"/>
                <a:gd name="connsiteY84" fmla="*/ 69314 h 423266"/>
                <a:gd name="connsiteX85" fmla="*/ 267948 w 439688"/>
                <a:gd name="connsiteY85" fmla="*/ 72861 h 423266"/>
                <a:gd name="connsiteX86" fmla="*/ 276357 w 439688"/>
                <a:gd name="connsiteY86" fmla="*/ 82074 h 423266"/>
                <a:gd name="connsiteX87" fmla="*/ 278713 w 439688"/>
                <a:gd name="connsiteY87" fmla="*/ 103079 h 423266"/>
                <a:gd name="connsiteX88" fmla="*/ 287815 w 439688"/>
                <a:gd name="connsiteY88" fmla="*/ 118141 h 423266"/>
                <a:gd name="connsiteX89" fmla="*/ 306203 w 439688"/>
                <a:gd name="connsiteY89" fmla="*/ 119523 h 423266"/>
                <a:gd name="connsiteX90" fmla="*/ 326115 w 439688"/>
                <a:gd name="connsiteY90" fmla="*/ 110817 h 423266"/>
                <a:gd name="connsiteX91" fmla="*/ 338220 w 439688"/>
                <a:gd name="connsiteY91" fmla="*/ 113305 h 423266"/>
                <a:gd name="connsiteX92" fmla="*/ 369498 w 439688"/>
                <a:gd name="connsiteY92" fmla="*/ 166923 h 423266"/>
                <a:gd name="connsiteX93" fmla="*/ 365664 w 439688"/>
                <a:gd name="connsiteY93" fmla="*/ 178761 h 423266"/>
                <a:gd name="connsiteX94" fmla="*/ 348015 w 439688"/>
                <a:gd name="connsiteY94" fmla="*/ 191751 h 423266"/>
                <a:gd name="connsiteX95" fmla="*/ 343810 w 439688"/>
                <a:gd name="connsiteY95" fmla="*/ 219112 h 423266"/>
                <a:gd name="connsiteX96" fmla="*/ 348015 w 439688"/>
                <a:gd name="connsiteY96" fmla="*/ 223304 h 423266"/>
                <a:gd name="connsiteX97" fmla="*/ 365664 w 439688"/>
                <a:gd name="connsiteY97" fmla="*/ 236294 h 423266"/>
                <a:gd name="connsiteX98" fmla="*/ 369498 w 439688"/>
                <a:gd name="connsiteY98" fmla="*/ 248132 h 423266"/>
                <a:gd name="connsiteX99" fmla="*/ 338220 w 439688"/>
                <a:gd name="connsiteY99" fmla="*/ 301750 h 423266"/>
                <a:gd name="connsiteX100" fmla="*/ 326162 w 439688"/>
                <a:gd name="connsiteY100" fmla="*/ 304238 h 423266"/>
                <a:gd name="connsiteX101" fmla="*/ 306757 w 439688"/>
                <a:gd name="connsiteY101" fmla="*/ 295762 h 423266"/>
                <a:gd name="connsiteX102" fmla="*/ 289154 w 439688"/>
                <a:gd name="connsiteY102" fmla="*/ 296085 h 423266"/>
                <a:gd name="connsiteX103" fmla="*/ 278805 w 439688"/>
                <a:gd name="connsiteY103" fmla="*/ 311285 h 423266"/>
                <a:gd name="connsiteX104" fmla="*/ 276403 w 439688"/>
                <a:gd name="connsiteY104" fmla="*/ 332935 h 423266"/>
                <a:gd name="connsiteX105" fmla="*/ 268133 w 439688"/>
                <a:gd name="connsiteY105" fmla="*/ 342148 h 423266"/>
                <a:gd name="connsiteX106" fmla="*/ 205761 w 439688"/>
                <a:gd name="connsiteY106" fmla="*/ 342148 h 423266"/>
                <a:gd name="connsiteX107" fmla="*/ 197491 w 439688"/>
                <a:gd name="connsiteY107" fmla="*/ 332935 h 423266"/>
                <a:gd name="connsiteX108" fmla="*/ 195089 w 439688"/>
                <a:gd name="connsiteY108" fmla="*/ 311332 h 423266"/>
                <a:gd name="connsiteX109" fmla="*/ 173328 w 439688"/>
                <a:gd name="connsiteY109" fmla="*/ 294104 h 423266"/>
                <a:gd name="connsiteX110" fmla="*/ 167691 w 439688"/>
                <a:gd name="connsiteY110" fmla="*/ 295624 h 423266"/>
                <a:gd name="connsiteX111" fmla="*/ 147686 w 439688"/>
                <a:gd name="connsiteY111" fmla="*/ 304376 h 423266"/>
                <a:gd name="connsiteX112" fmla="*/ 135581 w 439688"/>
                <a:gd name="connsiteY112" fmla="*/ 301889 h 423266"/>
                <a:gd name="connsiteX113" fmla="*/ 104303 w 439688"/>
                <a:gd name="connsiteY113" fmla="*/ 248225 h 423266"/>
                <a:gd name="connsiteX114" fmla="*/ 108138 w 439688"/>
                <a:gd name="connsiteY114" fmla="*/ 236386 h 423266"/>
                <a:gd name="connsiteX115" fmla="*/ 125787 w 439688"/>
                <a:gd name="connsiteY115" fmla="*/ 223396 h 423266"/>
                <a:gd name="connsiteX116" fmla="*/ 129991 w 439688"/>
                <a:gd name="connsiteY116" fmla="*/ 196035 h 423266"/>
                <a:gd name="connsiteX117" fmla="*/ 125787 w 439688"/>
                <a:gd name="connsiteY117" fmla="*/ 191843 h 423266"/>
                <a:gd name="connsiteX118" fmla="*/ 108138 w 439688"/>
                <a:gd name="connsiteY118" fmla="*/ 178899 h 423266"/>
                <a:gd name="connsiteX119" fmla="*/ 104303 w 439688"/>
                <a:gd name="connsiteY119" fmla="*/ 167107 h 423266"/>
                <a:gd name="connsiteX120" fmla="*/ 135581 w 439688"/>
                <a:gd name="connsiteY120" fmla="*/ 113489 h 423266"/>
                <a:gd name="connsiteX121" fmla="*/ 147686 w 439688"/>
                <a:gd name="connsiteY121" fmla="*/ 111001 h 423266"/>
                <a:gd name="connsiteX122" fmla="*/ 167599 w 439688"/>
                <a:gd name="connsiteY122" fmla="*/ 119707 h 423266"/>
                <a:gd name="connsiteX123" fmla="*/ 193518 w 439688"/>
                <a:gd name="connsiteY123" fmla="*/ 109481 h 423266"/>
                <a:gd name="connsiteX124" fmla="*/ 195042 w 439688"/>
                <a:gd name="connsiteY124" fmla="*/ 103862 h 423266"/>
                <a:gd name="connsiteX125" fmla="*/ 197445 w 439688"/>
                <a:gd name="connsiteY125" fmla="*/ 82212 h 423266"/>
                <a:gd name="connsiteX126" fmla="*/ 205854 w 439688"/>
                <a:gd name="connsiteY126" fmla="*/ 72953 h 423266"/>
                <a:gd name="connsiteX127" fmla="*/ 237039 w 439688"/>
                <a:gd name="connsiteY127" fmla="*/ 69406 h 423266"/>
                <a:gd name="connsiteX128" fmla="*/ 253718 w 439688"/>
                <a:gd name="connsiteY128" fmla="*/ 1555 h 423266"/>
                <a:gd name="connsiteX129" fmla="*/ 348061 w 439688"/>
                <a:gd name="connsiteY129" fmla="*/ 40294 h 423266"/>
                <a:gd name="connsiteX130" fmla="*/ 347553 w 439688"/>
                <a:gd name="connsiteY130" fmla="*/ 20533 h 423266"/>
                <a:gd name="connsiteX131" fmla="*/ 349909 w 439688"/>
                <a:gd name="connsiteY131" fmla="*/ 14499 h 423266"/>
                <a:gd name="connsiteX132" fmla="*/ 355823 w 439688"/>
                <a:gd name="connsiteY132" fmla="*/ 11781 h 423266"/>
                <a:gd name="connsiteX133" fmla="*/ 364647 w 439688"/>
                <a:gd name="connsiteY133" fmla="*/ 20119 h 423266"/>
                <a:gd name="connsiteX134" fmla="*/ 365617 w 439688"/>
                <a:gd name="connsiteY134" fmla="*/ 60885 h 423266"/>
                <a:gd name="connsiteX135" fmla="*/ 357347 w 439688"/>
                <a:gd name="connsiteY135" fmla="*/ 69637 h 423266"/>
                <a:gd name="connsiteX136" fmla="*/ 316367 w 439688"/>
                <a:gd name="connsiteY136" fmla="*/ 70696 h 423266"/>
                <a:gd name="connsiteX137" fmla="*/ 310222 w 439688"/>
                <a:gd name="connsiteY137" fmla="*/ 68255 h 423266"/>
                <a:gd name="connsiteX138" fmla="*/ 307681 w 439688"/>
                <a:gd name="connsiteY138" fmla="*/ 62313 h 423266"/>
                <a:gd name="connsiteX139" fmla="*/ 310037 w 439688"/>
                <a:gd name="connsiteY139" fmla="*/ 56278 h 423266"/>
                <a:gd name="connsiteX140" fmla="*/ 315997 w 439688"/>
                <a:gd name="connsiteY140" fmla="*/ 53653 h 423266"/>
                <a:gd name="connsiteX141" fmla="*/ 337481 w 439688"/>
                <a:gd name="connsiteY141" fmla="*/ 53100 h 423266"/>
                <a:gd name="connsiteX142" fmla="*/ 251639 w 439688"/>
                <a:gd name="connsiteY142" fmla="*/ 18046 h 423266"/>
                <a:gd name="connsiteX143" fmla="*/ 63276 w 439688"/>
                <a:gd name="connsiteY143" fmla="*/ 129335 h 423266"/>
                <a:gd name="connsiteX144" fmla="*/ 55607 w 439688"/>
                <a:gd name="connsiteY144" fmla="*/ 134632 h 423266"/>
                <a:gd name="connsiteX145" fmla="*/ 53297 w 439688"/>
                <a:gd name="connsiteY145" fmla="*/ 134310 h 423266"/>
                <a:gd name="connsiteX146" fmla="*/ 47938 w 439688"/>
                <a:gd name="connsiteY146" fmla="*/ 129888 h 423266"/>
                <a:gd name="connsiteX147" fmla="*/ 47660 w 439688"/>
                <a:gd name="connsiteY147" fmla="*/ 123439 h 423266"/>
                <a:gd name="connsiteX148" fmla="*/ 253718 w 439688"/>
                <a:gd name="connsiteY148" fmla="*/ 1555 h 423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439688" h="423266">
                  <a:moveTo>
                    <a:pt x="36064" y="183736"/>
                  </a:moveTo>
                  <a:cubicBezTo>
                    <a:pt x="39621" y="180926"/>
                    <a:pt x="45027" y="181617"/>
                    <a:pt x="48030" y="185302"/>
                  </a:cubicBezTo>
                  <a:lnTo>
                    <a:pt x="72701" y="218007"/>
                  </a:lnTo>
                  <a:cubicBezTo>
                    <a:pt x="75519" y="221738"/>
                    <a:pt x="74734" y="227081"/>
                    <a:pt x="70992" y="229845"/>
                  </a:cubicBezTo>
                  <a:cubicBezTo>
                    <a:pt x="69144" y="231227"/>
                    <a:pt x="66834" y="231780"/>
                    <a:pt x="64570" y="231458"/>
                  </a:cubicBezTo>
                  <a:cubicBezTo>
                    <a:pt x="62306" y="231089"/>
                    <a:pt x="60365" y="229937"/>
                    <a:pt x="59072" y="228095"/>
                  </a:cubicBezTo>
                  <a:lnTo>
                    <a:pt x="46043" y="211097"/>
                  </a:lnTo>
                  <a:cubicBezTo>
                    <a:pt x="45027" y="242375"/>
                    <a:pt x="52373" y="273329"/>
                    <a:pt x="67388" y="301059"/>
                  </a:cubicBezTo>
                  <a:cubicBezTo>
                    <a:pt x="98066" y="357810"/>
                    <a:pt x="157480" y="393555"/>
                    <a:pt x="222393" y="394292"/>
                  </a:cubicBezTo>
                  <a:cubicBezTo>
                    <a:pt x="224842" y="394338"/>
                    <a:pt x="227106" y="395443"/>
                    <a:pt x="228630" y="397332"/>
                  </a:cubicBezTo>
                  <a:cubicBezTo>
                    <a:pt x="230201" y="399221"/>
                    <a:pt x="230848" y="401754"/>
                    <a:pt x="230386" y="404196"/>
                  </a:cubicBezTo>
                  <a:cubicBezTo>
                    <a:pt x="229601" y="408111"/>
                    <a:pt x="226182" y="410921"/>
                    <a:pt x="222255" y="410921"/>
                  </a:cubicBezTo>
                  <a:lnTo>
                    <a:pt x="222116" y="410921"/>
                  </a:lnTo>
                  <a:cubicBezTo>
                    <a:pt x="151243" y="410046"/>
                    <a:pt x="86331" y="370984"/>
                    <a:pt x="52696" y="308936"/>
                  </a:cubicBezTo>
                  <a:cubicBezTo>
                    <a:pt x="36156" y="278304"/>
                    <a:pt x="28163" y="244217"/>
                    <a:pt x="29503" y="209992"/>
                  </a:cubicBezTo>
                  <a:lnTo>
                    <a:pt x="13610" y="221876"/>
                  </a:lnTo>
                  <a:cubicBezTo>
                    <a:pt x="11900" y="223212"/>
                    <a:pt x="9683" y="223811"/>
                    <a:pt x="7419" y="223489"/>
                  </a:cubicBezTo>
                  <a:cubicBezTo>
                    <a:pt x="5155" y="223166"/>
                    <a:pt x="3076" y="221968"/>
                    <a:pt x="1690" y="220172"/>
                  </a:cubicBezTo>
                  <a:cubicBezTo>
                    <a:pt x="-1128" y="216395"/>
                    <a:pt x="-343" y="211005"/>
                    <a:pt x="3445" y="208195"/>
                  </a:cubicBezTo>
                  <a:close/>
                  <a:moveTo>
                    <a:pt x="236855" y="175675"/>
                  </a:moveTo>
                  <a:cubicBezTo>
                    <a:pt x="217080" y="175675"/>
                    <a:pt x="201511" y="193547"/>
                    <a:pt x="205484" y="213953"/>
                  </a:cubicBezTo>
                  <a:cubicBezTo>
                    <a:pt x="207886" y="226390"/>
                    <a:pt x="217958" y="236432"/>
                    <a:pt x="230433" y="238828"/>
                  </a:cubicBezTo>
                  <a:cubicBezTo>
                    <a:pt x="250900" y="242789"/>
                    <a:pt x="268826" y="227266"/>
                    <a:pt x="268826" y="207551"/>
                  </a:cubicBezTo>
                  <a:cubicBezTo>
                    <a:pt x="268826" y="189954"/>
                    <a:pt x="254503" y="175675"/>
                    <a:pt x="236855" y="175675"/>
                  </a:cubicBezTo>
                  <a:close/>
                  <a:moveTo>
                    <a:pt x="236855" y="154393"/>
                  </a:moveTo>
                  <a:cubicBezTo>
                    <a:pt x="266285" y="154393"/>
                    <a:pt x="290171" y="178208"/>
                    <a:pt x="290171" y="207551"/>
                  </a:cubicBezTo>
                  <a:cubicBezTo>
                    <a:pt x="290171" y="236893"/>
                    <a:pt x="266285" y="260708"/>
                    <a:pt x="236855" y="260708"/>
                  </a:cubicBezTo>
                  <a:cubicBezTo>
                    <a:pt x="207424" y="260708"/>
                    <a:pt x="183538" y="236893"/>
                    <a:pt x="183538" y="207551"/>
                  </a:cubicBezTo>
                  <a:cubicBezTo>
                    <a:pt x="183538" y="178208"/>
                    <a:pt x="207424" y="154393"/>
                    <a:pt x="236855" y="154393"/>
                  </a:cubicBezTo>
                  <a:close/>
                  <a:moveTo>
                    <a:pt x="399991" y="97873"/>
                  </a:moveTo>
                  <a:cubicBezTo>
                    <a:pt x="402209" y="98242"/>
                    <a:pt x="404103" y="99439"/>
                    <a:pt x="405350" y="101236"/>
                  </a:cubicBezTo>
                  <a:cubicBezTo>
                    <a:pt x="456726" y="176043"/>
                    <a:pt x="449888" y="275079"/>
                    <a:pt x="388625" y="342102"/>
                  </a:cubicBezTo>
                  <a:cubicBezTo>
                    <a:pt x="365155" y="367805"/>
                    <a:pt x="335494" y="386645"/>
                    <a:pt x="302645" y="396779"/>
                  </a:cubicBezTo>
                  <a:lnTo>
                    <a:pt x="319092" y="407742"/>
                  </a:lnTo>
                  <a:cubicBezTo>
                    <a:pt x="320987" y="408940"/>
                    <a:pt x="322280" y="410829"/>
                    <a:pt x="322742" y="413132"/>
                  </a:cubicBezTo>
                  <a:cubicBezTo>
                    <a:pt x="323204" y="415343"/>
                    <a:pt x="322742" y="417646"/>
                    <a:pt x="321541" y="419488"/>
                  </a:cubicBezTo>
                  <a:cubicBezTo>
                    <a:pt x="319878" y="421976"/>
                    <a:pt x="317106" y="423266"/>
                    <a:pt x="314334" y="423266"/>
                  </a:cubicBezTo>
                  <a:cubicBezTo>
                    <a:pt x="312717" y="423266"/>
                    <a:pt x="311053" y="422851"/>
                    <a:pt x="309621" y="421884"/>
                  </a:cubicBezTo>
                  <a:lnTo>
                    <a:pt x="275617" y="399267"/>
                  </a:lnTo>
                  <a:cubicBezTo>
                    <a:pt x="271736" y="396733"/>
                    <a:pt x="270627" y="391436"/>
                    <a:pt x="273168" y="387474"/>
                  </a:cubicBezTo>
                  <a:lnTo>
                    <a:pt x="295899" y="353433"/>
                  </a:lnTo>
                  <a:cubicBezTo>
                    <a:pt x="297193" y="351545"/>
                    <a:pt x="299180" y="350255"/>
                    <a:pt x="301444" y="349840"/>
                  </a:cubicBezTo>
                  <a:cubicBezTo>
                    <a:pt x="303661" y="349426"/>
                    <a:pt x="305925" y="349933"/>
                    <a:pt x="307773" y="351176"/>
                  </a:cubicBezTo>
                  <a:cubicBezTo>
                    <a:pt x="309621" y="352374"/>
                    <a:pt x="310915" y="354309"/>
                    <a:pt x="311377" y="356566"/>
                  </a:cubicBezTo>
                  <a:cubicBezTo>
                    <a:pt x="311793" y="358777"/>
                    <a:pt x="311331" y="361080"/>
                    <a:pt x="310083" y="362923"/>
                  </a:cubicBezTo>
                  <a:lnTo>
                    <a:pt x="298209" y="380795"/>
                  </a:lnTo>
                  <a:cubicBezTo>
                    <a:pt x="328056" y="371444"/>
                    <a:pt x="354991" y="354309"/>
                    <a:pt x="376336" y="330908"/>
                  </a:cubicBezTo>
                  <a:cubicBezTo>
                    <a:pt x="432239" y="269690"/>
                    <a:pt x="438569" y="179175"/>
                    <a:pt x="391721" y="110817"/>
                  </a:cubicBezTo>
                  <a:cubicBezTo>
                    <a:pt x="389180" y="107132"/>
                    <a:pt x="389919" y="102203"/>
                    <a:pt x="393384" y="99578"/>
                  </a:cubicBezTo>
                  <a:lnTo>
                    <a:pt x="394863" y="101374"/>
                  </a:lnTo>
                  <a:lnTo>
                    <a:pt x="393476" y="99532"/>
                  </a:lnTo>
                  <a:cubicBezTo>
                    <a:pt x="395371" y="98104"/>
                    <a:pt x="397727" y="97505"/>
                    <a:pt x="399991" y="97873"/>
                  </a:cubicBezTo>
                  <a:close/>
                  <a:moveTo>
                    <a:pt x="237039" y="90595"/>
                  </a:moveTo>
                  <a:cubicBezTo>
                    <a:pt x="230571" y="90687"/>
                    <a:pt x="224149" y="91240"/>
                    <a:pt x="217773" y="92254"/>
                  </a:cubicBezTo>
                  <a:lnTo>
                    <a:pt x="216341" y="105059"/>
                  </a:lnTo>
                  <a:cubicBezTo>
                    <a:pt x="214817" y="118740"/>
                    <a:pt x="207009" y="131315"/>
                    <a:pt x="194765" y="137718"/>
                  </a:cubicBezTo>
                  <a:cubicBezTo>
                    <a:pt x="183169" y="143753"/>
                    <a:pt x="170094" y="143891"/>
                    <a:pt x="159005" y="139054"/>
                  </a:cubicBezTo>
                  <a:lnTo>
                    <a:pt x="146254" y="133480"/>
                  </a:lnTo>
                  <a:cubicBezTo>
                    <a:pt x="138122" y="143338"/>
                    <a:pt x="131654" y="154393"/>
                    <a:pt x="127080" y="166324"/>
                  </a:cubicBezTo>
                  <a:lnTo>
                    <a:pt x="137614" y="174062"/>
                  </a:lnTo>
                  <a:cubicBezTo>
                    <a:pt x="148703" y="182216"/>
                    <a:pt x="155725" y="195159"/>
                    <a:pt x="155125" y="208886"/>
                  </a:cubicBezTo>
                  <a:cubicBezTo>
                    <a:pt x="154524" y="222613"/>
                    <a:pt x="148148" y="233300"/>
                    <a:pt x="138400" y="240440"/>
                  </a:cubicBezTo>
                  <a:lnTo>
                    <a:pt x="127034" y="248777"/>
                  </a:lnTo>
                  <a:cubicBezTo>
                    <a:pt x="131562" y="260708"/>
                    <a:pt x="138076" y="271809"/>
                    <a:pt x="146208" y="281713"/>
                  </a:cubicBezTo>
                  <a:lnTo>
                    <a:pt x="159052" y="276093"/>
                  </a:lnTo>
                  <a:cubicBezTo>
                    <a:pt x="179796" y="267065"/>
                    <a:pt x="203959" y="276508"/>
                    <a:pt x="213015" y="297190"/>
                  </a:cubicBezTo>
                  <a:cubicBezTo>
                    <a:pt x="214632" y="300921"/>
                    <a:pt x="215741" y="304883"/>
                    <a:pt x="216156" y="308936"/>
                  </a:cubicBezTo>
                  <a:lnTo>
                    <a:pt x="217727" y="322893"/>
                  </a:lnTo>
                  <a:cubicBezTo>
                    <a:pt x="230386" y="325012"/>
                    <a:pt x="243277" y="325012"/>
                    <a:pt x="255936" y="322893"/>
                  </a:cubicBezTo>
                  <a:lnTo>
                    <a:pt x="257507" y="308936"/>
                  </a:lnTo>
                  <a:cubicBezTo>
                    <a:pt x="260001" y="286503"/>
                    <a:pt x="280238" y="270381"/>
                    <a:pt x="302738" y="272869"/>
                  </a:cubicBezTo>
                  <a:cubicBezTo>
                    <a:pt x="306849" y="273329"/>
                    <a:pt x="310869" y="274389"/>
                    <a:pt x="314657" y="276047"/>
                  </a:cubicBezTo>
                  <a:lnTo>
                    <a:pt x="327501" y="281667"/>
                  </a:lnTo>
                  <a:cubicBezTo>
                    <a:pt x="335633" y="271809"/>
                    <a:pt x="342101" y="260708"/>
                    <a:pt x="346629" y="248823"/>
                  </a:cubicBezTo>
                  <a:lnTo>
                    <a:pt x="335263" y="240486"/>
                  </a:lnTo>
                  <a:cubicBezTo>
                    <a:pt x="317014" y="227127"/>
                    <a:pt x="313133" y="201562"/>
                    <a:pt x="326531" y="183413"/>
                  </a:cubicBezTo>
                  <a:cubicBezTo>
                    <a:pt x="328980" y="180097"/>
                    <a:pt x="331937" y="177149"/>
                    <a:pt x="335263" y="174707"/>
                  </a:cubicBezTo>
                  <a:lnTo>
                    <a:pt x="346583" y="166370"/>
                  </a:lnTo>
                  <a:cubicBezTo>
                    <a:pt x="342009" y="154439"/>
                    <a:pt x="335540" y="143384"/>
                    <a:pt x="327409" y="133526"/>
                  </a:cubicBezTo>
                  <a:lnTo>
                    <a:pt x="314657" y="139100"/>
                  </a:lnTo>
                  <a:cubicBezTo>
                    <a:pt x="293913" y="148175"/>
                    <a:pt x="269750" y="138732"/>
                    <a:pt x="260648" y="118049"/>
                  </a:cubicBezTo>
                  <a:cubicBezTo>
                    <a:pt x="258985" y="114272"/>
                    <a:pt x="257922" y="110264"/>
                    <a:pt x="257460" y="106165"/>
                  </a:cubicBezTo>
                  <a:lnTo>
                    <a:pt x="255889" y="92346"/>
                  </a:lnTo>
                  <a:cubicBezTo>
                    <a:pt x="249606" y="91332"/>
                    <a:pt x="243277" y="90780"/>
                    <a:pt x="236947" y="90687"/>
                  </a:cubicBezTo>
                  <a:close/>
                  <a:moveTo>
                    <a:pt x="237039" y="69314"/>
                  </a:moveTo>
                  <a:cubicBezTo>
                    <a:pt x="247435" y="69406"/>
                    <a:pt x="257784" y="70604"/>
                    <a:pt x="267948" y="72861"/>
                  </a:cubicBezTo>
                  <a:cubicBezTo>
                    <a:pt x="272430" y="73874"/>
                    <a:pt x="275848" y="77513"/>
                    <a:pt x="276357" y="82074"/>
                  </a:cubicBezTo>
                  <a:lnTo>
                    <a:pt x="278713" y="103079"/>
                  </a:lnTo>
                  <a:cubicBezTo>
                    <a:pt x="279406" y="109159"/>
                    <a:pt x="282548" y="114917"/>
                    <a:pt x="287815" y="118141"/>
                  </a:cubicBezTo>
                  <a:cubicBezTo>
                    <a:pt x="293682" y="121734"/>
                    <a:pt x="300474" y="122011"/>
                    <a:pt x="306203" y="119523"/>
                  </a:cubicBezTo>
                  <a:lnTo>
                    <a:pt x="326115" y="110817"/>
                  </a:lnTo>
                  <a:cubicBezTo>
                    <a:pt x="330273" y="109021"/>
                    <a:pt x="335125" y="109988"/>
                    <a:pt x="338220" y="113305"/>
                  </a:cubicBezTo>
                  <a:cubicBezTo>
                    <a:pt x="352543" y="128598"/>
                    <a:pt x="363261" y="146931"/>
                    <a:pt x="369498" y="166923"/>
                  </a:cubicBezTo>
                  <a:cubicBezTo>
                    <a:pt x="370838" y="171299"/>
                    <a:pt x="369360" y="176043"/>
                    <a:pt x="365664" y="178761"/>
                  </a:cubicBezTo>
                  <a:lnTo>
                    <a:pt x="348015" y="191751"/>
                  </a:lnTo>
                  <a:cubicBezTo>
                    <a:pt x="339283" y="198154"/>
                    <a:pt x="337388" y="210406"/>
                    <a:pt x="343810" y="219112"/>
                  </a:cubicBezTo>
                  <a:cubicBezTo>
                    <a:pt x="345012" y="220725"/>
                    <a:pt x="346398" y="222107"/>
                    <a:pt x="348015" y="223304"/>
                  </a:cubicBezTo>
                  <a:lnTo>
                    <a:pt x="365664" y="236294"/>
                  </a:lnTo>
                  <a:cubicBezTo>
                    <a:pt x="369360" y="239012"/>
                    <a:pt x="370838" y="243756"/>
                    <a:pt x="369498" y="248132"/>
                  </a:cubicBezTo>
                  <a:cubicBezTo>
                    <a:pt x="363261" y="268124"/>
                    <a:pt x="352543" y="286457"/>
                    <a:pt x="338220" y="301750"/>
                  </a:cubicBezTo>
                  <a:cubicBezTo>
                    <a:pt x="335125" y="305021"/>
                    <a:pt x="330320" y="306034"/>
                    <a:pt x="326162" y="304238"/>
                  </a:cubicBezTo>
                  <a:lnTo>
                    <a:pt x="306757" y="295762"/>
                  </a:lnTo>
                  <a:cubicBezTo>
                    <a:pt x="301121" y="293275"/>
                    <a:pt x="294560" y="293136"/>
                    <a:pt x="289154" y="296085"/>
                  </a:cubicBezTo>
                  <a:cubicBezTo>
                    <a:pt x="283102" y="299355"/>
                    <a:pt x="279498" y="305113"/>
                    <a:pt x="278805" y="311285"/>
                  </a:cubicBezTo>
                  <a:lnTo>
                    <a:pt x="276403" y="332935"/>
                  </a:lnTo>
                  <a:cubicBezTo>
                    <a:pt x="275895" y="337450"/>
                    <a:pt x="272568" y="341089"/>
                    <a:pt x="268133" y="342148"/>
                  </a:cubicBezTo>
                  <a:cubicBezTo>
                    <a:pt x="247619" y="346985"/>
                    <a:pt x="226274" y="346985"/>
                    <a:pt x="205761" y="342148"/>
                  </a:cubicBezTo>
                  <a:cubicBezTo>
                    <a:pt x="201326" y="341089"/>
                    <a:pt x="197999" y="337450"/>
                    <a:pt x="197491" y="332935"/>
                  </a:cubicBezTo>
                  <a:lnTo>
                    <a:pt x="195089" y="311332"/>
                  </a:lnTo>
                  <a:cubicBezTo>
                    <a:pt x="193841" y="300599"/>
                    <a:pt x="184139" y="292860"/>
                    <a:pt x="173328" y="294104"/>
                  </a:cubicBezTo>
                  <a:cubicBezTo>
                    <a:pt x="171387" y="294334"/>
                    <a:pt x="169493" y="294841"/>
                    <a:pt x="167691" y="295624"/>
                  </a:cubicBezTo>
                  <a:lnTo>
                    <a:pt x="147686" y="304376"/>
                  </a:lnTo>
                  <a:cubicBezTo>
                    <a:pt x="143528" y="306172"/>
                    <a:pt x="138677" y="305159"/>
                    <a:pt x="135581" y="301889"/>
                  </a:cubicBezTo>
                  <a:cubicBezTo>
                    <a:pt x="121213" y="286595"/>
                    <a:pt x="110540" y="268216"/>
                    <a:pt x="104303" y="248225"/>
                  </a:cubicBezTo>
                  <a:cubicBezTo>
                    <a:pt x="102963" y="243849"/>
                    <a:pt x="104442" y="239104"/>
                    <a:pt x="108138" y="236386"/>
                  </a:cubicBezTo>
                  <a:lnTo>
                    <a:pt x="125787" y="223396"/>
                  </a:lnTo>
                  <a:cubicBezTo>
                    <a:pt x="134519" y="216994"/>
                    <a:pt x="136413" y="204787"/>
                    <a:pt x="129991" y="196035"/>
                  </a:cubicBezTo>
                  <a:cubicBezTo>
                    <a:pt x="128790" y="194422"/>
                    <a:pt x="127404" y="192994"/>
                    <a:pt x="125787" y="191843"/>
                  </a:cubicBezTo>
                  <a:lnTo>
                    <a:pt x="108138" y="178899"/>
                  </a:lnTo>
                  <a:cubicBezTo>
                    <a:pt x="104442" y="176181"/>
                    <a:pt x="102963" y="171437"/>
                    <a:pt x="104303" y="167107"/>
                  </a:cubicBezTo>
                  <a:cubicBezTo>
                    <a:pt x="110540" y="147115"/>
                    <a:pt x="121213" y="128782"/>
                    <a:pt x="135581" y="113489"/>
                  </a:cubicBezTo>
                  <a:cubicBezTo>
                    <a:pt x="138677" y="110172"/>
                    <a:pt x="143528" y="109159"/>
                    <a:pt x="147686" y="111001"/>
                  </a:cubicBezTo>
                  <a:lnTo>
                    <a:pt x="167599" y="119707"/>
                  </a:lnTo>
                  <a:cubicBezTo>
                    <a:pt x="177578" y="124037"/>
                    <a:pt x="189221" y="119431"/>
                    <a:pt x="193518" y="109481"/>
                  </a:cubicBezTo>
                  <a:cubicBezTo>
                    <a:pt x="194303" y="107685"/>
                    <a:pt x="194811" y="105796"/>
                    <a:pt x="195042" y="103862"/>
                  </a:cubicBezTo>
                  <a:lnTo>
                    <a:pt x="197445" y="82212"/>
                  </a:lnTo>
                  <a:cubicBezTo>
                    <a:pt x="197953" y="77651"/>
                    <a:pt x="201372" y="73966"/>
                    <a:pt x="205854" y="72953"/>
                  </a:cubicBezTo>
                  <a:cubicBezTo>
                    <a:pt x="216018" y="70696"/>
                    <a:pt x="226367" y="69544"/>
                    <a:pt x="237039" y="69406"/>
                  </a:cubicBezTo>
                  <a:close/>
                  <a:moveTo>
                    <a:pt x="253718" y="1555"/>
                  </a:moveTo>
                  <a:cubicBezTo>
                    <a:pt x="288323" y="5931"/>
                    <a:pt x="320848" y="19289"/>
                    <a:pt x="348061" y="40294"/>
                  </a:cubicBezTo>
                  <a:lnTo>
                    <a:pt x="347553" y="20533"/>
                  </a:lnTo>
                  <a:cubicBezTo>
                    <a:pt x="347460" y="18322"/>
                    <a:pt x="348292" y="16157"/>
                    <a:pt x="349909" y="14499"/>
                  </a:cubicBezTo>
                  <a:cubicBezTo>
                    <a:pt x="351480" y="12841"/>
                    <a:pt x="353559" y="11873"/>
                    <a:pt x="355823" y="11781"/>
                  </a:cubicBezTo>
                  <a:cubicBezTo>
                    <a:pt x="360582" y="11781"/>
                    <a:pt x="364462" y="15466"/>
                    <a:pt x="364647" y="20119"/>
                  </a:cubicBezTo>
                  <a:lnTo>
                    <a:pt x="365617" y="60885"/>
                  </a:lnTo>
                  <a:cubicBezTo>
                    <a:pt x="365802" y="65491"/>
                    <a:pt x="362060" y="69453"/>
                    <a:pt x="357347" y="69637"/>
                  </a:cubicBezTo>
                  <a:lnTo>
                    <a:pt x="316367" y="70696"/>
                  </a:lnTo>
                  <a:cubicBezTo>
                    <a:pt x="314011" y="70742"/>
                    <a:pt x="311839" y="69821"/>
                    <a:pt x="310222" y="68255"/>
                  </a:cubicBezTo>
                  <a:cubicBezTo>
                    <a:pt x="308605" y="66643"/>
                    <a:pt x="307681" y="64570"/>
                    <a:pt x="307681" y="62313"/>
                  </a:cubicBezTo>
                  <a:cubicBezTo>
                    <a:pt x="307589" y="60102"/>
                    <a:pt x="308420" y="57937"/>
                    <a:pt x="310037" y="56278"/>
                  </a:cubicBezTo>
                  <a:cubicBezTo>
                    <a:pt x="311562" y="54666"/>
                    <a:pt x="313733" y="53699"/>
                    <a:pt x="315997" y="53653"/>
                  </a:cubicBezTo>
                  <a:lnTo>
                    <a:pt x="337481" y="53100"/>
                  </a:lnTo>
                  <a:cubicBezTo>
                    <a:pt x="312625" y="34076"/>
                    <a:pt x="283102" y="22007"/>
                    <a:pt x="251639" y="18046"/>
                  </a:cubicBezTo>
                  <a:cubicBezTo>
                    <a:pt x="170694" y="7820"/>
                    <a:pt x="93215" y="53561"/>
                    <a:pt x="63276" y="129335"/>
                  </a:cubicBezTo>
                  <a:cubicBezTo>
                    <a:pt x="61983" y="132606"/>
                    <a:pt x="58887" y="134632"/>
                    <a:pt x="55607" y="134632"/>
                  </a:cubicBezTo>
                  <a:cubicBezTo>
                    <a:pt x="54822" y="134632"/>
                    <a:pt x="54036" y="134540"/>
                    <a:pt x="53297" y="134310"/>
                  </a:cubicBezTo>
                  <a:cubicBezTo>
                    <a:pt x="50894" y="133573"/>
                    <a:pt x="49000" y="132007"/>
                    <a:pt x="47938" y="129888"/>
                  </a:cubicBezTo>
                  <a:cubicBezTo>
                    <a:pt x="46921" y="127815"/>
                    <a:pt x="46829" y="125512"/>
                    <a:pt x="47660" y="123439"/>
                  </a:cubicBezTo>
                  <a:cubicBezTo>
                    <a:pt x="80325" y="40479"/>
                    <a:pt x="165058" y="-9638"/>
                    <a:pt x="253718" y="1555"/>
                  </a:cubicBez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sp>
        <p:nvSpPr>
          <p:cNvPr id="145" name="TextBox 338">
            <a:extLst>
              <a:ext uri="{FF2B5EF4-FFF2-40B4-BE49-F238E27FC236}">
                <a16:creationId xmlns:a16="http://schemas.microsoft.com/office/drawing/2014/main" id="{3E336B1C-7B5C-5CC4-44F0-EDD9B2978DF9}"/>
              </a:ext>
            </a:extLst>
          </p:cNvPr>
          <p:cNvSpPr txBox="1"/>
          <p:nvPr/>
        </p:nvSpPr>
        <p:spPr>
          <a:xfrm>
            <a:off x="7134298" y="361579"/>
            <a:ext cx="1699826" cy="1692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mj-lt"/>
              </a:rPr>
              <a:t>Actionable</a:t>
            </a:r>
            <a:r>
              <a:rPr kumimoji="0" lang="en-US" sz="1100" b="0" i="0" u="none" strike="noStrike" kern="1200" cap="none" spc="0" normalizeH="0" baseline="0" noProof="0" dirty="0">
                <a:ln>
                  <a:noFill/>
                </a:ln>
                <a:solidFill>
                  <a:schemeClr val="tx2"/>
                </a:solidFill>
                <a:effectLst/>
                <a:uLnTx/>
                <a:uFillTx/>
                <a:latin typeface="+mj-lt"/>
              </a:rPr>
              <a:t> insights</a:t>
            </a:r>
          </a:p>
        </p:txBody>
      </p:sp>
      <p:sp>
        <p:nvSpPr>
          <p:cNvPr id="153" name="TextBox 338">
            <a:extLst>
              <a:ext uri="{FF2B5EF4-FFF2-40B4-BE49-F238E27FC236}">
                <a16:creationId xmlns:a16="http://schemas.microsoft.com/office/drawing/2014/main" id="{A5D8750D-E2D7-41D5-A75A-8A2D1A429591}"/>
              </a:ext>
              <a:ext uri="{C183D7F6-B498-43B3-948B-1728B52AA6E4}">
                <adec:decorative xmlns:adec="http://schemas.microsoft.com/office/drawing/2017/decorative" val="1"/>
              </a:ext>
            </a:extLst>
          </p:cNvPr>
          <p:cNvSpPr txBox="1"/>
          <p:nvPr/>
        </p:nvSpPr>
        <p:spPr>
          <a:xfrm rot="5400000">
            <a:off x="10447841" y="-653177"/>
            <a:ext cx="279094" cy="2198788"/>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noProof="0" dirty="0"/>
          </a:p>
        </p:txBody>
      </p:sp>
      <p:sp>
        <p:nvSpPr>
          <p:cNvPr id="160" name="Oval 159">
            <a:extLst>
              <a:ext uri="{FF2B5EF4-FFF2-40B4-BE49-F238E27FC236}">
                <a16:creationId xmlns:a16="http://schemas.microsoft.com/office/drawing/2014/main" id="{99DB20F9-C94B-04C0-C951-E99BB00B8510}"/>
              </a:ext>
              <a:ext uri="{C183D7F6-B498-43B3-948B-1728B52AA6E4}">
                <adec:decorative xmlns:adec="http://schemas.microsoft.com/office/drawing/2017/decorative" val="1"/>
              </a:ext>
            </a:extLst>
          </p:cNvPr>
          <p:cNvSpPr/>
          <p:nvPr/>
        </p:nvSpPr>
        <p:spPr>
          <a:xfrm>
            <a:off x="9317078" y="278072"/>
            <a:ext cx="336291" cy="3362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solidFill>
                <a:schemeClr val="tx2"/>
              </a:solidFill>
              <a:effectLst/>
              <a:uLnTx/>
              <a:uFillTx/>
              <a:latin typeface="Segoe Sans Display"/>
              <a:ea typeface="+mn-ea"/>
              <a:cs typeface="Segoe Sans Display Semibold" pitchFamily="2" charset="0"/>
            </a:endParaRPr>
          </a:p>
        </p:txBody>
      </p:sp>
      <p:grpSp>
        <p:nvGrpSpPr>
          <p:cNvPr id="80" name="Group 79">
            <a:extLst>
              <a:ext uri="{FF2B5EF4-FFF2-40B4-BE49-F238E27FC236}">
                <a16:creationId xmlns:a16="http://schemas.microsoft.com/office/drawing/2014/main" id="{D85E0688-14B8-6CAB-532B-CED76A41287F}"/>
              </a:ext>
            </a:extLst>
          </p:cNvPr>
          <p:cNvGrpSpPr/>
          <p:nvPr/>
        </p:nvGrpSpPr>
        <p:grpSpPr>
          <a:xfrm>
            <a:off x="9317416" y="278410"/>
            <a:ext cx="335615" cy="335615"/>
            <a:chOff x="9402722" y="278410"/>
            <a:chExt cx="335615" cy="335615"/>
          </a:xfrm>
        </p:grpSpPr>
        <p:sp>
          <p:nvSpPr>
            <p:cNvPr id="158" name="Oval 157">
              <a:extLst>
                <a:ext uri="{FF2B5EF4-FFF2-40B4-BE49-F238E27FC236}">
                  <a16:creationId xmlns:a16="http://schemas.microsoft.com/office/drawing/2014/main" id="{74C6048F-529F-052C-C5F6-9FF475A47A8B}"/>
                </a:ext>
                <a:ext uri="{C183D7F6-B498-43B3-948B-1728B52AA6E4}">
                  <adec:decorative xmlns:adec="http://schemas.microsoft.com/office/drawing/2017/decorative" val="1"/>
                </a:ext>
              </a:extLst>
            </p:cNvPr>
            <p:cNvSpPr/>
            <p:nvPr/>
          </p:nvSpPr>
          <p:spPr>
            <a:xfrm>
              <a:off x="9402722" y="278410"/>
              <a:ext cx="335615" cy="335615"/>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chemeClr val="tx2"/>
                </a:solidFill>
                <a:cs typeface="Segoe UI" pitchFamily="34" charset="0"/>
              </a:endParaRPr>
            </a:p>
          </p:txBody>
        </p:sp>
        <p:sp>
          <p:nvSpPr>
            <p:cNvPr id="152" name="Graphic 6" descr="Icon of a line graph with an arrow at the end pointing up">
              <a:extLst>
                <a:ext uri="{FF2B5EF4-FFF2-40B4-BE49-F238E27FC236}">
                  <a16:creationId xmlns:a16="http://schemas.microsoft.com/office/drawing/2014/main" id="{81083408-7CD6-5BEC-9B07-319026DBDA7F}"/>
                </a:ext>
              </a:extLst>
            </p:cNvPr>
            <p:cNvSpPr/>
            <p:nvPr/>
          </p:nvSpPr>
          <p:spPr>
            <a:xfrm>
              <a:off x="9485129" y="360818"/>
              <a:ext cx="170801" cy="170799"/>
            </a:xfrm>
            <a:custGeom>
              <a:avLst/>
              <a:gdLst>
                <a:gd name="connsiteX0" fmla="*/ 26988 w 323850"/>
                <a:gd name="connsiteY0" fmla="*/ 13494 h 323850"/>
                <a:gd name="connsiteX1" fmla="*/ 13494 w 323850"/>
                <a:gd name="connsiteY1" fmla="*/ 0 h 323850"/>
                <a:gd name="connsiteX2" fmla="*/ 0 w 323850"/>
                <a:gd name="connsiteY2" fmla="*/ 13494 h 323850"/>
                <a:gd name="connsiteX3" fmla="*/ 0 w 323850"/>
                <a:gd name="connsiteY3" fmla="*/ 265377 h 323850"/>
                <a:gd name="connsiteX4" fmla="*/ 58473 w 323850"/>
                <a:gd name="connsiteY4" fmla="*/ 323850 h 323850"/>
                <a:gd name="connsiteX5" fmla="*/ 310356 w 323850"/>
                <a:gd name="connsiteY5" fmla="*/ 323850 h 323850"/>
                <a:gd name="connsiteX6" fmla="*/ 323850 w 323850"/>
                <a:gd name="connsiteY6" fmla="*/ 310356 h 323850"/>
                <a:gd name="connsiteX7" fmla="*/ 310356 w 323850"/>
                <a:gd name="connsiteY7" fmla="*/ 296863 h 323850"/>
                <a:gd name="connsiteX8" fmla="*/ 58473 w 323850"/>
                <a:gd name="connsiteY8" fmla="*/ 296863 h 323850"/>
                <a:gd name="connsiteX9" fmla="*/ 26988 w 323850"/>
                <a:gd name="connsiteY9" fmla="*/ 265377 h 323850"/>
                <a:gd name="connsiteX10" fmla="*/ 26988 w 323850"/>
                <a:gd name="connsiteY10" fmla="*/ 13494 h 323850"/>
                <a:gd name="connsiteX11" fmla="*/ 211402 w 323850"/>
                <a:gd name="connsiteY11" fmla="*/ 53975 h 323850"/>
                <a:gd name="connsiteX12" fmla="*/ 197908 w 323850"/>
                <a:gd name="connsiteY12" fmla="*/ 67469 h 323850"/>
                <a:gd name="connsiteX13" fmla="*/ 211402 w 323850"/>
                <a:gd name="connsiteY13" fmla="*/ 80963 h 323850"/>
                <a:gd name="connsiteX14" fmla="*/ 268783 w 323850"/>
                <a:gd name="connsiteY14" fmla="*/ 80963 h 323850"/>
                <a:gd name="connsiteX15" fmla="*/ 184415 w 323850"/>
                <a:gd name="connsiteY15" fmla="*/ 165331 h 323850"/>
                <a:gd name="connsiteX16" fmla="*/ 148976 w 323850"/>
                <a:gd name="connsiteY16" fmla="*/ 129894 h 323850"/>
                <a:gd name="connsiteX17" fmla="*/ 129894 w 323850"/>
                <a:gd name="connsiteY17" fmla="*/ 129894 h 323850"/>
                <a:gd name="connsiteX18" fmla="*/ 62425 w 323850"/>
                <a:gd name="connsiteY18" fmla="*/ 197363 h 323850"/>
                <a:gd name="connsiteX19" fmla="*/ 62425 w 323850"/>
                <a:gd name="connsiteY19" fmla="*/ 216445 h 323850"/>
                <a:gd name="connsiteX20" fmla="*/ 81508 w 323850"/>
                <a:gd name="connsiteY20" fmla="*/ 216445 h 323850"/>
                <a:gd name="connsiteX21" fmla="*/ 139435 w 323850"/>
                <a:gd name="connsiteY21" fmla="*/ 158519 h 323850"/>
                <a:gd name="connsiteX22" fmla="*/ 174874 w 323850"/>
                <a:gd name="connsiteY22" fmla="*/ 193956 h 323850"/>
                <a:gd name="connsiteX23" fmla="*/ 193956 w 323850"/>
                <a:gd name="connsiteY23" fmla="*/ 193956 h 323850"/>
                <a:gd name="connsiteX24" fmla="*/ 287894 w 323850"/>
                <a:gd name="connsiteY24" fmla="*/ 100019 h 323850"/>
                <a:gd name="connsiteX25" fmla="*/ 287894 w 323850"/>
                <a:gd name="connsiteY25" fmla="*/ 157517 h 323850"/>
                <a:gd name="connsiteX26" fmla="*/ 301387 w 323850"/>
                <a:gd name="connsiteY26" fmla="*/ 171011 h 323850"/>
                <a:gd name="connsiteX27" fmla="*/ 314881 w 323850"/>
                <a:gd name="connsiteY27" fmla="*/ 157517 h 323850"/>
                <a:gd name="connsiteX28" fmla="*/ 314881 w 323850"/>
                <a:gd name="connsiteY28" fmla="*/ 67469 h 323850"/>
                <a:gd name="connsiteX29" fmla="*/ 301387 w 323850"/>
                <a:gd name="connsiteY29" fmla="*/ 53975 h 323850"/>
                <a:gd name="connsiteX30" fmla="*/ 211402 w 323850"/>
                <a:gd name="connsiteY30" fmla="*/ 5397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3850" h="323850">
                  <a:moveTo>
                    <a:pt x="26988" y="13494"/>
                  </a:moveTo>
                  <a:cubicBezTo>
                    <a:pt x="26988" y="6041"/>
                    <a:pt x="20946" y="0"/>
                    <a:pt x="13494" y="0"/>
                  </a:cubicBezTo>
                  <a:cubicBezTo>
                    <a:pt x="6041" y="0"/>
                    <a:pt x="0" y="6041"/>
                    <a:pt x="0" y="13494"/>
                  </a:cubicBezTo>
                  <a:lnTo>
                    <a:pt x="0" y="265377"/>
                  </a:lnTo>
                  <a:cubicBezTo>
                    <a:pt x="0" y="297670"/>
                    <a:pt x="26179" y="323850"/>
                    <a:pt x="58473" y="323850"/>
                  </a:cubicBezTo>
                  <a:lnTo>
                    <a:pt x="310356" y="323850"/>
                  </a:lnTo>
                  <a:cubicBezTo>
                    <a:pt x="317808" y="323850"/>
                    <a:pt x="323850" y="317808"/>
                    <a:pt x="323850" y="310356"/>
                  </a:cubicBezTo>
                  <a:cubicBezTo>
                    <a:pt x="323850" y="302904"/>
                    <a:pt x="317808" y="296863"/>
                    <a:pt x="310356" y="296863"/>
                  </a:cubicBezTo>
                  <a:lnTo>
                    <a:pt x="58473" y="296863"/>
                  </a:lnTo>
                  <a:cubicBezTo>
                    <a:pt x="41084" y="296863"/>
                    <a:pt x="26988" y="282766"/>
                    <a:pt x="26988" y="265377"/>
                  </a:cubicBezTo>
                  <a:lnTo>
                    <a:pt x="26988" y="13494"/>
                  </a:lnTo>
                  <a:close/>
                  <a:moveTo>
                    <a:pt x="211402" y="53975"/>
                  </a:moveTo>
                  <a:cubicBezTo>
                    <a:pt x="203950" y="53975"/>
                    <a:pt x="197908" y="60016"/>
                    <a:pt x="197908" y="67469"/>
                  </a:cubicBezTo>
                  <a:cubicBezTo>
                    <a:pt x="197908" y="74921"/>
                    <a:pt x="203950" y="80963"/>
                    <a:pt x="211402" y="80963"/>
                  </a:cubicBezTo>
                  <a:lnTo>
                    <a:pt x="268783" y="80963"/>
                  </a:lnTo>
                  <a:lnTo>
                    <a:pt x="184415" y="165331"/>
                  </a:lnTo>
                  <a:lnTo>
                    <a:pt x="148976" y="129894"/>
                  </a:lnTo>
                  <a:cubicBezTo>
                    <a:pt x="143707" y="124624"/>
                    <a:pt x="135164" y="124624"/>
                    <a:pt x="129894" y="129894"/>
                  </a:cubicBezTo>
                  <a:lnTo>
                    <a:pt x="62425" y="197363"/>
                  </a:lnTo>
                  <a:cubicBezTo>
                    <a:pt x="57156" y="202633"/>
                    <a:pt x="57156" y="211175"/>
                    <a:pt x="62425" y="216445"/>
                  </a:cubicBezTo>
                  <a:cubicBezTo>
                    <a:pt x="67695" y="221715"/>
                    <a:pt x="76239" y="221715"/>
                    <a:pt x="81508" y="216445"/>
                  </a:cubicBezTo>
                  <a:lnTo>
                    <a:pt x="139435" y="158519"/>
                  </a:lnTo>
                  <a:lnTo>
                    <a:pt x="174874" y="193956"/>
                  </a:lnTo>
                  <a:cubicBezTo>
                    <a:pt x="180143" y="199225"/>
                    <a:pt x="188686" y="199225"/>
                    <a:pt x="193956" y="193956"/>
                  </a:cubicBezTo>
                  <a:lnTo>
                    <a:pt x="287894" y="100019"/>
                  </a:lnTo>
                  <a:lnTo>
                    <a:pt x="287894" y="157517"/>
                  </a:lnTo>
                  <a:cubicBezTo>
                    <a:pt x="287894" y="164969"/>
                    <a:pt x="293935" y="171011"/>
                    <a:pt x="301387" y="171011"/>
                  </a:cubicBezTo>
                  <a:cubicBezTo>
                    <a:pt x="308841" y="171011"/>
                    <a:pt x="314881" y="164969"/>
                    <a:pt x="314881" y="157517"/>
                  </a:cubicBezTo>
                  <a:lnTo>
                    <a:pt x="314881" y="67469"/>
                  </a:lnTo>
                  <a:cubicBezTo>
                    <a:pt x="314881" y="60016"/>
                    <a:pt x="308840" y="53975"/>
                    <a:pt x="301387" y="53975"/>
                  </a:cubicBezTo>
                  <a:lnTo>
                    <a:pt x="211402" y="53975"/>
                  </a:ln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sp>
        <p:nvSpPr>
          <p:cNvPr id="156" name="TextBox 338">
            <a:extLst>
              <a:ext uri="{FF2B5EF4-FFF2-40B4-BE49-F238E27FC236}">
                <a16:creationId xmlns:a16="http://schemas.microsoft.com/office/drawing/2014/main" id="{45B3F0C5-FEDD-13BC-E02E-30B50D5DBFFD}"/>
              </a:ext>
            </a:extLst>
          </p:cNvPr>
          <p:cNvSpPr txBox="1"/>
          <p:nvPr/>
        </p:nvSpPr>
        <p:spPr>
          <a:xfrm>
            <a:off x="9734965" y="361579"/>
            <a:ext cx="1809268" cy="1692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mj-lt"/>
              </a:rPr>
              <a:t>Engineering</a:t>
            </a:r>
            <a:r>
              <a:rPr kumimoji="0" lang="en-US" sz="1100" b="0" i="0" u="none" strike="noStrike" kern="1200" cap="none" spc="0" normalizeH="0" baseline="0" noProof="0" dirty="0">
                <a:ln>
                  <a:noFill/>
                </a:ln>
                <a:solidFill>
                  <a:schemeClr val="tx2"/>
                </a:solidFill>
                <a:effectLst/>
                <a:uLnTx/>
                <a:uFillTx/>
                <a:latin typeface="+mj-lt"/>
              </a:rPr>
              <a:t> at-scale</a:t>
            </a:r>
          </a:p>
        </p:txBody>
      </p:sp>
      <p:sp>
        <p:nvSpPr>
          <p:cNvPr id="35" name="Title 34">
            <a:extLst>
              <a:ext uri="{FF2B5EF4-FFF2-40B4-BE49-F238E27FC236}">
                <a16:creationId xmlns:a16="http://schemas.microsoft.com/office/drawing/2014/main" id="{37C43EF2-D235-0446-A387-EB0730949E82}"/>
              </a:ext>
            </a:extLst>
          </p:cNvPr>
          <p:cNvSpPr>
            <a:spLocks noGrp="1"/>
          </p:cNvSpPr>
          <p:nvPr>
            <p:ph type="title"/>
          </p:nvPr>
        </p:nvSpPr>
        <p:spPr>
          <a:xfrm>
            <a:off x="588263" y="253200"/>
            <a:ext cx="3221883" cy="861774"/>
          </a:xfrm>
        </p:spPr>
        <p:txBody>
          <a:bodyPr/>
          <a:lstStyle/>
          <a:p>
            <a:r>
              <a:rPr lang="en-US" sz="2800" noProof="0" dirty="0">
                <a:solidFill>
                  <a:schemeClr val="bg1"/>
                </a:solidFill>
              </a:rPr>
              <a:t>Cloud Accelerate Factory Analytics</a:t>
            </a:r>
          </a:p>
        </p:txBody>
      </p:sp>
      <p:sp>
        <p:nvSpPr>
          <p:cNvPr id="121" name="Oval 120">
            <a:extLst>
              <a:ext uri="{FF2B5EF4-FFF2-40B4-BE49-F238E27FC236}">
                <a16:creationId xmlns:a16="http://schemas.microsoft.com/office/drawing/2014/main" id="{AA049288-5FD2-9217-6FFF-D94AE0559EB1}"/>
              </a:ext>
            </a:extLst>
          </p:cNvPr>
          <p:cNvSpPr/>
          <p:nvPr/>
        </p:nvSpPr>
        <p:spPr>
          <a:xfrm>
            <a:off x="588263" y="2882839"/>
            <a:ext cx="402842" cy="402842"/>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48" name="Graphic 252">
            <a:extLst>
              <a:ext uri="{FF2B5EF4-FFF2-40B4-BE49-F238E27FC236}">
                <a16:creationId xmlns:a16="http://schemas.microsoft.com/office/drawing/2014/main" id="{7F2517AA-3F2A-93DC-73C2-FFD58875787E}"/>
              </a:ext>
            </a:extLst>
          </p:cNvPr>
          <p:cNvSpPr/>
          <p:nvPr/>
        </p:nvSpPr>
        <p:spPr>
          <a:xfrm>
            <a:off x="674267" y="2968845"/>
            <a:ext cx="230834" cy="230832"/>
          </a:xfrm>
          <a:custGeom>
            <a:avLst/>
            <a:gdLst>
              <a:gd name="csX0" fmla="*/ 30641 w 95250"/>
              <a:gd name="csY0" fmla="*/ 50144 h 95250"/>
              <a:gd name="csX1" fmla="*/ 35957 w 95250"/>
              <a:gd name="csY1" fmla="*/ 47625 h 95250"/>
              <a:gd name="csX2" fmla="*/ 59293 w 95250"/>
              <a:gd name="csY2" fmla="*/ 47625 h 95250"/>
              <a:gd name="csX3" fmla="*/ 64609 w 95250"/>
              <a:gd name="csY3" fmla="*/ 50144 h 95250"/>
              <a:gd name="csX4" fmla="*/ 66675 w 95250"/>
              <a:gd name="csY4" fmla="*/ 55340 h 95250"/>
              <a:gd name="csX5" fmla="*/ 66675 w 95250"/>
              <a:gd name="csY5" fmla="*/ 56864 h 95250"/>
              <a:gd name="csX6" fmla="*/ 47625 w 95250"/>
              <a:gd name="csY6" fmla="*/ 71438 h 95250"/>
              <a:gd name="csX7" fmla="*/ 28575 w 95250"/>
              <a:gd name="csY7" fmla="*/ 56864 h 95250"/>
              <a:gd name="csX8" fmla="*/ 28575 w 95250"/>
              <a:gd name="csY8" fmla="*/ 55340 h 95250"/>
              <a:gd name="csX9" fmla="*/ 30641 w 95250"/>
              <a:gd name="csY9" fmla="*/ 50144 h 95250"/>
              <a:gd name="csX10" fmla="*/ 47625 w 95250"/>
              <a:gd name="csY10" fmla="*/ 38100 h 95250"/>
              <a:gd name="csX11" fmla="*/ 57150 w 95250"/>
              <a:gd name="csY11" fmla="*/ 28575 h 95250"/>
              <a:gd name="csX12" fmla="*/ 47625 w 95250"/>
              <a:gd name="csY12" fmla="*/ 19050 h 95250"/>
              <a:gd name="csX13" fmla="*/ 38100 w 95250"/>
              <a:gd name="csY13" fmla="*/ 28575 h 95250"/>
              <a:gd name="csX14" fmla="*/ 47625 w 95250"/>
              <a:gd name="csY14" fmla="*/ 38100 h 95250"/>
              <a:gd name="csX15" fmla="*/ 47625 w 95250"/>
              <a:gd name="csY15" fmla="*/ 95250 h 95250"/>
              <a:gd name="csX16" fmla="*/ 95250 w 95250"/>
              <a:gd name="csY16" fmla="*/ 47625 h 95250"/>
              <a:gd name="csX17" fmla="*/ 47625 w 95250"/>
              <a:gd name="csY17" fmla="*/ 0 h 95250"/>
              <a:gd name="csX18" fmla="*/ 0 w 95250"/>
              <a:gd name="csY18" fmla="*/ 47625 h 95250"/>
              <a:gd name="csX19" fmla="*/ 47625 w 95250"/>
              <a:gd name="csY19" fmla="*/ 95250 h 95250"/>
              <a:gd name="csX20" fmla="*/ 47625 w 95250"/>
              <a:gd name="csY20" fmla="*/ 85725 h 95250"/>
              <a:gd name="csX21" fmla="*/ 9525 w 95250"/>
              <a:gd name="csY21" fmla="*/ 47625 h 95250"/>
              <a:gd name="csX22" fmla="*/ 47625 w 95250"/>
              <a:gd name="csY22" fmla="*/ 9525 h 95250"/>
              <a:gd name="csX23" fmla="*/ 85725 w 95250"/>
              <a:gd name="csY23" fmla="*/ 47625 h 95250"/>
              <a:gd name="csX24" fmla="*/ 47625 w 95250"/>
              <a:gd name="csY24"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95250" h="95250">
                <a:moveTo>
                  <a:pt x="30641" y="50144"/>
                </a:moveTo>
                <a:cubicBezTo>
                  <a:pt x="31885" y="48745"/>
                  <a:pt x="33743" y="47625"/>
                  <a:pt x="35957" y="47625"/>
                </a:cubicBezTo>
                <a:lnTo>
                  <a:pt x="59293" y="47625"/>
                </a:lnTo>
                <a:cubicBezTo>
                  <a:pt x="61507" y="47625"/>
                  <a:pt x="63365" y="48745"/>
                  <a:pt x="64609" y="50144"/>
                </a:cubicBezTo>
                <a:cubicBezTo>
                  <a:pt x="65843" y="51532"/>
                  <a:pt x="66675" y="53412"/>
                  <a:pt x="66675" y="55340"/>
                </a:cubicBezTo>
                <a:lnTo>
                  <a:pt x="66675" y="56864"/>
                </a:lnTo>
                <a:cubicBezTo>
                  <a:pt x="66675" y="64648"/>
                  <a:pt x="58897" y="71438"/>
                  <a:pt x="47625" y="71438"/>
                </a:cubicBezTo>
                <a:cubicBezTo>
                  <a:pt x="36353" y="71438"/>
                  <a:pt x="28575" y="64648"/>
                  <a:pt x="28575" y="56864"/>
                </a:cubicBezTo>
                <a:lnTo>
                  <a:pt x="28575" y="55340"/>
                </a:lnTo>
                <a:cubicBezTo>
                  <a:pt x="28575" y="53412"/>
                  <a:pt x="29407" y="51532"/>
                  <a:pt x="30641" y="50144"/>
                </a:cubicBezTo>
                <a:close/>
                <a:moveTo>
                  <a:pt x="47625" y="38100"/>
                </a:moveTo>
                <a:cubicBezTo>
                  <a:pt x="52885" y="38100"/>
                  <a:pt x="57150" y="33835"/>
                  <a:pt x="57150" y="28575"/>
                </a:cubicBezTo>
                <a:cubicBezTo>
                  <a:pt x="57150" y="23315"/>
                  <a:pt x="52885" y="19050"/>
                  <a:pt x="47625" y="19050"/>
                </a:cubicBezTo>
                <a:cubicBezTo>
                  <a:pt x="42365" y="19050"/>
                  <a:pt x="38100" y="23315"/>
                  <a:pt x="38100" y="28575"/>
                </a:cubicBezTo>
                <a:cubicBezTo>
                  <a:pt x="38100" y="33835"/>
                  <a:pt x="42365" y="38100"/>
                  <a:pt x="47625" y="38100"/>
                </a:cubicBezTo>
                <a:close/>
                <a:moveTo>
                  <a:pt x="47625" y="95250"/>
                </a:moveTo>
                <a:cubicBezTo>
                  <a:pt x="73928" y="95250"/>
                  <a:pt x="95250" y="73928"/>
                  <a:pt x="95250" y="47625"/>
                </a:cubicBezTo>
                <a:cubicBezTo>
                  <a:pt x="95250" y="21322"/>
                  <a:pt x="73928" y="0"/>
                  <a:pt x="47625" y="0"/>
                </a:cubicBezTo>
                <a:cubicBezTo>
                  <a:pt x="21322" y="0"/>
                  <a:pt x="0" y="21322"/>
                  <a:pt x="0" y="47625"/>
                </a:cubicBezTo>
                <a:cubicBezTo>
                  <a:pt x="0" y="73928"/>
                  <a:pt x="21322" y="95250"/>
                  <a:pt x="47625" y="95250"/>
                </a:cubicBezTo>
                <a:close/>
                <a:moveTo>
                  <a:pt x="47625" y="85725"/>
                </a:moveTo>
                <a:cubicBezTo>
                  <a:pt x="26583" y="85725"/>
                  <a:pt x="9525" y="68667"/>
                  <a:pt x="9525" y="47625"/>
                </a:cubicBezTo>
                <a:cubicBezTo>
                  <a:pt x="9525" y="26583"/>
                  <a:pt x="26583" y="9525"/>
                  <a:pt x="47625" y="9525"/>
                </a:cubicBezTo>
                <a:cubicBezTo>
                  <a:pt x="68667" y="9525"/>
                  <a:pt x="85725" y="26583"/>
                  <a:pt x="85725" y="47625"/>
                </a:cubicBezTo>
                <a:cubicBezTo>
                  <a:pt x="85725" y="68667"/>
                  <a:pt x="68667" y="85725"/>
                  <a:pt x="47625" y="85725"/>
                </a:cubicBezTo>
                <a:close/>
              </a:path>
            </a:pathLst>
          </a:custGeom>
          <a:gradFill>
            <a:gsLst>
              <a:gs pos="0">
                <a:srgbClr val="0078D4"/>
              </a:gs>
              <a:gs pos="28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latin typeface="Segoe UI"/>
            </a:endParaRPr>
          </a:p>
        </p:txBody>
      </p:sp>
      <p:sp>
        <p:nvSpPr>
          <p:cNvPr id="150" name="Oval 149">
            <a:extLst>
              <a:ext uri="{FF2B5EF4-FFF2-40B4-BE49-F238E27FC236}">
                <a16:creationId xmlns:a16="http://schemas.microsoft.com/office/drawing/2014/main" id="{A4F956E4-0998-BCEB-8142-60861700BD39}"/>
              </a:ext>
              <a:ext uri="{C183D7F6-B498-43B3-948B-1728B52AA6E4}">
                <adec:decorative xmlns:adec="http://schemas.microsoft.com/office/drawing/2017/decorative" val="1"/>
              </a:ext>
            </a:extLst>
          </p:cNvPr>
          <p:cNvSpPr/>
          <p:nvPr/>
        </p:nvSpPr>
        <p:spPr>
          <a:xfrm>
            <a:off x="588263" y="4145768"/>
            <a:ext cx="403656" cy="403654"/>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51" name="Graphic 31" descr="Icon of a group of three people">
            <a:extLst>
              <a:ext uri="{FF2B5EF4-FFF2-40B4-BE49-F238E27FC236}">
                <a16:creationId xmlns:a16="http://schemas.microsoft.com/office/drawing/2014/main" id="{C45004CB-B97C-2975-4C0A-890A9FB51BAC}"/>
              </a:ext>
            </a:extLst>
          </p:cNvPr>
          <p:cNvSpPr/>
          <p:nvPr/>
        </p:nvSpPr>
        <p:spPr>
          <a:xfrm>
            <a:off x="670621" y="4245666"/>
            <a:ext cx="238941" cy="203859"/>
          </a:xfrm>
          <a:custGeom>
            <a:avLst/>
            <a:gdLst>
              <a:gd name="connsiteX0" fmla="*/ 198244 w 311045"/>
              <a:gd name="connsiteY0" fmla="*/ 186583 h 280014"/>
              <a:gd name="connsiteX1" fmla="*/ 225454 w 311045"/>
              <a:gd name="connsiteY1" fmla="*/ 213793 h 280014"/>
              <a:gd name="connsiteX2" fmla="*/ 225437 w 311045"/>
              <a:gd name="connsiteY2" fmla="*/ 228752 h 280014"/>
              <a:gd name="connsiteX3" fmla="*/ 156524 w 311045"/>
              <a:gd name="connsiteY3" fmla="*/ 280014 h 280014"/>
              <a:gd name="connsiteX4" fmla="*/ 85517 w 311045"/>
              <a:gd name="connsiteY4" fmla="*/ 229342 h 280014"/>
              <a:gd name="connsiteX5" fmla="*/ 85517 w 311045"/>
              <a:gd name="connsiteY5" fmla="*/ 213793 h 280014"/>
              <a:gd name="connsiteX6" fmla="*/ 112727 w 311045"/>
              <a:gd name="connsiteY6" fmla="*/ 186583 h 280014"/>
              <a:gd name="connsiteX7" fmla="*/ 198244 w 311045"/>
              <a:gd name="connsiteY7" fmla="*/ 186583 h 280014"/>
              <a:gd name="connsiteX8" fmla="*/ 198244 w 311045"/>
              <a:gd name="connsiteY8" fmla="*/ 209906 h 280014"/>
              <a:gd name="connsiteX9" fmla="*/ 112727 w 311045"/>
              <a:gd name="connsiteY9" fmla="*/ 209906 h 280014"/>
              <a:gd name="connsiteX10" fmla="*/ 108840 w 311045"/>
              <a:gd name="connsiteY10" fmla="*/ 213793 h 280014"/>
              <a:gd name="connsiteX11" fmla="*/ 108840 w 311045"/>
              <a:gd name="connsiteY11" fmla="*/ 229342 h 280014"/>
              <a:gd name="connsiteX12" fmla="*/ 156524 w 311045"/>
              <a:gd name="connsiteY12" fmla="*/ 256692 h 280014"/>
              <a:gd name="connsiteX13" fmla="*/ 202132 w 311045"/>
              <a:gd name="connsiteY13" fmla="*/ 229373 h 280014"/>
              <a:gd name="connsiteX14" fmla="*/ 202132 w 311045"/>
              <a:gd name="connsiteY14" fmla="*/ 213793 h 280014"/>
              <a:gd name="connsiteX15" fmla="*/ 198244 w 311045"/>
              <a:gd name="connsiteY15" fmla="*/ 209906 h 280014"/>
              <a:gd name="connsiteX16" fmla="*/ 27210 w 311045"/>
              <a:gd name="connsiteY16" fmla="*/ 108840 h 280014"/>
              <a:gd name="connsiteX17" fmla="*/ 95251 w 311045"/>
              <a:gd name="connsiteY17" fmla="*/ 108842 h 280014"/>
              <a:gd name="connsiteX18" fmla="*/ 93292 w 311045"/>
              <a:gd name="connsiteY18" fmla="*/ 124389 h 280014"/>
              <a:gd name="connsiteX19" fmla="*/ 93771 w 311045"/>
              <a:gd name="connsiteY19" fmla="*/ 132152 h 280014"/>
              <a:gd name="connsiteX20" fmla="*/ 27210 w 311045"/>
              <a:gd name="connsiteY20" fmla="*/ 132163 h 280014"/>
              <a:gd name="connsiteX21" fmla="*/ 23323 w 311045"/>
              <a:gd name="connsiteY21" fmla="*/ 136050 h 280014"/>
              <a:gd name="connsiteX22" fmla="*/ 23323 w 311045"/>
              <a:gd name="connsiteY22" fmla="*/ 151599 h 280014"/>
              <a:gd name="connsiteX23" fmla="*/ 71007 w 311045"/>
              <a:gd name="connsiteY23" fmla="*/ 178949 h 280014"/>
              <a:gd name="connsiteX24" fmla="*/ 89783 w 311045"/>
              <a:gd name="connsiteY24" fmla="*/ 177747 h 280014"/>
              <a:gd name="connsiteX25" fmla="*/ 71542 w 311045"/>
              <a:gd name="connsiteY25" fmla="*/ 202259 h 280014"/>
              <a:gd name="connsiteX26" fmla="*/ 71007 w 311045"/>
              <a:gd name="connsiteY26" fmla="*/ 202272 h 280014"/>
              <a:gd name="connsiteX27" fmla="*/ 0 w 311045"/>
              <a:gd name="connsiteY27" fmla="*/ 151599 h 280014"/>
              <a:gd name="connsiteX28" fmla="*/ 0 w 311045"/>
              <a:gd name="connsiteY28" fmla="*/ 136050 h 280014"/>
              <a:gd name="connsiteX29" fmla="*/ 27210 w 311045"/>
              <a:gd name="connsiteY29" fmla="*/ 108840 h 280014"/>
              <a:gd name="connsiteX30" fmla="*/ 283762 w 311045"/>
              <a:gd name="connsiteY30" fmla="*/ 108840 h 280014"/>
              <a:gd name="connsiteX31" fmla="*/ 310972 w 311045"/>
              <a:gd name="connsiteY31" fmla="*/ 136050 h 280014"/>
              <a:gd name="connsiteX32" fmla="*/ 310955 w 311045"/>
              <a:gd name="connsiteY32" fmla="*/ 151009 h 280014"/>
              <a:gd name="connsiteX33" fmla="*/ 242042 w 311045"/>
              <a:gd name="connsiteY33" fmla="*/ 202272 h 280014"/>
              <a:gd name="connsiteX34" fmla="*/ 239425 w 311045"/>
              <a:gd name="connsiteY34" fmla="*/ 202245 h 280014"/>
              <a:gd name="connsiteX35" fmla="*/ 220484 w 311045"/>
              <a:gd name="connsiteY35" fmla="*/ 177266 h 280014"/>
              <a:gd name="connsiteX36" fmla="*/ 242042 w 311045"/>
              <a:gd name="connsiteY36" fmla="*/ 178949 h 280014"/>
              <a:gd name="connsiteX37" fmla="*/ 287649 w 311045"/>
              <a:gd name="connsiteY37" fmla="*/ 151630 h 280014"/>
              <a:gd name="connsiteX38" fmla="*/ 287649 w 311045"/>
              <a:gd name="connsiteY38" fmla="*/ 136050 h 280014"/>
              <a:gd name="connsiteX39" fmla="*/ 283762 w 311045"/>
              <a:gd name="connsiteY39" fmla="*/ 132163 h 280014"/>
              <a:gd name="connsiteX40" fmla="*/ 217201 w 311045"/>
              <a:gd name="connsiteY40" fmla="*/ 132151 h 280014"/>
              <a:gd name="connsiteX41" fmla="*/ 217680 w 311045"/>
              <a:gd name="connsiteY41" fmla="*/ 124389 h 280014"/>
              <a:gd name="connsiteX42" fmla="*/ 215721 w 311045"/>
              <a:gd name="connsiteY42" fmla="*/ 108842 h 280014"/>
              <a:gd name="connsiteX43" fmla="*/ 283762 w 311045"/>
              <a:gd name="connsiteY43" fmla="*/ 108840 h 280014"/>
              <a:gd name="connsiteX44" fmla="*/ 155486 w 311045"/>
              <a:gd name="connsiteY44" fmla="*/ 77743 h 280014"/>
              <a:gd name="connsiteX45" fmla="*/ 202132 w 311045"/>
              <a:gd name="connsiteY45" fmla="*/ 124389 h 280014"/>
              <a:gd name="connsiteX46" fmla="*/ 155486 w 311045"/>
              <a:gd name="connsiteY46" fmla="*/ 171034 h 280014"/>
              <a:gd name="connsiteX47" fmla="*/ 108840 w 311045"/>
              <a:gd name="connsiteY47" fmla="*/ 124389 h 280014"/>
              <a:gd name="connsiteX48" fmla="*/ 155486 w 311045"/>
              <a:gd name="connsiteY48" fmla="*/ 77743 h 280014"/>
              <a:gd name="connsiteX49" fmla="*/ 155486 w 311045"/>
              <a:gd name="connsiteY49" fmla="*/ 101066 h 280014"/>
              <a:gd name="connsiteX50" fmla="*/ 132163 w 311045"/>
              <a:gd name="connsiteY50" fmla="*/ 124389 h 280014"/>
              <a:gd name="connsiteX51" fmla="*/ 155486 w 311045"/>
              <a:gd name="connsiteY51" fmla="*/ 147712 h 280014"/>
              <a:gd name="connsiteX52" fmla="*/ 178809 w 311045"/>
              <a:gd name="connsiteY52" fmla="*/ 124389 h 280014"/>
              <a:gd name="connsiteX53" fmla="*/ 155486 w 311045"/>
              <a:gd name="connsiteY53" fmla="*/ 101066 h 280014"/>
              <a:gd name="connsiteX54" fmla="*/ 69969 w 311045"/>
              <a:gd name="connsiteY54" fmla="*/ 0 h 280014"/>
              <a:gd name="connsiteX55" fmla="*/ 116614 w 311045"/>
              <a:gd name="connsiteY55" fmla="*/ 46646 h 280014"/>
              <a:gd name="connsiteX56" fmla="*/ 69969 w 311045"/>
              <a:gd name="connsiteY56" fmla="*/ 93292 h 280014"/>
              <a:gd name="connsiteX57" fmla="*/ 23323 w 311045"/>
              <a:gd name="connsiteY57" fmla="*/ 46646 h 280014"/>
              <a:gd name="connsiteX58" fmla="*/ 69969 w 311045"/>
              <a:gd name="connsiteY58" fmla="*/ 0 h 280014"/>
              <a:gd name="connsiteX59" fmla="*/ 241003 w 311045"/>
              <a:gd name="connsiteY59" fmla="*/ 0 h 280014"/>
              <a:gd name="connsiteX60" fmla="*/ 287649 w 311045"/>
              <a:gd name="connsiteY60" fmla="*/ 46646 h 280014"/>
              <a:gd name="connsiteX61" fmla="*/ 241003 w 311045"/>
              <a:gd name="connsiteY61" fmla="*/ 93292 h 280014"/>
              <a:gd name="connsiteX62" fmla="*/ 194357 w 311045"/>
              <a:gd name="connsiteY62" fmla="*/ 46646 h 280014"/>
              <a:gd name="connsiteX63" fmla="*/ 241003 w 311045"/>
              <a:gd name="connsiteY63" fmla="*/ 0 h 280014"/>
              <a:gd name="connsiteX64" fmla="*/ 69969 w 311045"/>
              <a:gd name="connsiteY64" fmla="*/ 23323 h 280014"/>
              <a:gd name="connsiteX65" fmla="*/ 46646 w 311045"/>
              <a:gd name="connsiteY65" fmla="*/ 46646 h 280014"/>
              <a:gd name="connsiteX66" fmla="*/ 69969 w 311045"/>
              <a:gd name="connsiteY66" fmla="*/ 69969 h 280014"/>
              <a:gd name="connsiteX67" fmla="*/ 93292 w 311045"/>
              <a:gd name="connsiteY67" fmla="*/ 46646 h 280014"/>
              <a:gd name="connsiteX68" fmla="*/ 69969 w 311045"/>
              <a:gd name="connsiteY68" fmla="*/ 23323 h 280014"/>
              <a:gd name="connsiteX69" fmla="*/ 241003 w 311045"/>
              <a:gd name="connsiteY69" fmla="*/ 23323 h 280014"/>
              <a:gd name="connsiteX70" fmla="*/ 217680 w 311045"/>
              <a:gd name="connsiteY70" fmla="*/ 46646 h 280014"/>
              <a:gd name="connsiteX71" fmla="*/ 241003 w 311045"/>
              <a:gd name="connsiteY71" fmla="*/ 69969 h 280014"/>
              <a:gd name="connsiteX72" fmla="*/ 264326 w 311045"/>
              <a:gd name="connsiteY72" fmla="*/ 46646 h 280014"/>
              <a:gd name="connsiteX73" fmla="*/ 241003 w 311045"/>
              <a:gd name="connsiteY73" fmla="*/ 23323 h 28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1045" h="280014">
                <a:moveTo>
                  <a:pt x="198244" y="186583"/>
                </a:moveTo>
                <a:cubicBezTo>
                  <a:pt x="213272" y="186583"/>
                  <a:pt x="225454" y="198765"/>
                  <a:pt x="225454" y="213793"/>
                </a:cubicBezTo>
                <a:lnTo>
                  <a:pt x="225437" y="228752"/>
                </a:lnTo>
                <a:cubicBezTo>
                  <a:pt x="227252" y="262790"/>
                  <a:pt x="201943" y="280014"/>
                  <a:pt x="156524" y="280014"/>
                </a:cubicBezTo>
                <a:cubicBezTo>
                  <a:pt x="111295" y="280014"/>
                  <a:pt x="85517" y="263070"/>
                  <a:pt x="85517" y="229342"/>
                </a:cubicBezTo>
                <a:lnTo>
                  <a:pt x="85517" y="213793"/>
                </a:lnTo>
                <a:cubicBezTo>
                  <a:pt x="85517" y="198765"/>
                  <a:pt x="97700" y="186583"/>
                  <a:pt x="112727" y="186583"/>
                </a:cubicBezTo>
                <a:lnTo>
                  <a:pt x="198244" y="186583"/>
                </a:lnTo>
                <a:close/>
                <a:moveTo>
                  <a:pt x="198244" y="209906"/>
                </a:moveTo>
                <a:lnTo>
                  <a:pt x="112727" y="209906"/>
                </a:lnTo>
                <a:cubicBezTo>
                  <a:pt x="110580" y="209906"/>
                  <a:pt x="108840" y="211646"/>
                  <a:pt x="108840" y="213793"/>
                </a:cubicBezTo>
                <a:lnTo>
                  <a:pt x="108840" y="229342"/>
                </a:lnTo>
                <a:cubicBezTo>
                  <a:pt x="108840" y="247630"/>
                  <a:pt x="122627" y="256692"/>
                  <a:pt x="156524" y="256692"/>
                </a:cubicBezTo>
                <a:cubicBezTo>
                  <a:pt x="190232" y="256692"/>
                  <a:pt x="203103" y="247930"/>
                  <a:pt x="202132" y="229373"/>
                </a:cubicBezTo>
                <a:lnTo>
                  <a:pt x="202132" y="213793"/>
                </a:lnTo>
                <a:cubicBezTo>
                  <a:pt x="202132" y="211646"/>
                  <a:pt x="200392" y="209906"/>
                  <a:pt x="198244" y="209906"/>
                </a:cubicBezTo>
                <a:close/>
                <a:moveTo>
                  <a:pt x="27210" y="108840"/>
                </a:moveTo>
                <a:lnTo>
                  <a:pt x="95251" y="108842"/>
                </a:lnTo>
                <a:cubicBezTo>
                  <a:pt x="93972" y="113811"/>
                  <a:pt x="93292" y="119020"/>
                  <a:pt x="93292" y="124389"/>
                </a:cubicBezTo>
                <a:cubicBezTo>
                  <a:pt x="93292" y="127018"/>
                  <a:pt x="93455" y="129610"/>
                  <a:pt x="93771" y="132152"/>
                </a:cubicBezTo>
                <a:lnTo>
                  <a:pt x="27210" y="132163"/>
                </a:lnTo>
                <a:cubicBezTo>
                  <a:pt x="25063" y="132163"/>
                  <a:pt x="23323" y="133903"/>
                  <a:pt x="23323" y="136050"/>
                </a:cubicBezTo>
                <a:lnTo>
                  <a:pt x="23323" y="151599"/>
                </a:lnTo>
                <a:cubicBezTo>
                  <a:pt x="23323" y="169887"/>
                  <a:pt x="37109" y="178949"/>
                  <a:pt x="71007" y="178949"/>
                </a:cubicBezTo>
                <a:cubicBezTo>
                  <a:pt x="78189" y="178949"/>
                  <a:pt x="84425" y="178552"/>
                  <a:pt x="89783" y="177747"/>
                </a:cubicBezTo>
                <a:cubicBezTo>
                  <a:pt x="80995" y="183313"/>
                  <a:pt x="74407" y="192009"/>
                  <a:pt x="71542" y="202259"/>
                </a:cubicBezTo>
                <a:lnTo>
                  <a:pt x="71007" y="202272"/>
                </a:lnTo>
                <a:cubicBezTo>
                  <a:pt x="25777" y="202272"/>
                  <a:pt x="0" y="185327"/>
                  <a:pt x="0" y="151599"/>
                </a:cubicBezTo>
                <a:lnTo>
                  <a:pt x="0" y="136050"/>
                </a:lnTo>
                <a:cubicBezTo>
                  <a:pt x="0" y="121022"/>
                  <a:pt x="12182" y="108840"/>
                  <a:pt x="27210" y="108840"/>
                </a:cubicBezTo>
                <a:close/>
                <a:moveTo>
                  <a:pt x="283762" y="108840"/>
                </a:moveTo>
                <a:cubicBezTo>
                  <a:pt x="298789" y="108840"/>
                  <a:pt x="310972" y="121022"/>
                  <a:pt x="310972" y="136050"/>
                </a:cubicBezTo>
                <a:lnTo>
                  <a:pt x="310955" y="151009"/>
                </a:lnTo>
                <a:cubicBezTo>
                  <a:pt x="312769" y="185047"/>
                  <a:pt x="287461" y="202272"/>
                  <a:pt x="242042" y="202272"/>
                </a:cubicBezTo>
                <a:lnTo>
                  <a:pt x="239425" y="202245"/>
                </a:lnTo>
                <a:cubicBezTo>
                  <a:pt x="236480" y="191717"/>
                  <a:pt x="229606" y="182831"/>
                  <a:pt x="220484" y="177266"/>
                </a:cubicBezTo>
                <a:cubicBezTo>
                  <a:pt x="226496" y="178394"/>
                  <a:pt x="233653" y="178949"/>
                  <a:pt x="242042" y="178949"/>
                </a:cubicBezTo>
                <a:cubicBezTo>
                  <a:pt x="275749" y="178949"/>
                  <a:pt x="288621" y="170187"/>
                  <a:pt x="287649" y="151630"/>
                </a:cubicBezTo>
                <a:lnTo>
                  <a:pt x="287649" y="136050"/>
                </a:lnTo>
                <a:cubicBezTo>
                  <a:pt x="287649" y="133903"/>
                  <a:pt x="285909" y="132163"/>
                  <a:pt x="283762" y="132163"/>
                </a:cubicBezTo>
                <a:lnTo>
                  <a:pt x="217201" y="132151"/>
                </a:lnTo>
                <a:cubicBezTo>
                  <a:pt x="217517" y="129608"/>
                  <a:pt x="217680" y="127018"/>
                  <a:pt x="217680" y="124389"/>
                </a:cubicBezTo>
                <a:cubicBezTo>
                  <a:pt x="217680" y="119020"/>
                  <a:pt x="217001" y="113811"/>
                  <a:pt x="215721" y="108842"/>
                </a:cubicBezTo>
                <a:lnTo>
                  <a:pt x="283762" y="108840"/>
                </a:lnTo>
                <a:close/>
                <a:moveTo>
                  <a:pt x="155486" y="77743"/>
                </a:moveTo>
                <a:cubicBezTo>
                  <a:pt x="181248" y="77743"/>
                  <a:pt x="202132" y="98627"/>
                  <a:pt x="202132" y="124389"/>
                </a:cubicBezTo>
                <a:cubicBezTo>
                  <a:pt x="202132" y="150151"/>
                  <a:pt x="181248" y="171034"/>
                  <a:pt x="155486" y="171034"/>
                </a:cubicBezTo>
                <a:cubicBezTo>
                  <a:pt x="129723" y="171034"/>
                  <a:pt x="108840" y="150151"/>
                  <a:pt x="108840" y="124389"/>
                </a:cubicBezTo>
                <a:cubicBezTo>
                  <a:pt x="108840" y="98627"/>
                  <a:pt x="129723" y="77743"/>
                  <a:pt x="155486" y="77743"/>
                </a:cubicBezTo>
                <a:close/>
                <a:moveTo>
                  <a:pt x="155486" y="101066"/>
                </a:moveTo>
                <a:cubicBezTo>
                  <a:pt x="142605" y="101066"/>
                  <a:pt x="132163" y="111508"/>
                  <a:pt x="132163" y="124389"/>
                </a:cubicBezTo>
                <a:cubicBezTo>
                  <a:pt x="132163" y="137269"/>
                  <a:pt x="142605" y="147712"/>
                  <a:pt x="155486" y="147712"/>
                </a:cubicBezTo>
                <a:cubicBezTo>
                  <a:pt x="168366" y="147712"/>
                  <a:pt x="178809" y="137269"/>
                  <a:pt x="178809" y="124389"/>
                </a:cubicBezTo>
                <a:cubicBezTo>
                  <a:pt x="178809" y="111508"/>
                  <a:pt x="168366" y="101066"/>
                  <a:pt x="155486" y="101066"/>
                </a:cubicBezTo>
                <a:close/>
                <a:moveTo>
                  <a:pt x="69969" y="0"/>
                </a:moveTo>
                <a:cubicBezTo>
                  <a:pt x="95730" y="0"/>
                  <a:pt x="116614" y="20884"/>
                  <a:pt x="116614" y="46646"/>
                </a:cubicBezTo>
                <a:cubicBezTo>
                  <a:pt x="116614" y="72407"/>
                  <a:pt x="95730" y="93292"/>
                  <a:pt x="69969" y="93292"/>
                </a:cubicBezTo>
                <a:cubicBezTo>
                  <a:pt x="44207" y="93292"/>
                  <a:pt x="23323" y="72407"/>
                  <a:pt x="23323" y="46646"/>
                </a:cubicBezTo>
                <a:cubicBezTo>
                  <a:pt x="23323" y="20884"/>
                  <a:pt x="44207" y="0"/>
                  <a:pt x="69969" y="0"/>
                </a:cubicBezTo>
                <a:close/>
                <a:moveTo>
                  <a:pt x="241003" y="0"/>
                </a:moveTo>
                <a:cubicBezTo>
                  <a:pt x="266766" y="0"/>
                  <a:pt x="287649" y="20884"/>
                  <a:pt x="287649" y="46646"/>
                </a:cubicBezTo>
                <a:cubicBezTo>
                  <a:pt x="287649" y="72407"/>
                  <a:pt x="266766" y="93292"/>
                  <a:pt x="241003" y="93292"/>
                </a:cubicBezTo>
                <a:cubicBezTo>
                  <a:pt x="215241" y="93292"/>
                  <a:pt x="194357" y="72407"/>
                  <a:pt x="194357" y="46646"/>
                </a:cubicBezTo>
                <a:cubicBezTo>
                  <a:pt x="194357" y="20884"/>
                  <a:pt x="215241" y="0"/>
                  <a:pt x="241003" y="0"/>
                </a:cubicBezTo>
                <a:close/>
                <a:moveTo>
                  <a:pt x="69969" y="23323"/>
                </a:moveTo>
                <a:cubicBezTo>
                  <a:pt x="57088" y="23323"/>
                  <a:pt x="46646" y="33765"/>
                  <a:pt x="46646" y="46646"/>
                </a:cubicBezTo>
                <a:cubicBezTo>
                  <a:pt x="46646" y="59527"/>
                  <a:pt x="57088" y="69969"/>
                  <a:pt x="69969" y="69969"/>
                </a:cubicBezTo>
                <a:cubicBezTo>
                  <a:pt x="82850" y="69969"/>
                  <a:pt x="93292" y="59527"/>
                  <a:pt x="93292" y="46646"/>
                </a:cubicBezTo>
                <a:cubicBezTo>
                  <a:pt x="93292" y="33765"/>
                  <a:pt x="82850" y="23323"/>
                  <a:pt x="69969" y="23323"/>
                </a:cubicBezTo>
                <a:close/>
                <a:moveTo>
                  <a:pt x="241003" y="23323"/>
                </a:moveTo>
                <a:cubicBezTo>
                  <a:pt x="228123" y="23323"/>
                  <a:pt x="217680" y="33765"/>
                  <a:pt x="217680" y="46646"/>
                </a:cubicBezTo>
                <a:cubicBezTo>
                  <a:pt x="217680" y="59527"/>
                  <a:pt x="228123" y="69969"/>
                  <a:pt x="241003" y="69969"/>
                </a:cubicBezTo>
                <a:cubicBezTo>
                  <a:pt x="253883" y="69969"/>
                  <a:pt x="264326" y="59527"/>
                  <a:pt x="264326" y="46646"/>
                </a:cubicBezTo>
                <a:cubicBezTo>
                  <a:pt x="264326" y="33765"/>
                  <a:pt x="253883" y="23323"/>
                  <a:pt x="241003" y="23323"/>
                </a:cubicBez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latin typeface="Segoe UI"/>
            </a:endParaRPr>
          </a:p>
        </p:txBody>
      </p:sp>
      <p:sp>
        <p:nvSpPr>
          <p:cNvPr id="155" name="TextBox 338">
            <a:extLst>
              <a:ext uri="{FF2B5EF4-FFF2-40B4-BE49-F238E27FC236}">
                <a16:creationId xmlns:a16="http://schemas.microsoft.com/office/drawing/2014/main" id="{C37E2A40-A456-41FB-4206-4F5B7850B4C2}"/>
              </a:ext>
            </a:extLst>
          </p:cNvPr>
          <p:cNvSpPr txBox="1"/>
          <p:nvPr/>
        </p:nvSpPr>
        <p:spPr>
          <a:xfrm>
            <a:off x="1103512" y="4232179"/>
            <a:ext cx="1724575"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Customer resources</a:t>
            </a:r>
          </a:p>
        </p:txBody>
      </p:sp>
      <p:sp>
        <p:nvSpPr>
          <p:cNvPr id="2" name="Rectangle: Rounded Corners 1">
            <a:extLst>
              <a:ext uri="{FF2B5EF4-FFF2-40B4-BE49-F238E27FC236}">
                <a16:creationId xmlns:a16="http://schemas.microsoft.com/office/drawing/2014/main" id="{2D828FC1-5AF7-7F44-2EF7-593289E7ADA7}"/>
              </a:ext>
            </a:extLst>
          </p:cNvPr>
          <p:cNvSpPr/>
          <p:nvPr/>
        </p:nvSpPr>
        <p:spPr>
          <a:xfrm>
            <a:off x="4287899" y="4551166"/>
            <a:ext cx="7361125" cy="255552"/>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Cloud Accelerate Factory: Outline of typical three to six-week project</a:t>
            </a:r>
          </a:p>
        </p:txBody>
      </p:sp>
      <p:sp>
        <p:nvSpPr>
          <p:cNvPr id="3" name="Rectangle 2">
            <a:extLst>
              <a:ext uri="{FF2B5EF4-FFF2-40B4-BE49-F238E27FC236}">
                <a16:creationId xmlns:a16="http://schemas.microsoft.com/office/drawing/2014/main" id="{41053593-3756-C0F8-48F2-5DCC5362BAC4}"/>
              </a:ext>
            </a:extLst>
          </p:cNvPr>
          <p:cNvSpPr>
            <a:spLocks/>
          </p:cNvSpPr>
          <p:nvPr/>
        </p:nvSpPr>
        <p:spPr>
          <a:xfrm>
            <a:off x="4587915" y="4978629"/>
            <a:ext cx="2351985" cy="135776"/>
          </a:xfrm>
          <a:prstGeom prst="rect">
            <a:avLst/>
          </a:prstGeom>
          <a:noFill/>
          <a:ln>
            <a:noFill/>
          </a:ln>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50" noProof="0" dirty="0">
                <a:solidFill>
                  <a:schemeClr val="tx2"/>
                </a:solidFill>
                <a:latin typeface="Segoe Sans Display Semibold"/>
                <a:cs typeface="Segoe Sans Display Semibold"/>
              </a:rPr>
              <a:t>Validation of migration feasibility</a:t>
            </a:r>
          </a:p>
        </p:txBody>
      </p:sp>
      <p:sp>
        <p:nvSpPr>
          <p:cNvPr id="4" name="Rectangle 3">
            <a:extLst>
              <a:ext uri="{FF2B5EF4-FFF2-40B4-BE49-F238E27FC236}">
                <a16:creationId xmlns:a16="http://schemas.microsoft.com/office/drawing/2014/main" id="{1DE22E53-548A-E632-65D7-12917166370D}"/>
              </a:ext>
            </a:extLst>
          </p:cNvPr>
          <p:cNvSpPr>
            <a:spLocks/>
          </p:cNvSpPr>
          <p:nvPr/>
        </p:nvSpPr>
        <p:spPr>
          <a:xfrm>
            <a:off x="7278631" y="4978629"/>
            <a:ext cx="3697233" cy="135776"/>
          </a:xfrm>
          <a:prstGeom prst="rect">
            <a:avLst/>
          </a:prstGeom>
          <a:noFill/>
          <a:ln>
            <a:noFill/>
          </a:ln>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50" noProof="0" dirty="0">
                <a:solidFill>
                  <a:schemeClr val="tx2"/>
                </a:solidFill>
                <a:latin typeface="Segoe Sans Display Semibold"/>
                <a:cs typeface="Segoe Sans Display Semibold"/>
              </a:rPr>
              <a:t>Execution phase of SKU migration</a:t>
            </a:r>
          </a:p>
        </p:txBody>
      </p:sp>
      <p:sp>
        <p:nvSpPr>
          <p:cNvPr id="5" name="Rectangle 4">
            <a:extLst>
              <a:ext uri="{FF2B5EF4-FFF2-40B4-BE49-F238E27FC236}">
                <a16:creationId xmlns:a16="http://schemas.microsoft.com/office/drawing/2014/main" id="{479CF3C5-C30C-79D8-EB0F-DED0E3E36B34}"/>
              </a:ext>
            </a:extLst>
          </p:cNvPr>
          <p:cNvSpPr>
            <a:spLocks/>
          </p:cNvSpPr>
          <p:nvPr/>
        </p:nvSpPr>
        <p:spPr>
          <a:xfrm>
            <a:off x="4188653" y="5293308"/>
            <a:ext cx="1001360" cy="211083"/>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686" noProof="0" dirty="0">
                <a:solidFill>
                  <a:srgbClr val="000000"/>
                </a:solidFill>
                <a:latin typeface="Segoe Sans Display Semibold" pitchFamily="2" charset="0"/>
                <a:ea typeface="Segoe UI Historic" panose="020B0502040204020203" pitchFamily="34" charset="0"/>
                <a:cs typeface="Segoe Sans Display Semibold" pitchFamily="2" charset="0"/>
              </a:rPr>
              <a:t>Validate account readiness</a:t>
            </a:r>
          </a:p>
        </p:txBody>
      </p:sp>
      <p:sp>
        <p:nvSpPr>
          <p:cNvPr id="8" name="Rectangle 7">
            <a:extLst>
              <a:ext uri="{FF2B5EF4-FFF2-40B4-BE49-F238E27FC236}">
                <a16:creationId xmlns:a16="http://schemas.microsoft.com/office/drawing/2014/main" id="{06A4B319-F9C4-17E5-7B8A-C36F8ADECA9C}"/>
              </a:ext>
            </a:extLst>
          </p:cNvPr>
          <p:cNvSpPr>
            <a:spLocks/>
          </p:cNvSpPr>
          <p:nvPr/>
        </p:nvSpPr>
        <p:spPr>
          <a:xfrm>
            <a:off x="5265155" y="5307358"/>
            <a:ext cx="1001360" cy="105542"/>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686" noProof="0" dirty="0">
                <a:solidFill>
                  <a:srgbClr val="000000"/>
                </a:solidFill>
                <a:latin typeface="Segoe Sans Display Semibold" pitchFamily="2" charset="0"/>
                <a:ea typeface="Segoe UI Historic" panose="020B0502040204020203" pitchFamily="34" charset="0"/>
                <a:cs typeface="Segoe Sans Display Semibold" pitchFamily="2" charset="0"/>
              </a:rPr>
              <a:t>Plan migration</a:t>
            </a:r>
          </a:p>
        </p:txBody>
      </p:sp>
      <p:sp>
        <p:nvSpPr>
          <p:cNvPr id="9" name="Rectangle 8">
            <a:extLst>
              <a:ext uri="{FF2B5EF4-FFF2-40B4-BE49-F238E27FC236}">
                <a16:creationId xmlns:a16="http://schemas.microsoft.com/office/drawing/2014/main" id="{EC1C3EAF-CE33-65AB-3051-BBDF67C4EEE9}"/>
              </a:ext>
            </a:extLst>
          </p:cNvPr>
          <p:cNvSpPr>
            <a:spLocks/>
          </p:cNvSpPr>
          <p:nvPr/>
        </p:nvSpPr>
        <p:spPr>
          <a:xfrm>
            <a:off x="6341658" y="5326608"/>
            <a:ext cx="1001360" cy="105542"/>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686" noProof="0" dirty="0">
                <a:solidFill>
                  <a:srgbClr val="000000"/>
                </a:solidFill>
                <a:latin typeface="Segoe Sans Display Semibold" pitchFamily="2" charset="0"/>
                <a:ea typeface="Segoe UI Historic" panose="020B0502040204020203" pitchFamily="34" charset="0"/>
                <a:cs typeface="Segoe Sans Display Semibold" pitchFamily="2" charset="0"/>
              </a:rPr>
              <a:t>Access to resources</a:t>
            </a:r>
          </a:p>
        </p:txBody>
      </p:sp>
      <p:sp>
        <p:nvSpPr>
          <p:cNvPr id="11" name="Rectangle 10">
            <a:extLst>
              <a:ext uri="{FF2B5EF4-FFF2-40B4-BE49-F238E27FC236}">
                <a16:creationId xmlns:a16="http://schemas.microsoft.com/office/drawing/2014/main" id="{3F7BF35C-BADA-26A0-D405-95E7B59CF46F}"/>
              </a:ext>
            </a:extLst>
          </p:cNvPr>
          <p:cNvSpPr>
            <a:spLocks/>
          </p:cNvSpPr>
          <p:nvPr/>
        </p:nvSpPr>
        <p:spPr>
          <a:xfrm>
            <a:off x="7418162" y="5235558"/>
            <a:ext cx="1001360" cy="276999"/>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600" noProof="0" dirty="0">
                <a:solidFill>
                  <a:srgbClr val="000000"/>
                </a:solidFill>
                <a:latin typeface="Segoe Sans Display Semibold" pitchFamily="2" charset="0"/>
                <a:ea typeface="Segoe UI Historic" panose="020B0502040204020203" pitchFamily="34" charset="0"/>
                <a:cs typeface="Segoe Sans Display Semibold" pitchFamily="2" charset="0"/>
              </a:rPr>
              <a:t>Discover, assess and baseline existing architecture</a:t>
            </a:r>
          </a:p>
        </p:txBody>
      </p:sp>
      <p:sp>
        <p:nvSpPr>
          <p:cNvPr id="15" name="Rectangle 14">
            <a:extLst>
              <a:ext uri="{FF2B5EF4-FFF2-40B4-BE49-F238E27FC236}">
                <a16:creationId xmlns:a16="http://schemas.microsoft.com/office/drawing/2014/main" id="{C5EB59C9-5A06-7D66-7F7B-64E663C7DF42}"/>
              </a:ext>
            </a:extLst>
          </p:cNvPr>
          <p:cNvSpPr>
            <a:spLocks/>
          </p:cNvSpPr>
          <p:nvPr/>
        </p:nvSpPr>
        <p:spPr>
          <a:xfrm>
            <a:off x="8447805" y="5256528"/>
            <a:ext cx="1001360" cy="2110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686" noProof="0" dirty="0">
                <a:solidFill>
                  <a:srgbClr val="000000"/>
                </a:solidFill>
                <a:latin typeface="Segoe Sans Display Semibold" pitchFamily="2" charset="0"/>
                <a:ea typeface="Segoe UI Historic" panose="020B0502040204020203" pitchFamily="34" charset="0"/>
                <a:cs typeface="Segoe Sans Display Semibold" pitchFamily="2" charset="0"/>
              </a:rPr>
              <a:t>Prepare detailed migration plan</a:t>
            </a:r>
          </a:p>
        </p:txBody>
      </p:sp>
      <p:sp>
        <p:nvSpPr>
          <p:cNvPr id="16" name="Rectangle 15">
            <a:extLst>
              <a:ext uri="{FF2B5EF4-FFF2-40B4-BE49-F238E27FC236}">
                <a16:creationId xmlns:a16="http://schemas.microsoft.com/office/drawing/2014/main" id="{4C21B064-7F03-C8DE-DB75-8132336E60F5}"/>
              </a:ext>
            </a:extLst>
          </p:cNvPr>
          <p:cNvSpPr>
            <a:spLocks/>
          </p:cNvSpPr>
          <p:nvPr/>
        </p:nvSpPr>
        <p:spPr>
          <a:xfrm>
            <a:off x="9551436" y="5246943"/>
            <a:ext cx="1001360" cy="211083"/>
          </a:xfrm>
          <a:prstGeom prst="rect">
            <a:avLst/>
          </a:prstGeom>
          <a:noFill/>
          <a:ln>
            <a:noFill/>
          </a:ln>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686" noProof="0" dirty="0">
                <a:solidFill>
                  <a:srgbClr val="000000"/>
                </a:solidFill>
                <a:latin typeface="Segoe Sans Display Semibold" pitchFamily="2" charset="0"/>
                <a:ea typeface="Segoe UI Historic" panose="020B0502040204020203" pitchFamily="34" charset="0"/>
                <a:cs typeface="Segoe Sans Display Semibold" pitchFamily="2" charset="0"/>
              </a:rPr>
              <a:t>Migration of workspaces into Fabric Capacity</a:t>
            </a:r>
          </a:p>
        </p:txBody>
      </p:sp>
      <p:sp>
        <p:nvSpPr>
          <p:cNvPr id="18" name="Rectangle 17">
            <a:extLst>
              <a:ext uri="{FF2B5EF4-FFF2-40B4-BE49-F238E27FC236}">
                <a16:creationId xmlns:a16="http://schemas.microsoft.com/office/drawing/2014/main" id="{35BA50BC-8FDC-B24C-F570-810C4BE808A0}"/>
              </a:ext>
            </a:extLst>
          </p:cNvPr>
          <p:cNvSpPr>
            <a:spLocks/>
          </p:cNvSpPr>
          <p:nvPr/>
        </p:nvSpPr>
        <p:spPr>
          <a:xfrm>
            <a:off x="10647665" y="5293308"/>
            <a:ext cx="1001360" cy="21108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686" noProof="0" dirty="0">
                <a:solidFill>
                  <a:srgbClr val="000000"/>
                </a:solidFill>
                <a:latin typeface="Segoe Sans Display Semibold" pitchFamily="2" charset="0"/>
                <a:ea typeface="Segoe UI Historic" panose="020B0502040204020203" pitchFamily="34" charset="0"/>
                <a:cs typeface="Segoe Sans Display Semibold" pitchFamily="2" charset="0"/>
              </a:rPr>
              <a:t>Validation of migrated workspaces</a:t>
            </a:r>
          </a:p>
        </p:txBody>
      </p:sp>
      <p:sp>
        <p:nvSpPr>
          <p:cNvPr id="98" name="Oval 97">
            <a:extLst>
              <a:ext uri="{FF2B5EF4-FFF2-40B4-BE49-F238E27FC236}">
                <a16:creationId xmlns:a16="http://schemas.microsoft.com/office/drawing/2014/main" id="{2D5BFBB3-D87D-8C74-2E04-46A68AFB9255}"/>
              </a:ext>
              <a:ext uri="{C183D7F6-B498-43B3-948B-1728B52AA6E4}">
                <adec:decorative xmlns:adec="http://schemas.microsoft.com/office/drawing/2017/decorative" val="1"/>
              </a:ext>
            </a:extLst>
          </p:cNvPr>
          <p:cNvSpPr/>
          <p:nvPr/>
        </p:nvSpPr>
        <p:spPr>
          <a:xfrm>
            <a:off x="10959379" y="5778663"/>
            <a:ext cx="353379" cy="353379"/>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0000"/>
              </a:solidFill>
              <a:effectLst/>
              <a:uLnTx/>
              <a:uFillTx/>
              <a:latin typeface="Segoe Sans Text Semilight"/>
              <a:ea typeface="+mn-ea"/>
              <a:cs typeface="+mn-cs"/>
            </a:endParaRPr>
          </a:p>
        </p:txBody>
      </p:sp>
      <p:grpSp>
        <p:nvGrpSpPr>
          <p:cNvPr id="213" name="Group 212">
            <a:extLst>
              <a:ext uri="{FF2B5EF4-FFF2-40B4-BE49-F238E27FC236}">
                <a16:creationId xmlns:a16="http://schemas.microsoft.com/office/drawing/2014/main" id="{8FCCAA4F-762F-2F67-8848-CFE7A623D2D2}"/>
              </a:ext>
            </a:extLst>
          </p:cNvPr>
          <p:cNvGrpSpPr/>
          <p:nvPr/>
        </p:nvGrpSpPr>
        <p:grpSpPr>
          <a:xfrm>
            <a:off x="11052800" y="5839548"/>
            <a:ext cx="354090" cy="354090"/>
            <a:chOff x="10959024" y="5778307"/>
            <a:chExt cx="354090" cy="354090"/>
          </a:xfrm>
        </p:grpSpPr>
        <p:sp>
          <p:nvSpPr>
            <p:cNvPr id="96" name="Oval 95">
              <a:extLst>
                <a:ext uri="{FF2B5EF4-FFF2-40B4-BE49-F238E27FC236}">
                  <a16:creationId xmlns:a16="http://schemas.microsoft.com/office/drawing/2014/main" id="{5DE73E89-36A0-996F-6528-BF346C218A5A}"/>
                </a:ext>
                <a:ext uri="{C183D7F6-B498-43B3-948B-1728B52AA6E4}">
                  <adec:decorative xmlns:adec="http://schemas.microsoft.com/office/drawing/2017/decorative" val="1"/>
                </a:ext>
              </a:extLst>
            </p:cNvPr>
            <p:cNvSpPr/>
            <p:nvPr/>
          </p:nvSpPr>
          <p:spPr>
            <a:xfrm>
              <a:off x="10959024" y="5778307"/>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solidFill>
                  <a:srgbClr val="225B61"/>
                </a:solidFill>
                <a:effectLst/>
                <a:uLnTx/>
                <a:uFillTx/>
                <a:latin typeface="Segoe Sans Display"/>
                <a:ea typeface="+mn-ea"/>
                <a:cs typeface="Segoe Sans Display Semibold" pitchFamily="2" charset="0"/>
              </a:endParaRPr>
            </a:p>
          </p:txBody>
        </p:sp>
        <p:pic>
          <p:nvPicPr>
            <p:cNvPr id="99" name="Picture 98">
              <a:extLst>
                <a:ext uri="{FF2B5EF4-FFF2-40B4-BE49-F238E27FC236}">
                  <a16:creationId xmlns:a16="http://schemas.microsoft.com/office/drawing/2014/main" id="{B1364939-486C-A479-AFFD-38CEF2C8F5D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28589" y="5829392"/>
              <a:ext cx="219346" cy="235594"/>
            </a:xfrm>
            <a:prstGeom prst="rect">
              <a:avLst/>
            </a:prstGeom>
          </p:spPr>
        </p:pic>
      </p:grpSp>
      <p:sp>
        <p:nvSpPr>
          <p:cNvPr id="122" name="Arrow: Pentagon 121">
            <a:extLst>
              <a:ext uri="{FF2B5EF4-FFF2-40B4-BE49-F238E27FC236}">
                <a16:creationId xmlns:a16="http://schemas.microsoft.com/office/drawing/2014/main" id="{4BB91E82-24C0-134B-CDA7-3FA91A7B00C6}"/>
              </a:ext>
            </a:extLst>
          </p:cNvPr>
          <p:cNvSpPr/>
          <p:nvPr/>
        </p:nvSpPr>
        <p:spPr bwMode="auto">
          <a:xfrm>
            <a:off x="4287898" y="6339445"/>
            <a:ext cx="2010421" cy="268663"/>
          </a:xfrm>
          <a:prstGeom prst="homePlate">
            <a:avLst/>
          </a:prstGeom>
          <a:solidFill>
            <a:srgbClr val="41B8A4"/>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kern="0" noProof="0" dirty="0">
                <a:solidFill>
                  <a:schemeClr val="bg1"/>
                </a:solidFill>
                <a:latin typeface="+mj-lt"/>
                <a:ea typeface="+mj-ea"/>
                <a:cs typeface="+mj-cs"/>
              </a:rPr>
              <a:t>Tech PM/Corp Factory Team lead (CSA) </a:t>
            </a:r>
          </a:p>
        </p:txBody>
      </p:sp>
      <p:sp>
        <p:nvSpPr>
          <p:cNvPr id="124" name="Arrow: Chevron 123">
            <a:extLst>
              <a:ext uri="{FF2B5EF4-FFF2-40B4-BE49-F238E27FC236}">
                <a16:creationId xmlns:a16="http://schemas.microsoft.com/office/drawing/2014/main" id="{B81C86BB-FBA7-67CC-6743-C311522CD67E}"/>
              </a:ext>
            </a:extLst>
          </p:cNvPr>
          <p:cNvSpPr/>
          <p:nvPr/>
        </p:nvSpPr>
        <p:spPr bwMode="auto">
          <a:xfrm>
            <a:off x="6215120" y="6341537"/>
            <a:ext cx="4419747" cy="258490"/>
          </a:xfrm>
          <a:prstGeom prst="chevron">
            <a:avLst/>
          </a:prstGeom>
          <a:solidFill>
            <a:srgbClr val="41B8A4"/>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Factory team</a:t>
            </a:r>
          </a:p>
        </p:txBody>
      </p:sp>
      <p:sp>
        <p:nvSpPr>
          <p:cNvPr id="128" name="Arrow: Chevron 127">
            <a:extLst>
              <a:ext uri="{FF2B5EF4-FFF2-40B4-BE49-F238E27FC236}">
                <a16:creationId xmlns:a16="http://schemas.microsoft.com/office/drawing/2014/main" id="{F1EA7895-4820-A3D0-E9E6-8322E766E13E}"/>
              </a:ext>
            </a:extLst>
          </p:cNvPr>
          <p:cNvSpPr/>
          <p:nvPr/>
        </p:nvSpPr>
        <p:spPr bwMode="auto">
          <a:xfrm>
            <a:off x="10551667" y="6331365"/>
            <a:ext cx="1126637" cy="268661"/>
          </a:xfrm>
          <a:prstGeom prst="chevron">
            <a:avLst/>
          </a:prstGeom>
          <a:solidFill>
            <a:srgbClr val="41B8A4"/>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kern="0" noProof="0" dirty="0">
                <a:solidFill>
                  <a:schemeClr val="bg1"/>
                </a:solidFill>
                <a:latin typeface="+mj-lt"/>
                <a:ea typeface="+mj-ea"/>
                <a:cs typeface="+mj-cs"/>
              </a:rPr>
              <a:t>CUST Approve</a:t>
            </a:r>
          </a:p>
        </p:txBody>
      </p:sp>
      <p:sp>
        <p:nvSpPr>
          <p:cNvPr id="144" name="TextBox 143">
            <a:extLst>
              <a:ext uri="{FF2B5EF4-FFF2-40B4-BE49-F238E27FC236}">
                <a16:creationId xmlns:a16="http://schemas.microsoft.com/office/drawing/2014/main" id="{220DC9F9-DE7A-041F-4E2E-31D4087CE152}"/>
              </a:ext>
            </a:extLst>
          </p:cNvPr>
          <p:cNvSpPr txBox="1"/>
          <p:nvPr/>
        </p:nvSpPr>
        <p:spPr>
          <a:xfrm>
            <a:off x="4407150" y="5592413"/>
            <a:ext cx="237566"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1</a:t>
            </a:r>
          </a:p>
        </p:txBody>
      </p:sp>
      <p:sp>
        <p:nvSpPr>
          <p:cNvPr id="157" name="TextBox 156">
            <a:extLst>
              <a:ext uri="{FF2B5EF4-FFF2-40B4-BE49-F238E27FC236}">
                <a16:creationId xmlns:a16="http://schemas.microsoft.com/office/drawing/2014/main" id="{4E1B9DFC-1353-A65E-0F83-FB8A4CDF0AEB}"/>
              </a:ext>
            </a:extLst>
          </p:cNvPr>
          <p:cNvSpPr txBox="1"/>
          <p:nvPr/>
        </p:nvSpPr>
        <p:spPr>
          <a:xfrm>
            <a:off x="5514851"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2</a:t>
            </a:r>
          </a:p>
        </p:txBody>
      </p:sp>
      <p:sp>
        <p:nvSpPr>
          <p:cNvPr id="159" name="TextBox 158">
            <a:extLst>
              <a:ext uri="{FF2B5EF4-FFF2-40B4-BE49-F238E27FC236}">
                <a16:creationId xmlns:a16="http://schemas.microsoft.com/office/drawing/2014/main" id="{CD7ED482-C2B4-9060-305C-24B10B0BB098}"/>
              </a:ext>
            </a:extLst>
          </p:cNvPr>
          <p:cNvSpPr txBox="1"/>
          <p:nvPr/>
        </p:nvSpPr>
        <p:spPr>
          <a:xfrm>
            <a:off x="6632170"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3</a:t>
            </a:r>
          </a:p>
        </p:txBody>
      </p:sp>
      <p:sp>
        <p:nvSpPr>
          <p:cNvPr id="163" name="TextBox 162">
            <a:extLst>
              <a:ext uri="{FF2B5EF4-FFF2-40B4-BE49-F238E27FC236}">
                <a16:creationId xmlns:a16="http://schemas.microsoft.com/office/drawing/2014/main" id="{74D3E85D-C3C6-6DAF-D731-C70726726CA4}"/>
              </a:ext>
            </a:extLst>
          </p:cNvPr>
          <p:cNvSpPr txBox="1"/>
          <p:nvPr/>
        </p:nvSpPr>
        <p:spPr>
          <a:xfrm>
            <a:off x="7749489"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4</a:t>
            </a:r>
          </a:p>
        </p:txBody>
      </p:sp>
      <p:sp>
        <p:nvSpPr>
          <p:cNvPr id="164" name="TextBox 163">
            <a:extLst>
              <a:ext uri="{FF2B5EF4-FFF2-40B4-BE49-F238E27FC236}">
                <a16:creationId xmlns:a16="http://schemas.microsoft.com/office/drawing/2014/main" id="{E96E45ED-F6C8-C532-C61F-C8FDCC972772}"/>
              </a:ext>
            </a:extLst>
          </p:cNvPr>
          <p:cNvSpPr txBox="1"/>
          <p:nvPr/>
        </p:nvSpPr>
        <p:spPr>
          <a:xfrm>
            <a:off x="8866808"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5</a:t>
            </a:r>
          </a:p>
        </p:txBody>
      </p:sp>
      <p:sp>
        <p:nvSpPr>
          <p:cNvPr id="166" name="TextBox 165">
            <a:extLst>
              <a:ext uri="{FF2B5EF4-FFF2-40B4-BE49-F238E27FC236}">
                <a16:creationId xmlns:a16="http://schemas.microsoft.com/office/drawing/2014/main" id="{924B5399-73AD-BB7A-4168-331244331DC0}"/>
              </a:ext>
            </a:extLst>
          </p:cNvPr>
          <p:cNvSpPr txBox="1"/>
          <p:nvPr/>
        </p:nvSpPr>
        <p:spPr>
          <a:xfrm>
            <a:off x="9984127"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6</a:t>
            </a:r>
          </a:p>
        </p:txBody>
      </p:sp>
      <p:sp>
        <p:nvSpPr>
          <p:cNvPr id="176" name="TextBox 175">
            <a:extLst>
              <a:ext uri="{FF2B5EF4-FFF2-40B4-BE49-F238E27FC236}">
                <a16:creationId xmlns:a16="http://schemas.microsoft.com/office/drawing/2014/main" id="{0845747E-D10F-FF54-9772-2C7677D38B0E}"/>
              </a:ext>
            </a:extLst>
          </p:cNvPr>
          <p:cNvSpPr txBox="1"/>
          <p:nvPr/>
        </p:nvSpPr>
        <p:spPr>
          <a:xfrm>
            <a:off x="11146940" y="5624127"/>
            <a:ext cx="165810" cy="182792"/>
          </a:xfrm>
          <a:prstGeom prst="rect">
            <a:avLst/>
          </a:prstGeom>
          <a:noFill/>
        </p:spPr>
        <p:txBody>
          <a:bodyPr wrap="square" rtlCol="0" anchor="ctr">
            <a:noAutofit/>
          </a:bodyPr>
          <a:lstStyle/>
          <a:p>
            <a:pPr algn="ctr" defTabSz="914367">
              <a:defRPr/>
            </a:pPr>
            <a:r>
              <a:rPr lang="en-US" sz="1000" noProof="0" dirty="0">
                <a:solidFill>
                  <a:schemeClr val="tx2"/>
                </a:solidFill>
                <a:latin typeface="+mj-lt"/>
              </a:rPr>
              <a:t>7</a:t>
            </a:r>
          </a:p>
        </p:txBody>
      </p:sp>
      <p:grpSp>
        <p:nvGrpSpPr>
          <p:cNvPr id="177" name="Group 176">
            <a:extLst>
              <a:ext uri="{FF2B5EF4-FFF2-40B4-BE49-F238E27FC236}">
                <a16:creationId xmlns:a16="http://schemas.microsoft.com/office/drawing/2014/main" id="{620E17D3-877C-E732-13D5-3388D0AC87AD}"/>
              </a:ext>
            </a:extLst>
          </p:cNvPr>
          <p:cNvGrpSpPr/>
          <p:nvPr/>
        </p:nvGrpSpPr>
        <p:grpSpPr>
          <a:xfrm>
            <a:off x="5466206" y="5852231"/>
            <a:ext cx="354090" cy="354090"/>
            <a:chOff x="5516220" y="5783651"/>
            <a:chExt cx="354090" cy="354090"/>
          </a:xfrm>
        </p:grpSpPr>
        <p:sp>
          <p:nvSpPr>
            <p:cNvPr id="178" name="Oval 177">
              <a:extLst>
                <a:ext uri="{FF2B5EF4-FFF2-40B4-BE49-F238E27FC236}">
                  <a16:creationId xmlns:a16="http://schemas.microsoft.com/office/drawing/2014/main" id="{ABE059D3-AE11-8149-DF8F-6D92B00EEB61}"/>
                </a:ext>
                <a:ext uri="{C183D7F6-B498-43B3-948B-1728B52AA6E4}">
                  <adec:decorative xmlns:adec="http://schemas.microsoft.com/office/drawing/2017/decorative" val="1"/>
                </a:ext>
              </a:extLst>
            </p:cNvPr>
            <p:cNvSpPr/>
            <p:nvPr/>
          </p:nvSpPr>
          <p:spPr>
            <a:xfrm>
              <a:off x="5516220" y="5783651"/>
              <a:ext cx="354090" cy="35409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79" name="Oval 178">
              <a:extLst>
                <a:ext uri="{FF2B5EF4-FFF2-40B4-BE49-F238E27FC236}">
                  <a16:creationId xmlns:a16="http://schemas.microsoft.com/office/drawing/2014/main" id="{50999460-98F8-5A7D-CE22-66FDCE7AEB35}"/>
                </a:ext>
                <a:ext uri="{C183D7F6-B498-43B3-948B-1728B52AA6E4}">
                  <adec:decorative xmlns:adec="http://schemas.microsoft.com/office/drawing/2017/decorative" val="1"/>
                </a:ext>
              </a:extLst>
            </p:cNvPr>
            <p:cNvSpPr/>
            <p:nvPr/>
          </p:nvSpPr>
          <p:spPr>
            <a:xfrm>
              <a:off x="5516576" y="5784007"/>
              <a:ext cx="353379" cy="353379"/>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effectLst/>
                <a:uLnTx/>
                <a:uFillTx/>
                <a:latin typeface="Segoe Sans Text Semilight"/>
                <a:ea typeface="+mn-ea"/>
                <a:cs typeface="+mn-cs"/>
              </a:endParaRPr>
            </a:p>
          </p:txBody>
        </p:sp>
        <p:sp>
          <p:nvSpPr>
            <p:cNvPr id="182" name="Graphic 39" descr="Icon of a bulleted document with a checkmark">
              <a:extLst>
                <a:ext uri="{FF2B5EF4-FFF2-40B4-BE49-F238E27FC236}">
                  <a16:creationId xmlns:a16="http://schemas.microsoft.com/office/drawing/2014/main" id="{B3E55EB5-ED98-226A-AB36-345E49750232}"/>
                </a:ext>
              </a:extLst>
            </p:cNvPr>
            <p:cNvSpPr/>
            <p:nvPr/>
          </p:nvSpPr>
          <p:spPr>
            <a:xfrm>
              <a:off x="5602482" y="5859829"/>
              <a:ext cx="181567" cy="201735"/>
            </a:xfrm>
            <a:custGeom>
              <a:avLst/>
              <a:gdLst>
                <a:gd name="connsiteX0" fmla="*/ 223930 w 251999"/>
                <a:gd name="connsiteY0" fmla="*/ 29344 h 279991"/>
                <a:gd name="connsiteX1" fmla="*/ 192502 w 251999"/>
                <a:gd name="connsiteY1" fmla="*/ 0 h 279991"/>
                <a:gd name="connsiteX2" fmla="*/ 31501 w 251999"/>
                <a:gd name="connsiteY2" fmla="*/ 0 h 279991"/>
                <a:gd name="connsiteX3" fmla="*/ 29344 w 251999"/>
                <a:gd name="connsiteY3" fmla="*/ 73 h 279991"/>
                <a:gd name="connsiteX4" fmla="*/ 0 w 251999"/>
                <a:gd name="connsiteY4" fmla="*/ 31501 h 279991"/>
                <a:gd name="connsiteX5" fmla="*/ 0 w 251999"/>
                <a:gd name="connsiteY5" fmla="*/ 248477 h 279991"/>
                <a:gd name="connsiteX6" fmla="*/ 73 w 251999"/>
                <a:gd name="connsiteY6" fmla="*/ 250634 h 279991"/>
                <a:gd name="connsiteX7" fmla="*/ 31501 w 251999"/>
                <a:gd name="connsiteY7" fmla="*/ 279977 h 279991"/>
                <a:gd name="connsiteX8" fmla="*/ 137447 w 251999"/>
                <a:gd name="connsiteY8" fmla="*/ 279977 h 279991"/>
                <a:gd name="connsiteX9" fmla="*/ 116465 w 251999"/>
                <a:gd name="connsiteY9" fmla="*/ 258977 h 279991"/>
                <a:gd name="connsiteX10" fmla="*/ 31501 w 251999"/>
                <a:gd name="connsiteY10" fmla="*/ 258977 h 279991"/>
                <a:gd name="connsiteX11" fmla="*/ 30076 w 251999"/>
                <a:gd name="connsiteY11" fmla="*/ 258882 h 279991"/>
                <a:gd name="connsiteX12" fmla="*/ 21000 w 251999"/>
                <a:gd name="connsiteY12" fmla="*/ 248477 h 279991"/>
                <a:gd name="connsiteX13" fmla="*/ 21000 w 251999"/>
                <a:gd name="connsiteY13" fmla="*/ 31501 h 279991"/>
                <a:gd name="connsiteX14" fmla="*/ 21096 w 251999"/>
                <a:gd name="connsiteY14" fmla="*/ 30076 h 279991"/>
                <a:gd name="connsiteX15" fmla="*/ 31501 w 251999"/>
                <a:gd name="connsiteY15" fmla="*/ 21000 h 279991"/>
                <a:gd name="connsiteX16" fmla="*/ 192502 w 251999"/>
                <a:gd name="connsiteY16" fmla="*/ 21000 h 279991"/>
                <a:gd name="connsiteX17" fmla="*/ 193926 w 251999"/>
                <a:gd name="connsiteY17" fmla="*/ 21096 h 279991"/>
                <a:gd name="connsiteX18" fmla="*/ 203002 w 251999"/>
                <a:gd name="connsiteY18" fmla="*/ 31501 h 279991"/>
                <a:gd name="connsiteX19" fmla="*/ 203002 w 251999"/>
                <a:gd name="connsiteY19" fmla="*/ 193439 h 279991"/>
                <a:gd name="connsiteX20" fmla="*/ 219226 w 251999"/>
                <a:gd name="connsiteY20" fmla="*/ 177215 h 279991"/>
                <a:gd name="connsiteX21" fmla="*/ 224003 w 251999"/>
                <a:gd name="connsiteY21" fmla="*/ 173288 h 279991"/>
                <a:gd name="connsiteX22" fmla="*/ 224003 w 251999"/>
                <a:gd name="connsiteY22" fmla="*/ 31501 h 279991"/>
                <a:gd name="connsiteX23" fmla="*/ 223930 w 251999"/>
                <a:gd name="connsiteY23" fmla="*/ 29344 h 279991"/>
                <a:gd name="connsiteX24" fmla="*/ 172029 w 251999"/>
                <a:gd name="connsiteY24" fmla="*/ 279977 h 279991"/>
                <a:gd name="connsiteX25" fmla="*/ 171496 w 251999"/>
                <a:gd name="connsiteY25" fmla="*/ 279991 h 279991"/>
                <a:gd name="connsiteX26" fmla="*/ 170968 w 251999"/>
                <a:gd name="connsiteY26" fmla="*/ 279977 h 279991"/>
                <a:gd name="connsiteX27" fmla="*/ 164070 w 251999"/>
                <a:gd name="connsiteY27" fmla="*/ 276913 h 279991"/>
                <a:gd name="connsiteX28" fmla="*/ 129074 w 251999"/>
                <a:gd name="connsiteY28" fmla="*/ 241887 h 279991"/>
                <a:gd name="connsiteX29" fmla="*/ 129081 w 251999"/>
                <a:gd name="connsiteY29" fmla="*/ 227037 h 279991"/>
                <a:gd name="connsiteX30" fmla="*/ 143931 w 251999"/>
                <a:gd name="connsiteY30" fmla="*/ 227044 h 279991"/>
                <a:gd name="connsiteX31" fmla="*/ 171502 w 251999"/>
                <a:gd name="connsiteY31" fmla="*/ 254638 h 279991"/>
                <a:gd name="connsiteX32" fmla="*/ 234076 w 251999"/>
                <a:gd name="connsiteY32" fmla="*/ 192066 h 279991"/>
                <a:gd name="connsiteX33" fmla="*/ 248924 w 251999"/>
                <a:gd name="connsiteY33" fmla="*/ 192066 h 279991"/>
                <a:gd name="connsiteX34" fmla="*/ 248924 w 251999"/>
                <a:gd name="connsiteY34" fmla="*/ 206914 h 279991"/>
                <a:gd name="connsiteX35" fmla="*/ 178923 w 251999"/>
                <a:gd name="connsiteY35" fmla="*/ 276915 h 279991"/>
                <a:gd name="connsiteX36" fmla="*/ 172029 w 251999"/>
                <a:gd name="connsiteY36" fmla="*/ 279977 h 279991"/>
                <a:gd name="connsiteX37" fmla="*/ 137781 w 251999"/>
                <a:gd name="connsiteY37" fmla="*/ 202990 h 279991"/>
                <a:gd name="connsiteX38" fmla="*/ 135224 w 251999"/>
                <a:gd name="connsiteY38" fmla="*/ 202990 h 279991"/>
                <a:gd name="connsiteX39" fmla="*/ 101447 w 251999"/>
                <a:gd name="connsiteY39" fmla="*/ 202990 h 279991"/>
                <a:gd name="connsiteX40" fmla="*/ 90947 w 251999"/>
                <a:gd name="connsiteY40" fmla="*/ 192490 h 279991"/>
                <a:gd name="connsiteX41" fmla="*/ 101447 w 251999"/>
                <a:gd name="connsiteY41" fmla="*/ 181990 h 279991"/>
                <a:gd name="connsiteX42" fmla="*/ 171502 w 251999"/>
                <a:gd name="connsiteY42" fmla="*/ 181990 h 279991"/>
                <a:gd name="connsiteX43" fmla="*/ 182002 w 251999"/>
                <a:gd name="connsiteY43" fmla="*/ 192490 h 279991"/>
                <a:gd name="connsiteX44" fmla="*/ 171502 w 251999"/>
                <a:gd name="connsiteY44" fmla="*/ 202990 h 279991"/>
                <a:gd name="connsiteX45" fmla="*/ 137781 w 251999"/>
                <a:gd name="connsiteY45" fmla="*/ 202990 h 279991"/>
                <a:gd name="connsiteX46" fmla="*/ 70001 w 251999"/>
                <a:gd name="connsiteY46" fmla="*/ 80510 h 279991"/>
                <a:gd name="connsiteX47" fmla="*/ 56001 w 251999"/>
                <a:gd name="connsiteY47" fmla="*/ 94511 h 279991"/>
                <a:gd name="connsiteX48" fmla="*/ 42001 w 251999"/>
                <a:gd name="connsiteY48" fmla="*/ 80510 h 279991"/>
                <a:gd name="connsiteX49" fmla="*/ 56001 w 251999"/>
                <a:gd name="connsiteY49" fmla="*/ 66510 h 279991"/>
                <a:gd name="connsiteX50" fmla="*/ 70001 w 251999"/>
                <a:gd name="connsiteY50" fmla="*/ 80510 h 279991"/>
                <a:gd name="connsiteX51" fmla="*/ 90947 w 251999"/>
                <a:gd name="connsiteY51" fmla="*/ 80488 h 279991"/>
                <a:gd name="connsiteX52" fmla="*/ 101447 w 251999"/>
                <a:gd name="connsiteY52" fmla="*/ 69988 h 279991"/>
                <a:gd name="connsiteX53" fmla="*/ 171502 w 251999"/>
                <a:gd name="connsiteY53" fmla="*/ 69988 h 279991"/>
                <a:gd name="connsiteX54" fmla="*/ 182002 w 251999"/>
                <a:gd name="connsiteY54" fmla="*/ 80488 h 279991"/>
                <a:gd name="connsiteX55" fmla="*/ 171502 w 251999"/>
                <a:gd name="connsiteY55" fmla="*/ 90988 h 279991"/>
                <a:gd name="connsiteX56" fmla="*/ 101447 w 251999"/>
                <a:gd name="connsiteY56" fmla="*/ 90988 h 279991"/>
                <a:gd name="connsiteX57" fmla="*/ 90947 w 251999"/>
                <a:gd name="connsiteY57" fmla="*/ 80488 h 279991"/>
                <a:gd name="connsiteX58" fmla="*/ 101447 w 251999"/>
                <a:gd name="connsiteY58" fmla="*/ 125989 h 279991"/>
                <a:gd name="connsiteX59" fmla="*/ 90947 w 251999"/>
                <a:gd name="connsiteY59" fmla="*/ 136489 h 279991"/>
                <a:gd name="connsiteX60" fmla="*/ 101447 w 251999"/>
                <a:gd name="connsiteY60" fmla="*/ 146989 h 279991"/>
                <a:gd name="connsiteX61" fmla="*/ 171502 w 251999"/>
                <a:gd name="connsiteY61" fmla="*/ 146989 h 279991"/>
                <a:gd name="connsiteX62" fmla="*/ 182002 w 251999"/>
                <a:gd name="connsiteY62" fmla="*/ 136489 h 279991"/>
                <a:gd name="connsiteX63" fmla="*/ 171502 w 251999"/>
                <a:gd name="connsiteY63" fmla="*/ 125989 h 279991"/>
                <a:gd name="connsiteX64" fmla="*/ 101447 w 251999"/>
                <a:gd name="connsiteY64" fmla="*/ 125989 h 279991"/>
                <a:gd name="connsiteX65" fmla="*/ 56001 w 251999"/>
                <a:gd name="connsiteY65" fmla="*/ 150489 h 279991"/>
                <a:gd name="connsiteX66" fmla="*/ 70001 w 251999"/>
                <a:gd name="connsiteY66" fmla="*/ 136489 h 279991"/>
                <a:gd name="connsiteX67" fmla="*/ 56001 w 251999"/>
                <a:gd name="connsiteY67" fmla="*/ 122488 h 279991"/>
                <a:gd name="connsiteX68" fmla="*/ 42001 w 251999"/>
                <a:gd name="connsiteY68" fmla="*/ 136489 h 279991"/>
                <a:gd name="connsiteX69" fmla="*/ 56001 w 251999"/>
                <a:gd name="connsiteY69" fmla="*/ 150489 h 279991"/>
                <a:gd name="connsiteX70" fmla="*/ 70001 w 251999"/>
                <a:gd name="connsiteY70" fmla="*/ 192462 h 279991"/>
                <a:gd name="connsiteX71" fmla="*/ 56001 w 251999"/>
                <a:gd name="connsiteY71" fmla="*/ 206462 h 279991"/>
                <a:gd name="connsiteX72" fmla="*/ 42001 w 251999"/>
                <a:gd name="connsiteY72" fmla="*/ 192462 h 279991"/>
                <a:gd name="connsiteX73" fmla="*/ 56001 w 251999"/>
                <a:gd name="connsiteY73" fmla="*/ 178461 h 279991"/>
                <a:gd name="connsiteX74" fmla="*/ 70001 w 251999"/>
                <a:gd name="connsiteY74" fmla="*/ 192462 h 27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51999" h="279991">
                  <a:moveTo>
                    <a:pt x="223930" y="29344"/>
                  </a:moveTo>
                  <a:cubicBezTo>
                    <a:pt x="222821" y="12952"/>
                    <a:pt x="209174" y="0"/>
                    <a:pt x="192502" y="0"/>
                  </a:cubicBezTo>
                  <a:lnTo>
                    <a:pt x="31501" y="0"/>
                  </a:lnTo>
                  <a:lnTo>
                    <a:pt x="29344" y="73"/>
                  </a:lnTo>
                  <a:cubicBezTo>
                    <a:pt x="12952" y="1181"/>
                    <a:pt x="0" y="14828"/>
                    <a:pt x="0" y="31501"/>
                  </a:cubicBezTo>
                  <a:lnTo>
                    <a:pt x="0" y="248477"/>
                  </a:lnTo>
                  <a:lnTo>
                    <a:pt x="73" y="250634"/>
                  </a:lnTo>
                  <a:cubicBezTo>
                    <a:pt x="1181" y="267026"/>
                    <a:pt x="14828" y="279977"/>
                    <a:pt x="31501" y="279977"/>
                  </a:cubicBezTo>
                  <a:lnTo>
                    <a:pt x="137447" y="279977"/>
                  </a:lnTo>
                  <a:lnTo>
                    <a:pt x="116465" y="258977"/>
                  </a:lnTo>
                  <a:lnTo>
                    <a:pt x="31501" y="258977"/>
                  </a:lnTo>
                  <a:lnTo>
                    <a:pt x="30076" y="258882"/>
                  </a:lnTo>
                  <a:cubicBezTo>
                    <a:pt x="24951" y="258186"/>
                    <a:pt x="21000" y="253793"/>
                    <a:pt x="21000" y="248477"/>
                  </a:cubicBezTo>
                  <a:lnTo>
                    <a:pt x="21000" y="31501"/>
                  </a:lnTo>
                  <a:lnTo>
                    <a:pt x="21096" y="30076"/>
                  </a:lnTo>
                  <a:cubicBezTo>
                    <a:pt x="21792" y="24951"/>
                    <a:pt x="26185" y="21000"/>
                    <a:pt x="31501" y="21000"/>
                  </a:cubicBezTo>
                  <a:lnTo>
                    <a:pt x="192502" y="21000"/>
                  </a:lnTo>
                  <a:lnTo>
                    <a:pt x="193926" y="21096"/>
                  </a:lnTo>
                  <a:cubicBezTo>
                    <a:pt x="199051" y="21792"/>
                    <a:pt x="203002" y="26185"/>
                    <a:pt x="203002" y="31501"/>
                  </a:cubicBezTo>
                  <a:lnTo>
                    <a:pt x="203002" y="193439"/>
                  </a:lnTo>
                  <a:lnTo>
                    <a:pt x="219226" y="177215"/>
                  </a:lnTo>
                  <a:cubicBezTo>
                    <a:pt x="220715" y="175726"/>
                    <a:pt x="222316" y="174417"/>
                    <a:pt x="224003" y="173288"/>
                  </a:cubicBezTo>
                  <a:lnTo>
                    <a:pt x="224003" y="31501"/>
                  </a:lnTo>
                  <a:lnTo>
                    <a:pt x="223930" y="29344"/>
                  </a:lnTo>
                  <a:close/>
                  <a:moveTo>
                    <a:pt x="172029" y="279977"/>
                  </a:moveTo>
                  <a:cubicBezTo>
                    <a:pt x="171852" y="279987"/>
                    <a:pt x="171674" y="279991"/>
                    <a:pt x="171496" y="279991"/>
                  </a:cubicBezTo>
                  <a:cubicBezTo>
                    <a:pt x="171320" y="279991"/>
                    <a:pt x="171143" y="279987"/>
                    <a:pt x="170968" y="279977"/>
                  </a:cubicBezTo>
                  <a:cubicBezTo>
                    <a:pt x="168375" y="279847"/>
                    <a:pt x="165914" y="278758"/>
                    <a:pt x="164070" y="276913"/>
                  </a:cubicBezTo>
                  <a:lnTo>
                    <a:pt x="129074" y="241887"/>
                  </a:lnTo>
                  <a:cubicBezTo>
                    <a:pt x="124976" y="237785"/>
                    <a:pt x="124979" y="231136"/>
                    <a:pt x="129081" y="227037"/>
                  </a:cubicBezTo>
                  <a:cubicBezTo>
                    <a:pt x="133183" y="222937"/>
                    <a:pt x="139832" y="222940"/>
                    <a:pt x="143931" y="227044"/>
                  </a:cubicBezTo>
                  <a:lnTo>
                    <a:pt x="171502" y="254638"/>
                  </a:lnTo>
                  <a:lnTo>
                    <a:pt x="234076" y="192066"/>
                  </a:lnTo>
                  <a:cubicBezTo>
                    <a:pt x="238175" y="187965"/>
                    <a:pt x="244824" y="187965"/>
                    <a:pt x="248924" y="192066"/>
                  </a:cubicBezTo>
                  <a:cubicBezTo>
                    <a:pt x="253025" y="196166"/>
                    <a:pt x="253025" y="202814"/>
                    <a:pt x="248924" y="206914"/>
                  </a:cubicBezTo>
                  <a:lnTo>
                    <a:pt x="178923" y="276915"/>
                  </a:lnTo>
                  <a:cubicBezTo>
                    <a:pt x="177079" y="278759"/>
                    <a:pt x="174621" y="279847"/>
                    <a:pt x="172029" y="279977"/>
                  </a:cubicBezTo>
                  <a:close/>
                  <a:moveTo>
                    <a:pt x="137781" y="202990"/>
                  </a:moveTo>
                  <a:cubicBezTo>
                    <a:pt x="136929" y="202956"/>
                    <a:pt x="136075" y="202956"/>
                    <a:pt x="135224" y="202990"/>
                  </a:cubicBezTo>
                  <a:lnTo>
                    <a:pt x="101447" y="202990"/>
                  </a:lnTo>
                  <a:cubicBezTo>
                    <a:pt x="95648" y="202990"/>
                    <a:pt x="90947" y="198289"/>
                    <a:pt x="90947" y="192490"/>
                  </a:cubicBezTo>
                  <a:cubicBezTo>
                    <a:pt x="90947" y="186691"/>
                    <a:pt x="95648" y="181990"/>
                    <a:pt x="101447" y="181990"/>
                  </a:cubicBezTo>
                  <a:lnTo>
                    <a:pt x="171502" y="181990"/>
                  </a:lnTo>
                  <a:cubicBezTo>
                    <a:pt x="177302" y="181990"/>
                    <a:pt x="182002" y="186691"/>
                    <a:pt x="182002" y="192490"/>
                  </a:cubicBezTo>
                  <a:cubicBezTo>
                    <a:pt x="182002" y="198289"/>
                    <a:pt x="177302" y="202990"/>
                    <a:pt x="171502" y="202990"/>
                  </a:cubicBezTo>
                  <a:lnTo>
                    <a:pt x="137781" y="202990"/>
                  </a:lnTo>
                  <a:close/>
                  <a:moveTo>
                    <a:pt x="70001" y="80510"/>
                  </a:moveTo>
                  <a:cubicBezTo>
                    <a:pt x="70001" y="88242"/>
                    <a:pt x="63733" y="94511"/>
                    <a:pt x="56001" y="94511"/>
                  </a:cubicBezTo>
                  <a:cubicBezTo>
                    <a:pt x="48269" y="94511"/>
                    <a:pt x="42001" y="88242"/>
                    <a:pt x="42001" y="80510"/>
                  </a:cubicBezTo>
                  <a:cubicBezTo>
                    <a:pt x="42001" y="72778"/>
                    <a:pt x="48269" y="66510"/>
                    <a:pt x="56001" y="66510"/>
                  </a:cubicBezTo>
                  <a:cubicBezTo>
                    <a:pt x="63733" y="66510"/>
                    <a:pt x="70001" y="72778"/>
                    <a:pt x="70001" y="80510"/>
                  </a:cubicBezTo>
                  <a:close/>
                  <a:moveTo>
                    <a:pt x="90947" y="80488"/>
                  </a:moveTo>
                  <a:cubicBezTo>
                    <a:pt x="90947" y="74689"/>
                    <a:pt x="95648" y="69988"/>
                    <a:pt x="101447" y="69988"/>
                  </a:cubicBezTo>
                  <a:lnTo>
                    <a:pt x="171502" y="69988"/>
                  </a:lnTo>
                  <a:cubicBezTo>
                    <a:pt x="177302" y="69988"/>
                    <a:pt x="182002" y="74689"/>
                    <a:pt x="182002" y="80488"/>
                  </a:cubicBezTo>
                  <a:cubicBezTo>
                    <a:pt x="182002" y="86287"/>
                    <a:pt x="177302" y="90988"/>
                    <a:pt x="171502" y="90988"/>
                  </a:cubicBezTo>
                  <a:lnTo>
                    <a:pt x="101447" y="90988"/>
                  </a:lnTo>
                  <a:cubicBezTo>
                    <a:pt x="95648" y="90988"/>
                    <a:pt x="90947" y="86287"/>
                    <a:pt x="90947" y="80488"/>
                  </a:cubicBezTo>
                  <a:close/>
                  <a:moveTo>
                    <a:pt x="101447" y="125989"/>
                  </a:moveTo>
                  <a:cubicBezTo>
                    <a:pt x="95648" y="125989"/>
                    <a:pt x="90947" y="130690"/>
                    <a:pt x="90947" y="136489"/>
                  </a:cubicBezTo>
                  <a:cubicBezTo>
                    <a:pt x="90947" y="142288"/>
                    <a:pt x="95648" y="146989"/>
                    <a:pt x="101447" y="146989"/>
                  </a:cubicBezTo>
                  <a:lnTo>
                    <a:pt x="171502" y="146989"/>
                  </a:lnTo>
                  <a:cubicBezTo>
                    <a:pt x="177302" y="146989"/>
                    <a:pt x="182002" y="142288"/>
                    <a:pt x="182002" y="136489"/>
                  </a:cubicBezTo>
                  <a:cubicBezTo>
                    <a:pt x="182002" y="130690"/>
                    <a:pt x="177302" y="125989"/>
                    <a:pt x="171502" y="125989"/>
                  </a:cubicBezTo>
                  <a:lnTo>
                    <a:pt x="101447" y="125989"/>
                  </a:lnTo>
                  <a:close/>
                  <a:moveTo>
                    <a:pt x="56001" y="150489"/>
                  </a:moveTo>
                  <a:cubicBezTo>
                    <a:pt x="63733" y="150489"/>
                    <a:pt x="70001" y="144221"/>
                    <a:pt x="70001" y="136489"/>
                  </a:cubicBezTo>
                  <a:cubicBezTo>
                    <a:pt x="70001" y="128756"/>
                    <a:pt x="63733" y="122488"/>
                    <a:pt x="56001" y="122488"/>
                  </a:cubicBezTo>
                  <a:cubicBezTo>
                    <a:pt x="48269" y="122488"/>
                    <a:pt x="42001" y="128756"/>
                    <a:pt x="42001" y="136489"/>
                  </a:cubicBezTo>
                  <a:cubicBezTo>
                    <a:pt x="42001" y="144221"/>
                    <a:pt x="48269" y="150489"/>
                    <a:pt x="56001" y="150489"/>
                  </a:cubicBezTo>
                  <a:close/>
                  <a:moveTo>
                    <a:pt x="70001" y="192462"/>
                  </a:moveTo>
                  <a:cubicBezTo>
                    <a:pt x="70001" y="200194"/>
                    <a:pt x="63733" y="206462"/>
                    <a:pt x="56001" y="206462"/>
                  </a:cubicBezTo>
                  <a:cubicBezTo>
                    <a:pt x="48269" y="206462"/>
                    <a:pt x="42001" y="200194"/>
                    <a:pt x="42001" y="192462"/>
                  </a:cubicBezTo>
                  <a:cubicBezTo>
                    <a:pt x="42001" y="184729"/>
                    <a:pt x="48269" y="178461"/>
                    <a:pt x="56001" y="178461"/>
                  </a:cubicBezTo>
                  <a:cubicBezTo>
                    <a:pt x="63733" y="178461"/>
                    <a:pt x="70001" y="184729"/>
                    <a:pt x="70001" y="192462"/>
                  </a:cubicBez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83" name="Group 182">
            <a:extLst>
              <a:ext uri="{FF2B5EF4-FFF2-40B4-BE49-F238E27FC236}">
                <a16:creationId xmlns:a16="http://schemas.microsoft.com/office/drawing/2014/main" id="{3B23F2C5-3FBB-344A-F695-722E85B15CCE}"/>
              </a:ext>
            </a:extLst>
          </p:cNvPr>
          <p:cNvGrpSpPr/>
          <p:nvPr/>
        </p:nvGrpSpPr>
        <p:grpSpPr>
          <a:xfrm>
            <a:off x="7700842" y="5852231"/>
            <a:ext cx="354090" cy="354090"/>
            <a:chOff x="7669225" y="5783651"/>
            <a:chExt cx="354090" cy="354090"/>
          </a:xfrm>
        </p:grpSpPr>
        <p:sp>
          <p:nvSpPr>
            <p:cNvPr id="184" name="Oval 183">
              <a:extLst>
                <a:ext uri="{FF2B5EF4-FFF2-40B4-BE49-F238E27FC236}">
                  <a16:creationId xmlns:a16="http://schemas.microsoft.com/office/drawing/2014/main" id="{EB552794-A256-5A2A-49D1-40427E4AF38D}"/>
                </a:ext>
                <a:ext uri="{C183D7F6-B498-43B3-948B-1728B52AA6E4}">
                  <adec:decorative xmlns:adec="http://schemas.microsoft.com/office/drawing/2017/decorative" val="1"/>
                </a:ext>
              </a:extLst>
            </p:cNvPr>
            <p:cNvSpPr/>
            <p:nvPr/>
          </p:nvSpPr>
          <p:spPr>
            <a:xfrm>
              <a:off x="7669225" y="5783651"/>
              <a:ext cx="354090" cy="35409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85" name="Oval 184">
              <a:extLst>
                <a:ext uri="{FF2B5EF4-FFF2-40B4-BE49-F238E27FC236}">
                  <a16:creationId xmlns:a16="http://schemas.microsoft.com/office/drawing/2014/main" id="{EA4BECAD-0415-C884-449B-C50DA33D380A}"/>
                </a:ext>
                <a:ext uri="{C183D7F6-B498-43B3-948B-1728B52AA6E4}">
                  <adec:decorative xmlns:adec="http://schemas.microsoft.com/office/drawing/2017/decorative" val="1"/>
                </a:ext>
              </a:extLst>
            </p:cNvPr>
            <p:cNvSpPr/>
            <p:nvPr/>
          </p:nvSpPr>
          <p:spPr>
            <a:xfrm>
              <a:off x="7669581" y="5784007"/>
              <a:ext cx="353379" cy="353379"/>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effectLst/>
                <a:uLnTx/>
                <a:uFillTx/>
                <a:latin typeface="Segoe Sans Text Semilight"/>
                <a:ea typeface="+mn-ea"/>
                <a:cs typeface="+mn-cs"/>
              </a:endParaRPr>
            </a:p>
          </p:txBody>
        </p:sp>
        <p:sp>
          <p:nvSpPr>
            <p:cNvPr id="186" name="Graphic 53" descr="Icon of a cylinder">
              <a:extLst>
                <a:ext uri="{FF2B5EF4-FFF2-40B4-BE49-F238E27FC236}">
                  <a16:creationId xmlns:a16="http://schemas.microsoft.com/office/drawing/2014/main" id="{9C1C9FB4-D4B6-A7D2-A9ED-0833F136794D}"/>
                </a:ext>
              </a:extLst>
            </p:cNvPr>
            <p:cNvSpPr/>
            <p:nvPr/>
          </p:nvSpPr>
          <p:spPr>
            <a:xfrm>
              <a:off x="7756861" y="5848934"/>
              <a:ext cx="178818" cy="223524"/>
            </a:xfrm>
            <a:custGeom>
              <a:avLst/>
              <a:gdLst>
                <a:gd name="connsiteX0" fmla="*/ 0 w 247325"/>
                <a:gd name="connsiteY0" fmla="*/ 61831 h 309156"/>
                <a:gd name="connsiteX1" fmla="*/ 11968 w 247325"/>
                <a:gd name="connsiteY1" fmla="*/ 34320 h 309156"/>
                <a:gd name="connsiteX2" fmla="*/ 39675 w 247325"/>
                <a:gd name="connsiteY2" fmla="*/ 15729 h 309156"/>
                <a:gd name="connsiteX3" fmla="*/ 123663 w 247325"/>
                <a:gd name="connsiteY3" fmla="*/ 0 h 309156"/>
                <a:gd name="connsiteX4" fmla="*/ 207650 w 247325"/>
                <a:gd name="connsiteY4" fmla="*/ 15729 h 309156"/>
                <a:gd name="connsiteX5" fmla="*/ 235358 w 247325"/>
                <a:gd name="connsiteY5" fmla="*/ 34320 h 309156"/>
                <a:gd name="connsiteX6" fmla="*/ 247325 w 247325"/>
                <a:gd name="connsiteY6" fmla="*/ 61831 h 309156"/>
                <a:gd name="connsiteX7" fmla="*/ 247325 w 247325"/>
                <a:gd name="connsiteY7" fmla="*/ 247325 h 309156"/>
                <a:gd name="connsiteX8" fmla="*/ 235358 w 247325"/>
                <a:gd name="connsiteY8" fmla="*/ 274837 h 309156"/>
                <a:gd name="connsiteX9" fmla="*/ 207650 w 247325"/>
                <a:gd name="connsiteY9" fmla="*/ 293428 h 309156"/>
                <a:gd name="connsiteX10" fmla="*/ 123663 w 247325"/>
                <a:gd name="connsiteY10" fmla="*/ 309157 h 309156"/>
                <a:gd name="connsiteX11" fmla="*/ 39675 w 247325"/>
                <a:gd name="connsiteY11" fmla="*/ 293428 h 309156"/>
                <a:gd name="connsiteX12" fmla="*/ 11968 w 247325"/>
                <a:gd name="connsiteY12" fmla="*/ 274837 h 309156"/>
                <a:gd name="connsiteX13" fmla="*/ 0 w 247325"/>
                <a:gd name="connsiteY13" fmla="*/ 247325 h 309156"/>
                <a:gd name="connsiteX14" fmla="*/ 0 w 247325"/>
                <a:gd name="connsiteY14" fmla="*/ 61831 h 309156"/>
                <a:gd name="connsiteX15" fmla="*/ 23187 w 247325"/>
                <a:gd name="connsiteY15" fmla="*/ 61831 h 309156"/>
                <a:gd name="connsiteX16" fmla="*/ 28833 w 247325"/>
                <a:gd name="connsiteY16" fmla="*/ 73430 h 309156"/>
                <a:gd name="connsiteX17" fmla="*/ 49160 w 247325"/>
                <a:gd name="connsiteY17" fmla="*/ 86776 h 309156"/>
                <a:gd name="connsiteX18" fmla="*/ 123663 w 247325"/>
                <a:gd name="connsiteY18" fmla="*/ 100476 h 309156"/>
                <a:gd name="connsiteX19" fmla="*/ 198165 w 247325"/>
                <a:gd name="connsiteY19" fmla="*/ 86776 h 309156"/>
                <a:gd name="connsiteX20" fmla="*/ 218493 w 247325"/>
                <a:gd name="connsiteY20" fmla="*/ 73430 h 309156"/>
                <a:gd name="connsiteX21" fmla="*/ 224139 w 247325"/>
                <a:gd name="connsiteY21" fmla="*/ 61831 h 309156"/>
                <a:gd name="connsiteX22" fmla="*/ 218493 w 247325"/>
                <a:gd name="connsiteY22" fmla="*/ 50233 h 309156"/>
                <a:gd name="connsiteX23" fmla="*/ 198165 w 247325"/>
                <a:gd name="connsiteY23" fmla="*/ 36887 h 309156"/>
                <a:gd name="connsiteX24" fmla="*/ 123663 w 247325"/>
                <a:gd name="connsiteY24" fmla="*/ 23187 h 309156"/>
                <a:gd name="connsiteX25" fmla="*/ 49160 w 247325"/>
                <a:gd name="connsiteY25" fmla="*/ 36887 h 309156"/>
                <a:gd name="connsiteX26" fmla="*/ 28833 w 247325"/>
                <a:gd name="connsiteY26" fmla="*/ 50233 h 309156"/>
                <a:gd name="connsiteX27" fmla="*/ 23187 w 247325"/>
                <a:gd name="connsiteY27" fmla="*/ 61831 h 309156"/>
                <a:gd name="connsiteX28" fmla="*/ 224139 w 247325"/>
                <a:gd name="connsiteY28" fmla="*/ 98813 h 309156"/>
                <a:gd name="connsiteX29" fmla="*/ 207650 w 247325"/>
                <a:gd name="connsiteY29" fmla="*/ 107934 h 309156"/>
                <a:gd name="connsiteX30" fmla="*/ 123663 w 247325"/>
                <a:gd name="connsiteY30" fmla="*/ 123663 h 309156"/>
                <a:gd name="connsiteX31" fmla="*/ 39675 w 247325"/>
                <a:gd name="connsiteY31" fmla="*/ 107934 h 309156"/>
                <a:gd name="connsiteX32" fmla="*/ 23187 w 247325"/>
                <a:gd name="connsiteY32" fmla="*/ 98813 h 309156"/>
                <a:gd name="connsiteX33" fmla="*/ 23187 w 247325"/>
                <a:gd name="connsiteY33" fmla="*/ 247325 h 309156"/>
                <a:gd name="connsiteX34" fmla="*/ 28833 w 247325"/>
                <a:gd name="connsiteY34" fmla="*/ 258923 h 309156"/>
                <a:gd name="connsiteX35" fmla="*/ 49160 w 247325"/>
                <a:gd name="connsiteY35" fmla="*/ 272270 h 309156"/>
                <a:gd name="connsiteX36" fmla="*/ 123663 w 247325"/>
                <a:gd name="connsiteY36" fmla="*/ 285970 h 309156"/>
                <a:gd name="connsiteX37" fmla="*/ 198165 w 247325"/>
                <a:gd name="connsiteY37" fmla="*/ 272270 h 309156"/>
                <a:gd name="connsiteX38" fmla="*/ 218493 w 247325"/>
                <a:gd name="connsiteY38" fmla="*/ 258923 h 309156"/>
                <a:gd name="connsiteX39" fmla="*/ 224139 w 247325"/>
                <a:gd name="connsiteY39" fmla="*/ 247325 h 309156"/>
                <a:gd name="connsiteX40" fmla="*/ 224139 w 247325"/>
                <a:gd name="connsiteY40" fmla="*/ 98813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47325" h="309156">
                  <a:moveTo>
                    <a:pt x="0" y="61831"/>
                  </a:moveTo>
                  <a:cubicBezTo>
                    <a:pt x="0" y="51157"/>
                    <a:pt x="4874" y="41839"/>
                    <a:pt x="11968" y="34320"/>
                  </a:cubicBezTo>
                  <a:cubicBezTo>
                    <a:pt x="19004" y="26863"/>
                    <a:pt x="28644" y="20674"/>
                    <a:pt x="39675" y="15729"/>
                  </a:cubicBezTo>
                  <a:cubicBezTo>
                    <a:pt x="61766" y="5826"/>
                    <a:pt x="91470" y="0"/>
                    <a:pt x="123663" y="0"/>
                  </a:cubicBezTo>
                  <a:cubicBezTo>
                    <a:pt x="155855" y="0"/>
                    <a:pt x="185559" y="5826"/>
                    <a:pt x="207650" y="15729"/>
                  </a:cubicBezTo>
                  <a:cubicBezTo>
                    <a:pt x="218682" y="20674"/>
                    <a:pt x="228321" y="26863"/>
                    <a:pt x="235358" y="34320"/>
                  </a:cubicBezTo>
                  <a:cubicBezTo>
                    <a:pt x="242451" y="41839"/>
                    <a:pt x="247325" y="51157"/>
                    <a:pt x="247325" y="61831"/>
                  </a:cubicBezTo>
                  <a:lnTo>
                    <a:pt x="247325" y="247325"/>
                  </a:lnTo>
                  <a:cubicBezTo>
                    <a:pt x="247325" y="258001"/>
                    <a:pt x="242451" y="267319"/>
                    <a:pt x="235358" y="274837"/>
                  </a:cubicBezTo>
                  <a:cubicBezTo>
                    <a:pt x="228321" y="282294"/>
                    <a:pt x="218682" y="288483"/>
                    <a:pt x="207650" y="293428"/>
                  </a:cubicBezTo>
                  <a:cubicBezTo>
                    <a:pt x="185559" y="303331"/>
                    <a:pt x="155855" y="309157"/>
                    <a:pt x="123663" y="309157"/>
                  </a:cubicBezTo>
                  <a:cubicBezTo>
                    <a:pt x="91470" y="309157"/>
                    <a:pt x="61766" y="303331"/>
                    <a:pt x="39675" y="293428"/>
                  </a:cubicBezTo>
                  <a:cubicBezTo>
                    <a:pt x="28644" y="288483"/>
                    <a:pt x="19004" y="282294"/>
                    <a:pt x="11968" y="274837"/>
                  </a:cubicBezTo>
                  <a:cubicBezTo>
                    <a:pt x="4874" y="267319"/>
                    <a:pt x="0" y="258001"/>
                    <a:pt x="0" y="247325"/>
                  </a:cubicBezTo>
                  <a:lnTo>
                    <a:pt x="0" y="61831"/>
                  </a:lnTo>
                  <a:close/>
                  <a:moveTo>
                    <a:pt x="23187" y="61831"/>
                  </a:moveTo>
                  <a:cubicBezTo>
                    <a:pt x="23187" y="65030"/>
                    <a:pt x="24585" y="68928"/>
                    <a:pt x="28833" y="73430"/>
                  </a:cubicBezTo>
                  <a:cubicBezTo>
                    <a:pt x="33139" y="77994"/>
                    <a:pt x="39911" y="82630"/>
                    <a:pt x="49160" y="86776"/>
                  </a:cubicBezTo>
                  <a:cubicBezTo>
                    <a:pt x="67631" y="95056"/>
                    <a:pt x="93962" y="100476"/>
                    <a:pt x="123663" y="100476"/>
                  </a:cubicBezTo>
                  <a:cubicBezTo>
                    <a:pt x="153363" y="100476"/>
                    <a:pt x="179694" y="95056"/>
                    <a:pt x="198165" y="86776"/>
                  </a:cubicBezTo>
                  <a:cubicBezTo>
                    <a:pt x="207413" y="82630"/>
                    <a:pt x="214187" y="77994"/>
                    <a:pt x="218493" y="73430"/>
                  </a:cubicBezTo>
                  <a:cubicBezTo>
                    <a:pt x="222741" y="68928"/>
                    <a:pt x="224139" y="65030"/>
                    <a:pt x="224139" y="61831"/>
                  </a:cubicBezTo>
                  <a:cubicBezTo>
                    <a:pt x="224139" y="58633"/>
                    <a:pt x="222741" y="54735"/>
                    <a:pt x="218493" y="50233"/>
                  </a:cubicBezTo>
                  <a:cubicBezTo>
                    <a:pt x="214187" y="45669"/>
                    <a:pt x="207413" y="41033"/>
                    <a:pt x="198165" y="36887"/>
                  </a:cubicBezTo>
                  <a:cubicBezTo>
                    <a:pt x="179694" y="28607"/>
                    <a:pt x="153363" y="23187"/>
                    <a:pt x="123663" y="23187"/>
                  </a:cubicBezTo>
                  <a:cubicBezTo>
                    <a:pt x="93962" y="23187"/>
                    <a:pt x="67631" y="28607"/>
                    <a:pt x="49160" y="36887"/>
                  </a:cubicBezTo>
                  <a:cubicBezTo>
                    <a:pt x="39911" y="41033"/>
                    <a:pt x="33139" y="45669"/>
                    <a:pt x="28833" y="50233"/>
                  </a:cubicBezTo>
                  <a:cubicBezTo>
                    <a:pt x="24585" y="54735"/>
                    <a:pt x="23187" y="58633"/>
                    <a:pt x="23187" y="61831"/>
                  </a:cubicBezTo>
                  <a:close/>
                  <a:moveTo>
                    <a:pt x="224139" y="98813"/>
                  </a:moveTo>
                  <a:cubicBezTo>
                    <a:pt x="219178" y="102220"/>
                    <a:pt x="213618" y="105259"/>
                    <a:pt x="207650" y="107934"/>
                  </a:cubicBezTo>
                  <a:cubicBezTo>
                    <a:pt x="185559" y="117837"/>
                    <a:pt x="155855" y="123663"/>
                    <a:pt x="123663" y="123663"/>
                  </a:cubicBezTo>
                  <a:cubicBezTo>
                    <a:pt x="91470" y="123663"/>
                    <a:pt x="61766" y="117837"/>
                    <a:pt x="39675" y="107934"/>
                  </a:cubicBezTo>
                  <a:cubicBezTo>
                    <a:pt x="33708" y="105259"/>
                    <a:pt x="28148" y="102220"/>
                    <a:pt x="23187" y="98813"/>
                  </a:cubicBezTo>
                  <a:lnTo>
                    <a:pt x="23187" y="247325"/>
                  </a:lnTo>
                  <a:cubicBezTo>
                    <a:pt x="23187" y="250524"/>
                    <a:pt x="24585" y="254422"/>
                    <a:pt x="28833" y="258923"/>
                  </a:cubicBezTo>
                  <a:cubicBezTo>
                    <a:pt x="33139" y="263488"/>
                    <a:pt x="39911" y="268124"/>
                    <a:pt x="49160" y="272270"/>
                  </a:cubicBezTo>
                  <a:cubicBezTo>
                    <a:pt x="67631" y="280550"/>
                    <a:pt x="93962" y="285970"/>
                    <a:pt x="123663" y="285970"/>
                  </a:cubicBezTo>
                  <a:cubicBezTo>
                    <a:pt x="153363" y="285970"/>
                    <a:pt x="179694" y="280550"/>
                    <a:pt x="198165" y="272270"/>
                  </a:cubicBezTo>
                  <a:cubicBezTo>
                    <a:pt x="207413" y="268124"/>
                    <a:pt x="214187" y="263488"/>
                    <a:pt x="218493" y="258923"/>
                  </a:cubicBezTo>
                  <a:cubicBezTo>
                    <a:pt x="222741" y="254422"/>
                    <a:pt x="224139" y="250524"/>
                    <a:pt x="224139" y="247325"/>
                  </a:cubicBezTo>
                  <a:lnTo>
                    <a:pt x="224139" y="98813"/>
                  </a:ln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87" name="Group 186">
            <a:extLst>
              <a:ext uri="{FF2B5EF4-FFF2-40B4-BE49-F238E27FC236}">
                <a16:creationId xmlns:a16="http://schemas.microsoft.com/office/drawing/2014/main" id="{D993490E-E6F6-85C5-E10F-A9D0390ED63F}"/>
              </a:ext>
            </a:extLst>
          </p:cNvPr>
          <p:cNvGrpSpPr/>
          <p:nvPr/>
        </p:nvGrpSpPr>
        <p:grpSpPr>
          <a:xfrm>
            <a:off x="4348888" y="5852231"/>
            <a:ext cx="354090" cy="354090"/>
            <a:chOff x="4439718" y="5783651"/>
            <a:chExt cx="354090" cy="354090"/>
          </a:xfrm>
        </p:grpSpPr>
        <p:sp>
          <p:nvSpPr>
            <p:cNvPr id="188" name="Oval 187">
              <a:extLst>
                <a:ext uri="{FF2B5EF4-FFF2-40B4-BE49-F238E27FC236}">
                  <a16:creationId xmlns:a16="http://schemas.microsoft.com/office/drawing/2014/main" id="{02E3EE56-8A41-BC58-4491-5CC65C0E9EDA}"/>
                </a:ext>
                <a:ext uri="{C183D7F6-B498-43B3-948B-1728B52AA6E4}">
                  <adec:decorative xmlns:adec="http://schemas.microsoft.com/office/drawing/2017/decorative" val="1"/>
                </a:ext>
              </a:extLst>
            </p:cNvPr>
            <p:cNvSpPr/>
            <p:nvPr/>
          </p:nvSpPr>
          <p:spPr>
            <a:xfrm>
              <a:off x="4439718"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90" name="Oval 189">
              <a:extLst>
                <a:ext uri="{FF2B5EF4-FFF2-40B4-BE49-F238E27FC236}">
                  <a16:creationId xmlns:a16="http://schemas.microsoft.com/office/drawing/2014/main" id="{C78F3856-D4F7-1916-141D-A9155B6FC973}"/>
                </a:ext>
                <a:ext uri="{C183D7F6-B498-43B3-948B-1728B52AA6E4}">
                  <adec:decorative xmlns:adec="http://schemas.microsoft.com/office/drawing/2017/decorative" val="1"/>
                </a:ext>
              </a:extLst>
            </p:cNvPr>
            <p:cNvSpPr/>
            <p:nvPr/>
          </p:nvSpPr>
          <p:spPr>
            <a:xfrm>
              <a:off x="4440074"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91" name="Graphic 33" descr="Icon of a notepad with a pen">
              <a:extLst>
                <a:ext uri="{FF2B5EF4-FFF2-40B4-BE49-F238E27FC236}">
                  <a16:creationId xmlns:a16="http://schemas.microsoft.com/office/drawing/2014/main" id="{4DD3BF5F-4841-589A-1A2F-182B15E4B211}"/>
                </a:ext>
              </a:extLst>
            </p:cNvPr>
            <p:cNvSpPr/>
            <p:nvPr/>
          </p:nvSpPr>
          <p:spPr>
            <a:xfrm>
              <a:off x="4521608" y="5852856"/>
              <a:ext cx="190310" cy="215681"/>
            </a:xfrm>
            <a:custGeom>
              <a:avLst/>
              <a:gdLst>
                <a:gd name="connsiteX0" fmla="*/ 65747 w 328770"/>
                <a:gd name="connsiteY0" fmla="*/ 120535 h 372600"/>
                <a:gd name="connsiteX1" fmla="*/ 76704 w 328770"/>
                <a:gd name="connsiteY1" fmla="*/ 109577 h 372600"/>
                <a:gd name="connsiteX2" fmla="*/ 186282 w 328770"/>
                <a:gd name="connsiteY2" fmla="*/ 109577 h 372600"/>
                <a:gd name="connsiteX3" fmla="*/ 197240 w 328770"/>
                <a:gd name="connsiteY3" fmla="*/ 120535 h 372600"/>
                <a:gd name="connsiteX4" fmla="*/ 186282 w 328770"/>
                <a:gd name="connsiteY4" fmla="*/ 131492 h 372600"/>
                <a:gd name="connsiteX5" fmla="*/ 76704 w 328770"/>
                <a:gd name="connsiteY5" fmla="*/ 131492 h 372600"/>
                <a:gd name="connsiteX6" fmla="*/ 65747 w 328770"/>
                <a:gd name="connsiteY6" fmla="*/ 120535 h 372600"/>
                <a:gd name="connsiteX7" fmla="*/ 76704 w 328770"/>
                <a:gd name="connsiteY7" fmla="*/ 175323 h 372600"/>
                <a:gd name="connsiteX8" fmla="*/ 65747 w 328770"/>
                <a:gd name="connsiteY8" fmla="*/ 186281 h 372600"/>
                <a:gd name="connsiteX9" fmla="*/ 76704 w 328770"/>
                <a:gd name="connsiteY9" fmla="*/ 197239 h 372600"/>
                <a:gd name="connsiteX10" fmla="*/ 186282 w 328770"/>
                <a:gd name="connsiteY10" fmla="*/ 197239 h 372600"/>
                <a:gd name="connsiteX11" fmla="*/ 197240 w 328770"/>
                <a:gd name="connsiteY11" fmla="*/ 186281 h 372600"/>
                <a:gd name="connsiteX12" fmla="*/ 186282 w 328770"/>
                <a:gd name="connsiteY12" fmla="*/ 175323 h 372600"/>
                <a:gd name="connsiteX13" fmla="*/ 76704 w 328770"/>
                <a:gd name="connsiteY13" fmla="*/ 175323 h 372600"/>
                <a:gd name="connsiteX14" fmla="*/ 65747 w 328770"/>
                <a:gd name="connsiteY14" fmla="*/ 252027 h 372600"/>
                <a:gd name="connsiteX15" fmla="*/ 76704 w 328770"/>
                <a:gd name="connsiteY15" fmla="*/ 241069 h 372600"/>
                <a:gd name="connsiteX16" fmla="*/ 120535 w 328770"/>
                <a:gd name="connsiteY16" fmla="*/ 241069 h 372600"/>
                <a:gd name="connsiteX17" fmla="*/ 131493 w 328770"/>
                <a:gd name="connsiteY17" fmla="*/ 252027 h 372600"/>
                <a:gd name="connsiteX18" fmla="*/ 120535 w 328770"/>
                <a:gd name="connsiteY18" fmla="*/ 262985 h 372600"/>
                <a:gd name="connsiteX19" fmla="*/ 76704 w 328770"/>
                <a:gd name="connsiteY19" fmla="*/ 262985 h 372600"/>
                <a:gd name="connsiteX20" fmla="*/ 65747 w 328770"/>
                <a:gd name="connsiteY20" fmla="*/ 252027 h 372600"/>
                <a:gd name="connsiteX21" fmla="*/ 43831 w 328770"/>
                <a:gd name="connsiteY21" fmla="*/ 10958 h 372600"/>
                <a:gd name="connsiteX22" fmla="*/ 54789 w 328770"/>
                <a:gd name="connsiteY22" fmla="*/ 0 h 372600"/>
                <a:gd name="connsiteX23" fmla="*/ 65747 w 328770"/>
                <a:gd name="connsiteY23" fmla="*/ 10958 h 372600"/>
                <a:gd name="connsiteX24" fmla="*/ 65747 w 328770"/>
                <a:gd name="connsiteY24" fmla="*/ 21915 h 372600"/>
                <a:gd name="connsiteX25" fmla="*/ 120535 w 328770"/>
                <a:gd name="connsiteY25" fmla="*/ 21915 h 372600"/>
                <a:gd name="connsiteX26" fmla="*/ 120535 w 328770"/>
                <a:gd name="connsiteY26" fmla="*/ 10958 h 372600"/>
                <a:gd name="connsiteX27" fmla="*/ 131493 w 328770"/>
                <a:gd name="connsiteY27" fmla="*/ 0 h 372600"/>
                <a:gd name="connsiteX28" fmla="*/ 142451 w 328770"/>
                <a:gd name="connsiteY28" fmla="*/ 10958 h 372600"/>
                <a:gd name="connsiteX29" fmla="*/ 142451 w 328770"/>
                <a:gd name="connsiteY29" fmla="*/ 21915 h 372600"/>
                <a:gd name="connsiteX30" fmla="*/ 197240 w 328770"/>
                <a:gd name="connsiteY30" fmla="*/ 21915 h 372600"/>
                <a:gd name="connsiteX31" fmla="*/ 197240 w 328770"/>
                <a:gd name="connsiteY31" fmla="*/ 10958 h 372600"/>
                <a:gd name="connsiteX32" fmla="*/ 208197 w 328770"/>
                <a:gd name="connsiteY32" fmla="*/ 0 h 372600"/>
                <a:gd name="connsiteX33" fmla="*/ 219155 w 328770"/>
                <a:gd name="connsiteY33" fmla="*/ 10958 h 372600"/>
                <a:gd name="connsiteX34" fmla="*/ 219155 w 328770"/>
                <a:gd name="connsiteY34" fmla="*/ 21915 h 372600"/>
                <a:gd name="connsiteX35" fmla="*/ 230113 w 328770"/>
                <a:gd name="connsiteY35" fmla="*/ 21915 h 372600"/>
                <a:gd name="connsiteX36" fmla="*/ 262986 w 328770"/>
                <a:gd name="connsiteY36" fmla="*/ 54789 h 372600"/>
                <a:gd name="connsiteX37" fmla="*/ 262986 w 328770"/>
                <a:gd name="connsiteY37" fmla="*/ 158484 h 372600"/>
                <a:gd name="connsiteX38" fmla="*/ 243306 w 328770"/>
                <a:gd name="connsiteY38" fmla="*/ 171831 h 372600"/>
                <a:gd name="connsiteX39" fmla="*/ 241071 w 328770"/>
                <a:gd name="connsiteY39" fmla="*/ 174067 h 372600"/>
                <a:gd name="connsiteX40" fmla="*/ 241071 w 328770"/>
                <a:gd name="connsiteY40" fmla="*/ 54789 h 372600"/>
                <a:gd name="connsiteX41" fmla="*/ 230113 w 328770"/>
                <a:gd name="connsiteY41" fmla="*/ 43831 h 372600"/>
                <a:gd name="connsiteX42" fmla="*/ 32873 w 328770"/>
                <a:gd name="connsiteY42" fmla="*/ 43831 h 372600"/>
                <a:gd name="connsiteX43" fmla="*/ 21916 w 328770"/>
                <a:gd name="connsiteY43" fmla="*/ 54789 h 372600"/>
                <a:gd name="connsiteX44" fmla="*/ 21916 w 328770"/>
                <a:gd name="connsiteY44" fmla="*/ 317773 h 372600"/>
                <a:gd name="connsiteX45" fmla="*/ 32873 w 328770"/>
                <a:gd name="connsiteY45" fmla="*/ 328731 h 372600"/>
                <a:gd name="connsiteX46" fmla="*/ 114409 w 328770"/>
                <a:gd name="connsiteY46" fmla="*/ 328731 h 372600"/>
                <a:gd name="connsiteX47" fmla="*/ 110830 w 328770"/>
                <a:gd name="connsiteY47" fmla="*/ 343046 h 372600"/>
                <a:gd name="connsiteX48" fmla="*/ 109640 w 328770"/>
                <a:gd name="connsiteY48" fmla="*/ 350646 h 372600"/>
                <a:gd name="connsiteX49" fmla="*/ 32873 w 328770"/>
                <a:gd name="connsiteY49" fmla="*/ 350646 h 372600"/>
                <a:gd name="connsiteX50" fmla="*/ 0 w 328770"/>
                <a:gd name="connsiteY50" fmla="*/ 317773 h 372600"/>
                <a:gd name="connsiteX51" fmla="*/ 0 w 328770"/>
                <a:gd name="connsiteY51" fmla="*/ 54789 h 372600"/>
                <a:gd name="connsiteX52" fmla="*/ 32873 w 328770"/>
                <a:gd name="connsiteY52" fmla="*/ 21915 h 372600"/>
                <a:gd name="connsiteX53" fmla="*/ 43831 w 328770"/>
                <a:gd name="connsiteY53" fmla="*/ 21915 h 372600"/>
                <a:gd name="connsiteX54" fmla="*/ 43831 w 328770"/>
                <a:gd name="connsiteY54" fmla="*/ 10958 h 372600"/>
                <a:gd name="connsiteX55" fmla="*/ 258805 w 328770"/>
                <a:gd name="connsiteY55" fmla="*/ 187328 h 372600"/>
                <a:gd name="connsiteX56" fmla="*/ 152966 w 328770"/>
                <a:gd name="connsiteY56" fmla="*/ 293167 h 372600"/>
                <a:gd name="connsiteX57" fmla="*/ 140299 w 328770"/>
                <a:gd name="connsiteY57" fmla="*/ 315536 h 372600"/>
                <a:gd name="connsiteX58" fmla="*/ 132093 w 328770"/>
                <a:gd name="connsiteY58" fmla="*/ 348363 h 372600"/>
                <a:gd name="connsiteX59" fmla="*/ 155732 w 328770"/>
                <a:gd name="connsiteY59" fmla="*/ 372001 h 372600"/>
                <a:gd name="connsiteX60" fmla="*/ 188559 w 328770"/>
                <a:gd name="connsiteY60" fmla="*/ 363793 h 372600"/>
                <a:gd name="connsiteX61" fmla="*/ 210928 w 328770"/>
                <a:gd name="connsiteY61" fmla="*/ 351129 h 372600"/>
                <a:gd name="connsiteX62" fmla="*/ 316767 w 328770"/>
                <a:gd name="connsiteY62" fmla="*/ 245290 h 372600"/>
                <a:gd name="connsiteX63" fmla="*/ 316767 w 328770"/>
                <a:gd name="connsiteY63" fmla="*/ 187328 h 372600"/>
                <a:gd name="connsiteX64" fmla="*/ 258805 w 328770"/>
                <a:gd name="connsiteY64" fmla="*/ 187328 h 37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28770" h="372600">
                  <a:moveTo>
                    <a:pt x="65747" y="120535"/>
                  </a:moveTo>
                  <a:cubicBezTo>
                    <a:pt x="65747" y="114483"/>
                    <a:pt x="70653" y="109577"/>
                    <a:pt x="76704" y="109577"/>
                  </a:cubicBezTo>
                  <a:lnTo>
                    <a:pt x="186282" y="109577"/>
                  </a:lnTo>
                  <a:cubicBezTo>
                    <a:pt x="192333" y="109577"/>
                    <a:pt x="197240" y="114483"/>
                    <a:pt x="197240" y="120535"/>
                  </a:cubicBezTo>
                  <a:cubicBezTo>
                    <a:pt x="197240" y="126586"/>
                    <a:pt x="192333" y="131492"/>
                    <a:pt x="186282" y="131492"/>
                  </a:cubicBezTo>
                  <a:lnTo>
                    <a:pt x="76704" y="131492"/>
                  </a:lnTo>
                  <a:cubicBezTo>
                    <a:pt x="70653" y="131492"/>
                    <a:pt x="65747" y="126586"/>
                    <a:pt x="65747" y="120535"/>
                  </a:cubicBezTo>
                  <a:close/>
                  <a:moveTo>
                    <a:pt x="76704" y="175323"/>
                  </a:moveTo>
                  <a:cubicBezTo>
                    <a:pt x="70653" y="175323"/>
                    <a:pt x="65747" y="180230"/>
                    <a:pt x="65747" y="186281"/>
                  </a:cubicBezTo>
                  <a:cubicBezTo>
                    <a:pt x="65747" y="192332"/>
                    <a:pt x="70653" y="197239"/>
                    <a:pt x="76704" y="197239"/>
                  </a:cubicBezTo>
                  <a:lnTo>
                    <a:pt x="186282" y="197239"/>
                  </a:lnTo>
                  <a:cubicBezTo>
                    <a:pt x="192333" y="197239"/>
                    <a:pt x="197240" y="192332"/>
                    <a:pt x="197240" y="186281"/>
                  </a:cubicBezTo>
                  <a:cubicBezTo>
                    <a:pt x="197240" y="180230"/>
                    <a:pt x="192333" y="175323"/>
                    <a:pt x="186282" y="175323"/>
                  </a:cubicBezTo>
                  <a:lnTo>
                    <a:pt x="76704" y="175323"/>
                  </a:lnTo>
                  <a:close/>
                  <a:moveTo>
                    <a:pt x="65747" y="252027"/>
                  </a:moveTo>
                  <a:cubicBezTo>
                    <a:pt x="65747" y="245976"/>
                    <a:pt x="70653" y="241069"/>
                    <a:pt x="76704" y="241069"/>
                  </a:cubicBezTo>
                  <a:lnTo>
                    <a:pt x="120535" y="241069"/>
                  </a:lnTo>
                  <a:cubicBezTo>
                    <a:pt x="126587" y="241069"/>
                    <a:pt x="131493" y="245976"/>
                    <a:pt x="131493" y="252027"/>
                  </a:cubicBezTo>
                  <a:cubicBezTo>
                    <a:pt x="131493" y="258078"/>
                    <a:pt x="126587" y="262985"/>
                    <a:pt x="120535" y="262985"/>
                  </a:cubicBezTo>
                  <a:lnTo>
                    <a:pt x="76704" y="262985"/>
                  </a:lnTo>
                  <a:cubicBezTo>
                    <a:pt x="70653" y="262985"/>
                    <a:pt x="65747" y="258078"/>
                    <a:pt x="65747" y="252027"/>
                  </a:cubicBezTo>
                  <a:close/>
                  <a:moveTo>
                    <a:pt x="43831" y="10958"/>
                  </a:moveTo>
                  <a:cubicBezTo>
                    <a:pt x="43831" y="4906"/>
                    <a:pt x="48737" y="0"/>
                    <a:pt x="54789" y="0"/>
                  </a:cubicBezTo>
                  <a:cubicBezTo>
                    <a:pt x="60841" y="0"/>
                    <a:pt x="65747" y="4906"/>
                    <a:pt x="65747" y="10958"/>
                  </a:cubicBezTo>
                  <a:lnTo>
                    <a:pt x="65747" y="21915"/>
                  </a:lnTo>
                  <a:lnTo>
                    <a:pt x="120535" y="21915"/>
                  </a:lnTo>
                  <a:lnTo>
                    <a:pt x="120535" y="10958"/>
                  </a:lnTo>
                  <a:cubicBezTo>
                    <a:pt x="120535" y="4906"/>
                    <a:pt x="125441" y="0"/>
                    <a:pt x="131493" y="0"/>
                  </a:cubicBezTo>
                  <a:cubicBezTo>
                    <a:pt x="137544" y="0"/>
                    <a:pt x="142451" y="4906"/>
                    <a:pt x="142451" y="10958"/>
                  </a:cubicBezTo>
                  <a:lnTo>
                    <a:pt x="142451" y="21915"/>
                  </a:lnTo>
                  <a:lnTo>
                    <a:pt x="197240" y="21915"/>
                  </a:lnTo>
                  <a:lnTo>
                    <a:pt x="197240" y="10958"/>
                  </a:lnTo>
                  <a:cubicBezTo>
                    <a:pt x="197240" y="4906"/>
                    <a:pt x="202146" y="0"/>
                    <a:pt x="208197" y="0"/>
                  </a:cubicBezTo>
                  <a:cubicBezTo>
                    <a:pt x="214248" y="0"/>
                    <a:pt x="219155" y="4906"/>
                    <a:pt x="219155" y="10958"/>
                  </a:cubicBezTo>
                  <a:lnTo>
                    <a:pt x="219155" y="21915"/>
                  </a:lnTo>
                  <a:lnTo>
                    <a:pt x="230113" y="21915"/>
                  </a:lnTo>
                  <a:cubicBezTo>
                    <a:pt x="248268" y="21915"/>
                    <a:pt x="262986" y="36633"/>
                    <a:pt x="262986" y="54789"/>
                  </a:cubicBezTo>
                  <a:lnTo>
                    <a:pt x="262986" y="158484"/>
                  </a:lnTo>
                  <a:cubicBezTo>
                    <a:pt x="255837" y="161547"/>
                    <a:pt x="249142" y="165996"/>
                    <a:pt x="243306" y="171831"/>
                  </a:cubicBezTo>
                  <a:lnTo>
                    <a:pt x="241071" y="174067"/>
                  </a:lnTo>
                  <a:lnTo>
                    <a:pt x="241071" y="54789"/>
                  </a:lnTo>
                  <a:cubicBezTo>
                    <a:pt x="241071" y="48737"/>
                    <a:pt x="236164" y="43831"/>
                    <a:pt x="230113" y="43831"/>
                  </a:cubicBezTo>
                  <a:lnTo>
                    <a:pt x="32873" y="43831"/>
                  </a:lnTo>
                  <a:cubicBezTo>
                    <a:pt x="26822" y="43831"/>
                    <a:pt x="21916" y="48737"/>
                    <a:pt x="21916" y="54789"/>
                  </a:cubicBezTo>
                  <a:lnTo>
                    <a:pt x="21916" y="317773"/>
                  </a:lnTo>
                  <a:cubicBezTo>
                    <a:pt x="21916" y="323824"/>
                    <a:pt x="26822" y="328731"/>
                    <a:pt x="32873" y="328731"/>
                  </a:cubicBezTo>
                  <a:lnTo>
                    <a:pt x="114409" y="328731"/>
                  </a:lnTo>
                  <a:lnTo>
                    <a:pt x="110830" y="343046"/>
                  </a:lnTo>
                  <a:cubicBezTo>
                    <a:pt x="110190" y="345608"/>
                    <a:pt x="109800" y="348146"/>
                    <a:pt x="109640" y="350646"/>
                  </a:cubicBezTo>
                  <a:lnTo>
                    <a:pt x="32873" y="350646"/>
                  </a:lnTo>
                  <a:cubicBezTo>
                    <a:pt x="14718" y="350646"/>
                    <a:pt x="0" y="335928"/>
                    <a:pt x="0" y="317773"/>
                  </a:cubicBezTo>
                  <a:lnTo>
                    <a:pt x="0" y="54789"/>
                  </a:lnTo>
                  <a:cubicBezTo>
                    <a:pt x="0" y="36633"/>
                    <a:pt x="14718" y="21915"/>
                    <a:pt x="32873" y="21915"/>
                  </a:cubicBezTo>
                  <a:lnTo>
                    <a:pt x="43831" y="21915"/>
                  </a:lnTo>
                  <a:lnTo>
                    <a:pt x="43831" y="10958"/>
                  </a:lnTo>
                  <a:close/>
                  <a:moveTo>
                    <a:pt x="258805" y="187328"/>
                  </a:moveTo>
                  <a:lnTo>
                    <a:pt x="152966" y="293167"/>
                  </a:lnTo>
                  <a:cubicBezTo>
                    <a:pt x="146794" y="299338"/>
                    <a:pt x="142416" y="307070"/>
                    <a:pt x="140299" y="315536"/>
                  </a:cubicBezTo>
                  <a:lnTo>
                    <a:pt x="132093" y="348363"/>
                  </a:lnTo>
                  <a:cubicBezTo>
                    <a:pt x="128524" y="362639"/>
                    <a:pt x="141456" y="375569"/>
                    <a:pt x="155732" y="372001"/>
                  </a:cubicBezTo>
                  <a:lnTo>
                    <a:pt x="188559" y="363793"/>
                  </a:lnTo>
                  <a:cubicBezTo>
                    <a:pt x="197025" y="361676"/>
                    <a:pt x="204757" y="357300"/>
                    <a:pt x="210928" y="351129"/>
                  </a:cubicBezTo>
                  <a:lnTo>
                    <a:pt x="316767" y="245290"/>
                  </a:lnTo>
                  <a:cubicBezTo>
                    <a:pt x="332772" y="229283"/>
                    <a:pt x="332772" y="203333"/>
                    <a:pt x="316767" y="187328"/>
                  </a:cubicBezTo>
                  <a:cubicBezTo>
                    <a:pt x="300762" y="171322"/>
                    <a:pt x="274809" y="171322"/>
                    <a:pt x="258805" y="187328"/>
                  </a:cubicBezTo>
                  <a:close/>
                </a:path>
              </a:pathLst>
            </a:custGeom>
            <a:gradFill>
              <a:gsLst>
                <a:gs pos="0">
                  <a:srgbClr val="0078D4"/>
                </a:gs>
                <a:gs pos="35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92" name="Group 191">
            <a:extLst>
              <a:ext uri="{FF2B5EF4-FFF2-40B4-BE49-F238E27FC236}">
                <a16:creationId xmlns:a16="http://schemas.microsoft.com/office/drawing/2014/main" id="{E1417D10-24CC-BCA0-3E02-98950E96D10E}"/>
              </a:ext>
            </a:extLst>
          </p:cNvPr>
          <p:cNvGrpSpPr/>
          <p:nvPr/>
        </p:nvGrpSpPr>
        <p:grpSpPr>
          <a:xfrm>
            <a:off x="9935478" y="5852231"/>
            <a:ext cx="354090" cy="354090"/>
            <a:chOff x="9822231" y="5783651"/>
            <a:chExt cx="354090" cy="354090"/>
          </a:xfrm>
        </p:grpSpPr>
        <p:sp>
          <p:nvSpPr>
            <p:cNvPr id="193" name="Oval 192">
              <a:extLst>
                <a:ext uri="{FF2B5EF4-FFF2-40B4-BE49-F238E27FC236}">
                  <a16:creationId xmlns:a16="http://schemas.microsoft.com/office/drawing/2014/main" id="{207730BE-5626-4878-9797-33EEE7F1E46D}"/>
                </a:ext>
                <a:ext uri="{C183D7F6-B498-43B3-948B-1728B52AA6E4}">
                  <adec:decorative xmlns:adec="http://schemas.microsoft.com/office/drawing/2017/decorative" val="1"/>
                </a:ext>
              </a:extLst>
            </p:cNvPr>
            <p:cNvSpPr/>
            <p:nvPr/>
          </p:nvSpPr>
          <p:spPr>
            <a:xfrm>
              <a:off x="9822231"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94" name="Oval 193">
              <a:extLst>
                <a:ext uri="{FF2B5EF4-FFF2-40B4-BE49-F238E27FC236}">
                  <a16:creationId xmlns:a16="http://schemas.microsoft.com/office/drawing/2014/main" id="{FA274869-52FC-6BFF-3BB6-672C11FE4472}"/>
                </a:ext>
                <a:ext uri="{C183D7F6-B498-43B3-948B-1728B52AA6E4}">
                  <adec:decorative xmlns:adec="http://schemas.microsoft.com/office/drawing/2017/decorative" val="1"/>
                </a:ext>
              </a:extLst>
            </p:cNvPr>
            <p:cNvSpPr/>
            <p:nvPr/>
          </p:nvSpPr>
          <p:spPr>
            <a:xfrm>
              <a:off x="9822587"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95" name="Graphic 117" descr="Icon of two arrows with a slash in between">
              <a:extLst>
                <a:ext uri="{FF2B5EF4-FFF2-40B4-BE49-F238E27FC236}">
                  <a16:creationId xmlns:a16="http://schemas.microsoft.com/office/drawing/2014/main" id="{A03E87CA-1E10-FEB6-99A9-065223EE5122}"/>
                </a:ext>
              </a:extLst>
            </p:cNvPr>
            <p:cNvSpPr/>
            <p:nvPr/>
          </p:nvSpPr>
          <p:spPr>
            <a:xfrm>
              <a:off x="9876696" y="5862629"/>
              <a:ext cx="245160" cy="196134"/>
            </a:xfrm>
            <a:custGeom>
              <a:avLst/>
              <a:gdLst>
                <a:gd name="connsiteX0" fmla="*/ 110735 w 365124"/>
                <a:gd name="connsiteY0" fmla="*/ 272810 h 292107"/>
                <a:gd name="connsiteX1" fmla="*/ 229401 w 365124"/>
                <a:gd name="connsiteY1" fmla="*/ 8095 h 292107"/>
                <a:gd name="connsiteX2" fmla="*/ 247496 w 365124"/>
                <a:gd name="connsiteY2" fmla="*/ 1201 h 292107"/>
                <a:gd name="connsiteX3" fmla="*/ 255036 w 365124"/>
                <a:gd name="connsiteY3" fmla="*/ 17550 h 292107"/>
                <a:gd name="connsiteX4" fmla="*/ 254390 w 365124"/>
                <a:gd name="connsiteY4" fmla="*/ 19297 h 292107"/>
                <a:gd name="connsiteX5" fmla="*/ 135724 w 365124"/>
                <a:gd name="connsiteY5" fmla="*/ 284012 h 292107"/>
                <a:gd name="connsiteX6" fmla="*/ 117629 w 365124"/>
                <a:gd name="connsiteY6" fmla="*/ 290906 h 292107"/>
                <a:gd name="connsiteX7" fmla="*/ 110090 w 365124"/>
                <a:gd name="connsiteY7" fmla="*/ 274558 h 292107"/>
                <a:gd name="connsiteX8" fmla="*/ 110735 w 365124"/>
                <a:gd name="connsiteY8" fmla="*/ 272810 h 292107"/>
                <a:gd name="connsiteX9" fmla="*/ 229401 w 365124"/>
                <a:gd name="connsiteY9" fmla="*/ 8095 h 292107"/>
                <a:gd name="connsiteX10" fmla="*/ 110735 w 365124"/>
                <a:gd name="connsiteY10" fmla="*/ 272810 h 292107"/>
                <a:gd name="connsiteX11" fmla="*/ 4010 w 365124"/>
                <a:gd name="connsiteY11" fmla="*/ 136372 h 292107"/>
                <a:gd name="connsiteX12" fmla="*/ 81599 w 365124"/>
                <a:gd name="connsiteY12" fmla="*/ 58783 h 292107"/>
                <a:gd name="connsiteX13" fmla="*/ 100963 w 365124"/>
                <a:gd name="connsiteY13" fmla="*/ 58783 h 292107"/>
                <a:gd name="connsiteX14" fmla="*/ 102289 w 365124"/>
                <a:gd name="connsiteY14" fmla="*/ 76611 h 292107"/>
                <a:gd name="connsiteX15" fmla="*/ 100963 w 365124"/>
                <a:gd name="connsiteY15" fmla="*/ 78146 h 292107"/>
                <a:gd name="connsiteX16" fmla="*/ 33056 w 365124"/>
                <a:gd name="connsiteY16" fmla="*/ 146054 h 292107"/>
                <a:gd name="connsiteX17" fmla="*/ 100963 w 365124"/>
                <a:gd name="connsiteY17" fmla="*/ 213961 h 292107"/>
                <a:gd name="connsiteX18" fmla="*/ 100963 w 365124"/>
                <a:gd name="connsiteY18" fmla="*/ 233324 h 292107"/>
                <a:gd name="connsiteX19" fmla="*/ 83135 w 365124"/>
                <a:gd name="connsiteY19" fmla="*/ 234649 h 292107"/>
                <a:gd name="connsiteX20" fmla="*/ 81599 w 365124"/>
                <a:gd name="connsiteY20" fmla="*/ 233324 h 292107"/>
                <a:gd name="connsiteX21" fmla="*/ 4010 w 365124"/>
                <a:gd name="connsiteY21" fmla="*/ 155735 h 292107"/>
                <a:gd name="connsiteX22" fmla="*/ 2685 w 365124"/>
                <a:gd name="connsiteY22" fmla="*/ 137908 h 292107"/>
                <a:gd name="connsiteX23" fmla="*/ 4010 w 365124"/>
                <a:gd name="connsiteY23" fmla="*/ 136372 h 292107"/>
                <a:gd name="connsiteX24" fmla="*/ 81599 w 365124"/>
                <a:gd name="connsiteY24" fmla="*/ 58783 h 292107"/>
                <a:gd name="connsiteX25" fmla="*/ 4010 w 365124"/>
                <a:gd name="connsiteY25" fmla="*/ 136372 h 292107"/>
                <a:gd name="connsiteX26" fmla="*/ 264162 w 365124"/>
                <a:gd name="connsiteY26" fmla="*/ 58783 h 292107"/>
                <a:gd name="connsiteX27" fmla="*/ 281990 w 365124"/>
                <a:gd name="connsiteY27" fmla="*/ 57457 h 292107"/>
                <a:gd name="connsiteX28" fmla="*/ 283525 w 365124"/>
                <a:gd name="connsiteY28" fmla="*/ 58783 h 292107"/>
                <a:gd name="connsiteX29" fmla="*/ 361114 w 365124"/>
                <a:gd name="connsiteY29" fmla="*/ 136372 h 292107"/>
                <a:gd name="connsiteX30" fmla="*/ 362440 w 365124"/>
                <a:gd name="connsiteY30" fmla="*/ 154200 h 292107"/>
                <a:gd name="connsiteX31" fmla="*/ 361114 w 365124"/>
                <a:gd name="connsiteY31" fmla="*/ 155735 h 292107"/>
                <a:gd name="connsiteX32" fmla="*/ 283525 w 365124"/>
                <a:gd name="connsiteY32" fmla="*/ 233324 h 292107"/>
                <a:gd name="connsiteX33" fmla="*/ 264162 w 365124"/>
                <a:gd name="connsiteY33" fmla="*/ 233324 h 292107"/>
                <a:gd name="connsiteX34" fmla="*/ 262837 w 365124"/>
                <a:gd name="connsiteY34" fmla="*/ 215497 h 292107"/>
                <a:gd name="connsiteX35" fmla="*/ 264162 w 365124"/>
                <a:gd name="connsiteY35" fmla="*/ 213961 h 292107"/>
                <a:gd name="connsiteX36" fmla="*/ 332068 w 365124"/>
                <a:gd name="connsiteY36" fmla="*/ 146054 h 292107"/>
                <a:gd name="connsiteX37" fmla="*/ 264162 w 365124"/>
                <a:gd name="connsiteY37" fmla="*/ 78146 h 292107"/>
                <a:gd name="connsiteX38" fmla="*/ 264162 w 365124"/>
                <a:gd name="connsiteY38" fmla="*/ 58783 h 29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5124" h="292107">
                  <a:moveTo>
                    <a:pt x="110735" y="272810"/>
                  </a:moveTo>
                  <a:lnTo>
                    <a:pt x="229401" y="8095"/>
                  </a:lnTo>
                  <a:cubicBezTo>
                    <a:pt x="232495" y="1194"/>
                    <a:pt x="240595" y="-1892"/>
                    <a:pt x="247496" y="1201"/>
                  </a:cubicBezTo>
                  <a:cubicBezTo>
                    <a:pt x="253822" y="4037"/>
                    <a:pt x="256942" y="11081"/>
                    <a:pt x="255036" y="17550"/>
                  </a:cubicBezTo>
                  <a:lnTo>
                    <a:pt x="254390" y="19297"/>
                  </a:lnTo>
                  <a:lnTo>
                    <a:pt x="135724" y="284012"/>
                  </a:lnTo>
                  <a:cubicBezTo>
                    <a:pt x="132631" y="290913"/>
                    <a:pt x="124529" y="293999"/>
                    <a:pt x="117629" y="290906"/>
                  </a:cubicBezTo>
                  <a:cubicBezTo>
                    <a:pt x="111303" y="288071"/>
                    <a:pt x="108183" y="281026"/>
                    <a:pt x="110090" y="274558"/>
                  </a:cubicBezTo>
                  <a:lnTo>
                    <a:pt x="110735" y="272810"/>
                  </a:lnTo>
                  <a:lnTo>
                    <a:pt x="229401" y="8095"/>
                  </a:lnTo>
                  <a:lnTo>
                    <a:pt x="110735" y="272810"/>
                  </a:lnTo>
                  <a:close/>
                  <a:moveTo>
                    <a:pt x="4010" y="136372"/>
                  </a:moveTo>
                  <a:lnTo>
                    <a:pt x="81599" y="58783"/>
                  </a:lnTo>
                  <a:cubicBezTo>
                    <a:pt x="86946" y="53435"/>
                    <a:pt x="95616" y="53435"/>
                    <a:pt x="100963" y="58783"/>
                  </a:cubicBezTo>
                  <a:cubicBezTo>
                    <a:pt x="105824" y="63643"/>
                    <a:pt x="106266" y="71250"/>
                    <a:pt x="102289" y="76611"/>
                  </a:cubicBezTo>
                  <a:lnTo>
                    <a:pt x="100963" y="78146"/>
                  </a:lnTo>
                  <a:lnTo>
                    <a:pt x="33056" y="146054"/>
                  </a:lnTo>
                  <a:lnTo>
                    <a:pt x="100963" y="213961"/>
                  </a:lnTo>
                  <a:cubicBezTo>
                    <a:pt x="106310" y="219307"/>
                    <a:pt x="106310" y="227977"/>
                    <a:pt x="100963" y="233324"/>
                  </a:cubicBezTo>
                  <a:cubicBezTo>
                    <a:pt x="96102" y="238186"/>
                    <a:pt x="88495" y="238627"/>
                    <a:pt x="83135" y="234649"/>
                  </a:cubicBezTo>
                  <a:lnTo>
                    <a:pt x="81599" y="233324"/>
                  </a:lnTo>
                  <a:lnTo>
                    <a:pt x="4010" y="155735"/>
                  </a:lnTo>
                  <a:cubicBezTo>
                    <a:pt x="-851" y="150873"/>
                    <a:pt x="-1293" y="143268"/>
                    <a:pt x="2685" y="137908"/>
                  </a:cubicBezTo>
                  <a:lnTo>
                    <a:pt x="4010" y="136372"/>
                  </a:lnTo>
                  <a:lnTo>
                    <a:pt x="81599" y="58783"/>
                  </a:lnTo>
                  <a:lnTo>
                    <a:pt x="4010" y="136372"/>
                  </a:lnTo>
                  <a:close/>
                  <a:moveTo>
                    <a:pt x="264162" y="58783"/>
                  </a:moveTo>
                  <a:cubicBezTo>
                    <a:pt x="269022" y="53921"/>
                    <a:pt x="276630" y="53480"/>
                    <a:pt x="281990" y="57457"/>
                  </a:cubicBezTo>
                  <a:lnTo>
                    <a:pt x="283525" y="58783"/>
                  </a:lnTo>
                  <a:lnTo>
                    <a:pt x="361114" y="136372"/>
                  </a:lnTo>
                  <a:cubicBezTo>
                    <a:pt x="365976" y="141232"/>
                    <a:pt x="366418" y="148840"/>
                    <a:pt x="362440" y="154200"/>
                  </a:cubicBezTo>
                  <a:lnTo>
                    <a:pt x="361114" y="155735"/>
                  </a:lnTo>
                  <a:lnTo>
                    <a:pt x="283525" y="233324"/>
                  </a:lnTo>
                  <a:cubicBezTo>
                    <a:pt x="278178" y="238671"/>
                    <a:pt x="269510" y="238671"/>
                    <a:pt x="264162" y="233324"/>
                  </a:cubicBezTo>
                  <a:cubicBezTo>
                    <a:pt x="259301" y="228464"/>
                    <a:pt x="258859" y="220857"/>
                    <a:pt x="262837" y="215497"/>
                  </a:cubicBezTo>
                  <a:lnTo>
                    <a:pt x="264162" y="213961"/>
                  </a:lnTo>
                  <a:lnTo>
                    <a:pt x="332068" y="146054"/>
                  </a:lnTo>
                  <a:lnTo>
                    <a:pt x="264162" y="78146"/>
                  </a:lnTo>
                  <a:cubicBezTo>
                    <a:pt x="258815" y="72799"/>
                    <a:pt x="258815" y="64130"/>
                    <a:pt x="264162" y="58783"/>
                  </a:cubicBez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96" name="Group 195">
            <a:extLst>
              <a:ext uri="{FF2B5EF4-FFF2-40B4-BE49-F238E27FC236}">
                <a16:creationId xmlns:a16="http://schemas.microsoft.com/office/drawing/2014/main" id="{A18E04E1-F056-054D-46FA-38CDCBE8D612}"/>
              </a:ext>
            </a:extLst>
          </p:cNvPr>
          <p:cNvGrpSpPr/>
          <p:nvPr/>
        </p:nvGrpSpPr>
        <p:grpSpPr>
          <a:xfrm>
            <a:off x="6583524" y="5852231"/>
            <a:ext cx="354090" cy="354090"/>
            <a:chOff x="6592723" y="5783651"/>
            <a:chExt cx="354090" cy="354090"/>
          </a:xfrm>
        </p:grpSpPr>
        <p:sp>
          <p:nvSpPr>
            <p:cNvPr id="197" name="Oval 196">
              <a:extLst>
                <a:ext uri="{FF2B5EF4-FFF2-40B4-BE49-F238E27FC236}">
                  <a16:creationId xmlns:a16="http://schemas.microsoft.com/office/drawing/2014/main" id="{0CCC5BEA-017F-0E1F-D539-BF4AA1314961}"/>
                </a:ext>
                <a:ext uri="{C183D7F6-B498-43B3-948B-1728B52AA6E4}">
                  <adec:decorative xmlns:adec="http://schemas.microsoft.com/office/drawing/2017/decorative" val="1"/>
                </a:ext>
              </a:extLst>
            </p:cNvPr>
            <p:cNvSpPr/>
            <p:nvPr/>
          </p:nvSpPr>
          <p:spPr>
            <a:xfrm>
              <a:off x="6592723"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98" name="Oval 197">
              <a:extLst>
                <a:ext uri="{FF2B5EF4-FFF2-40B4-BE49-F238E27FC236}">
                  <a16:creationId xmlns:a16="http://schemas.microsoft.com/office/drawing/2014/main" id="{CFB2342E-8E3A-DDF8-1D7A-1B4EDC205957}"/>
                </a:ext>
                <a:ext uri="{C183D7F6-B498-43B3-948B-1728B52AA6E4}">
                  <adec:decorative xmlns:adec="http://schemas.microsoft.com/office/drawing/2017/decorative" val="1"/>
                </a:ext>
              </a:extLst>
            </p:cNvPr>
            <p:cNvSpPr/>
            <p:nvPr/>
          </p:nvSpPr>
          <p:spPr>
            <a:xfrm>
              <a:off x="6593079"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99" name="Graphic 118" descr="Icon of a coding sign inside a box">
              <a:extLst>
                <a:ext uri="{FF2B5EF4-FFF2-40B4-BE49-F238E27FC236}">
                  <a16:creationId xmlns:a16="http://schemas.microsoft.com/office/drawing/2014/main" id="{ABBF0B79-EBEC-60C2-1554-EE1B810FADB5}"/>
                </a:ext>
              </a:extLst>
            </p:cNvPr>
            <p:cNvSpPr/>
            <p:nvPr/>
          </p:nvSpPr>
          <p:spPr>
            <a:xfrm>
              <a:off x="6668901" y="5859829"/>
              <a:ext cx="201735" cy="201735"/>
            </a:xfrm>
            <a:custGeom>
              <a:avLst/>
              <a:gdLst>
                <a:gd name="connsiteX0" fmla="*/ 59333 w 328612"/>
                <a:gd name="connsiteY0" fmla="*/ 0 h 328612"/>
                <a:gd name="connsiteX1" fmla="*/ 0 w 328612"/>
                <a:gd name="connsiteY1" fmla="*/ 59333 h 328612"/>
                <a:gd name="connsiteX2" fmla="*/ 0 w 328612"/>
                <a:gd name="connsiteY2" fmla="*/ 269280 h 328612"/>
                <a:gd name="connsiteX3" fmla="*/ 59333 w 328612"/>
                <a:gd name="connsiteY3" fmla="*/ 328613 h 328612"/>
                <a:gd name="connsiteX4" fmla="*/ 269280 w 328612"/>
                <a:gd name="connsiteY4" fmla="*/ 328613 h 328612"/>
                <a:gd name="connsiteX5" fmla="*/ 328613 w 328612"/>
                <a:gd name="connsiteY5" fmla="*/ 269280 h 328612"/>
                <a:gd name="connsiteX6" fmla="*/ 328613 w 328612"/>
                <a:gd name="connsiteY6" fmla="*/ 59333 h 328612"/>
                <a:gd name="connsiteX7" fmla="*/ 269280 w 328612"/>
                <a:gd name="connsiteY7" fmla="*/ 0 h 328612"/>
                <a:gd name="connsiteX8" fmla="*/ 59333 w 328612"/>
                <a:gd name="connsiteY8" fmla="*/ 0 h 328612"/>
                <a:gd name="connsiteX9" fmla="*/ 27384 w 328612"/>
                <a:gd name="connsiteY9" fmla="*/ 59333 h 328612"/>
                <a:gd name="connsiteX10" fmla="*/ 59333 w 328612"/>
                <a:gd name="connsiteY10" fmla="*/ 27384 h 328612"/>
                <a:gd name="connsiteX11" fmla="*/ 269280 w 328612"/>
                <a:gd name="connsiteY11" fmla="*/ 27384 h 328612"/>
                <a:gd name="connsiteX12" fmla="*/ 301228 w 328612"/>
                <a:gd name="connsiteY12" fmla="*/ 59333 h 328612"/>
                <a:gd name="connsiteX13" fmla="*/ 301228 w 328612"/>
                <a:gd name="connsiteY13" fmla="*/ 269280 h 328612"/>
                <a:gd name="connsiteX14" fmla="*/ 269280 w 328612"/>
                <a:gd name="connsiteY14" fmla="*/ 301228 h 328612"/>
                <a:gd name="connsiteX15" fmla="*/ 59333 w 328612"/>
                <a:gd name="connsiteY15" fmla="*/ 301228 h 328612"/>
                <a:gd name="connsiteX16" fmla="*/ 27384 w 328612"/>
                <a:gd name="connsiteY16" fmla="*/ 269280 h 328612"/>
                <a:gd name="connsiteX17" fmla="*/ 27384 w 328612"/>
                <a:gd name="connsiteY17" fmla="*/ 59333 h 328612"/>
                <a:gd name="connsiteX18" fmla="*/ 137475 w 328612"/>
                <a:gd name="connsiteY18" fmla="*/ 114655 h 328612"/>
                <a:gd name="connsiteX19" fmla="*/ 137475 w 328612"/>
                <a:gd name="connsiteY19" fmla="*/ 95292 h 328612"/>
                <a:gd name="connsiteX20" fmla="*/ 118112 w 328612"/>
                <a:gd name="connsiteY20" fmla="*/ 95292 h 328612"/>
                <a:gd name="connsiteX21" fmla="*/ 58779 w 328612"/>
                <a:gd name="connsiteY21" fmla="*/ 154625 h 328612"/>
                <a:gd name="connsiteX22" fmla="*/ 58779 w 328612"/>
                <a:gd name="connsiteY22" fmla="*/ 173988 h 328612"/>
                <a:gd name="connsiteX23" fmla="*/ 118112 w 328612"/>
                <a:gd name="connsiteY23" fmla="*/ 233320 h 328612"/>
                <a:gd name="connsiteX24" fmla="*/ 137475 w 328612"/>
                <a:gd name="connsiteY24" fmla="*/ 233320 h 328612"/>
                <a:gd name="connsiteX25" fmla="*/ 137475 w 328612"/>
                <a:gd name="connsiteY25" fmla="*/ 213958 h 328612"/>
                <a:gd name="connsiteX26" fmla="*/ 87825 w 328612"/>
                <a:gd name="connsiteY26" fmla="*/ 164306 h 328612"/>
                <a:gd name="connsiteX27" fmla="*/ 137475 w 328612"/>
                <a:gd name="connsiteY27" fmla="*/ 114655 h 328612"/>
                <a:gd name="connsiteX28" fmla="*/ 210500 w 328612"/>
                <a:gd name="connsiteY28" fmla="*/ 95292 h 328612"/>
                <a:gd name="connsiteX29" fmla="*/ 191137 w 328612"/>
                <a:gd name="connsiteY29" fmla="*/ 95292 h 328612"/>
                <a:gd name="connsiteX30" fmla="*/ 191137 w 328612"/>
                <a:gd name="connsiteY30" fmla="*/ 114655 h 328612"/>
                <a:gd name="connsiteX31" fmla="*/ 240787 w 328612"/>
                <a:gd name="connsiteY31" fmla="*/ 164306 h 328612"/>
                <a:gd name="connsiteX32" fmla="*/ 191137 w 328612"/>
                <a:gd name="connsiteY32" fmla="*/ 213958 h 328612"/>
                <a:gd name="connsiteX33" fmla="*/ 191137 w 328612"/>
                <a:gd name="connsiteY33" fmla="*/ 233320 h 328612"/>
                <a:gd name="connsiteX34" fmla="*/ 210500 w 328612"/>
                <a:gd name="connsiteY34" fmla="*/ 233320 h 328612"/>
                <a:gd name="connsiteX35" fmla="*/ 269833 w 328612"/>
                <a:gd name="connsiteY35" fmla="*/ 173988 h 328612"/>
                <a:gd name="connsiteX36" fmla="*/ 269833 w 328612"/>
                <a:gd name="connsiteY36" fmla="*/ 154625 h 328612"/>
                <a:gd name="connsiteX37" fmla="*/ 210500 w 328612"/>
                <a:gd name="connsiteY37" fmla="*/ 95292 h 32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28612" h="328612">
                  <a:moveTo>
                    <a:pt x="59333" y="0"/>
                  </a:moveTo>
                  <a:cubicBezTo>
                    <a:pt x="26564" y="0"/>
                    <a:pt x="0" y="26564"/>
                    <a:pt x="0" y="59333"/>
                  </a:cubicBezTo>
                  <a:lnTo>
                    <a:pt x="0" y="269280"/>
                  </a:lnTo>
                  <a:cubicBezTo>
                    <a:pt x="0" y="302048"/>
                    <a:pt x="26564" y="328613"/>
                    <a:pt x="59333" y="328613"/>
                  </a:cubicBezTo>
                  <a:lnTo>
                    <a:pt x="269280" y="328613"/>
                  </a:lnTo>
                  <a:cubicBezTo>
                    <a:pt x="302048" y="328613"/>
                    <a:pt x="328613" y="302048"/>
                    <a:pt x="328613" y="269280"/>
                  </a:cubicBezTo>
                  <a:lnTo>
                    <a:pt x="328613" y="59333"/>
                  </a:lnTo>
                  <a:cubicBezTo>
                    <a:pt x="328613" y="26564"/>
                    <a:pt x="302048" y="0"/>
                    <a:pt x="269280" y="0"/>
                  </a:cubicBezTo>
                  <a:lnTo>
                    <a:pt x="59333" y="0"/>
                  </a:lnTo>
                  <a:close/>
                  <a:moveTo>
                    <a:pt x="27384" y="59333"/>
                  </a:moveTo>
                  <a:cubicBezTo>
                    <a:pt x="27384" y="41688"/>
                    <a:pt x="41688" y="27384"/>
                    <a:pt x="59333" y="27384"/>
                  </a:cubicBezTo>
                  <a:lnTo>
                    <a:pt x="269280" y="27384"/>
                  </a:lnTo>
                  <a:cubicBezTo>
                    <a:pt x="286924" y="27384"/>
                    <a:pt x="301228" y="41688"/>
                    <a:pt x="301228" y="59333"/>
                  </a:cubicBezTo>
                  <a:lnTo>
                    <a:pt x="301228" y="269280"/>
                  </a:lnTo>
                  <a:cubicBezTo>
                    <a:pt x="301228" y="286924"/>
                    <a:pt x="286924" y="301228"/>
                    <a:pt x="269280" y="301228"/>
                  </a:cubicBezTo>
                  <a:lnTo>
                    <a:pt x="59333" y="301228"/>
                  </a:lnTo>
                  <a:cubicBezTo>
                    <a:pt x="41688" y="301228"/>
                    <a:pt x="27384" y="286924"/>
                    <a:pt x="27384" y="269280"/>
                  </a:cubicBezTo>
                  <a:lnTo>
                    <a:pt x="27384" y="59333"/>
                  </a:lnTo>
                  <a:close/>
                  <a:moveTo>
                    <a:pt x="137475" y="114655"/>
                  </a:moveTo>
                  <a:cubicBezTo>
                    <a:pt x="142822" y="109308"/>
                    <a:pt x="142822" y="100639"/>
                    <a:pt x="137475" y="95292"/>
                  </a:cubicBezTo>
                  <a:cubicBezTo>
                    <a:pt x="132128" y="89945"/>
                    <a:pt x="123459" y="89945"/>
                    <a:pt x="118112" y="95292"/>
                  </a:cubicBezTo>
                  <a:lnTo>
                    <a:pt x="58779" y="154625"/>
                  </a:lnTo>
                  <a:cubicBezTo>
                    <a:pt x="53432" y="159972"/>
                    <a:pt x="53432" y="168640"/>
                    <a:pt x="58779" y="173988"/>
                  </a:cubicBezTo>
                  <a:lnTo>
                    <a:pt x="118112" y="233320"/>
                  </a:lnTo>
                  <a:cubicBezTo>
                    <a:pt x="123459" y="238668"/>
                    <a:pt x="132128" y="238668"/>
                    <a:pt x="137475" y="233320"/>
                  </a:cubicBezTo>
                  <a:cubicBezTo>
                    <a:pt x="142822" y="227973"/>
                    <a:pt x="142822" y="219305"/>
                    <a:pt x="137475" y="213958"/>
                  </a:cubicBezTo>
                  <a:lnTo>
                    <a:pt x="87825" y="164306"/>
                  </a:lnTo>
                  <a:lnTo>
                    <a:pt x="137475" y="114655"/>
                  </a:lnTo>
                  <a:close/>
                  <a:moveTo>
                    <a:pt x="210500" y="95292"/>
                  </a:moveTo>
                  <a:cubicBezTo>
                    <a:pt x="205153" y="89945"/>
                    <a:pt x="196485" y="89945"/>
                    <a:pt x="191137" y="95292"/>
                  </a:cubicBezTo>
                  <a:cubicBezTo>
                    <a:pt x="185790" y="100639"/>
                    <a:pt x="185790" y="109308"/>
                    <a:pt x="191137" y="114655"/>
                  </a:cubicBezTo>
                  <a:lnTo>
                    <a:pt x="240787" y="164306"/>
                  </a:lnTo>
                  <a:lnTo>
                    <a:pt x="191137" y="213958"/>
                  </a:lnTo>
                  <a:cubicBezTo>
                    <a:pt x="185790" y="219305"/>
                    <a:pt x="185790" y="227973"/>
                    <a:pt x="191137" y="233320"/>
                  </a:cubicBezTo>
                  <a:cubicBezTo>
                    <a:pt x="196485" y="238668"/>
                    <a:pt x="205153" y="238668"/>
                    <a:pt x="210500" y="233320"/>
                  </a:cubicBezTo>
                  <a:lnTo>
                    <a:pt x="269833" y="173988"/>
                  </a:lnTo>
                  <a:cubicBezTo>
                    <a:pt x="275180" y="168640"/>
                    <a:pt x="275180" y="159972"/>
                    <a:pt x="269833" y="154625"/>
                  </a:cubicBezTo>
                  <a:lnTo>
                    <a:pt x="210500" y="95292"/>
                  </a:ln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200" name="Group 199">
            <a:extLst>
              <a:ext uri="{FF2B5EF4-FFF2-40B4-BE49-F238E27FC236}">
                <a16:creationId xmlns:a16="http://schemas.microsoft.com/office/drawing/2014/main" id="{D9AF894B-FAEE-3E32-DBD5-50FAB4B4F974}"/>
              </a:ext>
            </a:extLst>
          </p:cNvPr>
          <p:cNvGrpSpPr/>
          <p:nvPr/>
        </p:nvGrpSpPr>
        <p:grpSpPr>
          <a:xfrm>
            <a:off x="8818160" y="5852231"/>
            <a:ext cx="354090" cy="354090"/>
            <a:chOff x="8745728" y="5783651"/>
            <a:chExt cx="354090" cy="354090"/>
          </a:xfrm>
        </p:grpSpPr>
        <p:sp>
          <p:nvSpPr>
            <p:cNvPr id="201" name="Oval 200">
              <a:extLst>
                <a:ext uri="{FF2B5EF4-FFF2-40B4-BE49-F238E27FC236}">
                  <a16:creationId xmlns:a16="http://schemas.microsoft.com/office/drawing/2014/main" id="{0B9E3517-60E8-0A97-4E45-78BE94FE531A}"/>
                </a:ext>
                <a:ext uri="{C183D7F6-B498-43B3-948B-1728B52AA6E4}">
                  <adec:decorative xmlns:adec="http://schemas.microsoft.com/office/drawing/2017/decorative" val="1"/>
                </a:ext>
              </a:extLst>
            </p:cNvPr>
            <p:cNvSpPr/>
            <p:nvPr/>
          </p:nvSpPr>
          <p:spPr>
            <a:xfrm>
              <a:off x="8745728"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203" name="Oval 202">
              <a:extLst>
                <a:ext uri="{FF2B5EF4-FFF2-40B4-BE49-F238E27FC236}">
                  <a16:creationId xmlns:a16="http://schemas.microsoft.com/office/drawing/2014/main" id="{08DF59A3-A82B-C4DA-ABF3-C58E49DCE523}"/>
                </a:ext>
                <a:ext uri="{C183D7F6-B498-43B3-948B-1728B52AA6E4}">
                  <adec:decorative xmlns:adec="http://schemas.microsoft.com/office/drawing/2017/decorative" val="1"/>
                </a:ext>
              </a:extLst>
            </p:cNvPr>
            <p:cNvSpPr/>
            <p:nvPr/>
          </p:nvSpPr>
          <p:spPr>
            <a:xfrm>
              <a:off x="8746084"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206" name="Graphic 127">
              <a:extLst>
                <a:ext uri="{FF2B5EF4-FFF2-40B4-BE49-F238E27FC236}">
                  <a16:creationId xmlns:a16="http://schemas.microsoft.com/office/drawing/2014/main" id="{B6DD635B-A9AB-AE04-B37F-AC8DD33E4EDD}"/>
                </a:ext>
                <a:ext uri="{C183D7F6-B498-43B3-948B-1728B52AA6E4}">
                  <adec:decorative xmlns:adec="http://schemas.microsoft.com/office/drawing/2017/decorative" val="1"/>
                </a:ext>
              </a:extLst>
            </p:cNvPr>
            <p:cNvSpPr/>
            <p:nvPr/>
          </p:nvSpPr>
          <p:spPr>
            <a:xfrm>
              <a:off x="8836380" y="5867282"/>
              <a:ext cx="172786" cy="186829"/>
            </a:xfrm>
            <a:custGeom>
              <a:avLst/>
              <a:gdLst>
                <a:gd name="csX0" fmla="*/ 86314 w 172786"/>
                <a:gd name="csY0" fmla="*/ 9 h 186829"/>
                <a:gd name="csX1" fmla="*/ 51199 w 172786"/>
                <a:gd name="csY1" fmla="*/ 34965 h 186829"/>
                <a:gd name="csX2" fmla="*/ 79310 w 172786"/>
                <a:gd name="csY2" fmla="*/ 69389 h 186829"/>
                <a:gd name="csX3" fmla="*/ 79310 w 172786"/>
                <a:gd name="csY3" fmla="*/ 88737 h 186829"/>
                <a:gd name="csX4" fmla="*/ 48963 w 172786"/>
                <a:gd name="csY4" fmla="*/ 88737 h 186829"/>
                <a:gd name="csX5" fmla="*/ 27953 w 172786"/>
                <a:gd name="csY5" fmla="*/ 109747 h 186829"/>
                <a:gd name="csX6" fmla="*/ 27953 w 172786"/>
                <a:gd name="csY6" fmla="*/ 117450 h 186829"/>
                <a:gd name="csX7" fmla="*/ 735 w 172786"/>
                <a:gd name="csY7" fmla="*/ 158884 h 186829"/>
                <a:gd name="csX8" fmla="*/ 34975 w 172786"/>
                <a:gd name="csY8" fmla="*/ 186830 h 186829"/>
                <a:gd name="csX9" fmla="*/ 70118 w 172786"/>
                <a:gd name="csY9" fmla="*/ 151903 h 186829"/>
                <a:gd name="csX10" fmla="*/ 41959 w 172786"/>
                <a:gd name="csY10" fmla="*/ 117441 h 186829"/>
                <a:gd name="csX11" fmla="*/ 41959 w 172786"/>
                <a:gd name="csY11" fmla="*/ 109737 h 186829"/>
                <a:gd name="csX12" fmla="*/ 48963 w 172786"/>
                <a:gd name="csY12" fmla="*/ 102734 h 186829"/>
                <a:gd name="csX13" fmla="*/ 123665 w 172786"/>
                <a:gd name="csY13" fmla="*/ 102734 h 186829"/>
                <a:gd name="csX14" fmla="*/ 130668 w 172786"/>
                <a:gd name="csY14" fmla="*/ 109737 h 186829"/>
                <a:gd name="csX15" fmla="*/ 130668 w 172786"/>
                <a:gd name="csY15" fmla="*/ 117441 h 186829"/>
                <a:gd name="csX16" fmla="*/ 103450 w 172786"/>
                <a:gd name="csY16" fmla="*/ 158874 h 186829"/>
                <a:gd name="csX17" fmla="*/ 137690 w 172786"/>
                <a:gd name="csY17" fmla="*/ 186820 h 186829"/>
                <a:gd name="csX18" fmla="*/ 172786 w 172786"/>
                <a:gd name="csY18" fmla="*/ 151846 h 186829"/>
                <a:gd name="csX19" fmla="*/ 144675 w 172786"/>
                <a:gd name="csY19" fmla="*/ 117441 h 186829"/>
                <a:gd name="csX20" fmla="*/ 144675 w 172786"/>
                <a:gd name="csY20" fmla="*/ 109737 h 186829"/>
                <a:gd name="csX21" fmla="*/ 123665 w 172786"/>
                <a:gd name="csY21" fmla="*/ 88727 h 186829"/>
                <a:gd name="csX22" fmla="*/ 93317 w 172786"/>
                <a:gd name="csY22" fmla="*/ 88727 h 186829"/>
                <a:gd name="csX23" fmla="*/ 93317 w 172786"/>
                <a:gd name="csY23" fmla="*/ 69379 h 186829"/>
                <a:gd name="csX24" fmla="*/ 120535 w 172786"/>
                <a:gd name="csY24" fmla="*/ 27946 h 186829"/>
                <a:gd name="csX25" fmla="*/ 86314 w 172786"/>
                <a:gd name="csY25" fmla="*/ 0 h 186829"/>
                <a:gd name="csX26" fmla="*/ 65285 w 172786"/>
                <a:gd name="csY26" fmla="*/ 35045 h 186829"/>
                <a:gd name="csX27" fmla="*/ 86314 w 172786"/>
                <a:gd name="csY27" fmla="*/ 14016 h 186829"/>
                <a:gd name="csX28" fmla="*/ 107342 w 172786"/>
                <a:gd name="csY28" fmla="*/ 35045 h 186829"/>
                <a:gd name="csX29" fmla="*/ 86314 w 172786"/>
                <a:gd name="csY29" fmla="*/ 56073 h 186829"/>
                <a:gd name="csX30" fmla="*/ 65285 w 172786"/>
                <a:gd name="csY30" fmla="*/ 35045 h 186829"/>
                <a:gd name="csX31" fmla="*/ 13946 w 172786"/>
                <a:gd name="csY31" fmla="*/ 151785 h 186829"/>
                <a:gd name="csX32" fmla="*/ 34979 w 172786"/>
                <a:gd name="csY32" fmla="*/ 130752 h 186829"/>
                <a:gd name="csX33" fmla="*/ 56013 w 172786"/>
                <a:gd name="csY33" fmla="*/ 151785 h 186829"/>
                <a:gd name="csX34" fmla="*/ 34979 w 172786"/>
                <a:gd name="csY34" fmla="*/ 172818 h 186829"/>
                <a:gd name="csX35" fmla="*/ 13946 w 172786"/>
                <a:gd name="csY35" fmla="*/ 151785 h 186829"/>
                <a:gd name="csX36" fmla="*/ 137690 w 172786"/>
                <a:gd name="csY36" fmla="*/ 130757 h 186829"/>
                <a:gd name="csX37" fmla="*/ 158719 w 172786"/>
                <a:gd name="csY37" fmla="*/ 151785 h 186829"/>
                <a:gd name="csX38" fmla="*/ 137690 w 172786"/>
                <a:gd name="csY38" fmla="*/ 172814 h 186829"/>
                <a:gd name="csX39" fmla="*/ 116661 w 172786"/>
                <a:gd name="csY39" fmla="*/ 151785 h 186829"/>
                <a:gd name="csX40" fmla="*/ 137690 w 172786"/>
                <a:gd name="csY40" fmla="*/ 130757 h 1868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72786" h="186829">
                  <a:moveTo>
                    <a:pt x="86314" y="9"/>
                  </a:moveTo>
                  <a:cubicBezTo>
                    <a:pt x="66964" y="-35"/>
                    <a:pt x="51243" y="15615"/>
                    <a:pt x="51199" y="34965"/>
                  </a:cubicBezTo>
                  <a:cubicBezTo>
                    <a:pt x="51161" y="51675"/>
                    <a:pt x="62929" y="66087"/>
                    <a:pt x="79310" y="69389"/>
                  </a:cubicBezTo>
                  <a:lnTo>
                    <a:pt x="79310" y="88737"/>
                  </a:lnTo>
                  <a:lnTo>
                    <a:pt x="48963" y="88737"/>
                  </a:lnTo>
                  <a:cubicBezTo>
                    <a:pt x="37359" y="88737"/>
                    <a:pt x="27953" y="98143"/>
                    <a:pt x="27953" y="109747"/>
                  </a:cubicBezTo>
                  <a:lnTo>
                    <a:pt x="27953" y="117450"/>
                  </a:lnTo>
                  <a:cubicBezTo>
                    <a:pt x="8995" y="121376"/>
                    <a:pt x="-3190" y="139926"/>
                    <a:pt x="735" y="158884"/>
                  </a:cubicBezTo>
                  <a:cubicBezTo>
                    <a:pt x="4099" y="175127"/>
                    <a:pt x="18387" y="186789"/>
                    <a:pt x="34975" y="186830"/>
                  </a:cubicBezTo>
                  <a:cubicBezTo>
                    <a:pt x="54324" y="186889"/>
                    <a:pt x="70059" y="171252"/>
                    <a:pt x="70118" y="151903"/>
                  </a:cubicBezTo>
                  <a:cubicBezTo>
                    <a:pt x="70170" y="135164"/>
                    <a:pt x="58373" y="120727"/>
                    <a:pt x="41959" y="117441"/>
                  </a:cubicBezTo>
                  <a:lnTo>
                    <a:pt x="41959" y="109737"/>
                  </a:lnTo>
                  <a:cubicBezTo>
                    <a:pt x="41959" y="105870"/>
                    <a:pt x="45095" y="102734"/>
                    <a:pt x="48963" y="102734"/>
                  </a:cubicBezTo>
                  <a:lnTo>
                    <a:pt x="123665" y="102734"/>
                  </a:lnTo>
                  <a:cubicBezTo>
                    <a:pt x="127532" y="102734"/>
                    <a:pt x="130668" y="105870"/>
                    <a:pt x="130668" y="109737"/>
                  </a:cubicBezTo>
                  <a:lnTo>
                    <a:pt x="130668" y="117441"/>
                  </a:lnTo>
                  <a:cubicBezTo>
                    <a:pt x="111711" y="121366"/>
                    <a:pt x="99525" y="139917"/>
                    <a:pt x="103450" y="158874"/>
                  </a:cubicBezTo>
                  <a:cubicBezTo>
                    <a:pt x="106814" y="175117"/>
                    <a:pt x="121102" y="186779"/>
                    <a:pt x="137690" y="186820"/>
                  </a:cubicBezTo>
                  <a:cubicBezTo>
                    <a:pt x="157040" y="186854"/>
                    <a:pt x="172752" y="171196"/>
                    <a:pt x="172786" y="151846"/>
                  </a:cubicBezTo>
                  <a:cubicBezTo>
                    <a:pt x="172815" y="135142"/>
                    <a:pt x="161048" y="120742"/>
                    <a:pt x="144675" y="117441"/>
                  </a:cubicBezTo>
                  <a:lnTo>
                    <a:pt x="144675" y="109737"/>
                  </a:lnTo>
                  <a:cubicBezTo>
                    <a:pt x="144675" y="98134"/>
                    <a:pt x="135268" y="88727"/>
                    <a:pt x="123665" y="88727"/>
                  </a:cubicBezTo>
                  <a:lnTo>
                    <a:pt x="93317" y="88727"/>
                  </a:lnTo>
                  <a:lnTo>
                    <a:pt x="93317" y="69379"/>
                  </a:lnTo>
                  <a:cubicBezTo>
                    <a:pt x="112275" y="65454"/>
                    <a:pt x="124460" y="46904"/>
                    <a:pt x="120535" y="27946"/>
                  </a:cubicBezTo>
                  <a:cubicBezTo>
                    <a:pt x="117173" y="11709"/>
                    <a:pt x="102895" y="49"/>
                    <a:pt x="86314" y="0"/>
                  </a:cubicBezTo>
                  <a:close/>
                  <a:moveTo>
                    <a:pt x="65285" y="35045"/>
                  </a:moveTo>
                  <a:cubicBezTo>
                    <a:pt x="65285" y="23431"/>
                    <a:pt x="74700" y="14016"/>
                    <a:pt x="86314" y="14016"/>
                  </a:cubicBezTo>
                  <a:cubicBezTo>
                    <a:pt x="97927" y="14016"/>
                    <a:pt x="107342" y="23431"/>
                    <a:pt x="107342" y="35045"/>
                  </a:cubicBezTo>
                  <a:cubicBezTo>
                    <a:pt x="107342" y="46658"/>
                    <a:pt x="97927" y="56073"/>
                    <a:pt x="86314" y="56073"/>
                  </a:cubicBezTo>
                  <a:cubicBezTo>
                    <a:pt x="74700" y="56073"/>
                    <a:pt x="65285" y="46658"/>
                    <a:pt x="65285" y="35045"/>
                  </a:cubicBezTo>
                  <a:close/>
                  <a:moveTo>
                    <a:pt x="13946" y="151785"/>
                  </a:moveTo>
                  <a:cubicBezTo>
                    <a:pt x="13946" y="140169"/>
                    <a:pt x="23363" y="130752"/>
                    <a:pt x="34979" y="130752"/>
                  </a:cubicBezTo>
                  <a:cubicBezTo>
                    <a:pt x="46596" y="130752"/>
                    <a:pt x="56013" y="140169"/>
                    <a:pt x="56013" y="151785"/>
                  </a:cubicBezTo>
                  <a:cubicBezTo>
                    <a:pt x="56013" y="163401"/>
                    <a:pt x="46596" y="172818"/>
                    <a:pt x="34979" y="172818"/>
                  </a:cubicBezTo>
                  <a:cubicBezTo>
                    <a:pt x="23363" y="172818"/>
                    <a:pt x="13946" y="163401"/>
                    <a:pt x="13946" y="151785"/>
                  </a:cubicBezTo>
                  <a:close/>
                  <a:moveTo>
                    <a:pt x="137690" y="130757"/>
                  </a:moveTo>
                  <a:cubicBezTo>
                    <a:pt x="149303" y="130757"/>
                    <a:pt x="158719" y="140172"/>
                    <a:pt x="158719" y="151785"/>
                  </a:cubicBezTo>
                  <a:cubicBezTo>
                    <a:pt x="158719" y="163399"/>
                    <a:pt x="149303" y="172814"/>
                    <a:pt x="137690" y="172814"/>
                  </a:cubicBezTo>
                  <a:cubicBezTo>
                    <a:pt x="126077" y="172814"/>
                    <a:pt x="116661" y="163399"/>
                    <a:pt x="116661" y="151785"/>
                  </a:cubicBezTo>
                  <a:cubicBezTo>
                    <a:pt x="116661" y="140172"/>
                    <a:pt x="126077" y="130757"/>
                    <a:pt x="137690" y="130757"/>
                  </a:cubicBez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a:lstStyle/>
            <a:p>
              <a:endParaRPr lang="en-US" noProof="0" dirty="0"/>
            </a:p>
          </p:txBody>
        </p:sp>
      </p:grpSp>
      <p:pic>
        <p:nvPicPr>
          <p:cNvPr id="207" name="Image 15" descr="Chevron Circle Right (outlined)">
            <a:extLst>
              <a:ext uri="{FF2B5EF4-FFF2-40B4-BE49-F238E27FC236}">
                <a16:creationId xmlns:a16="http://schemas.microsoft.com/office/drawing/2014/main" id="{6E90C4BA-178A-63EE-3495-6FBFA6B134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92177" y="5936861"/>
            <a:ext cx="184830" cy="184830"/>
          </a:xfrm>
          <a:prstGeom prst="rect">
            <a:avLst/>
          </a:prstGeom>
        </p:spPr>
      </p:pic>
      <p:pic>
        <p:nvPicPr>
          <p:cNvPr id="208" name="Image 15" descr="Chevron Circle Right (outlined)">
            <a:extLst>
              <a:ext uri="{FF2B5EF4-FFF2-40B4-BE49-F238E27FC236}">
                <a16:creationId xmlns:a16="http://schemas.microsoft.com/office/drawing/2014/main" id="{84FB9566-78B5-D50F-FC7A-1D138961D1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09495" y="5936861"/>
            <a:ext cx="184830" cy="184830"/>
          </a:xfrm>
          <a:prstGeom prst="rect">
            <a:avLst/>
          </a:prstGeom>
        </p:spPr>
      </p:pic>
      <p:pic>
        <p:nvPicPr>
          <p:cNvPr id="209" name="Image 15" descr="Chevron Circle Right (outlined)">
            <a:extLst>
              <a:ext uri="{FF2B5EF4-FFF2-40B4-BE49-F238E27FC236}">
                <a16:creationId xmlns:a16="http://schemas.microsoft.com/office/drawing/2014/main" id="{11799748-5651-A864-2451-FD692B04D9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26813" y="5936861"/>
            <a:ext cx="184830" cy="184830"/>
          </a:xfrm>
          <a:prstGeom prst="rect">
            <a:avLst/>
          </a:prstGeom>
        </p:spPr>
      </p:pic>
      <p:pic>
        <p:nvPicPr>
          <p:cNvPr id="210" name="Image 15" descr="Chevron Circle Right (outlined)">
            <a:extLst>
              <a:ext uri="{FF2B5EF4-FFF2-40B4-BE49-F238E27FC236}">
                <a16:creationId xmlns:a16="http://schemas.microsoft.com/office/drawing/2014/main" id="{E6F3D80C-066D-D036-1F53-D6A4A7185C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44131" y="5936861"/>
            <a:ext cx="184830" cy="184830"/>
          </a:xfrm>
          <a:prstGeom prst="rect">
            <a:avLst/>
          </a:prstGeom>
        </p:spPr>
      </p:pic>
      <p:pic>
        <p:nvPicPr>
          <p:cNvPr id="211" name="Image 15" descr="Chevron Circle Right (outlined)">
            <a:extLst>
              <a:ext uri="{FF2B5EF4-FFF2-40B4-BE49-F238E27FC236}">
                <a16:creationId xmlns:a16="http://schemas.microsoft.com/office/drawing/2014/main" id="{26E9BF0A-D175-90C9-5AFE-549C2BF8DD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61449" y="5936861"/>
            <a:ext cx="184830" cy="184830"/>
          </a:xfrm>
          <a:prstGeom prst="rect">
            <a:avLst/>
          </a:prstGeom>
        </p:spPr>
      </p:pic>
      <p:pic>
        <p:nvPicPr>
          <p:cNvPr id="212" name="Image 15" descr="Chevron Circle Right (outlined)">
            <a:extLst>
              <a:ext uri="{FF2B5EF4-FFF2-40B4-BE49-F238E27FC236}">
                <a16:creationId xmlns:a16="http://schemas.microsoft.com/office/drawing/2014/main" id="{5F1053AA-DA94-64E1-12F2-7EC9129AA0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78767" y="5936861"/>
            <a:ext cx="184830" cy="184830"/>
          </a:xfrm>
          <a:prstGeom prst="rect">
            <a:avLst/>
          </a:prstGeom>
        </p:spPr>
      </p:pic>
      <p:sp>
        <p:nvSpPr>
          <p:cNvPr id="214" name="Rounded Rectangle 34">
            <a:extLst>
              <a:ext uri="{FF2B5EF4-FFF2-40B4-BE49-F238E27FC236}">
                <a16:creationId xmlns:a16="http://schemas.microsoft.com/office/drawing/2014/main" id="{0F4A6B58-0AA0-EAD2-59C1-5FD360B5E850}"/>
              </a:ext>
              <a:ext uri="{C183D7F6-B498-43B3-948B-1728B52AA6E4}">
                <adec:decorative xmlns:adec="http://schemas.microsoft.com/office/drawing/2017/decorative" val="1"/>
              </a:ext>
            </a:extLst>
          </p:cNvPr>
          <p:cNvSpPr/>
          <p:nvPr/>
        </p:nvSpPr>
        <p:spPr bwMode="auto">
          <a:xfrm>
            <a:off x="4188653" y="1801670"/>
            <a:ext cx="7570699" cy="2584320"/>
          </a:xfrm>
          <a:prstGeom prst="roundRect">
            <a:avLst>
              <a:gd name="adj" fmla="val 6094"/>
            </a:avLst>
          </a:prstGeom>
          <a:noFill/>
          <a:ln w="3175" cap="flat" cmpd="sng" algn="ctr">
            <a:solidFill>
              <a:srgbClr val="FFFFFF"/>
            </a:solid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96354" eaLnBrk="1" fontAlgn="auto" latinLnBrk="0" hangingPunct="1">
              <a:lnSpc>
                <a:spcPct val="100000"/>
              </a:lnSpc>
              <a:spcBef>
                <a:spcPct val="20000"/>
              </a:spcBef>
              <a:spcAft>
                <a:spcPts val="0"/>
              </a:spcAft>
              <a:buClrTx/>
              <a:buSzPct val="90000"/>
              <a:buFontTx/>
              <a:buNone/>
              <a:tabLst/>
              <a:defRPr/>
            </a:pPr>
            <a:endParaRPr kumimoji="0" lang="en-US" sz="1176" b="0" i="0" u="none" strike="noStrike" kern="0" cap="none" spc="0" normalizeH="0" baseline="0" noProof="0" dirty="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215" name="Rounded Rectangle 34">
            <a:extLst>
              <a:ext uri="{FF2B5EF4-FFF2-40B4-BE49-F238E27FC236}">
                <a16:creationId xmlns:a16="http://schemas.microsoft.com/office/drawing/2014/main" id="{AAB1310F-483A-8EF6-6D27-241DD8F27CBE}"/>
              </a:ext>
              <a:ext uri="{C183D7F6-B498-43B3-948B-1728B52AA6E4}">
                <adec:decorative xmlns:adec="http://schemas.microsoft.com/office/drawing/2017/decorative" val="1"/>
              </a:ext>
            </a:extLst>
          </p:cNvPr>
          <p:cNvSpPr/>
          <p:nvPr/>
        </p:nvSpPr>
        <p:spPr bwMode="auto">
          <a:xfrm>
            <a:off x="4287900" y="1889936"/>
            <a:ext cx="7390405" cy="2410786"/>
          </a:xfrm>
          <a:prstGeom prst="roundRect">
            <a:avLst>
              <a:gd name="adj" fmla="val 5241"/>
            </a:avLst>
          </a:prstGeom>
          <a:solidFill>
            <a:srgbClr val="FFFFFF"/>
          </a:solidFill>
          <a:ln w="12700" cap="flat" cmpd="sng" algn="ctr">
            <a:noFill/>
            <a:prstDash val="solid"/>
            <a:miter lim="800000"/>
          </a:ln>
          <a:effectLst/>
        </p:spPr>
        <p:txBody>
          <a:bodyPr rtlCol="0" anchor="t"/>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176" b="0" i="0" u="none" strike="noStrike" kern="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endParaRPr>
          </a:p>
        </p:txBody>
      </p:sp>
      <p:sp>
        <p:nvSpPr>
          <p:cNvPr id="216" name="TextBox 215">
            <a:extLst>
              <a:ext uri="{FF2B5EF4-FFF2-40B4-BE49-F238E27FC236}">
                <a16:creationId xmlns:a16="http://schemas.microsoft.com/office/drawing/2014/main" id="{946B6602-F8BC-13E2-9813-EDCE5E8D30C7}"/>
              </a:ext>
            </a:extLst>
          </p:cNvPr>
          <p:cNvSpPr txBox="1"/>
          <p:nvPr/>
        </p:nvSpPr>
        <p:spPr>
          <a:xfrm>
            <a:off x="5046748" y="2156687"/>
            <a:ext cx="936887" cy="331899"/>
          </a:xfrm>
          <a:prstGeom prst="rect">
            <a:avLst/>
          </a:prstGeom>
          <a:noFill/>
        </p:spPr>
        <p:txBody>
          <a:bodyPr wrap="square" lIns="0" tIns="0" rIns="0" bIns="0" rtlCol="0" anchor="ctr">
            <a:spAutoFit/>
          </a:bodyPr>
          <a:lstStyle/>
          <a:p>
            <a:pPr defTabSz="914225">
              <a:defRPr/>
            </a:pPr>
            <a:r>
              <a:rPr lang="en-US" sz="1078" noProof="0" dirty="0">
                <a:solidFill>
                  <a:srgbClr val="000000"/>
                </a:solidFill>
                <a:latin typeface="Segoe Sans Display Semibold" pitchFamily="2" charset="0"/>
                <a:cs typeface="Segoe Sans Display Semibold" pitchFamily="2" charset="0"/>
              </a:rPr>
              <a:t>Analyze </a:t>
            </a:r>
          </a:p>
          <a:p>
            <a:pPr defTabSz="914225">
              <a:defRPr/>
            </a:pPr>
            <a:r>
              <a:rPr lang="en-US" sz="1078" noProof="0" dirty="0">
                <a:solidFill>
                  <a:srgbClr val="000000"/>
                </a:solidFill>
                <a:latin typeface="Segoe Sans Display Semibold" pitchFamily="2" charset="0"/>
                <a:cs typeface="Segoe Sans Display Semibold" pitchFamily="2" charset="0"/>
              </a:rPr>
              <a:t>requirements</a:t>
            </a:r>
          </a:p>
        </p:txBody>
      </p:sp>
      <p:sp>
        <p:nvSpPr>
          <p:cNvPr id="217" name="TextBox 216">
            <a:extLst>
              <a:ext uri="{FF2B5EF4-FFF2-40B4-BE49-F238E27FC236}">
                <a16:creationId xmlns:a16="http://schemas.microsoft.com/office/drawing/2014/main" id="{EECFB8C0-3A43-4239-EFD8-E1AEA12BD08B}"/>
              </a:ext>
            </a:extLst>
          </p:cNvPr>
          <p:cNvSpPr txBox="1"/>
          <p:nvPr/>
        </p:nvSpPr>
        <p:spPr>
          <a:xfrm>
            <a:off x="6096001" y="2056876"/>
            <a:ext cx="5353877" cy="603242"/>
          </a:xfrm>
          <a:prstGeom prst="rect">
            <a:avLst/>
          </a:prstGeom>
          <a:noFill/>
        </p:spPr>
        <p:txBody>
          <a:bodyPr wrap="square" lIns="0" tIns="0" rIns="0" bIns="0" rtlCol="0" anchor="ctr">
            <a:spAutoFit/>
          </a:bodyPr>
          <a:lstStyle/>
          <a:p>
            <a:pPr marL="171450" indent="-171450" fontAlgn="base">
              <a:buFont typeface="Arial" panose="020B0604020202020204" pitchFamily="34" charset="0"/>
              <a:buChar char="•"/>
              <a:defRPr/>
            </a:pPr>
            <a:r>
              <a:rPr lang="en-US" sz="980" noProof="0" dirty="0">
                <a:solidFill>
                  <a:prstClr val="black"/>
                </a:solidFill>
              </a:rPr>
              <a:t>Validate discovery questionnaire for custom workload settings in existing capacities.</a:t>
            </a:r>
          </a:p>
          <a:p>
            <a:pPr marL="171450" indent="-171450" fontAlgn="base">
              <a:buFont typeface="Arial" panose="020B0604020202020204" pitchFamily="34" charset="0"/>
              <a:buChar char="•"/>
              <a:defRPr/>
            </a:pPr>
            <a:r>
              <a:rPr lang="en-US" sz="980" noProof="0" dirty="0">
                <a:solidFill>
                  <a:prstClr val="black"/>
                </a:solidFill>
              </a:rPr>
              <a:t>Utilize SKU sizing guidelines and calculator to assist the customer in purchasing the right target SKU</a:t>
            </a:r>
          </a:p>
          <a:p>
            <a:pPr marL="171450" indent="-171450" fontAlgn="base">
              <a:buFont typeface="Arial" panose="020B0604020202020204" pitchFamily="34" charset="0"/>
              <a:buChar char="•"/>
              <a:defRPr/>
            </a:pPr>
            <a:r>
              <a:rPr lang="en-US" sz="980" noProof="0" dirty="0">
                <a:solidFill>
                  <a:prstClr val="black"/>
                </a:solidFill>
              </a:rPr>
              <a:t>Identify roles, permissions, and responsibilities for migration plan</a:t>
            </a:r>
          </a:p>
        </p:txBody>
      </p:sp>
      <p:sp>
        <p:nvSpPr>
          <p:cNvPr id="218" name="TextBox 217">
            <a:extLst>
              <a:ext uri="{FF2B5EF4-FFF2-40B4-BE49-F238E27FC236}">
                <a16:creationId xmlns:a16="http://schemas.microsoft.com/office/drawing/2014/main" id="{27F10143-918B-79AB-5E35-A5210A04C02C}"/>
              </a:ext>
            </a:extLst>
          </p:cNvPr>
          <p:cNvSpPr txBox="1"/>
          <p:nvPr/>
        </p:nvSpPr>
        <p:spPr>
          <a:xfrm>
            <a:off x="5046748" y="2931780"/>
            <a:ext cx="936887" cy="497637"/>
          </a:xfrm>
          <a:prstGeom prst="rect">
            <a:avLst/>
          </a:prstGeom>
          <a:noFill/>
        </p:spPr>
        <p:txBody>
          <a:bodyPr wrap="square" lIns="0" tIns="0" rIns="0" bIns="0" rtlCol="0" anchor="ctr">
            <a:spAutoFit/>
          </a:bodyPr>
          <a:lstStyle/>
          <a:p>
            <a:pPr defTabSz="914225">
              <a:defRPr/>
            </a:pPr>
            <a:r>
              <a:rPr lang="en-US" sz="1078" noProof="0" dirty="0">
                <a:solidFill>
                  <a:srgbClr val="000000"/>
                </a:solidFill>
                <a:latin typeface="Segoe Sans Display Semibold" pitchFamily="2" charset="0"/>
                <a:cs typeface="Segoe Sans Display Semibold" pitchFamily="2" charset="0"/>
              </a:rPr>
              <a:t>Deploy SKU migration strategy</a:t>
            </a:r>
          </a:p>
        </p:txBody>
      </p:sp>
      <p:sp>
        <p:nvSpPr>
          <p:cNvPr id="219" name="TextBox 218">
            <a:extLst>
              <a:ext uri="{FF2B5EF4-FFF2-40B4-BE49-F238E27FC236}">
                <a16:creationId xmlns:a16="http://schemas.microsoft.com/office/drawing/2014/main" id="{39CE1766-AD26-955B-FCFF-757244414C46}"/>
              </a:ext>
            </a:extLst>
          </p:cNvPr>
          <p:cNvSpPr txBox="1"/>
          <p:nvPr/>
        </p:nvSpPr>
        <p:spPr>
          <a:xfrm>
            <a:off x="6096001" y="2954382"/>
            <a:ext cx="5445469" cy="452432"/>
          </a:xfrm>
          <a:prstGeom prst="rect">
            <a:avLst/>
          </a:prstGeom>
          <a:noFill/>
        </p:spPr>
        <p:txBody>
          <a:bodyPr wrap="square" lIns="0" tIns="0" rIns="0" bIns="0" rtlCol="0" anchor="ctr">
            <a:spAutoFit/>
          </a:bodyPr>
          <a:lstStyle/>
          <a:p>
            <a:pPr marL="171450" indent="-171450" fontAlgn="base">
              <a:buFont typeface="Arial" panose="020B0604020202020204" pitchFamily="34" charset="0"/>
              <a:buChar char="•"/>
              <a:defRPr/>
            </a:pPr>
            <a:r>
              <a:rPr lang="en-US" sz="980" noProof="0" dirty="0">
                <a:solidFill>
                  <a:prstClr val="black"/>
                </a:solidFill>
              </a:rPr>
              <a:t>Utilize P SKU to F SKU migration plan and execute strategy in migrating workspaces individually or by bulk based on corporate strategy​</a:t>
            </a:r>
          </a:p>
          <a:p>
            <a:pPr marL="171450" indent="-171450" fontAlgn="base">
              <a:buFont typeface="Arial" panose="020B0604020202020204" pitchFamily="34" charset="0"/>
              <a:buChar char="•"/>
              <a:defRPr/>
            </a:pPr>
            <a:r>
              <a:rPr lang="en-US" sz="980" noProof="0" dirty="0">
                <a:solidFill>
                  <a:prstClr val="black"/>
                </a:solidFill>
              </a:rPr>
              <a:t>Perform validation and cutover.</a:t>
            </a:r>
          </a:p>
        </p:txBody>
      </p:sp>
      <p:cxnSp>
        <p:nvCxnSpPr>
          <p:cNvPr id="220" name="Straight Connector 219">
            <a:extLst>
              <a:ext uri="{FF2B5EF4-FFF2-40B4-BE49-F238E27FC236}">
                <a16:creationId xmlns:a16="http://schemas.microsoft.com/office/drawing/2014/main" id="{A838E423-6275-3CD0-1067-7324D9816243}"/>
              </a:ext>
              <a:ext uri="{C183D7F6-B498-43B3-948B-1728B52AA6E4}">
                <adec:decorative xmlns:adec="http://schemas.microsoft.com/office/drawing/2017/decorative" val="1"/>
              </a:ext>
            </a:extLst>
          </p:cNvPr>
          <p:cNvCxnSpPr>
            <a:cxnSpLocks/>
          </p:cNvCxnSpPr>
          <p:nvPr/>
        </p:nvCxnSpPr>
        <p:spPr>
          <a:xfrm flipH="1">
            <a:off x="6096001" y="2764190"/>
            <a:ext cx="5445469" cy="0"/>
          </a:xfrm>
          <a:prstGeom prst="line">
            <a:avLst/>
          </a:prstGeom>
          <a:noFill/>
          <a:ln w="12700" cap="rnd" cmpd="sng" algn="ctr">
            <a:solidFill>
              <a:srgbClr val="225B61">
                <a:alpha val="20000"/>
              </a:srgbClr>
            </a:solidFill>
            <a:prstDash val="solid"/>
            <a:miter lim="800000"/>
            <a:headEnd type="none" w="sm" len="sm"/>
            <a:tailEnd type="none" w="lg" len="med"/>
          </a:ln>
          <a:effectLst/>
        </p:spPr>
      </p:cxnSp>
      <p:cxnSp>
        <p:nvCxnSpPr>
          <p:cNvPr id="221" name="Straight Connector 220">
            <a:extLst>
              <a:ext uri="{FF2B5EF4-FFF2-40B4-BE49-F238E27FC236}">
                <a16:creationId xmlns:a16="http://schemas.microsoft.com/office/drawing/2014/main" id="{002CEFEE-6388-6732-5ADE-D94D32E652E8}"/>
              </a:ext>
              <a:ext uri="{C183D7F6-B498-43B3-948B-1728B52AA6E4}">
                <adec:decorative xmlns:adec="http://schemas.microsoft.com/office/drawing/2017/decorative" val="1"/>
              </a:ext>
            </a:extLst>
          </p:cNvPr>
          <p:cNvCxnSpPr>
            <a:cxnSpLocks/>
          </p:cNvCxnSpPr>
          <p:nvPr/>
        </p:nvCxnSpPr>
        <p:spPr>
          <a:xfrm flipH="1">
            <a:off x="6096001" y="3597007"/>
            <a:ext cx="5445469" cy="0"/>
          </a:xfrm>
          <a:prstGeom prst="line">
            <a:avLst/>
          </a:prstGeom>
          <a:noFill/>
          <a:ln w="12700" cap="rnd" cmpd="sng" algn="ctr">
            <a:solidFill>
              <a:srgbClr val="225B61">
                <a:alpha val="20000"/>
              </a:srgbClr>
            </a:solidFill>
            <a:prstDash val="solid"/>
            <a:miter lim="800000"/>
            <a:headEnd type="none" w="sm" len="sm"/>
            <a:tailEnd type="none" w="lg" len="med"/>
          </a:ln>
          <a:effectLst/>
        </p:spPr>
      </p:cxnSp>
      <p:grpSp>
        <p:nvGrpSpPr>
          <p:cNvPr id="222" name="Group 221">
            <a:extLst>
              <a:ext uri="{FF2B5EF4-FFF2-40B4-BE49-F238E27FC236}">
                <a16:creationId xmlns:a16="http://schemas.microsoft.com/office/drawing/2014/main" id="{0E06B54F-30C2-41F8-390D-CA21C68D2364}"/>
              </a:ext>
              <a:ext uri="{C183D7F6-B498-43B3-948B-1728B52AA6E4}">
                <adec:decorative xmlns:adec="http://schemas.microsoft.com/office/drawing/2017/decorative" val="1"/>
              </a:ext>
            </a:extLst>
          </p:cNvPr>
          <p:cNvGrpSpPr/>
          <p:nvPr/>
        </p:nvGrpSpPr>
        <p:grpSpPr>
          <a:xfrm>
            <a:off x="4470983" y="2111190"/>
            <a:ext cx="422900" cy="1280860"/>
            <a:chOff x="4470983" y="2111190"/>
            <a:chExt cx="422900" cy="1280860"/>
          </a:xfrm>
        </p:grpSpPr>
        <p:sp>
          <p:nvSpPr>
            <p:cNvPr id="223" name="Oval 222">
              <a:extLst>
                <a:ext uri="{FF2B5EF4-FFF2-40B4-BE49-F238E27FC236}">
                  <a16:creationId xmlns:a16="http://schemas.microsoft.com/office/drawing/2014/main" id="{D5F9AD2F-C2AC-3F91-C7FA-C40C85571C55}"/>
                </a:ext>
                <a:ext uri="{C183D7F6-B498-43B3-948B-1728B52AA6E4}">
                  <adec:decorative xmlns:adec="http://schemas.microsoft.com/office/drawing/2017/decorative" val="1"/>
                </a:ext>
              </a:extLst>
            </p:cNvPr>
            <p:cNvSpPr/>
            <p:nvPr/>
          </p:nvSpPr>
          <p:spPr>
            <a:xfrm>
              <a:off x="4470983" y="2111190"/>
              <a:ext cx="422900" cy="422899"/>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solidFill>
                  <a:srgbClr val="225B61"/>
                </a:solidFill>
                <a:effectLst/>
                <a:uLnTx/>
                <a:uFillTx/>
                <a:latin typeface="Segoe Sans Display"/>
                <a:ea typeface="+mn-ea"/>
                <a:cs typeface="Segoe Sans Display Semibold" pitchFamily="2" charset="0"/>
              </a:endParaRPr>
            </a:p>
          </p:txBody>
        </p:sp>
        <p:sp>
          <p:nvSpPr>
            <p:cNvPr id="224" name="Oval 223">
              <a:extLst>
                <a:ext uri="{FF2B5EF4-FFF2-40B4-BE49-F238E27FC236}">
                  <a16:creationId xmlns:a16="http://schemas.microsoft.com/office/drawing/2014/main" id="{60CB60BF-8D99-B688-6097-F3A0E1BD3895}"/>
                </a:ext>
                <a:ext uri="{C183D7F6-B498-43B3-948B-1728B52AA6E4}">
                  <adec:decorative xmlns:adec="http://schemas.microsoft.com/office/drawing/2017/decorative" val="1"/>
                </a:ext>
              </a:extLst>
            </p:cNvPr>
            <p:cNvSpPr/>
            <p:nvPr/>
          </p:nvSpPr>
          <p:spPr>
            <a:xfrm>
              <a:off x="4471408" y="2111615"/>
              <a:ext cx="422050" cy="422050"/>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0000"/>
                </a:solidFill>
                <a:effectLst/>
                <a:uLnTx/>
                <a:uFillTx/>
                <a:latin typeface="Segoe Sans Text Semilight"/>
                <a:ea typeface="+mn-ea"/>
                <a:cs typeface="+mn-cs"/>
              </a:endParaRPr>
            </a:p>
          </p:txBody>
        </p:sp>
        <p:sp>
          <p:nvSpPr>
            <p:cNvPr id="225" name="Oval 224">
              <a:extLst>
                <a:ext uri="{FF2B5EF4-FFF2-40B4-BE49-F238E27FC236}">
                  <a16:creationId xmlns:a16="http://schemas.microsoft.com/office/drawing/2014/main" id="{3AF2F707-0EEA-8455-6A8F-A8B9C1BF45BF}"/>
                </a:ext>
                <a:ext uri="{C183D7F6-B498-43B3-948B-1728B52AA6E4}">
                  <adec:decorative xmlns:adec="http://schemas.microsoft.com/office/drawing/2017/decorative" val="1"/>
                </a:ext>
              </a:extLst>
            </p:cNvPr>
            <p:cNvSpPr/>
            <p:nvPr/>
          </p:nvSpPr>
          <p:spPr>
            <a:xfrm>
              <a:off x="4470983" y="2969151"/>
              <a:ext cx="422900" cy="422899"/>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solidFill>
                  <a:srgbClr val="225B61"/>
                </a:solidFill>
                <a:effectLst/>
                <a:uLnTx/>
                <a:uFillTx/>
                <a:latin typeface="Segoe Sans Display"/>
                <a:ea typeface="+mn-ea"/>
                <a:cs typeface="Segoe Sans Display Semibold" pitchFamily="2" charset="0"/>
              </a:endParaRPr>
            </a:p>
          </p:txBody>
        </p:sp>
        <p:sp>
          <p:nvSpPr>
            <p:cNvPr id="226" name="Oval 225">
              <a:extLst>
                <a:ext uri="{FF2B5EF4-FFF2-40B4-BE49-F238E27FC236}">
                  <a16:creationId xmlns:a16="http://schemas.microsoft.com/office/drawing/2014/main" id="{47AF05F1-CB71-ED50-5A63-DB334B58DC38}"/>
                </a:ext>
                <a:ext uri="{C183D7F6-B498-43B3-948B-1728B52AA6E4}">
                  <adec:decorative xmlns:adec="http://schemas.microsoft.com/office/drawing/2017/decorative" val="1"/>
                </a:ext>
              </a:extLst>
            </p:cNvPr>
            <p:cNvSpPr/>
            <p:nvPr/>
          </p:nvSpPr>
          <p:spPr>
            <a:xfrm>
              <a:off x="4471408" y="2969576"/>
              <a:ext cx="422050" cy="422050"/>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0000"/>
                </a:solidFill>
                <a:effectLst/>
                <a:uLnTx/>
                <a:uFillTx/>
                <a:latin typeface="Segoe Sans Text Semilight"/>
                <a:ea typeface="+mn-ea"/>
                <a:cs typeface="+mn-cs"/>
              </a:endParaRPr>
            </a:p>
          </p:txBody>
        </p:sp>
        <p:sp>
          <p:nvSpPr>
            <p:cNvPr id="227" name="Graphic 77" descr="Icon of a document of a checkmark">
              <a:extLst>
                <a:ext uri="{FF2B5EF4-FFF2-40B4-BE49-F238E27FC236}">
                  <a16:creationId xmlns:a16="http://schemas.microsoft.com/office/drawing/2014/main" id="{0EDBD1B0-5621-D907-3E3C-FDEC1A32B93C}"/>
                </a:ext>
              </a:extLst>
            </p:cNvPr>
            <p:cNvSpPr/>
            <p:nvPr/>
          </p:nvSpPr>
          <p:spPr>
            <a:xfrm>
              <a:off x="4573172" y="2201875"/>
              <a:ext cx="218520" cy="241523"/>
            </a:xfrm>
            <a:custGeom>
              <a:avLst/>
              <a:gdLst>
                <a:gd name="connsiteX0" fmla="*/ 262783 w 293698"/>
                <a:gd name="connsiteY0" fmla="*/ 285970 h 324614"/>
                <a:gd name="connsiteX1" fmla="*/ 174176 w 293698"/>
                <a:gd name="connsiteY1" fmla="*/ 285970 h 324614"/>
                <a:gd name="connsiteX2" fmla="*/ 157522 w 293698"/>
                <a:gd name="connsiteY2" fmla="*/ 309157 h 324614"/>
                <a:gd name="connsiteX3" fmla="*/ 262783 w 293698"/>
                <a:gd name="connsiteY3" fmla="*/ 309157 h 324614"/>
                <a:gd name="connsiteX4" fmla="*/ 293699 w 293698"/>
                <a:gd name="connsiteY4" fmla="*/ 278241 h 324614"/>
                <a:gd name="connsiteX5" fmla="*/ 293699 w 293698"/>
                <a:gd name="connsiteY5" fmla="*/ 121004 h 324614"/>
                <a:gd name="connsiteX6" fmla="*/ 284641 w 293698"/>
                <a:gd name="connsiteY6" fmla="*/ 99147 h 324614"/>
                <a:gd name="connsiteX7" fmla="*/ 194537 w 293698"/>
                <a:gd name="connsiteY7" fmla="*/ 9058 h 324614"/>
                <a:gd name="connsiteX8" fmla="*/ 193784 w 293698"/>
                <a:gd name="connsiteY8" fmla="*/ 8428 h 324614"/>
                <a:gd name="connsiteX9" fmla="*/ 193223 w 293698"/>
                <a:gd name="connsiteY9" fmla="*/ 7976 h 324614"/>
                <a:gd name="connsiteX10" fmla="*/ 189838 w 293698"/>
                <a:gd name="connsiteY10" fmla="*/ 5194 h 324614"/>
                <a:gd name="connsiteX11" fmla="*/ 188593 w 293698"/>
                <a:gd name="connsiteY11" fmla="*/ 4515 h 324614"/>
                <a:gd name="connsiteX12" fmla="*/ 187859 w 293698"/>
                <a:gd name="connsiteY12" fmla="*/ 4143 h 324614"/>
                <a:gd name="connsiteX13" fmla="*/ 187086 w 293698"/>
                <a:gd name="connsiteY13" fmla="*/ 3700 h 324614"/>
                <a:gd name="connsiteX14" fmla="*/ 184520 w 293698"/>
                <a:gd name="connsiteY14" fmla="*/ 2350 h 324614"/>
                <a:gd name="connsiteX15" fmla="*/ 174874 w 293698"/>
                <a:gd name="connsiteY15" fmla="*/ 216 h 324614"/>
                <a:gd name="connsiteX16" fmla="*/ 173966 w 293698"/>
                <a:gd name="connsiteY16" fmla="*/ 115 h 324614"/>
                <a:gd name="connsiteX17" fmla="*/ 172695 w 293698"/>
                <a:gd name="connsiteY17" fmla="*/ 0 h 324614"/>
                <a:gd name="connsiteX18" fmla="*/ 77289 w 293698"/>
                <a:gd name="connsiteY18" fmla="*/ 0 h 324614"/>
                <a:gd name="connsiteX19" fmla="*/ 46374 w 293698"/>
                <a:gd name="connsiteY19" fmla="*/ 30916 h 324614"/>
                <a:gd name="connsiteX20" fmla="*/ 46374 w 293698"/>
                <a:gd name="connsiteY20" fmla="*/ 146822 h 324614"/>
                <a:gd name="connsiteX21" fmla="*/ 69560 w 293698"/>
                <a:gd name="connsiteY21" fmla="*/ 140301 h 324614"/>
                <a:gd name="connsiteX22" fmla="*/ 69560 w 293698"/>
                <a:gd name="connsiteY22" fmla="*/ 30916 h 324614"/>
                <a:gd name="connsiteX23" fmla="*/ 77289 w 293698"/>
                <a:gd name="connsiteY23" fmla="*/ 23187 h 324614"/>
                <a:gd name="connsiteX24" fmla="*/ 170036 w 293698"/>
                <a:gd name="connsiteY24" fmla="*/ 23187 h 324614"/>
                <a:gd name="connsiteX25" fmla="*/ 170036 w 293698"/>
                <a:gd name="connsiteY25" fmla="*/ 92747 h 324614"/>
                <a:gd name="connsiteX26" fmla="*/ 200952 w 293698"/>
                <a:gd name="connsiteY26" fmla="*/ 123663 h 324614"/>
                <a:gd name="connsiteX27" fmla="*/ 270512 w 293698"/>
                <a:gd name="connsiteY27" fmla="*/ 123663 h 324614"/>
                <a:gd name="connsiteX28" fmla="*/ 270512 w 293698"/>
                <a:gd name="connsiteY28" fmla="*/ 278241 h 324614"/>
                <a:gd name="connsiteX29" fmla="*/ 262783 w 293698"/>
                <a:gd name="connsiteY29" fmla="*/ 285970 h 324614"/>
                <a:gd name="connsiteX30" fmla="*/ 253168 w 293698"/>
                <a:gd name="connsiteY30" fmla="*/ 100476 h 324614"/>
                <a:gd name="connsiteX31" fmla="*/ 200952 w 293698"/>
                <a:gd name="connsiteY31" fmla="*/ 100476 h 324614"/>
                <a:gd name="connsiteX32" fmla="*/ 193223 w 293698"/>
                <a:gd name="connsiteY32" fmla="*/ 92747 h 324614"/>
                <a:gd name="connsiteX33" fmla="*/ 193223 w 293698"/>
                <a:gd name="connsiteY33" fmla="*/ 40515 h 324614"/>
                <a:gd name="connsiteX34" fmla="*/ 253168 w 293698"/>
                <a:gd name="connsiteY34" fmla="*/ 100476 h 324614"/>
                <a:gd name="connsiteX35" fmla="*/ 185494 w 293698"/>
                <a:gd name="connsiteY35" fmla="*/ 239596 h 324614"/>
                <a:gd name="connsiteX36" fmla="*/ 182806 w 293698"/>
                <a:gd name="connsiteY36" fmla="*/ 262783 h 324614"/>
                <a:gd name="connsiteX37" fmla="*/ 220274 w 293698"/>
                <a:gd name="connsiteY37" fmla="*/ 262783 h 324614"/>
                <a:gd name="connsiteX38" fmla="*/ 247325 w 293698"/>
                <a:gd name="connsiteY38" fmla="*/ 235732 h 324614"/>
                <a:gd name="connsiteX39" fmla="*/ 247325 w 293698"/>
                <a:gd name="connsiteY39" fmla="*/ 173901 h 324614"/>
                <a:gd name="connsiteX40" fmla="*/ 220274 w 293698"/>
                <a:gd name="connsiteY40" fmla="*/ 146849 h 324614"/>
                <a:gd name="connsiteX41" fmla="*/ 123731 w 293698"/>
                <a:gd name="connsiteY41" fmla="*/ 146849 h 324614"/>
                <a:gd name="connsiteX42" fmla="*/ 162307 w 293698"/>
                <a:gd name="connsiteY42" fmla="*/ 175391 h 324614"/>
                <a:gd name="connsiteX43" fmla="*/ 162307 w 293698"/>
                <a:gd name="connsiteY43" fmla="*/ 170036 h 324614"/>
                <a:gd name="connsiteX44" fmla="*/ 220274 w 293698"/>
                <a:gd name="connsiteY44" fmla="*/ 170036 h 324614"/>
                <a:gd name="connsiteX45" fmla="*/ 224139 w 293698"/>
                <a:gd name="connsiteY45" fmla="*/ 173901 h 324614"/>
                <a:gd name="connsiteX46" fmla="*/ 224139 w 293698"/>
                <a:gd name="connsiteY46" fmla="*/ 193223 h 324614"/>
                <a:gd name="connsiteX47" fmla="*/ 174176 w 293698"/>
                <a:gd name="connsiteY47" fmla="*/ 193223 h 324614"/>
                <a:gd name="connsiteX48" fmla="*/ 182806 w 293698"/>
                <a:gd name="connsiteY48" fmla="*/ 216410 h 324614"/>
                <a:gd name="connsiteX49" fmla="*/ 224139 w 293698"/>
                <a:gd name="connsiteY49" fmla="*/ 216410 h 324614"/>
                <a:gd name="connsiteX50" fmla="*/ 224139 w 293698"/>
                <a:gd name="connsiteY50" fmla="*/ 235732 h 324614"/>
                <a:gd name="connsiteX51" fmla="*/ 220274 w 293698"/>
                <a:gd name="connsiteY51" fmla="*/ 239596 h 324614"/>
                <a:gd name="connsiteX52" fmla="*/ 185494 w 293698"/>
                <a:gd name="connsiteY52" fmla="*/ 239596 h 324614"/>
                <a:gd name="connsiteX53" fmla="*/ 170036 w 293698"/>
                <a:gd name="connsiteY53" fmla="*/ 239596 h 324614"/>
                <a:gd name="connsiteX54" fmla="*/ 85018 w 293698"/>
                <a:gd name="connsiteY54" fmla="*/ 324615 h 324614"/>
                <a:gd name="connsiteX55" fmla="*/ 0 w 293698"/>
                <a:gd name="connsiteY55" fmla="*/ 239596 h 324614"/>
                <a:gd name="connsiteX56" fmla="*/ 85018 w 293698"/>
                <a:gd name="connsiteY56" fmla="*/ 154578 h 324614"/>
                <a:gd name="connsiteX57" fmla="*/ 170036 w 293698"/>
                <a:gd name="connsiteY57" fmla="*/ 239596 h 324614"/>
                <a:gd name="connsiteX58" fmla="*/ 136857 w 293698"/>
                <a:gd name="connsiteY58" fmla="*/ 203215 h 324614"/>
                <a:gd name="connsiteX59" fmla="*/ 125926 w 293698"/>
                <a:gd name="connsiteY59" fmla="*/ 203215 h 324614"/>
                <a:gd name="connsiteX60" fmla="*/ 69560 w 293698"/>
                <a:gd name="connsiteY60" fmla="*/ 259582 h 324614"/>
                <a:gd name="connsiteX61" fmla="*/ 44110 w 293698"/>
                <a:gd name="connsiteY61" fmla="*/ 234131 h 324614"/>
                <a:gd name="connsiteX62" fmla="*/ 33179 w 293698"/>
                <a:gd name="connsiteY62" fmla="*/ 234131 h 324614"/>
                <a:gd name="connsiteX63" fmla="*/ 33179 w 293698"/>
                <a:gd name="connsiteY63" fmla="*/ 245062 h 324614"/>
                <a:gd name="connsiteX64" fmla="*/ 64095 w 293698"/>
                <a:gd name="connsiteY64" fmla="*/ 275978 h 324614"/>
                <a:gd name="connsiteX65" fmla="*/ 75025 w 293698"/>
                <a:gd name="connsiteY65" fmla="*/ 275978 h 324614"/>
                <a:gd name="connsiteX66" fmla="*/ 136857 w 293698"/>
                <a:gd name="connsiteY66" fmla="*/ 214147 h 324614"/>
                <a:gd name="connsiteX67" fmla="*/ 136857 w 293698"/>
                <a:gd name="connsiteY67" fmla="*/ 203215 h 32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93698" h="324614">
                  <a:moveTo>
                    <a:pt x="262783" y="285970"/>
                  </a:moveTo>
                  <a:lnTo>
                    <a:pt x="174176" y="285970"/>
                  </a:lnTo>
                  <a:cubicBezTo>
                    <a:pt x="169736" y="294487"/>
                    <a:pt x="164113" y="302289"/>
                    <a:pt x="157522" y="309157"/>
                  </a:cubicBezTo>
                  <a:lnTo>
                    <a:pt x="262783" y="309157"/>
                  </a:lnTo>
                  <a:cubicBezTo>
                    <a:pt x="279849" y="309157"/>
                    <a:pt x="293699" y="295306"/>
                    <a:pt x="293699" y="278241"/>
                  </a:cubicBezTo>
                  <a:lnTo>
                    <a:pt x="293699" y="121004"/>
                  </a:lnTo>
                  <a:cubicBezTo>
                    <a:pt x="293699" y="112811"/>
                    <a:pt x="290437" y="104943"/>
                    <a:pt x="284641" y="99147"/>
                  </a:cubicBezTo>
                  <a:lnTo>
                    <a:pt x="194537" y="9058"/>
                  </a:lnTo>
                  <a:cubicBezTo>
                    <a:pt x="194305" y="8827"/>
                    <a:pt x="194044" y="8627"/>
                    <a:pt x="193784" y="8428"/>
                  </a:cubicBezTo>
                  <a:cubicBezTo>
                    <a:pt x="193591" y="8280"/>
                    <a:pt x="193401" y="8134"/>
                    <a:pt x="193223" y="7976"/>
                  </a:cubicBezTo>
                  <a:cubicBezTo>
                    <a:pt x="192125" y="6987"/>
                    <a:pt x="191043" y="6013"/>
                    <a:pt x="189838" y="5194"/>
                  </a:cubicBezTo>
                  <a:cubicBezTo>
                    <a:pt x="189447" y="4930"/>
                    <a:pt x="189020" y="4722"/>
                    <a:pt x="188593" y="4515"/>
                  </a:cubicBezTo>
                  <a:cubicBezTo>
                    <a:pt x="188346" y="4394"/>
                    <a:pt x="188099" y="4274"/>
                    <a:pt x="187859" y="4143"/>
                  </a:cubicBezTo>
                  <a:cubicBezTo>
                    <a:pt x="187601" y="3997"/>
                    <a:pt x="187344" y="3849"/>
                    <a:pt x="187086" y="3700"/>
                  </a:cubicBezTo>
                  <a:cubicBezTo>
                    <a:pt x="186248" y="3215"/>
                    <a:pt x="185407" y="2728"/>
                    <a:pt x="184520" y="2350"/>
                  </a:cubicBezTo>
                  <a:cubicBezTo>
                    <a:pt x="181475" y="1082"/>
                    <a:pt x="178198" y="448"/>
                    <a:pt x="174874" y="216"/>
                  </a:cubicBezTo>
                  <a:cubicBezTo>
                    <a:pt x="174570" y="197"/>
                    <a:pt x="174269" y="156"/>
                    <a:pt x="173966" y="115"/>
                  </a:cubicBezTo>
                  <a:cubicBezTo>
                    <a:pt x="173547" y="57"/>
                    <a:pt x="173126" y="0"/>
                    <a:pt x="172695" y="0"/>
                  </a:cubicBezTo>
                  <a:lnTo>
                    <a:pt x="77289" y="0"/>
                  </a:lnTo>
                  <a:cubicBezTo>
                    <a:pt x="60224" y="0"/>
                    <a:pt x="46374" y="13850"/>
                    <a:pt x="46374" y="30916"/>
                  </a:cubicBezTo>
                  <a:lnTo>
                    <a:pt x="46374" y="146822"/>
                  </a:lnTo>
                  <a:cubicBezTo>
                    <a:pt x="53703" y="143764"/>
                    <a:pt x="61473" y="141550"/>
                    <a:pt x="69560" y="140301"/>
                  </a:cubicBezTo>
                  <a:lnTo>
                    <a:pt x="69560" y="30916"/>
                  </a:lnTo>
                  <a:cubicBezTo>
                    <a:pt x="69560" y="26665"/>
                    <a:pt x="73023" y="23187"/>
                    <a:pt x="77289" y="23187"/>
                  </a:cubicBezTo>
                  <a:lnTo>
                    <a:pt x="170036" y="23187"/>
                  </a:lnTo>
                  <a:lnTo>
                    <a:pt x="170036" y="92747"/>
                  </a:lnTo>
                  <a:cubicBezTo>
                    <a:pt x="170036" y="109812"/>
                    <a:pt x="183886" y="123663"/>
                    <a:pt x="200952" y="123663"/>
                  </a:cubicBezTo>
                  <a:lnTo>
                    <a:pt x="270512" y="123663"/>
                  </a:lnTo>
                  <a:lnTo>
                    <a:pt x="270512" y="278241"/>
                  </a:lnTo>
                  <a:cubicBezTo>
                    <a:pt x="270512" y="282492"/>
                    <a:pt x="267050" y="285970"/>
                    <a:pt x="262783" y="285970"/>
                  </a:cubicBezTo>
                  <a:close/>
                  <a:moveTo>
                    <a:pt x="253168" y="100476"/>
                  </a:moveTo>
                  <a:lnTo>
                    <a:pt x="200952" y="100476"/>
                  </a:lnTo>
                  <a:cubicBezTo>
                    <a:pt x="196685" y="100476"/>
                    <a:pt x="193223" y="96998"/>
                    <a:pt x="193223" y="92747"/>
                  </a:cubicBezTo>
                  <a:lnTo>
                    <a:pt x="193223" y="40515"/>
                  </a:lnTo>
                  <a:lnTo>
                    <a:pt x="253168" y="100476"/>
                  </a:lnTo>
                  <a:close/>
                  <a:moveTo>
                    <a:pt x="185494" y="239596"/>
                  </a:moveTo>
                  <a:cubicBezTo>
                    <a:pt x="185494" y="247577"/>
                    <a:pt x="184563" y="255340"/>
                    <a:pt x="182806" y="262783"/>
                  </a:cubicBezTo>
                  <a:lnTo>
                    <a:pt x="220274" y="262783"/>
                  </a:lnTo>
                  <a:cubicBezTo>
                    <a:pt x="235214" y="262783"/>
                    <a:pt x="247325" y="250672"/>
                    <a:pt x="247325" y="235732"/>
                  </a:cubicBezTo>
                  <a:lnTo>
                    <a:pt x="247325" y="173901"/>
                  </a:lnTo>
                  <a:cubicBezTo>
                    <a:pt x="247325" y="158961"/>
                    <a:pt x="235214" y="146849"/>
                    <a:pt x="220274" y="146849"/>
                  </a:cubicBezTo>
                  <a:lnTo>
                    <a:pt x="123731" y="146849"/>
                  </a:lnTo>
                  <a:cubicBezTo>
                    <a:pt x="138803" y="153148"/>
                    <a:pt x="152014" y="163014"/>
                    <a:pt x="162307" y="175391"/>
                  </a:cubicBezTo>
                  <a:lnTo>
                    <a:pt x="162307" y="170036"/>
                  </a:lnTo>
                  <a:lnTo>
                    <a:pt x="220274" y="170036"/>
                  </a:lnTo>
                  <a:cubicBezTo>
                    <a:pt x="222409" y="170036"/>
                    <a:pt x="224139" y="171766"/>
                    <a:pt x="224139" y="173901"/>
                  </a:cubicBezTo>
                  <a:lnTo>
                    <a:pt x="224139" y="193223"/>
                  </a:lnTo>
                  <a:lnTo>
                    <a:pt x="174176" y="193223"/>
                  </a:lnTo>
                  <a:cubicBezTo>
                    <a:pt x="177957" y="200477"/>
                    <a:pt x="180878" y="208251"/>
                    <a:pt x="182806" y="216410"/>
                  </a:cubicBezTo>
                  <a:lnTo>
                    <a:pt x="224139" y="216410"/>
                  </a:lnTo>
                  <a:lnTo>
                    <a:pt x="224139" y="235732"/>
                  </a:lnTo>
                  <a:cubicBezTo>
                    <a:pt x="224139" y="237867"/>
                    <a:pt x="222409" y="239596"/>
                    <a:pt x="220274" y="239596"/>
                  </a:cubicBezTo>
                  <a:lnTo>
                    <a:pt x="185494" y="239596"/>
                  </a:lnTo>
                  <a:close/>
                  <a:moveTo>
                    <a:pt x="170036" y="239596"/>
                  </a:moveTo>
                  <a:cubicBezTo>
                    <a:pt x="170036" y="286551"/>
                    <a:pt x="131972" y="324615"/>
                    <a:pt x="85018" y="324615"/>
                  </a:cubicBezTo>
                  <a:cubicBezTo>
                    <a:pt x="38064" y="324615"/>
                    <a:pt x="0" y="286551"/>
                    <a:pt x="0" y="239596"/>
                  </a:cubicBezTo>
                  <a:cubicBezTo>
                    <a:pt x="0" y="192642"/>
                    <a:pt x="38064" y="154578"/>
                    <a:pt x="85018" y="154578"/>
                  </a:cubicBezTo>
                  <a:cubicBezTo>
                    <a:pt x="131972" y="154578"/>
                    <a:pt x="170036" y="192642"/>
                    <a:pt x="170036" y="239596"/>
                  </a:cubicBezTo>
                  <a:close/>
                  <a:moveTo>
                    <a:pt x="136857" y="203215"/>
                  </a:moveTo>
                  <a:cubicBezTo>
                    <a:pt x="133838" y="200197"/>
                    <a:pt x="128945" y="200197"/>
                    <a:pt x="125926" y="203215"/>
                  </a:cubicBezTo>
                  <a:lnTo>
                    <a:pt x="69560" y="259582"/>
                  </a:lnTo>
                  <a:lnTo>
                    <a:pt x="44110" y="234131"/>
                  </a:lnTo>
                  <a:cubicBezTo>
                    <a:pt x="41091" y="231113"/>
                    <a:pt x="36198" y="231113"/>
                    <a:pt x="33179" y="234131"/>
                  </a:cubicBezTo>
                  <a:cubicBezTo>
                    <a:pt x="30161" y="237149"/>
                    <a:pt x="30161" y="242043"/>
                    <a:pt x="33179" y="245062"/>
                  </a:cubicBezTo>
                  <a:lnTo>
                    <a:pt x="64095" y="275978"/>
                  </a:lnTo>
                  <a:cubicBezTo>
                    <a:pt x="67113" y="278995"/>
                    <a:pt x="72007" y="278995"/>
                    <a:pt x="75025" y="275978"/>
                  </a:cubicBezTo>
                  <a:lnTo>
                    <a:pt x="136857" y="214147"/>
                  </a:lnTo>
                  <a:cubicBezTo>
                    <a:pt x="139875" y="211128"/>
                    <a:pt x="139875" y="206234"/>
                    <a:pt x="136857" y="203215"/>
                  </a:cubicBezTo>
                  <a:close/>
                </a:path>
              </a:pathLst>
            </a:custGeom>
            <a:solidFill>
              <a:srgbClr val="000000"/>
            </a:solidFill>
            <a:ln w="15081" cap="flat">
              <a:noFill/>
              <a:prstDash val="solid"/>
              <a:miter/>
            </a:ln>
          </p:spPr>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marL="0" marR="0" lvl="0" indent="0" defTabSz="896445" eaLnBrk="1" fontAlgn="auto" latinLnBrk="0" hangingPunct="1">
                <a:lnSpc>
                  <a:spcPct val="100000"/>
                </a:lnSpc>
                <a:spcBef>
                  <a:spcPts val="0"/>
                </a:spcBef>
                <a:spcAft>
                  <a:spcPts val="0"/>
                </a:spcAft>
                <a:buClrTx/>
                <a:buSzTx/>
                <a:buFontTx/>
                <a:buNone/>
                <a:tabLst/>
                <a:defRPr/>
              </a:pPr>
              <a:endParaRPr kumimoji="0" lang="en-US" sz="1568" b="0" i="0" u="none" strike="noStrike" kern="0" cap="none" spc="0" normalizeH="0" baseline="0" noProof="0" dirty="0">
                <a:ln>
                  <a:noFill/>
                </a:ln>
                <a:solidFill>
                  <a:srgbClr val="000000"/>
                </a:solidFill>
                <a:effectLst/>
                <a:uLnTx/>
                <a:uFillTx/>
                <a:latin typeface="Segoe UI"/>
              </a:endParaRPr>
            </a:p>
          </p:txBody>
        </p:sp>
        <p:pic>
          <p:nvPicPr>
            <p:cNvPr id="228" name="Picture 227">
              <a:extLst>
                <a:ext uri="{FF2B5EF4-FFF2-40B4-BE49-F238E27FC236}">
                  <a16:creationId xmlns:a16="http://schemas.microsoft.com/office/drawing/2014/main" id="{FA79BAF9-3A70-3B0A-33AC-4CFC1B57232B}"/>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47150" y="3032104"/>
              <a:ext cx="266358" cy="266879"/>
            </a:xfrm>
            <a:prstGeom prst="rect">
              <a:avLst/>
            </a:prstGeom>
          </p:spPr>
        </p:pic>
      </p:grpSp>
      <p:sp>
        <p:nvSpPr>
          <p:cNvPr id="230" name="TextBox 340">
            <a:extLst>
              <a:ext uri="{FF2B5EF4-FFF2-40B4-BE49-F238E27FC236}">
                <a16:creationId xmlns:a16="http://schemas.microsoft.com/office/drawing/2014/main" id="{B6C878D1-FAFB-0A3F-7217-DF67149F2865}"/>
              </a:ext>
            </a:extLst>
          </p:cNvPr>
          <p:cNvSpPr txBox="1">
            <a:spLocks/>
          </p:cNvSpPr>
          <p:nvPr/>
        </p:nvSpPr>
        <p:spPr>
          <a:xfrm>
            <a:off x="4281708" y="698547"/>
            <a:ext cx="2092501"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eaLnBrk="0" fontAlgn="base" hangingPunct="0">
              <a:spcBef>
                <a:spcPct val="0"/>
              </a:spcBef>
              <a:spcAft>
                <a:spcPct val="0"/>
              </a:spcAft>
            </a:pPr>
            <a:r>
              <a:rPr lang="en-US" sz="1000" noProof="0" dirty="0">
                <a:solidFill>
                  <a:srgbClr val="000000"/>
                </a:solidFill>
                <a:latin typeface="Aptos" panose="020B0004020202020204" pitchFamily="34" charset="0"/>
              </a:rPr>
              <a:t>Discovery and assess baseline architecture, along with identifying key stakeholders, migration scenarios and establish plan to move to F SKU</a:t>
            </a:r>
            <a:endParaRPr lang="en-US" sz="1400" noProof="0" dirty="0">
              <a:latin typeface="Arial" panose="020B0604020202020204" pitchFamily="34" charset="0"/>
            </a:endParaRPr>
          </a:p>
        </p:txBody>
      </p:sp>
      <p:sp>
        <p:nvSpPr>
          <p:cNvPr id="232" name="TextBox 340">
            <a:extLst>
              <a:ext uri="{FF2B5EF4-FFF2-40B4-BE49-F238E27FC236}">
                <a16:creationId xmlns:a16="http://schemas.microsoft.com/office/drawing/2014/main" id="{EB94C065-8BAC-ABCC-72BD-79BFE8E5263E}"/>
              </a:ext>
            </a:extLst>
          </p:cNvPr>
          <p:cNvSpPr txBox="1">
            <a:spLocks/>
          </p:cNvSpPr>
          <p:nvPr/>
        </p:nvSpPr>
        <p:spPr>
          <a:xfrm>
            <a:off x="6873326" y="697957"/>
            <a:ext cx="2190270" cy="603242"/>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prstClr val="black"/>
                </a:solidFill>
                <a:effectLst/>
                <a:uLnTx/>
                <a:uFillTx/>
                <a:ea typeface="+mn-ea"/>
                <a:cs typeface="+mn-cs"/>
              </a:rPr>
              <a:t>Migration to F SKU provides several benefits including smaller starting SKUs, capacity reservations, Azure-only features and pay-as-you-go options.</a:t>
            </a:r>
          </a:p>
        </p:txBody>
      </p:sp>
      <p:sp>
        <p:nvSpPr>
          <p:cNvPr id="234" name="TextBox 340">
            <a:extLst>
              <a:ext uri="{FF2B5EF4-FFF2-40B4-BE49-F238E27FC236}">
                <a16:creationId xmlns:a16="http://schemas.microsoft.com/office/drawing/2014/main" id="{A225F8EA-9ACA-A0A5-7ACF-F641FC175009}"/>
              </a:ext>
            </a:extLst>
          </p:cNvPr>
          <p:cNvSpPr txBox="1">
            <a:spLocks/>
          </p:cNvSpPr>
          <p:nvPr/>
        </p:nvSpPr>
        <p:spPr>
          <a:xfrm>
            <a:off x="9484286" y="692697"/>
            <a:ext cx="2190270" cy="7540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prstClr val="black"/>
                </a:solidFill>
                <a:effectLst/>
                <a:uLnTx/>
                <a:uFillTx/>
                <a:ea typeface="+mn-ea"/>
                <a:cs typeface="+mn-cs"/>
              </a:rPr>
              <a:t>Microsoft Fabric Capacity (F SKU) is a superset of Power BI premium, which provides compute for data processing, report rendering and other data analytics workloads.</a:t>
            </a:r>
          </a:p>
        </p:txBody>
      </p:sp>
    </p:spTree>
    <p:extLst>
      <p:ext uri="{BB962C8B-B14F-4D97-AF65-F5344CB8AC3E}">
        <p14:creationId xmlns:p14="http://schemas.microsoft.com/office/powerpoint/2010/main" val="951095396"/>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87E41750-95BA-70B0-93FD-E6560E07C542}"/>
              </a:ext>
              <a:ext uri="{C183D7F6-B498-43B3-948B-1728B52AA6E4}">
                <adec:decorative xmlns:adec="http://schemas.microsoft.com/office/drawing/2017/decorative" val="1"/>
              </a:ext>
            </a:extLst>
          </p:cNvPr>
          <p:cNvSpPr>
            <a:spLocks/>
          </p:cNvSpPr>
          <p:nvPr/>
        </p:nvSpPr>
        <p:spPr bwMode="auto">
          <a:xfrm>
            <a:off x="586740" y="1332955"/>
            <a:ext cx="11018520" cy="4828133"/>
          </a:xfrm>
          <a:prstGeom prst="roundRect">
            <a:avLst>
              <a:gd name="adj" fmla="val 37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Rectangle: Rounded Corners 16">
            <a:extLst>
              <a:ext uri="{FF2B5EF4-FFF2-40B4-BE49-F238E27FC236}">
                <a16:creationId xmlns:a16="http://schemas.microsoft.com/office/drawing/2014/main" id="{00F8F2EE-A902-CB72-80DF-A43EDF278A2D}"/>
              </a:ext>
            </a:extLst>
          </p:cNvPr>
          <p:cNvSpPr/>
          <p:nvPr/>
        </p:nvSpPr>
        <p:spPr bwMode="auto">
          <a:xfrm>
            <a:off x="700089" y="1436192"/>
            <a:ext cx="10791824" cy="941832"/>
          </a:xfrm>
          <a:prstGeom prst="round2SameRect">
            <a:avLst>
              <a:gd name="adj1" fmla="val 12622"/>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graphicFrame>
        <p:nvGraphicFramePr>
          <p:cNvPr id="20" name="Table 19">
            <a:extLst>
              <a:ext uri="{FF2B5EF4-FFF2-40B4-BE49-F238E27FC236}">
                <a16:creationId xmlns:a16="http://schemas.microsoft.com/office/drawing/2014/main" id="{90098659-4EA4-746F-CB19-1EC5F31F5E64}"/>
              </a:ext>
            </a:extLst>
          </p:cNvPr>
          <p:cNvGraphicFramePr>
            <a:graphicFrameLocks noGrp="1"/>
          </p:cNvGraphicFramePr>
          <p:nvPr>
            <p:extLst>
              <p:ext uri="{D42A27DB-BD31-4B8C-83A1-F6EECF244321}">
                <p14:modId xmlns:p14="http://schemas.microsoft.com/office/powerpoint/2010/main" val="218855046"/>
              </p:ext>
            </p:extLst>
          </p:nvPr>
        </p:nvGraphicFramePr>
        <p:xfrm>
          <a:off x="700087" y="1436192"/>
          <a:ext cx="10791825" cy="4621660"/>
        </p:xfrm>
        <a:graphic>
          <a:graphicData uri="http://schemas.openxmlformats.org/drawingml/2006/table">
            <a:tbl>
              <a:tblPr firstRow="1" firstCol="1" bandRow="1">
                <a:effectLst>
                  <a:outerShdw blurRad="127000" algn="ctr" rotWithShape="0">
                    <a:srgbClr val="000000">
                      <a:alpha val="10000"/>
                    </a:srgbClr>
                  </a:outerShdw>
                </a:effectLst>
                <a:tableStyleId>{B301B821-A1FF-4177-AEE7-76D212191A09}</a:tableStyleId>
              </a:tblPr>
              <a:tblGrid>
                <a:gridCol w="4990803">
                  <a:extLst>
                    <a:ext uri="{9D8B030D-6E8A-4147-A177-3AD203B41FA5}">
                      <a16:colId xmlns:a16="http://schemas.microsoft.com/office/drawing/2014/main" val="3581702336"/>
                    </a:ext>
                  </a:extLst>
                </a:gridCol>
                <a:gridCol w="5801022">
                  <a:extLst>
                    <a:ext uri="{9D8B030D-6E8A-4147-A177-3AD203B41FA5}">
                      <a16:colId xmlns:a16="http://schemas.microsoft.com/office/drawing/2014/main" val="604349641"/>
                    </a:ext>
                  </a:extLst>
                </a:gridCol>
              </a:tblGrid>
              <a:tr h="942439">
                <a:tc>
                  <a:txBody>
                    <a:bodyPr/>
                    <a:lstStyle/>
                    <a:p>
                      <a:pPr marL="0" algn="ctr" defTabSz="932742" rtl="0" eaLnBrk="1" latinLnBrk="0" hangingPunct="1">
                        <a:lnSpc>
                          <a:spcPct val="100000"/>
                        </a:lnSpc>
                      </a:pPr>
                      <a:r>
                        <a:rPr lang="en-US" sz="1600" b="0" kern="1200" noProof="0" dirty="0">
                          <a:solidFill>
                            <a:schemeClr val="bg1"/>
                          </a:solidFill>
                          <a:latin typeface="+mj-lt"/>
                          <a:ea typeface="+mn-ea"/>
                          <a:cs typeface="+mn-cs"/>
                        </a:rPr>
                        <a:t>Migration scenario</a:t>
                      </a:r>
                    </a:p>
                  </a:txBody>
                  <a:tcPr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32742" rtl="0" eaLnBrk="1" latinLnBrk="0" hangingPunct="1">
                        <a:lnSpc>
                          <a:spcPct val="100000"/>
                        </a:lnSpc>
                      </a:pPr>
                      <a:r>
                        <a:rPr lang="en-US" sz="1600" b="0" kern="1200" noProof="0" dirty="0">
                          <a:solidFill>
                            <a:schemeClr val="bg1"/>
                          </a:solidFill>
                          <a:latin typeface="+mj-lt"/>
                          <a:ea typeface="+mn-ea"/>
                          <a:cs typeface="+mn-cs"/>
                        </a:rPr>
                        <a:t>Supported by Factory</a:t>
                      </a:r>
                    </a:p>
                  </a:txBody>
                  <a:tcPr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8668818"/>
                  </a:ext>
                </a:extLst>
              </a:tr>
              <a:tr h="815972">
                <a:tc>
                  <a:txBody>
                    <a:bodyPr/>
                    <a:lstStyle/>
                    <a:p>
                      <a:pPr marL="214313" lvl="0" indent="-214313">
                        <a:spcAft>
                          <a:spcPts val="400"/>
                        </a:spcAft>
                        <a:buAutoNum type="arabicPeriod"/>
                        <a:tabLst/>
                      </a:pPr>
                      <a:r>
                        <a:rPr lang="en-US" sz="1400" b="0" kern="1200" noProof="0" dirty="0">
                          <a:solidFill>
                            <a:schemeClr val="tx1"/>
                          </a:solidFill>
                          <a:latin typeface="+mn-lt"/>
                        </a:rPr>
                        <a:t>Migrating workspaces having </a:t>
                      </a:r>
                      <a:r>
                        <a:rPr lang="en-US" sz="1400" b="0" u="sng" kern="1200" noProof="0" dirty="0">
                          <a:solidFill>
                            <a:schemeClr val="tx2"/>
                          </a:solidFill>
                          <a:latin typeface="+mj-lt"/>
                        </a:rPr>
                        <a:t>only Power BI</a:t>
                      </a:r>
                      <a:r>
                        <a:rPr lang="en-US" sz="1400" b="0" u="none" kern="1200" noProof="0" dirty="0">
                          <a:solidFill>
                            <a:schemeClr val="tx2"/>
                          </a:solidFill>
                          <a:latin typeface="+mj-lt"/>
                        </a:rPr>
                        <a:t> </a:t>
                      </a:r>
                      <a:r>
                        <a:rPr lang="en-US" sz="1400" b="0" kern="1200" noProof="0" dirty="0">
                          <a:solidFill>
                            <a:schemeClr val="tx1"/>
                          </a:solidFill>
                          <a:latin typeface="+mn-lt"/>
                        </a:rPr>
                        <a:t>items</a:t>
                      </a:r>
                    </a:p>
                    <a:p>
                      <a:pPr marL="541338" lvl="0" indent="-198438">
                        <a:buFont typeface="Segoe Sans Text" pitchFamily="2" charset="0"/>
                        <a:buChar char="‒"/>
                      </a:pPr>
                      <a:r>
                        <a:rPr lang="en-US" sz="1400" b="0" kern="1200" noProof="0" dirty="0">
                          <a:solidFill>
                            <a:schemeClr val="tx1"/>
                          </a:solidFill>
                          <a:latin typeface="+mn-lt"/>
                        </a:rPr>
                        <a:t>within the same region</a:t>
                      </a:r>
                      <a:endParaRPr lang="en-US" sz="1400" b="0" kern="1200" noProof="0" dirty="0">
                        <a:solidFill>
                          <a:schemeClr val="tx1"/>
                        </a:solidFill>
                        <a:latin typeface="+mn-lt"/>
                        <a:ea typeface="+mn-ea"/>
                        <a:cs typeface="Segoe Sans Display" pitchFamily="2"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latinLnBrk="0" hangingPunct="1"/>
                      <a:r>
                        <a:rPr lang="en-US" sz="1400" b="0" kern="1200" noProof="0" dirty="0">
                          <a:solidFill>
                            <a:schemeClr val="tx1"/>
                          </a:solidFill>
                          <a:latin typeface="+mn-lt"/>
                        </a:rPr>
                        <a:t>Yes</a:t>
                      </a:r>
                      <a:endParaRPr lang="en-US" sz="1400" b="0" kern="1200" noProof="0" dirty="0">
                        <a:solidFill>
                          <a:schemeClr val="tx1"/>
                        </a:solidFill>
                        <a:latin typeface="+mn-lt"/>
                        <a:ea typeface="+mn-ea"/>
                        <a:cs typeface="Segoe Sans Display" pitchFamily="2" charset="0"/>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6948736"/>
                  </a:ext>
                </a:extLst>
              </a:tr>
              <a:tr h="831877">
                <a:tc>
                  <a:txBody>
                    <a:bodyPr/>
                    <a:lstStyle/>
                    <a:p>
                      <a:pPr marL="214313" lvl="0" indent="-214313">
                        <a:spcAft>
                          <a:spcPts val="400"/>
                        </a:spcAft>
                        <a:buFont typeface="+mj-lt"/>
                        <a:buAutoNum type="arabicPeriod" startAt="2"/>
                      </a:pPr>
                      <a:r>
                        <a:rPr lang="en-US" sz="1400" b="0" kern="1200" noProof="0" dirty="0">
                          <a:solidFill>
                            <a:schemeClr val="tx1"/>
                          </a:solidFill>
                          <a:latin typeface="+mn-lt"/>
                        </a:rPr>
                        <a:t>Migrating workspaces having </a:t>
                      </a:r>
                      <a:r>
                        <a:rPr lang="en-US" sz="1400" b="0" u="sng" kern="1200" noProof="0" dirty="0">
                          <a:solidFill>
                            <a:schemeClr val="tx2"/>
                          </a:solidFill>
                          <a:latin typeface="+mj-lt"/>
                        </a:rPr>
                        <a:t>only Power BI</a:t>
                      </a:r>
                      <a:r>
                        <a:rPr lang="en-US" sz="1400" b="0" u="none" kern="1200" noProof="0" dirty="0">
                          <a:solidFill>
                            <a:schemeClr val="tx2"/>
                          </a:solidFill>
                          <a:latin typeface="+mj-lt"/>
                        </a:rPr>
                        <a:t> </a:t>
                      </a:r>
                      <a:r>
                        <a:rPr lang="en-US" sz="1400" b="0" kern="1200" noProof="0" dirty="0">
                          <a:solidFill>
                            <a:schemeClr val="tx1"/>
                          </a:solidFill>
                          <a:latin typeface="+mn-lt"/>
                        </a:rPr>
                        <a:t>items </a:t>
                      </a:r>
                    </a:p>
                    <a:p>
                      <a:pPr marL="541338" lvl="0" indent="-198438">
                        <a:buFont typeface="Segoe Sans Text" pitchFamily="2" charset="0"/>
                        <a:buChar char="‒"/>
                      </a:pPr>
                      <a:r>
                        <a:rPr lang="en-US" sz="1400" b="0" kern="1200" noProof="0" dirty="0">
                          <a:solidFill>
                            <a:schemeClr val="tx1"/>
                          </a:solidFill>
                          <a:latin typeface="+mn-lt"/>
                        </a:rPr>
                        <a:t>to a different region</a:t>
                      </a:r>
                      <a:endParaRPr lang="en-US" sz="1400" b="0" kern="1200" noProof="0" dirty="0">
                        <a:solidFill>
                          <a:schemeClr val="tx1"/>
                        </a:solidFill>
                        <a:latin typeface="+mn-lt"/>
                        <a:ea typeface="+mn-ea"/>
                        <a:cs typeface="Segoe Sans Display"/>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latinLnBrk="0" hangingPunct="1"/>
                      <a:r>
                        <a:rPr lang="en-US" sz="1400" b="0" kern="1200" noProof="0" dirty="0">
                          <a:solidFill>
                            <a:schemeClr val="tx1"/>
                          </a:solidFill>
                          <a:latin typeface="+mn-lt"/>
                        </a:rPr>
                        <a:t>Yes</a:t>
                      </a:r>
                      <a:endParaRPr lang="en-US" sz="1400" b="0" kern="1200" noProof="0" dirty="0">
                        <a:solidFill>
                          <a:schemeClr val="tx1"/>
                        </a:solidFill>
                        <a:latin typeface="+mn-lt"/>
                        <a:ea typeface="+mn-ea"/>
                        <a:cs typeface="Segoe Sans Display" pitchFamily="2" charset="0"/>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443283"/>
                  </a:ext>
                </a:extLst>
              </a:tr>
              <a:tr h="702651">
                <a:tc>
                  <a:txBody>
                    <a:bodyPr/>
                    <a:lstStyle/>
                    <a:p>
                      <a:pPr marL="214313" lvl="0" indent="-214313">
                        <a:spcAft>
                          <a:spcPts val="400"/>
                        </a:spcAft>
                        <a:buFont typeface="+mj-lt"/>
                        <a:buAutoNum type="arabicPeriod" startAt="3"/>
                      </a:pPr>
                      <a:r>
                        <a:rPr lang="en-US" sz="1400" b="0" kern="1200" noProof="0" dirty="0">
                          <a:solidFill>
                            <a:schemeClr val="tx1"/>
                          </a:solidFill>
                          <a:latin typeface="+mn-lt"/>
                        </a:rPr>
                        <a:t>Migrating workspaces having </a:t>
                      </a:r>
                      <a:r>
                        <a:rPr lang="en-US" sz="1400" b="0" u="sng" kern="1200" noProof="0" dirty="0">
                          <a:solidFill>
                            <a:schemeClr val="tx2"/>
                          </a:solidFill>
                          <a:latin typeface="+mj-lt"/>
                        </a:rPr>
                        <a:t>Fabric</a:t>
                      </a:r>
                      <a:r>
                        <a:rPr lang="en-US" sz="1400" b="0" u="none" kern="1200" noProof="0" dirty="0">
                          <a:solidFill>
                            <a:schemeClr val="tx1"/>
                          </a:solidFill>
                          <a:latin typeface="+mj-lt"/>
                        </a:rPr>
                        <a:t> </a:t>
                      </a:r>
                      <a:r>
                        <a:rPr lang="en-US" sz="1400" b="0" kern="1200" noProof="0" dirty="0">
                          <a:solidFill>
                            <a:schemeClr val="tx1"/>
                          </a:solidFill>
                          <a:latin typeface="+mn-lt"/>
                        </a:rPr>
                        <a:t>items</a:t>
                      </a:r>
                    </a:p>
                    <a:p>
                      <a:pPr marL="541338" lvl="0" indent="-198438">
                        <a:buFont typeface="Segoe Sans Text" pitchFamily="2" charset="0"/>
                        <a:buChar char="‒"/>
                      </a:pPr>
                      <a:r>
                        <a:rPr lang="en-US" sz="1400" b="0" kern="1200" noProof="0" dirty="0">
                          <a:solidFill>
                            <a:schemeClr val="tx1"/>
                          </a:solidFill>
                          <a:latin typeface="+mn-lt"/>
                        </a:rPr>
                        <a:t>within the same region</a:t>
                      </a:r>
                      <a:endParaRPr lang="en-US" sz="1400" b="0" kern="1200" noProof="0" dirty="0">
                        <a:solidFill>
                          <a:schemeClr val="tx1"/>
                        </a:solidFill>
                        <a:latin typeface="+mn-lt"/>
                        <a:ea typeface="+mn-ea"/>
                        <a:cs typeface="Segoe Sans Display" pitchFamily="2"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400" b="0" u="none" kern="1200" noProof="0" dirty="0">
                          <a:solidFill>
                            <a:schemeClr val="tx1"/>
                          </a:solidFill>
                          <a:latin typeface="+mn-lt"/>
                        </a:rPr>
                        <a:t>Yes</a:t>
                      </a:r>
                      <a:endParaRPr lang="en-US" sz="1400" b="1" u="none" kern="1200" noProof="0" dirty="0">
                        <a:solidFill>
                          <a:schemeClr val="tx1"/>
                        </a:solidFill>
                        <a:latin typeface="+mn-lt"/>
                        <a:ea typeface="+mn-ea"/>
                        <a:cs typeface="Segoe Sans Display" pitchFamily="2" charset="0"/>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1973746"/>
                  </a:ext>
                </a:extLst>
              </a:tr>
              <a:tr h="717928">
                <a:tc>
                  <a:txBody>
                    <a:bodyPr/>
                    <a:lstStyle/>
                    <a:p>
                      <a:pPr marL="214313" lvl="0" indent="-214313">
                        <a:spcAft>
                          <a:spcPts val="400"/>
                        </a:spcAft>
                        <a:buFont typeface="+mj-lt"/>
                        <a:buAutoNum type="arabicPeriod" startAt="4"/>
                      </a:pPr>
                      <a:r>
                        <a:rPr lang="en-US" sz="1400" b="0" kern="1200" noProof="0" dirty="0">
                          <a:solidFill>
                            <a:schemeClr val="tx1"/>
                          </a:solidFill>
                          <a:latin typeface="+mn-lt"/>
                        </a:rPr>
                        <a:t>Migrating workspaces having </a:t>
                      </a:r>
                      <a:r>
                        <a:rPr lang="en-US" sz="1400" b="0" u="sng" kern="1200" noProof="0" dirty="0">
                          <a:solidFill>
                            <a:schemeClr val="tx2"/>
                          </a:solidFill>
                          <a:latin typeface="+mj-lt"/>
                        </a:rPr>
                        <a:t>Fabric</a:t>
                      </a:r>
                      <a:r>
                        <a:rPr lang="en-US" sz="1400" b="0" u="none" kern="1200" noProof="0" dirty="0">
                          <a:solidFill>
                            <a:schemeClr val="tx1"/>
                          </a:solidFill>
                          <a:latin typeface="+mj-lt"/>
                        </a:rPr>
                        <a:t> </a:t>
                      </a:r>
                      <a:r>
                        <a:rPr lang="en-US" sz="1400" b="0" kern="1200" noProof="0" dirty="0">
                          <a:solidFill>
                            <a:schemeClr val="tx1"/>
                          </a:solidFill>
                          <a:latin typeface="+mn-lt"/>
                        </a:rPr>
                        <a:t>items </a:t>
                      </a:r>
                    </a:p>
                    <a:p>
                      <a:pPr marL="541338" lvl="0" indent="-198438">
                        <a:buFont typeface="Segoe Sans Text" pitchFamily="2" charset="0"/>
                        <a:buChar char="‒"/>
                      </a:pPr>
                      <a:r>
                        <a:rPr lang="en-US" sz="1400" b="0" kern="1200" noProof="0" dirty="0">
                          <a:solidFill>
                            <a:schemeClr val="tx1"/>
                          </a:solidFill>
                          <a:latin typeface="+mn-lt"/>
                        </a:rPr>
                        <a:t>to a different region</a:t>
                      </a:r>
                      <a:endParaRPr lang="en-US" sz="1400" b="0" kern="1200" noProof="0" dirty="0">
                        <a:solidFill>
                          <a:schemeClr val="tx1"/>
                        </a:solidFill>
                        <a:latin typeface="+mn-lt"/>
                        <a:ea typeface="+mn-ea"/>
                        <a:cs typeface="Segoe Sans Display"/>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latinLnBrk="0" hangingPunct="1">
                        <a:spcAft>
                          <a:spcPts val="200"/>
                        </a:spcAft>
                      </a:pPr>
                      <a:r>
                        <a:rPr lang="en-US" sz="1400" b="0" kern="1200" noProof="0" dirty="0">
                          <a:solidFill>
                            <a:schemeClr val="tx2"/>
                          </a:solidFill>
                          <a:latin typeface="+mj-lt"/>
                        </a:rPr>
                        <a:t>No</a:t>
                      </a:r>
                    </a:p>
                    <a:p>
                      <a:pPr marL="0" algn="ctr" defTabSz="914400" rtl="0" eaLnBrk="1" latinLnBrk="0" hangingPunct="1"/>
                      <a:r>
                        <a:rPr lang="en-US" sz="1400" b="0" kern="1200" noProof="0" dirty="0">
                          <a:solidFill>
                            <a:schemeClr val="tx1"/>
                          </a:solidFill>
                          <a:latin typeface="+mn-lt"/>
                        </a:rPr>
                        <a:t>You must delete all the Fabric items from the workspace first.</a:t>
                      </a:r>
                      <a:endParaRPr lang="en-US" sz="1400" b="0" kern="1200" noProof="0" dirty="0">
                        <a:solidFill>
                          <a:schemeClr val="tx1"/>
                        </a:solidFill>
                        <a:latin typeface="+mn-lt"/>
                        <a:ea typeface="+mn-ea"/>
                        <a:cs typeface="Segoe Sans Display" pitchFamily="2" charset="0"/>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6638733"/>
                  </a:ext>
                </a:extLst>
              </a:tr>
              <a:tr h="610793">
                <a:tc>
                  <a:txBody>
                    <a:bodyPr/>
                    <a:lstStyle/>
                    <a:p>
                      <a:pPr marL="214313" lvl="0" indent="-214313">
                        <a:buFont typeface="+mj-lt"/>
                        <a:buAutoNum type="arabicPeriod" startAt="5"/>
                      </a:pPr>
                      <a:r>
                        <a:rPr lang="en-US" sz="1400" b="0" kern="1200" noProof="0" dirty="0">
                          <a:solidFill>
                            <a:schemeClr val="tx1"/>
                          </a:solidFill>
                          <a:latin typeface="+mn-lt"/>
                        </a:rPr>
                        <a:t>Cross tenant migration</a:t>
                      </a:r>
                      <a:endParaRPr lang="en-US" sz="1400" b="0" kern="1200" noProof="0" dirty="0">
                        <a:solidFill>
                          <a:schemeClr val="tx1"/>
                        </a:solidFill>
                        <a:latin typeface="+mn-lt"/>
                        <a:ea typeface="+mn-ea"/>
                        <a:cs typeface="Segoe Sans Display" pitchFamily="2"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latinLnBrk="0" hangingPunct="1"/>
                      <a:r>
                        <a:rPr lang="en-US" sz="1400" b="0" kern="1200" noProof="0" dirty="0">
                          <a:solidFill>
                            <a:schemeClr val="tx1"/>
                          </a:solidFill>
                          <a:latin typeface="+mn-lt"/>
                        </a:rPr>
                        <a:t>No</a:t>
                      </a:r>
                      <a:endParaRPr lang="en-US" sz="1400" b="0" kern="1200" noProof="0" dirty="0">
                        <a:solidFill>
                          <a:schemeClr val="tx1"/>
                        </a:solidFill>
                        <a:latin typeface="+mn-lt"/>
                        <a:ea typeface="+mn-ea"/>
                        <a:cs typeface="Segoe Sans Display" pitchFamily="2" charset="0"/>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3162326"/>
                  </a:ext>
                </a:extLst>
              </a:tr>
            </a:tbl>
          </a:graphicData>
        </a:graphic>
      </p:graphicFrame>
      <p:sp>
        <p:nvSpPr>
          <p:cNvPr id="2" name="Title 5">
            <a:extLst>
              <a:ext uri="{FF2B5EF4-FFF2-40B4-BE49-F238E27FC236}">
                <a16:creationId xmlns:a16="http://schemas.microsoft.com/office/drawing/2014/main" id="{809B219A-3EF2-4BBA-7446-4A2DFAA1445D}"/>
              </a:ext>
            </a:extLst>
          </p:cNvPr>
          <p:cNvSpPr>
            <a:spLocks noGrp="1"/>
          </p:cNvSpPr>
          <p:nvPr>
            <p:ph type="title" idx="4294967295"/>
          </p:nvPr>
        </p:nvSpPr>
        <p:spPr>
          <a:xfrm>
            <a:off x="588963" y="573451"/>
            <a:ext cx="5507037" cy="70788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rPr>
              <a:t>Analytics </a:t>
            </a:r>
            <a:br>
              <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rPr>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P SKU to F SKU Migration Scenarios</a:t>
            </a:r>
            <a:endPar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endParaRPr>
          </a:p>
        </p:txBody>
      </p:sp>
      <p:sp>
        <p:nvSpPr>
          <p:cNvPr id="4" name="TextBox 3">
            <a:extLst>
              <a:ext uri="{FF2B5EF4-FFF2-40B4-BE49-F238E27FC236}">
                <a16:creationId xmlns:a16="http://schemas.microsoft.com/office/drawing/2014/main" id="{0433128C-0ADF-4482-5F39-215A8A029100}"/>
              </a:ext>
            </a:extLst>
          </p:cNvPr>
          <p:cNvSpPr txBox="1"/>
          <p:nvPr/>
        </p:nvSpPr>
        <p:spPr>
          <a:xfrm>
            <a:off x="9195953" y="14293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Tree>
    <p:extLst>
      <p:ext uri="{BB962C8B-B14F-4D97-AF65-F5344CB8AC3E}">
        <p14:creationId xmlns:p14="http://schemas.microsoft.com/office/powerpoint/2010/main" val="3882681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3E1545D-6C80-C47C-3211-60831AAAFEF0}"/>
              </a:ext>
            </a:extLst>
          </p:cNvPr>
          <p:cNvSpPr>
            <a:spLocks noGrp="1"/>
          </p:cNvSpPr>
          <p:nvPr>
            <p:ph type="title"/>
          </p:nvPr>
        </p:nvSpPr>
        <p:spPr>
          <a:xfrm>
            <a:off x="585787" y="1685529"/>
            <a:ext cx="10427955" cy="1846659"/>
          </a:xfrm>
        </p:spPr>
        <p:txBody>
          <a:bodyPr/>
          <a:lstStyle/>
          <a:p>
            <a:r>
              <a:rPr lang="en-US" noProof="0" dirty="0"/>
              <a:t>Cloud Accelerate Factory</a:t>
            </a:r>
            <a:br>
              <a:rPr lang="en-US" noProof="0" dirty="0"/>
            </a:br>
            <a:r>
              <a:rPr lang="en-US" noProof="0" dirty="0">
                <a:solidFill>
                  <a:schemeClr val="tx1"/>
                </a:solidFill>
              </a:rPr>
              <a:t>Build a Unified, Governed Data, and AI Estate</a:t>
            </a:r>
          </a:p>
        </p:txBody>
      </p:sp>
      <p:sp>
        <p:nvSpPr>
          <p:cNvPr id="6" name="TextBox 5">
            <a:extLst>
              <a:ext uri="{FF2B5EF4-FFF2-40B4-BE49-F238E27FC236}">
                <a16:creationId xmlns:a16="http://schemas.microsoft.com/office/drawing/2014/main" id="{D768D091-890A-E862-DD3C-32FE0143641F}"/>
              </a:ext>
            </a:extLst>
          </p:cNvPr>
          <p:cNvSpPr txBox="1"/>
          <p:nvPr/>
        </p:nvSpPr>
        <p:spPr>
          <a:xfrm>
            <a:off x="585788" y="4328140"/>
            <a:ext cx="4662504" cy="736299"/>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400" b="1" noProof="0" dirty="0"/>
              <a:t>Lakehouse</a:t>
            </a:r>
          </a:p>
          <a:p>
            <a:pPr algn="ctr"/>
            <a:r>
              <a:rPr lang="en-US" sz="1400" noProof="0" dirty="0"/>
              <a:t>(Fabric &amp; Data Warehouse – Fabric (SQL to Fabric)</a:t>
            </a:r>
          </a:p>
          <a:p>
            <a:pPr algn="ctr"/>
            <a:r>
              <a:rPr lang="en-US" sz="1400" noProof="0" dirty="0"/>
              <a:t>Lakehouse – Azure Databricks)</a:t>
            </a:r>
          </a:p>
        </p:txBody>
      </p:sp>
      <p:sp>
        <p:nvSpPr>
          <p:cNvPr id="10" name="TextBox 9">
            <a:extLst>
              <a:ext uri="{FF2B5EF4-FFF2-40B4-BE49-F238E27FC236}">
                <a16:creationId xmlns:a16="http://schemas.microsoft.com/office/drawing/2014/main" id="{5BF53AD0-0CAC-2F7D-BAE9-EFCDA1916052}"/>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3" name="Image 10" descr="Home (outlined)">
            <a:hlinkClick r:id="rId2" action="ppaction://hlinksldjump" tooltip="Home"/>
            <a:extLst>
              <a:ext uri="{FF2B5EF4-FFF2-40B4-BE49-F238E27FC236}">
                <a16:creationId xmlns:a16="http://schemas.microsoft.com/office/drawing/2014/main" id="{A666B99A-A391-849E-C1A9-8F8FBCE71D58}"/>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827420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 presetClass="emph" presetSubtype="0" fill="hold" grpId="1" nodeType="withEffect">
                                  <p:stCondLst>
                                    <p:cond delay="0"/>
                                  </p:stCondLst>
                                  <p:childTnLst>
                                    <p:animScale>
                                      <p:cBhvr>
                                        <p:cTn id="9" dur="100" fill="hold"/>
                                        <p:tgtEl>
                                          <p:spTgt spid="6"/>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6"/>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10" grpId="0" animBg="1"/>
      <p:bldP spid="10" grpId="1" animBg="1"/>
      <p:bldP spid="10" grpId="2"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7A236-7C68-D387-9FBC-305030063227}"/>
            </a:ext>
          </a:extLst>
        </p:cNvPr>
        <p:cNvGrpSpPr/>
        <p:nvPr/>
      </p:nvGrpSpPr>
      <p:grpSpPr>
        <a:xfrm>
          <a:off x="0" y="0"/>
          <a:ext cx="0" cy="0"/>
          <a:chOff x="0" y="0"/>
          <a:chExt cx="0" cy="0"/>
        </a:xfrm>
      </p:grpSpPr>
      <p:sp>
        <p:nvSpPr>
          <p:cNvPr id="12" name="Rounded Rectangle 55">
            <a:extLst>
              <a:ext uri="{FF2B5EF4-FFF2-40B4-BE49-F238E27FC236}">
                <a16:creationId xmlns:a16="http://schemas.microsoft.com/office/drawing/2014/main" id="{E8285B81-8651-B02D-8271-3E58E7E2FC1C}"/>
              </a:ext>
              <a:ext uri="{C183D7F6-B498-43B3-948B-1728B52AA6E4}">
                <adec:decorative xmlns:adec="http://schemas.microsoft.com/office/drawing/2017/decorative" val="1"/>
              </a:ext>
            </a:extLst>
          </p:cNvPr>
          <p:cNvSpPr/>
          <p:nvPr/>
        </p:nvSpPr>
        <p:spPr bwMode="auto">
          <a:xfrm>
            <a:off x="9154160" y="1354238"/>
            <a:ext cx="2448877" cy="538222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507ACDDD-C982-10A3-7337-5E14F1A46E62}"/>
              </a:ext>
              <a:ext uri="{C183D7F6-B498-43B3-948B-1728B52AA6E4}">
                <adec:decorative xmlns:adec="http://schemas.microsoft.com/office/drawing/2017/decorative" val="1"/>
              </a:ext>
            </a:extLst>
          </p:cNvPr>
          <p:cNvSpPr/>
          <p:nvPr/>
        </p:nvSpPr>
        <p:spPr bwMode="auto">
          <a:xfrm>
            <a:off x="588961" y="1354238"/>
            <a:ext cx="8443279" cy="5382228"/>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609583DF-0E7A-915A-6C02-62119AD399C9}"/>
              </a:ext>
            </a:extLst>
          </p:cNvPr>
          <p:cNvSpPr>
            <a:spLocks noGrp="1"/>
          </p:cNvSpPr>
          <p:nvPr>
            <p:ph type="title"/>
          </p:nvPr>
        </p:nvSpPr>
        <p:spPr>
          <a:xfrm>
            <a:off x="582929" y="559370"/>
            <a:ext cx="4642794"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Analytics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Fabric Lakehouse</a:t>
            </a:r>
            <a:endParaRPr lang="en-US" sz="2800" noProof="0" dirty="0"/>
          </a:p>
        </p:txBody>
      </p:sp>
      <p:sp>
        <p:nvSpPr>
          <p:cNvPr id="18" name="Content Placeholder 4">
            <a:extLst>
              <a:ext uri="{FF2B5EF4-FFF2-40B4-BE49-F238E27FC236}">
                <a16:creationId xmlns:a16="http://schemas.microsoft.com/office/drawing/2014/main" id="{948C163F-216D-5E16-79FE-47EE436AFCAB}"/>
              </a:ext>
            </a:extLst>
          </p:cNvPr>
          <p:cNvSpPr txBox="1">
            <a:spLocks/>
          </p:cNvSpPr>
          <p:nvPr/>
        </p:nvSpPr>
        <p:spPr>
          <a:xfrm>
            <a:off x="9154160" y="1579880"/>
            <a:ext cx="2448877" cy="4868164"/>
          </a:xfrm>
          <a:prstGeom prst="rect">
            <a:avLst/>
          </a:prstGeom>
        </p:spPr>
        <p:txBody>
          <a:bodyPr vert="horz" wrap="square" lIns="91440" tIns="91440" rIns="91440" bIns="73152" rtlCol="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endParaRPr lang="en-US" sz="1200" noProof="0" dirty="0">
              <a:solidFill>
                <a:schemeClr val="dk1"/>
              </a:solidFill>
              <a:latin typeface="+mj-lt"/>
              <a:ea typeface="+mj-ea"/>
              <a:cs typeface="+mj-cs"/>
            </a:endParaRPr>
          </a:p>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0" indent="0">
              <a:spcBef>
                <a:spcPts val="0"/>
              </a:spcBef>
              <a:spcAft>
                <a:spcPts val="600"/>
              </a:spcAft>
              <a:buSzPct val="100000"/>
              <a:buNone/>
              <a:defRPr/>
            </a:pPr>
            <a:r>
              <a:rPr lang="en-US" sz="800" noProof="0" dirty="0">
                <a:ln w="3175">
                  <a:noFill/>
                </a:ln>
                <a:solidFill>
                  <a:prstClr val="black"/>
                </a:solidFill>
                <a:cs typeface="+mn-cs"/>
              </a:rPr>
              <a:t>Customer must provide Cloud Factory with contributor access to their data workspace (Microsoft Fabric), as it is necessary for developing the pipeline, notebooks, and other components. Additionally, access to Azure Data Factory should be provided if the customer wants to use it as the ETL tool. For DW migrations customer needs to provision the Azure virtual Machine to install the migration tool.</a:t>
            </a:r>
          </a:p>
          <a:p>
            <a:pPr marL="0" indent="0">
              <a:spcBef>
                <a:spcPts val="0"/>
              </a:spcBef>
              <a:spcAft>
                <a:spcPts val="200"/>
              </a:spcAft>
              <a:buSzPct val="100000"/>
              <a:buNone/>
              <a:defRPr/>
            </a:pPr>
            <a:r>
              <a:rPr lang="en-US" sz="900" noProof="0" dirty="0">
                <a:ln w="3175">
                  <a:noFill/>
                </a:ln>
                <a:solidFill>
                  <a:prstClr val="black"/>
                </a:solidFill>
                <a:cs typeface="+mn-cs"/>
              </a:rPr>
              <a:t>Customer should provide:</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An established data source connection for each data source to be used in the migration</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A detailed list of objects to be moved to Fabric Lakehouse, including tables with their schemas, frequency of data updates, load type (e.g., full load, incremental load) and approximate size of the data</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The customer is responsible for ensuring that valid data sources, are available for the migration process. Valid sources are Azure SQL DB, Azure SQL MI, ADLS Gen2, SQL Server, Oracle (on-premises), and Dedicated SQL Pool</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The customer is responsible for ensuring that stored procedures and transformation logic are available during the requirement gathering phase</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Internet bandwidth availability must meet minimum Factory requirements </a:t>
            </a:r>
          </a:p>
          <a:p>
            <a:pPr marL="0" indent="0">
              <a:spcBef>
                <a:spcPts val="0"/>
              </a:spcBef>
              <a:spcAft>
                <a:spcPts val="400"/>
              </a:spcAft>
              <a:buSzPct val="100000"/>
              <a:buNone/>
              <a:defRPr/>
            </a:pPr>
            <a:r>
              <a:rPr lang="en-US" sz="900" noProof="0" dirty="0">
                <a:ln w="3175">
                  <a:noFill/>
                </a:ln>
                <a:solidFill>
                  <a:prstClr val="black"/>
                </a:solidFill>
                <a:latin typeface="+mj-lt"/>
                <a:cs typeface="+mn-cs"/>
              </a:rPr>
              <a:t>*Please reach out to the factory team for any questions on supported sources or scenarios</a:t>
            </a:r>
          </a:p>
        </p:txBody>
      </p:sp>
      <p:sp>
        <p:nvSpPr>
          <p:cNvPr id="20" name="TextBox 19">
            <a:extLst>
              <a:ext uri="{FF2B5EF4-FFF2-40B4-BE49-F238E27FC236}">
                <a16:creationId xmlns:a16="http://schemas.microsoft.com/office/drawing/2014/main" id="{8E3AFAD1-317B-5F36-A8E0-BFB98ABF4D8C}"/>
              </a:ext>
            </a:extLst>
          </p:cNvPr>
          <p:cNvSpPr txBox="1"/>
          <p:nvPr/>
        </p:nvSpPr>
        <p:spPr>
          <a:xfrm>
            <a:off x="674050" y="1452800"/>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A16B2EA5-EF7E-4454-52E4-A8EA551DE3E2}"/>
              </a:ext>
            </a:extLst>
          </p:cNvPr>
          <p:cNvSpPr/>
          <p:nvPr/>
        </p:nvSpPr>
        <p:spPr>
          <a:xfrm>
            <a:off x="3834447" y="1502200"/>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4E016B34-01A1-16A7-97B8-84914666731D}"/>
              </a:ext>
            </a:extLst>
          </p:cNvPr>
          <p:cNvSpPr txBox="1"/>
          <p:nvPr/>
        </p:nvSpPr>
        <p:spPr>
          <a:xfrm>
            <a:off x="9241631" y="1452800"/>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E97AFF27-E220-F7D8-23B9-BC9F8415E6F5}"/>
              </a:ext>
            </a:extLst>
          </p:cNvPr>
          <p:cNvSpPr/>
          <p:nvPr/>
        </p:nvSpPr>
        <p:spPr>
          <a:xfrm>
            <a:off x="9852025" y="1509027"/>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graphicFrame>
        <p:nvGraphicFramePr>
          <p:cNvPr id="27" name="Table 26" title="Exchange Online Technet Guidance">
            <a:extLst>
              <a:ext uri="{FF2B5EF4-FFF2-40B4-BE49-F238E27FC236}">
                <a16:creationId xmlns:a16="http://schemas.microsoft.com/office/drawing/2014/main" id="{C918D91C-05FE-C3C5-DA07-D0FF9BA49935}"/>
              </a:ext>
            </a:extLst>
          </p:cNvPr>
          <p:cNvGraphicFramePr>
            <a:graphicFrameLocks noGrp="1"/>
          </p:cNvGraphicFramePr>
          <p:nvPr>
            <p:extLst>
              <p:ext uri="{D42A27DB-BD31-4B8C-83A1-F6EECF244321}">
                <p14:modId xmlns:p14="http://schemas.microsoft.com/office/powerpoint/2010/main" val="1152156091"/>
              </p:ext>
            </p:extLst>
          </p:nvPr>
        </p:nvGraphicFramePr>
        <p:xfrm>
          <a:off x="582929" y="1617980"/>
          <a:ext cx="8443279" cy="4883542"/>
        </p:xfrm>
        <a:graphic>
          <a:graphicData uri="http://schemas.openxmlformats.org/drawingml/2006/table">
            <a:tbl>
              <a:tblPr firstRow="1" bandRow="1">
                <a:tableStyleId>{5C22544A-7EE6-4342-B048-85BDC9FD1C3A}</a:tableStyleId>
              </a:tblPr>
              <a:tblGrid>
                <a:gridCol w="282939">
                  <a:extLst>
                    <a:ext uri="{9D8B030D-6E8A-4147-A177-3AD203B41FA5}">
                      <a16:colId xmlns:a16="http://schemas.microsoft.com/office/drawing/2014/main" val="920430407"/>
                    </a:ext>
                  </a:extLst>
                </a:gridCol>
                <a:gridCol w="8160340">
                  <a:extLst>
                    <a:ext uri="{9D8B030D-6E8A-4147-A177-3AD203B41FA5}">
                      <a16:colId xmlns:a16="http://schemas.microsoft.com/office/drawing/2014/main" val="125040094"/>
                    </a:ext>
                  </a:extLst>
                </a:gridCol>
              </a:tblGrid>
              <a:tr h="293301">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Lakehouse migration </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904490">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scenario and scope:</a:t>
                      </a:r>
                      <a:r>
                        <a:rPr kumimoji="0" lang="en-US" sz="1000" b="0" i="0" u="none" strike="noStrike" kern="0" cap="none" spc="0" normalizeH="0" baseline="0" noProof="0" dirty="0">
                          <a:ln>
                            <a:noFill/>
                          </a:ln>
                          <a:solidFill>
                            <a:schemeClr val="tx1"/>
                          </a:solidFill>
                          <a:effectLst/>
                          <a:uLnTx/>
                          <a:uFillTx/>
                          <a:latin typeface="+mn-lt"/>
                          <a:ea typeface="+mn-ea"/>
                          <a:cs typeface="+mn-cs"/>
                        </a:rPr>
                        <a:t> Partnering with the customer and partner, Cloud Factory will determine data </a:t>
                      </a:r>
                      <a:br>
                        <a:rPr kumimoji="0" lang="en-US" sz="1000" b="0" i="0" u="none" strike="noStrike" kern="0" cap="none" spc="0" normalizeH="0" baseline="0" noProof="0" dirty="0">
                          <a:ln>
                            <a:noFill/>
                          </a:ln>
                          <a:solidFill>
                            <a:schemeClr val="tx1"/>
                          </a:solidFill>
                          <a:effectLst/>
                          <a:uLnTx/>
                          <a:uFillTx/>
                          <a:latin typeface="+mn-lt"/>
                          <a:ea typeface="+mn-ea"/>
                          <a:cs typeface="+mn-cs"/>
                        </a:rPr>
                      </a:br>
                      <a:r>
                        <a:rPr kumimoji="0" lang="en-US" sz="1000" b="0" i="0" u="none" strike="noStrike" kern="0" cap="none" spc="0" normalizeH="0" baseline="0" noProof="0" dirty="0">
                          <a:ln>
                            <a:noFill/>
                          </a:ln>
                          <a:solidFill>
                            <a:schemeClr val="tx1"/>
                          </a:solidFill>
                          <a:effectLst/>
                          <a:uLnTx/>
                          <a:uFillTx/>
                          <a:latin typeface="+mn-lt"/>
                          <a:ea typeface="+mn-ea"/>
                          <a:cs typeface="+mn-cs"/>
                        </a:rPr>
                        <a:t>sources, data size, complexity (with or without data transformation, 1-to-1 mapping, basic cleaning, stored procedure conversation, etc..)</a:t>
                      </a:r>
                      <a:endParaRPr kumimoji="0" lang="en-US" sz="1000" b="0" i="0" u="none" strike="noStrike" kern="0" cap="none" spc="0" normalizeH="0" baseline="0" noProof="0" dirty="0">
                        <a:ln>
                          <a:noFill/>
                        </a:ln>
                        <a:solidFill>
                          <a:schemeClr val="tx1"/>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Azure Lakehouse supported scenarios: </a:t>
                      </a:r>
                    </a:p>
                    <a:p>
                      <a:pPr marL="203200" marR="0" lvl="0" indent="-1317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Lakehouse – Fabric</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435429">
                <a:tc rowSpan="2">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the appropriate scenario</a:t>
                      </a:r>
                      <a:r>
                        <a:rPr kumimoji="0" lang="en-US" sz="1000" b="0" i="0" u="none" strike="noStrike" kern="0" cap="none" spc="0" normalizeH="0" baseline="0" noProof="0" dirty="0">
                          <a:ln>
                            <a:noFill/>
                          </a:ln>
                          <a:solidFill>
                            <a:schemeClr val="tx1"/>
                          </a:solidFill>
                          <a:effectLst/>
                          <a:uLnTx/>
                          <a:uFillTx/>
                          <a:latin typeface="+mn-lt"/>
                          <a:ea typeface="+mn-ea"/>
                          <a:cs typeface="+mn-cs"/>
                        </a:rPr>
                        <a:t>, based on the previous analysis and begin work as outlined below. Scope that falls outside of the listed scenarios will need to be delivered by the customer or partner (data modeling, re-designing business logic, etc..).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1741714">
                <a:tc vMerge="1">
                  <a:txBody>
                    <a:bodyPr/>
                    <a:lstStyle/>
                    <a:p>
                      <a:pPr algn="ctr"/>
                      <a:endParaRPr lang="en-US" sz="1000" b="0">
                        <a:solidFill>
                          <a:srgbClr val="0078D7"/>
                        </a:solidFill>
                        <a:latin typeface="+mn-lt"/>
                      </a:endParaRP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eaLnBrk="1" fontAlgn="auto" latinLnBrk="0" hangingPunct="1">
                        <a:lnSpc>
                          <a:spcPct val="100000"/>
                        </a:lnSpc>
                        <a:spcBef>
                          <a:spcPts val="0"/>
                        </a:spcBef>
                        <a:spcAft>
                          <a:spcPts val="200"/>
                        </a:spcAft>
                        <a:buClrTx/>
                        <a:buSzTx/>
                        <a:buFontTx/>
                        <a:buNone/>
                      </a:pPr>
                      <a:r>
                        <a:rPr kumimoji="0" lang="en-US" sz="1000" b="0" i="0" u="none" strike="noStrike" kern="0" cap="none" spc="0" normalizeH="0" baseline="0" noProof="0" dirty="0">
                          <a:ln>
                            <a:noFill/>
                          </a:ln>
                          <a:solidFill>
                            <a:schemeClr val="tx1"/>
                          </a:solidFill>
                          <a:effectLst/>
                          <a:uLnTx/>
                          <a:uFillTx/>
                          <a:latin typeface="+mj-lt"/>
                        </a:rPr>
                        <a:t>Scenario—A </a:t>
                      </a:r>
                      <a:r>
                        <a:rPr lang="en-US" sz="1000" b="0" i="0" u="none" strike="noStrike" kern="0" cap="none" spc="0" normalizeH="0" baseline="0" noProof="0" dirty="0">
                          <a:ln>
                            <a:noFill/>
                          </a:ln>
                          <a:solidFill>
                            <a:schemeClr val="tx1"/>
                          </a:solidFill>
                          <a:effectLst/>
                          <a:uLnTx/>
                          <a:uFillTx/>
                          <a:latin typeface="+mj-lt"/>
                        </a:rPr>
                        <a:t>Medallion Architecture – New implementation</a:t>
                      </a:r>
                      <a:endParaRPr kumimoji="0" lang="en-US" sz="1000" b="0" noProof="0" dirty="0">
                        <a:solidFill>
                          <a:schemeClr val="tx1"/>
                        </a:solidFill>
                        <a:latin typeface="+mj-lt"/>
                      </a:endParaRPr>
                    </a:p>
                    <a:p>
                      <a:pPr marL="0" marR="0" lvl="0" indent="0" algn="l">
                        <a:lnSpc>
                          <a:spcPct val="100000"/>
                        </a:lnSpc>
                        <a:spcBef>
                          <a:spcPts val="0"/>
                        </a:spcBef>
                        <a:spcAft>
                          <a:spcPts val="600"/>
                        </a:spcAft>
                        <a:buClrTx/>
                        <a:buSzTx/>
                        <a:buFontTx/>
                        <a:buNone/>
                      </a:pPr>
                      <a:r>
                        <a:rPr lang="en-US" sz="1000" b="0" i="0" u="none" strike="noStrike" kern="0" cap="none" spc="0" normalizeH="0" baseline="0" noProof="0" dirty="0">
                          <a:ln>
                            <a:noFill/>
                          </a:ln>
                          <a:solidFill>
                            <a:schemeClr val="tx1"/>
                          </a:solidFill>
                          <a:effectLst/>
                          <a:uLnTx/>
                          <a:uFillTx/>
                          <a:latin typeface="+mn-lt"/>
                        </a:rPr>
                        <a:t>Covers workspace setup, Data ingestion pipelines from supported sources to bronze, Transformations/integrations to Silver/Gold.</a:t>
                      </a:r>
                    </a:p>
                    <a:p>
                      <a:pPr marL="0" marR="0" lvl="0" indent="0" algn="l" eaLnBrk="1" fontAlgn="auto" latinLnBrk="0" hangingPunct="1">
                        <a:lnSpc>
                          <a:spcPct val="100000"/>
                        </a:lnSpc>
                        <a:spcBef>
                          <a:spcPts val="0"/>
                        </a:spcBef>
                        <a:spcAft>
                          <a:spcPts val="200"/>
                        </a:spcAft>
                        <a:buClrTx/>
                        <a:buSzTx/>
                        <a:buFontTx/>
                        <a:buNone/>
                      </a:pPr>
                      <a:r>
                        <a:rPr kumimoji="0" lang="en-US" sz="1000" b="0" i="0" u="none" strike="noStrike" kern="0" cap="none" spc="0" normalizeH="0" baseline="0" noProof="0" dirty="0">
                          <a:ln>
                            <a:noFill/>
                          </a:ln>
                          <a:solidFill>
                            <a:schemeClr val="tx1"/>
                          </a:solidFill>
                          <a:effectLst/>
                          <a:uLnTx/>
                          <a:uFillTx/>
                          <a:latin typeface="+mj-lt"/>
                        </a:rPr>
                        <a:t>Scenario—B</a:t>
                      </a:r>
                      <a:r>
                        <a:rPr lang="en-US" sz="1000" b="0" i="0" u="none" strike="noStrike" kern="0" cap="none" spc="0" normalizeH="0" baseline="0" noProof="0" dirty="0">
                          <a:ln>
                            <a:noFill/>
                          </a:ln>
                          <a:solidFill>
                            <a:schemeClr val="tx1"/>
                          </a:solidFill>
                          <a:effectLst/>
                          <a:uLnTx/>
                          <a:uFillTx/>
                          <a:latin typeface="+mj-lt"/>
                        </a:rPr>
                        <a:t> Migration from a legacy warehouse/Lakehouse</a:t>
                      </a:r>
                    </a:p>
                    <a:p>
                      <a:pPr marL="0" marR="0" lvl="0" indent="0" algn="l">
                        <a:lnSpc>
                          <a:spcPct val="100000"/>
                        </a:lnSpc>
                        <a:spcBef>
                          <a:spcPts val="0"/>
                        </a:spcBef>
                        <a:spcAft>
                          <a:spcPts val="600"/>
                        </a:spcAft>
                        <a:buClrTx/>
                        <a:buSzTx/>
                        <a:buFontTx/>
                        <a:buNone/>
                      </a:pPr>
                      <a:r>
                        <a:rPr lang="en-US" sz="1000" b="0" i="0" u="none" strike="noStrike" kern="0" cap="none" spc="0" normalizeH="0" baseline="0" noProof="0" dirty="0">
                          <a:ln>
                            <a:noFill/>
                          </a:ln>
                          <a:solidFill>
                            <a:schemeClr val="tx1"/>
                          </a:solidFill>
                          <a:effectLst/>
                          <a:uLnTx/>
                          <a:uFillTx/>
                          <a:latin typeface="+mn-lt"/>
                        </a:rPr>
                        <a:t>Covers lift and shift scenario from supported platforms for data and code conversion.</a:t>
                      </a:r>
                      <a:endParaRPr lang="en-US" sz="1000" b="0" i="0" u="none" strike="noStrike" kern="0" cap="none" spc="0" normalizeH="0" baseline="0" noProof="0" dirty="0">
                        <a:ln>
                          <a:noFill/>
                        </a:ln>
                        <a:solidFill>
                          <a:schemeClr val="tx1"/>
                        </a:solidFill>
                        <a:effectLst/>
                        <a:uLnTx/>
                        <a:uFillTx/>
                        <a:latin typeface="+mj-lt"/>
                      </a:endParaRPr>
                    </a:p>
                    <a:p>
                      <a:pPr marL="0" marR="0" lvl="0" indent="0" algn="l">
                        <a:lnSpc>
                          <a:spcPct val="100000"/>
                        </a:lnSpc>
                        <a:spcBef>
                          <a:spcPts val="0"/>
                        </a:spcBef>
                        <a:spcAft>
                          <a:spcPts val="200"/>
                        </a:spcAft>
                        <a:buNone/>
                      </a:pPr>
                      <a:r>
                        <a:rPr lang="en-US" sz="1000" b="0" i="0" u="none" strike="noStrike" kern="0" cap="none" spc="0" normalizeH="0" baseline="0" noProof="0" dirty="0">
                          <a:ln>
                            <a:noFill/>
                          </a:ln>
                          <a:solidFill>
                            <a:schemeClr val="tx1"/>
                          </a:solidFill>
                          <a:effectLst/>
                          <a:uLnTx/>
                          <a:uFillTx/>
                          <a:latin typeface="+mj-lt"/>
                        </a:rPr>
                        <a:t>Scenario—C Medallion Architecture New use case for an existing Deployment</a:t>
                      </a:r>
                    </a:p>
                    <a:p>
                      <a:pPr marL="0" marR="0" lvl="0" indent="0" algn="l">
                        <a:lnSpc>
                          <a:spcPct val="100000"/>
                        </a:lnSpc>
                        <a:spcBef>
                          <a:spcPts val="0"/>
                        </a:spcBef>
                        <a:spcAft>
                          <a:spcPts val="600"/>
                        </a:spcAft>
                        <a:buNone/>
                      </a:pPr>
                      <a:r>
                        <a:rPr lang="en-US" sz="1000" b="0" i="0" u="none" strike="noStrike" kern="0" cap="none" spc="0" normalizeH="0" baseline="0" noProof="0" dirty="0">
                          <a:ln>
                            <a:noFill/>
                          </a:ln>
                          <a:solidFill>
                            <a:schemeClr val="tx1"/>
                          </a:solidFill>
                          <a:effectLst/>
                          <a:uLnTx/>
                          <a:uFillTx/>
                          <a:latin typeface="+mn-lt"/>
                        </a:rPr>
                        <a:t>Covers building data ingestion pipelines from supported sources to bronze, Transformations/integrations to Silver/Gold.</a:t>
                      </a:r>
                    </a:p>
                    <a:p>
                      <a:pPr marL="0" marR="0" lvl="0" indent="0" algn="l">
                        <a:lnSpc>
                          <a:spcPct val="100000"/>
                        </a:lnSpc>
                        <a:spcBef>
                          <a:spcPts val="0"/>
                        </a:spcBef>
                        <a:spcAft>
                          <a:spcPts val="200"/>
                        </a:spcAft>
                        <a:buNone/>
                      </a:pPr>
                      <a:r>
                        <a:rPr lang="en-US" sz="1000" b="0" i="1" u="none" strike="noStrike" kern="0" cap="none" spc="0" normalizeH="0" baseline="0" noProof="0" dirty="0">
                          <a:ln>
                            <a:noFill/>
                          </a:ln>
                          <a:solidFill>
                            <a:schemeClr val="tx1"/>
                          </a:solidFill>
                          <a:effectLst/>
                          <a:uLnTx/>
                          <a:uFillTx/>
                          <a:latin typeface="+mj-lt"/>
                        </a:rPr>
                        <a:t>*Sizing and no of waves will be estimated in the initial scoping calls.</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304800">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Handover </a:t>
                      </a:r>
                      <a:r>
                        <a:rPr kumimoji="0" lang="en-US" sz="1000" b="0" i="0" u="none" strike="noStrike" kern="0" cap="none" spc="0" normalizeH="0" baseline="0" noProof="0" dirty="0">
                          <a:ln>
                            <a:noFill/>
                          </a:ln>
                          <a:solidFill>
                            <a:schemeClr val="tx1"/>
                          </a:solidFill>
                          <a:effectLst/>
                          <a:uLnTx/>
                          <a:uFillTx/>
                          <a:latin typeface="+mn-lt"/>
                          <a:ea typeface="+mn-ea"/>
                          <a:cs typeface="+mn-cs"/>
                        </a:rPr>
                        <a:t>to Customer/ Partner/ISD for post 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01988"/>
                  </a:ext>
                </a:extLst>
              </a:tr>
              <a:tr h="696686">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a:rPr>
                        <a:t>attending checkpoint meetings; and implementing user communications, documentation, training, and change management. </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r h="388943">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dirty="0">
                          <a:ln>
                            <a:noFill/>
                          </a:ln>
                          <a:solidFill>
                            <a:schemeClr val="tx1"/>
                          </a:solidFill>
                          <a:effectLst/>
                          <a:uLnTx/>
                          <a:uFillTx/>
                          <a:latin typeface="+mn-lt"/>
                          <a:ea typeface="+mn-ea"/>
                          <a:cs typeface="+mn-cs"/>
                        </a:rPr>
                        <a:t>Estimated duration for completing all activities in a typical engagement is within 4 weeks per Scenario execution, when all the requirements are met, and Customer and Partner are ready for execution</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684667060"/>
                  </a:ext>
                </a:extLst>
              </a:tr>
            </a:tbl>
          </a:graphicData>
        </a:graphic>
      </p:graphicFrame>
      <p:sp>
        <p:nvSpPr>
          <p:cNvPr id="2" name="TextBox 1">
            <a:extLst>
              <a:ext uri="{FF2B5EF4-FFF2-40B4-BE49-F238E27FC236}">
                <a16:creationId xmlns:a16="http://schemas.microsoft.com/office/drawing/2014/main" id="{980DC77C-FAFB-AE95-31B1-C526AAEBB7B0}"/>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510242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Box 126">
            <a:extLst>
              <a:ext uri="{FF2B5EF4-FFF2-40B4-BE49-F238E27FC236}">
                <a16:creationId xmlns:a16="http://schemas.microsoft.com/office/drawing/2014/main" id="{44832970-80C6-7033-D479-198C36C0AD95}"/>
              </a:ext>
            </a:extLst>
          </p:cNvPr>
          <p:cNvSpPr txBox="1"/>
          <p:nvPr/>
        </p:nvSpPr>
        <p:spPr>
          <a:xfrm>
            <a:off x="1046578" y="3446895"/>
            <a:ext cx="4860157" cy="119006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What:</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Customer selects ”single high value use case” based on existing data sources and limited set of tables agreed during scoping. Use case examples</a:t>
            </a:r>
          </a:p>
          <a:p>
            <a:pPr marL="4572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Modernize your data engineering with data pipelines and Delta Lake</a:t>
            </a:r>
          </a:p>
          <a:p>
            <a:pPr marL="4572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Explore benefits of data warehouse to Lakehouse</a:t>
            </a:r>
          </a:p>
          <a:p>
            <a:pPr marL="4572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Co-locate data from numerous sources for ease of report development</a:t>
            </a:r>
          </a:p>
        </p:txBody>
      </p:sp>
      <p:sp>
        <p:nvSpPr>
          <p:cNvPr id="179" name="TextBox 178">
            <a:extLst>
              <a:ext uri="{FF2B5EF4-FFF2-40B4-BE49-F238E27FC236}">
                <a16:creationId xmlns:a16="http://schemas.microsoft.com/office/drawing/2014/main" id="{F90F3C8F-66A1-1219-6ED9-610AA06C19CC}"/>
              </a:ext>
            </a:extLst>
          </p:cNvPr>
          <p:cNvSpPr txBox="1"/>
          <p:nvPr/>
        </p:nvSpPr>
        <p:spPr>
          <a:xfrm>
            <a:off x="1055477" y="4767271"/>
            <a:ext cx="4842360" cy="180562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Factory Responsibilities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Migration to Lakehouse medallion architecture with Bronze, Silver, and Gold layer</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Transformations with Spark Notebooks, Orchestration with ADF, Fabric DF</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Migration from Synapse DP, Oracle, SQL Server, and TSQL Code translation to Fabric</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One basic Power BI Report to demonstrate how to connect PBI to Gold layer tables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Project co-ordination and management of Scope 1 activities.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p:txBody>
      </p:sp>
      <p:sp>
        <p:nvSpPr>
          <p:cNvPr id="3" name="Title 1">
            <a:extLst>
              <a:ext uri="{FF2B5EF4-FFF2-40B4-BE49-F238E27FC236}">
                <a16:creationId xmlns:a16="http://schemas.microsoft.com/office/drawing/2014/main" id="{72BEFB0A-6D12-F258-4A56-B6B89D713970}"/>
              </a:ext>
            </a:extLst>
          </p:cNvPr>
          <p:cNvSpPr txBox="1">
            <a:spLocks noGrp="1"/>
          </p:cNvSpPr>
          <p:nvPr>
            <p:ph type="title" idx="4294967295"/>
          </p:nvPr>
        </p:nvSpPr>
        <p:spPr>
          <a:xfrm>
            <a:off x="588963" y="315692"/>
            <a:ext cx="8671915" cy="70788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rPr>
              <a:t>Analytics</a:t>
            </a:r>
            <a:br>
              <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rPr>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Fabric Lakehouse Migration Scope</a:t>
            </a:r>
            <a:endPar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endParaRPr>
          </a:p>
        </p:txBody>
      </p:sp>
      <p:sp>
        <p:nvSpPr>
          <p:cNvPr id="14" name="Rounded Rectangle 55">
            <a:extLst>
              <a:ext uri="{FF2B5EF4-FFF2-40B4-BE49-F238E27FC236}">
                <a16:creationId xmlns:a16="http://schemas.microsoft.com/office/drawing/2014/main" id="{78C48EE4-638E-B9BC-34F0-CA0C8CDB5966}"/>
              </a:ext>
              <a:ext uri="{C183D7F6-B498-43B3-948B-1728B52AA6E4}">
                <adec:decorative xmlns:adec="http://schemas.microsoft.com/office/drawing/2017/decorative" val="1"/>
              </a:ext>
            </a:extLst>
          </p:cNvPr>
          <p:cNvSpPr>
            <a:spLocks/>
          </p:cNvSpPr>
          <p:nvPr/>
        </p:nvSpPr>
        <p:spPr bwMode="auto">
          <a:xfrm>
            <a:off x="6152452" y="1260965"/>
            <a:ext cx="5453761" cy="4792593"/>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6" name="Rounded Rectangle 55">
            <a:extLst>
              <a:ext uri="{FF2B5EF4-FFF2-40B4-BE49-F238E27FC236}">
                <a16:creationId xmlns:a16="http://schemas.microsoft.com/office/drawing/2014/main" id="{C2FF1B81-7AAF-097A-5DCD-77E35D5F210C}"/>
              </a:ext>
              <a:ext uri="{C183D7F6-B498-43B3-948B-1728B52AA6E4}">
                <adec:decorative xmlns:adec="http://schemas.microsoft.com/office/drawing/2017/decorative" val="1"/>
              </a:ext>
            </a:extLst>
          </p:cNvPr>
          <p:cNvSpPr>
            <a:spLocks/>
          </p:cNvSpPr>
          <p:nvPr/>
        </p:nvSpPr>
        <p:spPr bwMode="auto">
          <a:xfrm>
            <a:off x="586740" y="1260965"/>
            <a:ext cx="5453761" cy="4792593"/>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0" name="TextBox 19">
            <a:extLst>
              <a:ext uri="{FF2B5EF4-FFF2-40B4-BE49-F238E27FC236}">
                <a16:creationId xmlns:a16="http://schemas.microsoft.com/office/drawing/2014/main" id="{470FCB09-E78A-0F85-856B-4426E2D05A79}"/>
              </a:ext>
            </a:extLst>
          </p:cNvPr>
          <p:cNvSpPr txBox="1"/>
          <p:nvPr/>
        </p:nvSpPr>
        <p:spPr>
          <a:xfrm>
            <a:off x="680403"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2" name="TextBox 21">
            <a:extLst>
              <a:ext uri="{FF2B5EF4-FFF2-40B4-BE49-F238E27FC236}">
                <a16:creationId xmlns:a16="http://schemas.microsoft.com/office/drawing/2014/main" id="{2C6CA6C4-615E-84CB-A117-6BD355A92EF4}"/>
              </a:ext>
            </a:extLst>
          </p:cNvPr>
          <p:cNvSpPr txBox="1"/>
          <p:nvPr/>
        </p:nvSpPr>
        <p:spPr>
          <a:xfrm>
            <a:off x="1028173" y="1786465"/>
            <a:ext cx="4910328" cy="145167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Offerings:</a:t>
            </a:r>
          </a:p>
          <a:p>
            <a:pPr marL="228600" marR="0" lvl="1" indent="-14287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0" cap="none" spc="0" normalizeH="0" baseline="0" noProof="0" dirty="0">
                <a:ln>
                  <a:noFill/>
                </a:ln>
                <a:effectLst/>
                <a:uLnTx/>
                <a:uFillTx/>
                <a:latin typeface="Segoe Sans Text"/>
                <a:ea typeface="+mn-ea"/>
                <a:cs typeface="+mn-cs"/>
              </a:rPr>
              <a:t>Microsoft Fabric</a:t>
            </a:r>
          </a:p>
          <a:p>
            <a:pPr marL="4572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On-Premises SQL server/ Azure SQL DB/MI to Fabric Lakehouse</a:t>
            </a:r>
          </a:p>
          <a:p>
            <a:pPr marL="4572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Synapse Spark to Fabric Lakehouse</a:t>
            </a:r>
          </a:p>
          <a:p>
            <a:pPr marL="4572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Ingestion data Sources: Azure SQL DB/MI, PostgreSQL, MySQL, Oracle, Flat files, AWS Redshift, Hadoop, Fabric Shortcuts(SQL server), Snowflake etc..</a:t>
            </a:r>
          </a:p>
          <a:p>
            <a:pPr marL="4572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ADF/Synapse pipelines to Fabric Data factory(Pilot).</a:t>
            </a:r>
          </a:p>
        </p:txBody>
      </p:sp>
      <p:sp>
        <p:nvSpPr>
          <p:cNvPr id="31" name="Oval 30">
            <a:extLst>
              <a:ext uri="{FF2B5EF4-FFF2-40B4-BE49-F238E27FC236}">
                <a16:creationId xmlns:a16="http://schemas.microsoft.com/office/drawing/2014/main" id="{702D744B-B4C9-8B2C-20D4-5A750FCF7E8B}"/>
              </a:ext>
            </a:extLst>
          </p:cNvPr>
          <p:cNvSpPr/>
          <p:nvPr/>
        </p:nvSpPr>
        <p:spPr bwMode="auto">
          <a:xfrm>
            <a:off x="775653" y="183753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2" name="Oval 31">
            <a:extLst>
              <a:ext uri="{FF2B5EF4-FFF2-40B4-BE49-F238E27FC236}">
                <a16:creationId xmlns:a16="http://schemas.microsoft.com/office/drawing/2014/main" id="{53F13202-C42D-C424-E8A0-B4FA963B6131}"/>
              </a:ext>
            </a:extLst>
          </p:cNvPr>
          <p:cNvSpPr/>
          <p:nvPr/>
        </p:nvSpPr>
        <p:spPr bwMode="auto">
          <a:xfrm>
            <a:off x="748079" y="349160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4" name="Oval 33">
            <a:extLst>
              <a:ext uri="{FF2B5EF4-FFF2-40B4-BE49-F238E27FC236}">
                <a16:creationId xmlns:a16="http://schemas.microsoft.com/office/drawing/2014/main" id="{2A218F7E-2649-645F-0111-D6DE29A5B82D}"/>
              </a:ext>
            </a:extLst>
          </p:cNvPr>
          <p:cNvSpPr/>
          <p:nvPr/>
        </p:nvSpPr>
        <p:spPr bwMode="auto">
          <a:xfrm>
            <a:off x="748079" y="48147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8" name="Straight Connector 47">
            <a:extLst>
              <a:ext uri="{FF2B5EF4-FFF2-40B4-BE49-F238E27FC236}">
                <a16:creationId xmlns:a16="http://schemas.microsoft.com/office/drawing/2014/main" id="{26772FA3-4AD2-458A-7884-837B83B93B11}"/>
              </a:ext>
              <a:ext uri="{C183D7F6-B498-43B3-948B-1728B52AA6E4}">
                <adec:decorative xmlns:adec="http://schemas.microsoft.com/office/drawing/2017/decorative" val="1"/>
              </a:ext>
            </a:extLst>
          </p:cNvPr>
          <p:cNvCxnSpPr>
            <a:cxnSpLocks/>
          </p:cNvCxnSpPr>
          <p:nvPr/>
        </p:nvCxnSpPr>
        <p:spPr>
          <a:xfrm>
            <a:off x="1068768" y="335338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6D2F4A2-E422-91FC-7FEC-09845BE38535}"/>
              </a:ext>
              <a:ext uri="{C183D7F6-B498-43B3-948B-1728B52AA6E4}">
                <adec:decorative xmlns:adec="http://schemas.microsoft.com/office/drawing/2017/decorative" val="1"/>
              </a:ext>
            </a:extLst>
          </p:cNvPr>
          <p:cNvCxnSpPr>
            <a:cxnSpLocks/>
          </p:cNvCxnSpPr>
          <p:nvPr/>
        </p:nvCxnSpPr>
        <p:spPr>
          <a:xfrm>
            <a:off x="1028173" y="470013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96E17A5-F558-F947-EAAB-986A4C2D1CBD}"/>
              </a:ext>
            </a:extLst>
          </p:cNvPr>
          <p:cNvSpPr txBox="1"/>
          <p:nvPr/>
        </p:nvSpPr>
        <p:spPr>
          <a:xfrm>
            <a:off x="6240716"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Partner / Customer - Led</a:t>
            </a:r>
          </a:p>
        </p:txBody>
      </p:sp>
      <p:sp>
        <p:nvSpPr>
          <p:cNvPr id="19" name="TextBox 18">
            <a:extLst>
              <a:ext uri="{FF2B5EF4-FFF2-40B4-BE49-F238E27FC236}">
                <a16:creationId xmlns:a16="http://schemas.microsoft.com/office/drawing/2014/main" id="{7B163345-1664-258A-E612-253759D30A32}"/>
              </a:ext>
            </a:extLst>
          </p:cNvPr>
          <p:cNvSpPr txBox="1"/>
          <p:nvPr/>
        </p:nvSpPr>
        <p:spPr>
          <a:xfrm>
            <a:off x="6438627" y="1786465"/>
            <a:ext cx="6974558" cy="3710696"/>
          </a:xfrm>
          <a:prstGeom prst="rect">
            <a:avLst/>
          </a:prstGeom>
          <a:noFill/>
        </p:spPr>
        <p:txBody>
          <a:bodyPr wrap="square" lIns="91440" tIns="45720" rIns="91440" bIns="45720" anchor="t">
            <a:spAutoFit/>
          </a:bodyPr>
          <a:lstStyle/>
          <a:p>
            <a:pPr>
              <a:spcAft>
                <a:spcPts val="200"/>
              </a:spcAft>
              <a:defRPr/>
            </a:pPr>
            <a:r>
              <a:rPr lang="en-US" sz="1400" kern="0" noProof="0" dirty="0">
                <a:latin typeface="Segoe Sans Text Semibold"/>
              </a:rPr>
              <a:t>Architecture:</a:t>
            </a:r>
          </a:p>
          <a:p>
            <a:pPr marL="233363" lvl="1" indent="-138113">
              <a:spcAft>
                <a:spcPts val="200"/>
              </a:spcAft>
              <a:buFont typeface="Arial" panose="020B0604020202020204" pitchFamily="34" charset="0"/>
              <a:buChar char="•"/>
              <a:defRPr/>
            </a:pPr>
            <a:r>
              <a:rPr lang="en-US" sz="1000" kern="0" noProof="0" dirty="0">
                <a:latin typeface="Segoe Sans Text"/>
              </a:rPr>
              <a:t>Re-architecture or architecture evaluation</a:t>
            </a:r>
          </a:p>
          <a:p>
            <a:pPr marL="233363" lvl="1" indent="-138113">
              <a:spcAft>
                <a:spcPts val="200"/>
              </a:spcAft>
              <a:buFont typeface="Arial" panose="020B0604020202020204" pitchFamily="34" charset="0"/>
              <a:buChar char="•"/>
              <a:defRPr/>
            </a:pPr>
            <a:r>
              <a:rPr lang="en-US" sz="1000" kern="0" noProof="0" dirty="0">
                <a:latin typeface="Segoe Sans Text"/>
              </a:rPr>
              <a:t>Capacity sizing and cost estimation activities</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Performance tuning and optimization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Performance testing and tuning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Performance benchmarking</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Environment prep/config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Capacity provisioning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VM setup /Gateway install</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Network Config</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DevOps/Integrations</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1000" kern="0" noProof="0" dirty="0">
                <a:latin typeface="Segoe Sans Text"/>
              </a:rPr>
              <a:t>CI/CD setup and testing </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1000" kern="0" noProof="0" dirty="0">
                <a:latin typeface="Segoe Sans Text"/>
              </a:rPr>
              <a:t>Testing and configuring upstream/downstream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effectLst/>
              <a:uLnTx/>
              <a:uFillTx/>
              <a:latin typeface="Aptos" panose="020B0004020202020204" pitchFamily="34" charset="0"/>
              <a:ea typeface="+mn-ea"/>
              <a:cs typeface="+mn-cs"/>
            </a:endParaRP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Post Migration Operation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On going DR/Backup/Monitoring support</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Cost optimization and FinOps</a:t>
            </a:r>
          </a:p>
        </p:txBody>
      </p:sp>
      <p:cxnSp>
        <p:nvCxnSpPr>
          <p:cNvPr id="2" name="Straight Connector 1">
            <a:extLst>
              <a:ext uri="{FF2B5EF4-FFF2-40B4-BE49-F238E27FC236}">
                <a16:creationId xmlns:a16="http://schemas.microsoft.com/office/drawing/2014/main" id="{99377226-AC3B-AD05-68A2-C007967C30C5}"/>
              </a:ext>
              <a:ext uri="{C183D7F6-B498-43B3-948B-1728B52AA6E4}">
                <adec:decorative xmlns:adec="http://schemas.microsoft.com/office/drawing/2017/decorative" val="1"/>
              </a:ext>
            </a:extLst>
          </p:cNvPr>
          <p:cNvCxnSpPr>
            <a:cxnSpLocks/>
          </p:cNvCxnSpPr>
          <p:nvPr/>
        </p:nvCxnSpPr>
        <p:spPr>
          <a:xfrm>
            <a:off x="6438627" y="468574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0C62387-05DE-D96F-30E0-7A4AF4FDAAE7}"/>
              </a:ext>
              <a:ext uri="{C183D7F6-B498-43B3-948B-1728B52AA6E4}">
                <adec:decorative xmlns:adec="http://schemas.microsoft.com/office/drawing/2017/decorative" val="1"/>
              </a:ext>
            </a:extLst>
          </p:cNvPr>
          <p:cNvCxnSpPr>
            <a:cxnSpLocks/>
          </p:cNvCxnSpPr>
          <p:nvPr/>
        </p:nvCxnSpPr>
        <p:spPr>
          <a:xfrm>
            <a:off x="6438627" y="401338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9B33EA8-CFE3-D6E6-75B7-7A1D65086A61}"/>
              </a:ext>
              <a:ext uri="{C183D7F6-B498-43B3-948B-1728B52AA6E4}">
                <adec:decorative xmlns:adec="http://schemas.microsoft.com/office/drawing/2017/decorative" val="1"/>
              </a:ext>
            </a:extLst>
          </p:cNvPr>
          <p:cNvCxnSpPr>
            <a:cxnSpLocks/>
          </p:cNvCxnSpPr>
          <p:nvPr/>
        </p:nvCxnSpPr>
        <p:spPr>
          <a:xfrm>
            <a:off x="6438627" y="313484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84D8BC5-1090-F9A8-76C4-2F5261FE1E5B}"/>
              </a:ext>
              <a:ext uri="{C183D7F6-B498-43B3-948B-1728B52AA6E4}">
                <adec:decorative xmlns:adec="http://schemas.microsoft.com/office/drawing/2017/decorative" val="1"/>
              </a:ext>
            </a:extLst>
          </p:cNvPr>
          <p:cNvCxnSpPr>
            <a:cxnSpLocks/>
          </p:cNvCxnSpPr>
          <p:nvPr/>
        </p:nvCxnSpPr>
        <p:spPr>
          <a:xfrm>
            <a:off x="6438627" y="245352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DFF2D11E-16AE-5EDD-5BB4-1CA19BF1767F}"/>
              </a:ext>
            </a:extLst>
          </p:cNvPr>
          <p:cNvSpPr/>
          <p:nvPr/>
        </p:nvSpPr>
        <p:spPr bwMode="auto">
          <a:xfrm>
            <a:off x="6289180" y="18758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344B9D36-9620-B22F-3EF5-7C0F933EEB94}"/>
              </a:ext>
            </a:extLst>
          </p:cNvPr>
          <p:cNvSpPr/>
          <p:nvPr/>
        </p:nvSpPr>
        <p:spPr bwMode="auto">
          <a:xfrm>
            <a:off x="6283989" y="25123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6BF73C0F-CD27-FF25-0605-5C60908439A8}"/>
              </a:ext>
            </a:extLst>
          </p:cNvPr>
          <p:cNvSpPr/>
          <p:nvPr/>
        </p:nvSpPr>
        <p:spPr bwMode="auto">
          <a:xfrm>
            <a:off x="6283989" y="32033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Oval 16">
            <a:extLst>
              <a:ext uri="{FF2B5EF4-FFF2-40B4-BE49-F238E27FC236}">
                <a16:creationId xmlns:a16="http://schemas.microsoft.com/office/drawing/2014/main" id="{9CBAAB2E-4D4C-3AB9-4E2D-15F281B9646C}"/>
              </a:ext>
            </a:extLst>
          </p:cNvPr>
          <p:cNvSpPr/>
          <p:nvPr/>
        </p:nvSpPr>
        <p:spPr bwMode="auto">
          <a:xfrm>
            <a:off x="6283989" y="40637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FD06780A-E685-001D-6AF5-5C992121B84F}"/>
              </a:ext>
            </a:extLst>
          </p:cNvPr>
          <p:cNvSpPr/>
          <p:nvPr/>
        </p:nvSpPr>
        <p:spPr bwMode="auto">
          <a:xfrm>
            <a:off x="6292728" y="48833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8BCF389C-44AD-753E-B82F-4A4B321C7BDF}"/>
              </a:ext>
            </a:extLst>
          </p:cNvPr>
          <p:cNvSpPr txBox="1"/>
          <p:nvPr/>
        </p:nvSpPr>
        <p:spPr>
          <a:xfrm>
            <a:off x="6326676" y="1622088"/>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4" name="TextBox 23">
            <a:extLst>
              <a:ext uri="{FF2B5EF4-FFF2-40B4-BE49-F238E27FC236}">
                <a16:creationId xmlns:a16="http://schemas.microsoft.com/office/drawing/2014/main" id="{53A39DEE-3978-00A5-2325-B9449A2E0D25}"/>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7" name="TextBox 6">
            <a:extLst>
              <a:ext uri="{FF2B5EF4-FFF2-40B4-BE49-F238E27FC236}">
                <a16:creationId xmlns:a16="http://schemas.microsoft.com/office/drawing/2014/main" id="{A0EC73F4-CA02-0677-E84C-A6B43A76D58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3623851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59443-458C-6804-B65A-DA095D44DE1E}"/>
            </a:ext>
          </a:extLst>
        </p:cNvPr>
        <p:cNvGrpSpPr/>
        <p:nvPr/>
      </p:nvGrpSpPr>
      <p:grpSpPr>
        <a:xfrm>
          <a:off x="0" y="0"/>
          <a:ext cx="0" cy="0"/>
          <a:chOff x="0" y="0"/>
          <a:chExt cx="0" cy="0"/>
        </a:xfrm>
      </p:grpSpPr>
      <p:sp>
        <p:nvSpPr>
          <p:cNvPr id="13" name="Rounded Rectangle 55">
            <a:extLst>
              <a:ext uri="{FF2B5EF4-FFF2-40B4-BE49-F238E27FC236}">
                <a16:creationId xmlns:a16="http://schemas.microsoft.com/office/drawing/2014/main" id="{2278A8BA-6DC7-7476-C924-4D0825BBD715}"/>
              </a:ext>
              <a:ext uri="{C183D7F6-B498-43B3-948B-1728B52AA6E4}">
                <adec:decorative xmlns:adec="http://schemas.microsoft.com/office/drawing/2017/decorative" val="1"/>
              </a:ext>
            </a:extLst>
          </p:cNvPr>
          <p:cNvSpPr/>
          <p:nvPr/>
        </p:nvSpPr>
        <p:spPr bwMode="auto">
          <a:xfrm>
            <a:off x="9154160" y="1261641"/>
            <a:ext cx="2448877" cy="5370653"/>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Rounded Rectangle 55">
            <a:extLst>
              <a:ext uri="{FF2B5EF4-FFF2-40B4-BE49-F238E27FC236}">
                <a16:creationId xmlns:a16="http://schemas.microsoft.com/office/drawing/2014/main" id="{895899DF-EF39-0163-8A44-5A742E07E62B}"/>
              </a:ext>
              <a:ext uri="{C183D7F6-B498-43B3-948B-1728B52AA6E4}">
                <adec:decorative xmlns:adec="http://schemas.microsoft.com/office/drawing/2017/decorative" val="1"/>
              </a:ext>
            </a:extLst>
          </p:cNvPr>
          <p:cNvSpPr/>
          <p:nvPr/>
        </p:nvSpPr>
        <p:spPr bwMode="auto">
          <a:xfrm>
            <a:off x="588961" y="1256007"/>
            <a:ext cx="8443279" cy="5376287"/>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8" name="Title 1">
            <a:extLst>
              <a:ext uri="{FF2B5EF4-FFF2-40B4-BE49-F238E27FC236}">
                <a16:creationId xmlns:a16="http://schemas.microsoft.com/office/drawing/2014/main" id="{77AD6DA8-C70B-5254-AD90-0AECF132B651}"/>
              </a:ext>
            </a:extLst>
          </p:cNvPr>
          <p:cNvSpPr>
            <a:spLocks noGrp="1"/>
          </p:cNvSpPr>
          <p:nvPr>
            <p:ph type="title"/>
          </p:nvPr>
        </p:nvSpPr>
        <p:spPr>
          <a:xfrm>
            <a:off x="588963" y="523421"/>
            <a:ext cx="4665943"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Analytics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Fabric Warehouse Migration</a:t>
            </a:r>
            <a:endParaRPr lang="en-US" sz="3000" noProof="0" dirty="0"/>
          </a:p>
        </p:txBody>
      </p:sp>
      <p:sp>
        <p:nvSpPr>
          <p:cNvPr id="21" name="TextBox 20">
            <a:extLst>
              <a:ext uri="{FF2B5EF4-FFF2-40B4-BE49-F238E27FC236}">
                <a16:creationId xmlns:a16="http://schemas.microsoft.com/office/drawing/2014/main" id="{72A9FA1E-26E4-5EB3-AA41-1B870ACD2B02}"/>
              </a:ext>
            </a:extLst>
          </p:cNvPr>
          <p:cNvSpPr txBox="1"/>
          <p:nvPr/>
        </p:nvSpPr>
        <p:spPr>
          <a:xfrm>
            <a:off x="674050" y="1348625"/>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2" name="Graphic 22">
            <a:extLst>
              <a:ext uri="{FF2B5EF4-FFF2-40B4-BE49-F238E27FC236}">
                <a16:creationId xmlns:a16="http://schemas.microsoft.com/office/drawing/2014/main" id="{AC5BCA86-28CA-2CB6-39C7-7DC786D89245}"/>
              </a:ext>
            </a:extLst>
          </p:cNvPr>
          <p:cNvSpPr/>
          <p:nvPr/>
        </p:nvSpPr>
        <p:spPr>
          <a:xfrm>
            <a:off x="3834447" y="13980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3" name="TextBox 22">
            <a:extLst>
              <a:ext uri="{FF2B5EF4-FFF2-40B4-BE49-F238E27FC236}">
                <a16:creationId xmlns:a16="http://schemas.microsoft.com/office/drawing/2014/main" id="{4AB9F748-9007-E62C-B452-F8782DCCC5C2}"/>
              </a:ext>
            </a:extLst>
          </p:cNvPr>
          <p:cNvSpPr txBox="1"/>
          <p:nvPr/>
        </p:nvSpPr>
        <p:spPr>
          <a:xfrm>
            <a:off x="9241631" y="1348625"/>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4" name="Graphic 25">
            <a:extLst>
              <a:ext uri="{FF2B5EF4-FFF2-40B4-BE49-F238E27FC236}">
                <a16:creationId xmlns:a16="http://schemas.microsoft.com/office/drawing/2014/main" id="{631734FE-7AD9-6FC9-F6F0-BC44321B5C8F}"/>
              </a:ext>
            </a:extLst>
          </p:cNvPr>
          <p:cNvSpPr/>
          <p:nvPr/>
        </p:nvSpPr>
        <p:spPr>
          <a:xfrm>
            <a:off x="9852025" y="14048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10" name="Content Placeholder 4">
            <a:extLst>
              <a:ext uri="{FF2B5EF4-FFF2-40B4-BE49-F238E27FC236}">
                <a16:creationId xmlns:a16="http://schemas.microsoft.com/office/drawing/2014/main" id="{AECE3419-2AD9-7AA8-9CDA-3B3190CE2FE2}"/>
              </a:ext>
            </a:extLst>
          </p:cNvPr>
          <p:cNvSpPr txBox="1">
            <a:spLocks/>
          </p:cNvSpPr>
          <p:nvPr/>
        </p:nvSpPr>
        <p:spPr>
          <a:xfrm>
            <a:off x="9223610" y="1482779"/>
            <a:ext cx="2448877" cy="5103215"/>
          </a:xfrm>
          <a:prstGeom prst="rect">
            <a:avLst/>
          </a:prstGeom>
        </p:spPr>
        <p:txBody>
          <a:bodyPr vert="horz" wrap="square" lIns="91440" tIns="91440" rIns="91440" bIns="73152" rtlCol="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endParaRPr lang="en-US" sz="1200" noProof="0" dirty="0">
              <a:solidFill>
                <a:schemeClr val="dk1"/>
              </a:solidFill>
              <a:latin typeface="+mj-lt"/>
              <a:ea typeface="+mj-ea"/>
              <a:cs typeface="+mj-cs"/>
            </a:endParaRPr>
          </a:p>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0" indent="0">
              <a:spcBef>
                <a:spcPts val="0"/>
              </a:spcBef>
              <a:spcAft>
                <a:spcPts val="600"/>
              </a:spcAft>
              <a:buSzPct val="100000"/>
              <a:buNone/>
              <a:defRPr/>
            </a:pPr>
            <a:r>
              <a:rPr lang="en-US" sz="800" noProof="0" dirty="0">
                <a:ln w="3175">
                  <a:noFill/>
                </a:ln>
                <a:solidFill>
                  <a:prstClr val="black"/>
                </a:solidFill>
                <a:cs typeface="+mn-cs"/>
              </a:rPr>
              <a:t>Customer must provide Cloud Factory with contributor access to their data workspace (Azure Fabric Warehouse), as it is necessary for DW migrations. In some scenarios, customer needs to provision the Azure virtual Machine to install the migration toolset.</a:t>
            </a:r>
          </a:p>
          <a:p>
            <a:pPr marL="0" indent="0">
              <a:spcBef>
                <a:spcPts val="0"/>
              </a:spcBef>
              <a:spcAft>
                <a:spcPts val="200"/>
              </a:spcAft>
              <a:buSzPct val="100000"/>
              <a:buNone/>
              <a:defRPr/>
            </a:pPr>
            <a:r>
              <a:rPr lang="en-US" sz="900" noProof="0" dirty="0">
                <a:ln w="3175">
                  <a:noFill/>
                </a:ln>
                <a:solidFill>
                  <a:prstClr val="black"/>
                </a:solidFill>
                <a:cs typeface="+mn-cs"/>
              </a:rPr>
              <a:t>Customer should provide:</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An established data source connection for each data source to be used in the migration</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A detailed list of objects to be moved to Fabric Warehouse, including tables with their schemas and approximate size of the data</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The customer is responsible for ensuring that valid data sources, are available for the migration process. Valid sources are Azure SQL DB, Azure SQL MI, SQL Server, Synapse Dedicated SQL Pool, Power BI DataMart (EOL)</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The customer is responsible for ensuring that stored procedures, views and functions have been shared during the initial discovery phase.</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Internet bandwidth availability must meet minimum Factory requirements </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The estimated execution Phase time is max 6 weeks with 1.5 resources allocated. The project will commence(Execution phase) once all prerequisites—such as access, scope definition, and data source connections—are completed.</a:t>
            </a:r>
          </a:p>
          <a:p>
            <a:pPr marL="0" indent="0">
              <a:spcBef>
                <a:spcPts val="0"/>
              </a:spcBef>
              <a:spcAft>
                <a:spcPts val="400"/>
              </a:spcAft>
              <a:buSzPct val="100000"/>
              <a:buNone/>
              <a:defRPr/>
            </a:pPr>
            <a:r>
              <a:rPr lang="en-US" sz="900" noProof="0" dirty="0">
                <a:ln w="3175">
                  <a:noFill/>
                </a:ln>
                <a:solidFill>
                  <a:prstClr val="black"/>
                </a:solidFill>
                <a:latin typeface="+mj-lt"/>
                <a:cs typeface="+mn-cs"/>
              </a:rPr>
              <a:t>*Please reach out to the factory team for any questions on supported sources or scenarios</a:t>
            </a:r>
          </a:p>
        </p:txBody>
      </p:sp>
      <p:graphicFrame>
        <p:nvGraphicFramePr>
          <p:cNvPr id="12" name="Table 11" title="Exchange Online Technet Guidance">
            <a:extLst>
              <a:ext uri="{FF2B5EF4-FFF2-40B4-BE49-F238E27FC236}">
                <a16:creationId xmlns:a16="http://schemas.microsoft.com/office/drawing/2014/main" id="{86B29C0A-7E7A-1429-4680-969A2883D49F}"/>
              </a:ext>
            </a:extLst>
          </p:cNvPr>
          <p:cNvGraphicFramePr>
            <a:graphicFrameLocks noGrp="1"/>
          </p:cNvGraphicFramePr>
          <p:nvPr>
            <p:extLst>
              <p:ext uri="{D42A27DB-BD31-4B8C-83A1-F6EECF244321}">
                <p14:modId xmlns:p14="http://schemas.microsoft.com/office/powerpoint/2010/main" val="235173122"/>
              </p:ext>
            </p:extLst>
          </p:nvPr>
        </p:nvGraphicFramePr>
        <p:xfrm>
          <a:off x="582929" y="1571680"/>
          <a:ext cx="8443279" cy="4957498"/>
        </p:xfrm>
        <a:graphic>
          <a:graphicData uri="http://schemas.openxmlformats.org/drawingml/2006/table">
            <a:tbl>
              <a:tblPr firstRow="1" bandRow="1">
                <a:tableStyleId>{5C22544A-7EE6-4342-B048-85BDC9FD1C3A}</a:tableStyleId>
              </a:tblPr>
              <a:tblGrid>
                <a:gridCol w="354130">
                  <a:extLst>
                    <a:ext uri="{9D8B030D-6E8A-4147-A177-3AD203B41FA5}">
                      <a16:colId xmlns:a16="http://schemas.microsoft.com/office/drawing/2014/main" val="920430407"/>
                    </a:ext>
                  </a:extLst>
                </a:gridCol>
                <a:gridCol w="8089149">
                  <a:extLst>
                    <a:ext uri="{9D8B030D-6E8A-4147-A177-3AD203B41FA5}">
                      <a16:colId xmlns:a16="http://schemas.microsoft.com/office/drawing/2014/main" val="125040094"/>
                    </a:ext>
                  </a:extLst>
                </a:gridCol>
              </a:tblGrid>
              <a:tr h="249973">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Warehouse migration </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1349817">
                <a:tc>
                  <a:txBody>
                    <a:bodyPr/>
                    <a:lstStyle/>
                    <a:p>
                      <a:pPr algn="ctr"/>
                      <a:r>
                        <a:rPr lang="en-US" sz="1050" b="0" noProof="0" dirty="0">
                          <a:solidFill>
                            <a:schemeClr val="tx1"/>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scenario and scope:</a:t>
                      </a:r>
                      <a:r>
                        <a:rPr kumimoji="0" lang="en-US" sz="1000" b="0" i="0" u="none" strike="noStrike" kern="0" cap="none" spc="0" normalizeH="0" baseline="0" noProof="0" dirty="0">
                          <a:ln>
                            <a:noFill/>
                          </a:ln>
                          <a:solidFill>
                            <a:schemeClr val="tx1"/>
                          </a:solidFill>
                          <a:effectLst/>
                          <a:uLnTx/>
                          <a:uFillTx/>
                          <a:latin typeface="+mn-lt"/>
                          <a:ea typeface="+mn-ea"/>
                          <a:cs typeface="+mn-cs"/>
                        </a:rPr>
                        <a:t> Partnering with the customer and partner, Cloud Factory will determine supported data </a:t>
                      </a:r>
                      <a:br>
                        <a:rPr kumimoji="0" lang="en-US" sz="1000" b="0" i="0" u="none" strike="noStrike" kern="0" cap="none" spc="0" normalizeH="0" baseline="0" noProof="0" dirty="0">
                          <a:ln>
                            <a:noFill/>
                          </a:ln>
                          <a:solidFill>
                            <a:schemeClr val="tx1"/>
                          </a:solidFill>
                          <a:effectLst/>
                          <a:uLnTx/>
                          <a:uFillTx/>
                          <a:latin typeface="+mn-lt"/>
                          <a:ea typeface="+mn-ea"/>
                          <a:cs typeface="+mn-cs"/>
                        </a:rPr>
                      </a:br>
                      <a:r>
                        <a:rPr kumimoji="0" lang="en-US" sz="1000" b="0" i="0" u="none" strike="noStrike" kern="0" cap="none" spc="0" normalizeH="0" baseline="0" noProof="0" dirty="0">
                          <a:ln>
                            <a:noFill/>
                          </a:ln>
                          <a:solidFill>
                            <a:schemeClr val="tx1"/>
                          </a:solidFill>
                          <a:effectLst/>
                          <a:uLnTx/>
                          <a:uFillTx/>
                          <a:latin typeface="+mn-lt"/>
                          <a:ea typeface="+mn-ea"/>
                          <a:cs typeface="+mn-cs"/>
                        </a:rPr>
                        <a:t>sources indulge in activity of performing migration of data and code. The data size, complexity (with or without data transformation, 1-to-1 mapping, basic cleaning, stored procedure conversation, etc..) </a:t>
                      </a:r>
                      <a:endParaRPr kumimoji="0" lang="en-US" sz="1000" b="0" i="0" u="none" strike="noStrike" kern="0" cap="none" spc="0" normalizeH="0" baseline="0" noProof="0" dirty="0">
                        <a:ln>
                          <a:noFill/>
                        </a:ln>
                        <a:solidFill>
                          <a:schemeClr val="tx1"/>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Azure Lakehouse supported scenarios: </a:t>
                      </a:r>
                    </a:p>
                    <a:p>
                      <a:pPr marL="200025" marR="0" lvl="0" indent="-1333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tab pos="171450" algn="l"/>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Synapse SQL Pool – Fabric Warehouse</a:t>
                      </a:r>
                    </a:p>
                    <a:p>
                      <a:pPr marL="200025" marR="0" lvl="0" indent="-1333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tab pos="171450" algn="l"/>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SQL Server Product Family to Fabric Warehouse</a:t>
                      </a:r>
                    </a:p>
                    <a:p>
                      <a:pPr marL="200025" marR="0" lvl="0" indent="-1333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tab pos="171450" algn="l"/>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Power BI DataMart to Fabric Warehouse (EOL)</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494494">
                <a:tc rowSpan="2">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1"/>
                          </a:solidFill>
                          <a:latin typeface="+mj-lt"/>
                          <a:ea typeface="+mn-ea"/>
                          <a:cs typeface="+mn-cs"/>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the appropriate scenario</a:t>
                      </a:r>
                      <a:r>
                        <a:rPr kumimoji="0" lang="en-US" sz="1000" b="0" i="0" u="none" strike="noStrike" kern="0" cap="none" spc="0" normalizeH="0" baseline="0" noProof="0" dirty="0">
                          <a:ln>
                            <a:noFill/>
                          </a:ln>
                          <a:solidFill>
                            <a:schemeClr val="tx1"/>
                          </a:solidFill>
                          <a:effectLst/>
                          <a:uLnTx/>
                          <a:uFillTx/>
                          <a:latin typeface="+mn-lt"/>
                          <a:ea typeface="+mn-ea"/>
                          <a:cs typeface="+mn-cs"/>
                        </a:rPr>
                        <a:t>, based on the previous analysis and begin work as outlined below. Scope that </a:t>
                      </a:r>
                      <a:br>
                        <a:rPr kumimoji="0" lang="en-US" sz="1000" b="0" i="0" u="none" strike="noStrike" kern="0" cap="none" spc="0" normalizeH="0" baseline="0" noProof="0" dirty="0">
                          <a:ln>
                            <a:noFill/>
                          </a:ln>
                          <a:solidFill>
                            <a:schemeClr val="tx1"/>
                          </a:solidFill>
                          <a:effectLst/>
                          <a:uLnTx/>
                          <a:uFillTx/>
                          <a:latin typeface="+mn-lt"/>
                          <a:ea typeface="+mn-ea"/>
                          <a:cs typeface="+mn-cs"/>
                        </a:rPr>
                      </a:br>
                      <a:r>
                        <a:rPr kumimoji="0" lang="en-US" sz="1000" b="0" i="0" u="none" strike="noStrike" kern="0" cap="none" spc="0" normalizeH="0" baseline="0" noProof="0" dirty="0">
                          <a:ln>
                            <a:noFill/>
                          </a:ln>
                          <a:solidFill>
                            <a:schemeClr val="tx1"/>
                          </a:solidFill>
                          <a:effectLst/>
                          <a:uLnTx/>
                          <a:uFillTx/>
                          <a:latin typeface="+mn-lt"/>
                          <a:ea typeface="+mn-ea"/>
                          <a:cs typeface="+mn-cs"/>
                        </a:rPr>
                        <a:t>falls outside of the listed scenarios will need to be delivered by the customer or partner (data modeling, re-designing business logic, etc..).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1498148">
                <a:tc vMerge="1">
                  <a:txBody>
                    <a:bodyPr/>
                    <a:lstStyle/>
                    <a:p>
                      <a:pPr algn="ctr"/>
                      <a:endParaRPr lang="en-US" sz="1000" b="0">
                        <a:solidFill>
                          <a:srgbClr val="0078D7"/>
                        </a:solidFill>
                        <a:latin typeface="+mn-lt"/>
                      </a:endParaRP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Data Warehouse Migration: </a:t>
                      </a:r>
                      <a:r>
                        <a:rPr lang="en-US" sz="1000" b="0" i="0" noProof="0" dirty="0">
                          <a:solidFill>
                            <a:schemeClr val="tx1"/>
                          </a:solidFill>
                          <a:effectLst/>
                          <a:latin typeface="+mj-lt"/>
                        </a:rPr>
                        <a:t>In-Scope Activities:</a:t>
                      </a:r>
                      <a:endParaRPr lang="en-US" sz="1000" b="0" i="0" noProof="0" dirty="0">
                        <a:solidFill>
                          <a:schemeClr val="tx1"/>
                        </a:solidFill>
                        <a:effectLst/>
                        <a:latin typeface="+mn-lt"/>
                      </a:endParaRPr>
                    </a:p>
                    <a:p>
                      <a:pPr marL="228600" indent="-157163" algn="l">
                        <a:spcBef>
                          <a:spcPts val="0"/>
                        </a:spcBef>
                        <a:spcAft>
                          <a:spcPts val="400"/>
                        </a:spcAft>
                        <a:buFont typeface="+mj-lt"/>
                        <a:buAutoNum type="arabicPeriod"/>
                      </a:pPr>
                      <a:r>
                        <a:rPr lang="en-US" sz="1000" b="0" i="0" noProof="0" dirty="0">
                          <a:solidFill>
                            <a:schemeClr val="tx1"/>
                          </a:solidFill>
                          <a:effectLst/>
                          <a:latin typeface="+mj-lt"/>
                        </a:rPr>
                        <a:t>Data &amp; Code Migration: </a:t>
                      </a:r>
                      <a:r>
                        <a:rPr lang="en-US" sz="1000" b="0" i="0" noProof="0" dirty="0">
                          <a:solidFill>
                            <a:schemeClr val="tx1"/>
                          </a:solidFill>
                          <a:effectLst/>
                          <a:latin typeface="+mn-lt"/>
                        </a:rPr>
                        <a:t>Migration of both data and associated code assets(Stored Procedure, Views , Functions).</a:t>
                      </a:r>
                    </a:p>
                    <a:p>
                      <a:pPr marL="228600" indent="-157163" algn="l">
                        <a:spcBef>
                          <a:spcPts val="0"/>
                        </a:spcBef>
                        <a:spcAft>
                          <a:spcPts val="400"/>
                        </a:spcAft>
                        <a:buFont typeface="+mj-lt"/>
                        <a:buAutoNum type="arabicPeriod"/>
                      </a:pPr>
                      <a:r>
                        <a:rPr lang="en-US" sz="1000" b="0" i="0" noProof="0" dirty="0">
                          <a:solidFill>
                            <a:schemeClr val="tx1"/>
                          </a:solidFill>
                          <a:effectLst/>
                          <a:latin typeface="+mj-lt"/>
                        </a:rPr>
                        <a:t>Supported Sources</a:t>
                      </a:r>
                      <a:br>
                        <a:rPr lang="en-US" sz="1000" b="0" i="0" noProof="0" dirty="0">
                          <a:solidFill>
                            <a:schemeClr val="tx1"/>
                          </a:solidFill>
                          <a:effectLst/>
                          <a:latin typeface="+mn-lt"/>
                        </a:rPr>
                      </a:br>
                      <a:r>
                        <a:rPr lang="en-US" sz="1000" b="0" i="0" noProof="0" dirty="0">
                          <a:solidFill>
                            <a:schemeClr val="tx1"/>
                          </a:solidFill>
                          <a:effectLst/>
                          <a:latin typeface="+mn-lt"/>
                        </a:rPr>
                        <a:t>Includes Microsoft Synapse and the SQL Server product family.</a:t>
                      </a:r>
                    </a:p>
                    <a:p>
                      <a:pPr marL="228600" indent="-157163" algn="l">
                        <a:spcBef>
                          <a:spcPts val="0"/>
                        </a:spcBef>
                        <a:spcAft>
                          <a:spcPts val="600"/>
                        </a:spcAft>
                        <a:buFont typeface="+mj-lt"/>
                        <a:buAutoNum type="arabicPeriod"/>
                      </a:pPr>
                      <a:r>
                        <a:rPr lang="en-US" sz="1000" b="0" i="0" noProof="0" dirty="0">
                          <a:solidFill>
                            <a:schemeClr val="tx1"/>
                          </a:solidFill>
                          <a:effectLst/>
                          <a:latin typeface="+mj-lt"/>
                        </a:rPr>
                        <a:t>Migration Approach</a:t>
                      </a:r>
                      <a:br>
                        <a:rPr lang="en-US" sz="1000" b="0" i="0" noProof="0" dirty="0">
                          <a:solidFill>
                            <a:schemeClr val="tx1"/>
                          </a:solidFill>
                          <a:effectLst/>
                          <a:latin typeface="+mn-lt"/>
                        </a:rPr>
                      </a:br>
                      <a:r>
                        <a:rPr lang="en-US" sz="1000" b="0" i="0" noProof="0" dirty="0">
                          <a:solidFill>
                            <a:schemeClr val="tx1"/>
                          </a:solidFill>
                          <a:effectLst/>
                          <a:latin typeface="+mn-lt"/>
                        </a:rPr>
                        <a:t>The Factory team will utilize a combination of Microsoft internal and external toolsets to automate and efficiently execute the migration process from supported sources.</a:t>
                      </a:r>
                    </a:p>
                    <a:p>
                      <a:pPr marL="0" marR="0" lvl="0" indent="0" algn="l">
                        <a:lnSpc>
                          <a:spcPct val="100000"/>
                        </a:lnSpc>
                        <a:spcBef>
                          <a:spcPts val="0"/>
                        </a:spcBef>
                        <a:spcAft>
                          <a:spcPts val="400"/>
                        </a:spcAft>
                        <a:buNone/>
                      </a:pPr>
                      <a:r>
                        <a:rPr lang="en-US" sz="1000" b="0" i="1" u="none" strike="noStrike" noProof="0" dirty="0">
                          <a:solidFill>
                            <a:schemeClr val="tx1"/>
                          </a:solidFill>
                          <a:effectLst/>
                          <a:latin typeface="+mj-lt"/>
                        </a:rPr>
                        <a:t>*Sizing and no of waves will be estimated in the initial scoping calls.</a:t>
                      </a:r>
                      <a:endParaRPr lang="en-US" sz="1000" b="0" i="0" u="none" strike="noStrike" noProof="0" dirty="0">
                        <a:solidFill>
                          <a:schemeClr val="tx1"/>
                        </a:solidFill>
                        <a:effectLst/>
                        <a:latin typeface="+mj-lt"/>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256764">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1"/>
                          </a:solidFill>
                          <a:latin typeface="+mj-lt"/>
                          <a:ea typeface="+mn-ea"/>
                          <a:cs typeface="+mn-cs"/>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Handover </a:t>
                      </a:r>
                      <a:r>
                        <a:rPr kumimoji="0" lang="en-US" sz="1000" b="0" i="0" u="none" strike="noStrike" kern="0" cap="none" spc="0" normalizeH="0" baseline="0" noProof="0" dirty="0">
                          <a:ln>
                            <a:noFill/>
                          </a:ln>
                          <a:solidFill>
                            <a:schemeClr val="tx1"/>
                          </a:solidFill>
                          <a:effectLst/>
                          <a:uLnTx/>
                          <a:uFillTx/>
                          <a:latin typeface="+mn-lt"/>
                          <a:ea typeface="+mn-ea"/>
                          <a:cs typeface="+mn-cs"/>
                        </a:rPr>
                        <a:t>to Customer/Partner/ISD for post 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01988"/>
                  </a:ext>
                </a:extLst>
              </a:tr>
              <a:tr h="489494">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a:rPr>
                        <a:t>attending checkpoint meetings; and implementing user communications, documentation, training, and change management. </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r h="355996">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dirty="0">
                          <a:ln>
                            <a:noFill/>
                          </a:ln>
                          <a:solidFill>
                            <a:schemeClr val="tx1"/>
                          </a:solidFill>
                          <a:effectLst/>
                          <a:uLnTx/>
                          <a:uFillTx/>
                          <a:latin typeface="+mn-lt"/>
                          <a:ea typeface="+mn-ea"/>
                          <a:cs typeface="+mn-cs"/>
                        </a:rPr>
                        <a:t>Estimated duration for completing all activities in a typical engagement is within 4 weeks per Scenario execution, when all the requirements are met, and Customer and Partner are ready for execution</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684667060"/>
                  </a:ext>
                </a:extLst>
              </a:tr>
            </a:tbl>
          </a:graphicData>
        </a:graphic>
      </p:graphicFrame>
      <p:sp>
        <p:nvSpPr>
          <p:cNvPr id="2" name="TextBox 1">
            <a:extLst>
              <a:ext uri="{FF2B5EF4-FFF2-40B4-BE49-F238E27FC236}">
                <a16:creationId xmlns:a16="http://schemas.microsoft.com/office/drawing/2014/main" id="{16413E26-2673-D412-D49B-50B388B4F8A6}"/>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3692245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B2813-A303-3AEC-F532-373F09D13534}"/>
            </a:ext>
          </a:extLst>
        </p:cNvPr>
        <p:cNvGrpSpPr/>
        <p:nvPr/>
      </p:nvGrpSpPr>
      <p:grpSpPr>
        <a:xfrm>
          <a:off x="0" y="0"/>
          <a:ext cx="0" cy="0"/>
          <a:chOff x="0" y="0"/>
          <a:chExt cx="0" cy="0"/>
        </a:xfrm>
      </p:grpSpPr>
      <p:sp>
        <p:nvSpPr>
          <p:cNvPr id="102" name="Title 101">
            <a:extLst>
              <a:ext uri="{FF2B5EF4-FFF2-40B4-BE49-F238E27FC236}">
                <a16:creationId xmlns:a16="http://schemas.microsoft.com/office/drawing/2014/main" id="{7438C60C-DBB7-ABC3-66EC-97532237CE38}"/>
              </a:ext>
            </a:extLst>
          </p:cNvPr>
          <p:cNvSpPr>
            <a:spLocks noGrp="1"/>
          </p:cNvSpPr>
          <p:nvPr>
            <p:ph type="title"/>
          </p:nvPr>
        </p:nvSpPr>
        <p:spPr>
          <a:xfrm>
            <a:off x="588963" y="548489"/>
            <a:ext cx="8704666" cy="748509"/>
          </a:xfrm>
        </p:spPr>
        <p:txBody>
          <a:bodyPr>
            <a:noAutofit/>
          </a:bodyPr>
          <a:lstStyle/>
          <a:p>
            <a:pPr marL="0" algn="l" rtl="0" eaLnBrk="1" latinLnBrk="0" hangingPunct="1">
              <a:buNone/>
            </a:pPr>
            <a:r>
              <a:rPr lang="en-US" sz="2800" noProof="0" dirty="0"/>
              <a:t>Analytics</a:t>
            </a:r>
            <a:br>
              <a:rPr lang="en-US" sz="2800" noProof="0" dirty="0"/>
            </a:br>
            <a:r>
              <a:rPr lang="en-US" sz="1800" kern="1200" noProof="0" dirty="0">
                <a:solidFill>
                  <a:srgbClr val="000000"/>
                </a:solidFill>
                <a:effectLst/>
                <a:latin typeface="Segoe Sans Text Semibold" pitchFamily="2" charset="0"/>
                <a:ea typeface="+mn-ea"/>
                <a:cs typeface="+mn-cs"/>
              </a:rPr>
              <a:t>Fabric Warehouse Migration</a:t>
            </a:r>
            <a:br>
              <a:rPr lang="en-US" sz="1400" noProof="0" dirty="0">
                <a:effectLst/>
              </a:rPr>
            </a:br>
            <a:endParaRPr lang="en-US" sz="2800" noProof="0" dirty="0"/>
          </a:p>
        </p:txBody>
      </p:sp>
      <p:sp>
        <p:nvSpPr>
          <p:cNvPr id="8" name="TextBox 7">
            <a:extLst>
              <a:ext uri="{FF2B5EF4-FFF2-40B4-BE49-F238E27FC236}">
                <a16:creationId xmlns:a16="http://schemas.microsoft.com/office/drawing/2014/main" id="{89D1E6B8-CEF3-56DD-A3A7-8416E9E7FC9D}"/>
              </a:ext>
            </a:extLst>
          </p:cNvPr>
          <p:cNvSpPr txBox="1"/>
          <p:nvPr/>
        </p:nvSpPr>
        <p:spPr>
          <a:xfrm>
            <a:off x="1197823" y="5219220"/>
            <a:ext cx="4842678" cy="215444"/>
          </a:xfrm>
          <a:prstGeom prst="rect">
            <a:avLst/>
          </a:prstGeom>
          <a:noFill/>
        </p:spPr>
        <p:txBody>
          <a:bodyPr wrap="square" lIns="0" tIns="0" rIns="9144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Factory Responsibilities</a:t>
            </a:r>
          </a:p>
        </p:txBody>
      </p:sp>
      <p:sp>
        <p:nvSpPr>
          <p:cNvPr id="11" name="TextBox 10">
            <a:extLst>
              <a:ext uri="{FF2B5EF4-FFF2-40B4-BE49-F238E27FC236}">
                <a16:creationId xmlns:a16="http://schemas.microsoft.com/office/drawing/2014/main" id="{B79B7020-6BDD-3A9C-2CAD-AAFDF983F3B7}"/>
              </a:ext>
            </a:extLst>
          </p:cNvPr>
          <p:cNvSpPr txBox="1"/>
          <p:nvPr/>
        </p:nvSpPr>
        <p:spPr>
          <a:xfrm>
            <a:off x="1028173" y="3346815"/>
            <a:ext cx="4910328" cy="160300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What:</a:t>
            </a:r>
          </a:p>
          <a:p>
            <a:pPr marL="298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Conduct a thorough discovery and requirements analysis to help determine the optimal alignment with Data Warehouse Architecture.</a:t>
            </a:r>
          </a:p>
          <a:p>
            <a:pPr marL="298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Collaboratively identify suitable high-value use cases, whether it‘s for an MVP dataset or a comprehensive Data Warehouse migration plan.</a:t>
            </a:r>
          </a:p>
          <a:p>
            <a:pPr marL="298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Assist with the deployment of Fabric Data Warehouse and execute migration.</a:t>
            </a:r>
          </a:p>
          <a:p>
            <a:pPr marL="2984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Use migration toolset to perform migration of the data and code from Source systems like Synapse Dedicated Pool or SQL Server to Fabric DW</a:t>
            </a:r>
            <a:r>
              <a:rPr kumimoji="0" lang="en-US" sz="1000" b="0" i="0" u="none" strike="noStrike" kern="0" cap="none" spc="0" normalizeH="0" baseline="0" noProof="0" dirty="0">
                <a:ln>
                  <a:noFill/>
                </a:ln>
                <a:solidFill>
                  <a:srgbClr val="000000"/>
                </a:solidFill>
                <a:effectLst/>
                <a:uLnTx/>
                <a:uFillTx/>
                <a:latin typeface="Segoe Sans Text"/>
                <a:ea typeface="+mn-ea"/>
                <a:cs typeface="+mn-cs"/>
              </a:rPr>
              <a:t>.</a:t>
            </a:r>
          </a:p>
        </p:txBody>
      </p:sp>
      <p:sp>
        <p:nvSpPr>
          <p:cNvPr id="22" name="Rounded Rectangle 55">
            <a:extLst>
              <a:ext uri="{FF2B5EF4-FFF2-40B4-BE49-F238E27FC236}">
                <a16:creationId xmlns:a16="http://schemas.microsoft.com/office/drawing/2014/main" id="{428058FC-95D4-EE10-59F9-674786EFB7FF}"/>
              </a:ext>
              <a:ext uri="{C183D7F6-B498-43B3-948B-1728B52AA6E4}">
                <adec:decorative xmlns:adec="http://schemas.microsoft.com/office/drawing/2017/decorative" val="1"/>
              </a:ext>
            </a:extLst>
          </p:cNvPr>
          <p:cNvSpPr>
            <a:spLocks/>
          </p:cNvSpPr>
          <p:nvPr/>
        </p:nvSpPr>
        <p:spPr bwMode="auto">
          <a:xfrm>
            <a:off x="586740" y="1272540"/>
            <a:ext cx="5453761" cy="4831560"/>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4" name="TextBox 23">
            <a:extLst>
              <a:ext uri="{FF2B5EF4-FFF2-40B4-BE49-F238E27FC236}">
                <a16:creationId xmlns:a16="http://schemas.microsoft.com/office/drawing/2014/main" id="{8970D584-C113-643E-B6A7-C21A3160436E}"/>
              </a:ext>
            </a:extLst>
          </p:cNvPr>
          <p:cNvSpPr txBox="1"/>
          <p:nvPr/>
        </p:nvSpPr>
        <p:spPr>
          <a:xfrm>
            <a:off x="680403" y="1363980"/>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7" name="TextBox 26">
            <a:extLst>
              <a:ext uri="{FF2B5EF4-FFF2-40B4-BE49-F238E27FC236}">
                <a16:creationId xmlns:a16="http://schemas.microsoft.com/office/drawing/2014/main" id="{559DC168-4F0B-982D-1B7D-29C4EB660C27}"/>
              </a:ext>
            </a:extLst>
          </p:cNvPr>
          <p:cNvSpPr txBox="1"/>
          <p:nvPr/>
        </p:nvSpPr>
        <p:spPr>
          <a:xfrm>
            <a:off x="1028173" y="1786465"/>
            <a:ext cx="4910328" cy="129779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Offerings:</a:t>
            </a:r>
          </a:p>
          <a:p>
            <a:pPr marL="285750" marR="0" lvl="1"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200" b="0" i="0" u="none" strike="noStrike" kern="0" cap="none" spc="0" normalizeH="0" baseline="0" noProof="0" dirty="0">
                <a:ln>
                  <a:noFill/>
                </a:ln>
                <a:effectLst/>
                <a:uLnTx/>
                <a:uFillTx/>
                <a:latin typeface="Segoe Sans Text"/>
                <a:ea typeface="+mn-ea"/>
                <a:cs typeface="+mn-cs"/>
              </a:rPr>
              <a:t>Microsoft Fabric Warehouse</a:t>
            </a:r>
          </a:p>
          <a:p>
            <a:pPr marL="5715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Synapse Dedicated SQL Pool to Fabric Warehouse</a:t>
            </a:r>
          </a:p>
          <a:p>
            <a:pPr marL="5715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On-premises SQL Server, Azure SQLDB, SQL MI to Fabric Warehouse</a:t>
            </a:r>
          </a:p>
          <a:p>
            <a:pPr marL="5715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Synapse pipelines to Fabric Data factory(Pilot)</a:t>
            </a:r>
          </a:p>
          <a:p>
            <a:pPr marL="571500" marR="0" lvl="2" indent="-171450" algn="l" defTabSz="914400" rtl="0" eaLnBrk="1" fontAlgn="auto" latinLnBrk="0" hangingPunct="1">
              <a:lnSpc>
                <a:spcPct val="100000"/>
              </a:lnSpc>
              <a:spcBef>
                <a:spcPts val="0"/>
              </a:spcBef>
              <a:spcAft>
                <a:spcPts val="600"/>
              </a:spcAft>
              <a:buClrTx/>
              <a:buSzTx/>
              <a:buFont typeface="Abadi" panose="020B0604020104020204" pitchFamily="34" charset="0"/>
              <a:buChar char="–"/>
              <a:tabLst/>
              <a:defRPr/>
            </a:pPr>
            <a:r>
              <a:rPr kumimoji="0" lang="en-US" sz="1000" b="0" i="0" u="none" strike="noStrike" kern="0" cap="none" spc="0" normalizeH="0" baseline="0" noProof="0" dirty="0">
                <a:ln>
                  <a:noFill/>
                </a:ln>
                <a:effectLst/>
                <a:uLnTx/>
                <a:uFillTx/>
                <a:latin typeface="Segoe Sans Text"/>
                <a:ea typeface="+mn-ea"/>
                <a:cs typeface="+mn-cs"/>
              </a:rPr>
              <a:t>Power BI Datamart to Fabric Warehouse (EOL)</a:t>
            </a:r>
            <a:endParaRPr kumimoji="0" lang="en-US" sz="1050" b="0" i="0" u="none" strike="noStrike" kern="0" cap="none" spc="0" normalizeH="0" baseline="0" noProof="0" dirty="0">
              <a:ln>
                <a:noFill/>
              </a:ln>
              <a:effectLst/>
              <a:uLnTx/>
              <a:uFillTx/>
              <a:latin typeface="Segoe Sans Text"/>
              <a:ea typeface="+mn-ea"/>
              <a:cs typeface="+mn-cs"/>
            </a:endParaRPr>
          </a:p>
        </p:txBody>
      </p:sp>
      <p:sp>
        <p:nvSpPr>
          <p:cNvPr id="29" name="TextBox 28">
            <a:extLst>
              <a:ext uri="{FF2B5EF4-FFF2-40B4-BE49-F238E27FC236}">
                <a16:creationId xmlns:a16="http://schemas.microsoft.com/office/drawing/2014/main" id="{61191F3E-6598-51B9-A674-6B2D33C0B5C4}"/>
              </a:ext>
            </a:extLst>
          </p:cNvPr>
          <p:cNvSpPr txBox="1"/>
          <p:nvPr/>
        </p:nvSpPr>
        <p:spPr>
          <a:xfrm>
            <a:off x="1108606" y="5434664"/>
            <a:ext cx="4842678" cy="795089"/>
          </a:xfrm>
          <a:prstGeom prst="rect">
            <a:avLst/>
          </a:prstGeom>
          <a:noFill/>
        </p:spPr>
        <p:txBody>
          <a:bodyPr wrap="square" lIns="0" tIns="0" rIns="0" bIns="0">
            <a:spAutoFit/>
          </a:bodyPr>
          <a:lstStyle/>
          <a:p>
            <a:pPr marL="171450" marR="0" lvl="0" indent="-171450" algn="l" defTabSz="9322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Lift and shift Synapse dedicated SQL Pools to Fabric DW</a:t>
            </a:r>
          </a:p>
          <a:p>
            <a:pPr marL="171450" marR="0" lvl="0" indent="-171450" algn="l" defTabSz="9322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Segoe Sans Text" pitchFamily="2" charset="0"/>
              </a:rPr>
              <a:t>Migration from Synapse DP, SQL Server, and TSQL Code translation to Fabric</a:t>
            </a:r>
          </a:p>
          <a:p>
            <a:pPr marL="171450" marR="0" lvl="0" indent="-171450" algn="l" defTabSz="9322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Project co-ordination and management of Scope 1 activities.</a:t>
            </a:r>
          </a:p>
          <a:p>
            <a:pPr marL="171450" marR="0" lvl="0" indent="-171450" algn="l" defTabSz="93229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Segoe Sans Text" pitchFamily="2" charset="0"/>
            </a:endParaRPr>
          </a:p>
          <a:p>
            <a:pPr marL="171450" marR="0" lvl="0" indent="-171450" algn="l" defTabSz="93229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35" name="Oval 34">
            <a:extLst>
              <a:ext uri="{FF2B5EF4-FFF2-40B4-BE49-F238E27FC236}">
                <a16:creationId xmlns:a16="http://schemas.microsoft.com/office/drawing/2014/main" id="{9A22D36D-FED3-447D-487F-AD0E478AB3B9}"/>
              </a:ext>
            </a:extLst>
          </p:cNvPr>
          <p:cNvSpPr/>
          <p:nvPr/>
        </p:nvSpPr>
        <p:spPr bwMode="auto">
          <a:xfrm>
            <a:off x="775653" y="341646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81242B64-F2DA-454A-7C52-D0A4B0D9DE69}"/>
              </a:ext>
            </a:extLst>
          </p:cNvPr>
          <p:cNvSpPr/>
          <p:nvPr/>
        </p:nvSpPr>
        <p:spPr bwMode="auto">
          <a:xfrm>
            <a:off x="775653" y="525836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4" name="Straight Connector 43">
            <a:extLst>
              <a:ext uri="{FF2B5EF4-FFF2-40B4-BE49-F238E27FC236}">
                <a16:creationId xmlns:a16="http://schemas.microsoft.com/office/drawing/2014/main" id="{CA3C201D-8FB7-A0EA-DB59-3CAB17E113ED}"/>
              </a:ext>
              <a:ext uri="{C183D7F6-B498-43B3-948B-1728B52AA6E4}">
                <adec:decorative xmlns:adec="http://schemas.microsoft.com/office/drawing/2017/decorative" val="1"/>
              </a:ext>
            </a:extLst>
          </p:cNvPr>
          <p:cNvCxnSpPr>
            <a:cxnSpLocks/>
          </p:cNvCxnSpPr>
          <p:nvPr/>
        </p:nvCxnSpPr>
        <p:spPr>
          <a:xfrm>
            <a:off x="1068768" y="321525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14844FC-F986-86F2-F76A-EE5D2C50699D}"/>
              </a:ext>
              <a:ext uri="{C183D7F6-B498-43B3-948B-1728B52AA6E4}">
                <adec:decorative xmlns:adec="http://schemas.microsoft.com/office/drawing/2017/decorative" val="1"/>
              </a:ext>
            </a:extLst>
          </p:cNvPr>
          <p:cNvCxnSpPr>
            <a:cxnSpLocks/>
          </p:cNvCxnSpPr>
          <p:nvPr/>
        </p:nvCxnSpPr>
        <p:spPr>
          <a:xfrm>
            <a:off x="1068768" y="508378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770D543-8DD0-AF45-6A1F-D234528EEDC8}"/>
              </a:ext>
            </a:extLst>
          </p:cNvPr>
          <p:cNvSpPr/>
          <p:nvPr/>
        </p:nvSpPr>
        <p:spPr bwMode="auto">
          <a:xfrm>
            <a:off x="775653" y="183753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Rounded Rectangle 55">
            <a:extLst>
              <a:ext uri="{FF2B5EF4-FFF2-40B4-BE49-F238E27FC236}">
                <a16:creationId xmlns:a16="http://schemas.microsoft.com/office/drawing/2014/main" id="{B83BD1BD-03E0-EFF2-3CA8-F943131B5D06}"/>
              </a:ext>
              <a:ext uri="{C183D7F6-B498-43B3-948B-1728B52AA6E4}">
                <adec:decorative xmlns:adec="http://schemas.microsoft.com/office/drawing/2017/decorative" val="1"/>
              </a:ext>
            </a:extLst>
          </p:cNvPr>
          <p:cNvSpPr>
            <a:spLocks/>
          </p:cNvSpPr>
          <p:nvPr/>
        </p:nvSpPr>
        <p:spPr bwMode="auto">
          <a:xfrm>
            <a:off x="6152452" y="1260965"/>
            <a:ext cx="5453761" cy="4792593"/>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4" name="TextBox 3">
            <a:extLst>
              <a:ext uri="{FF2B5EF4-FFF2-40B4-BE49-F238E27FC236}">
                <a16:creationId xmlns:a16="http://schemas.microsoft.com/office/drawing/2014/main" id="{A4CB03A5-A25B-03C4-2EEC-BAECEE3FAFF6}"/>
              </a:ext>
            </a:extLst>
          </p:cNvPr>
          <p:cNvSpPr txBox="1"/>
          <p:nvPr/>
        </p:nvSpPr>
        <p:spPr>
          <a:xfrm>
            <a:off x="6240716"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Partner / Customer – Led*</a:t>
            </a:r>
          </a:p>
        </p:txBody>
      </p:sp>
      <p:cxnSp>
        <p:nvCxnSpPr>
          <p:cNvPr id="6" name="Straight Connector 5">
            <a:extLst>
              <a:ext uri="{FF2B5EF4-FFF2-40B4-BE49-F238E27FC236}">
                <a16:creationId xmlns:a16="http://schemas.microsoft.com/office/drawing/2014/main" id="{7750D415-105D-04C2-2F68-C13E6FA26462}"/>
              </a:ext>
              <a:ext uri="{C183D7F6-B498-43B3-948B-1728B52AA6E4}">
                <adec:decorative xmlns:adec="http://schemas.microsoft.com/office/drawing/2017/decorative" val="1"/>
              </a:ext>
            </a:extLst>
          </p:cNvPr>
          <p:cNvCxnSpPr>
            <a:cxnSpLocks/>
          </p:cNvCxnSpPr>
          <p:nvPr/>
        </p:nvCxnSpPr>
        <p:spPr>
          <a:xfrm>
            <a:off x="6438627" y="463409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F0481B6-DDEC-AA0D-9D1C-C0007E5B9EF6}"/>
              </a:ext>
              <a:ext uri="{C183D7F6-B498-43B3-948B-1728B52AA6E4}">
                <adec:decorative xmlns:adec="http://schemas.microsoft.com/office/drawing/2017/decorative" val="1"/>
              </a:ext>
            </a:extLst>
          </p:cNvPr>
          <p:cNvCxnSpPr>
            <a:cxnSpLocks/>
          </p:cNvCxnSpPr>
          <p:nvPr/>
        </p:nvCxnSpPr>
        <p:spPr>
          <a:xfrm>
            <a:off x="6438627" y="398119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A06407-ECB0-6792-E68D-21553834B30D}"/>
              </a:ext>
              <a:ext uri="{C183D7F6-B498-43B3-948B-1728B52AA6E4}">
                <adec:decorative xmlns:adec="http://schemas.microsoft.com/office/drawing/2017/decorative" val="1"/>
              </a:ext>
            </a:extLst>
          </p:cNvPr>
          <p:cNvCxnSpPr>
            <a:cxnSpLocks/>
          </p:cNvCxnSpPr>
          <p:nvPr/>
        </p:nvCxnSpPr>
        <p:spPr>
          <a:xfrm>
            <a:off x="6438627" y="319344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926D8C7-8AE1-9608-AC4E-3103C78432B3}"/>
              </a:ext>
              <a:ext uri="{C183D7F6-B498-43B3-948B-1728B52AA6E4}">
                <adec:decorative xmlns:adec="http://schemas.microsoft.com/office/drawing/2017/decorative" val="1"/>
              </a:ext>
            </a:extLst>
          </p:cNvPr>
          <p:cNvCxnSpPr>
            <a:cxnSpLocks/>
          </p:cNvCxnSpPr>
          <p:nvPr/>
        </p:nvCxnSpPr>
        <p:spPr>
          <a:xfrm>
            <a:off x="6438627" y="260940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5B24B91D-C93B-55BA-6DA1-AECFFECFB793}"/>
              </a:ext>
            </a:extLst>
          </p:cNvPr>
          <p:cNvSpPr/>
          <p:nvPr/>
        </p:nvSpPr>
        <p:spPr bwMode="auto">
          <a:xfrm>
            <a:off x="6289180" y="203176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2556E1EC-F9F2-2ECE-8BEA-04ACC2DE7DE4}"/>
              </a:ext>
            </a:extLst>
          </p:cNvPr>
          <p:cNvSpPr/>
          <p:nvPr/>
        </p:nvSpPr>
        <p:spPr bwMode="auto">
          <a:xfrm>
            <a:off x="6289180" y="266818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91C23762-25FD-E21C-1A06-2CFB086273B2}"/>
              </a:ext>
            </a:extLst>
          </p:cNvPr>
          <p:cNvSpPr/>
          <p:nvPr/>
        </p:nvSpPr>
        <p:spPr bwMode="auto">
          <a:xfrm>
            <a:off x="6289180" y="321010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2482316C-78F2-6671-7F15-2AD543B07FF5}"/>
              </a:ext>
            </a:extLst>
          </p:cNvPr>
          <p:cNvSpPr/>
          <p:nvPr/>
        </p:nvSpPr>
        <p:spPr bwMode="auto">
          <a:xfrm>
            <a:off x="6289180" y="404266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B767CEB2-113C-E853-DBA0-6634B9746E80}"/>
              </a:ext>
            </a:extLst>
          </p:cNvPr>
          <p:cNvSpPr/>
          <p:nvPr/>
        </p:nvSpPr>
        <p:spPr bwMode="auto">
          <a:xfrm>
            <a:off x="6289180" y="472827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14277193-692E-4417-85E5-4805DBA42A41}"/>
              </a:ext>
            </a:extLst>
          </p:cNvPr>
          <p:cNvSpPr txBox="1"/>
          <p:nvPr/>
        </p:nvSpPr>
        <p:spPr>
          <a:xfrm>
            <a:off x="6438627" y="1988822"/>
            <a:ext cx="4995395" cy="3372911"/>
          </a:xfrm>
          <a:prstGeom prst="rect">
            <a:avLst/>
          </a:prstGeom>
          <a:noFill/>
        </p:spPr>
        <p:txBody>
          <a:bodyPr wrap="square" lIns="91440" tIns="45720" rIns="91440" bIns="45720" anchor="t">
            <a:spAutoFit/>
          </a:bodyPr>
          <a:lstStyle/>
          <a:p>
            <a:pPr>
              <a:spcAft>
                <a:spcPts val="200"/>
              </a:spcAft>
              <a:defRPr/>
            </a:pPr>
            <a:r>
              <a:rPr lang="en-US" sz="1200" kern="0" noProof="0" dirty="0">
                <a:latin typeface="Segoe Sans Text Semibold"/>
              </a:rPr>
              <a:t>Architecture:</a:t>
            </a:r>
          </a:p>
          <a:p>
            <a:pPr marL="233363" lvl="1" indent="-138113">
              <a:spcAft>
                <a:spcPts val="200"/>
              </a:spcAft>
              <a:buFont typeface="Arial" panose="020B0604020202020204" pitchFamily="34" charset="0"/>
              <a:buChar char="•"/>
              <a:defRPr/>
            </a:pPr>
            <a:r>
              <a:rPr lang="en-US" sz="900" kern="0" noProof="0" dirty="0">
                <a:latin typeface="Segoe Sans Text"/>
              </a:rPr>
              <a:t>Re-architecture or architecture evaluation</a:t>
            </a:r>
          </a:p>
          <a:p>
            <a:pPr marL="233363" lvl="1" indent="-138113">
              <a:spcAft>
                <a:spcPts val="200"/>
              </a:spcAft>
              <a:buFont typeface="Arial" panose="020B0604020202020204" pitchFamily="34" charset="0"/>
              <a:buChar char="•"/>
              <a:defRPr/>
            </a:pPr>
            <a:r>
              <a:rPr lang="en-US" sz="900" kern="0" noProof="0" dirty="0">
                <a:latin typeface="Segoe Sans Text"/>
              </a:rPr>
              <a:t>Capacity sizing and cost estimation activities</a:t>
            </a:r>
          </a:p>
          <a:p>
            <a:pPr marR="0" lvl="0" indent="0" fontAlgn="auto">
              <a:lnSpc>
                <a:spcPct val="115000"/>
              </a:lnSpc>
              <a:spcBef>
                <a:spcPts val="50"/>
              </a:spcBef>
              <a:spcAft>
                <a:spcPts val="200"/>
              </a:spcAft>
              <a:buClrTx/>
              <a:buSzTx/>
              <a:buFontTx/>
              <a:buNone/>
              <a:tabLst/>
              <a:defRPr/>
            </a:pPr>
            <a:r>
              <a:rPr lang="en-US" sz="1200" kern="0" noProof="0" dirty="0">
                <a:latin typeface="Segoe Sans Text Semibold"/>
              </a:rPr>
              <a:t>Performance tuning and optimization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900" kern="0" noProof="0" dirty="0">
                <a:latin typeface="Segoe Sans Text"/>
              </a:rPr>
              <a:t>Performance testing and tuning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900" kern="0" noProof="0" dirty="0">
                <a:latin typeface="Segoe Sans Text"/>
              </a:rPr>
              <a:t>Performance benchmarking</a:t>
            </a:r>
          </a:p>
          <a:p>
            <a:pPr marR="0" lvl="0" indent="0" fontAlgn="auto">
              <a:lnSpc>
                <a:spcPct val="115000"/>
              </a:lnSpc>
              <a:spcBef>
                <a:spcPts val="50"/>
              </a:spcBef>
              <a:spcAft>
                <a:spcPts val="200"/>
              </a:spcAft>
              <a:buClrTx/>
              <a:buSzTx/>
              <a:buFontTx/>
              <a:buNone/>
              <a:tabLst/>
              <a:defRPr/>
            </a:pPr>
            <a:r>
              <a:rPr lang="en-US" sz="1200" kern="0" noProof="0" dirty="0">
                <a:latin typeface="Segoe Sans Text Semibold"/>
              </a:rPr>
              <a:t>Environment prep/config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900" kern="0" noProof="0" dirty="0">
                <a:latin typeface="Segoe Sans Text"/>
              </a:rPr>
              <a:t>Capacity provisioning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900" kern="0" noProof="0" dirty="0">
                <a:latin typeface="Segoe Sans Text"/>
              </a:rPr>
              <a:t>VM setup /Gateway install</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900" kern="0" noProof="0" dirty="0">
                <a:latin typeface="Segoe Sans Text"/>
              </a:rPr>
              <a:t>Network Config</a:t>
            </a:r>
          </a:p>
          <a:p>
            <a:pPr marR="0" lvl="0" indent="0" fontAlgn="auto">
              <a:lnSpc>
                <a:spcPct val="115000"/>
              </a:lnSpc>
              <a:spcBef>
                <a:spcPts val="50"/>
              </a:spcBef>
              <a:spcAft>
                <a:spcPts val="200"/>
              </a:spcAft>
              <a:buClrTx/>
              <a:buSzTx/>
              <a:buFontTx/>
              <a:buNone/>
              <a:tabLst/>
              <a:defRPr/>
            </a:pPr>
            <a:r>
              <a:rPr lang="en-US" sz="1200" kern="0" noProof="0" dirty="0">
                <a:latin typeface="Segoe Sans Text Semibold"/>
              </a:rPr>
              <a:t>DevOps/Integrations</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900" kern="0" noProof="0" dirty="0">
                <a:latin typeface="Segoe Sans Text"/>
              </a:rPr>
              <a:t>CI/CD setup and testing </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900" kern="0" noProof="0" dirty="0">
                <a:latin typeface="Segoe Sans Text"/>
              </a:rPr>
              <a:t>Testing and configuring upstream/downstream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effectLst/>
              <a:uLnTx/>
              <a:uFillTx/>
              <a:latin typeface="Aptos" panose="020B0004020202020204" pitchFamily="34" charset="0"/>
              <a:ea typeface="+mn-ea"/>
              <a:cs typeface="+mn-cs"/>
            </a:endParaRPr>
          </a:p>
          <a:p>
            <a:pPr marR="0" lvl="0" indent="0" fontAlgn="auto">
              <a:lnSpc>
                <a:spcPct val="115000"/>
              </a:lnSpc>
              <a:spcBef>
                <a:spcPts val="50"/>
              </a:spcBef>
              <a:spcAft>
                <a:spcPts val="200"/>
              </a:spcAft>
              <a:buClrTx/>
              <a:buSzTx/>
              <a:buFontTx/>
              <a:buNone/>
              <a:tabLst/>
              <a:defRPr/>
            </a:pPr>
            <a:r>
              <a:rPr lang="en-US" sz="1200" kern="0" noProof="0" dirty="0">
                <a:latin typeface="Segoe Sans Text Semibold"/>
              </a:rPr>
              <a:t>Post Migration Operation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900" kern="0" noProof="0" dirty="0">
                <a:latin typeface="Segoe Sans Text"/>
              </a:rPr>
              <a:t>On going DR/Backup/Monitoring support</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900" kern="0" noProof="0" dirty="0">
                <a:latin typeface="Segoe Sans Text"/>
              </a:rPr>
              <a:t>Cost optimization and FinOps</a:t>
            </a:r>
          </a:p>
        </p:txBody>
      </p:sp>
      <p:sp>
        <p:nvSpPr>
          <p:cNvPr id="5" name="TextBox 4">
            <a:extLst>
              <a:ext uri="{FF2B5EF4-FFF2-40B4-BE49-F238E27FC236}">
                <a16:creationId xmlns:a16="http://schemas.microsoft.com/office/drawing/2014/main" id="{54275A62-C677-24AA-96E8-17ADD013FC84}"/>
              </a:ext>
            </a:extLst>
          </p:cNvPr>
          <p:cNvSpPr txBox="1"/>
          <p:nvPr/>
        </p:nvSpPr>
        <p:spPr>
          <a:xfrm>
            <a:off x="6352569" y="1637988"/>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0" name="TextBox 19">
            <a:extLst>
              <a:ext uri="{FF2B5EF4-FFF2-40B4-BE49-F238E27FC236}">
                <a16:creationId xmlns:a16="http://schemas.microsoft.com/office/drawing/2014/main" id="{39226D27-5FC3-1C16-5B86-DA10F7EB0C0B}"/>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extBox 2">
            <a:extLst>
              <a:ext uri="{FF2B5EF4-FFF2-40B4-BE49-F238E27FC236}">
                <a16:creationId xmlns:a16="http://schemas.microsoft.com/office/drawing/2014/main" id="{5C834E67-6C9B-C8F2-1C20-30354FDA2AB6}"/>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8528557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7A236-7C68-D387-9FBC-305030063227}"/>
            </a:ext>
          </a:extLst>
        </p:cNvPr>
        <p:cNvGrpSpPr/>
        <p:nvPr/>
      </p:nvGrpSpPr>
      <p:grpSpPr>
        <a:xfrm>
          <a:off x="0" y="0"/>
          <a:ext cx="0" cy="0"/>
          <a:chOff x="0" y="0"/>
          <a:chExt cx="0" cy="0"/>
        </a:xfrm>
      </p:grpSpPr>
      <p:sp>
        <p:nvSpPr>
          <p:cNvPr id="12" name="Rounded Rectangle 55">
            <a:extLst>
              <a:ext uri="{FF2B5EF4-FFF2-40B4-BE49-F238E27FC236}">
                <a16:creationId xmlns:a16="http://schemas.microsoft.com/office/drawing/2014/main" id="{1CAF1694-097F-F67E-17F5-820AAAD109B3}"/>
              </a:ext>
              <a:ext uri="{C183D7F6-B498-43B3-948B-1728B52AA6E4}">
                <adec:decorative xmlns:adec="http://schemas.microsoft.com/office/drawing/2017/decorative" val="1"/>
              </a:ext>
            </a:extLst>
          </p:cNvPr>
          <p:cNvSpPr/>
          <p:nvPr/>
        </p:nvSpPr>
        <p:spPr bwMode="auto">
          <a:xfrm>
            <a:off x="9154160" y="1294006"/>
            <a:ext cx="2448877" cy="499198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1BA69939-8651-F56D-D513-E4F295B7795A}"/>
              </a:ext>
              <a:ext uri="{C183D7F6-B498-43B3-948B-1728B52AA6E4}">
                <adec:decorative xmlns:adec="http://schemas.microsoft.com/office/drawing/2017/decorative" val="1"/>
              </a:ext>
            </a:extLst>
          </p:cNvPr>
          <p:cNvSpPr/>
          <p:nvPr/>
        </p:nvSpPr>
        <p:spPr bwMode="auto">
          <a:xfrm>
            <a:off x="588961" y="1294006"/>
            <a:ext cx="8443279" cy="4991988"/>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C94A4661-A73C-22AA-23DA-6AB6086B453C}"/>
              </a:ext>
            </a:extLst>
          </p:cNvPr>
          <p:cNvSpPr>
            <a:spLocks noGrp="1"/>
          </p:cNvSpPr>
          <p:nvPr>
            <p:ph type="title"/>
          </p:nvPr>
        </p:nvSpPr>
        <p:spPr>
          <a:xfrm>
            <a:off x="588963" y="561420"/>
            <a:ext cx="4249255"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Analytics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Fabric Data Agents</a:t>
            </a:r>
            <a:endParaRPr lang="en-US" sz="2800" noProof="0" dirty="0"/>
          </a:p>
        </p:txBody>
      </p:sp>
      <p:sp>
        <p:nvSpPr>
          <p:cNvPr id="18" name="Content Placeholder 4">
            <a:extLst>
              <a:ext uri="{FF2B5EF4-FFF2-40B4-BE49-F238E27FC236}">
                <a16:creationId xmlns:a16="http://schemas.microsoft.com/office/drawing/2014/main" id="{12317C23-7F49-4E5D-68E1-F461F11A484D}"/>
              </a:ext>
            </a:extLst>
          </p:cNvPr>
          <p:cNvSpPr txBox="1">
            <a:spLocks/>
          </p:cNvSpPr>
          <p:nvPr/>
        </p:nvSpPr>
        <p:spPr>
          <a:xfrm>
            <a:off x="9154160" y="1637755"/>
            <a:ext cx="2448877" cy="4172424"/>
          </a:xfrm>
          <a:prstGeom prst="rect">
            <a:avLst/>
          </a:prstGeom>
        </p:spPr>
        <p:txBody>
          <a:bodyPr vert="horz" wrap="square" lIns="91440" tIns="91440" rIns="91440" bIns="73152"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endParaRPr lang="en-US" sz="500" noProof="0" dirty="0">
              <a:solidFill>
                <a:schemeClr val="dk1"/>
              </a:solidFill>
              <a:latin typeface="+mj-lt"/>
              <a:ea typeface="+mj-ea"/>
              <a:cs typeface="+mj-cs"/>
            </a:endParaRPr>
          </a:p>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solidFill>
                  <a:prstClr val="black"/>
                </a:solidFill>
                <a:cs typeface="+mn-cs"/>
              </a:rPr>
              <a:t>The customer must provide Cloud Factory with contributor access to their data workspace (Microsoft Fabric), as it is necessary for connecting to any data sources, notebooks, and other </a:t>
            </a:r>
            <a:br>
              <a:rPr lang="en-US" sz="900" noProof="0" dirty="0">
                <a:ln w="3175">
                  <a:noFill/>
                </a:ln>
                <a:solidFill>
                  <a:prstClr val="black"/>
                </a:solidFill>
                <a:cs typeface="+mn-cs"/>
              </a:rPr>
            </a:br>
            <a:r>
              <a:rPr lang="en-US" sz="900" noProof="0" dirty="0">
                <a:ln w="3175">
                  <a:noFill/>
                </a:ln>
                <a:solidFill>
                  <a:prstClr val="black"/>
                </a:solidFill>
                <a:cs typeface="+mn-cs"/>
              </a:rPr>
              <a:t>Fabric items. </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solidFill>
                  <a:prstClr val="black"/>
                </a:solidFill>
                <a:cs typeface="+mn-cs"/>
              </a:rPr>
              <a:t>The customer is to ensure an established data source connection is in place for each data source to be used in the engagement.</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solidFill>
                  <a:prstClr val="black"/>
                </a:solidFill>
                <a:cs typeface="+mn-cs"/>
              </a:rPr>
              <a:t>The customer is responsible for ensuring that valid data sources in Microsoft Fabric are available for the data agent.</a:t>
            </a:r>
          </a:p>
          <a:p>
            <a:pPr marL="203200" indent="-146050">
              <a:spcBef>
                <a:spcPts val="0"/>
              </a:spcBef>
              <a:spcAft>
                <a:spcPts val="400"/>
              </a:spcAft>
              <a:buSzPct val="100000"/>
              <a:buFont typeface="Arial" panose="020B0604020202020204" pitchFamily="34" charset="0"/>
              <a:buChar char="•"/>
              <a:defRPr/>
            </a:pPr>
            <a:r>
              <a:rPr lang="en-US" sz="900" noProof="0" dirty="0">
                <a:ln w="3175">
                  <a:noFill/>
                </a:ln>
                <a:solidFill>
                  <a:prstClr val="black"/>
                </a:solidFill>
                <a:cs typeface="+mn-cs"/>
              </a:rPr>
              <a:t>The customer is responsible for devising and sharing a list of sample questions that business users will typically ask the data agent.</a:t>
            </a:r>
          </a:p>
          <a:p>
            <a:pPr marL="203200" indent="-146050">
              <a:spcBef>
                <a:spcPts val="0"/>
              </a:spcBef>
              <a:spcAft>
                <a:spcPts val="600"/>
              </a:spcAft>
              <a:buSzPct val="100000"/>
              <a:buFont typeface="Arial" panose="020B0604020202020204" pitchFamily="34" charset="0"/>
              <a:buChar char="•"/>
              <a:defRPr/>
            </a:pPr>
            <a:r>
              <a:rPr lang="en-US" sz="900" noProof="0" dirty="0">
                <a:ln w="3175">
                  <a:noFill/>
                </a:ln>
                <a:solidFill>
                  <a:prstClr val="black"/>
                </a:solidFill>
                <a:cs typeface="+mn-cs"/>
              </a:rPr>
              <a:t>Internet bandwidth availability must meet minimum Factory requirements</a:t>
            </a:r>
          </a:p>
          <a:p>
            <a:pPr marL="0" indent="0">
              <a:spcBef>
                <a:spcPts val="0"/>
              </a:spcBef>
              <a:spcAft>
                <a:spcPts val="400"/>
              </a:spcAft>
              <a:buSzPct val="100000"/>
              <a:buNone/>
              <a:defRPr/>
            </a:pPr>
            <a:r>
              <a:rPr lang="en-US" sz="1000" noProof="0" dirty="0">
                <a:ln w="3175">
                  <a:noFill/>
                </a:ln>
                <a:solidFill>
                  <a:prstClr val="black"/>
                </a:solidFill>
                <a:latin typeface="+mj-lt"/>
                <a:cs typeface="+mn-cs"/>
              </a:rPr>
              <a:t>Please reach out to the factory team for any questions on supported sources or scenarios</a:t>
            </a:r>
          </a:p>
        </p:txBody>
      </p:sp>
      <p:sp>
        <p:nvSpPr>
          <p:cNvPr id="20" name="TextBox 19">
            <a:extLst>
              <a:ext uri="{FF2B5EF4-FFF2-40B4-BE49-F238E27FC236}">
                <a16:creationId xmlns:a16="http://schemas.microsoft.com/office/drawing/2014/main" id="{C8FF00F5-4989-AAEB-C537-1C3F50D9F607}"/>
              </a:ext>
            </a:extLst>
          </p:cNvPr>
          <p:cNvSpPr txBox="1"/>
          <p:nvPr/>
        </p:nvSpPr>
        <p:spPr>
          <a:xfrm>
            <a:off x="674050" y="1360200"/>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756ABCF1-715C-1041-E811-6BE389AD5CE9}"/>
              </a:ext>
            </a:extLst>
          </p:cNvPr>
          <p:cNvSpPr/>
          <p:nvPr/>
        </p:nvSpPr>
        <p:spPr>
          <a:xfrm>
            <a:off x="3834447" y="1409600"/>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14CAEE01-7A00-C511-2DDA-44E0AC6F0237}"/>
              </a:ext>
            </a:extLst>
          </p:cNvPr>
          <p:cNvSpPr txBox="1"/>
          <p:nvPr/>
        </p:nvSpPr>
        <p:spPr>
          <a:xfrm>
            <a:off x="9241631" y="1360200"/>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488CF2B2-E7D6-81A2-0B6C-9A48EFBDF6B0}"/>
              </a:ext>
            </a:extLst>
          </p:cNvPr>
          <p:cNvSpPr/>
          <p:nvPr/>
        </p:nvSpPr>
        <p:spPr>
          <a:xfrm>
            <a:off x="9852025" y="1416427"/>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graphicFrame>
        <p:nvGraphicFramePr>
          <p:cNvPr id="27" name="Table 26" title="Exchange Online Technet Guidance">
            <a:extLst>
              <a:ext uri="{FF2B5EF4-FFF2-40B4-BE49-F238E27FC236}">
                <a16:creationId xmlns:a16="http://schemas.microsoft.com/office/drawing/2014/main" id="{E96A20A7-4912-E185-0D03-EF868DE457AC}"/>
              </a:ext>
            </a:extLst>
          </p:cNvPr>
          <p:cNvGraphicFramePr>
            <a:graphicFrameLocks noGrp="1"/>
          </p:cNvGraphicFramePr>
          <p:nvPr>
            <p:extLst>
              <p:ext uri="{D42A27DB-BD31-4B8C-83A1-F6EECF244321}">
                <p14:modId xmlns:p14="http://schemas.microsoft.com/office/powerpoint/2010/main" val="190654453"/>
              </p:ext>
            </p:extLst>
          </p:nvPr>
        </p:nvGraphicFramePr>
        <p:xfrm>
          <a:off x="572537" y="1675855"/>
          <a:ext cx="8443279" cy="4274057"/>
        </p:xfrm>
        <a:graphic>
          <a:graphicData uri="http://schemas.openxmlformats.org/drawingml/2006/table">
            <a:tbl>
              <a:tblPr firstRow="1" bandRow="1">
                <a:tableStyleId>{5C22544A-7EE6-4342-B048-85BDC9FD1C3A}</a:tableStyleId>
              </a:tblPr>
              <a:tblGrid>
                <a:gridCol w="275918">
                  <a:extLst>
                    <a:ext uri="{9D8B030D-6E8A-4147-A177-3AD203B41FA5}">
                      <a16:colId xmlns:a16="http://schemas.microsoft.com/office/drawing/2014/main" val="920430407"/>
                    </a:ext>
                  </a:extLst>
                </a:gridCol>
                <a:gridCol w="8167361">
                  <a:extLst>
                    <a:ext uri="{9D8B030D-6E8A-4147-A177-3AD203B41FA5}">
                      <a16:colId xmlns:a16="http://schemas.microsoft.com/office/drawing/2014/main" val="125040094"/>
                    </a:ext>
                  </a:extLst>
                </a:gridCol>
              </a:tblGrid>
              <a:tr h="433409">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Data Agent Design &amp; Implementation</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767614">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scenario and scope:</a:t>
                      </a:r>
                      <a:r>
                        <a:rPr kumimoji="0" lang="en-US" sz="1000" b="0" i="0" u="none" strike="noStrike" kern="0" cap="none" spc="0" normalizeH="0" baseline="0" noProof="0" dirty="0">
                          <a:ln>
                            <a:noFill/>
                          </a:ln>
                          <a:solidFill>
                            <a:schemeClr val="tx1"/>
                          </a:solidFill>
                          <a:effectLst/>
                          <a:uLnTx/>
                          <a:uFillTx/>
                          <a:latin typeface="+mn-lt"/>
                          <a:ea typeface="+mn-ea"/>
                          <a:cs typeface="+mn-cs"/>
                        </a:rPr>
                        <a:t> Partnering with the customer and partner, Cloud Accelerate Factory will identify and validate data agent data sources, establish AI-readiness of the data, determine the purpose of the data agent, and design and deploy a specialized data agent solution for a specific business use case.</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633221">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the appropriate scenario</a:t>
                      </a:r>
                      <a:r>
                        <a:rPr kumimoji="0" lang="en-US" sz="1000" b="0" i="0" u="none" strike="noStrike" kern="0" cap="none" spc="0" normalizeH="0" baseline="0" noProof="0" dirty="0">
                          <a:ln>
                            <a:noFill/>
                          </a:ln>
                          <a:solidFill>
                            <a:schemeClr val="tx1"/>
                          </a:solidFill>
                          <a:effectLst/>
                          <a:uLnTx/>
                          <a:uFillTx/>
                          <a:latin typeface="+mn-lt"/>
                          <a:ea typeface="+mn-ea"/>
                          <a:cs typeface="+mn-cs"/>
                        </a:rPr>
                        <a:t>, based on the previous analysis and begin work as outlined below. Scope that falls outside of the listed scenarios will need to be delivered by the customer or partner (data modeling, re-designing business logic, etc..).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Scenario—A Domain-specific data agent</a:t>
                      </a:r>
                    </a:p>
                    <a:p>
                      <a:pPr marL="0" marR="0" lvl="0" indent="0" algn="l" defTabSz="914367" rtl="0" eaLnBrk="1" fontAlgn="auto" latinLnBrk="0" hangingPunct="1">
                        <a:lnSpc>
                          <a:spcPct val="100000"/>
                        </a:lnSpc>
                        <a:spcBef>
                          <a:spcPts val="0"/>
                        </a:spcBef>
                        <a:spcAft>
                          <a:spcPts val="40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Design, optimize, and deploy agents tailored to a single business domain with focused data sources and logic.</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Scenario—B Multi-domain data agent</a:t>
                      </a:r>
                    </a:p>
                    <a:p>
                      <a:pPr marL="0" marR="0" lvl="0" indent="0" algn="l" defTabSz="914367" rtl="0" eaLnBrk="1" fontAlgn="auto" latinLnBrk="0" hangingPunct="1">
                        <a:lnSpc>
                          <a:spcPct val="100000"/>
                        </a:lnSpc>
                        <a:spcBef>
                          <a:spcPts val="0"/>
                        </a:spcBef>
                        <a:spcAft>
                          <a:spcPts val="40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ea typeface="+mn-ea"/>
                          <a:cs typeface="+mn-cs"/>
                        </a:rPr>
                        <a:t>Integrate and align multiple business domains to deliver unified, cross-functional intelligence through a single agent.</a:t>
                      </a:r>
                    </a:p>
                    <a:p>
                      <a:pPr marL="0" marR="0" lvl="0" indent="0" algn="l" defTabSz="914367"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Note: </a:t>
                      </a:r>
                      <a:r>
                        <a:rPr kumimoji="0" lang="en-US" sz="900" b="0" i="0" u="none" strike="noStrike" kern="0" cap="none" spc="0" normalizeH="0" baseline="0" noProof="0" dirty="0">
                          <a:ln>
                            <a:noFill/>
                          </a:ln>
                          <a:solidFill>
                            <a:schemeClr val="tx1"/>
                          </a:solidFill>
                          <a:effectLst/>
                          <a:uLnTx/>
                          <a:uFillTx/>
                          <a:latin typeface="+mn-lt"/>
                          <a:ea typeface="+mn-ea"/>
                          <a:cs typeface="+mn-cs"/>
                        </a:rPr>
                        <a:t>Sizing and number of waves will be estimated in the initial scoping calls.</a:t>
                      </a:r>
                      <a:endParaRPr kumimoji="0" lang="en-US" sz="1000" b="0" i="0" u="none" strike="noStrike" kern="0" cap="none" spc="0" normalizeH="0" baseline="0" noProof="0" dirty="0">
                        <a:ln>
                          <a:noFill/>
                        </a:ln>
                        <a:solidFill>
                          <a:schemeClr val="tx1"/>
                        </a:solidFill>
                        <a:effectLst/>
                        <a:uLnTx/>
                        <a:uFillTx/>
                        <a:latin typeface="+mn-lt"/>
                        <a:ea typeface="+mn-ea"/>
                        <a:cs typeface="+mn-cs"/>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445186">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Handover </a:t>
                      </a:r>
                      <a:r>
                        <a:rPr kumimoji="0" lang="en-US" sz="1000" b="0" i="0" u="none" strike="noStrike" kern="0" cap="none" spc="0" normalizeH="0" baseline="0" noProof="0" dirty="0">
                          <a:ln>
                            <a:noFill/>
                          </a:ln>
                          <a:solidFill>
                            <a:schemeClr val="tx1"/>
                          </a:solidFill>
                          <a:effectLst/>
                          <a:uLnTx/>
                          <a:uFillTx/>
                          <a:latin typeface="+mn-lt"/>
                          <a:ea typeface="+mn-ea"/>
                          <a:cs typeface="+mn-cs"/>
                        </a:rPr>
                        <a:t>to Customer/ Partner/ISD for post deployment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01988"/>
                  </a:ext>
                </a:extLst>
              </a:tr>
              <a:tr h="763177">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a:rPr>
                        <a:t>attending checkpoint meetings; and implementing user communications, documentation, training, and change management. </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r h="584511">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dirty="0">
                          <a:ln>
                            <a:noFill/>
                          </a:ln>
                          <a:solidFill>
                            <a:schemeClr val="tx1"/>
                          </a:solidFill>
                          <a:effectLst/>
                          <a:uLnTx/>
                          <a:uFillTx/>
                          <a:latin typeface="+mn-lt"/>
                          <a:ea typeface="+mn-ea"/>
                          <a:cs typeface="+mn-cs"/>
                        </a:rPr>
                        <a:t>Estimated duration for completing all activities in a typical engagement is within 4–6 weeks per Scenario execution, when all the requirements are met, and Customer and Partner are ready for execution</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684667060"/>
                  </a:ext>
                </a:extLst>
              </a:tr>
            </a:tbl>
          </a:graphicData>
        </a:graphic>
      </p:graphicFrame>
      <p:sp>
        <p:nvSpPr>
          <p:cNvPr id="2" name="TextBox 1">
            <a:extLst>
              <a:ext uri="{FF2B5EF4-FFF2-40B4-BE49-F238E27FC236}">
                <a16:creationId xmlns:a16="http://schemas.microsoft.com/office/drawing/2014/main" id="{AFF5B4E8-7892-BA1C-8B9A-66D18603FB13}"/>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3567590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A97BB-4AF7-335F-87F6-65F8CE47BE35}"/>
            </a:ext>
          </a:extLst>
        </p:cNvPr>
        <p:cNvGrpSpPr/>
        <p:nvPr/>
      </p:nvGrpSpPr>
      <p:grpSpPr>
        <a:xfrm>
          <a:off x="0" y="0"/>
          <a:ext cx="0" cy="0"/>
          <a:chOff x="0" y="0"/>
          <a:chExt cx="0" cy="0"/>
        </a:xfrm>
      </p:grpSpPr>
      <p:sp>
        <p:nvSpPr>
          <p:cNvPr id="102" name="Title 101">
            <a:extLst>
              <a:ext uri="{FF2B5EF4-FFF2-40B4-BE49-F238E27FC236}">
                <a16:creationId xmlns:a16="http://schemas.microsoft.com/office/drawing/2014/main" id="{4D14507E-F446-1E37-EC68-4800019F5F6D}"/>
              </a:ext>
            </a:extLst>
          </p:cNvPr>
          <p:cNvSpPr>
            <a:spLocks noGrp="1"/>
          </p:cNvSpPr>
          <p:nvPr>
            <p:ph type="title"/>
          </p:nvPr>
        </p:nvSpPr>
        <p:spPr>
          <a:xfrm>
            <a:off x="588963" y="548489"/>
            <a:ext cx="8704666" cy="748509"/>
          </a:xfrm>
        </p:spPr>
        <p:txBody>
          <a:bodyPr>
            <a:noAutofit/>
          </a:bodyPr>
          <a:lstStyle/>
          <a:p>
            <a:pPr marL="0" algn="l" rtl="0" eaLnBrk="1" latinLnBrk="0" hangingPunct="1">
              <a:buNone/>
            </a:pPr>
            <a:r>
              <a:rPr lang="en-US" sz="2800" noProof="0" dirty="0"/>
              <a:t>Analytics</a:t>
            </a:r>
            <a:br>
              <a:rPr lang="en-US" sz="2800" noProof="0" dirty="0"/>
            </a:br>
            <a:r>
              <a:rPr lang="en-US" sz="1800" kern="1200" noProof="0" dirty="0">
                <a:solidFill>
                  <a:srgbClr val="000000"/>
                </a:solidFill>
                <a:effectLst/>
                <a:latin typeface="Segoe Sans Text Semibold" pitchFamily="2" charset="0"/>
                <a:ea typeface="+mn-ea"/>
                <a:cs typeface="+mn-cs"/>
              </a:rPr>
              <a:t>Fabric Data Agent Scope</a:t>
            </a:r>
            <a:br>
              <a:rPr lang="en-US" sz="1400" noProof="0" dirty="0">
                <a:effectLst/>
              </a:rPr>
            </a:br>
            <a:endParaRPr lang="en-US" sz="2800" noProof="0" dirty="0"/>
          </a:p>
        </p:txBody>
      </p:sp>
      <p:sp>
        <p:nvSpPr>
          <p:cNvPr id="22" name="Rounded Rectangle 55">
            <a:extLst>
              <a:ext uri="{FF2B5EF4-FFF2-40B4-BE49-F238E27FC236}">
                <a16:creationId xmlns:a16="http://schemas.microsoft.com/office/drawing/2014/main" id="{BC2BC9B6-8804-E54E-D539-1D65B6187EB1}"/>
              </a:ext>
              <a:ext uri="{C183D7F6-B498-43B3-948B-1728B52AA6E4}">
                <adec:decorative xmlns:adec="http://schemas.microsoft.com/office/drawing/2017/decorative" val="1"/>
              </a:ext>
            </a:extLst>
          </p:cNvPr>
          <p:cNvSpPr>
            <a:spLocks/>
          </p:cNvSpPr>
          <p:nvPr/>
        </p:nvSpPr>
        <p:spPr bwMode="auto">
          <a:xfrm>
            <a:off x="586740" y="1272540"/>
            <a:ext cx="5453761" cy="4831560"/>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4" name="TextBox 23">
            <a:extLst>
              <a:ext uri="{FF2B5EF4-FFF2-40B4-BE49-F238E27FC236}">
                <a16:creationId xmlns:a16="http://schemas.microsoft.com/office/drawing/2014/main" id="{B9F7777B-2D4C-3C8B-D165-4D4E2DC0237B}"/>
              </a:ext>
            </a:extLst>
          </p:cNvPr>
          <p:cNvSpPr txBox="1"/>
          <p:nvPr/>
        </p:nvSpPr>
        <p:spPr>
          <a:xfrm>
            <a:off x="680403" y="1363980"/>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35" name="Oval 34">
            <a:extLst>
              <a:ext uri="{FF2B5EF4-FFF2-40B4-BE49-F238E27FC236}">
                <a16:creationId xmlns:a16="http://schemas.microsoft.com/office/drawing/2014/main" id="{F90C93B1-C3C5-2161-8E5C-63DE3DB26B58}"/>
              </a:ext>
            </a:extLst>
          </p:cNvPr>
          <p:cNvSpPr/>
          <p:nvPr/>
        </p:nvSpPr>
        <p:spPr bwMode="auto">
          <a:xfrm>
            <a:off x="775653" y="3416463"/>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5B73F14B-6924-98DB-F40F-C5457DC1E8D3}"/>
              </a:ext>
            </a:extLst>
          </p:cNvPr>
          <p:cNvSpPr/>
          <p:nvPr/>
        </p:nvSpPr>
        <p:spPr bwMode="auto">
          <a:xfrm>
            <a:off x="781162" y="497852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4" name="Straight Connector 43">
            <a:extLst>
              <a:ext uri="{FF2B5EF4-FFF2-40B4-BE49-F238E27FC236}">
                <a16:creationId xmlns:a16="http://schemas.microsoft.com/office/drawing/2014/main" id="{AB0F9E95-6E34-A30C-E2E7-20B43EE42700}"/>
              </a:ext>
              <a:ext uri="{C183D7F6-B498-43B3-948B-1728B52AA6E4}">
                <adec:decorative xmlns:adec="http://schemas.microsoft.com/office/drawing/2017/decorative" val="1"/>
              </a:ext>
            </a:extLst>
          </p:cNvPr>
          <p:cNvCxnSpPr>
            <a:cxnSpLocks/>
          </p:cNvCxnSpPr>
          <p:nvPr/>
        </p:nvCxnSpPr>
        <p:spPr>
          <a:xfrm>
            <a:off x="1057368" y="327196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47C1C37-2102-45E0-7B24-773542E20623}"/>
              </a:ext>
              <a:ext uri="{C183D7F6-B498-43B3-948B-1728B52AA6E4}">
                <adec:decorative xmlns:adec="http://schemas.microsoft.com/office/drawing/2017/decorative" val="1"/>
              </a:ext>
            </a:extLst>
          </p:cNvPr>
          <p:cNvCxnSpPr>
            <a:cxnSpLocks/>
          </p:cNvCxnSpPr>
          <p:nvPr/>
        </p:nvCxnSpPr>
        <p:spPr>
          <a:xfrm>
            <a:off x="1057367" y="480028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ADACED3D-2F53-6BA3-27C4-1F9380AF9D3B}"/>
              </a:ext>
            </a:extLst>
          </p:cNvPr>
          <p:cNvSpPr/>
          <p:nvPr/>
        </p:nvSpPr>
        <p:spPr bwMode="auto">
          <a:xfrm>
            <a:off x="775653" y="183753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Rounded Rectangle 55">
            <a:extLst>
              <a:ext uri="{FF2B5EF4-FFF2-40B4-BE49-F238E27FC236}">
                <a16:creationId xmlns:a16="http://schemas.microsoft.com/office/drawing/2014/main" id="{3EDD82B8-B9E7-64B6-C0EE-B79377C971E7}"/>
              </a:ext>
              <a:ext uri="{C183D7F6-B498-43B3-948B-1728B52AA6E4}">
                <adec:decorative xmlns:adec="http://schemas.microsoft.com/office/drawing/2017/decorative" val="1"/>
              </a:ext>
            </a:extLst>
          </p:cNvPr>
          <p:cNvSpPr>
            <a:spLocks/>
          </p:cNvSpPr>
          <p:nvPr/>
        </p:nvSpPr>
        <p:spPr bwMode="auto">
          <a:xfrm>
            <a:off x="6152452" y="1260965"/>
            <a:ext cx="5453761" cy="4792593"/>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4" name="TextBox 3">
            <a:extLst>
              <a:ext uri="{FF2B5EF4-FFF2-40B4-BE49-F238E27FC236}">
                <a16:creationId xmlns:a16="http://schemas.microsoft.com/office/drawing/2014/main" id="{EFE6214F-F607-5446-CDED-4568935E430B}"/>
              </a:ext>
            </a:extLst>
          </p:cNvPr>
          <p:cNvSpPr txBox="1"/>
          <p:nvPr/>
        </p:nvSpPr>
        <p:spPr>
          <a:xfrm>
            <a:off x="6240716"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Partner / Customer – Led*</a:t>
            </a:r>
          </a:p>
        </p:txBody>
      </p:sp>
      <p:cxnSp>
        <p:nvCxnSpPr>
          <p:cNvPr id="6" name="Straight Connector 5">
            <a:extLst>
              <a:ext uri="{FF2B5EF4-FFF2-40B4-BE49-F238E27FC236}">
                <a16:creationId xmlns:a16="http://schemas.microsoft.com/office/drawing/2014/main" id="{E91D2716-E57C-99F7-99D9-747F4163C7BF}"/>
              </a:ext>
              <a:ext uri="{C183D7F6-B498-43B3-948B-1728B52AA6E4}">
                <adec:decorative xmlns:adec="http://schemas.microsoft.com/office/drawing/2017/decorative" val="1"/>
              </a:ext>
            </a:extLst>
          </p:cNvPr>
          <p:cNvCxnSpPr>
            <a:cxnSpLocks/>
          </p:cNvCxnSpPr>
          <p:nvPr/>
        </p:nvCxnSpPr>
        <p:spPr>
          <a:xfrm>
            <a:off x="6438627" y="468574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FEC0EB7-2AE7-83B0-17F5-5407D6FAE8CD}"/>
              </a:ext>
              <a:ext uri="{C183D7F6-B498-43B3-948B-1728B52AA6E4}">
                <adec:decorative xmlns:adec="http://schemas.microsoft.com/office/drawing/2017/decorative" val="1"/>
              </a:ext>
            </a:extLst>
          </p:cNvPr>
          <p:cNvCxnSpPr>
            <a:cxnSpLocks/>
          </p:cNvCxnSpPr>
          <p:nvPr/>
        </p:nvCxnSpPr>
        <p:spPr>
          <a:xfrm>
            <a:off x="6438627" y="401338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5BFFF58-939B-A9EF-CA20-512EAD5111E8}"/>
              </a:ext>
              <a:ext uri="{C183D7F6-B498-43B3-948B-1728B52AA6E4}">
                <adec:decorative xmlns:adec="http://schemas.microsoft.com/office/drawing/2017/decorative" val="1"/>
              </a:ext>
            </a:extLst>
          </p:cNvPr>
          <p:cNvCxnSpPr>
            <a:cxnSpLocks/>
          </p:cNvCxnSpPr>
          <p:nvPr/>
        </p:nvCxnSpPr>
        <p:spPr>
          <a:xfrm>
            <a:off x="6438627" y="313484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D700A5-2193-971F-6CAF-1A95A048A98A}"/>
              </a:ext>
              <a:ext uri="{C183D7F6-B498-43B3-948B-1728B52AA6E4}">
                <adec:decorative xmlns:adec="http://schemas.microsoft.com/office/drawing/2017/decorative" val="1"/>
              </a:ext>
            </a:extLst>
          </p:cNvPr>
          <p:cNvCxnSpPr>
            <a:cxnSpLocks/>
          </p:cNvCxnSpPr>
          <p:nvPr/>
        </p:nvCxnSpPr>
        <p:spPr>
          <a:xfrm>
            <a:off x="6438627" y="245352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E31702A2-33A1-BAA9-C37D-567E4E441BD3}"/>
              </a:ext>
            </a:extLst>
          </p:cNvPr>
          <p:cNvSpPr/>
          <p:nvPr/>
        </p:nvSpPr>
        <p:spPr bwMode="auto">
          <a:xfrm>
            <a:off x="6289180" y="18758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B7C7BBCF-25D3-DA50-CCE2-33FCC33760CC}"/>
              </a:ext>
            </a:extLst>
          </p:cNvPr>
          <p:cNvSpPr/>
          <p:nvPr/>
        </p:nvSpPr>
        <p:spPr bwMode="auto">
          <a:xfrm>
            <a:off x="6283989" y="25123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40DB6E75-A0DB-DCA4-A566-96C824F7EA64}"/>
              </a:ext>
            </a:extLst>
          </p:cNvPr>
          <p:cNvSpPr/>
          <p:nvPr/>
        </p:nvSpPr>
        <p:spPr bwMode="auto">
          <a:xfrm>
            <a:off x="6283989" y="32033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05B3DC9E-83F6-46C5-5417-19312B7F517B}"/>
              </a:ext>
            </a:extLst>
          </p:cNvPr>
          <p:cNvSpPr/>
          <p:nvPr/>
        </p:nvSpPr>
        <p:spPr bwMode="auto">
          <a:xfrm>
            <a:off x="6283989" y="40637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734E7D0C-0C4B-840B-6A05-AD602A6E0FB6}"/>
              </a:ext>
            </a:extLst>
          </p:cNvPr>
          <p:cNvSpPr/>
          <p:nvPr/>
        </p:nvSpPr>
        <p:spPr bwMode="auto">
          <a:xfrm>
            <a:off x="6283989" y="482655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9E012D6F-4F6F-8568-96FD-87A49E8B0512}"/>
              </a:ext>
            </a:extLst>
          </p:cNvPr>
          <p:cNvSpPr txBox="1"/>
          <p:nvPr/>
        </p:nvSpPr>
        <p:spPr>
          <a:xfrm>
            <a:off x="6438627" y="1786465"/>
            <a:ext cx="6974558" cy="3710696"/>
          </a:xfrm>
          <a:prstGeom prst="rect">
            <a:avLst/>
          </a:prstGeom>
          <a:noFill/>
        </p:spPr>
        <p:txBody>
          <a:bodyPr wrap="square" lIns="91440" tIns="45720" rIns="91440" bIns="45720" anchor="t">
            <a:spAutoFit/>
          </a:bodyPr>
          <a:lstStyle/>
          <a:p>
            <a:pPr>
              <a:spcAft>
                <a:spcPts val="200"/>
              </a:spcAft>
              <a:defRPr/>
            </a:pPr>
            <a:r>
              <a:rPr lang="en-US" sz="1400" kern="0" noProof="0" dirty="0">
                <a:latin typeface="Segoe Sans Text Semibold"/>
              </a:rPr>
              <a:t>Architecture:</a:t>
            </a:r>
          </a:p>
          <a:p>
            <a:pPr marL="233363" lvl="1" indent="-138113">
              <a:spcAft>
                <a:spcPts val="200"/>
              </a:spcAft>
              <a:buFont typeface="Arial" panose="020B0604020202020204" pitchFamily="34" charset="0"/>
              <a:buChar char="•"/>
              <a:defRPr/>
            </a:pPr>
            <a:r>
              <a:rPr lang="en-US" sz="1000" kern="0" noProof="0" dirty="0">
                <a:latin typeface="Segoe Sans Text"/>
              </a:rPr>
              <a:t>Re-architecture or architecture evaluation</a:t>
            </a:r>
          </a:p>
          <a:p>
            <a:pPr marL="233363" lvl="1" indent="-138113">
              <a:spcAft>
                <a:spcPts val="200"/>
              </a:spcAft>
              <a:buFont typeface="Arial" panose="020B0604020202020204" pitchFamily="34" charset="0"/>
              <a:buChar char="•"/>
              <a:defRPr/>
            </a:pPr>
            <a:r>
              <a:rPr lang="en-US" sz="1000" kern="0" noProof="0" dirty="0">
                <a:latin typeface="Segoe Sans Text"/>
              </a:rPr>
              <a:t>Capacity sizing and cost estimation activities</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Performance tuning and optimization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Performance testing and tuning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Performance benchmarking</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Environment prep/config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Capacity provisioning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VM setup /Gateway install</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Network Config</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DevOps/Integrations</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1000" kern="0" noProof="0" dirty="0">
                <a:latin typeface="Segoe Sans Text"/>
              </a:rPr>
              <a:t>CI/CD setup and testing </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1000" kern="0" noProof="0" dirty="0">
                <a:latin typeface="Segoe Sans Text"/>
              </a:rPr>
              <a:t>Testing and configuring upstream/downstream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effectLst/>
              <a:uLnTx/>
              <a:uFillTx/>
              <a:latin typeface="Aptos" panose="020B0004020202020204" pitchFamily="34" charset="0"/>
              <a:ea typeface="+mn-ea"/>
              <a:cs typeface="+mn-cs"/>
            </a:endParaRP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Post Migration Operation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On going DR/Backup/Monitoring support</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Cost optimization and FinOps</a:t>
            </a:r>
          </a:p>
        </p:txBody>
      </p:sp>
      <p:sp>
        <p:nvSpPr>
          <p:cNvPr id="5" name="TextBox 4">
            <a:extLst>
              <a:ext uri="{FF2B5EF4-FFF2-40B4-BE49-F238E27FC236}">
                <a16:creationId xmlns:a16="http://schemas.microsoft.com/office/drawing/2014/main" id="{3E095489-E5E6-878F-3AA4-0B3284F2DD49}"/>
              </a:ext>
            </a:extLst>
          </p:cNvPr>
          <p:cNvSpPr txBox="1"/>
          <p:nvPr/>
        </p:nvSpPr>
        <p:spPr>
          <a:xfrm>
            <a:off x="1028173" y="3386558"/>
            <a:ext cx="4860157" cy="1205458"/>
          </a:xfrm>
          <a:prstGeom prst="rect">
            <a:avLst/>
          </a:prstGeom>
          <a:noFill/>
        </p:spPr>
        <p:txBody>
          <a:bodyPr wrap="square" lIns="0" tIns="0" rIns="0" bIns="0" anchor="t">
            <a:spAutoFit/>
          </a:bodyPr>
          <a:lstStyle/>
          <a:p>
            <a:pPr lvl="0">
              <a:spcAft>
                <a:spcPts val="200"/>
              </a:spcAft>
              <a:defRPr/>
            </a:pPr>
            <a:r>
              <a:rPr lang="en-US" sz="1400" kern="0" noProof="0" dirty="0">
                <a:latin typeface="+mj-lt"/>
              </a:rPr>
              <a:t>What:</a:t>
            </a:r>
          </a:p>
          <a:p>
            <a:pPr marL="266700" lvl="1" indent="-152400">
              <a:spcAft>
                <a:spcPts val="200"/>
              </a:spcAft>
              <a:buFont typeface="Arial" panose="020B0604020202020204" pitchFamily="34" charset="0"/>
              <a:buChar char="•"/>
              <a:defRPr/>
            </a:pPr>
            <a:r>
              <a:rPr lang="en-US" sz="1200" kern="0" noProof="0" dirty="0"/>
              <a:t>Customer selects ”single high value use case” &amp; personas requesting is based on existing data sources and limited set of tables agreed during scoping. Data Agent examples</a:t>
            </a:r>
            <a:endParaRPr lang="en-US" sz="1200" noProof="0" dirty="0"/>
          </a:p>
          <a:p>
            <a:pPr marL="533400" lvl="2" indent="-209550">
              <a:spcAft>
                <a:spcPts val="600"/>
              </a:spcAft>
              <a:buFont typeface="Abadi" panose="020B0604020104020204" pitchFamily="34" charset="0"/>
              <a:buChar char="–"/>
              <a:defRPr/>
            </a:pPr>
            <a:r>
              <a:rPr lang="en-US" sz="1000" kern="0" noProof="0" dirty="0"/>
              <a:t>Domain-specific Data Agent</a:t>
            </a:r>
          </a:p>
          <a:p>
            <a:pPr marL="533400" lvl="2" indent="-209550">
              <a:spcAft>
                <a:spcPts val="600"/>
              </a:spcAft>
              <a:buFont typeface="Abadi" panose="020B0604020104020204" pitchFamily="34" charset="0"/>
              <a:buChar char="–"/>
              <a:defRPr/>
            </a:pPr>
            <a:r>
              <a:rPr lang="en-US" sz="1000" kern="0" noProof="0" dirty="0"/>
              <a:t>Specialized Multi-Domain Agents</a:t>
            </a:r>
            <a:endParaRPr lang="en-US" noProof="0" dirty="0"/>
          </a:p>
        </p:txBody>
      </p:sp>
      <p:sp>
        <p:nvSpPr>
          <p:cNvPr id="19" name="TextBox 18">
            <a:extLst>
              <a:ext uri="{FF2B5EF4-FFF2-40B4-BE49-F238E27FC236}">
                <a16:creationId xmlns:a16="http://schemas.microsoft.com/office/drawing/2014/main" id="{28E62927-6A45-C306-C6EA-EE260F7B70D2}"/>
              </a:ext>
            </a:extLst>
          </p:cNvPr>
          <p:cNvSpPr txBox="1"/>
          <p:nvPr/>
        </p:nvSpPr>
        <p:spPr>
          <a:xfrm>
            <a:off x="1057367" y="4909570"/>
            <a:ext cx="4778269" cy="456535"/>
          </a:xfrm>
          <a:prstGeom prst="rect">
            <a:avLst/>
          </a:prstGeom>
          <a:noFill/>
        </p:spPr>
        <p:txBody>
          <a:bodyPr wrap="square" lIns="0" tIns="0" rIns="0" bIns="0" anchor="t">
            <a:spAutoFit/>
          </a:bodyPr>
          <a:lstStyle/>
          <a:p>
            <a:pPr lvl="0">
              <a:spcAft>
                <a:spcPts val="200"/>
              </a:spcAft>
              <a:defRPr/>
            </a:pPr>
            <a:r>
              <a:rPr lang="en-US" sz="1400" kern="0" noProof="0" dirty="0">
                <a:latin typeface="+mj-lt"/>
              </a:rPr>
              <a:t>Factory Responsibilities</a:t>
            </a:r>
          </a:p>
          <a:p>
            <a:pPr lvl="0">
              <a:spcAft>
                <a:spcPts val="200"/>
              </a:spcAft>
              <a:defRPr/>
            </a:pPr>
            <a:endParaRPr lang="en-US" sz="1400" kern="0" noProof="0" dirty="0">
              <a:latin typeface="+mj-lt"/>
            </a:endParaRPr>
          </a:p>
        </p:txBody>
      </p:sp>
      <p:sp>
        <p:nvSpPr>
          <p:cNvPr id="21" name="TextBox 20">
            <a:extLst>
              <a:ext uri="{FF2B5EF4-FFF2-40B4-BE49-F238E27FC236}">
                <a16:creationId xmlns:a16="http://schemas.microsoft.com/office/drawing/2014/main" id="{1349DD8F-82EC-3BBD-7C7D-F7E97691E063}"/>
              </a:ext>
            </a:extLst>
          </p:cNvPr>
          <p:cNvSpPr txBox="1"/>
          <p:nvPr/>
        </p:nvSpPr>
        <p:spPr>
          <a:xfrm>
            <a:off x="1021493" y="1804052"/>
            <a:ext cx="4910328" cy="1451679"/>
          </a:xfrm>
          <a:prstGeom prst="rect">
            <a:avLst/>
          </a:prstGeom>
          <a:noFill/>
        </p:spPr>
        <p:txBody>
          <a:bodyPr wrap="square" lIns="0" tIns="0" rIns="0" bIns="0">
            <a:spAutoFit/>
          </a:bodyPr>
          <a:lstStyle/>
          <a:p>
            <a:pPr lvl="0">
              <a:spcAft>
                <a:spcPts val="200"/>
              </a:spcAft>
              <a:defRPr/>
            </a:pPr>
            <a:r>
              <a:rPr lang="en-US" sz="1400" kern="0" noProof="0" dirty="0">
                <a:latin typeface="+mj-lt"/>
              </a:rPr>
              <a:t>Offerings:</a:t>
            </a:r>
          </a:p>
          <a:p>
            <a:pPr marL="254000" lvl="1" indent="-146050">
              <a:spcAft>
                <a:spcPts val="200"/>
              </a:spcAft>
              <a:buFont typeface="Arial" panose="020B0604020202020204" pitchFamily="34" charset="0"/>
              <a:buChar char="•"/>
              <a:defRPr/>
            </a:pPr>
            <a:r>
              <a:rPr lang="en-US" sz="1200" kern="0" noProof="0" dirty="0"/>
              <a:t>Fabric Data Agent</a:t>
            </a:r>
          </a:p>
          <a:p>
            <a:pPr marL="527050" lvl="2" indent="-203200">
              <a:spcAft>
                <a:spcPts val="600"/>
              </a:spcAft>
              <a:buFont typeface="Abadi" panose="020B0604020104020204" pitchFamily="34" charset="0"/>
              <a:buChar char="–"/>
              <a:defRPr/>
            </a:pPr>
            <a:r>
              <a:rPr lang="en-US" sz="1000" kern="0" noProof="0" dirty="0"/>
              <a:t>Design &amp; Implementation of Fabric data Agent for an identified business case.</a:t>
            </a:r>
            <a:endParaRPr lang="en-US" sz="1000" noProof="0" dirty="0"/>
          </a:p>
          <a:p>
            <a:pPr marL="527050" indent="-203200">
              <a:spcAft>
                <a:spcPts val="600"/>
              </a:spcAft>
              <a:buFont typeface="Abadi" panose="020B0604020104020204" pitchFamily="34" charset="0"/>
              <a:buChar char="–"/>
              <a:defRPr/>
            </a:pPr>
            <a:r>
              <a:rPr lang="en-US" sz="1000" kern="0" noProof="0" dirty="0"/>
              <a:t>Configuration of the agent against existing, AI‑ready data available in Microsoft Fabric/OneLake</a:t>
            </a:r>
          </a:p>
          <a:p>
            <a:pPr marL="527050" lvl="2" indent="-203200">
              <a:spcAft>
                <a:spcPts val="600"/>
              </a:spcAft>
              <a:buFont typeface="Abadi" panose="020B0604020104020204" pitchFamily="34" charset="0"/>
              <a:buChar char="–"/>
              <a:defRPr/>
            </a:pPr>
            <a:r>
              <a:rPr lang="en-US" sz="1000" kern="0" noProof="0" dirty="0"/>
              <a:t>Setup of agent instructions to guide reasoning and responses</a:t>
            </a:r>
            <a:endParaRPr lang="en-US" sz="1000" noProof="0" dirty="0"/>
          </a:p>
          <a:p>
            <a:pPr marL="527050" lvl="2" indent="-203200">
              <a:spcAft>
                <a:spcPts val="600"/>
              </a:spcAft>
              <a:buFont typeface="Abadi" panose="020B0604020104020204" pitchFamily="34" charset="0"/>
              <a:buChar char="–"/>
              <a:defRPr/>
            </a:pPr>
            <a:r>
              <a:rPr lang="en-US" sz="1000" kern="0" noProof="0" dirty="0"/>
              <a:t>Integration with Copilot in Power BI, Microsoft 365 copilot</a:t>
            </a:r>
          </a:p>
        </p:txBody>
      </p:sp>
      <p:sp>
        <p:nvSpPr>
          <p:cNvPr id="25" name="TextBox 24">
            <a:extLst>
              <a:ext uri="{FF2B5EF4-FFF2-40B4-BE49-F238E27FC236}">
                <a16:creationId xmlns:a16="http://schemas.microsoft.com/office/drawing/2014/main" id="{7C79FB10-9B99-42FF-1596-D35F78A35D79}"/>
              </a:ext>
            </a:extLst>
          </p:cNvPr>
          <p:cNvSpPr txBox="1"/>
          <p:nvPr/>
        </p:nvSpPr>
        <p:spPr>
          <a:xfrm>
            <a:off x="1272665" y="5137838"/>
            <a:ext cx="4842678" cy="872034"/>
          </a:xfrm>
          <a:prstGeom prst="rect">
            <a:avLst/>
          </a:prstGeom>
          <a:noFill/>
        </p:spPr>
        <p:txBody>
          <a:bodyPr wrap="square" lIns="0" tIns="0" rIns="0" bIns="0">
            <a:spAutoFit/>
          </a:bodyPr>
          <a:lstStyle/>
          <a:p>
            <a:pPr marL="171450" indent="-171450">
              <a:spcAft>
                <a:spcPts val="200"/>
              </a:spcAft>
              <a:buFont typeface="Arial" panose="020B0604020202020204" pitchFamily="34" charset="0"/>
              <a:buChar char="•"/>
              <a:defRPr/>
            </a:pPr>
            <a:r>
              <a:rPr lang="en-US" sz="1000" kern="0" noProof="0" dirty="0"/>
              <a:t>Deploy Fabric Data agent for Identified use case</a:t>
            </a:r>
          </a:p>
          <a:p>
            <a:pPr marL="171450" indent="-171450">
              <a:spcAft>
                <a:spcPts val="200"/>
              </a:spcAft>
              <a:buFont typeface="Arial" panose="020B0604020202020204" pitchFamily="34" charset="0"/>
              <a:buChar char="•"/>
              <a:defRPr/>
            </a:pPr>
            <a:r>
              <a:rPr lang="en-US" sz="1000" kern="0" noProof="0" dirty="0"/>
              <a:t>Integration with Copilot in Power BI, Microsoft 365 copilot</a:t>
            </a:r>
          </a:p>
          <a:p>
            <a:pPr marL="171450" indent="-171450">
              <a:spcAft>
                <a:spcPts val="200"/>
              </a:spcAft>
              <a:buFont typeface="Arial" panose="020B0604020202020204" pitchFamily="34" charset="0"/>
              <a:buChar char="•"/>
              <a:defRPr/>
            </a:pPr>
            <a:r>
              <a:rPr lang="en-US" sz="1000" kern="0" noProof="0" dirty="0"/>
              <a:t>Configure agent instructions </a:t>
            </a:r>
          </a:p>
          <a:p>
            <a:pPr marL="171450" indent="-171450">
              <a:spcAft>
                <a:spcPts val="200"/>
              </a:spcAft>
              <a:buFont typeface="Arial" panose="020B0604020202020204" pitchFamily="34" charset="0"/>
              <a:buChar char="•"/>
              <a:defRPr/>
            </a:pPr>
            <a:r>
              <a:rPr lang="en-US" sz="1000" kern="0" noProof="0" dirty="0"/>
              <a:t>Project co-ordination and management of Scope 1 activities</a:t>
            </a:r>
          </a:p>
          <a:p>
            <a:pPr marL="171450" indent="-171450">
              <a:spcAft>
                <a:spcPts val="200"/>
              </a:spcAft>
              <a:buFont typeface="Arial" panose="020B0604020202020204" pitchFamily="34" charset="0"/>
              <a:buChar char="•"/>
              <a:defRPr/>
            </a:pPr>
            <a:endParaRPr lang="en-US" sz="1000" noProof="0" dirty="0"/>
          </a:p>
        </p:txBody>
      </p:sp>
      <p:sp>
        <p:nvSpPr>
          <p:cNvPr id="8" name="TextBox 7">
            <a:extLst>
              <a:ext uri="{FF2B5EF4-FFF2-40B4-BE49-F238E27FC236}">
                <a16:creationId xmlns:a16="http://schemas.microsoft.com/office/drawing/2014/main" id="{0BBF546F-C91D-D71A-96E2-FF7959751C86}"/>
              </a:ext>
            </a:extLst>
          </p:cNvPr>
          <p:cNvSpPr txBox="1"/>
          <p:nvPr/>
        </p:nvSpPr>
        <p:spPr>
          <a:xfrm>
            <a:off x="6352569" y="1637988"/>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8" name="TextBox 27">
            <a:extLst>
              <a:ext uri="{FF2B5EF4-FFF2-40B4-BE49-F238E27FC236}">
                <a16:creationId xmlns:a16="http://schemas.microsoft.com/office/drawing/2014/main" id="{BDE62B2E-061A-8B41-EB04-33A8CBDB503B}"/>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extBox 2">
            <a:extLst>
              <a:ext uri="{FF2B5EF4-FFF2-40B4-BE49-F238E27FC236}">
                <a16:creationId xmlns:a16="http://schemas.microsoft.com/office/drawing/2014/main" id="{753E4AE8-D65E-E4F5-1FE5-F0E5BA78037F}"/>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108111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59443-458C-6804-B65A-DA095D44DE1E}"/>
            </a:ext>
          </a:extLst>
        </p:cNvPr>
        <p:cNvGrpSpPr/>
        <p:nvPr/>
      </p:nvGrpSpPr>
      <p:grpSpPr>
        <a:xfrm>
          <a:off x="0" y="0"/>
          <a:ext cx="0" cy="0"/>
          <a:chOff x="0" y="0"/>
          <a:chExt cx="0" cy="0"/>
        </a:xfrm>
      </p:grpSpPr>
      <p:sp>
        <p:nvSpPr>
          <p:cNvPr id="13" name="Rounded Rectangle 55">
            <a:extLst>
              <a:ext uri="{FF2B5EF4-FFF2-40B4-BE49-F238E27FC236}">
                <a16:creationId xmlns:a16="http://schemas.microsoft.com/office/drawing/2014/main" id="{2278A8BA-6DC7-7476-C924-4D0825BBD715}"/>
              </a:ext>
              <a:ext uri="{C183D7F6-B498-43B3-948B-1728B52AA6E4}">
                <adec:decorative xmlns:adec="http://schemas.microsoft.com/office/drawing/2017/decorative" val="1"/>
              </a:ext>
            </a:extLst>
          </p:cNvPr>
          <p:cNvSpPr/>
          <p:nvPr/>
        </p:nvSpPr>
        <p:spPr bwMode="auto">
          <a:xfrm>
            <a:off x="9154160" y="824034"/>
            <a:ext cx="2733040" cy="5370653"/>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7" name="Rounded Rectangle 55">
            <a:extLst>
              <a:ext uri="{FF2B5EF4-FFF2-40B4-BE49-F238E27FC236}">
                <a16:creationId xmlns:a16="http://schemas.microsoft.com/office/drawing/2014/main" id="{895899DF-EF39-0163-8A44-5A742E07E62B}"/>
              </a:ext>
              <a:ext uri="{C183D7F6-B498-43B3-948B-1728B52AA6E4}">
                <adec:decorative xmlns:adec="http://schemas.microsoft.com/office/drawing/2017/decorative" val="1"/>
              </a:ext>
            </a:extLst>
          </p:cNvPr>
          <p:cNvSpPr/>
          <p:nvPr/>
        </p:nvSpPr>
        <p:spPr bwMode="auto">
          <a:xfrm>
            <a:off x="591530" y="818400"/>
            <a:ext cx="8443279" cy="5644011"/>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8" name="Title 1">
            <a:extLst>
              <a:ext uri="{FF2B5EF4-FFF2-40B4-BE49-F238E27FC236}">
                <a16:creationId xmlns:a16="http://schemas.microsoft.com/office/drawing/2014/main" id="{77AD6DA8-C70B-5254-AD90-0AECF132B651}"/>
              </a:ext>
            </a:extLst>
          </p:cNvPr>
          <p:cNvSpPr>
            <a:spLocks noGrp="1"/>
          </p:cNvSpPr>
          <p:nvPr>
            <p:ph type="title"/>
          </p:nvPr>
        </p:nvSpPr>
        <p:spPr>
          <a:xfrm>
            <a:off x="588963" y="85814"/>
            <a:ext cx="4665943" cy="707886"/>
          </a:xfrm>
        </p:spPr>
        <p:txBody>
          <a:bodyPr>
            <a:normAutofit/>
          </a:bodyPr>
          <a:lstStyle/>
          <a:p>
            <a:pPr lvl="0">
              <a:lnSpc>
                <a:spcPct val="100000"/>
              </a:lnSpc>
              <a:spcBef>
                <a:spcPts val="0"/>
              </a:spcBef>
              <a:defRPr/>
            </a:pPr>
            <a:r>
              <a:rPr lang="en-US" sz="2800" dirty="0"/>
              <a:t>Analytics</a:t>
            </a:r>
            <a:br>
              <a:rPr lang="en-US" sz="1600" dirty="0">
                <a:latin typeface="Segoe Sans Text Semibold" pitchFamily="2" charset="0"/>
                <a:cs typeface="Segoe Sans Text Semibold" pitchFamily="2" charset="0"/>
              </a:rPr>
            </a:br>
            <a:r>
              <a:rPr lang="en-US" sz="1800" spc="0" dirty="0">
                <a:ln>
                  <a:noFill/>
                </a:ln>
                <a:solidFill>
                  <a:srgbClr val="000000"/>
                </a:solidFill>
                <a:latin typeface="Segoe Sans Text Semibold"/>
                <a:cs typeface="+mn-cs"/>
              </a:rPr>
              <a:t>Synapse Migration</a:t>
            </a:r>
          </a:p>
        </p:txBody>
      </p:sp>
      <p:sp>
        <p:nvSpPr>
          <p:cNvPr id="22" name="Graphic 22">
            <a:extLst>
              <a:ext uri="{FF2B5EF4-FFF2-40B4-BE49-F238E27FC236}">
                <a16:creationId xmlns:a16="http://schemas.microsoft.com/office/drawing/2014/main" id="{AC5BCA86-28CA-2CB6-39C7-7DC786D89245}"/>
              </a:ext>
            </a:extLst>
          </p:cNvPr>
          <p:cNvSpPr/>
          <p:nvPr/>
        </p:nvSpPr>
        <p:spPr>
          <a:xfrm>
            <a:off x="3834447" y="960418"/>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24" name="Graphic 25">
            <a:extLst>
              <a:ext uri="{FF2B5EF4-FFF2-40B4-BE49-F238E27FC236}">
                <a16:creationId xmlns:a16="http://schemas.microsoft.com/office/drawing/2014/main" id="{631734FE-7AD9-6FC9-F6F0-BC44321B5C8F}"/>
              </a:ext>
            </a:extLst>
          </p:cNvPr>
          <p:cNvSpPr/>
          <p:nvPr/>
        </p:nvSpPr>
        <p:spPr>
          <a:xfrm>
            <a:off x="9852025" y="967245"/>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0" name="Content Placeholder 4">
            <a:extLst>
              <a:ext uri="{FF2B5EF4-FFF2-40B4-BE49-F238E27FC236}">
                <a16:creationId xmlns:a16="http://schemas.microsoft.com/office/drawing/2014/main" id="{AECE3419-2AD9-7AA8-9CDA-3B3190CE2FE2}"/>
              </a:ext>
            </a:extLst>
          </p:cNvPr>
          <p:cNvSpPr txBox="1">
            <a:spLocks/>
          </p:cNvSpPr>
          <p:nvPr/>
        </p:nvSpPr>
        <p:spPr>
          <a:xfrm>
            <a:off x="9223610" y="1045172"/>
            <a:ext cx="2613971" cy="5103215"/>
          </a:xfrm>
          <a:prstGeom prst="rect">
            <a:avLst/>
          </a:prstGeom>
        </p:spPr>
        <p:txBody>
          <a:bodyPr vert="horz" wrap="square" lIns="91440" tIns="91440" rIns="91440" bIns="73152" rtlCol="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3" indent="0" algn="l" defTabSz="932742" rtl="0" eaLnBrk="1" fontAlgn="auto" latinLnBrk="0" hangingPunct="1">
              <a:lnSpc>
                <a:spcPct val="100000"/>
              </a:lnSpc>
              <a:spcBef>
                <a:spcPts val="0"/>
              </a:spcBef>
              <a:spcAft>
                <a:spcPts val="300"/>
              </a:spcAft>
              <a:buClrTx/>
              <a:buSzPct val="90000"/>
              <a:buFont typeface="Wingdings" panose="05000000000000000000" pitchFamily="2" charset="2"/>
              <a:buNone/>
              <a:tabLst/>
              <a:defRPr/>
            </a:pPr>
            <a:endParaRPr kumimoji="0" lang="en-US" b="0" i="0" u="none" strike="noStrike" kern="1200" cap="none" spc="0" normalizeH="0" baseline="0" noProof="0" dirty="0">
              <a:ln>
                <a:noFill/>
              </a:ln>
              <a:solidFill>
                <a:srgbClr val="000000"/>
              </a:solidFill>
              <a:effectLst/>
              <a:uLnTx/>
              <a:uFillTx/>
              <a:latin typeface="Segoe Sans Text Semibold"/>
              <a:ea typeface="+mn-ea"/>
              <a:cs typeface="+mn-cs"/>
            </a:endParaRPr>
          </a:p>
          <a:p>
            <a:pPr marL="0" marR="0" lvl="3" indent="0" algn="l" defTabSz="932742" rtl="0" eaLnBrk="1" fontAlgn="auto" latinLnBrk="0" hangingPunct="1">
              <a:lnSpc>
                <a:spcPct val="100000"/>
              </a:lnSpc>
              <a:spcBef>
                <a:spcPts val="0"/>
              </a:spcBef>
              <a:spcAft>
                <a:spcPts val="300"/>
              </a:spcAft>
              <a:buClrTx/>
              <a:buSzPct val="90000"/>
              <a:buFont typeface="Wingdings" panose="05000000000000000000" pitchFamily="2" charset="2"/>
              <a:buNone/>
              <a:tabLst/>
              <a:defRPr/>
            </a:pPr>
            <a:r>
              <a:rPr kumimoji="0" lang="en-US" b="0" i="0" u="none" strike="noStrike" kern="1200" cap="none" spc="0" normalizeH="0" baseline="0" noProof="0" dirty="0">
                <a:ln>
                  <a:noFill/>
                </a:ln>
                <a:solidFill>
                  <a:srgbClr val="000000"/>
                </a:solidFill>
                <a:effectLst/>
                <a:uLnTx/>
                <a:uFillTx/>
                <a:latin typeface="Segoe Sans Text" pitchFamily="2" charset="0"/>
                <a:cs typeface="Segoe Sans Text" pitchFamily="2" charset="0"/>
              </a:rPr>
              <a:t>Requirements to leveraging </a:t>
            </a:r>
            <a:br>
              <a:rPr kumimoji="0" lang="en-US" b="0" i="0" u="none" strike="noStrike" kern="1200" cap="none" spc="0" normalizeH="0" baseline="0" noProof="0" dirty="0">
                <a:ln>
                  <a:noFill/>
                </a:ln>
                <a:solidFill>
                  <a:srgbClr val="000000"/>
                </a:solidFill>
                <a:effectLst/>
                <a:uLnTx/>
                <a:uFillTx/>
                <a:latin typeface="Segoe Sans Text" pitchFamily="2" charset="0"/>
                <a:cs typeface="Segoe Sans Text" pitchFamily="2" charset="0"/>
              </a:rPr>
            </a:br>
            <a:r>
              <a:rPr kumimoji="0" lang="en-US" b="0" i="0" u="none" strike="noStrike" kern="1200" cap="none" spc="0" normalizeH="0" baseline="0" noProof="0" dirty="0">
                <a:ln>
                  <a:noFill/>
                </a:ln>
                <a:solidFill>
                  <a:srgbClr val="000000"/>
                </a:solidFill>
                <a:effectLst/>
                <a:uLnTx/>
                <a:uFillTx/>
                <a:latin typeface="Segoe Sans Text" pitchFamily="2" charset="0"/>
                <a:cs typeface="Segoe Sans Text" pitchFamily="2" charset="0"/>
              </a:rPr>
              <a:t>this service:</a:t>
            </a:r>
          </a:p>
          <a:p>
            <a:pPr marL="0" marR="0" lvl="0" indent="0" algn="l" defTabSz="932742" rtl="0" eaLnBrk="1" fontAlgn="auto" latinLnBrk="0" hangingPunct="1">
              <a:lnSpc>
                <a:spcPct val="100000"/>
              </a:lnSpc>
              <a:spcBef>
                <a:spcPts val="0"/>
              </a:spcBef>
              <a:spcAft>
                <a:spcPts val="600"/>
              </a:spcAft>
              <a:buClrTx/>
              <a:buSzPct val="100000"/>
              <a:buFont typeface="Wingdings" panose="05000000000000000000" pitchFamily="2" charset="2"/>
              <a:buNone/>
              <a:tabLst/>
              <a:defRPr/>
            </a:pPr>
            <a:r>
              <a:rPr kumimoji="0" lang="en-US" sz="900" b="0" i="0" u="none" strike="noStrike" kern="1200" cap="none" spc="0" normalizeH="0" baseline="0" noProof="0" dirty="0">
                <a:ln w="3175">
                  <a:noFill/>
                </a:ln>
                <a:solidFill>
                  <a:prstClr val="black"/>
                </a:solidFill>
                <a:effectLst/>
                <a:uLnTx/>
                <a:uFillTx/>
                <a:latin typeface="Segoe Sans Text" pitchFamily="2" charset="0"/>
              </a:rPr>
              <a:t>Customer must provide Cloud Factory with contributor access to their Fabric and Synapse workspace as it is necessary for migrations. In some scenarios, customer needs to provision the Azure virtual Machine to install the migration toolset.</a:t>
            </a:r>
          </a:p>
          <a:p>
            <a:pPr marL="0" marR="0" lvl="0" indent="0" algn="l" defTabSz="932742" rtl="0" eaLnBrk="1" fontAlgn="auto" latinLnBrk="0" hangingPunct="1">
              <a:lnSpc>
                <a:spcPct val="100000"/>
              </a:lnSpc>
              <a:spcBef>
                <a:spcPts val="0"/>
              </a:spcBef>
              <a:spcAft>
                <a:spcPts val="200"/>
              </a:spcAft>
              <a:buClrTx/>
              <a:buSzPct val="100000"/>
              <a:buFont typeface="Wingdings" panose="05000000000000000000" pitchFamily="2" charset="2"/>
              <a:buNone/>
              <a:tabLst/>
              <a:defRPr/>
            </a:pPr>
            <a:r>
              <a:rPr kumimoji="0" lang="en-US" sz="1000" b="0" i="0" u="none" strike="noStrike" kern="1200" cap="none" spc="0" normalizeH="0" baseline="0" noProof="0" dirty="0">
                <a:ln w="3175">
                  <a:noFill/>
                </a:ln>
                <a:solidFill>
                  <a:prstClr val="black"/>
                </a:solidFill>
                <a:effectLst/>
                <a:uLnTx/>
                <a:uFillTx/>
                <a:latin typeface="Segoe Sans Text" pitchFamily="2" charset="0"/>
              </a:rPr>
              <a:t>Customer should provide:</a:t>
            </a:r>
          </a:p>
          <a:p>
            <a:pPr marL="203200" marR="0" lvl="0" indent="-146050" algn="l" defTabSz="932742" rtl="0" eaLnBrk="1" fontAlgn="auto" latinLnBrk="0" hangingPunct="1">
              <a:lnSpc>
                <a:spcPct val="100000"/>
              </a:lnSpc>
              <a:spcBef>
                <a:spcPts val="0"/>
              </a:spcBef>
              <a:spcAft>
                <a:spcPts val="400"/>
              </a:spcAft>
              <a:buClrTx/>
              <a:buSzPct val="100000"/>
              <a:buFont typeface="Arial" panose="020B0604020202020204" pitchFamily="34" charset="0"/>
              <a:buChar char="•"/>
              <a:tabLst/>
              <a:defRPr/>
            </a:pPr>
            <a:r>
              <a:rPr kumimoji="0" lang="en-US" sz="900" b="0" i="0" u="none" strike="noStrike" kern="1200" cap="none" spc="0" normalizeH="0" baseline="0" noProof="0" dirty="0">
                <a:ln w="3175">
                  <a:noFill/>
                </a:ln>
                <a:solidFill>
                  <a:prstClr val="black"/>
                </a:solidFill>
                <a:effectLst/>
                <a:uLnTx/>
                <a:uFillTx/>
                <a:latin typeface="Segoe Sans Text" pitchFamily="2" charset="0"/>
              </a:rPr>
              <a:t>An established data source connection for each data source to be used in the migration</a:t>
            </a:r>
          </a:p>
          <a:p>
            <a:pPr marL="203200" marR="0" lvl="0" indent="-146050" algn="l" defTabSz="932742" rtl="0" eaLnBrk="1" fontAlgn="auto" latinLnBrk="0" hangingPunct="1">
              <a:lnSpc>
                <a:spcPct val="100000"/>
              </a:lnSpc>
              <a:spcBef>
                <a:spcPts val="0"/>
              </a:spcBef>
              <a:spcAft>
                <a:spcPts val="400"/>
              </a:spcAft>
              <a:buClrTx/>
              <a:buSzPct val="100000"/>
              <a:buFont typeface="Arial" panose="020B0604020202020204" pitchFamily="34" charset="0"/>
              <a:buChar char="•"/>
              <a:tabLst/>
              <a:defRPr/>
            </a:pPr>
            <a:r>
              <a:rPr kumimoji="0" lang="en-US" sz="900" b="0" i="0" u="none" strike="noStrike" kern="1200" cap="none" spc="0" normalizeH="0" baseline="0" noProof="0" dirty="0">
                <a:ln w="3175">
                  <a:noFill/>
                </a:ln>
                <a:solidFill>
                  <a:prstClr val="black"/>
                </a:solidFill>
                <a:effectLst/>
                <a:uLnTx/>
                <a:uFillTx/>
                <a:latin typeface="Segoe Sans Text" pitchFamily="2" charset="0"/>
              </a:rPr>
              <a:t>The customer is responsible for ensuring that objects inventory is available prior to execution. </a:t>
            </a:r>
            <a:r>
              <a:rPr lang="en-US" sz="900" dirty="0">
                <a:ln w="3175">
                  <a:noFill/>
                </a:ln>
                <a:solidFill>
                  <a:prstClr val="black"/>
                </a:solidFill>
                <a:latin typeface="Segoe Sans Text" pitchFamily="2" charset="0"/>
              </a:rPr>
              <a:t>Factory can execute the assessment for the customer with appropriate permission or can guide the customer on doing so.</a:t>
            </a:r>
            <a:endParaRPr kumimoji="0" lang="en-US" sz="900" b="0" i="0" u="none" strike="noStrike" kern="1200" cap="none" spc="0" normalizeH="0" baseline="0" noProof="0" dirty="0">
              <a:ln w="3175">
                <a:noFill/>
              </a:ln>
              <a:solidFill>
                <a:prstClr val="black"/>
              </a:solidFill>
              <a:effectLst/>
              <a:uLnTx/>
              <a:uFillTx/>
              <a:latin typeface="Segoe Sans Text" pitchFamily="2" charset="0"/>
            </a:endParaRPr>
          </a:p>
          <a:p>
            <a:pPr marL="203200" marR="0" lvl="0" indent="-146050" algn="l" defTabSz="932742" rtl="0" eaLnBrk="1" fontAlgn="auto" latinLnBrk="0" hangingPunct="1">
              <a:lnSpc>
                <a:spcPct val="100000"/>
              </a:lnSpc>
              <a:spcBef>
                <a:spcPts val="0"/>
              </a:spcBef>
              <a:spcAft>
                <a:spcPts val="400"/>
              </a:spcAft>
              <a:buClrTx/>
              <a:buSzPct val="100000"/>
              <a:buFont typeface="Arial" panose="020B0604020202020204" pitchFamily="34" charset="0"/>
              <a:buChar char="•"/>
              <a:tabLst/>
              <a:defRPr/>
            </a:pPr>
            <a:r>
              <a:rPr kumimoji="0" lang="en-US" sz="900" b="0" i="0" u="none" strike="noStrike" kern="1200" cap="none" spc="0" normalizeH="0" baseline="0" noProof="0" dirty="0">
                <a:ln w="3175">
                  <a:noFill/>
                </a:ln>
                <a:solidFill>
                  <a:prstClr val="black"/>
                </a:solidFill>
                <a:effectLst/>
                <a:uLnTx/>
                <a:uFillTx/>
                <a:latin typeface="Segoe Sans Text" pitchFamily="2" charset="0"/>
              </a:rPr>
              <a:t>Internet bandwidth availability must meet minimum Factory requirements </a:t>
            </a:r>
          </a:p>
          <a:p>
            <a:pPr marL="203200" marR="0" lvl="0" indent="-146050" algn="l" defTabSz="932742" rtl="0" eaLnBrk="1" fontAlgn="auto" latinLnBrk="0" hangingPunct="1">
              <a:lnSpc>
                <a:spcPct val="100000"/>
              </a:lnSpc>
              <a:spcBef>
                <a:spcPts val="0"/>
              </a:spcBef>
              <a:spcAft>
                <a:spcPts val="400"/>
              </a:spcAft>
              <a:buClrTx/>
              <a:buSzPct val="100000"/>
              <a:buFont typeface="Arial" panose="020B0604020202020204" pitchFamily="34" charset="0"/>
              <a:buChar char="•"/>
              <a:tabLst/>
              <a:defRPr/>
            </a:pPr>
            <a:r>
              <a:rPr kumimoji="0" lang="en-US" sz="900" b="0" i="0" u="none" strike="noStrike" kern="1200" cap="none" spc="0" normalizeH="0" baseline="0" noProof="0" dirty="0">
                <a:ln w="3175">
                  <a:noFill/>
                </a:ln>
                <a:solidFill>
                  <a:prstClr val="black"/>
                </a:solidFill>
                <a:effectLst/>
                <a:uLnTx/>
                <a:uFillTx/>
                <a:latin typeface="Segoe Sans Text" pitchFamily="2" charset="0"/>
              </a:rPr>
              <a:t>The estimated execution Phase time is max 6 weeks with 1.5 resources allocated. The project will commence(Execution phase) once all prerequisites—such as access, scope definition, and data source connections—are completed.</a:t>
            </a:r>
          </a:p>
          <a:p>
            <a:pPr marL="203200" indent="-146050">
              <a:spcBef>
                <a:spcPts val="0"/>
              </a:spcBef>
              <a:spcAft>
                <a:spcPts val="400"/>
              </a:spcAft>
              <a:buSzPct val="100000"/>
              <a:buFont typeface="Arial" panose="020B0604020202020204" pitchFamily="34" charset="0"/>
              <a:buChar char="•"/>
              <a:defRPr/>
            </a:pPr>
            <a:r>
              <a:rPr lang="en-US" sz="900" dirty="0">
                <a:latin typeface="Segoe Sans Text" pitchFamily="2" charset="0"/>
              </a:rPr>
              <a:t>Estimated duration for completing all activities in a typical engagement is within 4 weeks per Scenario execution, when all the requirements are met, and Customer and Partner are ready for execution</a:t>
            </a:r>
          </a:p>
          <a:p>
            <a:pPr marL="203200" marR="0" lvl="0" indent="-146050" algn="l" defTabSz="932742" rtl="0" eaLnBrk="1" fontAlgn="auto" latinLnBrk="0" hangingPunct="1">
              <a:lnSpc>
                <a:spcPct val="100000"/>
              </a:lnSpc>
              <a:spcBef>
                <a:spcPts val="0"/>
              </a:spcBef>
              <a:spcAft>
                <a:spcPts val="400"/>
              </a:spcAft>
              <a:buClrTx/>
              <a:buSzPct val="100000"/>
              <a:buFont typeface="Arial" panose="020B0604020202020204" pitchFamily="34" charset="0"/>
              <a:buChar char="•"/>
              <a:tabLst/>
              <a:defRPr/>
            </a:pPr>
            <a:endParaRPr kumimoji="0" lang="en-US" sz="900" b="0" i="0" u="none" strike="noStrike" kern="1200" cap="none" spc="0" normalizeH="0" baseline="0" noProof="0" dirty="0">
              <a:ln w="3175">
                <a:noFill/>
              </a:ln>
              <a:solidFill>
                <a:prstClr val="black"/>
              </a:solidFill>
              <a:effectLst/>
              <a:uLnTx/>
              <a:uFillTx/>
              <a:latin typeface="Segoe Sans Text" pitchFamily="2" charset="0"/>
            </a:endParaRPr>
          </a:p>
          <a:p>
            <a:pPr marL="0" marR="0" lvl="0" indent="0" algn="l" defTabSz="932742" rtl="0" eaLnBrk="1" fontAlgn="auto" latinLnBrk="0" hangingPunct="1">
              <a:lnSpc>
                <a:spcPct val="100000"/>
              </a:lnSpc>
              <a:spcBef>
                <a:spcPts val="0"/>
              </a:spcBef>
              <a:spcAft>
                <a:spcPts val="400"/>
              </a:spcAft>
              <a:buClrTx/>
              <a:buSzPct val="100000"/>
              <a:buFont typeface="Wingdings" panose="05000000000000000000" pitchFamily="2" charset="2"/>
              <a:buNone/>
              <a:tabLst/>
              <a:defRPr/>
            </a:pPr>
            <a:r>
              <a:rPr kumimoji="0" lang="en-US" sz="1000" b="0" i="0" u="none" strike="noStrike" kern="1200" cap="none" spc="0" normalizeH="0" baseline="0" noProof="0" dirty="0">
                <a:ln w="3175">
                  <a:noFill/>
                </a:ln>
                <a:solidFill>
                  <a:prstClr val="black"/>
                </a:solidFill>
                <a:effectLst/>
                <a:uLnTx/>
                <a:uFillTx/>
                <a:latin typeface="Segoe Sans Text" pitchFamily="2" charset="0"/>
              </a:rPr>
              <a:t>*Please reach out to the factory team for any additional questions on scope or scenarios</a:t>
            </a:r>
          </a:p>
        </p:txBody>
      </p:sp>
      <p:graphicFrame>
        <p:nvGraphicFramePr>
          <p:cNvPr id="12" name="Table 11" title="Exchange Online Technet Guidance">
            <a:extLst>
              <a:ext uri="{FF2B5EF4-FFF2-40B4-BE49-F238E27FC236}">
                <a16:creationId xmlns:a16="http://schemas.microsoft.com/office/drawing/2014/main" id="{86B29C0A-7E7A-1429-4680-969A2883D49F}"/>
              </a:ext>
            </a:extLst>
          </p:cNvPr>
          <p:cNvGraphicFramePr>
            <a:graphicFrameLocks noGrp="1"/>
          </p:cNvGraphicFramePr>
          <p:nvPr/>
        </p:nvGraphicFramePr>
        <p:xfrm>
          <a:off x="582929" y="1134073"/>
          <a:ext cx="8443279" cy="5902458"/>
        </p:xfrm>
        <a:graphic>
          <a:graphicData uri="http://schemas.openxmlformats.org/drawingml/2006/table">
            <a:tbl>
              <a:tblPr firstRow="1" bandRow="1">
                <a:tableStyleId>{5C22544A-7EE6-4342-B048-85BDC9FD1C3A}</a:tableStyleId>
              </a:tblPr>
              <a:tblGrid>
                <a:gridCol w="354130">
                  <a:extLst>
                    <a:ext uri="{9D8B030D-6E8A-4147-A177-3AD203B41FA5}">
                      <a16:colId xmlns:a16="http://schemas.microsoft.com/office/drawing/2014/main" val="920430407"/>
                    </a:ext>
                  </a:extLst>
                </a:gridCol>
                <a:gridCol w="8089149">
                  <a:extLst>
                    <a:ext uri="{9D8B030D-6E8A-4147-A177-3AD203B41FA5}">
                      <a16:colId xmlns:a16="http://schemas.microsoft.com/office/drawing/2014/main" val="125040094"/>
                    </a:ext>
                  </a:extLst>
                </a:gridCol>
              </a:tblGrid>
              <a:tr h="249973">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Segoe Sans Text" pitchFamily="2" charset="0"/>
                        <a:ea typeface="+mn-ea"/>
                        <a:cs typeface="Segoe Sans Text" pitchFamily="2" charset="0"/>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egoe Sans Text" pitchFamily="2" charset="0"/>
                          <a:ea typeface="+mn-ea"/>
                          <a:cs typeface="Segoe Sans Text" pitchFamily="2" charset="0"/>
                        </a:rPr>
                        <a:t>Microsoft Cloud Accelerate Factory (Factory) Synapse migration </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1349817">
                <a:tc>
                  <a:txBody>
                    <a:bodyPr/>
                    <a:lstStyle/>
                    <a:p>
                      <a:pPr algn="ctr"/>
                      <a:r>
                        <a:rPr lang="en-US" sz="1000" b="0" noProof="0" dirty="0">
                          <a:solidFill>
                            <a:schemeClr val="tx1"/>
                          </a:solidFill>
                          <a:latin typeface="Segoe Sans Text" pitchFamily="2" charset="0"/>
                          <a:cs typeface="Segoe Sans Text" pitchFamily="2" charset="0"/>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Determine scenario and scope: Partnering with the customer or partner, Cloud Factory will assess the complexity and determine scope for Synapse migration to Fabric. Activities include assessment of Synapse workload using available 1</a:t>
                      </a:r>
                      <a:r>
                        <a:rPr kumimoji="0" lang="en-US" sz="1000" b="0" i="0" u="none" strike="noStrike" kern="0" cap="none" spc="0" normalizeH="0" baseline="30000" noProof="0" dirty="0">
                          <a:ln>
                            <a:noFill/>
                          </a:ln>
                          <a:solidFill>
                            <a:schemeClr val="tx1"/>
                          </a:solidFill>
                          <a:effectLst/>
                          <a:uLnTx/>
                          <a:uFillTx/>
                          <a:latin typeface="Segoe Sans Text" pitchFamily="2" charset="0"/>
                          <a:ea typeface="+mn-ea"/>
                          <a:cs typeface="Segoe Sans Text" pitchFamily="2" charset="0"/>
                        </a:rPr>
                        <a:t>st</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 party / Community IPs. Assessment tools include but not limited to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hlinkClick r:id="rId3"/>
                        </a:rPr>
                        <a:t>: Fabric assessment tool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 ,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hlinkClick r:id="rId4"/>
                        </a:rPr>
                        <a:t>Synapse pipeline assessment</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 ,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hlinkClick r:id="rId5"/>
                        </a:rPr>
                        <a:t>Synapse Spark assessment</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 ,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hlinkClick r:id="rId6"/>
                        </a:rPr>
                        <a:t>Fabric DW migration assistant</a:t>
                      </a:r>
                      <a:endPar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Factory’s scope depends on the complexity of the synapse workload to be migrated(Supported features, Customization etc.. ).</a:t>
                      </a:r>
                      <a:b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b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Synapse Migration supported scenarios: </a:t>
                      </a:r>
                    </a:p>
                    <a:p>
                      <a:pPr marL="200025" marR="0" lvl="0" indent="-1333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tab pos="171450" algn="l"/>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Synapse SQL Pool – Fabric Warehouse</a:t>
                      </a:r>
                    </a:p>
                    <a:p>
                      <a:pPr marL="200025" marR="0" lvl="0" indent="-1333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tab pos="171450" algn="l"/>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Synapse Spark to Fabric Spark</a:t>
                      </a:r>
                    </a:p>
                    <a:p>
                      <a:pPr marL="200025" marR="0" lvl="0" indent="-1333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tab pos="171450" algn="l"/>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Synapse Pipelines to Fabric Data Factory</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494494">
                <a:tc rowSpan="2">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00" b="0" kern="1200" noProof="0" dirty="0">
                          <a:solidFill>
                            <a:schemeClr val="tx1"/>
                          </a:solidFill>
                          <a:latin typeface="Segoe Sans Text" pitchFamily="2" charset="0"/>
                          <a:ea typeface="+mn-ea"/>
                          <a:cs typeface="Segoe Sans Text" pitchFamily="2" charset="0"/>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Determine the appropriate scenario, based on the previous analysis and begin work as outlined below. Scope that </a:t>
                      </a:r>
                      <a:b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b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falls outside of the listed scenarios will need to be delivered by the customer or partner (custom code ,data modeling, re-designing business logic, etc..).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1498148">
                <a:tc vMerge="1">
                  <a:txBody>
                    <a:bodyPr/>
                    <a:lstStyle/>
                    <a:p>
                      <a:pPr algn="ctr"/>
                      <a:endParaRPr lang="en-US" sz="1000" b="0">
                        <a:solidFill>
                          <a:srgbClr val="0078D7"/>
                        </a:solidFill>
                        <a:latin typeface="+mn-lt"/>
                      </a:endParaRP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4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Synapse Migration: </a:t>
                      </a:r>
                      <a:r>
                        <a:rPr lang="en-US" sz="1000" b="0" i="0" noProof="0" dirty="0">
                          <a:solidFill>
                            <a:schemeClr val="tx1"/>
                          </a:solidFill>
                          <a:effectLst/>
                          <a:latin typeface="Segoe Sans Text" pitchFamily="2" charset="0"/>
                          <a:cs typeface="Segoe Sans Text" pitchFamily="2" charset="0"/>
                        </a:rPr>
                        <a:t>In-Scope Activities:</a:t>
                      </a:r>
                    </a:p>
                    <a:p>
                      <a:pPr marL="228600" indent="-157163" algn="l">
                        <a:spcBef>
                          <a:spcPts val="0"/>
                        </a:spcBef>
                        <a:spcAft>
                          <a:spcPts val="400"/>
                        </a:spcAft>
                        <a:buFont typeface="+mj-lt"/>
                        <a:buAutoNum type="arabicPeriod"/>
                      </a:pPr>
                      <a:r>
                        <a:rPr lang="en-US" sz="1000" b="0" i="0" noProof="0" dirty="0">
                          <a:solidFill>
                            <a:schemeClr val="tx1"/>
                          </a:solidFill>
                          <a:effectLst/>
                          <a:latin typeface="Segoe Sans Text" pitchFamily="2" charset="0"/>
                          <a:cs typeface="Segoe Sans Text" pitchFamily="2" charset="0"/>
                        </a:rPr>
                        <a:t>Synapse Dedicated Data &amp; Code Migration: Migration of both data and associated code assets(Stored Procedure, Views , Functions).(Tools: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hlinkClick r:id="rId6"/>
                        </a:rPr>
                        <a:t>Fabric DW migration assistant</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 / </a:t>
                      </a:r>
                      <a:r>
                        <a:rPr lang="en-US" sz="1000" dirty="0">
                          <a:latin typeface="Segoe Sans Text" pitchFamily="2" charset="0"/>
                          <a:cs typeface="Segoe Sans Text" pitchFamily="2" charset="0"/>
                          <a:hlinkClick r:id="rId7"/>
                        </a:rPr>
                        <a:t>Synapse migration using Spectral Core</a:t>
                      </a:r>
                      <a:r>
                        <a:rPr lang="en-US" sz="1000" dirty="0">
                          <a:latin typeface="Segoe Sans Text" pitchFamily="2" charset="0"/>
                          <a:cs typeface="Segoe Sans Text" pitchFamily="2" charset="0"/>
                        </a:rPr>
                        <a:t> )</a:t>
                      </a:r>
                      <a:endParaRPr lang="en-US" sz="1000" b="0" i="0" noProof="0" dirty="0">
                        <a:solidFill>
                          <a:schemeClr val="tx1"/>
                        </a:solidFill>
                        <a:effectLst/>
                        <a:latin typeface="Segoe Sans Text" pitchFamily="2" charset="0"/>
                        <a:cs typeface="Segoe Sans Text" pitchFamily="2" charset="0"/>
                      </a:endParaRPr>
                    </a:p>
                    <a:p>
                      <a:pPr marL="228600" indent="-157163" algn="l">
                        <a:spcBef>
                          <a:spcPts val="0"/>
                        </a:spcBef>
                        <a:spcAft>
                          <a:spcPts val="400"/>
                        </a:spcAft>
                        <a:buFont typeface="+mj-lt"/>
                        <a:buAutoNum type="arabicPeriod"/>
                      </a:pPr>
                      <a:r>
                        <a:rPr lang="en-US" sz="1000" b="0" i="0" noProof="0" dirty="0">
                          <a:solidFill>
                            <a:schemeClr val="tx1"/>
                          </a:solidFill>
                          <a:effectLst/>
                          <a:latin typeface="Segoe Sans Text" pitchFamily="2" charset="0"/>
                          <a:cs typeface="Segoe Sans Text" pitchFamily="2" charset="0"/>
                        </a:rPr>
                        <a:t>Synapse Spark migration: Synapse Notebook , Spark clusters, data lake on ADLS (Tool :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hlinkClick r:id="rId5"/>
                        </a:rPr>
                        <a:t>Synapse Spark Migration</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 )</a:t>
                      </a:r>
                      <a:endParaRPr lang="en-US" sz="1000" b="0" i="0" noProof="0" dirty="0">
                        <a:solidFill>
                          <a:schemeClr val="tx1"/>
                        </a:solidFill>
                        <a:effectLst/>
                        <a:latin typeface="Segoe Sans Text" pitchFamily="2" charset="0"/>
                        <a:cs typeface="Segoe Sans Text" pitchFamily="2" charset="0"/>
                      </a:endParaRPr>
                    </a:p>
                    <a:p>
                      <a:pPr marL="228600" indent="-157163" algn="l">
                        <a:spcBef>
                          <a:spcPts val="0"/>
                        </a:spcBef>
                        <a:spcAft>
                          <a:spcPts val="400"/>
                        </a:spcAft>
                        <a:buFont typeface="+mj-lt"/>
                        <a:buAutoNum type="arabicPeriod"/>
                      </a:pPr>
                      <a:r>
                        <a:rPr lang="en-US" sz="1000" b="0" i="0" noProof="0" dirty="0">
                          <a:solidFill>
                            <a:schemeClr val="tx1"/>
                          </a:solidFill>
                          <a:effectLst/>
                          <a:latin typeface="Segoe Sans Text" pitchFamily="2" charset="0"/>
                          <a:cs typeface="Segoe Sans Text" pitchFamily="2" charset="0"/>
                        </a:rPr>
                        <a:t>Synapse Pipelines: Synapse pipelines (Tool: </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hlinkClick r:id="rId4"/>
                        </a:rPr>
                        <a:t>Synapse pipeline migration</a:t>
                      </a: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 ) </a:t>
                      </a:r>
                      <a:endParaRPr lang="en-US" sz="1000" b="0" i="0" noProof="0" dirty="0">
                        <a:solidFill>
                          <a:schemeClr val="tx1"/>
                        </a:solidFill>
                        <a:effectLst/>
                        <a:latin typeface="Segoe Sans Text" pitchFamily="2" charset="0"/>
                        <a:cs typeface="Segoe Sans Text" pitchFamily="2" charset="0"/>
                      </a:endParaRPr>
                    </a:p>
                    <a:p>
                      <a:pPr marL="228600" indent="-157163" algn="l">
                        <a:spcBef>
                          <a:spcPts val="0"/>
                        </a:spcBef>
                        <a:spcAft>
                          <a:spcPts val="600"/>
                        </a:spcAft>
                        <a:buFont typeface="+mj-lt"/>
                        <a:buAutoNum type="arabicPeriod"/>
                      </a:pPr>
                      <a:r>
                        <a:rPr lang="en-US" sz="1000" b="0" i="0" noProof="0" dirty="0">
                          <a:solidFill>
                            <a:schemeClr val="tx1"/>
                          </a:solidFill>
                          <a:effectLst/>
                          <a:latin typeface="Segoe Sans Text" pitchFamily="2" charset="0"/>
                          <a:cs typeface="Segoe Sans Text" pitchFamily="2" charset="0"/>
                        </a:rPr>
                        <a:t>Migration Approach: The Factory team will utilize a combination of Microsoft internal and external toolsets to automate and efficiently execute the migration process from supported sources.</a:t>
                      </a:r>
                    </a:p>
                    <a:p>
                      <a:pPr marL="0" marR="0" lvl="0" indent="0" algn="l">
                        <a:lnSpc>
                          <a:spcPct val="100000"/>
                        </a:lnSpc>
                        <a:spcBef>
                          <a:spcPts val="0"/>
                        </a:spcBef>
                        <a:spcAft>
                          <a:spcPts val="400"/>
                        </a:spcAft>
                        <a:buNone/>
                      </a:pPr>
                      <a:r>
                        <a:rPr lang="en-US" sz="1000" b="0" i="1" u="none" strike="noStrike" noProof="0" dirty="0">
                          <a:solidFill>
                            <a:schemeClr val="tx1"/>
                          </a:solidFill>
                          <a:effectLst/>
                          <a:latin typeface="Segoe Sans Text" pitchFamily="2" charset="0"/>
                          <a:cs typeface="Segoe Sans Text" pitchFamily="2" charset="0"/>
                        </a:rPr>
                        <a:t>*Sizing and no of waves will be estimated  after the assessment and in the initial scoping calls.</a:t>
                      </a:r>
                    </a:p>
                    <a:p>
                      <a:pPr marL="0" marR="0" lvl="0" indent="0" algn="l">
                        <a:lnSpc>
                          <a:spcPct val="100000"/>
                        </a:lnSpc>
                        <a:spcBef>
                          <a:spcPts val="0"/>
                        </a:spcBef>
                        <a:spcAft>
                          <a:spcPts val="400"/>
                        </a:spcAft>
                        <a:buNone/>
                      </a:pPr>
                      <a:r>
                        <a:rPr lang="en-US" sz="1000" b="0" i="0" u="none" strike="noStrike" noProof="0" dirty="0">
                          <a:solidFill>
                            <a:schemeClr val="tx1"/>
                          </a:solidFill>
                          <a:effectLst/>
                          <a:latin typeface="Segoe Sans Text" pitchFamily="2" charset="0"/>
                          <a:cs typeface="Segoe Sans Text" pitchFamily="2" charset="0"/>
                        </a:rPr>
                        <a:t>Sample sizing : Low complexity ( &gt;95% conversion using tools) 1-2 waves , Medium complexity </a:t>
                      </a:r>
                      <a:r>
                        <a:rPr lang="en-US" sz="1000" b="0" i="0" u="none" strike="noStrike" kern="1200" noProof="0" dirty="0">
                          <a:solidFill>
                            <a:schemeClr val="tx1"/>
                          </a:solidFill>
                          <a:effectLst/>
                          <a:latin typeface="Segoe Sans Text" pitchFamily="2" charset="0"/>
                          <a:ea typeface="+mn-ea"/>
                          <a:cs typeface="Segoe Sans Text" pitchFamily="2" charset="0"/>
                        </a:rPr>
                        <a:t>( 80%-95% conversion using tools) 2-3 waves , </a:t>
                      </a:r>
                      <a:r>
                        <a:rPr lang="en-US" sz="1000" b="1" i="0" u="none" strike="noStrike" kern="1200" noProof="0" dirty="0">
                          <a:solidFill>
                            <a:schemeClr val="tx1"/>
                          </a:solidFill>
                          <a:effectLst/>
                          <a:latin typeface="Segoe Sans Text" pitchFamily="2" charset="0"/>
                          <a:ea typeface="+mn-ea"/>
                          <a:cs typeface="Segoe Sans Text" pitchFamily="2" charset="0"/>
                        </a:rPr>
                        <a:t>High complexity</a:t>
                      </a:r>
                      <a:r>
                        <a:rPr lang="en-US" sz="1000" b="0" i="0" u="none" strike="noStrike" kern="1200" noProof="0" dirty="0">
                          <a:solidFill>
                            <a:schemeClr val="tx1"/>
                          </a:solidFill>
                          <a:effectLst/>
                          <a:latin typeface="Segoe Sans Text" pitchFamily="2" charset="0"/>
                          <a:ea typeface="+mn-ea"/>
                          <a:cs typeface="Segoe Sans Text" pitchFamily="2" charset="0"/>
                        </a:rPr>
                        <a:t> ( &lt; 80% conversion using tools) more then 3 waves. For high complexity we recommended using partner + factory execution . Wave can be separated as per scenarios for execution</a:t>
                      </a:r>
                      <a:endParaRPr lang="en-US" sz="1000" b="0" i="0" u="none" strike="noStrike" noProof="0" dirty="0">
                        <a:solidFill>
                          <a:schemeClr val="tx1"/>
                        </a:solidFill>
                        <a:effectLst/>
                        <a:latin typeface="Segoe Sans Text" pitchFamily="2" charset="0"/>
                        <a:cs typeface="Segoe Sans Text" pitchFamily="2" charset="0"/>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256764">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00" b="0" kern="1200" noProof="0" dirty="0">
                          <a:solidFill>
                            <a:schemeClr val="tx1"/>
                          </a:solidFill>
                          <a:latin typeface="Segoe Sans Text" pitchFamily="2" charset="0"/>
                          <a:ea typeface="+mn-ea"/>
                          <a:cs typeface="Segoe Sans Text" pitchFamily="2" charset="0"/>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Segoe Sans Text" pitchFamily="2" charset="0"/>
                          <a:ea typeface="+mn-ea"/>
                          <a:cs typeface="Segoe Sans Text" pitchFamily="2" charset="0"/>
                        </a:rPr>
                        <a:t>Handover to Customer/Partner/ISD for post 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01988"/>
                  </a:ext>
                </a:extLst>
              </a:tr>
              <a:tr h="489494">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egoe Sans Text" pitchFamily="2" charset="0"/>
                          <a:ea typeface="+mn-ea"/>
                          <a:cs typeface="Segoe Sans Text" pitchFamily="2" charset="0"/>
                        </a:rPr>
                        <a:t>Throughout the engagement, customers/partners are responsible for: Configuring recommended settings and executing needed remediations when applicable; providing overall project management; coordinating and attending checkpoint meetings; and implementing user communications, documentation, training, and change management. </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r h="489494">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Segoe Sans Text"/>
                      </a:endParaRP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72249108"/>
                  </a:ext>
                </a:extLst>
              </a:tr>
            </a:tbl>
          </a:graphicData>
        </a:graphic>
      </p:graphicFrame>
      <p:sp>
        <p:nvSpPr>
          <p:cNvPr id="4" name="TextBox 3">
            <a:extLst>
              <a:ext uri="{FF2B5EF4-FFF2-40B4-BE49-F238E27FC236}">
                <a16:creationId xmlns:a16="http://schemas.microsoft.com/office/drawing/2014/main" id="{070F3C3C-1DD9-1F3C-0685-412A4A68D80E}"/>
              </a:ext>
            </a:extLst>
          </p:cNvPr>
          <p:cNvSpPr txBox="1"/>
          <p:nvPr/>
        </p:nvSpPr>
        <p:spPr>
          <a:xfrm>
            <a:off x="9247291" y="893694"/>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6" name="TextBox 5">
            <a:extLst>
              <a:ext uri="{FF2B5EF4-FFF2-40B4-BE49-F238E27FC236}">
                <a16:creationId xmlns:a16="http://schemas.microsoft.com/office/drawing/2014/main" id="{B33AFD5A-AD3E-9F44-0204-A1D8A8C3513F}"/>
              </a:ext>
            </a:extLst>
          </p:cNvPr>
          <p:cNvSpPr txBox="1"/>
          <p:nvPr/>
        </p:nvSpPr>
        <p:spPr>
          <a:xfrm>
            <a:off x="668018" y="893693"/>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7" name="TextBox 6">
            <a:extLst>
              <a:ext uri="{FF2B5EF4-FFF2-40B4-BE49-F238E27FC236}">
                <a16:creationId xmlns:a16="http://schemas.microsoft.com/office/drawing/2014/main" id="{3A5EBDA4-5504-C461-F810-B893366768D5}"/>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1671982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Box 126">
            <a:extLst>
              <a:ext uri="{FF2B5EF4-FFF2-40B4-BE49-F238E27FC236}">
                <a16:creationId xmlns:a16="http://schemas.microsoft.com/office/drawing/2014/main" id="{44832970-80C6-7033-D479-198C36C0AD95}"/>
              </a:ext>
            </a:extLst>
          </p:cNvPr>
          <p:cNvSpPr txBox="1"/>
          <p:nvPr/>
        </p:nvSpPr>
        <p:spPr>
          <a:xfrm>
            <a:off x="1046578" y="2744532"/>
            <a:ext cx="4860157" cy="188256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What:</a:t>
            </a:r>
          </a:p>
          <a:p>
            <a:pPr marL="298450" lvl="1" indent="-171450">
              <a:spcAft>
                <a:spcPts val="600"/>
              </a:spcAft>
              <a:buFont typeface="Arial" panose="020B0604020202020204" pitchFamily="34" charset="0"/>
              <a:buChar char="•"/>
              <a:defRPr/>
            </a:pPr>
            <a:r>
              <a:rPr lang="en-US" sz="1000" kern="0" dirty="0">
                <a:solidFill>
                  <a:srgbClr val="000000"/>
                </a:solidFill>
                <a:latin typeface="Segoe Sans Text"/>
              </a:rPr>
              <a:t>Assessment of Synapse workload to determine complexity.</a:t>
            </a:r>
          </a:p>
          <a:p>
            <a:pPr marL="298450" lvl="1" indent="-171450">
              <a:spcAft>
                <a:spcPts val="600"/>
              </a:spcAft>
              <a:buFont typeface="Arial" panose="020B0604020202020204" pitchFamily="34" charset="0"/>
              <a:buChar char="•"/>
              <a:defRPr/>
            </a:pPr>
            <a:r>
              <a:rPr lang="en-US" sz="1000" kern="0" dirty="0">
                <a:solidFill>
                  <a:srgbClr val="000000"/>
                </a:solidFill>
                <a:latin typeface="Segoe Sans Text"/>
              </a:rPr>
              <a:t>Collaboratively identify suitable high-value use cases, whether it‘s for an MVP dataset or a comprehensive migration plan.</a:t>
            </a:r>
          </a:p>
          <a:p>
            <a:pPr marL="242887" indent="-171450">
              <a:spcAft>
                <a:spcPts val="400"/>
              </a:spcAft>
              <a:buFont typeface="Arial" panose="020B0604020202020204" pitchFamily="34" charset="0"/>
              <a:buChar char="•"/>
            </a:pPr>
            <a:r>
              <a:rPr lang="en-US" sz="1000" dirty="0">
                <a:latin typeface="Segoe Sans Text" pitchFamily="2" charset="0"/>
                <a:cs typeface="Segoe Sans Text" pitchFamily="2" charset="0"/>
              </a:rPr>
              <a:t>Synapse Dedicated Data &amp; Code Migration: Migration of both data and associated code assets(Stored Procedure, Views , Functions).(Tools: </a:t>
            </a:r>
            <a:r>
              <a:rPr lang="en-US" sz="1000" kern="0" dirty="0">
                <a:latin typeface="Segoe Sans Text" pitchFamily="2" charset="0"/>
                <a:cs typeface="Segoe Sans Text" pitchFamily="2" charset="0"/>
                <a:hlinkClick r:id="rId3"/>
              </a:rPr>
              <a:t>Fabric DW migration assistant</a:t>
            </a:r>
            <a:r>
              <a:rPr lang="en-US" sz="1000" kern="0" dirty="0">
                <a:latin typeface="Segoe Sans Text" pitchFamily="2" charset="0"/>
                <a:cs typeface="Segoe Sans Text" pitchFamily="2" charset="0"/>
              </a:rPr>
              <a:t> / </a:t>
            </a:r>
            <a:r>
              <a:rPr lang="en-US" sz="1000" dirty="0">
                <a:latin typeface="Segoe Sans Text" pitchFamily="2" charset="0"/>
                <a:cs typeface="Segoe Sans Text" pitchFamily="2" charset="0"/>
                <a:hlinkClick r:id="rId4"/>
              </a:rPr>
              <a:t>Synapse migration using Spectral Core</a:t>
            </a:r>
            <a:r>
              <a:rPr lang="en-US" sz="1000" dirty="0">
                <a:latin typeface="Segoe Sans Text" pitchFamily="2" charset="0"/>
                <a:cs typeface="Segoe Sans Text" pitchFamily="2" charset="0"/>
              </a:rPr>
              <a:t> )</a:t>
            </a:r>
          </a:p>
          <a:p>
            <a:pPr marL="242887" indent="-171450">
              <a:spcAft>
                <a:spcPts val="400"/>
              </a:spcAft>
              <a:buFont typeface="Arial" panose="020B0604020202020204" pitchFamily="34" charset="0"/>
              <a:buChar char="•"/>
            </a:pPr>
            <a:r>
              <a:rPr lang="en-US" sz="1000" dirty="0">
                <a:latin typeface="Segoe Sans Text" pitchFamily="2" charset="0"/>
                <a:cs typeface="Segoe Sans Text" pitchFamily="2" charset="0"/>
              </a:rPr>
              <a:t>Synapse Spark migration: Synapse Notebook , Spark clusters, data lake on ADLS (Tool : </a:t>
            </a:r>
            <a:r>
              <a:rPr lang="en-US" sz="1000" kern="0" dirty="0">
                <a:latin typeface="Segoe Sans Text" pitchFamily="2" charset="0"/>
                <a:cs typeface="Segoe Sans Text" pitchFamily="2" charset="0"/>
                <a:hlinkClick r:id="rId5"/>
              </a:rPr>
              <a:t>Synapse Spark Migration</a:t>
            </a:r>
            <a:r>
              <a:rPr lang="en-US" sz="1000" kern="0" dirty="0">
                <a:latin typeface="Segoe Sans Text" pitchFamily="2" charset="0"/>
                <a:cs typeface="Segoe Sans Text" pitchFamily="2" charset="0"/>
              </a:rPr>
              <a:t> )</a:t>
            </a:r>
            <a:endParaRPr lang="en-US" sz="1000" dirty="0">
              <a:latin typeface="Segoe Sans Text" pitchFamily="2" charset="0"/>
              <a:cs typeface="Segoe Sans Text" pitchFamily="2" charset="0"/>
            </a:endParaRPr>
          </a:p>
          <a:p>
            <a:pPr marL="242887" indent="-171450">
              <a:spcAft>
                <a:spcPts val="400"/>
              </a:spcAft>
              <a:buFont typeface="Arial" panose="020B0604020202020204" pitchFamily="34" charset="0"/>
              <a:buChar char="•"/>
            </a:pPr>
            <a:r>
              <a:rPr lang="en-US" sz="1000" dirty="0">
                <a:latin typeface="Segoe Sans Text" pitchFamily="2" charset="0"/>
                <a:cs typeface="Segoe Sans Text" pitchFamily="2" charset="0"/>
              </a:rPr>
              <a:t>Synapse Pipelines: Synapse pipelines (Tool: </a:t>
            </a:r>
            <a:r>
              <a:rPr lang="en-US" sz="1000" kern="0" dirty="0">
                <a:latin typeface="Segoe Sans Text" pitchFamily="2" charset="0"/>
                <a:cs typeface="Segoe Sans Text" pitchFamily="2" charset="0"/>
                <a:hlinkClick r:id="rId6"/>
              </a:rPr>
              <a:t>Synapse pipeline migration</a:t>
            </a:r>
            <a:r>
              <a:rPr lang="en-US" sz="1000" kern="0" dirty="0">
                <a:latin typeface="Segoe Sans Text" pitchFamily="2" charset="0"/>
                <a:cs typeface="Segoe Sans Text" pitchFamily="2" charset="0"/>
              </a:rPr>
              <a:t> ) </a:t>
            </a:r>
            <a:endParaRPr lang="en-US" sz="1000" kern="0" dirty="0">
              <a:solidFill>
                <a:srgbClr val="000000"/>
              </a:solidFill>
              <a:latin typeface="Segoe Sans Text" pitchFamily="2" charset="0"/>
              <a:cs typeface="Segoe Sans Text" pitchFamily="2" charset="0"/>
            </a:endParaRPr>
          </a:p>
        </p:txBody>
      </p:sp>
      <p:sp>
        <p:nvSpPr>
          <p:cNvPr id="179" name="TextBox 178">
            <a:extLst>
              <a:ext uri="{FF2B5EF4-FFF2-40B4-BE49-F238E27FC236}">
                <a16:creationId xmlns:a16="http://schemas.microsoft.com/office/drawing/2014/main" id="{F90F3C8F-66A1-1219-6ED9-610AA06C19CC}"/>
              </a:ext>
            </a:extLst>
          </p:cNvPr>
          <p:cNvSpPr txBox="1"/>
          <p:nvPr/>
        </p:nvSpPr>
        <p:spPr>
          <a:xfrm>
            <a:off x="1030859" y="5718948"/>
            <a:ext cx="4815056" cy="121571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Factory Responsibilities</a:t>
            </a:r>
          </a:p>
          <a:p>
            <a:pPr marL="171450" lvl="0" indent="-171450" defTabSz="932293">
              <a:buFont typeface="Arial" panose="020B0604020202020204" pitchFamily="34" charset="0"/>
              <a:buChar char="•"/>
              <a:defRPr/>
            </a:pPr>
            <a:r>
              <a:rPr lang="en-US" sz="1000" dirty="0">
                <a:solidFill>
                  <a:srgbClr val="000000"/>
                </a:solidFill>
                <a:latin typeface="Segoe Sans Text"/>
              </a:rPr>
              <a:t>Lift and shift Synapse dedicated, Spark and Pipelines to Fabric</a:t>
            </a:r>
          </a:p>
          <a:p>
            <a:pPr marL="171450" lvl="0" indent="-171450" defTabSz="932293">
              <a:buFont typeface="Arial" panose="020B0604020202020204" pitchFamily="34" charset="0"/>
              <a:buChar char="•"/>
              <a:defRPr/>
            </a:pPr>
            <a:r>
              <a:rPr lang="en-US" sz="1000" kern="0" dirty="0">
                <a:solidFill>
                  <a:srgbClr val="000000"/>
                </a:solidFill>
                <a:latin typeface="Segoe Sans Text"/>
                <a:cs typeface="Segoe Sans Text" pitchFamily="2" charset="0"/>
              </a:rPr>
              <a:t>UAT of scoped migrated assets (SP, Data, Notebook etc.)</a:t>
            </a:r>
          </a:p>
          <a:p>
            <a:pPr marL="171450" lvl="0" indent="-171450" defTabSz="932293">
              <a:buFont typeface="Arial" panose="020B0604020202020204" pitchFamily="34" charset="0"/>
              <a:buChar char="•"/>
              <a:defRPr/>
            </a:pPr>
            <a:r>
              <a:rPr lang="en-US" sz="1000" kern="0" dirty="0">
                <a:solidFill>
                  <a:srgbClr val="000000"/>
                </a:solidFill>
                <a:latin typeface="Segoe Sans Text"/>
              </a:rPr>
              <a:t>Project co-ordination and management of Scope 1 activities.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000" b="0" i="0" u="none" strike="noStrike" kern="0" cap="none" spc="0" normalizeH="0" baseline="0" noProof="0" dirty="0">
              <a:ln>
                <a:noFill/>
              </a:ln>
              <a:solidFill>
                <a:srgbClr val="000000"/>
              </a:solidFill>
              <a:effectLst/>
              <a:uLnTx/>
              <a:uFillTx/>
              <a:latin typeface="Segoe Sans Text"/>
              <a:ea typeface="+mn-ea"/>
              <a:cs typeface="+mn-cs"/>
            </a:endParaRPr>
          </a:p>
        </p:txBody>
      </p:sp>
      <p:sp>
        <p:nvSpPr>
          <p:cNvPr id="3" name="Title 1">
            <a:extLst>
              <a:ext uri="{FF2B5EF4-FFF2-40B4-BE49-F238E27FC236}">
                <a16:creationId xmlns:a16="http://schemas.microsoft.com/office/drawing/2014/main" id="{72BEFB0A-6D12-F258-4A56-B6B89D713970}"/>
              </a:ext>
            </a:extLst>
          </p:cNvPr>
          <p:cNvSpPr txBox="1">
            <a:spLocks noGrp="1"/>
          </p:cNvSpPr>
          <p:nvPr>
            <p:ph type="title" idx="4294967295"/>
          </p:nvPr>
        </p:nvSpPr>
        <p:spPr>
          <a:xfrm>
            <a:off x="588963" y="315692"/>
            <a:ext cx="8671915" cy="6771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rPr>
              <a:t>Analytics</a:t>
            </a:r>
            <a:br>
              <a:rPr kumimoji="0" lang="en-US" sz="2800" b="0" i="0" u="none" strike="noStrike" kern="1200" cap="none" spc="-50" normalizeH="0" baseline="0" noProof="0" dirty="0">
                <a:ln w="3175">
                  <a:noFill/>
                </a:ln>
                <a:solidFill>
                  <a:schemeClr val="tx2"/>
                </a:solidFill>
                <a:effectLst/>
                <a:uLnTx/>
                <a:uFillTx/>
                <a:latin typeface="+mj-lt"/>
                <a:ea typeface="+mn-ea"/>
                <a:cs typeface="Segoe Sans Text" pitchFamily="2" charset="0"/>
              </a:rPr>
            </a:br>
            <a:r>
              <a:rPr kumimoji="0" lang="en-US" sz="1600" b="0" i="0" u="none" strike="noStrike" kern="1200" cap="none" spc="0" normalizeH="0" baseline="0" noProof="0" dirty="0">
                <a:ln>
                  <a:noFill/>
                </a:ln>
                <a:solidFill>
                  <a:srgbClr val="000000"/>
                </a:solidFill>
                <a:effectLst/>
                <a:uLnTx/>
                <a:uFillTx/>
                <a:latin typeface="Segoe Sans Text Semibold"/>
                <a:ea typeface="+mn-ea"/>
                <a:cs typeface="+mn-cs"/>
              </a:rPr>
              <a:t>Synapse Migration Scope</a:t>
            </a:r>
            <a:endParaRPr kumimoji="0" lang="en-US" sz="1600" b="0" i="0" u="none" strike="noStrike" kern="1200" cap="none" spc="-50" normalizeH="0" baseline="0" noProof="0" dirty="0">
              <a:ln w="3175">
                <a:noFill/>
              </a:ln>
              <a:solidFill>
                <a:schemeClr val="tx2"/>
              </a:solidFill>
              <a:effectLst/>
              <a:uLnTx/>
              <a:uFillTx/>
              <a:latin typeface="+mj-lt"/>
              <a:ea typeface="+mn-ea"/>
              <a:cs typeface="Segoe Sans Text" pitchFamily="2" charset="0"/>
            </a:endParaRPr>
          </a:p>
        </p:txBody>
      </p:sp>
      <p:sp>
        <p:nvSpPr>
          <p:cNvPr id="14" name="Rounded Rectangle 55">
            <a:extLst>
              <a:ext uri="{FF2B5EF4-FFF2-40B4-BE49-F238E27FC236}">
                <a16:creationId xmlns:a16="http://schemas.microsoft.com/office/drawing/2014/main" id="{78C48EE4-638E-B9BC-34F0-CA0C8CDB5966}"/>
              </a:ext>
              <a:ext uri="{C183D7F6-B498-43B3-948B-1728B52AA6E4}">
                <adec:decorative xmlns:adec="http://schemas.microsoft.com/office/drawing/2017/decorative" val="1"/>
              </a:ext>
            </a:extLst>
          </p:cNvPr>
          <p:cNvSpPr>
            <a:spLocks/>
          </p:cNvSpPr>
          <p:nvPr/>
        </p:nvSpPr>
        <p:spPr bwMode="auto">
          <a:xfrm>
            <a:off x="6152452" y="1260965"/>
            <a:ext cx="5453761" cy="5179592"/>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16" name="Rounded Rectangle 55">
            <a:extLst>
              <a:ext uri="{FF2B5EF4-FFF2-40B4-BE49-F238E27FC236}">
                <a16:creationId xmlns:a16="http://schemas.microsoft.com/office/drawing/2014/main" id="{C2FF1B81-7AAF-097A-5DCD-77E35D5F210C}"/>
              </a:ext>
              <a:ext uri="{C183D7F6-B498-43B3-948B-1728B52AA6E4}">
                <adec:decorative xmlns:adec="http://schemas.microsoft.com/office/drawing/2017/decorative" val="1"/>
              </a:ext>
            </a:extLst>
          </p:cNvPr>
          <p:cNvSpPr>
            <a:spLocks/>
          </p:cNvSpPr>
          <p:nvPr/>
        </p:nvSpPr>
        <p:spPr bwMode="auto">
          <a:xfrm>
            <a:off x="586740" y="1260965"/>
            <a:ext cx="5453761" cy="5179592"/>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0" name="TextBox 19">
            <a:extLst>
              <a:ext uri="{FF2B5EF4-FFF2-40B4-BE49-F238E27FC236}">
                <a16:creationId xmlns:a16="http://schemas.microsoft.com/office/drawing/2014/main" id="{470FCB09-E78A-0F85-856B-4426E2D05A79}"/>
              </a:ext>
            </a:extLst>
          </p:cNvPr>
          <p:cNvSpPr txBox="1"/>
          <p:nvPr/>
        </p:nvSpPr>
        <p:spPr>
          <a:xfrm>
            <a:off x="680403"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2" name="TextBox 21">
            <a:extLst>
              <a:ext uri="{FF2B5EF4-FFF2-40B4-BE49-F238E27FC236}">
                <a16:creationId xmlns:a16="http://schemas.microsoft.com/office/drawing/2014/main" id="{2C6CA6C4-615E-84CB-A117-6BD355A92EF4}"/>
              </a:ext>
            </a:extLst>
          </p:cNvPr>
          <p:cNvSpPr txBox="1"/>
          <p:nvPr/>
        </p:nvSpPr>
        <p:spPr>
          <a:xfrm>
            <a:off x="1028173" y="1786465"/>
            <a:ext cx="4910328" cy="80534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Offerings:</a:t>
            </a:r>
          </a:p>
          <a:p>
            <a:pPr marL="200025" lvl="0" indent="-133350">
              <a:spcAft>
                <a:spcPts val="400"/>
              </a:spcAft>
              <a:buFont typeface="Arial" panose="020B0604020202020204" pitchFamily="34" charset="0"/>
              <a:buChar char="•"/>
              <a:tabLst>
                <a:tab pos="171450" algn="l"/>
              </a:tabLst>
              <a:defRPr/>
            </a:pPr>
            <a:r>
              <a:rPr lang="en-US" sz="1000" kern="0" dirty="0">
                <a:solidFill>
                  <a:srgbClr val="000000"/>
                </a:solidFill>
                <a:latin typeface="Segoe Sans Text"/>
              </a:rPr>
              <a:t>Synapse SQL Pool – Fabric Warehouse</a:t>
            </a:r>
          </a:p>
          <a:p>
            <a:pPr marL="200025" lvl="0" indent="-133350">
              <a:spcAft>
                <a:spcPts val="400"/>
              </a:spcAft>
              <a:buFont typeface="Arial" panose="020B0604020202020204" pitchFamily="34" charset="0"/>
              <a:buChar char="•"/>
              <a:tabLst>
                <a:tab pos="171450" algn="l"/>
              </a:tabLst>
              <a:defRPr/>
            </a:pPr>
            <a:r>
              <a:rPr lang="en-US" sz="1000" kern="0" dirty="0">
                <a:solidFill>
                  <a:srgbClr val="000000"/>
                </a:solidFill>
                <a:latin typeface="Segoe Sans Text"/>
              </a:rPr>
              <a:t>Synapse Spark to Fabric Spark</a:t>
            </a:r>
          </a:p>
          <a:p>
            <a:pPr marL="200025" lvl="0" indent="-133350">
              <a:spcAft>
                <a:spcPts val="400"/>
              </a:spcAft>
              <a:buFont typeface="Arial" panose="020B0604020202020204" pitchFamily="34" charset="0"/>
              <a:buChar char="•"/>
              <a:tabLst>
                <a:tab pos="171450" algn="l"/>
              </a:tabLst>
              <a:defRPr/>
            </a:pPr>
            <a:r>
              <a:rPr lang="en-US" sz="1000" kern="0" dirty="0">
                <a:solidFill>
                  <a:srgbClr val="000000"/>
                </a:solidFill>
                <a:latin typeface="Segoe Sans Text"/>
              </a:rPr>
              <a:t>Synapse Pipelines to Fabric Data Factory</a:t>
            </a:r>
          </a:p>
        </p:txBody>
      </p:sp>
      <p:sp>
        <p:nvSpPr>
          <p:cNvPr id="31" name="Oval 30">
            <a:extLst>
              <a:ext uri="{FF2B5EF4-FFF2-40B4-BE49-F238E27FC236}">
                <a16:creationId xmlns:a16="http://schemas.microsoft.com/office/drawing/2014/main" id="{702D744B-B4C9-8B2C-20D4-5A750FCF7E8B}"/>
              </a:ext>
            </a:extLst>
          </p:cNvPr>
          <p:cNvSpPr/>
          <p:nvPr/>
        </p:nvSpPr>
        <p:spPr bwMode="auto">
          <a:xfrm>
            <a:off x="775653" y="183753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2" name="Oval 31">
            <a:extLst>
              <a:ext uri="{FF2B5EF4-FFF2-40B4-BE49-F238E27FC236}">
                <a16:creationId xmlns:a16="http://schemas.microsoft.com/office/drawing/2014/main" id="{53F13202-C42D-C424-E8A0-B4FA963B6131}"/>
              </a:ext>
            </a:extLst>
          </p:cNvPr>
          <p:cNvSpPr/>
          <p:nvPr/>
        </p:nvSpPr>
        <p:spPr bwMode="auto">
          <a:xfrm>
            <a:off x="748079" y="278924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4" name="Oval 33">
            <a:extLst>
              <a:ext uri="{FF2B5EF4-FFF2-40B4-BE49-F238E27FC236}">
                <a16:creationId xmlns:a16="http://schemas.microsoft.com/office/drawing/2014/main" id="{2A218F7E-2649-645F-0111-D6DE29A5B82D}"/>
              </a:ext>
            </a:extLst>
          </p:cNvPr>
          <p:cNvSpPr/>
          <p:nvPr/>
        </p:nvSpPr>
        <p:spPr bwMode="auto">
          <a:xfrm>
            <a:off x="748079" y="48147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8" name="Straight Connector 47">
            <a:extLst>
              <a:ext uri="{FF2B5EF4-FFF2-40B4-BE49-F238E27FC236}">
                <a16:creationId xmlns:a16="http://schemas.microsoft.com/office/drawing/2014/main" id="{26772FA3-4AD2-458A-7884-837B83B93B11}"/>
              </a:ext>
              <a:ext uri="{C183D7F6-B498-43B3-948B-1728B52AA6E4}">
                <adec:decorative xmlns:adec="http://schemas.microsoft.com/office/drawing/2017/decorative" val="1"/>
              </a:ext>
            </a:extLst>
          </p:cNvPr>
          <p:cNvCxnSpPr>
            <a:cxnSpLocks/>
          </p:cNvCxnSpPr>
          <p:nvPr/>
        </p:nvCxnSpPr>
        <p:spPr>
          <a:xfrm>
            <a:off x="1068768" y="268415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6D2F4A2-E422-91FC-7FEC-09845BE38535}"/>
              </a:ext>
              <a:ext uri="{C183D7F6-B498-43B3-948B-1728B52AA6E4}">
                <adec:decorative xmlns:adec="http://schemas.microsoft.com/office/drawing/2017/decorative" val="1"/>
              </a:ext>
            </a:extLst>
          </p:cNvPr>
          <p:cNvCxnSpPr>
            <a:cxnSpLocks/>
          </p:cNvCxnSpPr>
          <p:nvPr/>
        </p:nvCxnSpPr>
        <p:spPr>
          <a:xfrm>
            <a:off x="1028173" y="470013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96E17A5-F558-F947-EAAB-986A4C2D1CBD}"/>
              </a:ext>
            </a:extLst>
          </p:cNvPr>
          <p:cNvSpPr txBox="1"/>
          <p:nvPr/>
        </p:nvSpPr>
        <p:spPr>
          <a:xfrm>
            <a:off x="6240716"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Partner / Customer - Led</a:t>
            </a:r>
          </a:p>
        </p:txBody>
      </p:sp>
      <p:sp>
        <p:nvSpPr>
          <p:cNvPr id="19" name="TextBox 18">
            <a:extLst>
              <a:ext uri="{FF2B5EF4-FFF2-40B4-BE49-F238E27FC236}">
                <a16:creationId xmlns:a16="http://schemas.microsoft.com/office/drawing/2014/main" id="{7B163345-1664-258A-E612-253759D30A32}"/>
              </a:ext>
            </a:extLst>
          </p:cNvPr>
          <p:cNvSpPr txBox="1"/>
          <p:nvPr/>
        </p:nvSpPr>
        <p:spPr>
          <a:xfrm>
            <a:off x="6438627" y="1786465"/>
            <a:ext cx="6974558" cy="3710696"/>
          </a:xfrm>
          <a:prstGeom prst="rect">
            <a:avLst/>
          </a:prstGeom>
          <a:noFill/>
        </p:spPr>
        <p:txBody>
          <a:bodyPr wrap="square" lIns="91440" tIns="45720" rIns="91440" bIns="45720" anchor="t">
            <a:spAutoFit/>
          </a:bodyPr>
          <a:lstStyle/>
          <a:p>
            <a:pPr>
              <a:spcAft>
                <a:spcPts val="200"/>
              </a:spcAft>
              <a:defRPr/>
            </a:pPr>
            <a:r>
              <a:rPr lang="en-US" sz="1400" kern="0" noProof="0" dirty="0">
                <a:latin typeface="Segoe Sans Text Semibold"/>
              </a:rPr>
              <a:t>Architecture:</a:t>
            </a:r>
          </a:p>
          <a:p>
            <a:pPr marL="233363" lvl="1" indent="-138113">
              <a:spcAft>
                <a:spcPts val="200"/>
              </a:spcAft>
              <a:buFont typeface="Arial" panose="020B0604020202020204" pitchFamily="34" charset="0"/>
              <a:buChar char="•"/>
              <a:defRPr/>
            </a:pPr>
            <a:r>
              <a:rPr lang="en-US" sz="1000" kern="0" noProof="0" dirty="0">
                <a:latin typeface="Segoe Sans Text"/>
              </a:rPr>
              <a:t>Re-architecture or architecture evaluation</a:t>
            </a:r>
          </a:p>
          <a:p>
            <a:pPr marL="233363" lvl="1" indent="-138113">
              <a:spcAft>
                <a:spcPts val="200"/>
              </a:spcAft>
              <a:buFont typeface="Arial" panose="020B0604020202020204" pitchFamily="34" charset="0"/>
              <a:buChar char="•"/>
              <a:defRPr/>
            </a:pPr>
            <a:r>
              <a:rPr lang="en-US" sz="1000" kern="0" noProof="0" dirty="0">
                <a:latin typeface="Segoe Sans Text"/>
              </a:rPr>
              <a:t>Capacity sizing and cost estimation activities</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Performance tuning and optimization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Performance testing and tuning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Performance benchmarking</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Environment prep/config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Capacity sizing and provisioning</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VM setup /Gateway install</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Network Config</a:t>
            </a: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DevOps/Integrations</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1000" kern="0" noProof="0" dirty="0">
                <a:latin typeface="Segoe Sans Text"/>
              </a:rPr>
              <a:t>CI/CD setup and testing </a:t>
            </a:r>
          </a:p>
          <a:p>
            <a:pPr marL="233363" marR="0" lvl="1" indent="-138113" fontAlgn="auto">
              <a:lnSpc>
                <a:spcPct val="100000"/>
              </a:lnSpc>
              <a:spcBef>
                <a:spcPts val="0"/>
              </a:spcBef>
              <a:spcAft>
                <a:spcPts val="200"/>
              </a:spcAft>
              <a:buClrTx/>
              <a:buSzTx/>
              <a:buFont typeface="Arial" panose="020B0604020202020204" pitchFamily="34" charset="0"/>
              <a:buChar char="•"/>
              <a:tabLst/>
              <a:defRPr/>
            </a:pPr>
            <a:r>
              <a:rPr lang="en-US" sz="1000" kern="0" noProof="0" dirty="0">
                <a:latin typeface="Segoe Sans Text"/>
              </a:rPr>
              <a:t>Testing and configuring upstream/downstream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effectLst/>
              <a:uLnTx/>
              <a:uFillTx/>
              <a:latin typeface="Aptos" panose="020B0004020202020204" pitchFamily="34" charset="0"/>
              <a:ea typeface="+mn-ea"/>
              <a:cs typeface="+mn-cs"/>
            </a:endParaRPr>
          </a:p>
          <a:p>
            <a:pPr marR="0" lvl="0" indent="0" fontAlgn="auto">
              <a:lnSpc>
                <a:spcPct val="115000"/>
              </a:lnSpc>
              <a:spcBef>
                <a:spcPts val="50"/>
              </a:spcBef>
              <a:spcAft>
                <a:spcPts val="200"/>
              </a:spcAft>
              <a:buClrTx/>
              <a:buSzTx/>
              <a:buFontTx/>
              <a:buNone/>
              <a:tabLst/>
              <a:defRPr/>
            </a:pPr>
            <a:r>
              <a:rPr lang="en-US" sz="1400" kern="0" noProof="0" dirty="0">
                <a:latin typeface="Segoe Sans Text Semibold"/>
              </a:rPr>
              <a:t>Post Migration Operation</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On going DR/Backup/Monitoring support</a:t>
            </a:r>
          </a:p>
          <a:p>
            <a:pPr marL="233363" marR="0" lvl="1" indent="-138113" fontAlgn="auto">
              <a:lnSpc>
                <a:spcPct val="115000"/>
              </a:lnSpc>
              <a:spcBef>
                <a:spcPts val="0"/>
              </a:spcBef>
              <a:spcAft>
                <a:spcPts val="200"/>
              </a:spcAft>
              <a:buClrTx/>
              <a:buSzTx/>
              <a:buFont typeface="Arial" panose="020B0604020202020204" pitchFamily="34" charset="0"/>
              <a:buChar char="•"/>
              <a:tabLst>
                <a:tab pos="457200" algn="l"/>
              </a:tabLst>
              <a:defRPr/>
            </a:pPr>
            <a:r>
              <a:rPr lang="en-US" sz="1000" kern="0" noProof="0" dirty="0">
                <a:latin typeface="Segoe Sans Text"/>
              </a:rPr>
              <a:t>Cost optimization and FinOps</a:t>
            </a:r>
          </a:p>
        </p:txBody>
      </p:sp>
      <p:cxnSp>
        <p:nvCxnSpPr>
          <p:cNvPr id="2" name="Straight Connector 1">
            <a:extLst>
              <a:ext uri="{FF2B5EF4-FFF2-40B4-BE49-F238E27FC236}">
                <a16:creationId xmlns:a16="http://schemas.microsoft.com/office/drawing/2014/main" id="{99377226-AC3B-AD05-68A2-C007967C30C5}"/>
              </a:ext>
              <a:ext uri="{C183D7F6-B498-43B3-948B-1728B52AA6E4}">
                <adec:decorative xmlns:adec="http://schemas.microsoft.com/office/drawing/2017/decorative" val="1"/>
              </a:ext>
            </a:extLst>
          </p:cNvPr>
          <p:cNvCxnSpPr>
            <a:cxnSpLocks/>
          </p:cNvCxnSpPr>
          <p:nvPr/>
        </p:nvCxnSpPr>
        <p:spPr>
          <a:xfrm>
            <a:off x="6438627" y="468574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0C62387-05DE-D96F-30E0-7A4AF4FDAAE7}"/>
              </a:ext>
              <a:ext uri="{C183D7F6-B498-43B3-948B-1728B52AA6E4}">
                <adec:decorative xmlns:adec="http://schemas.microsoft.com/office/drawing/2017/decorative" val="1"/>
              </a:ext>
            </a:extLst>
          </p:cNvPr>
          <p:cNvCxnSpPr>
            <a:cxnSpLocks/>
          </p:cNvCxnSpPr>
          <p:nvPr/>
        </p:nvCxnSpPr>
        <p:spPr>
          <a:xfrm>
            <a:off x="6438627" y="401338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9B33EA8-CFE3-D6E6-75B7-7A1D65086A61}"/>
              </a:ext>
              <a:ext uri="{C183D7F6-B498-43B3-948B-1728B52AA6E4}">
                <adec:decorative xmlns:adec="http://schemas.microsoft.com/office/drawing/2017/decorative" val="1"/>
              </a:ext>
            </a:extLst>
          </p:cNvPr>
          <p:cNvCxnSpPr>
            <a:cxnSpLocks/>
          </p:cNvCxnSpPr>
          <p:nvPr/>
        </p:nvCxnSpPr>
        <p:spPr>
          <a:xfrm>
            <a:off x="6438627" y="313484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84D8BC5-1090-F9A8-76C4-2F5261FE1E5B}"/>
              </a:ext>
              <a:ext uri="{C183D7F6-B498-43B3-948B-1728B52AA6E4}">
                <adec:decorative xmlns:adec="http://schemas.microsoft.com/office/drawing/2017/decorative" val="1"/>
              </a:ext>
            </a:extLst>
          </p:cNvPr>
          <p:cNvCxnSpPr>
            <a:cxnSpLocks/>
          </p:cNvCxnSpPr>
          <p:nvPr/>
        </p:nvCxnSpPr>
        <p:spPr>
          <a:xfrm>
            <a:off x="6438627" y="245352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DFF2D11E-16AE-5EDD-5BB4-1CA19BF1767F}"/>
              </a:ext>
            </a:extLst>
          </p:cNvPr>
          <p:cNvSpPr/>
          <p:nvPr/>
        </p:nvSpPr>
        <p:spPr bwMode="auto">
          <a:xfrm>
            <a:off x="6289180" y="18758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Oval 9">
            <a:extLst>
              <a:ext uri="{FF2B5EF4-FFF2-40B4-BE49-F238E27FC236}">
                <a16:creationId xmlns:a16="http://schemas.microsoft.com/office/drawing/2014/main" id="{344B9D36-9620-B22F-3EF5-7C0F933EEB94}"/>
              </a:ext>
            </a:extLst>
          </p:cNvPr>
          <p:cNvSpPr/>
          <p:nvPr/>
        </p:nvSpPr>
        <p:spPr bwMode="auto">
          <a:xfrm>
            <a:off x="6283989" y="25123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6BF73C0F-CD27-FF25-0605-5C60908439A8}"/>
              </a:ext>
            </a:extLst>
          </p:cNvPr>
          <p:cNvSpPr/>
          <p:nvPr/>
        </p:nvSpPr>
        <p:spPr bwMode="auto">
          <a:xfrm>
            <a:off x="6283989" y="32033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Oval 16">
            <a:extLst>
              <a:ext uri="{FF2B5EF4-FFF2-40B4-BE49-F238E27FC236}">
                <a16:creationId xmlns:a16="http://schemas.microsoft.com/office/drawing/2014/main" id="{9CBAAB2E-4D4C-3AB9-4E2D-15F281B9646C}"/>
              </a:ext>
            </a:extLst>
          </p:cNvPr>
          <p:cNvSpPr/>
          <p:nvPr/>
        </p:nvSpPr>
        <p:spPr bwMode="auto">
          <a:xfrm>
            <a:off x="6283989" y="40637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1" name="Oval 20">
            <a:extLst>
              <a:ext uri="{FF2B5EF4-FFF2-40B4-BE49-F238E27FC236}">
                <a16:creationId xmlns:a16="http://schemas.microsoft.com/office/drawing/2014/main" id="{FD06780A-E685-001D-6AF5-5C992121B84F}"/>
              </a:ext>
            </a:extLst>
          </p:cNvPr>
          <p:cNvSpPr/>
          <p:nvPr/>
        </p:nvSpPr>
        <p:spPr bwMode="auto">
          <a:xfrm>
            <a:off x="6292728" y="488330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8BCF389C-44AD-753E-B82F-4A4B321C7BDF}"/>
              </a:ext>
            </a:extLst>
          </p:cNvPr>
          <p:cNvSpPr txBox="1"/>
          <p:nvPr/>
        </p:nvSpPr>
        <p:spPr>
          <a:xfrm>
            <a:off x="6326676" y="1622088"/>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24" name="TextBox 23">
            <a:extLst>
              <a:ext uri="{FF2B5EF4-FFF2-40B4-BE49-F238E27FC236}">
                <a16:creationId xmlns:a16="http://schemas.microsoft.com/office/drawing/2014/main" id="{53A39DEE-3978-00A5-2325-B9449A2E0D25}"/>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7" name="TextBox 6">
            <a:extLst>
              <a:ext uri="{FF2B5EF4-FFF2-40B4-BE49-F238E27FC236}">
                <a16:creationId xmlns:a16="http://schemas.microsoft.com/office/drawing/2014/main" id="{A0EC73F4-CA02-0677-E84C-A6B43A76D58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15" name="Oval 14">
            <a:extLst>
              <a:ext uri="{FF2B5EF4-FFF2-40B4-BE49-F238E27FC236}">
                <a16:creationId xmlns:a16="http://schemas.microsoft.com/office/drawing/2014/main" id="{0A33A8BF-FE52-1199-3DEA-AC659B4D0621}"/>
              </a:ext>
            </a:extLst>
          </p:cNvPr>
          <p:cNvSpPr/>
          <p:nvPr/>
        </p:nvSpPr>
        <p:spPr bwMode="auto">
          <a:xfrm>
            <a:off x="735874" y="57587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18" name="Straight Connector 17">
            <a:extLst>
              <a:ext uri="{FF2B5EF4-FFF2-40B4-BE49-F238E27FC236}">
                <a16:creationId xmlns:a16="http://schemas.microsoft.com/office/drawing/2014/main" id="{0040CD92-9F4A-94CD-798F-0973414E4D15}"/>
              </a:ext>
              <a:ext uri="{C183D7F6-B498-43B3-948B-1728B52AA6E4}">
                <adec:decorative xmlns:adec="http://schemas.microsoft.com/office/drawing/2017/decorative" val="1"/>
              </a:ext>
            </a:extLst>
          </p:cNvPr>
          <p:cNvCxnSpPr>
            <a:cxnSpLocks/>
          </p:cNvCxnSpPr>
          <p:nvPr/>
        </p:nvCxnSpPr>
        <p:spPr>
          <a:xfrm>
            <a:off x="1028173" y="570131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B3A4AAD-876C-4B09-9074-7276EA366F9D}"/>
              </a:ext>
            </a:extLst>
          </p:cNvPr>
          <p:cNvSpPr txBox="1"/>
          <p:nvPr/>
        </p:nvSpPr>
        <p:spPr>
          <a:xfrm>
            <a:off x="997190" y="4733656"/>
            <a:ext cx="4882394" cy="79508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How</a:t>
            </a:r>
          </a:p>
          <a:p>
            <a:pPr>
              <a:spcAft>
                <a:spcPts val="200"/>
              </a:spcAft>
              <a:defRPr/>
            </a:pPr>
            <a:r>
              <a:rPr lang="en-US" sz="1000" kern="0" dirty="0">
                <a:solidFill>
                  <a:srgbClr val="000000"/>
                </a:solidFill>
                <a:latin typeface="Segoe Sans Text"/>
              </a:rPr>
              <a:t>Using Factory approved 1</a:t>
            </a:r>
            <a:r>
              <a:rPr lang="en-US" sz="1000" kern="0" baseline="30000" dirty="0">
                <a:solidFill>
                  <a:srgbClr val="000000"/>
                </a:solidFill>
                <a:latin typeface="Segoe Sans Text"/>
              </a:rPr>
              <a:t>st</a:t>
            </a:r>
            <a:r>
              <a:rPr lang="en-US" sz="1000" kern="0" dirty="0">
                <a:solidFill>
                  <a:srgbClr val="000000"/>
                </a:solidFill>
                <a:latin typeface="Segoe Sans Text"/>
              </a:rPr>
              <a:t> party / 3</a:t>
            </a:r>
            <a:r>
              <a:rPr lang="en-US" sz="1000" kern="0" baseline="30000" dirty="0">
                <a:solidFill>
                  <a:srgbClr val="000000"/>
                </a:solidFill>
                <a:latin typeface="Segoe Sans Text"/>
              </a:rPr>
              <a:t>rd</a:t>
            </a:r>
            <a:r>
              <a:rPr lang="en-US" sz="1000" kern="0" dirty="0">
                <a:solidFill>
                  <a:srgbClr val="000000"/>
                </a:solidFill>
                <a:latin typeface="Segoe Sans Text"/>
              </a:rPr>
              <a:t> party / Community IP’s toolset to perform migration along with manual retrofitting using available workarounds for unsupported functions/code</a:t>
            </a:r>
          </a:p>
        </p:txBody>
      </p:sp>
    </p:spTree>
    <p:extLst>
      <p:ext uri="{BB962C8B-B14F-4D97-AF65-F5344CB8AC3E}">
        <p14:creationId xmlns:p14="http://schemas.microsoft.com/office/powerpoint/2010/main" val="2305176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F2ADB-7420-6319-533F-A9BCB560614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FC0DEB-C10C-F542-8974-C9A6F867145A}"/>
              </a:ext>
            </a:extLst>
          </p:cNvPr>
          <p:cNvSpPr>
            <a:spLocks noGrp="1"/>
          </p:cNvSpPr>
          <p:nvPr>
            <p:ph type="title"/>
          </p:nvPr>
        </p:nvSpPr>
        <p:spPr>
          <a:xfrm>
            <a:off x="588963" y="549201"/>
            <a:ext cx="5507037" cy="691305"/>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Fabric Lakehouse + DW migration</a:t>
            </a:r>
            <a:endParaRPr lang="en-US" sz="2800" noProof="0" dirty="0"/>
          </a:p>
        </p:txBody>
      </p:sp>
      <p:sp>
        <p:nvSpPr>
          <p:cNvPr id="18" name="Rounded Rectangle 55">
            <a:extLst>
              <a:ext uri="{FF2B5EF4-FFF2-40B4-BE49-F238E27FC236}">
                <a16:creationId xmlns:a16="http://schemas.microsoft.com/office/drawing/2014/main" id="{F4350396-405D-ACD9-EFBC-F234A965B6C6}"/>
              </a:ext>
              <a:ext uri="{C183D7F6-B498-43B3-948B-1728B52AA6E4}">
                <adec:decorative xmlns:adec="http://schemas.microsoft.com/office/drawing/2017/decorative" val="1"/>
              </a:ext>
            </a:extLst>
          </p:cNvPr>
          <p:cNvSpPr/>
          <p:nvPr/>
        </p:nvSpPr>
        <p:spPr bwMode="auto">
          <a:xfrm>
            <a:off x="624305" y="1627824"/>
            <a:ext cx="2413535" cy="434495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9" name="Content Placeholder 4">
            <a:extLst>
              <a:ext uri="{FF2B5EF4-FFF2-40B4-BE49-F238E27FC236}">
                <a16:creationId xmlns:a16="http://schemas.microsoft.com/office/drawing/2014/main" id="{988DA848-B170-538F-E92A-6DF1C5C2AD6C}"/>
              </a:ext>
            </a:extLst>
          </p:cNvPr>
          <p:cNvSpPr txBox="1">
            <a:spLocks/>
          </p:cNvSpPr>
          <p:nvPr/>
        </p:nvSpPr>
        <p:spPr>
          <a:xfrm>
            <a:off x="693274" y="2019808"/>
            <a:ext cx="2448877" cy="2621039"/>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150000"/>
              </a:lnSpc>
              <a:spcBef>
                <a:spcPts val="0"/>
              </a:spcBef>
              <a:spcAft>
                <a:spcPts val="600"/>
              </a:spcAft>
              <a:buFont typeface="Wingdings" panose="05000000000000000000" pitchFamily="2" charset="2"/>
              <a:buChar char="ü"/>
              <a:defRPr/>
            </a:pPr>
            <a:r>
              <a:rPr lang="en-US" sz="1100" noProof="0" dirty="0"/>
              <a:t>Migration to Lakehouse medallion architecture</a:t>
            </a:r>
          </a:p>
          <a:p>
            <a:pPr>
              <a:lnSpc>
                <a:spcPct val="150000"/>
              </a:lnSpc>
              <a:spcBef>
                <a:spcPts val="0"/>
              </a:spcBef>
              <a:spcAft>
                <a:spcPts val="600"/>
              </a:spcAft>
              <a:buFont typeface="Wingdings" panose="05000000000000000000" pitchFamily="2" charset="2"/>
              <a:buChar char="ü"/>
              <a:defRPr/>
            </a:pPr>
            <a:r>
              <a:rPr lang="en-US" sz="1100" noProof="0" dirty="0"/>
              <a:t>Power analytics with the Gold layer</a:t>
            </a:r>
          </a:p>
          <a:p>
            <a:pPr>
              <a:lnSpc>
                <a:spcPct val="150000"/>
              </a:lnSpc>
              <a:spcBef>
                <a:spcPts val="0"/>
              </a:spcBef>
              <a:spcAft>
                <a:spcPts val="600"/>
              </a:spcAft>
              <a:buFont typeface="Wingdings" panose="05000000000000000000" pitchFamily="2" charset="2"/>
              <a:buChar char="ü"/>
              <a:defRPr/>
            </a:pPr>
            <a:r>
              <a:rPr lang="en-US" sz="1100" noProof="0" dirty="0"/>
              <a:t>Synapse Dedicated Pool or SQL Server to Fabric DW</a:t>
            </a:r>
          </a:p>
          <a:p>
            <a:pPr>
              <a:lnSpc>
                <a:spcPct val="150000"/>
              </a:lnSpc>
              <a:spcBef>
                <a:spcPts val="0"/>
              </a:spcBef>
              <a:spcAft>
                <a:spcPts val="600"/>
              </a:spcAft>
              <a:buFont typeface="Wingdings" panose="05000000000000000000" pitchFamily="2" charset="2"/>
              <a:buChar char="ü"/>
              <a:defRPr/>
            </a:pPr>
            <a:r>
              <a:rPr lang="en-US" sz="1100" noProof="0" dirty="0"/>
              <a:t>Data Lake and other components required to setup the Lakehouse platform </a:t>
            </a:r>
          </a:p>
        </p:txBody>
      </p:sp>
      <p:sp>
        <p:nvSpPr>
          <p:cNvPr id="20" name="TextBox 19">
            <a:extLst>
              <a:ext uri="{FF2B5EF4-FFF2-40B4-BE49-F238E27FC236}">
                <a16:creationId xmlns:a16="http://schemas.microsoft.com/office/drawing/2014/main" id="{29B3B478-6CA6-5D15-6110-8C3C1D3C5E91}"/>
              </a:ext>
            </a:extLst>
          </p:cNvPr>
          <p:cNvSpPr txBox="1"/>
          <p:nvPr/>
        </p:nvSpPr>
        <p:spPr>
          <a:xfrm>
            <a:off x="687447" y="1690624"/>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6" name="TextBox 25">
            <a:extLst>
              <a:ext uri="{FF2B5EF4-FFF2-40B4-BE49-F238E27FC236}">
                <a16:creationId xmlns:a16="http://schemas.microsoft.com/office/drawing/2014/main" id="{8566A2B8-7069-8E44-2255-7A814AB6EC39}"/>
              </a:ext>
            </a:extLst>
          </p:cNvPr>
          <p:cNvSpPr txBox="1"/>
          <p:nvPr/>
        </p:nvSpPr>
        <p:spPr>
          <a:xfrm>
            <a:off x="3266642" y="1834472"/>
            <a:ext cx="8483600" cy="897682"/>
          </a:xfrm>
          <a:prstGeom prst="rect">
            <a:avLst/>
          </a:prstGeom>
          <a:noFill/>
        </p:spPr>
        <p:txBody>
          <a:bodyPr wrap="square">
            <a:spAutoFit/>
          </a:bodyPr>
          <a:lstStyle/>
          <a:p>
            <a:pPr marL="228600" lvl="1" indent="-228600">
              <a:buFont typeface="+mj-lt"/>
              <a:buAutoNum type="arabicPeriod"/>
              <a:defRPr/>
            </a:pPr>
            <a:r>
              <a:rPr lang="en-US" sz="1600" kern="0" noProof="0" dirty="0">
                <a:solidFill>
                  <a:schemeClr val="tx2"/>
                </a:solidFill>
                <a:latin typeface="+mj-lt"/>
              </a:rPr>
              <a:t>Synapse/on-premises SQL migration to Fabric DW</a:t>
            </a:r>
          </a:p>
          <a:p>
            <a:pPr marL="485775" lvl="1" indent="-161925" defTabSz="896386">
              <a:spcAft>
                <a:spcPts val="400"/>
              </a:spcAft>
              <a:buFont typeface="Arial" panose="020B0604020202020204" pitchFamily="34" charset="0"/>
              <a:buChar char="•"/>
              <a:defRPr/>
            </a:pPr>
            <a:r>
              <a:rPr lang="en-US" sz="1100" kern="0" noProof="0" dirty="0"/>
              <a:t>Assist with the deployment of Fabric Data Warehouse and perform migration.</a:t>
            </a:r>
          </a:p>
          <a:p>
            <a:pPr marL="485775" lvl="1" indent="-161925" defTabSz="896386">
              <a:spcAft>
                <a:spcPts val="400"/>
              </a:spcAft>
              <a:buFont typeface="Arial" panose="020B0604020202020204" pitchFamily="34" charset="0"/>
              <a:buChar char="•"/>
              <a:defRPr/>
            </a:pPr>
            <a:r>
              <a:rPr lang="en-US" sz="1100" kern="0" noProof="0" dirty="0"/>
              <a:t>Migrate Synapse Dedicated SQL pool/Azure SQL Database/managed instance/on-premises SQL to Fabric Data Warehouse which includes data and code migrations using first-party (1P) or third-party tool.</a:t>
            </a:r>
          </a:p>
        </p:txBody>
      </p:sp>
      <p:sp>
        <p:nvSpPr>
          <p:cNvPr id="27" name="TextBox 26">
            <a:extLst>
              <a:ext uri="{FF2B5EF4-FFF2-40B4-BE49-F238E27FC236}">
                <a16:creationId xmlns:a16="http://schemas.microsoft.com/office/drawing/2014/main" id="{EA791707-E43F-4808-DDB2-4705432A593A}"/>
              </a:ext>
            </a:extLst>
          </p:cNvPr>
          <p:cNvSpPr txBox="1"/>
          <p:nvPr/>
        </p:nvSpPr>
        <p:spPr>
          <a:xfrm>
            <a:off x="3266642" y="2898537"/>
            <a:ext cx="8483600" cy="1390124"/>
          </a:xfrm>
          <a:prstGeom prst="rect">
            <a:avLst/>
          </a:prstGeom>
          <a:noFill/>
        </p:spPr>
        <p:txBody>
          <a:bodyPr wrap="square">
            <a:spAutoFit/>
          </a:bodyPr>
          <a:lstStyle/>
          <a:p>
            <a:pPr marL="228600" lvl="1" indent="-228600">
              <a:spcBef>
                <a:spcPts val="600"/>
              </a:spcBef>
              <a:buFont typeface="+mj-lt"/>
              <a:buAutoNum type="arabicPeriod" startAt="2"/>
              <a:defRPr/>
            </a:pPr>
            <a:r>
              <a:rPr lang="en-US" sz="1600" kern="0" noProof="0" dirty="0">
                <a:solidFill>
                  <a:schemeClr val="tx2"/>
                </a:solidFill>
                <a:latin typeface="+mj-lt"/>
              </a:rPr>
              <a:t>Fabric Lakehouse:</a:t>
            </a:r>
          </a:p>
          <a:p>
            <a:pPr marL="485775" lvl="1" indent="-161925" defTabSz="896386">
              <a:spcAft>
                <a:spcPts val="400"/>
              </a:spcAft>
              <a:buFont typeface="Arial" panose="020B0604020202020204" pitchFamily="34" charset="0"/>
              <a:buChar char="•"/>
              <a:defRPr/>
            </a:pPr>
            <a:r>
              <a:rPr lang="en-US" sz="1100" kern="0" noProof="0" dirty="0"/>
              <a:t>Design, build, and deploy repeatable, low-to-no code changes and required data engineering pipelines into a Lakehouse. </a:t>
            </a:r>
          </a:p>
          <a:p>
            <a:pPr marL="485775" lvl="1" indent="-161925" defTabSz="896386">
              <a:spcAft>
                <a:spcPts val="400"/>
              </a:spcAft>
              <a:buFont typeface="Arial" panose="020B0604020202020204" pitchFamily="34" charset="0"/>
              <a:buChar char="•"/>
              <a:defRPr/>
            </a:pPr>
            <a:r>
              <a:rPr lang="en-US" sz="1100" kern="0" noProof="0" dirty="0"/>
              <a:t>Connect Microsoft Fabric to on premises and cloud-based data sources</a:t>
            </a:r>
          </a:p>
          <a:p>
            <a:pPr marL="485775" lvl="1" indent="-161925" defTabSz="896386">
              <a:spcAft>
                <a:spcPts val="400"/>
              </a:spcAft>
              <a:buFont typeface="Arial" panose="020B0604020202020204" pitchFamily="34" charset="0"/>
              <a:buChar char="•"/>
              <a:defRPr/>
            </a:pPr>
            <a:r>
              <a:rPr lang="en-US" sz="1100" kern="0" noProof="0" dirty="0"/>
              <a:t>Use Notebooks and pipelines to create, load, and transform Delta tables in a Fabric Lakehouse</a:t>
            </a:r>
          </a:p>
          <a:p>
            <a:pPr marL="485775" lvl="1" indent="-161925" defTabSz="896386">
              <a:spcAft>
                <a:spcPts val="400"/>
              </a:spcAft>
              <a:buFont typeface="Arial" panose="020B0604020202020204" pitchFamily="34" charset="0"/>
              <a:buChar char="•"/>
              <a:defRPr/>
            </a:pPr>
            <a:r>
              <a:rPr lang="en-US" sz="1100" kern="0" noProof="0" dirty="0"/>
              <a:t>Build preliminary Power BI report to demonstrate how visualizations and analytics can be built on top of the Lakehouse data</a:t>
            </a:r>
          </a:p>
          <a:p>
            <a:pPr marL="485775" lvl="1" indent="-161925" defTabSz="896386">
              <a:spcAft>
                <a:spcPts val="400"/>
              </a:spcAft>
              <a:buFont typeface="Arial" panose="020B0604020202020204" pitchFamily="34" charset="0"/>
              <a:buChar char="•"/>
              <a:defRPr/>
            </a:pPr>
            <a:r>
              <a:rPr lang="en-US" sz="1100" kern="0" noProof="0" dirty="0"/>
              <a:t>Optionally build Silver and/or Gold layer in Fabric DW</a:t>
            </a:r>
            <a:endParaRPr lang="en-US" sz="1200" kern="0" noProof="0" dirty="0"/>
          </a:p>
        </p:txBody>
      </p:sp>
      <p:sp>
        <p:nvSpPr>
          <p:cNvPr id="28" name="TextBox 27">
            <a:extLst>
              <a:ext uri="{FF2B5EF4-FFF2-40B4-BE49-F238E27FC236}">
                <a16:creationId xmlns:a16="http://schemas.microsoft.com/office/drawing/2014/main" id="{6BD19A03-1F0F-6A4B-00DE-1D2920243634}"/>
              </a:ext>
            </a:extLst>
          </p:cNvPr>
          <p:cNvSpPr txBox="1"/>
          <p:nvPr/>
        </p:nvSpPr>
        <p:spPr>
          <a:xfrm>
            <a:off x="3266642" y="4455044"/>
            <a:ext cx="8483600" cy="1118255"/>
          </a:xfrm>
          <a:prstGeom prst="rect">
            <a:avLst/>
          </a:prstGeom>
          <a:noFill/>
        </p:spPr>
        <p:txBody>
          <a:bodyPr wrap="square">
            <a:spAutoFit/>
          </a:bodyPr>
          <a:lstStyle/>
          <a:p>
            <a:pPr marL="228600" lvl="1" indent="-228600">
              <a:spcBef>
                <a:spcPts val="600"/>
              </a:spcBef>
              <a:buFont typeface="+mj-lt"/>
              <a:buAutoNum type="arabicPeriod" startAt="3"/>
              <a:defRPr/>
            </a:pPr>
            <a:r>
              <a:rPr lang="en-US" sz="1600" kern="0" noProof="0" dirty="0">
                <a:solidFill>
                  <a:schemeClr val="tx2"/>
                </a:solidFill>
                <a:latin typeface="+mj-lt"/>
              </a:rPr>
              <a:t>Supported sources: </a:t>
            </a:r>
          </a:p>
          <a:p>
            <a:pPr marL="485775" lvl="1" indent="-161925" defTabSz="896386">
              <a:spcAft>
                <a:spcPts val="400"/>
              </a:spcAft>
              <a:buFont typeface="Arial" panose="020B0604020202020204" pitchFamily="34" charset="0"/>
              <a:buChar char="•"/>
              <a:defRPr/>
            </a:pPr>
            <a:r>
              <a:rPr lang="en-US" sz="1100" kern="0" noProof="0" dirty="0"/>
              <a:t>Azure SQL DB and SQL MI; PostgreSQL; MySQL; Oracle; SQL Server (on-premises)</a:t>
            </a:r>
          </a:p>
          <a:p>
            <a:pPr marL="485775" lvl="1" indent="-161925" defTabSz="896386">
              <a:spcAft>
                <a:spcPts val="400"/>
              </a:spcAft>
              <a:buFont typeface="Arial" panose="020B0604020202020204" pitchFamily="34" charset="0"/>
              <a:buChar char="•"/>
              <a:defRPr/>
            </a:pPr>
            <a:r>
              <a:rPr lang="en-US" sz="1100" kern="0" noProof="0" dirty="0"/>
              <a:t>Synapse Dedicated SQL Pool; Synapse Serverless; Synapse Spark (Fabric Only); Cloudera (HDFS/Spark/Hive/Impala)</a:t>
            </a:r>
          </a:p>
          <a:p>
            <a:pPr marL="485775" lvl="1" indent="-161925" defTabSz="896386">
              <a:spcAft>
                <a:spcPts val="400"/>
              </a:spcAft>
              <a:buFont typeface="Arial" panose="020B0604020202020204" pitchFamily="34" charset="0"/>
              <a:buChar char="•"/>
              <a:defRPr/>
            </a:pPr>
            <a:r>
              <a:rPr lang="en-US" sz="1100" kern="0" noProof="0" dirty="0"/>
              <a:t>Flat Files; Hadoop; AWS Redshift; Google Big Query (Fabric Only); Fabric Shortcuts (Fabric Only); Event Hubs; Teradata; Snowflake*</a:t>
            </a:r>
          </a:p>
        </p:txBody>
      </p:sp>
      <p:sp>
        <p:nvSpPr>
          <p:cNvPr id="8" name="Graphic 23">
            <a:extLst>
              <a:ext uri="{FF2B5EF4-FFF2-40B4-BE49-F238E27FC236}">
                <a16:creationId xmlns:a16="http://schemas.microsoft.com/office/drawing/2014/main" id="{06F5855F-2D9B-1057-2D76-5D8370D0376F}"/>
              </a:ext>
              <a:ext uri="{C183D7F6-B498-43B3-948B-1728B52AA6E4}">
                <adec:decorative xmlns:adec="http://schemas.microsoft.com/office/drawing/2017/decorative" val="1"/>
              </a:ext>
            </a:extLst>
          </p:cNvPr>
          <p:cNvSpPr/>
          <p:nvPr/>
        </p:nvSpPr>
        <p:spPr>
          <a:xfrm>
            <a:off x="736758" y="2171128"/>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0" name="Graphic 23">
            <a:extLst>
              <a:ext uri="{FF2B5EF4-FFF2-40B4-BE49-F238E27FC236}">
                <a16:creationId xmlns:a16="http://schemas.microsoft.com/office/drawing/2014/main" id="{50080D8D-65C2-2057-6554-5B9045586D6B}"/>
              </a:ext>
              <a:ext uri="{C183D7F6-B498-43B3-948B-1728B52AA6E4}">
                <adec:decorative xmlns:adec="http://schemas.microsoft.com/office/drawing/2017/decorative" val="1"/>
              </a:ext>
            </a:extLst>
          </p:cNvPr>
          <p:cNvSpPr/>
          <p:nvPr/>
        </p:nvSpPr>
        <p:spPr>
          <a:xfrm>
            <a:off x="736758" y="2718331"/>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2" name="Graphic 23">
            <a:extLst>
              <a:ext uri="{FF2B5EF4-FFF2-40B4-BE49-F238E27FC236}">
                <a16:creationId xmlns:a16="http://schemas.microsoft.com/office/drawing/2014/main" id="{FD493E57-D877-59A4-2553-0DC8FBD6C80D}"/>
              </a:ext>
              <a:ext uri="{C183D7F6-B498-43B3-948B-1728B52AA6E4}">
                <adec:decorative xmlns:adec="http://schemas.microsoft.com/office/drawing/2017/decorative" val="1"/>
              </a:ext>
            </a:extLst>
          </p:cNvPr>
          <p:cNvSpPr/>
          <p:nvPr/>
        </p:nvSpPr>
        <p:spPr>
          <a:xfrm>
            <a:off x="747846" y="330365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Graphic 23">
            <a:extLst>
              <a:ext uri="{FF2B5EF4-FFF2-40B4-BE49-F238E27FC236}">
                <a16:creationId xmlns:a16="http://schemas.microsoft.com/office/drawing/2014/main" id="{252FAF42-8579-B538-E2A0-2B6C208B75DB}"/>
              </a:ext>
              <a:ext uri="{C183D7F6-B498-43B3-948B-1728B52AA6E4}">
                <adec:decorative xmlns:adec="http://schemas.microsoft.com/office/drawing/2017/decorative" val="1"/>
              </a:ext>
            </a:extLst>
          </p:cNvPr>
          <p:cNvSpPr/>
          <p:nvPr/>
        </p:nvSpPr>
        <p:spPr>
          <a:xfrm>
            <a:off x="736758" y="388898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13DA661B-7729-74F4-2EA9-9D32BF1326AC}"/>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3" name="Group 2">
            <a:extLst>
              <a:ext uri="{FF2B5EF4-FFF2-40B4-BE49-F238E27FC236}">
                <a16:creationId xmlns:a16="http://schemas.microsoft.com/office/drawing/2014/main" id="{A4F23398-0A16-3517-C06C-13CAC398967F}"/>
              </a:ext>
            </a:extLst>
          </p:cNvPr>
          <p:cNvGrpSpPr/>
          <p:nvPr/>
        </p:nvGrpSpPr>
        <p:grpSpPr>
          <a:xfrm>
            <a:off x="3142152" y="1627824"/>
            <a:ext cx="8531745" cy="4344959"/>
            <a:chOff x="3122613" y="2481106"/>
            <a:chExt cx="8521464" cy="4920648"/>
          </a:xfrm>
        </p:grpSpPr>
        <p:grpSp>
          <p:nvGrpSpPr>
            <p:cNvPr id="4" name="Group 3">
              <a:extLst>
                <a:ext uri="{FF2B5EF4-FFF2-40B4-BE49-F238E27FC236}">
                  <a16:creationId xmlns:a16="http://schemas.microsoft.com/office/drawing/2014/main" id="{1EC763B6-63F2-49E0-2A4A-BE03E5F31E8C}"/>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7" name="Rectangle: Rounded Corners 6">
                <a:extLst>
                  <a:ext uri="{FF2B5EF4-FFF2-40B4-BE49-F238E27FC236}">
                    <a16:creationId xmlns:a16="http://schemas.microsoft.com/office/drawing/2014/main" id="{E2A2DE8F-2142-C7E5-DAEE-86DB2F93502E}"/>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9" name="Rectangle: Rounded Corners 8">
                <a:extLst>
                  <a:ext uri="{FF2B5EF4-FFF2-40B4-BE49-F238E27FC236}">
                    <a16:creationId xmlns:a16="http://schemas.microsoft.com/office/drawing/2014/main" id="{28E0FA1E-593B-B910-E3B8-D31ECC4ECA13}"/>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5" name="Arrow: Bent 4">
              <a:extLst>
                <a:ext uri="{FF2B5EF4-FFF2-40B4-BE49-F238E27FC236}">
                  <a16:creationId xmlns:a16="http://schemas.microsoft.com/office/drawing/2014/main" id="{8E64E019-6852-4E3A-463F-0BC9AFC896E0}"/>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19211888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64DD3-E2B5-113D-D314-29A0779A582A}"/>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ABC17AF0-7541-B1D0-E6B3-EC4FB94255DE}"/>
              </a:ext>
              <a:ext uri="{C183D7F6-B498-43B3-948B-1728B52AA6E4}">
                <adec:decorative xmlns:adec="http://schemas.microsoft.com/office/drawing/2017/decorative" val="1"/>
              </a:ext>
            </a:extLst>
          </p:cNvPr>
          <p:cNvSpPr>
            <a:spLocks/>
          </p:cNvSpPr>
          <p:nvPr/>
        </p:nvSpPr>
        <p:spPr bwMode="auto">
          <a:xfrm>
            <a:off x="586740" y="1332955"/>
            <a:ext cx="11018520" cy="4828133"/>
          </a:xfrm>
          <a:prstGeom prst="roundRect">
            <a:avLst>
              <a:gd name="adj" fmla="val 37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6" name="Rectangle: Rounded Corners 16">
            <a:extLst>
              <a:ext uri="{FF2B5EF4-FFF2-40B4-BE49-F238E27FC236}">
                <a16:creationId xmlns:a16="http://schemas.microsoft.com/office/drawing/2014/main" id="{5F961F42-883D-0614-A2DE-D95D757C92E3}"/>
              </a:ext>
            </a:extLst>
          </p:cNvPr>
          <p:cNvSpPr/>
          <p:nvPr/>
        </p:nvSpPr>
        <p:spPr bwMode="auto">
          <a:xfrm>
            <a:off x="700089" y="1436191"/>
            <a:ext cx="10789920" cy="948872"/>
          </a:xfrm>
          <a:prstGeom prst="round2SameRect">
            <a:avLst>
              <a:gd name="adj1" fmla="val 13154"/>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3A093149-156E-7ED3-02C3-B3F5656E2548}"/>
              </a:ext>
            </a:extLst>
          </p:cNvPr>
          <p:cNvSpPr>
            <a:spLocks noGrp="1"/>
          </p:cNvSpPr>
          <p:nvPr>
            <p:ph type="title"/>
          </p:nvPr>
        </p:nvSpPr>
        <p:spPr>
          <a:xfrm>
            <a:off x="700089" y="800149"/>
            <a:ext cx="4608770" cy="434051"/>
          </a:xfrm>
        </p:spPr>
        <p:txBody>
          <a:bodyPr/>
          <a:lstStyle/>
          <a:p>
            <a:r>
              <a:rPr lang="en-US" sz="2800" noProof="0" dirty="0"/>
              <a:t>Fabric Migration Scenarios</a:t>
            </a:r>
          </a:p>
        </p:txBody>
      </p:sp>
      <p:graphicFrame>
        <p:nvGraphicFramePr>
          <p:cNvPr id="3" name="Table 2">
            <a:extLst>
              <a:ext uri="{FF2B5EF4-FFF2-40B4-BE49-F238E27FC236}">
                <a16:creationId xmlns:a16="http://schemas.microsoft.com/office/drawing/2014/main" id="{BEE7FB13-5208-39A5-6966-865097845658}"/>
              </a:ext>
            </a:extLst>
          </p:cNvPr>
          <p:cNvGraphicFramePr>
            <a:graphicFrameLocks noGrp="1"/>
          </p:cNvGraphicFramePr>
          <p:nvPr>
            <p:extLst>
              <p:ext uri="{D42A27DB-BD31-4B8C-83A1-F6EECF244321}">
                <p14:modId xmlns:p14="http://schemas.microsoft.com/office/powerpoint/2010/main" val="899346571"/>
              </p:ext>
            </p:extLst>
          </p:nvPr>
        </p:nvGraphicFramePr>
        <p:xfrm>
          <a:off x="755809" y="1436191"/>
          <a:ext cx="10791826" cy="4621660"/>
        </p:xfrm>
        <a:graphic>
          <a:graphicData uri="http://schemas.openxmlformats.org/drawingml/2006/table">
            <a:tbl>
              <a:tblPr firstRow="1" firstCol="1" bandRow="1">
                <a:effectLst>
                  <a:outerShdw blurRad="127000" algn="ctr" rotWithShape="0">
                    <a:srgbClr val="000000">
                      <a:alpha val="10000"/>
                    </a:srgbClr>
                  </a:outerShdw>
                </a:effectLst>
                <a:tableStyleId>{B301B821-A1FF-4177-AEE7-76D212191A09}</a:tableStyleId>
              </a:tblPr>
              <a:tblGrid>
                <a:gridCol w="1197460">
                  <a:extLst>
                    <a:ext uri="{9D8B030D-6E8A-4147-A177-3AD203B41FA5}">
                      <a16:colId xmlns:a16="http://schemas.microsoft.com/office/drawing/2014/main" val="2632810768"/>
                    </a:ext>
                  </a:extLst>
                </a:gridCol>
                <a:gridCol w="1830827">
                  <a:extLst>
                    <a:ext uri="{9D8B030D-6E8A-4147-A177-3AD203B41FA5}">
                      <a16:colId xmlns:a16="http://schemas.microsoft.com/office/drawing/2014/main" val="3581702336"/>
                    </a:ext>
                  </a:extLst>
                </a:gridCol>
                <a:gridCol w="2111582">
                  <a:extLst>
                    <a:ext uri="{9D8B030D-6E8A-4147-A177-3AD203B41FA5}">
                      <a16:colId xmlns:a16="http://schemas.microsoft.com/office/drawing/2014/main" val="604349641"/>
                    </a:ext>
                  </a:extLst>
                </a:gridCol>
                <a:gridCol w="3190553">
                  <a:extLst>
                    <a:ext uri="{9D8B030D-6E8A-4147-A177-3AD203B41FA5}">
                      <a16:colId xmlns:a16="http://schemas.microsoft.com/office/drawing/2014/main" val="757882097"/>
                    </a:ext>
                  </a:extLst>
                </a:gridCol>
                <a:gridCol w="2461404">
                  <a:extLst>
                    <a:ext uri="{9D8B030D-6E8A-4147-A177-3AD203B41FA5}">
                      <a16:colId xmlns:a16="http://schemas.microsoft.com/office/drawing/2014/main" val="2974976896"/>
                    </a:ext>
                  </a:extLst>
                </a:gridCol>
              </a:tblGrid>
              <a:tr h="949164">
                <a:tc gridSpan="2">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j-ea"/>
                          <a:cs typeface="+mj-cs"/>
                        </a:rPr>
                        <a:t>Migration scenario</a:t>
                      </a:r>
                    </a:p>
                  </a:txBody>
                  <a:tcPr marT="91440" marB="91440"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r>
                        <a:rPr lang="fr-FR"/>
                        <a:t>Name</a:t>
                      </a:r>
                      <a:endParaRPr lang="en-US"/>
                    </a:p>
                  </a:txBody>
                  <a:tcPr anchor="ctr"/>
                </a:tc>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j-ea"/>
                          <a:cs typeface="+mj-cs"/>
                        </a:rPr>
                        <a:t>Migration tooling</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j-ea"/>
                          <a:cs typeface="+mj-cs"/>
                        </a:rPr>
                        <a:t>Target architecture</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j-ea"/>
                          <a:cs typeface="+mj-cs"/>
                        </a:rPr>
                        <a:t>Code target</a:t>
                      </a:r>
                    </a:p>
                  </a:txBody>
                  <a:tcPr marT="91440" marB="91440"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8668818"/>
                  </a:ext>
                </a:extLst>
              </a:tr>
              <a:tr h="1836248">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algn="l">
                        <a:spcAft>
                          <a:spcPts val="600"/>
                        </a:spcAft>
                      </a:pPr>
                      <a:r>
                        <a:rPr lang="en-US" sz="1400" b="0" noProof="0" dirty="0">
                          <a:solidFill>
                            <a:schemeClr val="tx2"/>
                          </a:solidFill>
                          <a:latin typeface="+mj-lt"/>
                          <a:ea typeface="+mj-ea"/>
                          <a:cs typeface="+mj-cs"/>
                        </a:rPr>
                        <a:t>Scenario 1</a:t>
                      </a:r>
                    </a:p>
                  </a:txBody>
                  <a:tcPr marT="91440" marB="91440">
                    <a:lnL w="1270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lgn="l">
                        <a:spcAft>
                          <a:spcPts val="600"/>
                        </a:spcAft>
                        <a:buFontTx/>
                        <a:buNone/>
                      </a:pPr>
                      <a:r>
                        <a:rPr lang="en-US" sz="1400" noProof="0" dirty="0">
                          <a:solidFill>
                            <a:schemeClr val="tx1"/>
                          </a:solidFill>
                          <a:latin typeface="+mn-lt"/>
                          <a:ea typeface="+mn-ea"/>
                          <a:cs typeface="+mn-cs"/>
                        </a:rPr>
                        <a:t>Fabric Lakehouse</a:t>
                      </a:r>
                    </a:p>
                  </a:txBody>
                  <a:tcPr marT="91440" marB="91440">
                    <a:lnL w="190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400" b="0" kern="1200" noProof="0" dirty="0">
                          <a:solidFill>
                            <a:schemeClr val="tx1"/>
                          </a:solidFill>
                          <a:latin typeface="+mn-lt"/>
                          <a:ea typeface="+mn-ea"/>
                          <a:cs typeface="+mn-cs"/>
                        </a:rPr>
                        <a:t>Fabric Data Factory and Notebooks</a:t>
                      </a:r>
                    </a:p>
                  </a:txBody>
                  <a:tcPr marT="91440" marB="91440">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400"/>
                        </a:spcAft>
                        <a:buClrTx/>
                        <a:buSzTx/>
                        <a:buFontTx/>
                        <a:buNone/>
                        <a:tabLst/>
                        <a:defRPr/>
                      </a:pPr>
                      <a:r>
                        <a:rPr lang="en-US" sz="1400" b="0" kern="1200" noProof="0" dirty="0">
                          <a:solidFill>
                            <a:schemeClr val="tx1"/>
                          </a:solidFill>
                          <a:latin typeface="+mn-lt"/>
                          <a:ea typeface="+mn-ea"/>
                          <a:cs typeface="+mn-cs"/>
                        </a:rPr>
                        <a:t>Medallion</a:t>
                      </a:r>
                    </a:p>
                    <a:p>
                      <a:pPr marL="31750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b="0" kern="1200" noProof="0" dirty="0">
                          <a:solidFill>
                            <a:schemeClr val="tx1"/>
                          </a:solidFill>
                          <a:latin typeface="+mn-lt"/>
                          <a:ea typeface="+mn-ea"/>
                          <a:cs typeface="+mn-cs"/>
                        </a:rPr>
                        <a:t>Bronze = Lakehouse</a:t>
                      </a:r>
                    </a:p>
                    <a:p>
                      <a:pPr marL="31750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b="0" kern="1200" noProof="0" dirty="0">
                          <a:solidFill>
                            <a:schemeClr val="tx1"/>
                          </a:solidFill>
                          <a:latin typeface="+mn-lt"/>
                          <a:ea typeface="+mn-ea"/>
                          <a:cs typeface="+mn-cs"/>
                        </a:rPr>
                        <a:t>Silver = Lakehouse or Warehouse</a:t>
                      </a:r>
                    </a:p>
                    <a:p>
                      <a:pPr marL="31750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b="0" kern="1200" noProof="0" dirty="0">
                          <a:solidFill>
                            <a:schemeClr val="tx1"/>
                          </a:solidFill>
                          <a:latin typeface="+mn-lt"/>
                          <a:ea typeface="+mn-ea"/>
                          <a:cs typeface="+mn-cs"/>
                        </a:rPr>
                        <a:t>Gold = Lakehouse or Warehouse</a:t>
                      </a:r>
                    </a:p>
                  </a:txBody>
                  <a:tcPr marT="91440" marB="91440">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u="none" strike="noStrike" kern="1200" cap="none" spc="0" normalizeH="0" baseline="0" noProof="0" dirty="0">
                          <a:ln>
                            <a:noFill/>
                          </a:ln>
                          <a:solidFill>
                            <a:schemeClr val="tx1"/>
                          </a:solidFill>
                          <a:effectLst/>
                          <a:uLnTx/>
                          <a:uFillTx/>
                          <a:latin typeface="+mn-lt"/>
                          <a:ea typeface="+mn-ea"/>
                          <a:cs typeface="+mn-cs"/>
                        </a:rPr>
                        <a:t>Notebooks or Stored Procedure (if in Warehouse)</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T="91440" marB="91440">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6948736"/>
                  </a:ext>
                </a:extLst>
              </a:tr>
              <a:tr h="1836248">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spcAft>
                          <a:spcPts val="600"/>
                        </a:spcAft>
                      </a:pPr>
                      <a:r>
                        <a:rPr lang="en-US" sz="1400" b="0" kern="1200" noProof="0" dirty="0">
                          <a:solidFill>
                            <a:schemeClr val="tx2"/>
                          </a:solidFill>
                          <a:latin typeface="+mj-lt"/>
                          <a:ea typeface="+mj-ea"/>
                          <a:cs typeface="+mj-cs"/>
                        </a:rPr>
                        <a:t>Scenario 2</a:t>
                      </a:r>
                    </a:p>
                  </a:txBody>
                  <a:tcPr marT="91440" marB="91440">
                    <a:lnL w="1270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lgn="l">
                        <a:spcAft>
                          <a:spcPts val="600"/>
                        </a:spcAft>
                        <a:buFontTx/>
                        <a:buNone/>
                      </a:pPr>
                      <a:r>
                        <a:rPr lang="en-US" sz="1400" noProof="0" dirty="0">
                          <a:solidFill>
                            <a:schemeClr val="tx1"/>
                          </a:solidFill>
                          <a:latin typeface="+mn-lt"/>
                          <a:ea typeface="+mn-ea"/>
                          <a:cs typeface="+mn-cs"/>
                        </a:rPr>
                        <a:t>Fabric Warehouse</a:t>
                      </a:r>
                    </a:p>
                  </a:txBody>
                  <a:tcPr marT="91440" marB="91440">
                    <a:lnL w="190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400" b="0" noProof="0" dirty="0">
                          <a:solidFill>
                            <a:schemeClr val="tx1"/>
                          </a:solidFill>
                          <a:latin typeface="+mn-lt"/>
                          <a:ea typeface="+mn-ea"/>
                          <a:cs typeface="+mn-cs"/>
                        </a:rPr>
                        <a:t>Warehouse Migration Assistant or External Toolkit</a:t>
                      </a:r>
                      <a:endParaRPr kumimoji="0" lang="en-US" sz="1400" b="0" i="1" u="none" strike="noStrike" kern="1200" cap="none" spc="0" normalizeH="0" baseline="0" noProof="0" dirty="0">
                        <a:ln>
                          <a:noFill/>
                        </a:ln>
                        <a:solidFill>
                          <a:schemeClr val="tx1"/>
                        </a:solidFill>
                        <a:effectLst/>
                        <a:uLnTx/>
                        <a:uFillTx/>
                        <a:latin typeface="+mn-lt"/>
                        <a:ea typeface="+mn-ea"/>
                        <a:cs typeface="+mn-cs"/>
                      </a:endParaRPr>
                    </a:p>
                  </a:txBody>
                  <a:tcPr marT="91440" marB="91440">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400" b="0" noProof="0" dirty="0">
                          <a:solidFill>
                            <a:schemeClr val="tx1"/>
                          </a:solidFill>
                          <a:latin typeface="+mn-lt"/>
                          <a:ea typeface="+mn-ea"/>
                          <a:cs typeface="+mn-cs"/>
                        </a:rPr>
                        <a:t>Fabric Warehouse</a:t>
                      </a:r>
                    </a:p>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Staging</a:t>
                      </a:r>
                    </a:p>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Production</a:t>
                      </a:r>
                    </a:p>
                  </a:txBody>
                  <a:tcPr marT="91440" marB="91440">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u="none" strike="noStrike" kern="1200" cap="none" spc="0" normalizeH="0" baseline="0" noProof="0" dirty="0">
                          <a:ln>
                            <a:noFill/>
                          </a:ln>
                          <a:solidFill>
                            <a:schemeClr val="tx1"/>
                          </a:solidFill>
                          <a:effectLst/>
                          <a:uLnTx/>
                          <a:uFillTx/>
                          <a:latin typeface="+mn-lt"/>
                          <a:ea typeface="+mn-ea"/>
                          <a:cs typeface="+mn-cs"/>
                        </a:rPr>
                        <a:t>Stored procedure, views and functions</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txBody>
                  <a:tcPr marT="91440" marB="91440">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443283"/>
                  </a:ext>
                </a:extLst>
              </a:tr>
            </a:tbl>
          </a:graphicData>
        </a:graphic>
      </p:graphicFrame>
      <p:sp>
        <p:nvSpPr>
          <p:cNvPr id="4" name="TextBox 3">
            <a:extLst>
              <a:ext uri="{FF2B5EF4-FFF2-40B4-BE49-F238E27FC236}">
                <a16:creationId xmlns:a16="http://schemas.microsoft.com/office/drawing/2014/main" id="{F581A9F8-7FDB-B903-D479-92D0FB2AF45E}"/>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931186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6396E-1E78-ED33-5854-ADCBACB30BA8}"/>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23D4F609-0EEF-89DA-EC88-0D64F8B0A753}"/>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F460B714-3EE6-C78B-A34D-605C7D6B1614}"/>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52156856-9977-5DC6-4D37-A7A52D6C19C2}"/>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4EF98F69-6D95-C2B4-3390-3B6A028DBC31}"/>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1115E775-34E4-76B1-C7B4-6270FA7A938E}"/>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A02CC09A-A6F0-EC5D-EC0F-B4D1ADC85BF4}"/>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42B68E07-9164-53A9-02AC-638195037453}"/>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BE11C533-CE42-A0FA-AD7B-46B231B4E5EF}"/>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8F36D055-DDA5-E079-DA85-48C70070EB25}"/>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BFF92460-75D7-E385-500A-248324692E41}"/>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ED3829F2-52F7-6D4C-D08F-F306EE654809}"/>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A687F8F4-227D-E214-D900-D7E152A0ED62}"/>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85D38039-0020-D6B0-B74D-8A54B1045692}"/>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63192C69-3264-3B4E-638B-6FE3AAF0B1F3}"/>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4D2244C3-AF94-900E-3F04-E05CC1216ED4}"/>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93D3BAF0-11CC-0637-51AE-C0E660292503}"/>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49CC72E2-DBFD-3BE9-139F-B9B47AF83A2B}"/>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4ACB1821-BA79-C378-4E3E-EDB842B2B0B5}"/>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61E749B4-D8AA-4DC4-2A8C-885E9174358D}"/>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ED1DE993-9B75-0CBB-8B61-CE54D633720C}"/>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69FDBD52-951D-851E-1577-AA89ADCA281D}"/>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ACE49EFC-CD59-1F74-45A2-AD6CDD7B2BBE}"/>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6F297FFE-6F31-C170-4616-EB498EC3D770}"/>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7F890EBD-714B-A883-D667-A973B4C3C03F}"/>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3ABC9FEE-6317-F9A9-F9F9-15ACF07BE256}"/>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19C13EE9-C68A-AF4F-BC50-1FE97669CFAE}"/>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6D0D2FF3-520C-AF98-E807-9A8DE7D0D2C8}"/>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987CB171-F52E-3577-3349-4F7BA2FF9E18}"/>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BA92C5F0-AED9-98B0-87A5-FD5A80A9F3DB}"/>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BA045A54-0668-67F9-6B2D-02C87BD7D04D}"/>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4E067004-3CD0-6354-3820-05F2B2B63185}"/>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2614DB6A-C5FE-B715-551C-203D80ED1383}"/>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BC6BFA2A-C26F-4827-A1FA-9D1213E319FD}"/>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03F3C051-E8BD-D0E5-A6E0-B68B5A4CDD23}"/>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938F1A02-7121-0195-12AA-675CE3384646}"/>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6A96EC0A-F66E-8D30-10CF-9A1207939F40}"/>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0870F789-70A1-5D37-8DD7-21ED5048D241}"/>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4B58ACDB-9F18-58FD-3758-F2089369CA90}"/>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EA0FC583-938C-4D69-0825-FA675139AE3F}"/>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7" name="TextBox 136">
            <a:extLst>
              <a:ext uri="{FF2B5EF4-FFF2-40B4-BE49-F238E27FC236}">
                <a16:creationId xmlns:a16="http://schemas.microsoft.com/office/drawing/2014/main" id="{5C592F21-1BE0-9EC3-F3B6-8195894B8E94}"/>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2AAE0529-2827-FA4D-CBA7-C97D0A0B18C4}"/>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A9910DF2-3759-201E-2B3E-F272F92FC83D}"/>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8FFDBDA4-81C1-8816-73AB-49302C1207EC}"/>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3D1CCFF7-2062-EB22-36FA-B28FBB70D295}"/>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DD48E285-4AE6-B5C9-7DEF-23B6AA6E7F4B}"/>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CA21D3C2-4F61-47A0-0E7D-80A556E4CA73}"/>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A7C45D2D-91B1-680A-AF1B-DD6053CACA05}"/>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A4B33353-92E6-A14E-5B24-E558D99A60F5}"/>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AF7C627E-1992-D086-D89C-E58AEBE606D6}"/>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31F13F82-D0BC-32CA-F0D4-BB1A6A9E2848}"/>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A35720C4-812E-CB93-6CEC-517CAB34A5C1}"/>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7050B393-457A-7A9E-8C1C-E22ADA65A18D}"/>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FBC548EC-FA22-AD75-4DD8-565853C8E04E}"/>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45E16BF5-E46A-92F5-BBAD-0BF59432F99E}"/>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D24A293A-4A2D-98A7-CB66-95B79F9887BD}"/>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4F778ACD-1BFD-94E7-720C-4D565C2BC569}"/>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4F0533AB-3176-A3EC-A2B1-CA61989B4C8D}"/>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EFDC2004-BD2A-72D6-63DE-4E87E0728598}"/>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62352E8F-21C5-1290-CD69-753536E930BE}"/>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9962348B-71E7-656A-6356-BB04B39B1C80}"/>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8E196750-AB89-E909-19E6-E907AE313BB0}"/>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E41296FB-2041-DEFE-E2DA-1A98A18028C9}"/>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AB09C512-A03B-1064-8674-2390D9C009A1}"/>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EFE1D5AB-4D70-0A84-5D31-37896D79681E}"/>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13" name="Title 61">
            <a:extLst>
              <a:ext uri="{FF2B5EF4-FFF2-40B4-BE49-F238E27FC236}">
                <a16:creationId xmlns:a16="http://schemas.microsoft.com/office/drawing/2014/main" id="{78E8DF2E-7371-0C7E-7D28-1190F4A1C93D}"/>
              </a:ext>
            </a:extLst>
          </p:cNvPr>
          <p:cNvSpPr txBox="1">
            <a:spLocks/>
          </p:cNvSpPr>
          <p:nvPr/>
        </p:nvSpPr>
        <p:spPr>
          <a:xfrm>
            <a:off x="419100" y="419100"/>
            <a:ext cx="3162300" cy="2400657"/>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a:t>
            </a:r>
            <a:r>
              <a:rPr lang="en-US" sz="3000" noProof="0" dirty="0">
                <a:solidFill>
                  <a:schemeClr val="bg1"/>
                </a:solidFill>
                <a:latin typeface="+mn-lt"/>
              </a:rPr>
              <a:t>Analytics—Fabric Lakehouse + DW Migration</a:t>
            </a:r>
          </a:p>
        </p:txBody>
      </p:sp>
      <p:sp>
        <p:nvSpPr>
          <p:cNvPr id="17" name="TextBox 16">
            <a:extLst>
              <a:ext uri="{FF2B5EF4-FFF2-40B4-BE49-F238E27FC236}">
                <a16:creationId xmlns:a16="http://schemas.microsoft.com/office/drawing/2014/main" id="{498503A8-81DA-B622-9809-143B4EEDBE50}"/>
              </a:ext>
            </a:extLst>
          </p:cNvPr>
          <p:cNvSpPr txBox="1"/>
          <p:nvPr/>
        </p:nvSpPr>
        <p:spPr>
          <a:xfrm>
            <a:off x="4658838" y="2860150"/>
            <a:ext cx="1454762" cy="307777"/>
          </a:xfrm>
          <a:prstGeom prst="rect">
            <a:avLst/>
          </a:prstGeom>
          <a:noFill/>
        </p:spPr>
        <p:txBody>
          <a:bodyPr wrap="squar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defRPr/>
            </a:pPr>
            <a:r>
              <a:rPr lang="en-US" sz="1000" noProof="0" dirty="0"/>
              <a:t>Scope of Lakehouse/DW for migration</a:t>
            </a:r>
          </a:p>
        </p:txBody>
      </p:sp>
      <p:sp>
        <p:nvSpPr>
          <p:cNvPr id="21" name="TextBox 20">
            <a:extLst>
              <a:ext uri="{FF2B5EF4-FFF2-40B4-BE49-F238E27FC236}">
                <a16:creationId xmlns:a16="http://schemas.microsoft.com/office/drawing/2014/main" id="{6F140364-D837-49B1-994D-3B9B3A9A03AA}"/>
              </a:ext>
            </a:extLst>
          </p:cNvPr>
          <p:cNvSpPr txBox="1"/>
          <p:nvPr/>
        </p:nvSpPr>
        <p:spPr>
          <a:xfrm>
            <a:off x="9113239" y="5412985"/>
            <a:ext cx="1442703"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t>Lakehouse/DW migration</a:t>
            </a:r>
          </a:p>
        </p:txBody>
      </p:sp>
      <p:sp>
        <p:nvSpPr>
          <p:cNvPr id="24" name="TextBox 23">
            <a:extLst>
              <a:ext uri="{FF2B5EF4-FFF2-40B4-BE49-F238E27FC236}">
                <a16:creationId xmlns:a16="http://schemas.microsoft.com/office/drawing/2014/main" id="{26F0C678-5250-1C9C-BF60-918272C084B6}"/>
              </a:ext>
              <a:ext uri="{C183D7F6-B498-43B3-948B-1728B52AA6E4}">
                <adec:decorative xmlns:adec="http://schemas.microsoft.com/office/drawing/2017/decorative" val="1"/>
              </a:ext>
            </a:extLst>
          </p:cNvPr>
          <p:cNvSpPr txBox="1"/>
          <p:nvPr/>
        </p:nvSpPr>
        <p:spPr>
          <a:xfrm>
            <a:off x="7860965" y="5236281"/>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lgn="l">
              <a:defRPr/>
            </a:pPr>
            <a:r>
              <a:rPr lang="en-US" sz="1000" noProof="0" dirty="0"/>
              <a:t>Dev-test-deploy</a:t>
            </a:r>
          </a:p>
          <a:p>
            <a:pPr lvl="0" algn="l">
              <a:defRPr/>
            </a:pPr>
            <a:r>
              <a:rPr lang="en-US" sz="1000" noProof="0" dirty="0"/>
              <a:t>scoped workloads</a:t>
            </a:r>
          </a:p>
        </p:txBody>
      </p:sp>
      <p:sp>
        <p:nvSpPr>
          <p:cNvPr id="25" name="TextBox 24">
            <a:extLst>
              <a:ext uri="{FF2B5EF4-FFF2-40B4-BE49-F238E27FC236}">
                <a16:creationId xmlns:a16="http://schemas.microsoft.com/office/drawing/2014/main" id="{5C780833-D62D-0EB2-2D98-61A81830A764}"/>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28643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6" presetClass="emph" presetSubtype="0" fill="hold" grpId="1" nodeType="withEffect">
                                  <p:stCondLst>
                                    <p:cond delay="0"/>
                                  </p:stCondLst>
                                  <p:childTnLst>
                                    <p:animScale>
                                      <p:cBhvr>
                                        <p:cTn id="9" dur="100" fill="hold"/>
                                        <p:tgtEl>
                                          <p:spTgt spid="2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5" grpId="2"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8909E-A9D4-5785-B8F5-8C679312B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927F6-F3F7-9363-B1A8-979497F5045A}"/>
              </a:ext>
            </a:extLst>
          </p:cNvPr>
          <p:cNvSpPr>
            <a:spLocks noGrp="1"/>
          </p:cNvSpPr>
          <p:nvPr>
            <p:ph type="title"/>
          </p:nvPr>
        </p:nvSpPr>
        <p:spPr>
          <a:xfrm>
            <a:off x="585215" y="1685162"/>
            <a:ext cx="10230635" cy="1846659"/>
          </a:xfrm>
        </p:spPr>
        <p:txBody>
          <a:bodyPr/>
          <a:lstStyle/>
          <a:p>
            <a:r>
              <a:rPr lang="en-US" noProof="0" dirty="0"/>
              <a:t>Cloud Accelerate Factory </a:t>
            </a:r>
            <a:br>
              <a:rPr lang="en-US" noProof="0" dirty="0"/>
            </a:br>
            <a:r>
              <a:rPr lang="en-US" noProof="0" dirty="0">
                <a:solidFill>
                  <a:schemeClr val="tx1"/>
                </a:solidFill>
              </a:rPr>
              <a:t>Build a Unified, Governed Data, and AI Estate</a:t>
            </a:r>
            <a:endParaRPr lang="en-US" noProof="0" dirty="0"/>
          </a:p>
        </p:txBody>
      </p:sp>
      <p:sp>
        <p:nvSpPr>
          <p:cNvPr id="5" name="TextBox 4">
            <a:extLst>
              <a:ext uri="{FF2B5EF4-FFF2-40B4-BE49-F238E27FC236}">
                <a16:creationId xmlns:a16="http://schemas.microsoft.com/office/drawing/2014/main" id="{F890C6BF-1ED4-8BE7-A053-364C5D66DAD4}"/>
              </a:ext>
            </a:extLst>
          </p:cNvPr>
          <p:cNvSpPr txBox="1"/>
          <p:nvPr/>
        </p:nvSpPr>
        <p:spPr>
          <a:xfrm>
            <a:off x="585215" y="4173052"/>
            <a:ext cx="3987800" cy="758178"/>
          </a:xfrm>
          <a:prstGeom prst="roundRect">
            <a:avLst>
              <a:gd name="adj" fmla="val 45363"/>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Lakehouse – Azure Databricks</a:t>
            </a:r>
          </a:p>
          <a:p>
            <a:pPr algn="ctr"/>
            <a:r>
              <a:rPr lang="en-US" sz="1600" b="1" noProof="0" dirty="0"/>
              <a:t>Unity Catalog – Azure Databricks</a:t>
            </a:r>
          </a:p>
        </p:txBody>
      </p:sp>
      <p:sp>
        <p:nvSpPr>
          <p:cNvPr id="9" name="TextBox 8">
            <a:extLst>
              <a:ext uri="{FF2B5EF4-FFF2-40B4-BE49-F238E27FC236}">
                <a16:creationId xmlns:a16="http://schemas.microsoft.com/office/drawing/2014/main" id="{AF7C4E2A-97DB-F723-53FD-EF170B6E1166}"/>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4" name="Image 10" descr="Home (outlined)">
            <a:hlinkClick r:id="rId3" action="ppaction://hlinksldjump" tooltip="Home"/>
            <a:extLst>
              <a:ext uri="{FF2B5EF4-FFF2-40B4-BE49-F238E27FC236}">
                <a16:creationId xmlns:a16="http://schemas.microsoft.com/office/drawing/2014/main" id="{5E67B9A4-836B-AE99-EF2C-1DFB44B649C5}"/>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3115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6" presetClass="emph" presetSubtype="0" fill="hold" grpId="1" nodeType="withEffect">
                                  <p:stCondLst>
                                    <p:cond delay="0"/>
                                  </p:stCondLst>
                                  <p:childTnLst>
                                    <p:animScale>
                                      <p:cBhvr>
                                        <p:cTn id="16" dur="100" fill="hold"/>
                                        <p:tgtEl>
                                          <p:spTgt spid="9"/>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9"/>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9" grpId="0" animBg="1"/>
      <p:bldP spid="9" grpId="1" animBg="1"/>
      <p:bldP spid="9" grpId="2"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7A236-7C68-D387-9FBC-305030063227}"/>
            </a:ext>
          </a:extLst>
        </p:cNvPr>
        <p:cNvGrpSpPr/>
        <p:nvPr/>
      </p:nvGrpSpPr>
      <p:grpSpPr>
        <a:xfrm>
          <a:off x="0" y="0"/>
          <a:ext cx="0" cy="0"/>
          <a:chOff x="0" y="0"/>
          <a:chExt cx="0" cy="0"/>
        </a:xfrm>
      </p:grpSpPr>
      <p:sp>
        <p:nvSpPr>
          <p:cNvPr id="12" name="Rounded Rectangle 55">
            <a:extLst>
              <a:ext uri="{FF2B5EF4-FFF2-40B4-BE49-F238E27FC236}">
                <a16:creationId xmlns:a16="http://schemas.microsoft.com/office/drawing/2014/main" id="{B00F1FD2-DFAE-2D34-0F03-57AEB2D9F8AD}"/>
              </a:ext>
              <a:ext uri="{C183D7F6-B498-43B3-948B-1728B52AA6E4}">
                <adec:decorative xmlns:adec="http://schemas.microsoft.com/office/drawing/2017/decorative" val="1"/>
              </a:ext>
            </a:extLst>
          </p:cNvPr>
          <p:cNvSpPr/>
          <p:nvPr/>
        </p:nvSpPr>
        <p:spPr bwMode="auto">
          <a:xfrm>
            <a:off x="9154160" y="1247705"/>
            <a:ext cx="2448877" cy="5331715"/>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4" name="Rounded Rectangle 55">
            <a:extLst>
              <a:ext uri="{FF2B5EF4-FFF2-40B4-BE49-F238E27FC236}">
                <a16:creationId xmlns:a16="http://schemas.microsoft.com/office/drawing/2014/main" id="{DF0843E4-9B3D-2B7A-5943-06AA16124845}"/>
              </a:ext>
              <a:ext uri="{C183D7F6-B498-43B3-948B-1728B52AA6E4}">
                <adec:decorative xmlns:adec="http://schemas.microsoft.com/office/drawing/2017/decorative" val="1"/>
              </a:ext>
            </a:extLst>
          </p:cNvPr>
          <p:cNvSpPr/>
          <p:nvPr/>
        </p:nvSpPr>
        <p:spPr bwMode="auto">
          <a:xfrm>
            <a:off x="588961" y="1247705"/>
            <a:ext cx="8443279" cy="5331715"/>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5FAE966D-7AAA-3240-0E25-8C22B1E7BB7D}"/>
              </a:ext>
            </a:extLst>
          </p:cNvPr>
          <p:cNvSpPr>
            <a:spLocks noGrp="1"/>
          </p:cNvSpPr>
          <p:nvPr>
            <p:ph type="title"/>
          </p:nvPr>
        </p:nvSpPr>
        <p:spPr>
          <a:xfrm>
            <a:off x="588961" y="471489"/>
            <a:ext cx="4596495"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Analytics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Azure Databricks Lakehouse</a:t>
            </a:r>
            <a:endParaRPr lang="en-US" sz="2800" noProof="0" dirty="0"/>
          </a:p>
        </p:txBody>
      </p:sp>
      <p:sp>
        <p:nvSpPr>
          <p:cNvPr id="20" name="TextBox 19">
            <a:extLst>
              <a:ext uri="{FF2B5EF4-FFF2-40B4-BE49-F238E27FC236}">
                <a16:creationId xmlns:a16="http://schemas.microsoft.com/office/drawing/2014/main" id="{6682904F-D3B2-BAAF-0A27-92FD71FBE0B1}"/>
              </a:ext>
            </a:extLst>
          </p:cNvPr>
          <p:cNvSpPr txBox="1"/>
          <p:nvPr/>
        </p:nvSpPr>
        <p:spPr>
          <a:xfrm>
            <a:off x="674050" y="1302325"/>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6B9268B5-33B7-21BB-E0EC-411F7CB4AB42}"/>
              </a:ext>
            </a:extLst>
          </p:cNvPr>
          <p:cNvSpPr/>
          <p:nvPr/>
        </p:nvSpPr>
        <p:spPr>
          <a:xfrm>
            <a:off x="3834447"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99BE7496-B61F-3506-B97C-1E99F1891BDC}"/>
              </a:ext>
            </a:extLst>
          </p:cNvPr>
          <p:cNvSpPr txBox="1"/>
          <p:nvPr/>
        </p:nvSpPr>
        <p:spPr>
          <a:xfrm>
            <a:off x="9241631" y="1302325"/>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CCF69461-F8BC-BC76-C18D-2C6D8DC66BA2}"/>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3" name="Content Placeholder 4">
            <a:extLst>
              <a:ext uri="{FF2B5EF4-FFF2-40B4-BE49-F238E27FC236}">
                <a16:creationId xmlns:a16="http://schemas.microsoft.com/office/drawing/2014/main" id="{0E3682F0-C5BF-A809-B0E3-2A2AC5045E9C}"/>
              </a:ext>
            </a:extLst>
          </p:cNvPr>
          <p:cNvSpPr txBox="1">
            <a:spLocks/>
          </p:cNvSpPr>
          <p:nvPr/>
        </p:nvSpPr>
        <p:spPr>
          <a:xfrm>
            <a:off x="9154160" y="1579880"/>
            <a:ext cx="2448877" cy="5039328"/>
          </a:xfrm>
          <a:prstGeom prst="rect">
            <a:avLst/>
          </a:prstGeom>
        </p:spPr>
        <p:txBody>
          <a:bodyPr vert="horz" wrap="square" lIns="91440" tIns="91440" rIns="91440" bIns="73152"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endParaRPr lang="en-US" sz="500" noProof="0" dirty="0">
              <a:solidFill>
                <a:schemeClr val="dk1"/>
              </a:solidFill>
              <a:latin typeface="+mj-lt"/>
              <a:ea typeface="+mj-ea"/>
              <a:cs typeface="+mj-cs"/>
            </a:endParaRPr>
          </a:p>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0" indent="0">
              <a:spcBef>
                <a:spcPts val="0"/>
              </a:spcBef>
              <a:spcAft>
                <a:spcPts val="400"/>
              </a:spcAft>
              <a:buSzPct val="100000"/>
              <a:buNone/>
              <a:defRPr/>
            </a:pPr>
            <a:r>
              <a:rPr lang="en-US" sz="900" noProof="0" dirty="0">
                <a:ln w="3175">
                  <a:noFill/>
                </a:ln>
                <a:solidFill>
                  <a:prstClr val="black"/>
                </a:solidFill>
                <a:cs typeface="+mn-cs"/>
              </a:rPr>
              <a:t>Customer must provide Cloud Factory with contributor access to their data workspace (Databricks ) as it is necessary for developing the pipeline, notebooks, and other components. Additionally, access to Azure Data Factory should be provided if the customer wants to use it as the ETL tool. </a:t>
            </a:r>
          </a:p>
          <a:p>
            <a:pPr marL="0" indent="0">
              <a:spcBef>
                <a:spcPts val="0"/>
              </a:spcBef>
              <a:spcAft>
                <a:spcPts val="200"/>
              </a:spcAft>
              <a:buSzPct val="100000"/>
              <a:buNone/>
              <a:defRPr/>
            </a:pPr>
            <a:r>
              <a:rPr lang="en-US" sz="900" noProof="0" dirty="0">
                <a:ln w="3175">
                  <a:noFill/>
                </a:ln>
                <a:solidFill>
                  <a:prstClr val="black"/>
                </a:solidFill>
                <a:cs typeface="+mn-cs"/>
              </a:rPr>
              <a:t>Customer should provide:</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An established data source connection for each data source to be used in the migration</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A detailed list of objects to be moved to Azure Databricks, including tables with their schemas, frequency of data updates, load type (e.g., full load, incremental load) and approximate size of the data</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The customer is responsible for ensuring that valid data sources, are available for the migration process. Valid sources are Azure SQL DB, Azure SQL MI, ADLS Gen2, SQL Server, Oracle (on-premises), and Dedicated SQL Pool</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The customer is responsible for ensuring that stored procedures and transformation logic are available during the requirement gathering phase</a:t>
            </a:r>
          </a:p>
          <a:p>
            <a:pPr marL="203200" indent="-146050">
              <a:spcBef>
                <a:spcPts val="0"/>
              </a:spcBef>
              <a:spcAft>
                <a:spcPts val="400"/>
              </a:spcAft>
              <a:buSzPct val="100000"/>
              <a:buFont typeface="Arial" panose="020B0604020202020204" pitchFamily="34" charset="0"/>
              <a:buChar char="•"/>
              <a:defRPr/>
            </a:pPr>
            <a:r>
              <a:rPr lang="en-US" sz="800" noProof="0" dirty="0">
                <a:ln w="3175">
                  <a:noFill/>
                </a:ln>
                <a:solidFill>
                  <a:prstClr val="black"/>
                </a:solidFill>
                <a:cs typeface="+mn-cs"/>
              </a:rPr>
              <a:t>Internet bandwidth availability must meet minimum Factory requirements </a:t>
            </a:r>
          </a:p>
          <a:p>
            <a:pPr marL="0" indent="0">
              <a:spcBef>
                <a:spcPts val="0"/>
              </a:spcBef>
              <a:spcAft>
                <a:spcPts val="400"/>
              </a:spcAft>
              <a:buSzPct val="100000"/>
              <a:buNone/>
              <a:defRPr/>
            </a:pPr>
            <a:r>
              <a:rPr lang="en-US" sz="1000" i="1" noProof="0" dirty="0">
                <a:ln w="3175">
                  <a:noFill/>
                </a:ln>
                <a:solidFill>
                  <a:prstClr val="black"/>
                </a:solidFill>
                <a:latin typeface="+mj-lt"/>
                <a:cs typeface="+mn-cs"/>
              </a:rPr>
              <a:t>*Please reach out to the factory team for any questions on supported sources or scenarios</a:t>
            </a:r>
          </a:p>
        </p:txBody>
      </p:sp>
      <p:graphicFrame>
        <p:nvGraphicFramePr>
          <p:cNvPr id="6" name="Table 5" title="Exchange Online Technet Guidance">
            <a:extLst>
              <a:ext uri="{FF2B5EF4-FFF2-40B4-BE49-F238E27FC236}">
                <a16:creationId xmlns:a16="http://schemas.microsoft.com/office/drawing/2014/main" id="{1D4C360B-DD8F-35C2-7402-C065E1ACEF8F}"/>
              </a:ext>
            </a:extLst>
          </p:cNvPr>
          <p:cNvGraphicFramePr>
            <a:graphicFrameLocks noGrp="1"/>
          </p:cNvGraphicFramePr>
          <p:nvPr>
            <p:extLst>
              <p:ext uri="{D42A27DB-BD31-4B8C-83A1-F6EECF244321}">
                <p14:modId xmlns:p14="http://schemas.microsoft.com/office/powerpoint/2010/main" val="2386036267"/>
              </p:ext>
            </p:extLst>
          </p:nvPr>
        </p:nvGraphicFramePr>
        <p:xfrm>
          <a:off x="582929" y="1617980"/>
          <a:ext cx="8443279" cy="4864491"/>
        </p:xfrm>
        <a:graphic>
          <a:graphicData uri="http://schemas.openxmlformats.org/drawingml/2006/table">
            <a:tbl>
              <a:tblPr firstRow="1" bandRow="1">
                <a:tableStyleId>{5C22544A-7EE6-4342-B048-85BDC9FD1C3A}</a:tableStyleId>
              </a:tblPr>
              <a:tblGrid>
                <a:gridCol w="282938">
                  <a:extLst>
                    <a:ext uri="{9D8B030D-6E8A-4147-A177-3AD203B41FA5}">
                      <a16:colId xmlns:a16="http://schemas.microsoft.com/office/drawing/2014/main" val="920430407"/>
                    </a:ext>
                  </a:extLst>
                </a:gridCol>
                <a:gridCol w="8160341">
                  <a:extLst>
                    <a:ext uri="{9D8B030D-6E8A-4147-A177-3AD203B41FA5}">
                      <a16:colId xmlns:a16="http://schemas.microsoft.com/office/drawing/2014/main" val="125040094"/>
                    </a:ext>
                  </a:extLst>
                </a:gridCol>
              </a:tblGrid>
              <a:tr h="293686">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Lakehouse migration </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1118330">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scenario and scope:</a:t>
                      </a:r>
                      <a:r>
                        <a:rPr kumimoji="0" lang="en-US" sz="1000" b="0" i="0" u="none" strike="noStrike" kern="0" cap="none" spc="0" normalizeH="0" baseline="0" noProof="0" dirty="0">
                          <a:ln>
                            <a:noFill/>
                          </a:ln>
                          <a:solidFill>
                            <a:schemeClr val="tx1"/>
                          </a:solidFill>
                          <a:effectLst/>
                          <a:uLnTx/>
                          <a:uFillTx/>
                          <a:latin typeface="+mn-lt"/>
                          <a:ea typeface="+mn-ea"/>
                          <a:cs typeface="+mn-cs"/>
                        </a:rPr>
                        <a:t> Partnering with the customer and partner, Cloud Factory will determine data </a:t>
                      </a:r>
                      <a:br>
                        <a:rPr kumimoji="0" lang="en-US" sz="1000" b="0" i="0" u="none" strike="noStrike" kern="0" cap="none" spc="0" normalizeH="0" baseline="0" noProof="0" dirty="0">
                          <a:ln>
                            <a:noFill/>
                          </a:ln>
                          <a:solidFill>
                            <a:schemeClr val="tx1"/>
                          </a:solidFill>
                          <a:effectLst/>
                          <a:uLnTx/>
                          <a:uFillTx/>
                          <a:latin typeface="+mn-lt"/>
                          <a:ea typeface="+mn-ea"/>
                          <a:cs typeface="+mn-cs"/>
                        </a:rPr>
                      </a:br>
                      <a:r>
                        <a:rPr kumimoji="0" lang="en-US" sz="1000" b="0" i="0" u="none" strike="noStrike" kern="0" cap="none" spc="0" normalizeH="0" baseline="0" noProof="0" dirty="0">
                          <a:ln>
                            <a:noFill/>
                          </a:ln>
                          <a:solidFill>
                            <a:schemeClr val="tx1"/>
                          </a:solidFill>
                          <a:effectLst/>
                          <a:uLnTx/>
                          <a:uFillTx/>
                          <a:latin typeface="+mn-lt"/>
                          <a:ea typeface="+mn-ea"/>
                          <a:cs typeface="+mn-cs"/>
                        </a:rPr>
                        <a:t>sources, data size, complexity (with or without data transformation, 1-to-1 mapping, basic cleaning, stored procedure conversation, etc..) </a:t>
                      </a:r>
                      <a:endParaRPr kumimoji="0" lang="en-US" sz="1000" b="0" i="0" u="none" strike="noStrike" kern="0" cap="none" spc="0" normalizeH="0" baseline="0" noProof="0" dirty="0">
                        <a:ln>
                          <a:noFill/>
                        </a:ln>
                        <a:solidFill>
                          <a:schemeClr val="tx1"/>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Azure Databricks Lakehouse supported scenarios: </a:t>
                      </a:r>
                    </a:p>
                    <a:p>
                      <a:pPr marL="200025" marR="0" lvl="0" indent="-1206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Lakehouse – Databricks</a:t>
                      </a:r>
                    </a:p>
                    <a:p>
                      <a:pPr marL="200025" marR="0" lvl="0" indent="-1206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Unity Catalog upgrade</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3426128"/>
                  </a:ext>
                </a:extLst>
              </a:tr>
              <a:tr h="322804">
                <a:tc rowSpan="2">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the appropriate scenario</a:t>
                      </a:r>
                      <a:r>
                        <a:rPr kumimoji="0" lang="en-US" sz="1000" b="0" i="0" u="none" strike="noStrike" kern="0" cap="none" spc="0" normalizeH="0" baseline="0" noProof="0" dirty="0">
                          <a:ln>
                            <a:noFill/>
                          </a:ln>
                          <a:solidFill>
                            <a:schemeClr val="tx1"/>
                          </a:solidFill>
                          <a:effectLst/>
                          <a:uLnTx/>
                          <a:uFillTx/>
                          <a:latin typeface="+mn-lt"/>
                          <a:ea typeface="+mn-ea"/>
                          <a:cs typeface="+mn-cs"/>
                        </a:rPr>
                        <a:t>, based on the previous analysis and begin work as outlined below. Scope that </a:t>
                      </a:r>
                      <a:br>
                        <a:rPr kumimoji="0" lang="en-US" sz="1000" b="0" i="0" u="none" strike="noStrike" kern="0" cap="none" spc="0" normalizeH="0" baseline="0" noProof="0" dirty="0">
                          <a:ln>
                            <a:noFill/>
                          </a:ln>
                          <a:solidFill>
                            <a:schemeClr val="tx1"/>
                          </a:solidFill>
                          <a:effectLst/>
                          <a:uLnTx/>
                          <a:uFillTx/>
                          <a:latin typeface="+mn-lt"/>
                          <a:ea typeface="+mn-ea"/>
                          <a:cs typeface="+mn-cs"/>
                        </a:rPr>
                      </a:br>
                      <a:r>
                        <a:rPr kumimoji="0" lang="en-US" sz="1000" b="0" i="0" u="none" strike="noStrike" kern="0" cap="none" spc="0" normalizeH="0" baseline="0" noProof="0" dirty="0">
                          <a:ln>
                            <a:noFill/>
                          </a:ln>
                          <a:solidFill>
                            <a:schemeClr val="tx1"/>
                          </a:solidFill>
                          <a:effectLst/>
                          <a:uLnTx/>
                          <a:uFillTx/>
                          <a:latin typeface="+mn-lt"/>
                          <a:ea typeface="+mn-ea"/>
                          <a:cs typeface="+mn-cs"/>
                        </a:rPr>
                        <a:t>falls outside of the listed scenarios will need to be delivered by the customer or partner (data modeling, re-designing business logic, etc..).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385214"/>
                  </a:ext>
                </a:extLst>
              </a:tr>
              <a:tr h="1570564">
                <a:tc vMerge="1">
                  <a:txBody>
                    <a:bodyPr/>
                    <a:lstStyle/>
                    <a:p>
                      <a:pPr algn="ctr"/>
                      <a:endParaRPr lang="en-US" sz="1000" b="0">
                        <a:solidFill>
                          <a:srgbClr val="0078D7"/>
                        </a:solidFill>
                        <a:latin typeface="+mn-lt"/>
                      </a:endParaRPr>
                    </a:p>
                  </a:txBody>
                  <a:tcPr marL="64008" marR="64008" marT="64008" marB="64008">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200"/>
                        </a:spcAft>
                        <a:buNone/>
                      </a:pPr>
                      <a:r>
                        <a:rPr kumimoji="0" lang="en-US" sz="1000" b="0" i="0" u="none" strike="noStrike" kern="0" cap="none" spc="0" normalizeH="0" baseline="0" noProof="0" dirty="0">
                          <a:ln>
                            <a:noFill/>
                          </a:ln>
                          <a:solidFill>
                            <a:schemeClr val="tx1"/>
                          </a:solidFill>
                          <a:effectLst/>
                          <a:uLnTx/>
                          <a:uFillTx/>
                          <a:latin typeface="+mj-lt"/>
                        </a:rPr>
                        <a:t>Scenario—A </a:t>
                      </a:r>
                      <a:r>
                        <a:rPr lang="en-US" sz="1000" b="0" i="0" u="none" strike="noStrike" kern="0" cap="none" spc="0" normalizeH="0" baseline="0" noProof="0" dirty="0">
                          <a:ln>
                            <a:noFill/>
                          </a:ln>
                          <a:solidFill>
                            <a:schemeClr val="tx1"/>
                          </a:solidFill>
                          <a:effectLst/>
                          <a:uLnTx/>
                          <a:uFillTx/>
                          <a:latin typeface="+mj-lt"/>
                        </a:rPr>
                        <a:t>Medallion Architecture – New implementation</a:t>
                      </a:r>
                      <a:endParaRPr kumimoji="0" lang="en-US" sz="1000" b="0" i="0" u="none" strike="noStrike" kern="0" cap="none" spc="0" normalizeH="0" baseline="0" noProof="0" dirty="0">
                        <a:ln>
                          <a:noFill/>
                        </a:ln>
                        <a:solidFill>
                          <a:schemeClr val="tx1"/>
                        </a:solidFill>
                        <a:effectLst/>
                        <a:uLnTx/>
                        <a:uFillTx/>
                        <a:latin typeface="+mj-lt"/>
                      </a:endParaRPr>
                    </a:p>
                    <a:p>
                      <a:pPr marL="0" marR="0" lvl="0" indent="0" algn="l">
                        <a:lnSpc>
                          <a:spcPct val="100000"/>
                        </a:lnSpc>
                        <a:spcBef>
                          <a:spcPts val="0"/>
                        </a:spcBef>
                        <a:spcAft>
                          <a:spcPts val="600"/>
                        </a:spcAft>
                        <a:buNone/>
                      </a:pPr>
                      <a:r>
                        <a:rPr lang="en-US" sz="1000" b="0" i="0" u="none" strike="noStrike" kern="0" cap="none" spc="0" normalizeH="0" baseline="0" noProof="0" dirty="0">
                          <a:ln>
                            <a:noFill/>
                          </a:ln>
                          <a:solidFill>
                            <a:schemeClr val="tx1"/>
                          </a:solidFill>
                          <a:effectLst/>
                          <a:uLnTx/>
                          <a:uFillTx/>
                          <a:latin typeface="+mn-lt"/>
                        </a:rPr>
                        <a:t>Covers instance deployment, </a:t>
                      </a:r>
                      <a:r>
                        <a:rPr kumimoji="0" lang="en-US" sz="1000" b="0" i="0" u="none" strike="noStrike" kern="0" cap="none" spc="0" normalizeH="0" baseline="0" noProof="0" dirty="0">
                          <a:ln>
                            <a:noFill/>
                          </a:ln>
                          <a:solidFill>
                            <a:schemeClr val="tx1"/>
                          </a:solidFill>
                          <a:effectLst/>
                          <a:uLnTx/>
                          <a:uFillTx/>
                          <a:latin typeface="+mn-lt"/>
                        </a:rPr>
                        <a:t>Data ingestion </a:t>
                      </a:r>
                      <a:r>
                        <a:rPr lang="en-US" sz="1000" b="0" i="0" u="none" strike="noStrike" kern="0" cap="none" spc="0" normalizeH="0" baseline="0" noProof="0" dirty="0">
                          <a:ln>
                            <a:noFill/>
                          </a:ln>
                          <a:solidFill>
                            <a:schemeClr val="tx1"/>
                          </a:solidFill>
                          <a:effectLst/>
                          <a:uLnTx/>
                          <a:uFillTx/>
                          <a:latin typeface="+mn-lt"/>
                        </a:rPr>
                        <a:t>pipelines from supported sources </a:t>
                      </a:r>
                      <a:r>
                        <a:rPr kumimoji="0" lang="en-US" sz="1000" b="0" i="0" u="none" strike="noStrike" kern="0" cap="none" spc="0" normalizeH="0" baseline="0" noProof="0" dirty="0">
                          <a:ln>
                            <a:noFill/>
                          </a:ln>
                          <a:solidFill>
                            <a:schemeClr val="tx1"/>
                          </a:solidFill>
                          <a:effectLst/>
                          <a:uLnTx/>
                          <a:uFillTx/>
                          <a:latin typeface="+mn-lt"/>
                        </a:rPr>
                        <a:t>to </a:t>
                      </a:r>
                      <a:r>
                        <a:rPr lang="en-US" sz="1000" b="0" i="0" u="none" strike="noStrike" kern="0" cap="none" spc="0" normalizeH="0" baseline="0" noProof="0" dirty="0">
                          <a:ln>
                            <a:noFill/>
                          </a:ln>
                          <a:solidFill>
                            <a:schemeClr val="tx1"/>
                          </a:solidFill>
                          <a:effectLst/>
                          <a:uLnTx/>
                          <a:uFillTx/>
                          <a:latin typeface="+mn-lt"/>
                        </a:rPr>
                        <a:t>bronze</a:t>
                      </a:r>
                      <a:r>
                        <a:rPr kumimoji="0" lang="en-US" sz="1000" b="0" i="0" u="none" strike="noStrike" kern="0" cap="none" spc="0" normalizeH="0" baseline="0" noProof="0" dirty="0">
                          <a:ln>
                            <a:noFill/>
                          </a:ln>
                          <a:solidFill>
                            <a:schemeClr val="tx1"/>
                          </a:solidFill>
                          <a:effectLst/>
                          <a:uLnTx/>
                          <a:uFillTx/>
                          <a:latin typeface="+mn-lt"/>
                        </a:rPr>
                        <a:t>, </a:t>
                      </a:r>
                      <a:r>
                        <a:rPr lang="en-US" sz="1000" b="0" i="0" u="none" strike="noStrike" kern="0" cap="none" spc="0" normalizeH="0" baseline="0" noProof="0" dirty="0">
                          <a:ln>
                            <a:noFill/>
                          </a:ln>
                          <a:solidFill>
                            <a:schemeClr val="tx1"/>
                          </a:solidFill>
                          <a:effectLst/>
                          <a:uLnTx/>
                          <a:uFillTx/>
                          <a:latin typeface="+mn-lt"/>
                        </a:rPr>
                        <a:t>Transformations/integrations to Silver/Gold</a:t>
                      </a:r>
                      <a:endParaRPr kumimoji="0" lang="en-US" sz="1000" b="0" i="0" u="none" strike="noStrike" kern="0" cap="none" spc="0" normalizeH="0" baseline="0" noProof="0" dirty="0">
                        <a:ln>
                          <a:noFill/>
                        </a:ln>
                        <a:solidFill>
                          <a:schemeClr val="tx1"/>
                        </a:solidFill>
                        <a:effectLst/>
                        <a:uLnTx/>
                        <a:uFillTx/>
                        <a:latin typeface="+mn-lt"/>
                      </a:endParaRPr>
                    </a:p>
                    <a:p>
                      <a:pPr marL="0" marR="0" lvl="0" indent="0" algn="l">
                        <a:lnSpc>
                          <a:spcPct val="100000"/>
                        </a:lnSpc>
                        <a:spcBef>
                          <a:spcPts val="0"/>
                        </a:spcBef>
                        <a:spcAft>
                          <a:spcPts val="200"/>
                        </a:spcAft>
                        <a:buNone/>
                      </a:pPr>
                      <a:r>
                        <a:rPr kumimoji="0" lang="en-US" sz="1000" b="0" i="0" u="none" strike="noStrike" kern="0" cap="none" spc="0" normalizeH="0" baseline="0" noProof="0" dirty="0">
                          <a:ln>
                            <a:noFill/>
                          </a:ln>
                          <a:solidFill>
                            <a:schemeClr val="tx1"/>
                          </a:solidFill>
                          <a:effectLst/>
                          <a:uLnTx/>
                          <a:uFillTx/>
                          <a:latin typeface="+mj-lt"/>
                        </a:rPr>
                        <a:t>Scenario—B</a:t>
                      </a:r>
                      <a:r>
                        <a:rPr lang="en-US" sz="1000" b="0" i="0" u="none" strike="noStrike" kern="0" cap="none" spc="0" normalizeH="0" baseline="0" noProof="0" dirty="0">
                          <a:ln>
                            <a:noFill/>
                          </a:ln>
                          <a:solidFill>
                            <a:schemeClr val="tx1"/>
                          </a:solidFill>
                          <a:effectLst/>
                          <a:uLnTx/>
                          <a:uFillTx/>
                          <a:latin typeface="+mj-lt"/>
                        </a:rPr>
                        <a:t> Migration from a legacy warehouse/Lakehouse</a:t>
                      </a:r>
                    </a:p>
                    <a:p>
                      <a:pPr marL="0" marR="0" lvl="0" indent="0" algn="l">
                        <a:lnSpc>
                          <a:spcPct val="100000"/>
                        </a:lnSpc>
                        <a:spcBef>
                          <a:spcPts val="0"/>
                        </a:spcBef>
                        <a:spcAft>
                          <a:spcPts val="600"/>
                        </a:spcAft>
                        <a:buNone/>
                      </a:pPr>
                      <a:r>
                        <a:rPr lang="en-US" sz="1000" b="0" i="0" u="none" strike="noStrike" kern="0" cap="none" spc="0" normalizeH="0" baseline="0" noProof="0" dirty="0">
                          <a:ln>
                            <a:noFill/>
                          </a:ln>
                          <a:solidFill>
                            <a:schemeClr val="tx1"/>
                          </a:solidFill>
                          <a:effectLst/>
                          <a:uLnTx/>
                          <a:uFillTx/>
                          <a:latin typeface="+mn-lt"/>
                        </a:rPr>
                        <a:t>Covers lift and shift scenario from supported platforms for data and code conversion</a:t>
                      </a:r>
                    </a:p>
                    <a:p>
                      <a:pPr marL="0" marR="0" lvl="0" indent="0" algn="l">
                        <a:lnSpc>
                          <a:spcPct val="100000"/>
                        </a:lnSpc>
                        <a:spcBef>
                          <a:spcPts val="0"/>
                        </a:spcBef>
                        <a:spcAft>
                          <a:spcPts val="200"/>
                        </a:spcAft>
                        <a:buNone/>
                      </a:pPr>
                      <a:r>
                        <a:rPr lang="en-US" sz="1000" b="0" i="0" u="none" strike="noStrike" kern="0" cap="none" spc="0" normalizeH="0" baseline="0" noProof="0" dirty="0">
                          <a:ln>
                            <a:noFill/>
                          </a:ln>
                          <a:solidFill>
                            <a:schemeClr val="tx1"/>
                          </a:solidFill>
                          <a:effectLst/>
                          <a:uLnTx/>
                          <a:uFillTx/>
                          <a:latin typeface="+mj-lt"/>
                        </a:rPr>
                        <a:t>Scenario—C Medallion Architecture New use case for an existing Deployment</a:t>
                      </a:r>
                      <a:endParaRPr kumimoji="0" lang="en-US" sz="1000" b="0" i="0" u="none" strike="noStrike" kern="0" cap="none" spc="0" normalizeH="0" baseline="0" noProof="0" dirty="0">
                        <a:ln>
                          <a:noFill/>
                        </a:ln>
                        <a:solidFill>
                          <a:schemeClr val="tx1"/>
                        </a:solidFill>
                        <a:effectLst/>
                        <a:uLnTx/>
                        <a:uFillTx/>
                        <a:latin typeface="+mj-lt"/>
                      </a:endParaRPr>
                    </a:p>
                    <a:p>
                      <a:pPr marL="0" marR="0" lvl="0" indent="0" algn="l">
                        <a:lnSpc>
                          <a:spcPct val="100000"/>
                        </a:lnSpc>
                        <a:spcBef>
                          <a:spcPts val="0"/>
                        </a:spcBef>
                        <a:spcAft>
                          <a:spcPts val="600"/>
                        </a:spcAft>
                        <a:buNone/>
                      </a:pPr>
                      <a:r>
                        <a:rPr lang="en-US" sz="1000" b="0" i="0" u="none" strike="noStrike" kern="0" cap="none" spc="0" normalizeH="0" baseline="0" noProof="0" dirty="0">
                          <a:ln>
                            <a:noFill/>
                          </a:ln>
                          <a:solidFill>
                            <a:schemeClr val="tx1"/>
                          </a:solidFill>
                          <a:effectLst/>
                          <a:uLnTx/>
                          <a:uFillTx/>
                          <a:latin typeface="+mn-lt"/>
                        </a:rPr>
                        <a:t>Covers building data </a:t>
                      </a:r>
                      <a:r>
                        <a:rPr kumimoji="0" lang="en-US" sz="1000" b="0" i="0" u="none" strike="noStrike" kern="0" cap="none" spc="0" normalizeH="0" baseline="0" noProof="0" dirty="0">
                          <a:ln>
                            <a:noFill/>
                          </a:ln>
                          <a:solidFill>
                            <a:schemeClr val="tx1"/>
                          </a:solidFill>
                          <a:effectLst/>
                          <a:uLnTx/>
                          <a:uFillTx/>
                          <a:latin typeface="+mn-lt"/>
                        </a:rPr>
                        <a:t>ingestion </a:t>
                      </a:r>
                      <a:r>
                        <a:rPr lang="en-US" sz="1000" b="0" i="0" u="none" strike="noStrike" kern="0" cap="none" spc="0" normalizeH="0" baseline="0" noProof="0" dirty="0">
                          <a:ln>
                            <a:noFill/>
                          </a:ln>
                          <a:solidFill>
                            <a:schemeClr val="tx1"/>
                          </a:solidFill>
                          <a:effectLst/>
                          <a:uLnTx/>
                          <a:uFillTx/>
                          <a:latin typeface="+mn-lt"/>
                        </a:rPr>
                        <a:t>pipelines </a:t>
                      </a:r>
                      <a:r>
                        <a:rPr kumimoji="0" lang="en-US" sz="1000" b="0" i="0" u="none" strike="noStrike" kern="0" cap="none" spc="0" normalizeH="0" baseline="0" noProof="0" dirty="0">
                          <a:ln>
                            <a:noFill/>
                          </a:ln>
                          <a:solidFill>
                            <a:schemeClr val="tx1"/>
                          </a:solidFill>
                          <a:effectLst/>
                          <a:uLnTx/>
                          <a:uFillTx/>
                          <a:latin typeface="+mn-lt"/>
                        </a:rPr>
                        <a:t>from </a:t>
                      </a:r>
                      <a:r>
                        <a:rPr lang="en-US" sz="1000" b="0" i="0" u="none" strike="noStrike" kern="0" cap="none" spc="0" normalizeH="0" baseline="0" noProof="0" dirty="0">
                          <a:ln>
                            <a:noFill/>
                          </a:ln>
                          <a:solidFill>
                            <a:schemeClr val="tx1"/>
                          </a:solidFill>
                          <a:effectLst/>
                          <a:uLnTx/>
                          <a:uFillTx/>
                          <a:latin typeface="+mn-lt"/>
                        </a:rPr>
                        <a:t>supported sources </a:t>
                      </a:r>
                      <a:r>
                        <a:rPr kumimoji="0" lang="en-US" sz="1000" b="0" i="0" u="none" strike="noStrike" kern="0" cap="none" spc="0" normalizeH="0" baseline="0" noProof="0" dirty="0">
                          <a:ln>
                            <a:noFill/>
                          </a:ln>
                          <a:solidFill>
                            <a:schemeClr val="tx1"/>
                          </a:solidFill>
                          <a:effectLst/>
                          <a:uLnTx/>
                          <a:uFillTx/>
                          <a:latin typeface="+mn-lt"/>
                        </a:rPr>
                        <a:t>to </a:t>
                      </a:r>
                      <a:r>
                        <a:rPr lang="en-US" sz="1000" b="0" i="0" u="none" strike="noStrike" kern="0" cap="none" spc="0" normalizeH="0" baseline="0" noProof="0" dirty="0">
                          <a:ln>
                            <a:noFill/>
                          </a:ln>
                          <a:solidFill>
                            <a:schemeClr val="tx1"/>
                          </a:solidFill>
                          <a:effectLst/>
                          <a:uLnTx/>
                          <a:uFillTx/>
                          <a:latin typeface="+mn-lt"/>
                        </a:rPr>
                        <a:t>bronze, Transformations/integrations </a:t>
                      </a:r>
                      <a:r>
                        <a:rPr kumimoji="0" lang="en-US" sz="1000" b="0" i="0" u="none" strike="noStrike" kern="0" cap="none" spc="0" normalizeH="0" baseline="0" noProof="0" dirty="0">
                          <a:ln>
                            <a:noFill/>
                          </a:ln>
                          <a:solidFill>
                            <a:schemeClr val="tx1"/>
                          </a:solidFill>
                          <a:effectLst/>
                          <a:uLnTx/>
                          <a:uFillTx/>
                          <a:latin typeface="+mn-lt"/>
                        </a:rPr>
                        <a:t>to Silver</a:t>
                      </a:r>
                      <a:r>
                        <a:rPr lang="en-US" sz="1000" b="0" i="0" u="none" strike="noStrike" kern="0" cap="none" spc="0" normalizeH="0" baseline="0" noProof="0" dirty="0">
                          <a:ln>
                            <a:noFill/>
                          </a:ln>
                          <a:solidFill>
                            <a:schemeClr val="tx1"/>
                          </a:solidFill>
                          <a:effectLst/>
                          <a:uLnTx/>
                          <a:uFillTx/>
                          <a:latin typeface="+mn-lt"/>
                        </a:rPr>
                        <a:t>/Gold</a:t>
                      </a:r>
                    </a:p>
                    <a:p>
                      <a:pPr marL="0" marR="0" lvl="0" indent="0" algn="l">
                        <a:lnSpc>
                          <a:spcPct val="100000"/>
                        </a:lnSpc>
                        <a:spcBef>
                          <a:spcPts val="0"/>
                        </a:spcBef>
                        <a:spcAft>
                          <a:spcPts val="600"/>
                        </a:spcAft>
                        <a:buNone/>
                      </a:pPr>
                      <a:r>
                        <a:rPr lang="en-US" sz="1000" b="0" i="1" u="none" strike="noStrike" kern="0" cap="none" spc="0" normalizeH="0" baseline="0" noProof="0" dirty="0">
                          <a:ln>
                            <a:noFill/>
                          </a:ln>
                          <a:solidFill>
                            <a:schemeClr val="tx1"/>
                          </a:solidFill>
                          <a:effectLst/>
                          <a:uLnTx/>
                          <a:uFillTx/>
                          <a:latin typeface="+mj-lt"/>
                        </a:rPr>
                        <a:t>*Sizing and no of waves will be estimated in the initial scoping calls.</a:t>
                      </a:r>
                      <a:endParaRPr kumimoji="0" lang="en-US" sz="1000" b="0" noProof="0" dirty="0">
                        <a:solidFill>
                          <a:schemeClr val="tx1"/>
                        </a:solidFill>
                        <a:latin typeface="+mj-lt"/>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5318510"/>
                  </a:ext>
                </a:extLst>
              </a:tr>
              <a:tr h="301667">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2"/>
                          </a:solidFill>
                          <a:latin typeface="+mj-lt"/>
                          <a:ea typeface="+mn-ea"/>
                          <a:cs typeface="+mn-cs"/>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Handover </a:t>
                      </a:r>
                      <a:r>
                        <a:rPr kumimoji="0" lang="en-US" sz="1000" b="0" i="0" u="none" strike="noStrike" kern="0" cap="none" spc="0" normalizeH="0" baseline="0" noProof="0" dirty="0">
                          <a:ln>
                            <a:noFill/>
                          </a:ln>
                          <a:solidFill>
                            <a:schemeClr val="tx1"/>
                          </a:solidFill>
                          <a:effectLst/>
                          <a:uLnTx/>
                          <a:uFillTx/>
                          <a:latin typeface="+mn-lt"/>
                          <a:ea typeface="+mn-ea"/>
                          <a:cs typeface="+mn-cs"/>
                        </a:rPr>
                        <a:t>to Customer/ Partner/ISD for post migration activities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01988"/>
                  </a:ext>
                </a:extLst>
              </a:tr>
              <a:tr h="61291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a:rPr>
                        <a:t>attending checkpoint meetings; and implementing user communications, documentation, training, and change management. </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64008" marR="64008" marT="64008" marB="64008">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4550581"/>
                  </a:ext>
                </a:extLst>
              </a:tr>
              <a:tr h="453299">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dirty="0">
                          <a:ln>
                            <a:noFill/>
                          </a:ln>
                          <a:solidFill>
                            <a:schemeClr val="tx1"/>
                          </a:solidFill>
                          <a:effectLst/>
                          <a:uLnTx/>
                          <a:uFillTx/>
                          <a:latin typeface="+mn-lt"/>
                          <a:ea typeface="+mn-ea"/>
                          <a:cs typeface="+mn-cs"/>
                        </a:rPr>
                        <a:t>Estimated duration for completing all activities in a typical engagement is within 4 weeks per Scenario execution, when all the requirements are met, and Customer and Partner are ready for execution</a:t>
                      </a:r>
                    </a:p>
                  </a:txBody>
                  <a:tcPr>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684667060"/>
                  </a:ext>
                </a:extLst>
              </a:tr>
            </a:tbl>
          </a:graphicData>
        </a:graphic>
      </p:graphicFrame>
      <p:sp>
        <p:nvSpPr>
          <p:cNvPr id="2" name="TextBox 1">
            <a:extLst>
              <a:ext uri="{FF2B5EF4-FFF2-40B4-BE49-F238E27FC236}">
                <a16:creationId xmlns:a16="http://schemas.microsoft.com/office/drawing/2014/main" id="{7C1561AD-7C83-9276-E03C-DBADDA427FD5}"/>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40985897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0A34-C408-2A64-961F-926BAFA3E4F1}"/>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7CBF32F0-362C-15F9-F66B-1E4685A0C954}"/>
              </a:ext>
            </a:extLst>
          </p:cNvPr>
          <p:cNvSpPr txBox="1"/>
          <p:nvPr/>
        </p:nvSpPr>
        <p:spPr>
          <a:xfrm>
            <a:off x="1041541" y="2754638"/>
            <a:ext cx="4910328" cy="1436291"/>
          </a:xfrm>
          <a:prstGeom prst="rect">
            <a:avLst/>
          </a:prstGeom>
          <a:noFill/>
        </p:spPr>
        <p:txBody>
          <a:bodyPr wrap="square" lIns="0" tIns="0" rIns="0" bIns="0" anchor="t">
            <a:spAutoFit/>
          </a:bodyPr>
          <a:lstStyle/>
          <a:p>
            <a:pPr lvl="0">
              <a:spcAft>
                <a:spcPts val="200"/>
              </a:spcAft>
              <a:defRPr/>
            </a:pPr>
            <a:r>
              <a:rPr lang="en-US" sz="1400" kern="0" noProof="0" dirty="0">
                <a:latin typeface="+mj-lt"/>
                <a:cs typeface="Segoe Sans Text" pitchFamily="2" charset="0"/>
              </a:rPr>
              <a:t>What:</a:t>
            </a:r>
          </a:p>
          <a:p>
            <a:pPr marL="171450" lvl="1" indent="-114300">
              <a:spcAft>
                <a:spcPts val="200"/>
              </a:spcAft>
              <a:buFont typeface="Arial" panose="020B0604020202020204" pitchFamily="34" charset="0"/>
              <a:buChar char="•"/>
              <a:defRPr/>
            </a:pPr>
            <a:r>
              <a:rPr lang="en-US" sz="1200" kern="0" noProof="0" dirty="0">
                <a:cs typeface="Segoe Sans Text" pitchFamily="2" charset="0"/>
              </a:rPr>
              <a:t>Customer selects “single high value use case” based on existing data sources and limited set of tables agreed during scoping. Use case examples</a:t>
            </a:r>
          </a:p>
          <a:p>
            <a:pPr marL="447675" lvl="2" indent="-171450">
              <a:spcAft>
                <a:spcPts val="600"/>
              </a:spcAft>
              <a:buFont typeface="Abadi" panose="020B0604020104020204" pitchFamily="34" charset="0"/>
              <a:buChar char="–"/>
              <a:tabLst>
                <a:tab pos="400050" algn="l"/>
              </a:tabLst>
              <a:defRPr/>
            </a:pPr>
            <a:r>
              <a:rPr lang="en-US" sz="1000" kern="0" noProof="0" dirty="0">
                <a:cs typeface="Segoe Sans Text" pitchFamily="2" charset="0"/>
              </a:rPr>
              <a:t>Modernize your data engineering with data pipelines and Delta Lake</a:t>
            </a:r>
          </a:p>
          <a:p>
            <a:pPr marL="447675" lvl="2" indent="-171450">
              <a:spcAft>
                <a:spcPts val="600"/>
              </a:spcAft>
              <a:buFont typeface="Abadi" panose="020B0604020104020204" pitchFamily="34" charset="0"/>
              <a:buChar char="–"/>
              <a:tabLst>
                <a:tab pos="400050" algn="l"/>
              </a:tabLst>
              <a:defRPr/>
            </a:pPr>
            <a:r>
              <a:rPr lang="en-US" sz="1000" kern="0" noProof="0" dirty="0">
                <a:cs typeface="Segoe Sans Text" pitchFamily="2" charset="0"/>
              </a:rPr>
              <a:t>Explore benefits of Data Warehouse to Lakehouse</a:t>
            </a:r>
          </a:p>
          <a:p>
            <a:pPr marL="447675" lvl="2" indent="-171450">
              <a:spcAft>
                <a:spcPts val="600"/>
              </a:spcAft>
              <a:buFont typeface="Abadi" panose="020B0604020104020204" pitchFamily="34" charset="0"/>
              <a:buChar char="–"/>
              <a:tabLst>
                <a:tab pos="400050" algn="l"/>
              </a:tabLst>
              <a:defRPr/>
            </a:pPr>
            <a:r>
              <a:rPr lang="en-US" sz="1000" kern="0" noProof="0" dirty="0">
                <a:cs typeface="Segoe Sans Text" pitchFamily="2" charset="0"/>
              </a:rPr>
              <a:t>Co-locate data from numerous sources for ease of report development</a:t>
            </a:r>
          </a:p>
        </p:txBody>
      </p:sp>
      <p:sp>
        <p:nvSpPr>
          <p:cNvPr id="37" name="TextBox 36">
            <a:extLst>
              <a:ext uri="{FF2B5EF4-FFF2-40B4-BE49-F238E27FC236}">
                <a16:creationId xmlns:a16="http://schemas.microsoft.com/office/drawing/2014/main" id="{9DD5A2CF-2150-846A-0B54-9833E1AF3B71}"/>
              </a:ext>
            </a:extLst>
          </p:cNvPr>
          <p:cNvSpPr txBox="1"/>
          <p:nvPr/>
        </p:nvSpPr>
        <p:spPr>
          <a:xfrm>
            <a:off x="1041541" y="4566422"/>
            <a:ext cx="4842678" cy="2257028"/>
          </a:xfrm>
          <a:prstGeom prst="rect">
            <a:avLst/>
          </a:prstGeom>
          <a:noFill/>
        </p:spPr>
        <p:txBody>
          <a:bodyPr wrap="square" lIns="0" tIns="0" rIns="0" bIns="0">
            <a:spAutoFit/>
          </a:bodyPr>
          <a:lstStyle/>
          <a:p>
            <a:pPr marL="171450" lvl="0" indent="-171450">
              <a:spcAft>
                <a:spcPts val="200"/>
              </a:spcAft>
              <a:buFont typeface="Arial" panose="020B0604020202020204" pitchFamily="34" charset="0"/>
              <a:buChar char="•"/>
              <a:defRPr/>
            </a:pPr>
            <a:r>
              <a:rPr lang="en-US" sz="1000" kern="0" noProof="0" dirty="0">
                <a:cs typeface="Segoe Sans Text" pitchFamily="2" charset="0"/>
              </a:rPr>
              <a:t>Migration to Lakehouse medallion architecture with Bronze, Silver and Gold layer</a:t>
            </a:r>
          </a:p>
          <a:p>
            <a:pPr marL="171450" indent="-171450">
              <a:spcAft>
                <a:spcPts val="200"/>
              </a:spcAft>
              <a:buFont typeface="Arial" panose="020B0604020202020204" pitchFamily="34" charset="0"/>
              <a:buChar char="•"/>
              <a:defRPr/>
            </a:pPr>
            <a:r>
              <a:rPr lang="en-US" sz="1000" kern="0" noProof="0" dirty="0">
                <a:cs typeface="Segoe Sans Text"/>
              </a:rPr>
              <a:t>Transformations with Spark Notebooks, Orchestration with ADF, Lakeflow Spark Declarative Pipelines</a:t>
            </a:r>
          </a:p>
          <a:p>
            <a:pPr marL="171450" indent="-171450">
              <a:spcAft>
                <a:spcPts val="200"/>
              </a:spcAft>
              <a:buFont typeface="Arial" panose="020B0604020202020204" pitchFamily="34" charset="0"/>
              <a:buChar char="•"/>
              <a:defRPr/>
            </a:pPr>
            <a:r>
              <a:rPr lang="en-US" sz="1000" kern="0" noProof="0" dirty="0">
                <a:cs typeface="Segoe Sans Text" pitchFamily="2" charset="0"/>
              </a:rPr>
              <a:t>Migration from Synapse DP, SQL Server, and TSQL Code translation to Databricks notebook</a:t>
            </a:r>
          </a:p>
          <a:p>
            <a:pPr marL="171450" indent="-171450">
              <a:spcAft>
                <a:spcPts val="200"/>
              </a:spcAft>
              <a:buFont typeface="Arial" panose="020B0604020202020204" pitchFamily="34" charset="0"/>
              <a:buChar char="•"/>
              <a:defRPr/>
            </a:pPr>
            <a:r>
              <a:rPr lang="en-US" sz="1000" kern="0" noProof="0" dirty="0">
                <a:cs typeface="Segoe Sans Text" pitchFamily="2" charset="0"/>
              </a:rPr>
              <a:t>One basic Power BI Report to demonstrate how to connect PBI to Gold layer tables</a:t>
            </a:r>
          </a:p>
          <a:p>
            <a:pPr marL="171450" indent="-171450">
              <a:spcAft>
                <a:spcPts val="200"/>
              </a:spcAft>
              <a:buFont typeface="Arial" panose="020B0604020202020204" pitchFamily="34" charset="0"/>
              <a:buChar char="•"/>
              <a:defRPr/>
            </a:pPr>
            <a:r>
              <a:rPr lang="en-US" sz="1000" kern="0" noProof="0" dirty="0">
                <a:cs typeface="Segoe Sans Text" pitchFamily="2" charset="0"/>
              </a:rPr>
              <a:t>Unity Catalog in Azure Databricks</a:t>
            </a:r>
          </a:p>
          <a:p>
            <a:pPr marL="171450" indent="-171450">
              <a:spcAft>
                <a:spcPts val="200"/>
              </a:spcAft>
              <a:buFont typeface="Arial" panose="020B0604020202020204" pitchFamily="34" charset="0"/>
              <a:buChar char="•"/>
              <a:defRPr/>
            </a:pPr>
            <a:r>
              <a:rPr lang="en-US" sz="1000" kern="0" noProof="0" dirty="0"/>
              <a:t>Project co-ordination and management of Scope 1 activities.</a:t>
            </a:r>
          </a:p>
          <a:p>
            <a:pPr marL="171450" indent="-171450">
              <a:spcAft>
                <a:spcPts val="200"/>
              </a:spcAft>
              <a:buFont typeface="Arial" panose="020B0604020202020204" pitchFamily="34" charset="0"/>
              <a:buChar char="•"/>
              <a:defRPr/>
            </a:pPr>
            <a:endParaRPr lang="en-US" sz="1000" kern="0" noProof="0" dirty="0">
              <a:cs typeface="Segoe Sans Text" pitchFamily="2" charset="0"/>
            </a:endParaRPr>
          </a:p>
          <a:p>
            <a:pPr marL="171450" indent="-171450">
              <a:spcAft>
                <a:spcPts val="200"/>
              </a:spcAft>
              <a:buFont typeface="Arial" panose="020B0604020202020204" pitchFamily="34" charset="0"/>
              <a:buChar char="•"/>
              <a:defRPr/>
            </a:pPr>
            <a:endParaRPr lang="en-US" sz="1000" kern="0" noProof="0" dirty="0">
              <a:cs typeface="Segoe Sans Text" pitchFamily="2" charset="0"/>
            </a:endParaRPr>
          </a:p>
          <a:p>
            <a:pPr marL="171450" indent="-171450">
              <a:spcAft>
                <a:spcPts val="200"/>
              </a:spcAft>
              <a:buFont typeface="Arial" panose="020B0604020202020204" pitchFamily="34" charset="0"/>
              <a:buChar char="•"/>
              <a:defRPr/>
            </a:pPr>
            <a:endParaRPr lang="en-US" sz="1000" kern="0" noProof="0" dirty="0">
              <a:cs typeface="Segoe Sans Text" pitchFamily="2" charset="0"/>
            </a:endParaRPr>
          </a:p>
          <a:p>
            <a:pPr marL="171450" indent="-171450">
              <a:spcAft>
                <a:spcPts val="200"/>
              </a:spcAft>
              <a:buFont typeface="Arial" panose="020B0604020202020204" pitchFamily="34" charset="0"/>
              <a:buChar char="•"/>
              <a:defRPr/>
            </a:pPr>
            <a:endParaRPr lang="en-US" sz="1000" kern="0" noProof="0" dirty="0">
              <a:cs typeface="Segoe Sans Text" pitchFamily="2" charset="0"/>
            </a:endParaRPr>
          </a:p>
          <a:p>
            <a:pPr marL="171450" lvl="0" indent="-171450">
              <a:spcAft>
                <a:spcPts val="200"/>
              </a:spcAft>
              <a:buFont typeface="Arial" panose="020B0604020202020204" pitchFamily="34" charset="0"/>
              <a:buChar char="•"/>
              <a:defRPr/>
            </a:pPr>
            <a:endParaRPr lang="en-US" sz="1000" kern="0" noProof="0" dirty="0">
              <a:cs typeface="Segoe Sans Text" pitchFamily="2" charset="0"/>
            </a:endParaRPr>
          </a:p>
        </p:txBody>
      </p:sp>
      <p:sp>
        <p:nvSpPr>
          <p:cNvPr id="102" name="Title 101">
            <a:extLst>
              <a:ext uri="{FF2B5EF4-FFF2-40B4-BE49-F238E27FC236}">
                <a16:creationId xmlns:a16="http://schemas.microsoft.com/office/drawing/2014/main" id="{C6D296C4-4DB6-E9EC-9FAB-0CE4D371B91A}"/>
              </a:ext>
            </a:extLst>
          </p:cNvPr>
          <p:cNvSpPr>
            <a:spLocks noGrp="1"/>
          </p:cNvSpPr>
          <p:nvPr>
            <p:ph type="title"/>
          </p:nvPr>
        </p:nvSpPr>
        <p:spPr>
          <a:xfrm>
            <a:off x="588963" y="548489"/>
            <a:ext cx="8704666" cy="748509"/>
          </a:xfrm>
        </p:spPr>
        <p:txBody>
          <a:bodyPr>
            <a:noAutofit/>
          </a:bodyPr>
          <a:lstStyle/>
          <a:p>
            <a:pPr marL="0" algn="l" rtl="0" eaLnBrk="1" latinLnBrk="0" hangingPunct="1">
              <a:buNone/>
            </a:pPr>
            <a:r>
              <a:rPr lang="en-US" sz="2800" noProof="0" dirty="0"/>
              <a:t>Analytics</a:t>
            </a:r>
            <a:br>
              <a:rPr lang="en-US" sz="2800" noProof="0" dirty="0"/>
            </a:br>
            <a:r>
              <a:rPr lang="en-US" sz="1800" kern="1200" noProof="0" dirty="0">
                <a:solidFill>
                  <a:srgbClr val="000000"/>
                </a:solidFill>
                <a:effectLst/>
                <a:latin typeface="Segoe Sans Text Semibold" pitchFamily="2" charset="0"/>
                <a:ea typeface="+mn-ea"/>
                <a:cs typeface="+mn-cs"/>
              </a:rPr>
              <a:t>Azure Databricks Lakehouse Scope</a:t>
            </a:r>
            <a:br>
              <a:rPr lang="en-US" sz="1400" noProof="0" dirty="0">
                <a:effectLst/>
              </a:rPr>
            </a:br>
            <a:endParaRPr lang="en-US" sz="2800" noProof="0" dirty="0"/>
          </a:p>
        </p:txBody>
      </p:sp>
      <p:sp>
        <p:nvSpPr>
          <p:cNvPr id="22" name="Rounded Rectangle 55">
            <a:extLst>
              <a:ext uri="{FF2B5EF4-FFF2-40B4-BE49-F238E27FC236}">
                <a16:creationId xmlns:a16="http://schemas.microsoft.com/office/drawing/2014/main" id="{3020BC03-E6D0-D8C9-F4D6-FEC1ABB11968}"/>
              </a:ext>
              <a:ext uri="{C183D7F6-B498-43B3-948B-1728B52AA6E4}">
                <adec:decorative xmlns:adec="http://schemas.microsoft.com/office/drawing/2017/decorative" val="1"/>
              </a:ext>
            </a:extLst>
          </p:cNvPr>
          <p:cNvSpPr>
            <a:spLocks/>
          </p:cNvSpPr>
          <p:nvPr/>
        </p:nvSpPr>
        <p:spPr bwMode="auto">
          <a:xfrm>
            <a:off x="586740" y="1272540"/>
            <a:ext cx="5453761" cy="4831560"/>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4" name="TextBox 23">
            <a:extLst>
              <a:ext uri="{FF2B5EF4-FFF2-40B4-BE49-F238E27FC236}">
                <a16:creationId xmlns:a16="http://schemas.microsoft.com/office/drawing/2014/main" id="{6AD1AE2E-7A60-2F80-EE2D-DA18A27105E7}"/>
              </a:ext>
            </a:extLst>
          </p:cNvPr>
          <p:cNvSpPr txBox="1"/>
          <p:nvPr/>
        </p:nvSpPr>
        <p:spPr>
          <a:xfrm>
            <a:off x="680403" y="1363980"/>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35" name="Oval 34">
            <a:extLst>
              <a:ext uri="{FF2B5EF4-FFF2-40B4-BE49-F238E27FC236}">
                <a16:creationId xmlns:a16="http://schemas.microsoft.com/office/drawing/2014/main" id="{7F2C6500-19C3-CB9F-7CFC-B78D603230E2}"/>
              </a:ext>
            </a:extLst>
          </p:cNvPr>
          <p:cNvSpPr/>
          <p:nvPr/>
        </p:nvSpPr>
        <p:spPr bwMode="auto">
          <a:xfrm>
            <a:off x="862142" y="279950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604E46CA-BDA6-42AA-5AEC-DE71EA771EED}"/>
              </a:ext>
            </a:extLst>
          </p:cNvPr>
          <p:cNvSpPr/>
          <p:nvPr/>
        </p:nvSpPr>
        <p:spPr bwMode="auto">
          <a:xfrm>
            <a:off x="862142" y="433726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4" name="Straight Connector 43">
            <a:extLst>
              <a:ext uri="{FF2B5EF4-FFF2-40B4-BE49-F238E27FC236}">
                <a16:creationId xmlns:a16="http://schemas.microsoft.com/office/drawing/2014/main" id="{FBE7D8BB-CD84-B77E-6BA0-CF1B9C68BAB0}"/>
              </a:ext>
              <a:ext uri="{C183D7F6-B498-43B3-948B-1728B52AA6E4}">
                <adec:decorative xmlns:adec="http://schemas.microsoft.com/office/drawing/2017/decorative" val="1"/>
              </a:ext>
            </a:extLst>
          </p:cNvPr>
          <p:cNvCxnSpPr>
            <a:cxnSpLocks/>
          </p:cNvCxnSpPr>
          <p:nvPr/>
        </p:nvCxnSpPr>
        <p:spPr>
          <a:xfrm>
            <a:off x="1028173" y="275448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1A56C60-7DDB-BD2F-B4F9-7B05889D587B}"/>
              </a:ext>
              <a:ext uri="{C183D7F6-B498-43B3-948B-1728B52AA6E4}">
                <adec:decorative xmlns:adec="http://schemas.microsoft.com/office/drawing/2017/decorative" val="1"/>
              </a:ext>
            </a:extLst>
          </p:cNvPr>
          <p:cNvCxnSpPr>
            <a:cxnSpLocks/>
          </p:cNvCxnSpPr>
          <p:nvPr/>
        </p:nvCxnSpPr>
        <p:spPr>
          <a:xfrm>
            <a:off x="926173" y="428332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78F2472C-1083-BFFF-6876-0AFB3875C053}"/>
              </a:ext>
            </a:extLst>
          </p:cNvPr>
          <p:cNvSpPr/>
          <p:nvPr/>
        </p:nvSpPr>
        <p:spPr bwMode="auto">
          <a:xfrm>
            <a:off x="857593" y="1820078"/>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Rounded Rectangle 55">
            <a:extLst>
              <a:ext uri="{FF2B5EF4-FFF2-40B4-BE49-F238E27FC236}">
                <a16:creationId xmlns:a16="http://schemas.microsoft.com/office/drawing/2014/main" id="{0EE2EEF9-F737-E67B-4254-D2E4E81786B6}"/>
              </a:ext>
              <a:ext uri="{C183D7F6-B498-43B3-948B-1728B52AA6E4}">
                <adec:decorative xmlns:adec="http://schemas.microsoft.com/office/drawing/2017/decorative" val="1"/>
              </a:ext>
            </a:extLst>
          </p:cNvPr>
          <p:cNvSpPr>
            <a:spLocks/>
          </p:cNvSpPr>
          <p:nvPr/>
        </p:nvSpPr>
        <p:spPr bwMode="auto">
          <a:xfrm>
            <a:off x="6152452" y="1260965"/>
            <a:ext cx="5453761" cy="4792593"/>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4" name="TextBox 3">
            <a:extLst>
              <a:ext uri="{FF2B5EF4-FFF2-40B4-BE49-F238E27FC236}">
                <a16:creationId xmlns:a16="http://schemas.microsoft.com/office/drawing/2014/main" id="{769BD8D9-FBD9-61EF-0CF9-7FE5A9A483C2}"/>
              </a:ext>
            </a:extLst>
          </p:cNvPr>
          <p:cNvSpPr txBox="1"/>
          <p:nvPr/>
        </p:nvSpPr>
        <p:spPr>
          <a:xfrm>
            <a:off x="6240716"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Partner / Customer – Led*</a:t>
            </a:r>
          </a:p>
        </p:txBody>
      </p:sp>
      <p:cxnSp>
        <p:nvCxnSpPr>
          <p:cNvPr id="6" name="Straight Connector 5">
            <a:extLst>
              <a:ext uri="{FF2B5EF4-FFF2-40B4-BE49-F238E27FC236}">
                <a16:creationId xmlns:a16="http://schemas.microsoft.com/office/drawing/2014/main" id="{6A319C9D-1609-85E5-5093-9B16289F5BB7}"/>
              </a:ext>
              <a:ext uri="{C183D7F6-B498-43B3-948B-1728B52AA6E4}">
                <adec:decorative xmlns:adec="http://schemas.microsoft.com/office/drawing/2017/decorative" val="1"/>
              </a:ext>
            </a:extLst>
          </p:cNvPr>
          <p:cNvCxnSpPr>
            <a:cxnSpLocks/>
          </p:cNvCxnSpPr>
          <p:nvPr/>
        </p:nvCxnSpPr>
        <p:spPr>
          <a:xfrm>
            <a:off x="6438627" y="468574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6AF2452-AC3B-7498-3412-9D38A94E0751}"/>
              </a:ext>
              <a:ext uri="{C183D7F6-B498-43B3-948B-1728B52AA6E4}">
                <adec:decorative xmlns:adec="http://schemas.microsoft.com/office/drawing/2017/decorative" val="1"/>
              </a:ext>
            </a:extLst>
          </p:cNvPr>
          <p:cNvCxnSpPr>
            <a:cxnSpLocks/>
          </p:cNvCxnSpPr>
          <p:nvPr/>
        </p:nvCxnSpPr>
        <p:spPr>
          <a:xfrm>
            <a:off x="6438627" y="401338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746E22B-4730-8D4A-B01B-DC9974178874}"/>
              </a:ext>
              <a:ext uri="{C183D7F6-B498-43B3-948B-1728B52AA6E4}">
                <adec:decorative xmlns:adec="http://schemas.microsoft.com/office/drawing/2017/decorative" val="1"/>
              </a:ext>
            </a:extLst>
          </p:cNvPr>
          <p:cNvCxnSpPr>
            <a:cxnSpLocks/>
          </p:cNvCxnSpPr>
          <p:nvPr/>
        </p:nvCxnSpPr>
        <p:spPr>
          <a:xfrm>
            <a:off x="6438627" y="313484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8ED6FE1-F643-3865-2643-3A2E805F0C60}"/>
              </a:ext>
              <a:ext uri="{C183D7F6-B498-43B3-948B-1728B52AA6E4}">
                <adec:decorative xmlns:adec="http://schemas.microsoft.com/office/drawing/2017/decorative" val="1"/>
              </a:ext>
            </a:extLst>
          </p:cNvPr>
          <p:cNvCxnSpPr>
            <a:cxnSpLocks/>
          </p:cNvCxnSpPr>
          <p:nvPr/>
        </p:nvCxnSpPr>
        <p:spPr>
          <a:xfrm>
            <a:off x="6438627" y="245352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BDED9E19-7938-D741-DEE9-4D5C9FD2DA29}"/>
              </a:ext>
            </a:extLst>
          </p:cNvPr>
          <p:cNvSpPr/>
          <p:nvPr/>
        </p:nvSpPr>
        <p:spPr bwMode="auto">
          <a:xfrm>
            <a:off x="6289180" y="18758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24613B40-F0BD-96E5-E387-82737D026A37}"/>
              </a:ext>
            </a:extLst>
          </p:cNvPr>
          <p:cNvSpPr/>
          <p:nvPr/>
        </p:nvSpPr>
        <p:spPr bwMode="auto">
          <a:xfrm>
            <a:off x="6283989" y="25123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EF02AF30-C051-2D32-F7BF-D0569736DB77}"/>
              </a:ext>
            </a:extLst>
          </p:cNvPr>
          <p:cNvSpPr/>
          <p:nvPr/>
        </p:nvSpPr>
        <p:spPr bwMode="auto">
          <a:xfrm>
            <a:off x="6283989" y="32033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9AAF6C91-F3B7-939D-0414-19B40437C763}"/>
              </a:ext>
            </a:extLst>
          </p:cNvPr>
          <p:cNvSpPr/>
          <p:nvPr/>
        </p:nvSpPr>
        <p:spPr bwMode="auto">
          <a:xfrm>
            <a:off x="6283989" y="40637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6311F98F-0F40-61B0-A669-BF3E578782AB}"/>
              </a:ext>
            </a:extLst>
          </p:cNvPr>
          <p:cNvSpPr/>
          <p:nvPr/>
        </p:nvSpPr>
        <p:spPr bwMode="auto">
          <a:xfrm>
            <a:off x="6283989" y="482655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4D0F0636-62B1-2D94-7C42-22CBA053D0BD}"/>
              </a:ext>
            </a:extLst>
          </p:cNvPr>
          <p:cNvSpPr txBox="1"/>
          <p:nvPr/>
        </p:nvSpPr>
        <p:spPr>
          <a:xfrm>
            <a:off x="6438627" y="1786465"/>
            <a:ext cx="6974558" cy="371069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Architecture:</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Re-architecture or architecture evaluation</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Capacity sizing and cost estimation activities</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Performance tuning and optimization</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Performance testing and tuning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Performance benchmarking</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Environment prep/config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Capacity provisioning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VM setup /Gateway install</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Network Config</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DevOps/Integrations</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CI/CD setup and testing </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Testing and configuring upstream/downstream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Post Migration Operation</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On going DR/Backup/Monitoring support</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Cost optimization and FinOps</a:t>
            </a:r>
          </a:p>
        </p:txBody>
      </p:sp>
      <p:sp>
        <p:nvSpPr>
          <p:cNvPr id="31" name="TextBox 30">
            <a:extLst>
              <a:ext uri="{FF2B5EF4-FFF2-40B4-BE49-F238E27FC236}">
                <a16:creationId xmlns:a16="http://schemas.microsoft.com/office/drawing/2014/main" id="{80C83FCB-FF7C-7B07-A2C0-6EE3F18EE305}"/>
              </a:ext>
            </a:extLst>
          </p:cNvPr>
          <p:cNvSpPr txBox="1"/>
          <p:nvPr/>
        </p:nvSpPr>
        <p:spPr>
          <a:xfrm>
            <a:off x="1095823" y="4288129"/>
            <a:ext cx="4910328" cy="215444"/>
          </a:xfrm>
          <a:prstGeom prst="rect">
            <a:avLst/>
          </a:prstGeom>
          <a:noFill/>
        </p:spPr>
        <p:txBody>
          <a:bodyPr wrap="square" lIns="0" tIns="0" rIns="0" bIns="0" anchor="t">
            <a:spAutoFit/>
          </a:bodyPr>
          <a:lstStyle/>
          <a:p>
            <a:pPr lvl="0">
              <a:spcAft>
                <a:spcPts val="200"/>
              </a:spcAft>
              <a:defRPr/>
            </a:pPr>
            <a:r>
              <a:rPr lang="en-US" sz="1400" kern="0" noProof="0" dirty="0">
                <a:latin typeface="Segoe Sans Text Semibold"/>
              </a:rPr>
              <a:t>Factory Responsibilities</a:t>
            </a:r>
          </a:p>
        </p:txBody>
      </p:sp>
      <p:sp>
        <p:nvSpPr>
          <p:cNvPr id="33" name="TextBox 32">
            <a:extLst>
              <a:ext uri="{FF2B5EF4-FFF2-40B4-BE49-F238E27FC236}">
                <a16:creationId xmlns:a16="http://schemas.microsoft.com/office/drawing/2014/main" id="{E7112784-7BBD-2C2D-C1A3-0A2B24C06D18}"/>
              </a:ext>
            </a:extLst>
          </p:cNvPr>
          <p:cNvSpPr txBox="1"/>
          <p:nvPr/>
        </p:nvSpPr>
        <p:spPr>
          <a:xfrm>
            <a:off x="1028173" y="1786465"/>
            <a:ext cx="4910328" cy="836126"/>
          </a:xfrm>
          <a:prstGeom prst="rect">
            <a:avLst/>
          </a:prstGeom>
          <a:noFill/>
        </p:spPr>
        <p:txBody>
          <a:bodyPr wrap="square" lIns="0" tIns="0" rIns="0" bIns="0">
            <a:spAutoFit/>
          </a:bodyPr>
          <a:lstStyle/>
          <a:p>
            <a:pPr lvl="0">
              <a:spcAft>
                <a:spcPts val="200"/>
              </a:spcAft>
              <a:defRPr/>
            </a:pPr>
            <a:r>
              <a:rPr lang="en-US" sz="1400" kern="0" noProof="0" dirty="0">
                <a:latin typeface="+mj-lt"/>
                <a:cs typeface="Segoe Sans Text" pitchFamily="2" charset="0"/>
              </a:rPr>
              <a:t>Offerings:</a:t>
            </a:r>
          </a:p>
          <a:p>
            <a:pPr marL="171450" lvl="1" indent="-114300">
              <a:spcAft>
                <a:spcPts val="200"/>
              </a:spcAft>
              <a:buFont typeface="Arial" panose="020B0604020202020204" pitchFamily="34" charset="0"/>
              <a:buChar char="•"/>
              <a:defRPr/>
            </a:pPr>
            <a:r>
              <a:rPr lang="en-US" sz="1200" kern="0" noProof="0" dirty="0">
                <a:cs typeface="Segoe Sans Text" pitchFamily="2" charset="0"/>
              </a:rPr>
              <a:t>Azure Databricks</a:t>
            </a:r>
          </a:p>
          <a:p>
            <a:pPr marL="441325" lvl="2" indent="-171450">
              <a:spcAft>
                <a:spcPts val="600"/>
              </a:spcAft>
              <a:buFont typeface="Abadi" panose="020B0604020104020204" pitchFamily="34" charset="0"/>
              <a:buChar char="–"/>
              <a:defRPr/>
            </a:pPr>
            <a:r>
              <a:rPr lang="en-US" sz="1000" kern="0" noProof="0" dirty="0">
                <a:cs typeface="Segoe Sans Text" pitchFamily="2" charset="0"/>
              </a:rPr>
              <a:t>Lakehouse , Delta Live tables, Delta Lake, parameterized deployment</a:t>
            </a:r>
          </a:p>
          <a:p>
            <a:pPr marL="441325" lvl="2" indent="-171450">
              <a:spcAft>
                <a:spcPts val="600"/>
              </a:spcAft>
              <a:buFont typeface="Abadi" panose="020B0604020104020204" pitchFamily="34" charset="0"/>
              <a:buChar char="–"/>
              <a:defRPr/>
            </a:pPr>
            <a:r>
              <a:rPr lang="en-US" sz="1000" kern="0" noProof="0" dirty="0">
                <a:cs typeface="Segoe Sans Text" pitchFamily="2" charset="0"/>
              </a:rPr>
              <a:t>Hive Meta store migration to Unity Catalog</a:t>
            </a:r>
          </a:p>
        </p:txBody>
      </p:sp>
      <p:sp>
        <p:nvSpPr>
          <p:cNvPr id="5" name="TextBox 4">
            <a:extLst>
              <a:ext uri="{FF2B5EF4-FFF2-40B4-BE49-F238E27FC236}">
                <a16:creationId xmlns:a16="http://schemas.microsoft.com/office/drawing/2014/main" id="{7CD83513-BA02-6208-EFAB-7B29A48A3AAF}"/>
              </a:ext>
            </a:extLst>
          </p:cNvPr>
          <p:cNvSpPr txBox="1"/>
          <p:nvPr/>
        </p:nvSpPr>
        <p:spPr>
          <a:xfrm>
            <a:off x="6352569" y="1637988"/>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39" name="TextBox 38">
            <a:extLst>
              <a:ext uri="{FF2B5EF4-FFF2-40B4-BE49-F238E27FC236}">
                <a16:creationId xmlns:a16="http://schemas.microsoft.com/office/drawing/2014/main" id="{7C3B386A-2EEB-C5D0-9D51-5D94DBB4A6D0}"/>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extBox 2">
            <a:extLst>
              <a:ext uri="{FF2B5EF4-FFF2-40B4-BE49-F238E27FC236}">
                <a16:creationId xmlns:a16="http://schemas.microsoft.com/office/drawing/2014/main" id="{B73B2484-57E9-922F-6196-E571C2DE28DD}"/>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212544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F2ADB-7420-6319-533F-A9BCB560614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FC0DEB-C10C-F542-8974-C9A6F867145A}"/>
              </a:ext>
            </a:extLst>
          </p:cNvPr>
          <p:cNvSpPr>
            <a:spLocks noGrp="1"/>
          </p:cNvSpPr>
          <p:nvPr>
            <p:ph type="title"/>
          </p:nvPr>
        </p:nvSpPr>
        <p:spPr>
          <a:xfrm>
            <a:off x="474563" y="509509"/>
            <a:ext cx="4804840" cy="737604"/>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Azure Databricks Lakehouse</a:t>
            </a:r>
            <a:endParaRPr lang="en-US" sz="2800" noProof="0" dirty="0"/>
          </a:p>
        </p:txBody>
      </p:sp>
      <p:sp>
        <p:nvSpPr>
          <p:cNvPr id="8" name="Rounded Rectangle 55">
            <a:extLst>
              <a:ext uri="{FF2B5EF4-FFF2-40B4-BE49-F238E27FC236}">
                <a16:creationId xmlns:a16="http://schemas.microsoft.com/office/drawing/2014/main" id="{093249C7-0B9F-98FF-688A-D13B2F9834C5}"/>
              </a:ext>
              <a:ext uri="{C183D7F6-B498-43B3-948B-1728B52AA6E4}">
                <adec:decorative xmlns:adec="http://schemas.microsoft.com/office/drawing/2017/decorative" val="1"/>
              </a:ext>
            </a:extLst>
          </p:cNvPr>
          <p:cNvSpPr/>
          <p:nvPr/>
        </p:nvSpPr>
        <p:spPr bwMode="auto">
          <a:xfrm>
            <a:off x="474563" y="1627824"/>
            <a:ext cx="2552308" cy="434495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9" name="Content Placeholder 4">
            <a:extLst>
              <a:ext uri="{FF2B5EF4-FFF2-40B4-BE49-F238E27FC236}">
                <a16:creationId xmlns:a16="http://schemas.microsoft.com/office/drawing/2014/main" id="{5C5267B8-F52C-684F-A10E-DB117EE09E3C}"/>
              </a:ext>
            </a:extLst>
          </p:cNvPr>
          <p:cNvSpPr txBox="1">
            <a:spLocks/>
          </p:cNvSpPr>
          <p:nvPr/>
        </p:nvSpPr>
        <p:spPr>
          <a:xfrm>
            <a:off x="577994" y="2015038"/>
            <a:ext cx="2448877" cy="3102772"/>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150000"/>
              </a:lnSpc>
              <a:spcBef>
                <a:spcPts val="0"/>
              </a:spcBef>
              <a:spcAft>
                <a:spcPts val="600"/>
              </a:spcAft>
              <a:buFont typeface="Wingdings" panose="05000000000000000000" pitchFamily="2" charset="2"/>
              <a:buChar char="ü"/>
              <a:defRPr/>
            </a:pPr>
            <a:r>
              <a:rPr lang="en-US" sz="1200" noProof="0" dirty="0"/>
              <a:t>Migration to Lakehouse medallion architecture</a:t>
            </a:r>
          </a:p>
          <a:p>
            <a:pPr>
              <a:lnSpc>
                <a:spcPct val="150000"/>
              </a:lnSpc>
              <a:spcBef>
                <a:spcPts val="0"/>
              </a:spcBef>
              <a:spcAft>
                <a:spcPts val="600"/>
              </a:spcAft>
              <a:buFont typeface="Wingdings" panose="05000000000000000000" pitchFamily="2" charset="2"/>
              <a:buChar char="ü"/>
              <a:defRPr/>
            </a:pPr>
            <a:r>
              <a:rPr lang="en-US" sz="1200" noProof="0" dirty="0"/>
              <a:t>Power analytics with the Gold layer</a:t>
            </a:r>
          </a:p>
          <a:p>
            <a:pPr>
              <a:lnSpc>
                <a:spcPct val="150000"/>
              </a:lnSpc>
              <a:spcBef>
                <a:spcPts val="0"/>
              </a:spcBef>
              <a:spcAft>
                <a:spcPts val="600"/>
              </a:spcAft>
              <a:buFont typeface="Wingdings" panose="05000000000000000000" pitchFamily="2" charset="2"/>
              <a:buChar char="ü"/>
              <a:defRPr/>
            </a:pPr>
            <a:r>
              <a:rPr lang="en-US" sz="1200" noProof="0" dirty="0"/>
              <a:t>Unity Catalog for metastore in Databricks</a:t>
            </a:r>
          </a:p>
          <a:p>
            <a:pPr>
              <a:lnSpc>
                <a:spcPct val="150000"/>
              </a:lnSpc>
              <a:spcBef>
                <a:spcPts val="0"/>
              </a:spcBef>
              <a:spcAft>
                <a:spcPts val="600"/>
              </a:spcAft>
              <a:buFont typeface="Wingdings" panose="05000000000000000000" pitchFamily="2" charset="2"/>
              <a:buChar char="ü"/>
              <a:defRPr/>
            </a:pPr>
            <a:r>
              <a:rPr lang="en-US" sz="1200" noProof="0" dirty="0"/>
              <a:t>Delta Live Tables, Data Lake and other components required to set up the Lakehouse platform</a:t>
            </a:r>
          </a:p>
        </p:txBody>
      </p:sp>
      <p:sp>
        <p:nvSpPr>
          <p:cNvPr id="22" name="TextBox 21">
            <a:extLst>
              <a:ext uri="{FF2B5EF4-FFF2-40B4-BE49-F238E27FC236}">
                <a16:creationId xmlns:a16="http://schemas.microsoft.com/office/drawing/2014/main" id="{01B5D5AF-5BC3-4B94-BDB2-C260936BABBE}"/>
              </a:ext>
            </a:extLst>
          </p:cNvPr>
          <p:cNvSpPr txBox="1"/>
          <p:nvPr/>
        </p:nvSpPr>
        <p:spPr>
          <a:xfrm>
            <a:off x="3325485" y="1852189"/>
            <a:ext cx="8342585" cy="2457083"/>
          </a:xfrm>
          <a:prstGeom prst="rect">
            <a:avLst/>
          </a:prstGeom>
          <a:noFill/>
        </p:spPr>
        <p:txBody>
          <a:bodyPr wrap="square">
            <a:spAutoFit/>
          </a:bodyPr>
          <a:lstStyle/>
          <a:p>
            <a:pPr marL="228600" lvl="1" indent="-228600">
              <a:spcAft>
                <a:spcPts val="400"/>
              </a:spcAft>
              <a:buFont typeface="+mj-lt"/>
              <a:buAutoNum type="arabicPeriod"/>
              <a:defRPr/>
            </a:pPr>
            <a:r>
              <a:rPr lang="en-US" sz="1400" kern="0" noProof="0" dirty="0">
                <a:solidFill>
                  <a:schemeClr val="tx2"/>
                </a:solidFill>
                <a:latin typeface="+mj-lt"/>
              </a:rPr>
              <a:t>Databricks Lakehouse:</a:t>
            </a:r>
          </a:p>
          <a:p>
            <a:pPr lvl="1" indent="-142875" defTabSz="896386">
              <a:spcAft>
                <a:spcPts val="600"/>
              </a:spcAft>
              <a:buFont typeface="Arial" panose="020B0604020202020204" pitchFamily="34" charset="0"/>
              <a:buChar char="•"/>
              <a:defRPr/>
            </a:pPr>
            <a:r>
              <a:rPr lang="en-US" sz="1200" kern="0" noProof="0" dirty="0"/>
              <a:t>Leverage repeatable IP to accelerate establishing the Databricks workspace, Unity Catalog(metastore), Delta Live Tables, Data Lake and other components required to setup the Lakehouse platform </a:t>
            </a:r>
          </a:p>
          <a:p>
            <a:pPr lvl="1" indent="-142875" defTabSz="896386">
              <a:spcAft>
                <a:spcPts val="600"/>
              </a:spcAft>
              <a:buFont typeface="Arial" panose="020B0604020202020204" pitchFamily="34" charset="0"/>
              <a:buChar char="•"/>
              <a:defRPr/>
            </a:pPr>
            <a:r>
              <a:rPr lang="en-US" sz="1200" kern="0" noProof="0" dirty="0"/>
              <a:t>Use of parameterized deployment to speed up platform provisioning according to your requirements</a:t>
            </a:r>
          </a:p>
          <a:p>
            <a:pPr marL="228600" lvl="1" indent="-228600">
              <a:spcBef>
                <a:spcPts val="1200"/>
              </a:spcBef>
              <a:spcAft>
                <a:spcPts val="400"/>
              </a:spcAft>
              <a:buFont typeface="+mj-lt"/>
              <a:buAutoNum type="arabicPeriod" startAt="2"/>
              <a:defRPr/>
            </a:pPr>
            <a:r>
              <a:rPr lang="en-US" sz="1400" kern="0" noProof="0" dirty="0">
                <a:solidFill>
                  <a:schemeClr val="tx2"/>
                </a:solidFill>
                <a:latin typeface="+mj-lt"/>
              </a:rPr>
              <a:t>Supported sources: </a:t>
            </a:r>
          </a:p>
          <a:p>
            <a:pPr marL="463550" lvl="1" indent="-146050" defTabSz="896386">
              <a:spcAft>
                <a:spcPts val="600"/>
              </a:spcAft>
              <a:buFont typeface="Arial" panose="020B0604020202020204" pitchFamily="34" charset="0"/>
              <a:buChar char="•"/>
              <a:defRPr/>
            </a:pPr>
            <a:r>
              <a:rPr lang="en-US" sz="1200" kern="0" noProof="0" dirty="0"/>
              <a:t>Azure SQL DB and SQL MI; PostgreSQL; MySQL; Oracle; SQL Server (on premises)</a:t>
            </a:r>
          </a:p>
          <a:p>
            <a:pPr marL="463550" lvl="1" indent="-146050" defTabSz="896386">
              <a:spcAft>
                <a:spcPts val="600"/>
              </a:spcAft>
              <a:buFont typeface="Arial" panose="020B0604020202020204" pitchFamily="34" charset="0"/>
              <a:buChar char="•"/>
              <a:defRPr/>
            </a:pPr>
            <a:r>
              <a:rPr lang="en-US" sz="1200" kern="0" noProof="0" dirty="0"/>
              <a:t>Cloudera (HDFS/Spark/Hive/Impala)</a:t>
            </a:r>
          </a:p>
          <a:p>
            <a:pPr marL="463550" lvl="1" indent="-146050" defTabSz="896386">
              <a:spcAft>
                <a:spcPts val="600"/>
              </a:spcAft>
              <a:buFont typeface="Arial" panose="020B0604020202020204" pitchFamily="34" charset="0"/>
              <a:buChar char="•"/>
              <a:defRPr/>
            </a:pPr>
            <a:r>
              <a:rPr lang="en-US" sz="1200" kern="0" noProof="0" dirty="0"/>
              <a:t>Flat Files; Hadoop; AWS Redshift; Event Hubs; Teradata; Snowflake*</a:t>
            </a:r>
          </a:p>
          <a:p>
            <a:pPr marL="463550" lvl="1" indent="-146050" defTabSz="896386">
              <a:spcAft>
                <a:spcPts val="600"/>
              </a:spcAft>
              <a:buFont typeface="Arial" panose="020B0604020202020204" pitchFamily="34" charset="0"/>
              <a:buChar char="•"/>
              <a:defRPr/>
            </a:pPr>
            <a:r>
              <a:rPr lang="en-US" sz="1200" kern="0" noProof="0" dirty="0">
                <a:latin typeface="+mj-lt"/>
              </a:rPr>
              <a:t>In pilot: </a:t>
            </a:r>
            <a:r>
              <a:rPr lang="en-US" sz="1200" kern="0" noProof="0" dirty="0"/>
              <a:t>Teradata, Redshift, Synapse, Snowflake, Oracle, Hive, SAP Hana, SAS, AWS Databricks</a:t>
            </a:r>
          </a:p>
        </p:txBody>
      </p:sp>
      <p:sp>
        <p:nvSpPr>
          <p:cNvPr id="3" name="TextBox 2">
            <a:extLst>
              <a:ext uri="{FF2B5EF4-FFF2-40B4-BE49-F238E27FC236}">
                <a16:creationId xmlns:a16="http://schemas.microsoft.com/office/drawing/2014/main" id="{1315BA62-5D7F-C53C-6F8C-705741CD13D9}"/>
              </a:ext>
            </a:extLst>
          </p:cNvPr>
          <p:cNvSpPr txBox="1"/>
          <p:nvPr/>
        </p:nvSpPr>
        <p:spPr>
          <a:xfrm>
            <a:off x="589495" y="1685854"/>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7" name="Graphic 23">
            <a:extLst>
              <a:ext uri="{FF2B5EF4-FFF2-40B4-BE49-F238E27FC236}">
                <a16:creationId xmlns:a16="http://schemas.microsoft.com/office/drawing/2014/main" id="{C0B1A7BA-4329-21B7-E7E0-25C30D960A4B}"/>
              </a:ext>
              <a:ext uri="{C183D7F6-B498-43B3-948B-1728B52AA6E4}">
                <adec:decorative xmlns:adec="http://schemas.microsoft.com/office/drawing/2017/decorative" val="1"/>
              </a:ext>
            </a:extLst>
          </p:cNvPr>
          <p:cNvSpPr/>
          <p:nvPr/>
        </p:nvSpPr>
        <p:spPr>
          <a:xfrm>
            <a:off x="607253" y="2165843"/>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Graphic 23">
            <a:extLst>
              <a:ext uri="{FF2B5EF4-FFF2-40B4-BE49-F238E27FC236}">
                <a16:creationId xmlns:a16="http://schemas.microsoft.com/office/drawing/2014/main" id="{2F700D79-9878-5349-4155-835C7C86D4F3}"/>
              </a:ext>
              <a:ext uri="{C183D7F6-B498-43B3-948B-1728B52AA6E4}">
                <adec:decorative xmlns:adec="http://schemas.microsoft.com/office/drawing/2017/decorative" val="1"/>
              </a:ext>
            </a:extLst>
          </p:cNvPr>
          <p:cNvSpPr/>
          <p:nvPr/>
        </p:nvSpPr>
        <p:spPr>
          <a:xfrm>
            <a:off x="607253" y="2820790"/>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Graphic 23">
            <a:extLst>
              <a:ext uri="{FF2B5EF4-FFF2-40B4-BE49-F238E27FC236}">
                <a16:creationId xmlns:a16="http://schemas.microsoft.com/office/drawing/2014/main" id="{B09D13BA-ABCE-4AA8-C815-854CE9A6001D}"/>
              </a:ext>
              <a:ext uri="{C183D7F6-B498-43B3-948B-1728B52AA6E4}">
                <adec:decorative xmlns:adec="http://schemas.microsoft.com/office/drawing/2017/decorative" val="1"/>
              </a:ext>
            </a:extLst>
          </p:cNvPr>
          <p:cNvSpPr/>
          <p:nvPr/>
        </p:nvSpPr>
        <p:spPr>
          <a:xfrm>
            <a:off x="607253" y="342419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Graphic 23">
            <a:extLst>
              <a:ext uri="{FF2B5EF4-FFF2-40B4-BE49-F238E27FC236}">
                <a16:creationId xmlns:a16="http://schemas.microsoft.com/office/drawing/2014/main" id="{298FBB2B-FA39-0F4B-7B03-F03864EC8A95}"/>
              </a:ext>
              <a:ext uri="{C183D7F6-B498-43B3-948B-1728B52AA6E4}">
                <adec:decorative xmlns:adec="http://schemas.microsoft.com/office/drawing/2017/decorative" val="1"/>
              </a:ext>
            </a:extLst>
          </p:cNvPr>
          <p:cNvSpPr/>
          <p:nvPr/>
        </p:nvSpPr>
        <p:spPr>
          <a:xfrm>
            <a:off x="607253" y="4018513"/>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64219C50-2FFE-7E02-BE36-B0E327DD4B88}"/>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4" name="Group 3">
            <a:extLst>
              <a:ext uri="{FF2B5EF4-FFF2-40B4-BE49-F238E27FC236}">
                <a16:creationId xmlns:a16="http://schemas.microsoft.com/office/drawing/2014/main" id="{DB155CF9-2544-57A5-34F7-3C942CDE1869}"/>
              </a:ext>
            </a:extLst>
          </p:cNvPr>
          <p:cNvGrpSpPr/>
          <p:nvPr/>
        </p:nvGrpSpPr>
        <p:grpSpPr>
          <a:xfrm>
            <a:off x="3142152" y="1627824"/>
            <a:ext cx="8531745" cy="4344959"/>
            <a:chOff x="3122613" y="2481106"/>
            <a:chExt cx="8521464" cy="4920648"/>
          </a:xfrm>
        </p:grpSpPr>
        <p:grpSp>
          <p:nvGrpSpPr>
            <p:cNvPr id="5" name="Group 4">
              <a:extLst>
                <a:ext uri="{FF2B5EF4-FFF2-40B4-BE49-F238E27FC236}">
                  <a16:creationId xmlns:a16="http://schemas.microsoft.com/office/drawing/2014/main" id="{9C1FC97E-7004-AF2E-DFFF-3FA46B0C734D}"/>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11" name="Rectangle: Rounded Corners 10">
                <a:extLst>
                  <a:ext uri="{FF2B5EF4-FFF2-40B4-BE49-F238E27FC236}">
                    <a16:creationId xmlns:a16="http://schemas.microsoft.com/office/drawing/2014/main" id="{D03E5767-89F5-132E-6074-858CB4A15F0B}"/>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2" name="Rectangle: Rounded Corners 11">
                <a:extLst>
                  <a:ext uri="{FF2B5EF4-FFF2-40B4-BE49-F238E27FC236}">
                    <a16:creationId xmlns:a16="http://schemas.microsoft.com/office/drawing/2014/main" id="{70723F8E-D15D-5AF7-E561-8A7D97F11BCA}"/>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10" name="Arrow: Bent 9">
              <a:extLst>
                <a:ext uri="{FF2B5EF4-FFF2-40B4-BE49-F238E27FC236}">
                  <a16:creationId xmlns:a16="http://schemas.microsoft.com/office/drawing/2014/main" id="{DA2655F7-FEF2-73D1-5AFA-D012A6EE6DD0}"/>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40252238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46711A0F-07E6-124D-CA71-C5C732973D08}"/>
              </a:ext>
              <a:ext uri="{C183D7F6-B498-43B3-948B-1728B52AA6E4}">
                <adec:decorative xmlns:adec="http://schemas.microsoft.com/office/drawing/2017/decorative" val="1"/>
              </a:ext>
            </a:extLst>
          </p:cNvPr>
          <p:cNvSpPr>
            <a:spLocks/>
          </p:cNvSpPr>
          <p:nvPr/>
        </p:nvSpPr>
        <p:spPr bwMode="auto">
          <a:xfrm>
            <a:off x="586740" y="1332955"/>
            <a:ext cx="11018520" cy="4828133"/>
          </a:xfrm>
          <a:prstGeom prst="roundRect">
            <a:avLst>
              <a:gd name="adj" fmla="val 37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97" name="Rectangle: Rounded Corners 16">
            <a:extLst>
              <a:ext uri="{FF2B5EF4-FFF2-40B4-BE49-F238E27FC236}">
                <a16:creationId xmlns:a16="http://schemas.microsoft.com/office/drawing/2014/main" id="{2DB8E967-77EF-75E7-E771-03C14EE4634F}"/>
              </a:ext>
            </a:extLst>
          </p:cNvPr>
          <p:cNvSpPr/>
          <p:nvPr/>
        </p:nvSpPr>
        <p:spPr bwMode="auto">
          <a:xfrm>
            <a:off x="700089" y="1436191"/>
            <a:ext cx="5340096" cy="929637"/>
          </a:xfrm>
          <a:prstGeom prst="round2SameRect">
            <a:avLst>
              <a:gd name="adj1" fmla="val 14133"/>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16" name="Title 1">
            <a:extLst>
              <a:ext uri="{FF2B5EF4-FFF2-40B4-BE49-F238E27FC236}">
                <a16:creationId xmlns:a16="http://schemas.microsoft.com/office/drawing/2014/main" id="{41BF8BB5-6520-6F15-DD63-10CF0B629F14}"/>
              </a:ext>
            </a:extLst>
          </p:cNvPr>
          <p:cNvSpPr>
            <a:spLocks noGrp="1"/>
          </p:cNvSpPr>
          <p:nvPr>
            <p:ph type="title"/>
          </p:nvPr>
        </p:nvSpPr>
        <p:spPr>
          <a:xfrm>
            <a:off x="700088" y="932692"/>
            <a:ext cx="7189224" cy="503499"/>
          </a:xfrm>
        </p:spPr>
        <p:txBody>
          <a:bodyPr/>
          <a:lstStyle/>
          <a:p>
            <a:r>
              <a:rPr lang="en-US" sz="2800" noProof="0" dirty="0"/>
              <a:t>Unity Catalog Upgrade Scenarios/Resources</a:t>
            </a:r>
          </a:p>
        </p:txBody>
      </p:sp>
      <p:graphicFrame>
        <p:nvGraphicFramePr>
          <p:cNvPr id="19" name="Table 18">
            <a:extLst>
              <a:ext uri="{FF2B5EF4-FFF2-40B4-BE49-F238E27FC236}">
                <a16:creationId xmlns:a16="http://schemas.microsoft.com/office/drawing/2014/main" id="{EC2B7EE8-0F69-65A0-FE9F-29D10FBC24A2}"/>
              </a:ext>
            </a:extLst>
          </p:cNvPr>
          <p:cNvGraphicFramePr>
            <a:graphicFrameLocks noGrp="1"/>
          </p:cNvGraphicFramePr>
          <p:nvPr>
            <p:extLst>
              <p:ext uri="{D42A27DB-BD31-4B8C-83A1-F6EECF244321}">
                <p14:modId xmlns:p14="http://schemas.microsoft.com/office/powerpoint/2010/main" val="2231681687"/>
              </p:ext>
            </p:extLst>
          </p:nvPr>
        </p:nvGraphicFramePr>
        <p:xfrm>
          <a:off x="714362" y="1539427"/>
          <a:ext cx="5340096" cy="4604949"/>
        </p:xfrm>
        <a:graphic>
          <a:graphicData uri="http://schemas.openxmlformats.org/drawingml/2006/table">
            <a:tbl>
              <a:tblPr firstRow="1" bandRow="1">
                <a:effectLst>
                  <a:outerShdw blurRad="127000" algn="ctr" rotWithShape="0">
                    <a:srgbClr val="000000">
                      <a:alpha val="10000"/>
                    </a:srgbClr>
                  </a:outerShdw>
                </a:effectLst>
                <a:tableStyleId>{69012ECD-51FC-41F1-AA8D-1B2483CD663E}</a:tableStyleId>
              </a:tblPr>
              <a:tblGrid>
                <a:gridCol w="2904450">
                  <a:extLst>
                    <a:ext uri="{9D8B030D-6E8A-4147-A177-3AD203B41FA5}">
                      <a16:colId xmlns:a16="http://schemas.microsoft.com/office/drawing/2014/main" val="501409328"/>
                    </a:ext>
                  </a:extLst>
                </a:gridCol>
                <a:gridCol w="2435646">
                  <a:extLst>
                    <a:ext uri="{9D8B030D-6E8A-4147-A177-3AD203B41FA5}">
                      <a16:colId xmlns:a16="http://schemas.microsoft.com/office/drawing/2014/main" val="264815132"/>
                    </a:ext>
                  </a:extLst>
                </a:gridCol>
              </a:tblGrid>
              <a:tr h="932688">
                <a:tc>
                  <a:txBody>
                    <a:bodyPr/>
                    <a:lstStyle/>
                    <a:p>
                      <a:pPr marL="0" algn="l" defTabSz="932742" rtl="0" eaLnBrk="1" latinLnBrk="0" hangingPunct="1">
                        <a:lnSpc>
                          <a:spcPct val="100000"/>
                        </a:lnSpc>
                      </a:pPr>
                      <a:r>
                        <a:rPr lang="en-US" sz="1600" b="0" kern="1200" noProof="0" dirty="0">
                          <a:solidFill>
                            <a:schemeClr val="bg1"/>
                          </a:solidFill>
                          <a:latin typeface="+mj-lt"/>
                          <a:ea typeface="+mn-ea"/>
                          <a:cs typeface="+mn-cs"/>
                        </a:rPr>
                        <a:t>Scenario</a:t>
                      </a:r>
                    </a:p>
                  </a:txBody>
                  <a:tcPr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32742" rtl="0" eaLnBrk="1" latinLnBrk="0" hangingPunct="1">
                        <a:lnSpc>
                          <a:spcPct val="100000"/>
                        </a:lnSpc>
                      </a:pPr>
                      <a:r>
                        <a:rPr lang="en-US" sz="1600" b="0" kern="1200" noProof="0" dirty="0">
                          <a:solidFill>
                            <a:schemeClr val="bg1"/>
                          </a:solidFill>
                          <a:latin typeface="+mj-lt"/>
                          <a:ea typeface="+mn-ea"/>
                          <a:cs typeface="+mn-cs"/>
                        </a:rPr>
                        <a:t>Factory Support</a:t>
                      </a:r>
                    </a:p>
                  </a:txBody>
                  <a:tcPr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2933821"/>
                  </a:ext>
                </a:extLst>
              </a:tr>
              <a:tr h="335889">
                <a:tc>
                  <a:txBody>
                    <a:bodyPr/>
                    <a:lstStyle/>
                    <a:p>
                      <a:r>
                        <a:rPr lang="en-US" sz="1400" noProof="0" dirty="0">
                          <a:solidFill>
                            <a:schemeClr val="tx2"/>
                          </a:solidFill>
                          <a:latin typeface="+mj-lt"/>
                        </a:rPr>
                        <a:t>Unity Catalog design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noProof="0" dirty="0">
                          <a:solidFill>
                            <a:schemeClr val="tx1"/>
                          </a:solidFill>
                          <a:latin typeface="+mn-lt"/>
                        </a:rPr>
                        <a:t>Yes</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1767588"/>
                  </a:ext>
                </a:extLst>
              </a:tr>
              <a:tr h="834093">
                <a:tc>
                  <a:txBody>
                    <a:bodyPr/>
                    <a:lstStyle/>
                    <a:p>
                      <a:r>
                        <a:rPr lang="en-US" sz="1400" noProof="0" dirty="0">
                          <a:solidFill>
                            <a:schemeClr val="tx2"/>
                          </a:solidFill>
                          <a:latin typeface="+mj-lt"/>
                        </a:rPr>
                        <a:t>Multiple workspaces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noProof="0" dirty="0">
                          <a:solidFill>
                            <a:schemeClr val="tx1"/>
                          </a:solidFill>
                          <a:latin typeface="+mn-lt"/>
                        </a:rPr>
                        <a:t>Yes, up to 3 workspaces</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0087430"/>
                  </a:ext>
                </a:extLst>
              </a:tr>
              <a:tr h="834093">
                <a:tc>
                  <a:txBody>
                    <a:bodyPr/>
                    <a:lstStyle/>
                    <a:p>
                      <a:r>
                        <a:rPr lang="en-US" sz="1400" noProof="0" dirty="0">
                          <a:solidFill>
                            <a:schemeClr val="tx2"/>
                          </a:solidFill>
                          <a:latin typeface="+mj-lt"/>
                        </a:rPr>
                        <a:t>Multiple metastores/ regions/tenants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noProof="0" dirty="0">
                          <a:solidFill>
                            <a:schemeClr val="tx1"/>
                          </a:solidFill>
                          <a:latin typeface="+mn-lt"/>
                        </a:rPr>
                        <a:t>No</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2616139"/>
                  </a:ext>
                </a:extLst>
              </a:tr>
              <a:tr h="834093">
                <a:tc>
                  <a:txBody>
                    <a:bodyPr/>
                    <a:lstStyle/>
                    <a:p>
                      <a:r>
                        <a:rPr lang="en-US" sz="1400" noProof="0" dirty="0">
                          <a:solidFill>
                            <a:schemeClr val="tx2"/>
                          </a:solidFill>
                          <a:latin typeface="+mj-lt"/>
                        </a:rPr>
                        <a:t>Environments (Dev, test, prod)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noProof="0" dirty="0">
                          <a:solidFill>
                            <a:schemeClr val="tx1"/>
                          </a:solidFill>
                          <a:latin typeface="+mn-lt"/>
                        </a:rPr>
                        <a:t>Yes</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37380774"/>
                  </a:ext>
                </a:extLst>
              </a:tr>
              <a:tr h="834093">
                <a:tc>
                  <a:txBody>
                    <a:bodyPr/>
                    <a:lstStyle/>
                    <a:p>
                      <a:r>
                        <a:rPr lang="en-US" sz="1400" noProof="0" dirty="0">
                          <a:solidFill>
                            <a:schemeClr val="tx2"/>
                          </a:solidFill>
                          <a:latin typeface="+mj-lt"/>
                        </a:rPr>
                        <a:t>Manual upgrade (non-UCX)</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noProof="0" dirty="0">
                          <a:solidFill>
                            <a:schemeClr val="tx1"/>
                          </a:solidFill>
                          <a:latin typeface="+mn-lt"/>
                        </a:rPr>
                        <a:t>Yes</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9716954"/>
                  </a:ext>
                </a:extLst>
              </a:tr>
            </a:tbl>
          </a:graphicData>
        </a:graphic>
      </p:graphicFrame>
      <p:sp>
        <p:nvSpPr>
          <p:cNvPr id="2" name="Rectangle: Rounded Corners 16">
            <a:extLst>
              <a:ext uri="{FF2B5EF4-FFF2-40B4-BE49-F238E27FC236}">
                <a16:creationId xmlns:a16="http://schemas.microsoft.com/office/drawing/2014/main" id="{27523566-FE95-07F5-B4E9-637C8F5683D9}"/>
              </a:ext>
            </a:extLst>
          </p:cNvPr>
          <p:cNvSpPr/>
          <p:nvPr/>
        </p:nvSpPr>
        <p:spPr bwMode="auto">
          <a:xfrm>
            <a:off x="6151816" y="1436191"/>
            <a:ext cx="5340096" cy="929637"/>
          </a:xfrm>
          <a:prstGeom prst="round2SameRect">
            <a:avLst>
              <a:gd name="adj1" fmla="val 14133"/>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graphicFrame>
        <p:nvGraphicFramePr>
          <p:cNvPr id="20" name="Table 19">
            <a:extLst>
              <a:ext uri="{FF2B5EF4-FFF2-40B4-BE49-F238E27FC236}">
                <a16:creationId xmlns:a16="http://schemas.microsoft.com/office/drawing/2014/main" id="{315DDE14-F395-1F9E-D04A-9EF15636036E}"/>
              </a:ext>
            </a:extLst>
          </p:cNvPr>
          <p:cNvGraphicFramePr>
            <a:graphicFrameLocks noGrp="1"/>
          </p:cNvGraphicFramePr>
          <p:nvPr>
            <p:extLst>
              <p:ext uri="{D42A27DB-BD31-4B8C-83A1-F6EECF244321}">
                <p14:modId xmlns:p14="http://schemas.microsoft.com/office/powerpoint/2010/main" val="1287309473"/>
              </p:ext>
            </p:extLst>
          </p:nvPr>
        </p:nvGraphicFramePr>
        <p:xfrm>
          <a:off x="6166089" y="1436191"/>
          <a:ext cx="5340096" cy="4617720"/>
        </p:xfrm>
        <a:graphic>
          <a:graphicData uri="http://schemas.openxmlformats.org/drawingml/2006/table">
            <a:tbl>
              <a:tblPr firstRow="1" bandRow="1">
                <a:effectLst>
                  <a:outerShdw blurRad="127000" algn="ctr" rotWithShape="0">
                    <a:srgbClr val="000000">
                      <a:alpha val="10000"/>
                    </a:srgbClr>
                  </a:outerShdw>
                </a:effectLst>
                <a:tableStyleId>{69012ECD-51FC-41F1-AA8D-1B2483CD663E}</a:tableStyleId>
              </a:tblPr>
              <a:tblGrid>
                <a:gridCol w="2904448">
                  <a:extLst>
                    <a:ext uri="{9D8B030D-6E8A-4147-A177-3AD203B41FA5}">
                      <a16:colId xmlns:a16="http://schemas.microsoft.com/office/drawing/2014/main" val="501409328"/>
                    </a:ext>
                  </a:extLst>
                </a:gridCol>
                <a:gridCol w="2435648">
                  <a:extLst>
                    <a:ext uri="{9D8B030D-6E8A-4147-A177-3AD203B41FA5}">
                      <a16:colId xmlns:a16="http://schemas.microsoft.com/office/drawing/2014/main" val="264815132"/>
                    </a:ext>
                  </a:extLst>
                </a:gridCol>
              </a:tblGrid>
              <a:tr h="934397">
                <a:tc>
                  <a:txBody>
                    <a:bodyPr/>
                    <a:lstStyle/>
                    <a:p>
                      <a:pPr marL="0" algn="l" defTabSz="932742" rtl="0" eaLnBrk="1" latinLnBrk="0" hangingPunct="1">
                        <a:lnSpc>
                          <a:spcPct val="100000"/>
                        </a:lnSpc>
                      </a:pPr>
                      <a:r>
                        <a:rPr lang="en-US" sz="1600" b="0" kern="1200" noProof="0" dirty="0">
                          <a:solidFill>
                            <a:schemeClr val="bg1"/>
                          </a:solidFill>
                          <a:latin typeface="+mj-lt"/>
                          <a:ea typeface="+mn-ea"/>
                          <a:cs typeface="+mn-cs"/>
                        </a:rPr>
                        <a:t>Resources In Scope for Factory</a:t>
                      </a:r>
                    </a:p>
                  </a:txBody>
                  <a:tcPr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32742" rtl="0" eaLnBrk="1" latinLnBrk="0" hangingPunct="1">
                        <a:lnSpc>
                          <a:spcPct val="100000"/>
                        </a:lnSpc>
                      </a:pPr>
                      <a:r>
                        <a:rPr lang="en-US" sz="1600" b="0" kern="1200" noProof="0" dirty="0">
                          <a:solidFill>
                            <a:schemeClr val="bg1"/>
                          </a:solidFill>
                          <a:latin typeface="+mj-lt"/>
                          <a:ea typeface="+mn-ea"/>
                          <a:cs typeface="+mn-cs"/>
                        </a:rPr>
                        <a:t>Resources Out of Scope </a:t>
                      </a:r>
                      <a:br>
                        <a:rPr lang="en-US" sz="1600" b="0" kern="1200" noProof="0" dirty="0">
                          <a:solidFill>
                            <a:schemeClr val="bg1"/>
                          </a:solidFill>
                          <a:latin typeface="+mj-lt"/>
                          <a:ea typeface="+mn-ea"/>
                          <a:cs typeface="+mn-cs"/>
                        </a:rPr>
                      </a:br>
                      <a:r>
                        <a:rPr lang="en-US" sz="1600" b="0" kern="1200" noProof="0" dirty="0">
                          <a:solidFill>
                            <a:schemeClr val="bg1"/>
                          </a:solidFill>
                          <a:latin typeface="+mj-lt"/>
                          <a:ea typeface="+mn-ea"/>
                          <a:cs typeface="+mn-cs"/>
                        </a:rPr>
                        <a:t>for Factory</a:t>
                      </a:r>
                    </a:p>
                  </a:txBody>
                  <a:tcPr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2933821"/>
                  </a:ext>
                </a:extLst>
              </a:tr>
              <a:tr h="3683323">
                <a:tc>
                  <a:txBody>
                    <a:bodyPr/>
                    <a:lstStyle/>
                    <a:p>
                      <a:pPr>
                        <a:spcAft>
                          <a:spcPts val="600"/>
                        </a:spcAft>
                      </a:pPr>
                      <a:r>
                        <a:rPr lang="en-US" sz="1400" b="0" kern="1200" noProof="0" dirty="0">
                          <a:solidFill>
                            <a:schemeClr val="tx1"/>
                          </a:solidFill>
                          <a:effectLst/>
                          <a:latin typeface="+mn-lt"/>
                        </a:rPr>
                        <a:t>External Tables</a:t>
                      </a:r>
                    </a:p>
                    <a:p>
                      <a:pPr>
                        <a:spcAft>
                          <a:spcPts val="600"/>
                        </a:spcAft>
                      </a:pPr>
                      <a:r>
                        <a:rPr lang="en-US" sz="1400" noProof="0" dirty="0">
                          <a:solidFill>
                            <a:schemeClr val="tx1"/>
                          </a:solidFill>
                          <a:latin typeface="+mn-lt"/>
                        </a:rPr>
                        <a:t>UCX Assessment</a:t>
                      </a:r>
                    </a:p>
                    <a:p>
                      <a:pPr>
                        <a:spcAft>
                          <a:spcPts val="600"/>
                        </a:spcAft>
                      </a:pPr>
                      <a:r>
                        <a:rPr lang="en-US" sz="1400" noProof="0" dirty="0">
                          <a:solidFill>
                            <a:schemeClr val="tx1"/>
                          </a:solidFill>
                          <a:latin typeface="+mn-lt"/>
                        </a:rPr>
                        <a:t>Setup Unity Catalog</a:t>
                      </a:r>
                    </a:p>
                    <a:p>
                      <a:pPr>
                        <a:spcAft>
                          <a:spcPts val="600"/>
                        </a:spcAft>
                      </a:pPr>
                      <a:r>
                        <a:rPr lang="en-US" sz="1400" noProof="0" dirty="0">
                          <a:solidFill>
                            <a:schemeClr val="tx1"/>
                          </a:solidFill>
                          <a:latin typeface="+mn-lt"/>
                        </a:rPr>
                        <a:t>Groups</a:t>
                      </a:r>
                    </a:p>
                    <a:p>
                      <a:pPr>
                        <a:spcAft>
                          <a:spcPts val="600"/>
                        </a:spcAft>
                      </a:pPr>
                      <a:r>
                        <a:rPr lang="en-US" sz="1400" noProof="0" dirty="0">
                          <a:solidFill>
                            <a:schemeClr val="tx1"/>
                          </a:solidFill>
                          <a:latin typeface="+mn-lt"/>
                        </a:rPr>
                        <a:t>SQL Warehouses</a:t>
                      </a:r>
                    </a:p>
                    <a:p>
                      <a:pPr>
                        <a:spcAft>
                          <a:spcPts val="600"/>
                        </a:spcAft>
                      </a:pPr>
                      <a:r>
                        <a:rPr lang="en-US" sz="1400" noProof="0" dirty="0">
                          <a:solidFill>
                            <a:schemeClr val="tx1"/>
                          </a:solidFill>
                          <a:latin typeface="+mn-lt"/>
                        </a:rPr>
                        <a:t>Interactive Clusters</a:t>
                      </a:r>
                    </a:p>
                  </a:txBody>
                  <a:tcP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600"/>
                        </a:spcAft>
                      </a:pPr>
                      <a:r>
                        <a:rPr lang="en-US" sz="1400" noProof="0" dirty="0">
                          <a:solidFill>
                            <a:schemeClr val="tx1"/>
                          </a:solidFill>
                          <a:latin typeface="+mn-lt"/>
                        </a:rPr>
                        <a:t>SCIM setup</a:t>
                      </a:r>
                    </a:p>
                    <a:p>
                      <a:pPr>
                        <a:spcAft>
                          <a:spcPts val="600"/>
                        </a:spcAft>
                      </a:pPr>
                      <a:r>
                        <a:rPr lang="en-US" sz="1400" noProof="0" dirty="0">
                          <a:solidFill>
                            <a:schemeClr val="tx1"/>
                          </a:solidFill>
                          <a:latin typeface="+mn-lt"/>
                        </a:rPr>
                        <a:t>Managed Tables</a:t>
                      </a:r>
                    </a:p>
                    <a:p>
                      <a:pPr>
                        <a:spcAft>
                          <a:spcPts val="600"/>
                        </a:spcAft>
                      </a:pPr>
                      <a:r>
                        <a:rPr lang="en-US" sz="1400" noProof="0" dirty="0">
                          <a:solidFill>
                            <a:schemeClr val="tx1"/>
                          </a:solidFill>
                          <a:latin typeface="+mn-lt"/>
                        </a:rPr>
                        <a:t>Jobs/workflows</a:t>
                      </a:r>
                    </a:p>
                    <a:p>
                      <a:pPr>
                        <a:spcAft>
                          <a:spcPts val="600"/>
                        </a:spcAft>
                      </a:pPr>
                      <a:r>
                        <a:rPr lang="en-US" sz="1400" noProof="0" dirty="0">
                          <a:solidFill>
                            <a:schemeClr val="tx1"/>
                          </a:solidFill>
                          <a:latin typeface="+mn-lt"/>
                        </a:rPr>
                        <a:t>DLT Pipelines</a:t>
                      </a:r>
                    </a:p>
                    <a:p>
                      <a:pPr>
                        <a:spcAft>
                          <a:spcPts val="600"/>
                        </a:spcAft>
                      </a:pPr>
                      <a:r>
                        <a:rPr lang="en-US" sz="1400" noProof="0" dirty="0">
                          <a:solidFill>
                            <a:schemeClr val="tx1"/>
                          </a:solidFill>
                          <a:latin typeface="+mn-lt"/>
                        </a:rPr>
                        <a:t>Notebooks (code migration)</a:t>
                      </a:r>
                    </a:p>
                    <a:p>
                      <a:pPr>
                        <a:spcAft>
                          <a:spcPts val="600"/>
                        </a:spcAft>
                      </a:pPr>
                      <a:r>
                        <a:rPr lang="en-US" sz="1400" noProof="0" dirty="0">
                          <a:solidFill>
                            <a:schemeClr val="tx1"/>
                          </a:solidFill>
                          <a:latin typeface="+mn-lt"/>
                        </a:rPr>
                        <a:t>Table ACLs</a:t>
                      </a:r>
                    </a:p>
                    <a:p>
                      <a:pPr>
                        <a:spcAft>
                          <a:spcPts val="600"/>
                        </a:spcAft>
                      </a:pPr>
                      <a:r>
                        <a:rPr lang="en-US" sz="1400" noProof="0" dirty="0">
                          <a:solidFill>
                            <a:schemeClr val="tx1"/>
                          </a:solidFill>
                          <a:latin typeface="+mn-lt"/>
                        </a:rPr>
                        <a:t>Views</a:t>
                      </a:r>
                    </a:p>
                    <a:p>
                      <a:pPr>
                        <a:spcAft>
                          <a:spcPts val="600"/>
                        </a:spcAft>
                      </a:pPr>
                      <a:r>
                        <a:rPr lang="en-US" sz="1400" noProof="0" dirty="0">
                          <a:solidFill>
                            <a:schemeClr val="tx1"/>
                          </a:solidFill>
                          <a:latin typeface="+mn-lt"/>
                        </a:rPr>
                        <a:t>UDFs</a:t>
                      </a:r>
                    </a:p>
                    <a:p>
                      <a:pPr>
                        <a:spcAft>
                          <a:spcPts val="600"/>
                        </a:spcAft>
                      </a:pPr>
                      <a:r>
                        <a:rPr lang="en-US" sz="1400" noProof="0" dirty="0">
                          <a:solidFill>
                            <a:schemeClr val="tx1"/>
                          </a:solidFill>
                          <a:latin typeface="+mn-lt"/>
                        </a:rPr>
                        <a:t>Init scripts</a:t>
                      </a:r>
                    </a:p>
                  </a:txBody>
                  <a:tcP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1767588"/>
                  </a:ext>
                </a:extLst>
              </a:tr>
            </a:tbl>
          </a:graphicData>
        </a:graphic>
      </p:graphicFrame>
      <p:sp>
        <p:nvSpPr>
          <p:cNvPr id="3" name="TextBox 2">
            <a:extLst>
              <a:ext uri="{FF2B5EF4-FFF2-40B4-BE49-F238E27FC236}">
                <a16:creationId xmlns:a16="http://schemas.microsoft.com/office/drawing/2014/main" id="{DE9A55EE-E11A-069D-AC66-09FDCF5FDF5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4230908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64DD3-E2B5-113D-D314-29A0779A5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93149-156E-7ED3-02C3-B3F5656E2548}"/>
              </a:ext>
            </a:extLst>
          </p:cNvPr>
          <p:cNvSpPr>
            <a:spLocks noGrp="1"/>
          </p:cNvSpPr>
          <p:nvPr>
            <p:ph type="title"/>
          </p:nvPr>
        </p:nvSpPr>
        <p:spPr>
          <a:xfrm>
            <a:off x="586740" y="913234"/>
            <a:ext cx="7863730" cy="471338"/>
          </a:xfrm>
        </p:spPr>
        <p:txBody>
          <a:bodyPr/>
          <a:lstStyle/>
          <a:p>
            <a:r>
              <a:rPr lang="en-US" sz="2800" noProof="0" dirty="0"/>
              <a:t>Azure Databricks Lakehouse Migration Scenarios</a:t>
            </a:r>
          </a:p>
        </p:txBody>
      </p:sp>
      <p:sp>
        <p:nvSpPr>
          <p:cNvPr id="4" name="Rectangle: Rounded Corners 3">
            <a:extLst>
              <a:ext uri="{FF2B5EF4-FFF2-40B4-BE49-F238E27FC236}">
                <a16:creationId xmlns:a16="http://schemas.microsoft.com/office/drawing/2014/main" id="{D667E815-C76E-EBC4-7B87-E2383FB01165}"/>
              </a:ext>
              <a:ext uri="{C183D7F6-B498-43B3-948B-1728B52AA6E4}">
                <adec:decorative xmlns:adec="http://schemas.microsoft.com/office/drawing/2017/decorative" val="1"/>
              </a:ext>
            </a:extLst>
          </p:cNvPr>
          <p:cNvSpPr>
            <a:spLocks/>
          </p:cNvSpPr>
          <p:nvPr/>
        </p:nvSpPr>
        <p:spPr bwMode="auto">
          <a:xfrm>
            <a:off x="586740" y="1332955"/>
            <a:ext cx="11018520" cy="4828133"/>
          </a:xfrm>
          <a:prstGeom prst="roundRect">
            <a:avLst>
              <a:gd name="adj" fmla="val 37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3" name="Rectangle: Rounded Corners 16">
            <a:extLst>
              <a:ext uri="{FF2B5EF4-FFF2-40B4-BE49-F238E27FC236}">
                <a16:creationId xmlns:a16="http://schemas.microsoft.com/office/drawing/2014/main" id="{6F503930-10F8-EDC2-CC47-E3272835114A}"/>
              </a:ext>
            </a:extLst>
          </p:cNvPr>
          <p:cNvSpPr/>
          <p:nvPr/>
        </p:nvSpPr>
        <p:spPr bwMode="auto">
          <a:xfrm>
            <a:off x="700089" y="1436190"/>
            <a:ext cx="10789920" cy="950976"/>
          </a:xfrm>
          <a:prstGeom prst="round2SameRect">
            <a:avLst>
              <a:gd name="adj1" fmla="val 14133"/>
              <a:gd name="adj2" fmla="val 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graphicFrame>
        <p:nvGraphicFramePr>
          <p:cNvPr id="18" name="Table 17">
            <a:extLst>
              <a:ext uri="{FF2B5EF4-FFF2-40B4-BE49-F238E27FC236}">
                <a16:creationId xmlns:a16="http://schemas.microsoft.com/office/drawing/2014/main" id="{B3BC9E47-C3BC-2C90-60E2-E12E83B2F8CF}"/>
              </a:ext>
            </a:extLst>
          </p:cNvPr>
          <p:cNvGraphicFramePr>
            <a:graphicFrameLocks noGrp="1"/>
          </p:cNvGraphicFramePr>
          <p:nvPr>
            <p:extLst>
              <p:ext uri="{D42A27DB-BD31-4B8C-83A1-F6EECF244321}">
                <p14:modId xmlns:p14="http://schemas.microsoft.com/office/powerpoint/2010/main" val="1580786998"/>
              </p:ext>
            </p:extLst>
          </p:nvPr>
        </p:nvGraphicFramePr>
        <p:xfrm>
          <a:off x="700089" y="1384572"/>
          <a:ext cx="10791825" cy="4621660"/>
        </p:xfrm>
        <a:graphic>
          <a:graphicData uri="http://schemas.openxmlformats.org/drawingml/2006/table">
            <a:tbl>
              <a:tblPr firstRow="1" firstCol="1" bandRow="1">
                <a:effectLst>
                  <a:outerShdw blurRad="127000" algn="ctr" rotWithShape="0">
                    <a:srgbClr val="000000">
                      <a:alpha val="10000"/>
                    </a:srgbClr>
                  </a:outerShdw>
                </a:effectLst>
                <a:tableStyleId>{B301B821-A1FF-4177-AEE7-76D212191A09}</a:tableStyleId>
              </a:tblPr>
              <a:tblGrid>
                <a:gridCol w="1197460">
                  <a:extLst>
                    <a:ext uri="{9D8B030D-6E8A-4147-A177-3AD203B41FA5}">
                      <a16:colId xmlns:a16="http://schemas.microsoft.com/office/drawing/2014/main" val="2632810768"/>
                    </a:ext>
                  </a:extLst>
                </a:gridCol>
                <a:gridCol w="1830827">
                  <a:extLst>
                    <a:ext uri="{9D8B030D-6E8A-4147-A177-3AD203B41FA5}">
                      <a16:colId xmlns:a16="http://schemas.microsoft.com/office/drawing/2014/main" val="3581702336"/>
                    </a:ext>
                  </a:extLst>
                </a:gridCol>
                <a:gridCol w="2111581">
                  <a:extLst>
                    <a:ext uri="{9D8B030D-6E8A-4147-A177-3AD203B41FA5}">
                      <a16:colId xmlns:a16="http://schemas.microsoft.com/office/drawing/2014/main" val="604349641"/>
                    </a:ext>
                  </a:extLst>
                </a:gridCol>
                <a:gridCol w="3190553">
                  <a:extLst>
                    <a:ext uri="{9D8B030D-6E8A-4147-A177-3AD203B41FA5}">
                      <a16:colId xmlns:a16="http://schemas.microsoft.com/office/drawing/2014/main" val="757882097"/>
                    </a:ext>
                  </a:extLst>
                </a:gridCol>
                <a:gridCol w="2461404">
                  <a:extLst>
                    <a:ext uri="{9D8B030D-6E8A-4147-A177-3AD203B41FA5}">
                      <a16:colId xmlns:a16="http://schemas.microsoft.com/office/drawing/2014/main" val="2974976896"/>
                    </a:ext>
                  </a:extLst>
                </a:gridCol>
              </a:tblGrid>
              <a:tr h="949164">
                <a:tc gridSpan="2">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n-ea"/>
                          <a:cs typeface="+mn-cs"/>
                        </a:rPr>
                        <a:t>Migration scenario</a:t>
                      </a:r>
                    </a:p>
                  </a:txBody>
                  <a:tcPr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r>
                        <a:rPr lang="fr-FR"/>
                        <a:t>Name</a:t>
                      </a:r>
                      <a:endParaRPr lang="en-US"/>
                    </a:p>
                  </a:txBody>
                  <a:tcPr anchor="ctr"/>
                </a:tc>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n-ea"/>
                          <a:cs typeface="+mn-cs"/>
                        </a:rPr>
                        <a:t>Migration tooling</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n-ea"/>
                          <a:cs typeface="+mn-cs"/>
                        </a:rPr>
                        <a:t>Target architecture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lnSpc>
                          <a:spcPct val="100000"/>
                        </a:lnSpc>
                      </a:pPr>
                      <a:r>
                        <a:rPr lang="en-US" sz="1600" b="0" kern="1200" noProof="0" dirty="0">
                          <a:solidFill>
                            <a:schemeClr val="bg1"/>
                          </a:solidFill>
                          <a:latin typeface="+mj-lt"/>
                          <a:ea typeface="+mn-ea"/>
                          <a:cs typeface="+mn-cs"/>
                        </a:rPr>
                        <a:t>Code target</a:t>
                      </a:r>
                    </a:p>
                  </a:txBody>
                  <a:tcPr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8668818"/>
                  </a:ext>
                </a:extLst>
              </a:tr>
              <a:tr h="1836248">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algn="l"/>
                      <a:r>
                        <a:rPr lang="en-US" sz="1400" b="0" noProof="0" dirty="0">
                          <a:solidFill>
                            <a:schemeClr val="tx2"/>
                          </a:solidFill>
                          <a:latin typeface="+mj-lt"/>
                          <a:cs typeface="Segoe UI"/>
                        </a:rPr>
                        <a:t>Scenario 1</a:t>
                      </a:r>
                    </a:p>
                  </a:txBody>
                  <a:tcP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indent="0" algn="l">
                        <a:spcAft>
                          <a:spcPts val="600"/>
                        </a:spcAft>
                        <a:buFontTx/>
                        <a:buNone/>
                      </a:pPr>
                      <a:r>
                        <a:rPr lang="en-US" sz="1400" noProof="0" dirty="0">
                          <a:solidFill>
                            <a:schemeClr val="tx1"/>
                          </a:solidFill>
                          <a:latin typeface="+mn-lt"/>
                          <a:cs typeface="Segoe UI"/>
                        </a:rPr>
                        <a:t>Azure Databricks</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400" b="0" noProof="0" dirty="0">
                          <a:solidFill>
                            <a:schemeClr val="tx1"/>
                          </a:solidFill>
                          <a:latin typeface="+mn-lt"/>
                        </a:rPr>
                        <a:t>Azure Data Factory or Databricks</a:t>
                      </a:r>
                    </a:p>
                    <a:p>
                      <a:pPr marL="0" marR="0" lvl="0" indent="0" algn="l" defTabSz="914367" rtl="0" eaLnBrk="1" fontAlgn="auto" latinLnBrk="0" hangingPunct="1">
                        <a:lnSpc>
                          <a:spcPct val="100000"/>
                        </a:lnSpc>
                        <a:spcBef>
                          <a:spcPts val="0"/>
                        </a:spcBef>
                        <a:spcAft>
                          <a:spcPts val="600"/>
                        </a:spcAft>
                        <a:buClrTx/>
                        <a:buSzTx/>
                        <a:buFontTx/>
                        <a:buNone/>
                        <a:tabLst/>
                        <a:defRPr/>
                      </a:pPr>
                      <a:r>
                        <a:rPr lang="en-US" sz="1400" b="0" noProof="0" dirty="0">
                          <a:solidFill>
                            <a:schemeClr val="tx1"/>
                          </a:solidFill>
                          <a:latin typeface="+mn-lt"/>
                        </a:rPr>
                        <a:t>Notebook/Workflows</a:t>
                      </a:r>
                      <a:endParaRPr kumimoji="0" lang="en-US" sz="1400" b="0" i="1" u="none" strike="noStrike" kern="1200" cap="none" spc="0" normalizeH="0" baseline="0" noProof="0" dirty="0">
                        <a:ln>
                          <a:noFill/>
                        </a:ln>
                        <a:solidFill>
                          <a:schemeClr val="tx1"/>
                        </a:solidFill>
                        <a:effectLst/>
                        <a:uLnTx/>
                        <a:uFillTx/>
                        <a:latin typeface="+mn-lt"/>
                        <a:ea typeface="+mn-ea"/>
                        <a:cs typeface="Segoe UI"/>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lang="en-US" sz="1400" b="0" kern="1200" noProof="0" dirty="0">
                          <a:solidFill>
                            <a:schemeClr val="tx1"/>
                          </a:solidFill>
                          <a:latin typeface="+mn-lt"/>
                        </a:rPr>
                        <a:t>Medallion</a:t>
                      </a:r>
                    </a:p>
                    <a:p>
                      <a:pPr marL="31750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400" b="0" noProof="0" dirty="0">
                          <a:solidFill>
                            <a:schemeClr val="tx1"/>
                          </a:solidFill>
                          <a:latin typeface="+mn-lt"/>
                        </a:rPr>
                        <a:t>Bronze = Lakehouse</a:t>
                      </a:r>
                      <a:endParaRPr kumimoji="0" lang="en-US" sz="1400" b="0" u="none" strike="noStrike" kern="1200" cap="none" spc="0" normalizeH="0" baseline="0" noProof="0" dirty="0">
                        <a:ln>
                          <a:noFill/>
                        </a:ln>
                        <a:solidFill>
                          <a:schemeClr val="tx1"/>
                        </a:solidFill>
                        <a:effectLst/>
                        <a:uLnTx/>
                        <a:uFillTx/>
                        <a:latin typeface="+mn-lt"/>
                      </a:endParaRPr>
                    </a:p>
                    <a:p>
                      <a:pPr marL="31750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u="none" strike="noStrike" kern="1200" cap="none" spc="0" normalizeH="0" baseline="0" noProof="0" dirty="0">
                          <a:ln>
                            <a:noFill/>
                          </a:ln>
                          <a:solidFill>
                            <a:schemeClr val="tx1"/>
                          </a:solidFill>
                          <a:effectLst/>
                          <a:uLnTx/>
                          <a:uFillTx/>
                          <a:latin typeface="+mn-lt"/>
                        </a:rPr>
                        <a:t>Silver = Lakehouse</a:t>
                      </a:r>
                    </a:p>
                    <a:p>
                      <a:pPr marL="31750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u="none" strike="noStrike" kern="1200" cap="none" spc="0" normalizeH="0" baseline="0" noProof="0" dirty="0">
                          <a:ln>
                            <a:noFill/>
                          </a:ln>
                          <a:solidFill>
                            <a:schemeClr val="tx1"/>
                          </a:solidFill>
                          <a:effectLst/>
                          <a:uLnTx/>
                          <a:uFillTx/>
                          <a:latin typeface="+mn-lt"/>
                        </a:rPr>
                        <a:t>Gold = Lakehouse</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32742" rtl="0" eaLnBrk="1" latinLnBrk="0" hangingPunct="1">
                        <a:defRPr sz="1800" kern="1200">
                          <a:solidFill>
                            <a:schemeClr val="tx1"/>
                          </a:solidFill>
                          <a:latin typeface="Calibri" panose="020F0502020204030204"/>
                        </a:defRPr>
                      </a:lvl1pPr>
                      <a:lvl2pPr marL="466371" algn="l" defTabSz="932742" rtl="0" eaLnBrk="1" latinLnBrk="0" hangingPunct="1">
                        <a:defRPr sz="1800" kern="1200">
                          <a:solidFill>
                            <a:schemeClr val="tx1"/>
                          </a:solidFill>
                          <a:latin typeface="Calibri" panose="020F0502020204030204"/>
                        </a:defRPr>
                      </a:lvl2pPr>
                      <a:lvl3pPr marL="932742" algn="l" defTabSz="932742" rtl="0" eaLnBrk="1" latinLnBrk="0" hangingPunct="1">
                        <a:defRPr sz="1800" kern="1200">
                          <a:solidFill>
                            <a:schemeClr val="tx1"/>
                          </a:solidFill>
                          <a:latin typeface="Calibri" panose="020F0502020204030204"/>
                        </a:defRPr>
                      </a:lvl3pPr>
                      <a:lvl4pPr marL="1399113" algn="l" defTabSz="932742" rtl="0" eaLnBrk="1" latinLnBrk="0" hangingPunct="1">
                        <a:defRPr sz="1800" kern="1200">
                          <a:solidFill>
                            <a:schemeClr val="tx1"/>
                          </a:solidFill>
                          <a:latin typeface="Calibri" panose="020F0502020204030204"/>
                        </a:defRPr>
                      </a:lvl4pPr>
                      <a:lvl5pPr marL="1865484" algn="l" defTabSz="932742" rtl="0" eaLnBrk="1" latinLnBrk="0" hangingPunct="1">
                        <a:defRPr sz="1800" kern="1200">
                          <a:solidFill>
                            <a:schemeClr val="tx1"/>
                          </a:solidFill>
                          <a:latin typeface="Calibri" panose="020F0502020204030204"/>
                        </a:defRPr>
                      </a:lvl5pPr>
                      <a:lvl6pPr marL="2331856" algn="l" defTabSz="932742" rtl="0" eaLnBrk="1" latinLnBrk="0" hangingPunct="1">
                        <a:defRPr sz="1800" kern="1200">
                          <a:solidFill>
                            <a:schemeClr val="tx1"/>
                          </a:solidFill>
                          <a:latin typeface="Calibri" panose="020F0502020204030204"/>
                        </a:defRPr>
                      </a:lvl6pPr>
                      <a:lvl7pPr marL="2798226" algn="l" defTabSz="932742" rtl="0" eaLnBrk="1" latinLnBrk="0" hangingPunct="1">
                        <a:defRPr sz="1800" kern="1200">
                          <a:solidFill>
                            <a:schemeClr val="tx1"/>
                          </a:solidFill>
                          <a:latin typeface="Calibri" panose="020F0502020204030204"/>
                        </a:defRPr>
                      </a:lvl7pPr>
                      <a:lvl8pPr marL="3264597" algn="l" defTabSz="932742" rtl="0" eaLnBrk="1" latinLnBrk="0" hangingPunct="1">
                        <a:defRPr sz="1800" kern="1200">
                          <a:solidFill>
                            <a:schemeClr val="tx1"/>
                          </a:solidFill>
                          <a:latin typeface="Calibri" panose="020F0502020204030204"/>
                        </a:defRPr>
                      </a:lvl8pPr>
                      <a:lvl9pPr marL="3730969" algn="l" defTabSz="932742" rtl="0" eaLnBrk="1" latinLnBrk="0" hangingPunct="1">
                        <a:defRPr sz="1800"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u="none" strike="noStrike" kern="1200" cap="none" spc="0" normalizeH="0" baseline="0" noProof="0" dirty="0">
                          <a:ln>
                            <a:noFill/>
                          </a:ln>
                          <a:solidFill>
                            <a:schemeClr val="tx1"/>
                          </a:solidFill>
                          <a:effectLst/>
                          <a:uLnTx/>
                          <a:uFillTx/>
                          <a:latin typeface="+mn-lt"/>
                        </a:rPr>
                        <a:t>Notebooks</a:t>
                      </a:r>
                      <a:endParaRPr kumimoji="0" lang="en-US" sz="1400" b="0" i="0" u="none" strike="noStrike" kern="1200" cap="none" spc="0" normalizeH="0" baseline="0" noProof="0" dirty="0">
                        <a:ln>
                          <a:noFill/>
                        </a:ln>
                        <a:solidFill>
                          <a:schemeClr val="tx1"/>
                        </a:solidFill>
                        <a:effectLst/>
                        <a:uLnTx/>
                        <a:uFillTx/>
                        <a:latin typeface="+mn-lt"/>
                        <a:ea typeface="+mn-ea"/>
                        <a:cs typeface="Segoe UI"/>
                      </a:endParaRPr>
                    </a:p>
                  </a:txBody>
                  <a:tcP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6948736"/>
                  </a:ext>
                </a:extLst>
              </a:tr>
              <a:tr h="1836248">
                <a:tc>
                  <a:txBody>
                    <a:bodyPr/>
                    <a:lstStyle>
                      <a:lvl1pPr marL="0" algn="l" defTabSz="932742" rtl="0" eaLnBrk="1" latinLnBrk="0" hangingPunct="1">
                        <a:defRPr sz="1800" b="1" kern="1200">
                          <a:solidFill>
                            <a:schemeClr val="tx1"/>
                          </a:solidFill>
                          <a:latin typeface="Calibri" panose="020F0502020204030204"/>
                        </a:defRPr>
                      </a:lvl1pPr>
                      <a:lvl2pPr marL="466371" algn="l" defTabSz="932742" rtl="0" eaLnBrk="1" latinLnBrk="0" hangingPunct="1">
                        <a:defRPr sz="1800" b="1" kern="1200">
                          <a:solidFill>
                            <a:schemeClr val="tx1"/>
                          </a:solidFill>
                          <a:latin typeface="Calibri" panose="020F0502020204030204"/>
                        </a:defRPr>
                      </a:lvl2pPr>
                      <a:lvl3pPr marL="932742" algn="l" defTabSz="932742" rtl="0" eaLnBrk="1" latinLnBrk="0" hangingPunct="1">
                        <a:defRPr sz="1800" b="1" kern="1200">
                          <a:solidFill>
                            <a:schemeClr val="tx1"/>
                          </a:solidFill>
                          <a:latin typeface="Calibri" panose="020F0502020204030204"/>
                        </a:defRPr>
                      </a:lvl3pPr>
                      <a:lvl4pPr marL="1399113" algn="l" defTabSz="932742" rtl="0" eaLnBrk="1" latinLnBrk="0" hangingPunct="1">
                        <a:defRPr sz="1800" b="1" kern="1200">
                          <a:solidFill>
                            <a:schemeClr val="tx1"/>
                          </a:solidFill>
                          <a:latin typeface="Calibri" panose="020F0502020204030204"/>
                        </a:defRPr>
                      </a:lvl4pPr>
                      <a:lvl5pPr marL="1865484" algn="l" defTabSz="932742" rtl="0" eaLnBrk="1" latinLnBrk="0" hangingPunct="1">
                        <a:defRPr sz="1800" b="1" kern="1200">
                          <a:solidFill>
                            <a:schemeClr val="tx1"/>
                          </a:solidFill>
                          <a:latin typeface="Calibri" panose="020F0502020204030204"/>
                        </a:defRPr>
                      </a:lvl5pPr>
                      <a:lvl6pPr marL="2331856" algn="l" defTabSz="932742" rtl="0" eaLnBrk="1" latinLnBrk="0" hangingPunct="1">
                        <a:defRPr sz="1800" b="1" kern="1200">
                          <a:solidFill>
                            <a:schemeClr val="tx1"/>
                          </a:solidFill>
                          <a:latin typeface="Calibri" panose="020F0502020204030204"/>
                        </a:defRPr>
                      </a:lvl6pPr>
                      <a:lvl7pPr marL="2798226" algn="l" defTabSz="932742" rtl="0" eaLnBrk="1" latinLnBrk="0" hangingPunct="1">
                        <a:defRPr sz="1800" b="1" kern="1200">
                          <a:solidFill>
                            <a:schemeClr val="tx1"/>
                          </a:solidFill>
                          <a:latin typeface="Calibri" panose="020F0502020204030204"/>
                        </a:defRPr>
                      </a:lvl7pPr>
                      <a:lvl8pPr marL="3264597" algn="l" defTabSz="932742" rtl="0" eaLnBrk="1" latinLnBrk="0" hangingPunct="1">
                        <a:defRPr sz="1800" b="1" kern="1200">
                          <a:solidFill>
                            <a:schemeClr val="tx1"/>
                          </a:solidFill>
                          <a:latin typeface="Calibri" panose="020F0502020204030204"/>
                        </a:defRPr>
                      </a:lvl8pPr>
                      <a:lvl9pPr marL="3730969" algn="l" defTabSz="932742" rtl="0" eaLnBrk="1" latinLnBrk="0" hangingPunct="1">
                        <a:defRPr sz="1800" b="1" kern="1200">
                          <a:solidFill>
                            <a:schemeClr val="tx1"/>
                          </a:solidFill>
                          <a:latin typeface="Calibri" panose="020F0502020204030204"/>
                        </a:defRPr>
                      </a:lvl9pPr>
                    </a:lstStyle>
                    <a:p>
                      <a:pPr marL="0" algn="l" defTabSz="932742" rtl="0" eaLnBrk="1" latinLnBrk="0" hangingPunct="1"/>
                      <a:r>
                        <a:rPr lang="en-US" sz="1400" b="0" kern="1200" noProof="0" dirty="0">
                          <a:solidFill>
                            <a:schemeClr val="tx2"/>
                          </a:solidFill>
                          <a:latin typeface="+mj-lt"/>
                          <a:ea typeface="+mn-ea"/>
                          <a:cs typeface="Segoe UI"/>
                        </a:rPr>
                        <a:t>Scenario 2</a:t>
                      </a:r>
                    </a:p>
                  </a:txBody>
                  <a:tcP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a:spcAft>
                          <a:spcPts val="600"/>
                        </a:spcAft>
                        <a:buFontTx/>
                        <a:buNone/>
                      </a:pPr>
                      <a:r>
                        <a:rPr lang="en-US" sz="1400" noProof="0" dirty="0">
                          <a:solidFill>
                            <a:schemeClr val="tx1"/>
                          </a:solidFill>
                          <a:latin typeface="+mn-lt"/>
                          <a:cs typeface="Segoe UI"/>
                        </a:rPr>
                        <a:t>Azure Databricks (Unity Catalog)</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Segoe UI"/>
                        </a:rPr>
                        <a:t>Notebook and Rest API</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Segoe UI"/>
                        </a:rPr>
                        <a:t>Azure Databricks</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Segoe UI"/>
                        </a:rPr>
                        <a:t>Notebook Scripts</a:t>
                      </a:r>
                    </a:p>
                  </a:txBody>
                  <a:tcP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443283"/>
                  </a:ext>
                </a:extLst>
              </a:tr>
            </a:tbl>
          </a:graphicData>
        </a:graphic>
      </p:graphicFrame>
      <p:sp>
        <p:nvSpPr>
          <p:cNvPr id="5" name="TextBox 4">
            <a:extLst>
              <a:ext uri="{FF2B5EF4-FFF2-40B4-BE49-F238E27FC236}">
                <a16:creationId xmlns:a16="http://schemas.microsoft.com/office/drawing/2014/main" id="{5C59C452-D542-4B4A-0A67-3CAD151A6A10}"/>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6924316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794C3-A94F-8B75-4CA9-DE2BD96C3113}"/>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536E5B11-5251-CD4B-2769-65449B89A581}"/>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FD1755F4-6FA1-7307-82E4-8D4C671FEB07}"/>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E0F6C7C3-51F7-D2FA-3868-29FB74CCDD0B}"/>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7D0A8E0B-353B-7F8E-6F27-B4926EF58BA6}"/>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873FDF58-DD62-F9BB-12EE-69539ABC958E}"/>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12E6289C-67FA-ECFC-4A65-CE5FD60AF3F6}"/>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5B1EF535-DBA7-825A-8D26-C9FD92DBB36A}"/>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CE8F4225-29EE-F9C0-5665-B05362633594}"/>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C0429197-96E1-1D3D-8B93-108A84F4FE36}"/>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DC5C69E3-9890-2CDF-E628-0BC86DE2D20A}"/>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2DF7245F-15B5-0373-112B-80F9381DE4F1}"/>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FABD7DAD-BEAF-B431-DD4A-678FB38001EA}"/>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0869E82A-018C-7D4F-4190-83C0D3CF4B24}"/>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E2A3FA76-99A8-A67F-AA11-6A241D0F82CF}"/>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3A7C772B-AFE6-8440-9AC7-5CB27A0CD881}"/>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265ED397-C718-4E4A-C059-A3708D00434F}"/>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BA88315B-1EBF-E253-8F02-EC142F12F003}"/>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E182F087-00EC-2A5F-5370-917EB3B35F2F}"/>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3701CF47-1252-4CB5-5271-D695D5BB0937}"/>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58DD092D-97AC-D48C-1115-3E6E4E4912B6}"/>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A3D07279-DB16-D510-D382-5E1FDD51BFCB}"/>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7D6582BA-CAF6-9BED-9A74-520CA6722C9B}"/>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26859CA0-7E3C-85E2-5D33-5EE03ED81C7D}"/>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AB8BDEDD-21EC-07E8-5A3F-FDFE74DDBAD6}"/>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37CEE023-2037-B512-3A5E-D4390330B9F2}"/>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8BF04ABA-BDFA-8ED0-0557-4AA20440B4F9}"/>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2F37ADD3-4278-0D5F-D7F1-CF395772F254}"/>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FD5080DE-CF82-2BC4-81E0-7F1EFEFC5D7E}"/>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F0D05AFB-424C-AEE9-FDBF-E1E41F94008A}"/>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E201E3DD-ED55-CB13-85B0-9F5D7816F4F1}"/>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EFF132C2-D4CB-B5DB-8F65-AE738A67E974}"/>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C6E4B994-3DC1-5064-0931-A79E958A417B}"/>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31CE5CD3-390E-DE53-964B-CA2D8AF32677}"/>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6EB403FF-7016-A943-A887-6ADD6A76BCFE}"/>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0C5F5E78-9296-42AA-5381-87A14D0FF0D7}"/>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4387D7A5-8C33-5DDC-0C65-9086560D870B}"/>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2EB9604F-6722-2118-DD1B-58B5F9E29098}"/>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FF6AD374-CC99-BAB1-6776-1BC3FA408012}"/>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B42D6C34-D6FD-CED3-9327-49163C91651C}"/>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7" name="TextBox 136">
            <a:extLst>
              <a:ext uri="{FF2B5EF4-FFF2-40B4-BE49-F238E27FC236}">
                <a16:creationId xmlns:a16="http://schemas.microsoft.com/office/drawing/2014/main" id="{F0D8996D-7741-EA84-16AF-5E5F29BABC93}"/>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DD11C7AC-7A38-36F2-66B6-8136443BB8E0}"/>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8CE725B5-8842-8EFA-C7CE-35B79379ACAE}"/>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15403993-B812-7190-76AA-35EDD4B2E6CA}"/>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B3E153A9-C70A-0E72-D70E-E6078ED4A51F}"/>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06CFC1C1-7D22-5297-2C76-1A85E95A0738}"/>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A850FCFB-361E-F83C-B56F-31856DC9D7BE}"/>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A708F73B-647E-6263-58AE-34B8F7565E19}"/>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F4223907-C018-5DBB-9B78-28400F1D5B18}"/>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2074B56E-BF90-5703-D04E-1BD8D59F5334}"/>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00347611-813A-B6C2-89EA-E94DC90EEA69}"/>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D2B837AF-A8BC-86A3-19BE-3548DAA23B4E}"/>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38FF31B1-21FF-B250-4734-02EDF5D5FF36}"/>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0BD6117B-F468-045D-5345-68DA26ED8EF9}"/>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F6FD6EA7-798D-9998-8E7A-94C06162EA40}"/>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1C9EADA0-988F-7A58-6B20-00480AF499EB}"/>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712C49A1-2B65-689D-188F-4E82AE04FB01}"/>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F55A6D24-0111-4DF4-4F41-3EE89D19E426}"/>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6D68AC35-7FB6-A7D0-6A6B-41FC0CD47C05}"/>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3C7B526D-708A-653D-18AE-DBBB326B8F25}"/>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AA88BAF2-D75B-ACC6-DA69-56D953035B20}"/>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D034424C-1002-BF84-E6B0-DEEE308F94B5}"/>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43C2DD8A-5CDE-5738-0C9A-F4102755F7C8}"/>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D33926D9-4D23-CBA3-8AD8-E4CC6CD2791E}"/>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74E3CA78-8A12-B4D3-6BBF-7122C36C12C6}"/>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5" name="TextBox 4">
            <a:extLst>
              <a:ext uri="{FF2B5EF4-FFF2-40B4-BE49-F238E27FC236}">
                <a16:creationId xmlns:a16="http://schemas.microsoft.com/office/drawing/2014/main" id="{39BB48E0-F43B-325D-644E-CE39020121D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15" name="Title 61">
            <a:extLst>
              <a:ext uri="{FF2B5EF4-FFF2-40B4-BE49-F238E27FC236}">
                <a16:creationId xmlns:a16="http://schemas.microsoft.com/office/drawing/2014/main" id="{167B2296-5DA0-58F6-022E-9035EC276A19}"/>
              </a:ext>
            </a:extLst>
          </p:cNvPr>
          <p:cNvSpPr txBox="1">
            <a:spLocks/>
          </p:cNvSpPr>
          <p:nvPr/>
        </p:nvSpPr>
        <p:spPr>
          <a:xfrm>
            <a:off x="419100" y="419100"/>
            <a:ext cx="3162300" cy="2400657"/>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a:t>
            </a:r>
            <a:r>
              <a:rPr lang="en-US" sz="3000" noProof="0" dirty="0">
                <a:solidFill>
                  <a:schemeClr val="bg1"/>
                </a:solidFill>
                <a:latin typeface="+mn-lt"/>
              </a:rPr>
              <a:t>Analytics—Azure Databricks Lakehouse</a:t>
            </a:r>
          </a:p>
        </p:txBody>
      </p:sp>
      <p:sp>
        <p:nvSpPr>
          <p:cNvPr id="19" name="TextBox 18">
            <a:extLst>
              <a:ext uri="{FF2B5EF4-FFF2-40B4-BE49-F238E27FC236}">
                <a16:creationId xmlns:a16="http://schemas.microsoft.com/office/drawing/2014/main" id="{2701435B-D6A0-B545-55B7-99740534F9C1}"/>
              </a:ext>
            </a:extLst>
          </p:cNvPr>
          <p:cNvSpPr txBox="1"/>
          <p:nvPr/>
        </p:nvSpPr>
        <p:spPr>
          <a:xfrm>
            <a:off x="9120882" y="5437641"/>
            <a:ext cx="1442703"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t>Lakehouse/DW migration</a:t>
            </a:r>
          </a:p>
        </p:txBody>
      </p:sp>
      <p:sp>
        <p:nvSpPr>
          <p:cNvPr id="23" name="TextBox 22">
            <a:extLst>
              <a:ext uri="{FF2B5EF4-FFF2-40B4-BE49-F238E27FC236}">
                <a16:creationId xmlns:a16="http://schemas.microsoft.com/office/drawing/2014/main" id="{D67D1BAD-F769-9A81-C4D1-7676A11FE907}"/>
              </a:ext>
              <a:ext uri="{C183D7F6-B498-43B3-948B-1728B52AA6E4}">
                <adec:decorative xmlns:adec="http://schemas.microsoft.com/office/drawing/2017/decorative" val="1"/>
              </a:ext>
            </a:extLst>
          </p:cNvPr>
          <p:cNvSpPr txBox="1"/>
          <p:nvPr/>
        </p:nvSpPr>
        <p:spPr>
          <a:xfrm>
            <a:off x="7803021" y="5256103"/>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lgn="l">
              <a:defRPr/>
            </a:pPr>
            <a:r>
              <a:rPr lang="en-US" sz="1000" noProof="0" dirty="0"/>
              <a:t>Dev-test-deploy</a:t>
            </a:r>
          </a:p>
          <a:p>
            <a:pPr lvl="0" algn="l">
              <a:defRPr/>
            </a:pPr>
            <a:r>
              <a:rPr lang="en-US" sz="1000" noProof="0" dirty="0"/>
              <a:t>scoped workloads</a:t>
            </a:r>
          </a:p>
        </p:txBody>
      </p:sp>
      <p:sp>
        <p:nvSpPr>
          <p:cNvPr id="25" name="TextBox 24">
            <a:extLst>
              <a:ext uri="{FF2B5EF4-FFF2-40B4-BE49-F238E27FC236}">
                <a16:creationId xmlns:a16="http://schemas.microsoft.com/office/drawing/2014/main" id="{5119B8A2-4EC3-E184-24E5-4F89E29DCB1D}"/>
              </a:ext>
            </a:extLst>
          </p:cNvPr>
          <p:cNvSpPr txBox="1"/>
          <p:nvPr/>
        </p:nvSpPr>
        <p:spPr>
          <a:xfrm>
            <a:off x="4668457" y="2834493"/>
            <a:ext cx="1454762" cy="307777"/>
          </a:xfrm>
          <a:prstGeom prst="rect">
            <a:avLst/>
          </a:prstGeom>
          <a:noFill/>
        </p:spPr>
        <p:txBody>
          <a:bodyPr wrap="squar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defRPr/>
            </a:pPr>
            <a:r>
              <a:rPr lang="en-US" sz="1000" noProof="0" dirty="0"/>
              <a:t>Scope of Lakehouse for migration</a:t>
            </a:r>
          </a:p>
        </p:txBody>
      </p:sp>
    </p:spTree>
    <p:extLst>
      <p:ext uri="{BB962C8B-B14F-4D97-AF65-F5344CB8AC3E}">
        <p14:creationId xmlns:p14="http://schemas.microsoft.com/office/powerpoint/2010/main" val="45360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62AAB-E881-59B0-95B4-68F264A4424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CAF49B-A014-4CE3-D712-1B5789724841}"/>
              </a:ext>
            </a:extLst>
          </p:cNvPr>
          <p:cNvSpPr txBox="1"/>
          <p:nvPr/>
        </p:nvSpPr>
        <p:spPr>
          <a:xfrm>
            <a:off x="585216" y="4345175"/>
            <a:ext cx="2823029"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Real-Time Intelligence</a:t>
            </a:r>
          </a:p>
        </p:txBody>
      </p:sp>
      <p:sp>
        <p:nvSpPr>
          <p:cNvPr id="6" name="Title 5">
            <a:extLst>
              <a:ext uri="{FF2B5EF4-FFF2-40B4-BE49-F238E27FC236}">
                <a16:creationId xmlns:a16="http://schemas.microsoft.com/office/drawing/2014/main" id="{B970CAB6-1CE5-255F-197A-8A72B2DF4AAC}"/>
              </a:ext>
            </a:extLst>
          </p:cNvPr>
          <p:cNvSpPr>
            <a:spLocks noGrp="1"/>
          </p:cNvSpPr>
          <p:nvPr>
            <p:ph type="title"/>
          </p:nvPr>
        </p:nvSpPr>
        <p:spPr>
          <a:xfrm>
            <a:off x="585215" y="1685162"/>
            <a:ext cx="10244283" cy="1846659"/>
          </a:xfrm>
        </p:spPr>
        <p:txBody>
          <a:bodyPr/>
          <a:lstStyle/>
          <a:p>
            <a:r>
              <a:rPr lang="en-US" noProof="0" dirty="0"/>
              <a:t>Cloud Accelerate Factory</a:t>
            </a:r>
            <a:br>
              <a:rPr lang="en-US" noProof="0" dirty="0"/>
            </a:br>
            <a:r>
              <a:rPr lang="en-US" noProof="0" dirty="0">
                <a:solidFill>
                  <a:schemeClr val="tx1"/>
                </a:solidFill>
              </a:rPr>
              <a:t>Build a Unified, Governed Data, and AI Estate</a:t>
            </a:r>
            <a:endParaRPr lang="en-US" noProof="0" dirty="0"/>
          </a:p>
        </p:txBody>
      </p:sp>
      <p:sp>
        <p:nvSpPr>
          <p:cNvPr id="10" name="TextBox 9">
            <a:extLst>
              <a:ext uri="{FF2B5EF4-FFF2-40B4-BE49-F238E27FC236}">
                <a16:creationId xmlns:a16="http://schemas.microsoft.com/office/drawing/2014/main" id="{1A02A5CE-A13F-DFBB-1510-D68C4F4E801F}"/>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3" name="Image 10" descr="Home (outlined)">
            <a:hlinkClick r:id="rId3" action="ppaction://hlinksldjump" tooltip="Home"/>
            <a:extLst>
              <a:ext uri="{FF2B5EF4-FFF2-40B4-BE49-F238E27FC236}">
                <a16:creationId xmlns:a16="http://schemas.microsoft.com/office/drawing/2014/main" id="{C0D42D96-32EC-524E-7738-E023488446A4}"/>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30068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10" grpId="0" animBg="1"/>
      <p:bldP spid="10" grpId="1" animBg="1"/>
      <p:bldP spid="10" grpId="2"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A9B4B-CE95-2E73-A380-C309DFBE3F87}"/>
            </a:ext>
          </a:extLst>
        </p:cNvPr>
        <p:cNvGrpSpPr/>
        <p:nvPr/>
      </p:nvGrpSpPr>
      <p:grpSpPr>
        <a:xfrm>
          <a:off x="0" y="0"/>
          <a:ext cx="0" cy="0"/>
          <a:chOff x="0" y="0"/>
          <a:chExt cx="0" cy="0"/>
        </a:xfrm>
      </p:grpSpPr>
      <p:sp>
        <p:nvSpPr>
          <p:cNvPr id="13" name="Rounded Rectangle 55">
            <a:extLst>
              <a:ext uri="{FF2B5EF4-FFF2-40B4-BE49-F238E27FC236}">
                <a16:creationId xmlns:a16="http://schemas.microsoft.com/office/drawing/2014/main" id="{F0F98020-D7AF-4CE1-CFCA-1BACDA158380}"/>
              </a:ext>
              <a:ext uri="{C183D7F6-B498-43B3-948B-1728B52AA6E4}">
                <adec:decorative xmlns:adec="http://schemas.microsoft.com/office/drawing/2017/decorative" val="1"/>
              </a:ext>
            </a:extLst>
          </p:cNvPr>
          <p:cNvSpPr/>
          <p:nvPr/>
        </p:nvSpPr>
        <p:spPr bwMode="auto">
          <a:xfrm>
            <a:off x="9154160" y="1259284"/>
            <a:ext cx="2448877" cy="5331715"/>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6" name="Rounded Rectangle 55">
            <a:extLst>
              <a:ext uri="{FF2B5EF4-FFF2-40B4-BE49-F238E27FC236}">
                <a16:creationId xmlns:a16="http://schemas.microsoft.com/office/drawing/2014/main" id="{B5059A2A-26BF-08C8-7E04-F7EFB530B340}"/>
              </a:ext>
              <a:ext uri="{C183D7F6-B498-43B3-948B-1728B52AA6E4}">
                <adec:decorative xmlns:adec="http://schemas.microsoft.com/office/drawing/2017/decorative" val="1"/>
              </a:ext>
            </a:extLst>
          </p:cNvPr>
          <p:cNvSpPr/>
          <p:nvPr/>
        </p:nvSpPr>
        <p:spPr bwMode="auto">
          <a:xfrm>
            <a:off x="588961" y="1259284"/>
            <a:ext cx="8443279" cy="5331715"/>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B469B303-AEF9-4E93-AE61-97EA3E6FDF3A}"/>
              </a:ext>
            </a:extLst>
          </p:cNvPr>
          <p:cNvSpPr>
            <a:spLocks noGrp="1"/>
          </p:cNvSpPr>
          <p:nvPr>
            <p:ph type="title"/>
          </p:nvPr>
        </p:nvSpPr>
        <p:spPr>
          <a:xfrm>
            <a:off x="674050" y="529179"/>
            <a:ext cx="5507037"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Analytics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Real-Time Intelligence </a:t>
            </a:r>
            <a:endParaRPr lang="en-US" sz="2800" noProof="0" dirty="0"/>
          </a:p>
        </p:txBody>
      </p:sp>
      <p:sp>
        <p:nvSpPr>
          <p:cNvPr id="20" name="TextBox 19">
            <a:extLst>
              <a:ext uri="{FF2B5EF4-FFF2-40B4-BE49-F238E27FC236}">
                <a16:creationId xmlns:a16="http://schemas.microsoft.com/office/drawing/2014/main" id="{691EAB97-884A-665C-A86C-2BCD2D5FE3B5}"/>
              </a:ext>
            </a:extLst>
          </p:cNvPr>
          <p:cNvSpPr txBox="1"/>
          <p:nvPr/>
        </p:nvSpPr>
        <p:spPr>
          <a:xfrm>
            <a:off x="674050" y="1302325"/>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142FE670-0382-21A8-891C-A51CD7CF96AC}"/>
              </a:ext>
            </a:extLst>
          </p:cNvPr>
          <p:cNvSpPr/>
          <p:nvPr/>
        </p:nvSpPr>
        <p:spPr>
          <a:xfrm>
            <a:off x="3834447"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4D108087-EEAA-9921-AFA1-C124B7CCC1C5}"/>
              </a:ext>
            </a:extLst>
          </p:cNvPr>
          <p:cNvSpPr txBox="1"/>
          <p:nvPr/>
        </p:nvSpPr>
        <p:spPr>
          <a:xfrm>
            <a:off x="9241631" y="1302325"/>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9BF3E9AC-9675-D20C-9FF6-3DA43BEE1981}"/>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3" name="Content Placeholder 4">
            <a:extLst>
              <a:ext uri="{FF2B5EF4-FFF2-40B4-BE49-F238E27FC236}">
                <a16:creationId xmlns:a16="http://schemas.microsoft.com/office/drawing/2014/main" id="{301142DB-D935-5EB4-FBF9-0139C93F2652}"/>
              </a:ext>
            </a:extLst>
          </p:cNvPr>
          <p:cNvSpPr txBox="1">
            <a:spLocks/>
          </p:cNvSpPr>
          <p:nvPr/>
        </p:nvSpPr>
        <p:spPr>
          <a:xfrm>
            <a:off x="9154160" y="1556731"/>
            <a:ext cx="2448877" cy="5050850"/>
          </a:xfrm>
          <a:prstGeom prst="rect">
            <a:avLst/>
          </a:prstGeom>
        </p:spPr>
        <p:txBody>
          <a:bodyPr vert="horz" wrap="square" lIns="91440" tIns="91440" rIns="91440" bIns="73152" rtlCol="0" anchor="t">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endParaRPr lang="en-US" sz="800" noProof="0" dirty="0">
              <a:solidFill>
                <a:schemeClr val="dk1"/>
              </a:solidFill>
              <a:latin typeface="+mj-lt"/>
              <a:ea typeface="+mj-ea"/>
              <a:cs typeface="+mj-cs"/>
            </a:endParaRPr>
          </a:p>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203200" indent="-146050">
              <a:spcBef>
                <a:spcPts val="0"/>
              </a:spcBef>
              <a:spcAft>
                <a:spcPts val="300"/>
              </a:spcAft>
              <a:buSzPct val="100000"/>
              <a:buFont typeface="Arial" panose="020B0604020202020204" pitchFamily="34" charset="0"/>
              <a:buChar char="•"/>
              <a:defRPr/>
            </a:pPr>
            <a:r>
              <a:rPr lang="en-US" sz="900" noProof="0" dirty="0">
                <a:ln w="3175">
                  <a:noFill/>
                </a:ln>
                <a:solidFill>
                  <a:prstClr val="black"/>
                </a:solidFill>
                <a:cs typeface="+mn-cs"/>
              </a:rPr>
              <a:t>Customer must provide Cloud Factory with contributor access to their data workspace (Databricks or Azure Fabric), as it is necessary for developing the pipeline, notebooks, and other components. Additionally, access to Azure Data Factory should be provided if the customer wants to use it as the </a:t>
            </a:r>
            <a:br>
              <a:rPr lang="en-US" sz="900" noProof="0" dirty="0">
                <a:ln w="3175">
                  <a:noFill/>
                </a:ln>
                <a:solidFill>
                  <a:prstClr val="black"/>
                </a:solidFill>
                <a:cs typeface="+mn-cs"/>
              </a:rPr>
            </a:br>
            <a:r>
              <a:rPr lang="en-US" sz="900" noProof="0" dirty="0">
                <a:ln w="3175">
                  <a:noFill/>
                </a:ln>
                <a:solidFill>
                  <a:prstClr val="black"/>
                </a:solidFill>
                <a:cs typeface="+mn-cs"/>
              </a:rPr>
              <a:t>ETL tool.</a:t>
            </a:r>
          </a:p>
          <a:p>
            <a:pPr marL="203200" indent="-146050">
              <a:spcBef>
                <a:spcPts val="0"/>
              </a:spcBef>
              <a:spcAft>
                <a:spcPts val="300"/>
              </a:spcAft>
              <a:buSzPct val="100000"/>
              <a:buFont typeface="Arial" panose="020B0604020202020204" pitchFamily="34" charset="0"/>
              <a:buChar char="•"/>
              <a:defRPr/>
            </a:pPr>
            <a:r>
              <a:rPr lang="en-US" sz="900" noProof="0" dirty="0">
                <a:ln w="3175">
                  <a:noFill/>
                </a:ln>
                <a:solidFill>
                  <a:prstClr val="black"/>
                </a:solidFill>
                <a:cs typeface="+mn-cs"/>
              </a:rPr>
              <a:t>Customer should provide:</a:t>
            </a:r>
          </a:p>
          <a:p>
            <a:pPr marL="407988" indent="-141288">
              <a:spcBef>
                <a:spcPts val="0"/>
              </a:spcBef>
              <a:spcAft>
                <a:spcPts val="200"/>
              </a:spcAft>
              <a:buSzPct val="100000"/>
              <a:buFont typeface="Segoe Sans Text" pitchFamily="2" charset="0"/>
              <a:buChar char="‒"/>
              <a:defRPr/>
            </a:pPr>
            <a:r>
              <a:rPr lang="en-US" sz="800" noProof="0" dirty="0">
                <a:ln w="3175">
                  <a:noFill/>
                </a:ln>
                <a:solidFill>
                  <a:prstClr val="black"/>
                </a:solidFill>
                <a:cs typeface="+mn-cs"/>
              </a:rPr>
              <a:t>An established data source connection for each data source to be used in the migration.</a:t>
            </a:r>
          </a:p>
          <a:p>
            <a:pPr marL="407988" indent="-141288">
              <a:spcBef>
                <a:spcPts val="0"/>
              </a:spcBef>
              <a:spcAft>
                <a:spcPts val="300"/>
              </a:spcAft>
              <a:buSzPct val="100000"/>
              <a:buFont typeface="Segoe Sans Text" pitchFamily="2" charset="0"/>
              <a:buChar char="‒"/>
              <a:defRPr/>
            </a:pPr>
            <a:r>
              <a:rPr lang="en-US" sz="800" noProof="0" dirty="0">
                <a:ln w="3175">
                  <a:noFill/>
                </a:ln>
                <a:solidFill>
                  <a:prstClr val="black"/>
                </a:solidFill>
                <a:cs typeface="+mn-cs"/>
              </a:rPr>
              <a:t>A detailed list of objects to be moved to Fabric/Databricks, including tables with their schemas, frequency of data updates, load type (e.g., full load, incremental load) and approximate size of the data.</a:t>
            </a:r>
          </a:p>
          <a:p>
            <a:pPr marL="203200" indent="-146050">
              <a:spcBef>
                <a:spcPts val="0"/>
              </a:spcBef>
              <a:spcAft>
                <a:spcPts val="300"/>
              </a:spcAft>
              <a:buSzPct val="100000"/>
              <a:buFont typeface="Arial" panose="020B0604020202020204" pitchFamily="34" charset="0"/>
              <a:buChar char="•"/>
              <a:defRPr/>
            </a:pPr>
            <a:r>
              <a:rPr lang="en-US" sz="900" noProof="0" dirty="0">
                <a:ln w="3175">
                  <a:noFill/>
                </a:ln>
                <a:solidFill>
                  <a:prstClr val="black"/>
                </a:solidFill>
                <a:cs typeface="+mn-cs"/>
              </a:rPr>
              <a:t>The customer is responsible for ensuring that valid data sources, are available for the migration process. Valid sources are Azure SQL DB, Azure SQL MI, ADLS Gen2, SQL Server, Oracle (on-premises), and Dedicated SQL Pool, </a:t>
            </a:r>
          </a:p>
          <a:p>
            <a:pPr marL="203200" indent="-146050">
              <a:spcBef>
                <a:spcPts val="0"/>
              </a:spcBef>
              <a:spcAft>
                <a:spcPts val="300"/>
              </a:spcAft>
              <a:buSzPct val="100000"/>
              <a:buFont typeface="Arial" panose="020B0604020202020204" pitchFamily="34" charset="0"/>
              <a:buChar char="•"/>
              <a:defRPr/>
            </a:pPr>
            <a:r>
              <a:rPr lang="en-US" sz="900" noProof="0" dirty="0">
                <a:ln w="3175">
                  <a:noFill/>
                </a:ln>
                <a:solidFill>
                  <a:prstClr val="black"/>
                </a:solidFill>
                <a:cs typeface="+mn-cs"/>
              </a:rPr>
              <a:t>The customer is responsible for ensuring that stored procedures and transformation logic are available during the requirement gathering phase.</a:t>
            </a:r>
          </a:p>
          <a:p>
            <a:pPr marL="203200" indent="-146050">
              <a:spcBef>
                <a:spcPts val="0"/>
              </a:spcBef>
              <a:spcAft>
                <a:spcPts val="300"/>
              </a:spcAft>
              <a:buSzPct val="100000"/>
              <a:buFont typeface="Arial" panose="020B0604020202020204" pitchFamily="34" charset="0"/>
              <a:buChar char="•"/>
              <a:defRPr/>
            </a:pPr>
            <a:r>
              <a:rPr lang="en-US" sz="900" noProof="0" dirty="0">
                <a:ln w="3175">
                  <a:noFill/>
                </a:ln>
                <a:solidFill>
                  <a:prstClr val="black"/>
                </a:solidFill>
                <a:cs typeface="+mn-cs"/>
              </a:rPr>
              <a:t>Internet bandwidth availability must meet minimum Factory requirements. </a:t>
            </a:r>
          </a:p>
        </p:txBody>
      </p:sp>
      <p:graphicFrame>
        <p:nvGraphicFramePr>
          <p:cNvPr id="6" name="Table 5" title="Exchange Online Technet Guidance">
            <a:extLst>
              <a:ext uri="{FF2B5EF4-FFF2-40B4-BE49-F238E27FC236}">
                <a16:creationId xmlns:a16="http://schemas.microsoft.com/office/drawing/2014/main" id="{89D026C4-03AA-20D9-7C13-DFB541DBA4FF}"/>
              </a:ext>
            </a:extLst>
          </p:cNvPr>
          <p:cNvGraphicFramePr>
            <a:graphicFrameLocks noGrp="1"/>
          </p:cNvGraphicFramePr>
          <p:nvPr>
            <p:extLst>
              <p:ext uri="{D42A27DB-BD31-4B8C-83A1-F6EECF244321}">
                <p14:modId xmlns:p14="http://schemas.microsoft.com/office/powerpoint/2010/main" val="180548678"/>
              </p:ext>
            </p:extLst>
          </p:nvPr>
        </p:nvGraphicFramePr>
        <p:xfrm>
          <a:off x="582929" y="1594832"/>
          <a:ext cx="8443279" cy="4994085"/>
        </p:xfrm>
        <a:graphic>
          <a:graphicData uri="http://schemas.openxmlformats.org/drawingml/2006/table">
            <a:tbl>
              <a:tblPr firstRow="1" bandRow="1">
                <a:tableStyleId>{5C22544A-7EE6-4342-B048-85BDC9FD1C3A}</a:tableStyleId>
              </a:tblPr>
              <a:tblGrid>
                <a:gridCol w="412455">
                  <a:extLst>
                    <a:ext uri="{9D8B030D-6E8A-4147-A177-3AD203B41FA5}">
                      <a16:colId xmlns:a16="http://schemas.microsoft.com/office/drawing/2014/main" val="920430407"/>
                    </a:ext>
                  </a:extLst>
                </a:gridCol>
                <a:gridCol w="8030824">
                  <a:extLst>
                    <a:ext uri="{9D8B030D-6E8A-4147-A177-3AD203B41FA5}">
                      <a16:colId xmlns:a16="http://schemas.microsoft.com/office/drawing/2014/main" val="125040094"/>
                    </a:ext>
                  </a:extLst>
                </a:gridCol>
              </a:tblGrid>
              <a:tr h="202263">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analytics—Real-Time Intelligence</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2245677">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1"/>
                          </a:solidFill>
                          <a:latin typeface="+mj-lt"/>
                          <a:ea typeface="+mn-ea"/>
                          <a:cs typeface="+mn-cs"/>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n-lt"/>
                          <a:ea typeface="+mn-ea"/>
                          <a:cs typeface="+mn-cs"/>
                        </a:rPr>
                        <a:t>Determine scenario and scope: Partnering with the customer and partner, Cloud Factory will design, build, and deploy repeatable, low-to-no code analytics platform for real-time intelligence including ad-hoc querying, visualization and act on large volumes of streaming data.</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lang="en-US" sz="1000" b="0" noProof="0" dirty="0">
                          <a:solidFill>
                            <a:schemeClr val="tx1"/>
                          </a:solidFill>
                          <a:latin typeface="+mj-lt"/>
                          <a:cs typeface="Segoe Sans Text" pitchFamily="2" charset="0"/>
                        </a:rPr>
                        <a:t>Analyze requirements</a:t>
                      </a:r>
                    </a:p>
                    <a:p>
                      <a:pPr marL="200025" marR="0" lvl="0" indent="-1206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cs typeface="Segoe Sans Text" pitchFamily="2" charset="0"/>
                        </a:rPr>
                        <a:t>Analyze requirements and help you determine the optimal alignment with Fabric Real Time</a:t>
                      </a:r>
                    </a:p>
                    <a:p>
                      <a:pPr marL="422275" lvl="1" indent="-149225">
                        <a:spcBef>
                          <a:spcPts val="0"/>
                        </a:spcBef>
                        <a:spcAft>
                          <a:spcPts val="200"/>
                        </a:spcAft>
                        <a:buFont typeface="Segoe Sans Text" pitchFamily="2" charset="0"/>
                        <a:buChar char="‒"/>
                        <a:defRPr/>
                      </a:pPr>
                      <a:r>
                        <a:rPr lang="en-US" sz="900" noProof="0" dirty="0">
                          <a:solidFill>
                            <a:schemeClr val="tx1"/>
                          </a:solidFill>
                          <a:latin typeface="+mn-lt"/>
                          <a:cs typeface="Segoe Sans Text" pitchFamily="2" charset="0"/>
                        </a:rPr>
                        <a:t>Consider Big Data workloads such as telemetry, IoT, cyber/app logs, timeseries, metrics, geospatial, graph, embedding vectors, high-granular, discrete analytics.</a:t>
                      </a:r>
                    </a:p>
                    <a:p>
                      <a:pPr marL="422275" lvl="1" indent="-149225">
                        <a:spcBef>
                          <a:spcPts val="0"/>
                        </a:spcBef>
                        <a:spcAft>
                          <a:spcPts val="600"/>
                        </a:spcAft>
                        <a:buFont typeface="Segoe Sans Text" pitchFamily="2" charset="0"/>
                        <a:buChar char="‒"/>
                        <a:defRPr/>
                      </a:pPr>
                      <a:r>
                        <a:rPr lang="en-US" sz="900" noProof="0" dirty="0">
                          <a:solidFill>
                            <a:schemeClr val="tx1"/>
                          </a:solidFill>
                          <a:latin typeface="+mn-lt"/>
                          <a:cs typeface="Segoe Sans Text" pitchFamily="2" charset="0"/>
                        </a:rPr>
                        <a:t>Assess business needs, current platform and existing architecture</a:t>
                      </a:r>
                    </a:p>
                    <a:p>
                      <a:pPr marL="0" lvl="0" indent="0">
                        <a:spcBef>
                          <a:spcPts val="0"/>
                        </a:spcBef>
                        <a:spcAft>
                          <a:spcPts val="200"/>
                        </a:spcAft>
                        <a:buFont typeface="Arial" panose="020B0604020202020204" pitchFamily="34" charset="0"/>
                        <a:buNone/>
                        <a:defRPr/>
                      </a:pPr>
                      <a:r>
                        <a:rPr lang="en-US" sz="1000" b="0" noProof="0" dirty="0">
                          <a:solidFill>
                            <a:schemeClr val="tx1"/>
                          </a:solidFill>
                          <a:latin typeface="+mj-lt"/>
                          <a:cs typeface="Segoe Sans Text" pitchFamily="2" charset="0"/>
                        </a:rPr>
                        <a:t>Deploy platform</a:t>
                      </a:r>
                    </a:p>
                    <a:p>
                      <a:pPr marL="200025" lvl="0" indent="-120650">
                        <a:spcBef>
                          <a:spcPts val="0"/>
                        </a:spcBef>
                        <a:spcAft>
                          <a:spcPts val="200"/>
                        </a:spcAft>
                        <a:buFont typeface="Arial" panose="020B0604020202020204" pitchFamily="34" charset="0"/>
                        <a:buChar char="•"/>
                        <a:defRPr/>
                      </a:pPr>
                      <a:r>
                        <a:rPr lang="en-US" sz="1000" noProof="0" dirty="0">
                          <a:solidFill>
                            <a:schemeClr val="tx1"/>
                          </a:solidFill>
                          <a:latin typeface="+mn-lt"/>
                          <a:cs typeface="Segoe Sans Text" pitchFamily="2" charset="0"/>
                        </a:rPr>
                        <a:t>Deployment templates and scripts automate provisioning of Fabric capacity and workspaces.</a:t>
                      </a:r>
                    </a:p>
                    <a:p>
                      <a:pPr marL="200025" lvl="0" indent="-120650">
                        <a:spcBef>
                          <a:spcPts val="0"/>
                        </a:spcBef>
                        <a:spcAft>
                          <a:spcPts val="200"/>
                        </a:spcAft>
                        <a:buFont typeface="Arial" panose="020B0604020202020204" pitchFamily="34" charset="0"/>
                        <a:buChar char="•"/>
                        <a:defRPr/>
                      </a:pPr>
                      <a:r>
                        <a:rPr lang="en-US" sz="1000" noProof="0" dirty="0">
                          <a:solidFill>
                            <a:schemeClr val="tx1"/>
                          </a:solidFill>
                          <a:latin typeface="+mn-lt"/>
                          <a:cs typeface="Segoe Sans Text" pitchFamily="2" charset="0"/>
                        </a:rPr>
                        <a:t>Migrate data to Fabric using scripts, pipelines, streaming features or agents.</a:t>
                      </a:r>
                    </a:p>
                    <a:p>
                      <a:pPr marL="200025" marR="0" lvl="0" indent="-120650" fontAlgn="auto">
                        <a:lnSpc>
                          <a:spcPct val="100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cs typeface="Segoe Sans Text" pitchFamily="2" charset="0"/>
                        </a:rPr>
                        <a:t>Environment cleansing ensuring resource cleanup</a:t>
                      </a:r>
                    </a:p>
                    <a:p>
                      <a:pPr marL="422275" marR="0" lvl="1" indent="-149225" fontAlgn="auto">
                        <a:lnSpc>
                          <a:spcPct val="100000"/>
                        </a:lnSpc>
                        <a:spcBef>
                          <a:spcPts val="0"/>
                        </a:spcBef>
                        <a:spcAft>
                          <a:spcPts val="600"/>
                        </a:spcAft>
                        <a:buClrTx/>
                        <a:buSzTx/>
                        <a:buFont typeface="Segoe Sans Text" pitchFamily="2" charset="0"/>
                        <a:buChar char="‒"/>
                        <a:tabLst/>
                        <a:defRPr/>
                      </a:pPr>
                      <a:r>
                        <a:rPr lang="en-US" sz="900" noProof="0" dirty="0">
                          <a:solidFill>
                            <a:schemeClr val="tx1"/>
                          </a:solidFill>
                          <a:latin typeface="+mn-lt"/>
                          <a:cs typeface="Segoe Sans Text" pitchFamily="2" charset="0"/>
                        </a:rPr>
                        <a:t>Remove unused resources post migration and amplify modern solution to optimize ROI.</a:t>
                      </a:r>
                    </a:p>
                    <a:p>
                      <a:pPr marL="0" marR="0" indent="0" fontAlgn="auto">
                        <a:lnSpc>
                          <a:spcPct val="107000"/>
                        </a:lnSpc>
                        <a:spcBef>
                          <a:spcPts val="0"/>
                        </a:spcBef>
                        <a:spcAft>
                          <a:spcPts val="200"/>
                        </a:spcAft>
                        <a:buClrTx/>
                        <a:buSzTx/>
                        <a:buFont typeface="Arial" panose="020B0604020202020204" pitchFamily="34" charset="0"/>
                        <a:buNone/>
                        <a:tabLst/>
                        <a:defRPr/>
                      </a:pPr>
                      <a:r>
                        <a:rPr lang="en-US" sz="1000" b="0" noProof="0" dirty="0">
                          <a:solidFill>
                            <a:schemeClr val="tx1"/>
                          </a:solidFill>
                          <a:latin typeface="+mj-lt"/>
                          <a:cs typeface="Segoe Sans Text" pitchFamily="2" charset="0"/>
                        </a:rPr>
                        <a:t>Build analytics use cases</a:t>
                      </a:r>
                    </a:p>
                    <a:p>
                      <a:pPr marL="200025" marR="0" indent="-120650" fontAlgn="auto">
                        <a:lnSpc>
                          <a:spcPct val="107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cs typeface="Segoe Sans Text" pitchFamily="2" charset="0"/>
                        </a:rPr>
                        <a:t>Our expert team will develop, test, and deploy end-to-end customer use-case based on agreed scope.</a:t>
                      </a:r>
                    </a:p>
                    <a:p>
                      <a:pPr marL="200025" indent="-120650">
                        <a:lnSpc>
                          <a:spcPct val="107000"/>
                        </a:lnSpc>
                        <a:spcBef>
                          <a:spcPts val="0"/>
                        </a:spcBef>
                        <a:spcAft>
                          <a:spcPts val="200"/>
                        </a:spcAft>
                        <a:buFont typeface="Arial" panose="020B0604020202020204" pitchFamily="34" charset="0"/>
                        <a:buChar char="•"/>
                        <a:defRPr/>
                      </a:pPr>
                      <a:r>
                        <a:rPr lang="en-US" sz="1000" noProof="0" dirty="0">
                          <a:solidFill>
                            <a:schemeClr val="tx1"/>
                          </a:solidFill>
                          <a:latin typeface="+mn-lt"/>
                          <a:cs typeface="Segoe Sans Text" pitchFamily="2" charset="0"/>
                        </a:rPr>
                        <a:t>Including translation to KQL, real-time transformations, medallion architecture, dashboards, and actions</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318717">
                <a:tc rowSpan="2">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1"/>
                          </a:solidFill>
                          <a:latin typeface="+mj-lt"/>
                          <a:ea typeface="+mn-ea"/>
                          <a:cs typeface="+mn-cs"/>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000" b="0" i="0" u="none" strike="noStrike" kern="0" cap="none" spc="0" normalizeH="0" baseline="0" noProof="0" dirty="0">
                          <a:ln>
                            <a:noFill/>
                          </a:ln>
                          <a:solidFill>
                            <a:schemeClr val="tx1"/>
                          </a:solidFill>
                          <a:effectLst/>
                          <a:uLnTx/>
                          <a:uFillTx/>
                          <a:latin typeface="+mj-lt"/>
                          <a:ea typeface="+mn-ea"/>
                          <a:cs typeface="+mn-cs"/>
                        </a:rPr>
                        <a:t>Determine the appropriate scenario</a:t>
                      </a:r>
                      <a:r>
                        <a:rPr kumimoji="0" lang="en-US" sz="1000" b="0" i="0" u="none" strike="noStrike" kern="0" cap="none" spc="0" normalizeH="0" baseline="0" noProof="0" dirty="0">
                          <a:ln>
                            <a:noFill/>
                          </a:ln>
                          <a:solidFill>
                            <a:schemeClr val="tx1"/>
                          </a:solidFill>
                          <a:effectLst/>
                          <a:uLnTx/>
                          <a:uFillTx/>
                          <a:latin typeface="+mn-lt"/>
                          <a:ea typeface="+mn-ea"/>
                          <a:cs typeface="+mn-cs"/>
                        </a:rPr>
                        <a:t>, based on the previous analysis and begin work as outlined below. Scope that falls outside of the listed scenarios will need to be delivered by the customer or partner (data modeling, re-designing business logic, etc..). </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625175">
                <a:tc vMerge="1">
                  <a:txBody>
                    <a:bodyPr/>
                    <a:lstStyle/>
                    <a:p>
                      <a:pPr algn="ctr"/>
                      <a:endParaRPr lang="en-US" sz="1000" b="0">
                        <a:solidFill>
                          <a:srgbClr val="0078D7"/>
                        </a:solidFill>
                        <a:latin typeface="+mn-lt"/>
                      </a:endParaRPr>
                    </a:p>
                  </a:txBody>
                  <a:tcPr marL="64008" marR="64008" marT="64008" marB="64008">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000" b="0" i="0" u="none" strike="noStrike" kern="0" cap="none" spc="0" normalizeH="0" baseline="0" noProof="0" dirty="0">
                          <a:ln>
                            <a:noFill/>
                          </a:ln>
                          <a:solidFill>
                            <a:schemeClr val="tx1"/>
                          </a:solidFill>
                          <a:effectLst/>
                          <a:uLnTx/>
                          <a:uFillTx/>
                          <a:latin typeface="+mj-lt"/>
                        </a:rPr>
                        <a:t>Scenario 1: </a:t>
                      </a:r>
                    </a:p>
                    <a:p>
                      <a:pPr marL="200025" marR="0" lvl="0" indent="-1206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mn-lt"/>
                          <a:cs typeface="Segoe Sans Text Semilight"/>
                        </a:rPr>
                        <a:t>Amplify</a:t>
                      </a:r>
                      <a:r>
                        <a:rPr lang="en-US" sz="1000" noProof="0" dirty="0">
                          <a:solidFill>
                            <a:schemeClr val="tx1"/>
                          </a:solidFill>
                          <a:latin typeface="+mn-lt"/>
                          <a:cs typeface="Segoe Sans Text Semilight"/>
                        </a:rPr>
                        <a:t> modern solution to optimize ROI</a:t>
                      </a:r>
                    </a:p>
                    <a:p>
                      <a:pPr marL="200025" marR="0" lvl="0" indent="-1206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cs typeface="Segoe Sans Text Semilight"/>
                        </a:rPr>
                        <a:t>Migrate data to Fabric using scripts, pipelines, streaming features or agents</a:t>
                      </a:r>
                      <a:endParaRPr lang="en-US" sz="1000" noProof="0" dirty="0">
                        <a:solidFill>
                          <a:schemeClr val="tx1"/>
                        </a:solidFill>
                        <a:latin typeface="+mn-lt"/>
                      </a:endParaRPr>
                    </a:p>
                    <a:p>
                      <a:pPr marL="200025" marR="0" lvl="0" indent="-1206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1000" noProof="0" dirty="0">
                          <a:solidFill>
                            <a:schemeClr val="tx1"/>
                          </a:solidFill>
                          <a:latin typeface="+mn-lt"/>
                          <a:cs typeface="Segoe Sans Text Semilight"/>
                        </a:rPr>
                        <a:t>Translate queries to KQL, real-time transformations, medallion architecture, dashboards, and actions</a:t>
                      </a:r>
                      <a:endParaRPr lang="en-US" sz="1000" noProof="0" dirty="0">
                        <a:solidFill>
                          <a:schemeClr val="tx1"/>
                        </a:solidFill>
                        <a:latin typeface="+mn-lt"/>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1750739"/>
                  </a:ext>
                </a:extLst>
              </a:tr>
              <a:tr h="202263">
                <a:tc>
                  <a:txBody>
                    <a:body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1050" b="0" kern="1200" noProof="0" dirty="0">
                          <a:solidFill>
                            <a:schemeClr val="tx1"/>
                          </a:solidFill>
                          <a:latin typeface="+mj-lt"/>
                          <a:ea typeface="+mn-ea"/>
                          <a:cs typeface="+mn-cs"/>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eaLnBrk="1" fontAlgn="auto" latinLnBrk="0" hangingPunct="1">
                        <a:lnSpc>
                          <a:spcPct val="100000"/>
                        </a:lnSpc>
                        <a:spcBef>
                          <a:spcPts val="0"/>
                        </a:spcBef>
                        <a:spcAft>
                          <a:spcPts val="200"/>
                        </a:spcAft>
                        <a:buClrTx/>
                        <a:buSzTx/>
                        <a:buFontTx/>
                        <a:buNone/>
                        <a:tabLst/>
                        <a:defRPr/>
                      </a:pPr>
                      <a:r>
                        <a:rPr lang="en-US" sz="1000" b="0" i="0" noProof="0" dirty="0">
                          <a:solidFill>
                            <a:schemeClr val="tx1"/>
                          </a:solidFill>
                          <a:effectLst/>
                          <a:latin typeface="+mj-lt"/>
                        </a:rPr>
                        <a:t>Hand over to customer/ISD/Partner </a:t>
                      </a:r>
                      <a:r>
                        <a:rPr lang="en-US" sz="1000" b="0" i="0" noProof="0" dirty="0">
                          <a:solidFill>
                            <a:schemeClr val="tx1"/>
                          </a:solidFill>
                          <a:effectLst/>
                          <a:latin typeface="+mn-lt"/>
                        </a:rPr>
                        <a:t>for post-migration activities</a:t>
                      </a:r>
                      <a:endParaRPr kumimoji="0" lang="en-US" sz="1000" b="0" i="0" u="none" strike="noStrike" kern="0" cap="none" spc="0" normalizeH="0" baseline="0" noProof="0" dirty="0">
                        <a:ln>
                          <a:noFill/>
                        </a:ln>
                        <a:solidFill>
                          <a:schemeClr val="tx1"/>
                        </a:solidFill>
                        <a:effectLst/>
                        <a:uLnTx/>
                        <a:uFillTx/>
                        <a:latin typeface="+mn-lt"/>
                      </a:endParaRP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112017"/>
                  </a:ext>
                </a:extLst>
              </a:tr>
              <a:tr h="294200">
                <a:tc gridSpan="2">
                  <a:txBody>
                    <a:bodyPr/>
                    <a:lstStyle/>
                    <a:p>
                      <a:pPr marL="0" marR="0" lvl="0" indent="0" algn="l" defTabSz="932563" rtl="0" eaLnBrk="1" fontAlgn="auto" latinLnBrk="0" hangingPunct="1">
                        <a:lnSpc>
                          <a:spcPct val="100000"/>
                        </a:lnSpc>
                        <a:spcBef>
                          <a:spcPts val="0"/>
                        </a:spcBef>
                        <a:spcAft>
                          <a:spcPts val="200"/>
                        </a:spcAft>
                        <a:buClrTx/>
                        <a:buSzTx/>
                        <a:buFontTx/>
                        <a:buNone/>
                        <a:tabLst/>
                        <a:defRPr/>
                      </a:pPr>
                      <a:r>
                        <a:rPr lang="en-US" sz="900" b="0" i="0" u="none" strike="noStrike" kern="1200" cap="none" spc="0" normalizeH="0" baseline="0" noProof="0" dirty="0">
                          <a:ln>
                            <a:noFill/>
                          </a:ln>
                          <a:solidFill>
                            <a:schemeClr val="tx1"/>
                          </a:solidFill>
                          <a:effectLst/>
                          <a:uLnTx/>
                          <a:uFillTx/>
                          <a:latin typeface="+mn-lt"/>
                          <a:ea typeface="+mn-ea"/>
                          <a:cs typeface="+mn-cs"/>
                        </a:rPr>
                        <a:t>Estimated duration for completing all activities in a typical engagement is within three weeks per scenario identified, when all the requirements are met, and customer and partner are ready for execution</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162794223"/>
                  </a:ext>
                </a:extLst>
              </a:tr>
            </a:tbl>
          </a:graphicData>
        </a:graphic>
      </p:graphicFrame>
      <p:sp>
        <p:nvSpPr>
          <p:cNvPr id="2" name="TextBox 1">
            <a:extLst>
              <a:ext uri="{FF2B5EF4-FFF2-40B4-BE49-F238E27FC236}">
                <a16:creationId xmlns:a16="http://schemas.microsoft.com/office/drawing/2014/main" id="{B912E6E6-9CE2-8CDB-CDB3-D25AA9080683}"/>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215126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30">
            <a:extLst>
              <a:ext uri="{FF2B5EF4-FFF2-40B4-BE49-F238E27FC236}">
                <a16:creationId xmlns:a16="http://schemas.microsoft.com/office/drawing/2014/main" id="{5868CF2B-0BE1-0154-05E3-DB0467899215}"/>
              </a:ext>
              <a:ext uri="{C183D7F6-B498-43B3-948B-1728B52AA6E4}">
                <adec:decorative xmlns:adec="http://schemas.microsoft.com/office/drawing/2017/decorative" val="1"/>
              </a:ext>
            </a:extLst>
          </p:cNvPr>
          <p:cNvSpPr/>
          <p:nvPr/>
        </p:nvSpPr>
        <p:spPr bwMode="auto">
          <a:xfrm>
            <a:off x="6702634" y="2311599"/>
            <a:ext cx="4566649" cy="2903822"/>
          </a:xfrm>
          <a:prstGeom prst="roundRect">
            <a:avLst>
              <a:gd name="adj" fmla="val 3453"/>
            </a:avLst>
          </a:prstGeom>
          <a:solidFill>
            <a:srgbClr val="FFFFFF">
              <a:alpha val="94098"/>
            </a:srgbClr>
          </a:solidFill>
          <a:ln w="19050" cap="flat" cmpd="sng" algn="ctr">
            <a:gradFill flip="none" rotWithShape="1">
              <a:gsLst>
                <a:gs pos="0">
                  <a:srgbClr val="004A83"/>
                </a:gs>
                <a:gs pos="63000">
                  <a:srgbClr val="0064AD"/>
                </a:gs>
                <a:gs pos="100000">
                  <a:srgbClr val="41B8A4"/>
                </a:gs>
              </a:gsLst>
              <a:lin ang="2700000" scaled="1"/>
              <a:tileRect/>
            </a:grad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effectLst/>
              <a:uLnTx/>
              <a:uFillTx/>
              <a:latin typeface="Segoe Sans Text Semilight"/>
              <a:ea typeface="+mn-ea"/>
              <a:cs typeface="Segoe Sans Display Semilight" panose="020F0502020204030204" pitchFamily="2" charset="0"/>
            </a:endParaRPr>
          </a:p>
        </p:txBody>
      </p:sp>
      <p:sp>
        <p:nvSpPr>
          <p:cNvPr id="27" name="Text Placeholder 2">
            <a:extLst>
              <a:ext uri="{FF2B5EF4-FFF2-40B4-BE49-F238E27FC236}">
                <a16:creationId xmlns:a16="http://schemas.microsoft.com/office/drawing/2014/main" id="{1387024B-71CB-32C8-0586-426EFF877598}"/>
              </a:ext>
            </a:extLst>
          </p:cNvPr>
          <p:cNvSpPr txBox="1">
            <a:spLocks/>
          </p:cNvSpPr>
          <p:nvPr/>
        </p:nvSpPr>
        <p:spPr>
          <a:xfrm>
            <a:off x="7780166" y="2136617"/>
            <a:ext cx="2411584" cy="349152"/>
          </a:xfrm>
          <a:prstGeom prst="roundRect">
            <a:avLst>
              <a:gd name="adj" fmla="val 50000"/>
            </a:avLst>
          </a:prstGeom>
          <a:solidFill>
            <a:schemeClr val="bg1"/>
          </a:solidFill>
          <a:ln>
            <a:solidFill>
              <a:schemeClr val="tx2"/>
            </a:solidFill>
          </a:ln>
          <a:effectLst/>
        </p:spPr>
        <p:txBody>
          <a:bodyPr wrap="square" lIns="0" tIns="0" rIns="0" bIns="0" anchor="ctr">
            <a:no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kumimoji="0" sz="1800" i="0" u="none" strike="noStrike" cap="none" spc="0" normalizeH="0" baseline="0">
                <a:ln>
                  <a:noFill/>
                </a:ln>
                <a:effectLst/>
                <a:uLnTx/>
                <a:uFillTx/>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0" cap="none" spc="0" normalizeH="0" baseline="0" noProof="0" dirty="0">
                <a:ln>
                  <a:noFill/>
                </a:ln>
                <a:effectLst/>
                <a:uLnTx/>
                <a:uFillTx/>
                <a:latin typeface="+mj-lt"/>
                <a:cs typeface="+mn-cs"/>
              </a:rPr>
              <a:t>Real-Time Intelligence</a:t>
            </a:r>
          </a:p>
        </p:txBody>
      </p:sp>
      <p:pic>
        <p:nvPicPr>
          <p:cNvPr id="28" name="Picture 27" descr="A pink and white logo  Description automatically generated">
            <a:extLst>
              <a:ext uri="{FF2B5EF4-FFF2-40B4-BE49-F238E27FC236}">
                <a16:creationId xmlns:a16="http://schemas.microsoft.com/office/drawing/2014/main" id="{DFDA6862-1F99-9219-9DE8-F7FF86D8101D}"/>
              </a:ext>
            </a:extLst>
          </p:cNvPr>
          <p:cNvPicPr>
            <a:picLocks noChangeAspect="1"/>
          </p:cNvPicPr>
          <p:nvPr/>
        </p:nvPicPr>
        <p:blipFill rotWithShape="1">
          <a:blip r:embed="rId3">
            <a:extLst>
              <a:ext uri="{28A0092B-C50C-407E-A947-70E740481C1C}">
                <a14:useLocalDpi xmlns:a14="http://schemas.microsoft.com/office/drawing/2010/main" val="0"/>
              </a:ext>
            </a:extLst>
          </a:blip>
          <a:stretch/>
        </p:blipFill>
        <p:spPr>
          <a:xfrm>
            <a:off x="8714406" y="3276208"/>
            <a:ext cx="538730" cy="530602"/>
          </a:xfrm>
          <a:prstGeom prst="rect">
            <a:avLst/>
          </a:prstGeom>
        </p:spPr>
      </p:pic>
      <p:sp>
        <p:nvSpPr>
          <p:cNvPr id="29" name="TextBox 28">
            <a:extLst>
              <a:ext uri="{FF2B5EF4-FFF2-40B4-BE49-F238E27FC236}">
                <a16:creationId xmlns:a16="http://schemas.microsoft.com/office/drawing/2014/main" id="{C0B4CA89-2987-FC4A-6940-95812CCA4FB8}"/>
              </a:ext>
            </a:extLst>
          </p:cNvPr>
          <p:cNvSpPr txBox="1"/>
          <p:nvPr/>
        </p:nvSpPr>
        <p:spPr>
          <a:xfrm>
            <a:off x="8501967" y="3834946"/>
            <a:ext cx="963610" cy="181880"/>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Eventhouse</a:t>
            </a:r>
          </a:p>
        </p:txBody>
      </p:sp>
      <p:pic>
        <p:nvPicPr>
          <p:cNvPr id="30" name="Picture 29" descr="A pink and white logo  Description automatically generated">
            <a:extLst>
              <a:ext uri="{FF2B5EF4-FFF2-40B4-BE49-F238E27FC236}">
                <a16:creationId xmlns:a16="http://schemas.microsoft.com/office/drawing/2014/main" id="{B20417CC-FF85-AFBB-A2B4-C213372898B5}"/>
              </a:ext>
            </a:extLst>
          </p:cNvPr>
          <p:cNvPicPr>
            <a:picLocks noChangeAspect="1"/>
          </p:cNvPicPr>
          <p:nvPr/>
        </p:nvPicPr>
        <p:blipFill rotWithShape="1">
          <a:blip r:embed="rId4">
            <a:extLst>
              <a:ext uri="{28A0092B-C50C-407E-A947-70E740481C1C}">
                <a14:useLocalDpi xmlns:a14="http://schemas.microsoft.com/office/drawing/2010/main" val="0"/>
              </a:ext>
            </a:extLst>
          </a:blip>
          <a:srcRect l="6243" t="6213" r="2173"/>
          <a:stretch/>
        </p:blipFill>
        <p:spPr>
          <a:xfrm>
            <a:off x="9795685" y="4009525"/>
            <a:ext cx="538730" cy="530602"/>
          </a:xfrm>
          <a:prstGeom prst="rect">
            <a:avLst/>
          </a:prstGeom>
        </p:spPr>
      </p:pic>
      <p:sp>
        <p:nvSpPr>
          <p:cNvPr id="31" name="TextBox 30">
            <a:extLst>
              <a:ext uri="{FF2B5EF4-FFF2-40B4-BE49-F238E27FC236}">
                <a16:creationId xmlns:a16="http://schemas.microsoft.com/office/drawing/2014/main" id="{112B01DF-93D7-7384-7789-32B68924002B}"/>
              </a:ext>
            </a:extLst>
          </p:cNvPr>
          <p:cNvSpPr txBox="1"/>
          <p:nvPr/>
        </p:nvSpPr>
        <p:spPr>
          <a:xfrm>
            <a:off x="9572928" y="4581267"/>
            <a:ext cx="984245"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RT Dashboard</a:t>
            </a:r>
          </a:p>
        </p:txBody>
      </p:sp>
      <p:pic>
        <p:nvPicPr>
          <p:cNvPr id="32" name="Picture 31" descr="A white square with green arrow pointing up  Description automatically generated">
            <a:extLst>
              <a:ext uri="{FF2B5EF4-FFF2-40B4-BE49-F238E27FC236}">
                <a16:creationId xmlns:a16="http://schemas.microsoft.com/office/drawing/2014/main" id="{2FAEFD1F-B9B8-6C53-6889-9BE2D1B89A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5739" y="4028768"/>
            <a:ext cx="538730" cy="530602"/>
          </a:xfrm>
          <a:prstGeom prst="rect">
            <a:avLst/>
          </a:prstGeom>
        </p:spPr>
      </p:pic>
      <p:sp>
        <p:nvSpPr>
          <p:cNvPr id="33" name="TextBox 32">
            <a:extLst>
              <a:ext uri="{FF2B5EF4-FFF2-40B4-BE49-F238E27FC236}">
                <a16:creationId xmlns:a16="http://schemas.microsoft.com/office/drawing/2014/main" id="{54038B88-C2F2-FCE9-526D-F4DF635B67D5}"/>
              </a:ext>
            </a:extLst>
          </p:cNvPr>
          <p:cNvSpPr txBox="1"/>
          <p:nvPr/>
        </p:nvSpPr>
        <p:spPr>
          <a:xfrm>
            <a:off x="7545005" y="4600511"/>
            <a:ext cx="960198"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KQL Queryset</a:t>
            </a:r>
          </a:p>
        </p:txBody>
      </p:sp>
      <p:grpSp>
        <p:nvGrpSpPr>
          <p:cNvPr id="34" name="Group 33" descr="Power BI logo">
            <a:extLst>
              <a:ext uri="{FF2B5EF4-FFF2-40B4-BE49-F238E27FC236}">
                <a16:creationId xmlns:a16="http://schemas.microsoft.com/office/drawing/2014/main" id="{96657221-E077-9DFC-5DCB-EEF91EA57C72}"/>
              </a:ext>
            </a:extLst>
          </p:cNvPr>
          <p:cNvGrpSpPr/>
          <p:nvPr/>
        </p:nvGrpSpPr>
        <p:grpSpPr>
          <a:xfrm>
            <a:off x="10999086" y="4028769"/>
            <a:ext cx="576078" cy="567386"/>
            <a:chOff x="4934851" y="4033680"/>
            <a:chExt cx="914400" cy="914399"/>
          </a:xfrm>
        </p:grpSpPr>
        <p:sp>
          <p:nvSpPr>
            <p:cNvPr id="54" name="Rectangle: Rounded Corners 53">
              <a:extLst>
                <a:ext uri="{FF2B5EF4-FFF2-40B4-BE49-F238E27FC236}">
                  <a16:creationId xmlns:a16="http://schemas.microsoft.com/office/drawing/2014/main" id="{CB792F38-4426-0483-8AB7-9471E0479874}"/>
                </a:ext>
              </a:extLst>
            </p:cNvPr>
            <p:cNvSpPr/>
            <p:nvPr/>
          </p:nvSpPr>
          <p:spPr>
            <a:xfrm>
              <a:off x="4934851" y="4033680"/>
              <a:ext cx="914400" cy="914399"/>
            </a:xfrm>
            <a:prstGeom prst="roundRect">
              <a:avLst>
                <a:gd name="adj" fmla="val 7292"/>
              </a:avLst>
            </a:prstGeom>
            <a:solidFill>
              <a:schemeClr val="bg1"/>
            </a:solidFill>
            <a:ln w="12700" cap="flat" cmpd="sng" algn="ctr">
              <a:gradFill flip="none" rotWithShape="1">
                <a:gsLst>
                  <a:gs pos="0">
                    <a:srgbClr val="004981"/>
                  </a:gs>
                  <a:gs pos="65000">
                    <a:srgbClr val="0064AD"/>
                  </a:gs>
                  <a:gs pos="100000">
                    <a:srgbClr val="41B8A4"/>
                  </a:gs>
                </a:gsLst>
                <a:lin ang="2700000" scaled="1"/>
                <a:tileRect/>
              </a:grad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600" kern="0" noProof="0" dirty="0">
                <a:latin typeface="Segoe Sans Text Semilight"/>
                <a:cs typeface="Segoe Sans Display Semilight" panose="020F0502020204030204" pitchFamily="2" charset="0"/>
              </a:endParaRPr>
            </a:p>
          </p:txBody>
        </p:sp>
        <p:pic>
          <p:nvPicPr>
            <p:cNvPr id="55" name="Graphic 54" descr="Power BI Logo">
              <a:extLst>
                <a:ext uri="{FF2B5EF4-FFF2-40B4-BE49-F238E27FC236}">
                  <a16:creationId xmlns:a16="http://schemas.microsoft.com/office/drawing/2014/main" id="{2D9D0AB1-CEEB-3109-A684-D7F3EC40DF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49396" y="4138595"/>
              <a:ext cx="485312" cy="485312"/>
            </a:xfrm>
            <a:prstGeom prst="rect">
              <a:avLst/>
            </a:prstGeom>
          </p:spPr>
        </p:pic>
        <p:sp>
          <p:nvSpPr>
            <p:cNvPr id="56" name="Text Placeholder 2">
              <a:extLst>
                <a:ext uri="{FF2B5EF4-FFF2-40B4-BE49-F238E27FC236}">
                  <a16:creationId xmlns:a16="http://schemas.microsoft.com/office/drawing/2014/main" id="{98601138-B271-39F9-BDF6-4CD1FD444BD7}"/>
                </a:ext>
              </a:extLst>
            </p:cNvPr>
            <p:cNvSpPr txBox="1">
              <a:spLocks/>
            </p:cNvSpPr>
            <p:nvPr/>
          </p:nvSpPr>
          <p:spPr>
            <a:xfrm>
              <a:off x="5023842" y="4650507"/>
              <a:ext cx="736415" cy="223205"/>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dirty="0">
                  <a:ln>
                    <a:noFill/>
                  </a:ln>
                  <a:effectLst/>
                  <a:uLnTx/>
                  <a:uFillTx/>
                  <a:latin typeface="+mj-lt"/>
                  <a:cs typeface="+mn-cs"/>
                </a:rPr>
                <a:t>Power BI</a:t>
              </a:r>
            </a:p>
          </p:txBody>
        </p:sp>
      </p:grpSp>
      <p:sp>
        <p:nvSpPr>
          <p:cNvPr id="35" name="TextBox 34">
            <a:extLst>
              <a:ext uri="{FF2B5EF4-FFF2-40B4-BE49-F238E27FC236}">
                <a16:creationId xmlns:a16="http://schemas.microsoft.com/office/drawing/2014/main" id="{53D97047-0A7D-30E6-BD10-C5E289A78277}"/>
              </a:ext>
            </a:extLst>
          </p:cNvPr>
          <p:cNvSpPr txBox="1"/>
          <p:nvPr/>
        </p:nvSpPr>
        <p:spPr>
          <a:xfrm>
            <a:off x="8635361" y="2535999"/>
            <a:ext cx="892873"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Analyze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transform</a:t>
            </a:r>
          </a:p>
        </p:txBody>
      </p:sp>
      <p:pic>
        <p:nvPicPr>
          <p:cNvPr id="36" name="Picture 35" descr="A white and pink logo  Description automatically generated">
            <a:extLst>
              <a:ext uri="{FF2B5EF4-FFF2-40B4-BE49-F238E27FC236}">
                <a16:creationId xmlns:a16="http://schemas.microsoft.com/office/drawing/2014/main" id="{B8C21E6F-032B-A2D6-75FC-8F895EEB72BF}"/>
              </a:ext>
            </a:extLst>
          </p:cNvPr>
          <p:cNvPicPr>
            <a:picLocks noChangeAspect="1"/>
          </p:cNvPicPr>
          <p:nvPr/>
        </p:nvPicPr>
        <p:blipFill rotWithShape="1">
          <a:blip r:embed="rId7">
            <a:extLst>
              <a:ext uri="{28A0092B-C50C-407E-A947-70E740481C1C}">
                <a14:useLocalDpi xmlns:a14="http://schemas.microsoft.com/office/drawing/2010/main" val="0"/>
              </a:ext>
            </a:extLst>
          </a:blip>
          <a:srcRect l="11520" t="3619" r="11520" b="3619"/>
          <a:stretch/>
        </p:blipFill>
        <p:spPr>
          <a:xfrm>
            <a:off x="7269166" y="2806049"/>
            <a:ext cx="397433" cy="471807"/>
          </a:xfrm>
          <a:prstGeom prst="rect">
            <a:avLst/>
          </a:prstGeom>
        </p:spPr>
      </p:pic>
      <p:sp>
        <p:nvSpPr>
          <p:cNvPr id="37" name="TextBox 36">
            <a:extLst>
              <a:ext uri="{FF2B5EF4-FFF2-40B4-BE49-F238E27FC236}">
                <a16:creationId xmlns:a16="http://schemas.microsoft.com/office/drawing/2014/main" id="{82BC50CF-9E8B-CA3A-78C6-DA28E0BC02DE}"/>
              </a:ext>
            </a:extLst>
          </p:cNvPr>
          <p:cNvSpPr txBox="1"/>
          <p:nvPr/>
        </p:nvSpPr>
        <p:spPr>
          <a:xfrm>
            <a:off x="7032571" y="3309673"/>
            <a:ext cx="870623" cy="20590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Eventstream</a:t>
            </a:r>
          </a:p>
        </p:txBody>
      </p:sp>
      <p:sp>
        <p:nvSpPr>
          <p:cNvPr id="38" name="TextBox 37">
            <a:extLst>
              <a:ext uri="{FF2B5EF4-FFF2-40B4-BE49-F238E27FC236}">
                <a16:creationId xmlns:a16="http://schemas.microsoft.com/office/drawing/2014/main" id="{64474F6C-93A3-FB48-A006-D93ECC6C5882}"/>
              </a:ext>
            </a:extLst>
          </p:cNvPr>
          <p:cNvSpPr txBox="1"/>
          <p:nvPr/>
        </p:nvSpPr>
        <p:spPr>
          <a:xfrm>
            <a:off x="6809049" y="2535999"/>
            <a:ext cx="1317668"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Ingest and process</a:t>
            </a:r>
          </a:p>
        </p:txBody>
      </p:sp>
      <p:pic>
        <p:nvPicPr>
          <p:cNvPr id="39" name="Picture 38" descr="A pink lightning bolt on a white background  Description automatically generated">
            <a:extLst>
              <a:ext uri="{FF2B5EF4-FFF2-40B4-BE49-F238E27FC236}">
                <a16:creationId xmlns:a16="http://schemas.microsoft.com/office/drawing/2014/main" id="{854C3A76-63FC-E049-5690-C87DDE0666B0}"/>
              </a:ext>
            </a:extLst>
          </p:cNvPr>
          <p:cNvPicPr>
            <a:picLocks noChangeAspect="1"/>
          </p:cNvPicPr>
          <p:nvPr/>
        </p:nvPicPr>
        <p:blipFill rotWithShape="1">
          <a:blip r:embed="rId8">
            <a:extLst>
              <a:ext uri="{28A0092B-C50C-407E-A947-70E740481C1C}">
                <a14:useLocalDpi xmlns:a14="http://schemas.microsoft.com/office/drawing/2010/main" val="0"/>
              </a:ext>
            </a:extLst>
          </a:blip>
          <a:stretch/>
        </p:blipFill>
        <p:spPr>
          <a:xfrm>
            <a:off x="10367496" y="2776013"/>
            <a:ext cx="540028" cy="531880"/>
          </a:xfrm>
          <a:prstGeom prst="rect">
            <a:avLst/>
          </a:prstGeom>
        </p:spPr>
      </p:pic>
      <p:sp>
        <p:nvSpPr>
          <p:cNvPr id="40" name="TextBox 39">
            <a:extLst>
              <a:ext uri="{FF2B5EF4-FFF2-40B4-BE49-F238E27FC236}">
                <a16:creationId xmlns:a16="http://schemas.microsoft.com/office/drawing/2014/main" id="{45681A82-971D-DACD-6509-664215BF9756}"/>
              </a:ext>
            </a:extLst>
          </p:cNvPr>
          <p:cNvSpPr txBox="1"/>
          <p:nvPr/>
        </p:nvSpPr>
        <p:spPr>
          <a:xfrm>
            <a:off x="10426364" y="3339650"/>
            <a:ext cx="422295" cy="205895"/>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Reflex</a:t>
            </a:r>
          </a:p>
        </p:txBody>
      </p:sp>
      <p:sp>
        <p:nvSpPr>
          <p:cNvPr id="41" name="TextBox 40">
            <a:extLst>
              <a:ext uri="{FF2B5EF4-FFF2-40B4-BE49-F238E27FC236}">
                <a16:creationId xmlns:a16="http://schemas.microsoft.com/office/drawing/2014/main" id="{21FDE46E-A2FB-032F-4FEC-F72E2369E300}"/>
              </a:ext>
            </a:extLst>
          </p:cNvPr>
          <p:cNvSpPr txBox="1"/>
          <p:nvPr/>
        </p:nvSpPr>
        <p:spPr>
          <a:xfrm>
            <a:off x="10521292" y="2535999"/>
            <a:ext cx="232436"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mj-lt"/>
              </a:rPr>
              <a:t>Act</a:t>
            </a:r>
          </a:p>
        </p:txBody>
      </p:sp>
      <p:grpSp>
        <p:nvGrpSpPr>
          <p:cNvPr id="42" name="Group 41">
            <a:extLst>
              <a:ext uri="{FF2B5EF4-FFF2-40B4-BE49-F238E27FC236}">
                <a16:creationId xmlns:a16="http://schemas.microsoft.com/office/drawing/2014/main" id="{8A825182-437E-83C1-E5E2-6596578DCA88}"/>
              </a:ext>
              <a:ext uri="{C183D7F6-B498-43B3-948B-1728B52AA6E4}">
                <adec:decorative xmlns:adec="http://schemas.microsoft.com/office/drawing/2017/decorative" val="1"/>
              </a:ext>
            </a:extLst>
          </p:cNvPr>
          <p:cNvGrpSpPr/>
          <p:nvPr/>
        </p:nvGrpSpPr>
        <p:grpSpPr>
          <a:xfrm>
            <a:off x="8723227" y="4957654"/>
            <a:ext cx="525462" cy="515533"/>
            <a:chOff x="5902510" y="4788865"/>
            <a:chExt cx="525462" cy="523430"/>
          </a:xfrm>
        </p:grpSpPr>
        <p:sp>
          <p:nvSpPr>
            <p:cNvPr id="52" name="Oval 51">
              <a:extLst>
                <a:ext uri="{FF2B5EF4-FFF2-40B4-BE49-F238E27FC236}">
                  <a16:creationId xmlns:a16="http://schemas.microsoft.com/office/drawing/2014/main" id="{5E2B842E-F538-C60E-65F3-FF1B607AAC07}"/>
                </a:ext>
              </a:extLst>
            </p:cNvPr>
            <p:cNvSpPr/>
            <p:nvPr/>
          </p:nvSpPr>
          <p:spPr>
            <a:xfrm>
              <a:off x="5902510" y="4788865"/>
              <a:ext cx="525462" cy="52343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pic>
          <p:nvPicPr>
            <p:cNvPr id="53" name="Picture 2">
              <a:extLst>
                <a:ext uri="{FF2B5EF4-FFF2-40B4-BE49-F238E27FC236}">
                  <a16:creationId xmlns:a16="http://schemas.microsoft.com/office/drawing/2014/main" id="{6985BC79-6120-61FA-B1BE-29B42473FB0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04904" y="4890243"/>
              <a:ext cx="320674" cy="32067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3" name="Straight Arrow Connector 42" descr="Arrow pointing towards the right">
            <a:extLst>
              <a:ext uri="{FF2B5EF4-FFF2-40B4-BE49-F238E27FC236}">
                <a16:creationId xmlns:a16="http://schemas.microsoft.com/office/drawing/2014/main" id="{B7C86828-C9A5-FCEB-3E73-212A762B8E08}"/>
              </a:ext>
            </a:extLst>
          </p:cNvPr>
          <p:cNvCxnSpPr>
            <a:cxnSpLocks/>
            <a:stCxn id="36" idx="3"/>
            <a:endCxn id="39" idx="1"/>
          </p:cNvCxnSpPr>
          <p:nvPr/>
        </p:nvCxnSpPr>
        <p:spPr>
          <a:xfrm>
            <a:off x="7666599" y="3041953"/>
            <a:ext cx="2700897" cy="0"/>
          </a:xfrm>
          <a:prstGeom prst="straightConnector1">
            <a:avLst/>
          </a:prstGeom>
          <a:noFill/>
          <a:ln w="12700" cap="flat" cmpd="sng" algn="ctr">
            <a:solidFill>
              <a:schemeClr val="bg1">
                <a:lumMod val="85000"/>
              </a:schemeClr>
            </a:solidFill>
            <a:prstDash val="solid"/>
            <a:miter lim="800000"/>
            <a:tailEnd type="arrow" w="med" len="sm"/>
          </a:ln>
          <a:effectLst/>
        </p:spPr>
      </p:cxnSp>
      <p:cxnSp>
        <p:nvCxnSpPr>
          <p:cNvPr id="44" name="Connector: Elbow 43">
            <a:extLst>
              <a:ext uri="{FF2B5EF4-FFF2-40B4-BE49-F238E27FC236}">
                <a16:creationId xmlns:a16="http://schemas.microsoft.com/office/drawing/2014/main" id="{31F77911-3163-D85F-2D08-4854258F202A}"/>
              </a:ext>
            </a:extLst>
          </p:cNvPr>
          <p:cNvCxnSpPr>
            <a:cxnSpLocks/>
            <a:stCxn id="37" idx="2"/>
            <a:endCxn id="29" idx="1"/>
          </p:cNvCxnSpPr>
          <p:nvPr/>
        </p:nvCxnSpPr>
        <p:spPr>
          <a:xfrm rot="16200000" flipH="1">
            <a:off x="7779769" y="3203688"/>
            <a:ext cx="410312" cy="1034084"/>
          </a:xfrm>
          <a:prstGeom prst="bentConnector2">
            <a:avLst/>
          </a:prstGeom>
          <a:noFill/>
          <a:ln w="12700" cap="flat" cmpd="sng" algn="ctr">
            <a:solidFill>
              <a:schemeClr val="bg1">
                <a:lumMod val="85000"/>
              </a:schemeClr>
            </a:solidFill>
            <a:prstDash val="solid"/>
            <a:miter lim="800000"/>
            <a:tailEnd type="arrow" w="med" len="sm"/>
          </a:ln>
          <a:effectLst/>
        </p:spPr>
      </p:cxnSp>
      <p:cxnSp>
        <p:nvCxnSpPr>
          <p:cNvPr id="45" name="Connector: Elbow 44">
            <a:extLst>
              <a:ext uri="{FF2B5EF4-FFF2-40B4-BE49-F238E27FC236}">
                <a16:creationId xmlns:a16="http://schemas.microsoft.com/office/drawing/2014/main" id="{08BDA5D2-90B2-A5E8-166F-A48B85742F46}"/>
              </a:ext>
            </a:extLst>
          </p:cNvPr>
          <p:cNvCxnSpPr>
            <a:cxnSpLocks/>
            <a:stCxn id="29" idx="3"/>
            <a:endCxn id="40" idx="2"/>
          </p:cNvCxnSpPr>
          <p:nvPr/>
        </p:nvCxnSpPr>
        <p:spPr>
          <a:xfrm flipV="1">
            <a:off x="9465577" y="3545545"/>
            <a:ext cx="1171935" cy="380341"/>
          </a:xfrm>
          <a:prstGeom prst="bentConnector2">
            <a:avLst/>
          </a:prstGeom>
          <a:noFill/>
          <a:ln w="12700" cap="flat" cmpd="sng" algn="ctr">
            <a:solidFill>
              <a:schemeClr val="bg1">
                <a:lumMod val="85000"/>
              </a:schemeClr>
            </a:solidFill>
            <a:prstDash val="solid"/>
            <a:miter lim="800000"/>
            <a:tailEnd type="arrow" w="med" len="sm"/>
          </a:ln>
          <a:effectLst/>
        </p:spPr>
      </p:cxnSp>
      <p:sp>
        <p:nvSpPr>
          <p:cNvPr id="46" name="TextBox 45">
            <a:extLst>
              <a:ext uri="{FF2B5EF4-FFF2-40B4-BE49-F238E27FC236}">
                <a16:creationId xmlns:a16="http://schemas.microsoft.com/office/drawing/2014/main" id="{3C6BE83D-D41F-F7A4-5B88-C01BADFF856C}"/>
              </a:ext>
            </a:extLst>
          </p:cNvPr>
          <p:cNvSpPr txBox="1"/>
          <p:nvPr/>
        </p:nvSpPr>
        <p:spPr>
          <a:xfrm>
            <a:off x="8195412" y="5523275"/>
            <a:ext cx="1581091"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rPr>
              <a:t>Real-Time Hub</a:t>
            </a:r>
          </a:p>
        </p:txBody>
      </p:sp>
      <p:sp>
        <p:nvSpPr>
          <p:cNvPr id="47" name="Right Brace 46">
            <a:extLst>
              <a:ext uri="{FF2B5EF4-FFF2-40B4-BE49-F238E27FC236}">
                <a16:creationId xmlns:a16="http://schemas.microsoft.com/office/drawing/2014/main" id="{D1FD71A1-A143-4452-7E5D-0EB2ECD9DF34}"/>
              </a:ext>
            </a:extLst>
          </p:cNvPr>
          <p:cNvSpPr/>
          <p:nvPr/>
        </p:nvSpPr>
        <p:spPr>
          <a:xfrm rot="5400000">
            <a:off x="8856326" y="3517650"/>
            <a:ext cx="246221" cy="4510996"/>
          </a:xfrm>
          <a:prstGeom prst="rightBrace">
            <a:avLst>
              <a:gd name="adj1" fmla="val 0"/>
              <a:gd name="adj2" fmla="val 50000"/>
            </a:avLst>
          </a:prstGeom>
          <a:noFill/>
          <a:ln w="12700" cap="flat" cmpd="sng" algn="ctr">
            <a:solidFill>
              <a:schemeClr val="bg1">
                <a:lumMod val="85000"/>
              </a:schemeClr>
            </a:solidFill>
            <a:prstDash val="solid"/>
            <a:miter lim="800000"/>
            <a:tailEnd type="none" w="med" len="sm"/>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latin typeface="Segoe Sans Text Semilight"/>
              <a:ea typeface="+mn-ea"/>
              <a:cs typeface="+mn-cs"/>
            </a:endParaRPr>
          </a:p>
        </p:txBody>
      </p:sp>
      <p:sp>
        <p:nvSpPr>
          <p:cNvPr id="48" name="Rounded Rectangle 30">
            <a:extLst>
              <a:ext uri="{FF2B5EF4-FFF2-40B4-BE49-F238E27FC236}">
                <a16:creationId xmlns:a16="http://schemas.microsoft.com/office/drawing/2014/main" id="{A8079A43-1FD7-F76C-7CF8-78DA19238A13}"/>
              </a:ext>
              <a:ext uri="{C183D7F6-B498-43B3-948B-1728B52AA6E4}">
                <adec:decorative xmlns:adec="http://schemas.microsoft.com/office/drawing/2017/decorative" val="1"/>
              </a:ext>
            </a:extLst>
          </p:cNvPr>
          <p:cNvSpPr/>
          <p:nvPr/>
        </p:nvSpPr>
        <p:spPr bwMode="auto">
          <a:xfrm>
            <a:off x="6689589" y="5896258"/>
            <a:ext cx="4579694" cy="525170"/>
          </a:xfrm>
          <a:prstGeom prst="roundRect">
            <a:avLst>
              <a:gd name="adj" fmla="val 16228"/>
            </a:avLst>
          </a:prstGeom>
          <a:solidFill>
            <a:schemeClr val="bg1">
              <a:lumMod val="95000"/>
              <a:alpha val="94098"/>
            </a:schemeClr>
          </a:solidFill>
          <a:ln w="6350" cap="flat" cmpd="sng" algn="ctr">
            <a:noFill/>
            <a:prstDash val="solid"/>
            <a:miter lim="800000"/>
            <a:headEnd type="none" w="med" len="med"/>
            <a:tailEnd type="none" w="med" len="med"/>
          </a:ln>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effectLst/>
              <a:uLnTx/>
              <a:uFillTx/>
              <a:latin typeface="Segoe Sans Text Semilight"/>
              <a:ea typeface="+mn-ea"/>
              <a:cs typeface="Segoe Sans Display Semilight" panose="020F0502020204030204" pitchFamily="2" charset="0"/>
            </a:endParaRPr>
          </a:p>
        </p:txBody>
      </p:sp>
      <p:pic>
        <p:nvPicPr>
          <p:cNvPr id="49" name="Picture 48" descr="OneLake logo">
            <a:extLst>
              <a:ext uri="{FF2B5EF4-FFF2-40B4-BE49-F238E27FC236}">
                <a16:creationId xmlns:a16="http://schemas.microsoft.com/office/drawing/2014/main" id="{9283C079-1D1F-A6A0-5BFF-D0508F7CFA4A}"/>
              </a:ext>
            </a:extLst>
          </p:cNvPr>
          <p:cNvPicPr>
            <a:picLocks noChangeAspect="1"/>
          </p:cNvPicPr>
          <p:nvPr/>
        </p:nvPicPr>
        <p:blipFill rotWithShape="1">
          <a:blip r:embed="rId10">
            <a:extLst>
              <a:ext uri="{28A0092B-C50C-407E-A947-70E740481C1C}">
                <a14:useLocalDpi xmlns:a14="http://schemas.microsoft.com/office/drawing/2010/main" val="0"/>
              </a:ext>
            </a:extLst>
          </a:blip>
          <a:srcRect l="-7916" r="-7916"/>
          <a:stretch/>
        </p:blipFill>
        <p:spPr>
          <a:xfrm>
            <a:off x="8316327" y="5970526"/>
            <a:ext cx="443310" cy="376632"/>
          </a:xfrm>
          <a:prstGeom prst="rect">
            <a:avLst/>
          </a:prstGeom>
          <a:noFill/>
          <a:ln>
            <a:noFill/>
          </a:ln>
          <a:effectLst/>
        </p:spPr>
      </p:pic>
      <p:sp>
        <p:nvSpPr>
          <p:cNvPr id="50" name="Text Placeholder 2">
            <a:extLst>
              <a:ext uri="{FF2B5EF4-FFF2-40B4-BE49-F238E27FC236}">
                <a16:creationId xmlns:a16="http://schemas.microsoft.com/office/drawing/2014/main" id="{75A9D7D5-7316-6144-8477-CE961A64B5DB}"/>
              </a:ext>
            </a:extLst>
          </p:cNvPr>
          <p:cNvSpPr txBox="1">
            <a:spLocks/>
          </p:cNvSpPr>
          <p:nvPr/>
        </p:nvSpPr>
        <p:spPr>
          <a:xfrm>
            <a:off x="8833657" y="6035731"/>
            <a:ext cx="804836" cy="246221"/>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dirty="0">
                <a:ln>
                  <a:noFill/>
                </a:ln>
                <a:effectLst/>
                <a:uLnTx/>
                <a:uFillTx/>
                <a:cs typeface="+mn-cs"/>
              </a:rPr>
              <a:t>OneLake</a:t>
            </a:r>
          </a:p>
        </p:txBody>
      </p:sp>
      <p:pic>
        <p:nvPicPr>
          <p:cNvPr id="51" name="Graphic 50">
            <a:extLst>
              <a:ext uri="{FF2B5EF4-FFF2-40B4-BE49-F238E27FC236}">
                <a16:creationId xmlns:a16="http://schemas.microsoft.com/office/drawing/2014/main" id="{1B621F89-A998-FE4B-DA64-FDF57B7E8A6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30201" y="2038354"/>
            <a:ext cx="584344" cy="584342"/>
          </a:xfrm>
          <a:prstGeom prst="rect">
            <a:avLst/>
          </a:prstGeom>
        </p:spPr>
      </p:pic>
      <p:sp>
        <p:nvSpPr>
          <p:cNvPr id="57" name="TextBox 56">
            <a:extLst>
              <a:ext uri="{FF2B5EF4-FFF2-40B4-BE49-F238E27FC236}">
                <a16:creationId xmlns:a16="http://schemas.microsoft.com/office/drawing/2014/main" id="{7AC9E1B4-ADE1-42CD-359A-BEAFEEB486AB}"/>
              </a:ext>
            </a:extLst>
          </p:cNvPr>
          <p:cNvSpPr txBox="1"/>
          <p:nvPr/>
        </p:nvSpPr>
        <p:spPr>
          <a:xfrm>
            <a:off x="6723939" y="1390515"/>
            <a:ext cx="4471746" cy="6745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dirty="0">
                <a:ln>
                  <a:noFill/>
                </a:ln>
                <a:solidFill>
                  <a:prstClr val="black"/>
                </a:solidFill>
                <a:effectLst/>
                <a:uLnTx/>
                <a:uFillTx/>
              </a:rPr>
              <a:t>Digital operations, observational, (I)IoT+</a:t>
            </a:r>
            <a:br>
              <a:rPr kumimoji="0" lang="en-US" sz="1400" b="0" i="0" u="none" strike="noStrike" kern="1200" cap="none" spc="0" normalizeH="0" baseline="0" noProof="0" dirty="0">
                <a:ln>
                  <a:noFill/>
                </a:ln>
                <a:solidFill>
                  <a:prstClr val="black"/>
                </a:solidFill>
                <a:effectLst/>
                <a:uLnTx/>
                <a:uFillTx/>
              </a:rPr>
            </a:br>
            <a:r>
              <a:rPr kumimoji="0" lang="en-US" sz="900" b="0" i="0" u="none" strike="noStrike" kern="1200" cap="none" spc="0" normalizeH="0" baseline="0" noProof="0" dirty="0">
                <a:ln>
                  <a:noFill/>
                </a:ln>
                <a:solidFill>
                  <a:prstClr val="black"/>
                </a:solidFill>
                <a:effectLst/>
                <a:uLnTx/>
                <a:uFillTx/>
              </a:rPr>
              <a:t>high-granular, discrete analytics</a:t>
            </a:r>
            <a:endParaRPr kumimoji="0" lang="en-US" sz="1050" b="0" i="0" u="none" strike="noStrike" kern="1200" cap="none" spc="0" normalizeH="0" baseline="0" noProof="0" dirty="0">
              <a:ln>
                <a:noFill/>
              </a:ln>
              <a:solidFill>
                <a:prstClr val="black"/>
              </a:solidFill>
              <a:effectLst/>
              <a:uLnTx/>
              <a:uFillTx/>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rPr>
              <a:t>Streaming, minimal-latency, data in-motion, predictive analytics</a:t>
            </a:r>
          </a:p>
        </p:txBody>
      </p:sp>
      <p:sp>
        <p:nvSpPr>
          <p:cNvPr id="85" name="Rounded Rectangle 48">
            <a:extLst>
              <a:ext uri="{FF2B5EF4-FFF2-40B4-BE49-F238E27FC236}">
                <a16:creationId xmlns:a16="http://schemas.microsoft.com/office/drawing/2014/main" id="{9EC3283E-9EE0-5FF1-F1D9-B0A1DDF52A81}"/>
              </a:ext>
              <a:ext uri="{C183D7F6-B498-43B3-948B-1728B52AA6E4}">
                <adec:decorative xmlns:adec="http://schemas.microsoft.com/office/drawing/2017/decorative" val="1"/>
              </a:ext>
            </a:extLst>
          </p:cNvPr>
          <p:cNvSpPr>
            <a:spLocks/>
          </p:cNvSpPr>
          <p:nvPr/>
        </p:nvSpPr>
        <p:spPr bwMode="auto">
          <a:xfrm>
            <a:off x="588963" y="1635581"/>
            <a:ext cx="5749154" cy="4625838"/>
          </a:xfrm>
          <a:prstGeom prst="homePlate">
            <a:avLst>
              <a:gd name="adj" fmla="val 34282"/>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grpSp>
        <p:nvGrpSpPr>
          <p:cNvPr id="4" name="Group 3">
            <a:extLst>
              <a:ext uri="{FF2B5EF4-FFF2-40B4-BE49-F238E27FC236}">
                <a16:creationId xmlns:a16="http://schemas.microsoft.com/office/drawing/2014/main" id="{87F7A444-A2D8-45C3-592B-4070CEC16EF6}"/>
              </a:ext>
            </a:extLst>
          </p:cNvPr>
          <p:cNvGrpSpPr/>
          <p:nvPr/>
        </p:nvGrpSpPr>
        <p:grpSpPr>
          <a:xfrm>
            <a:off x="767677" y="1820867"/>
            <a:ext cx="5008677" cy="4255266"/>
            <a:chOff x="767677" y="1820867"/>
            <a:chExt cx="5008677" cy="4255266"/>
          </a:xfrm>
        </p:grpSpPr>
        <p:pic>
          <p:nvPicPr>
            <p:cNvPr id="8" name="Picture 18" descr="Confluent logo in transparent PNG format">
              <a:extLst>
                <a:ext uri="{FF2B5EF4-FFF2-40B4-BE49-F238E27FC236}">
                  <a16:creationId xmlns:a16="http://schemas.microsoft.com/office/drawing/2014/main" id="{6B75B50F-2391-00E5-0DC2-14989EA2D4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85280" y="2787365"/>
              <a:ext cx="491773" cy="489959"/>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02489AA5-3FDA-A65A-6C71-EC7E67E61B9A}"/>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550633" y="2777960"/>
              <a:ext cx="508765" cy="508765"/>
            </a:xfrm>
            <a:prstGeom prst="rect">
              <a:avLst/>
            </a:prstGeom>
          </p:spPr>
        </p:pic>
        <p:pic>
          <p:nvPicPr>
            <p:cNvPr id="10" name="Picture 9">
              <a:extLst>
                <a:ext uri="{FF2B5EF4-FFF2-40B4-BE49-F238E27FC236}">
                  <a16:creationId xmlns:a16="http://schemas.microsoft.com/office/drawing/2014/main" id="{00E3C0D5-33E7-A31D-D60D-5493C054B936}"/>
                </a:ext>
                <a:ext uri="{C183D7F6-B498-43B3-948B-1728B52AA6E4}">
                  <adec:decorative xmlns:adec="http://schemas.microsoft.com/office/drawing/2017/decorative" val="1"/>
                </a:ext>
              </a:extLst>
            </p:cNvPr>
            <p:cNvPicPr>
              <a:picLocks noChangeAspect="1"/>
            </p:cNvPicPr>
            <p:nvPr/>
          </p:nvPicPr>
          <p:blipFill rotWithShape="1">
            <a:blip r:embed="rId14"/>
            <a:srcRect l="68863" t="35258"/>
            <a:stretch/>
          </p:blipFill>
          <p:spPr>
            <a:xfrm>
              <a:off x="767677" y="2785178"/>
              <a:ext cx="635215" cy="516627"/>
            </a:xfrm>
            <a:prstGeom prst="rect">
              <a:avLst/>
            </a:prstGeom>
          </p:spPr>
        </p:pic>
        <p:pic>
          <p:nvPicPr>
            <p:cNvPr id="11" name="Picture 2">
              <a:extLst>
                <a:ext uri="{FF2B5EF4-FFF2-40B4-BE49-F238E27FC236}">
                  <a16:creationId xmlns:a16="http://schemas.microsoft.com/office/drawing/2014/main" id="{070A5699-FD6B-7B31-D4A6-CEC1E6D7CD86}"/>
                </a:ext>
                <a:ext uri="{C183D7F6-B498-43B3-948B-1728B52AA6E4}">
                  <adec:decorative xmlns:adec="http://schemas.microsoft.com/office/drawing/2017/decorative" val="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31266" y="2729666"/>
              <a:ext cx="530635" cy="608142"/>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a:extLst>
                <a:ext uri="{FF2B5EF4-FFF2-40B4-BE49-F238E27FC236}">
                  <a16:creationId xmlns:a16="http://schemas.microsoft.com/office/drawing/2014/main" id="{7DD43582-13EC-8B06-3CF9-4DD02ECEB1C5}"/>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833788" y="4582299"/>
              <a:ext cx="536060" cy="536061"/>
            </a:xfrm>
            <a:prstGeom prst="rect">
              <a:avLst/>
            </a:prstGeom>
          </p:spPr>
        </p:pic>
        <p:pic>
          <p:nvPicPr>
            <p:cNvPr id="13" name="Picture 8" descr="Snowflake logo png transparent png sharp details">
              <a:extLst>
                <a:ext uri="{FF2B5EF4-FFF2-40B4-BE49-F238E27FC236}">
                  <a16:creationId xmlns:a16="http://schemas.microsoft.com/office/drawing/2014/main" id="{9CBDB57B-3238-7F02-A45F-E3C3A3402C6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70691" y="3722146"/>
              <a:ext cx="466682" cy="4648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descr="Elasticsearch to BigQuery: 2 Easy Methods">
              <a:extLst>
                <a:ext uri="{FF2B5EF4-FFF2-40B4-BE49-F238E27FC236}">
                  <a16:creationId xmlns:a16="http://schemas.microsoft.com/office/drawing/2014/main" id="{557DBBEC-BA4B-A909-494D-753FDDC1DFC8}"/>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0800" t="27177" r="56456" b="27044"/>
            <a:stretch/>
          </p:blipFill>
          <p:spPr bwMode="auto">
            <a:xfrm>
              <a:off x="3110504" y="3701067"/>
              <a:ext cx="540577" cy="50335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2" descr="Oracle GoldenGate Training | i2tutorials">
              <a:extLst>
                <a:ext uri="{FF2B5EF4-FFF2-40B4-BE49-F238E27FC236}">
                  <a16:creationId xmlns:a16="http://schemas.microsoft.com/office/drawing/2014/main" id="{3CF63A50-F7A4-37A7-34E3-81C5784A1D30}"/>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t="29782" b="25531"/>
            <a:stretch/>
          </p:blipFill>
          <p:spPr bwMode="auto">
            <a:xfrm>
              <a:off x="4243922" y="3753347"/>
              <a:ext cx="1532432" cy="42837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Google Cloud Pub/Sub Connection – BlueConic Knowledge Base">
              <a:extLst>
                <a:ext uri="{FF2B5EF4-FFF2-40B4-BE49-F238E27FC236}">
                  <a16:creationId xmlns:a16="http://schemas.microsoft.com/office/drawing/2014/main" id="{E08629A6-F7EB-D367-BA72-3C67459D3A01}"/>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a:stretch/>
          </p:blipFill>
          <p:spPr bwMode="auto">
            <a:xfrm>
              <a:off x="2535421" y="3710253"/>
              <a:ext cx="531911" cy="48248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23B4D848-51C4-C707-B55E-CDB7DC2A54B4}"/>
                </a:ext>
                <a:ext uri="{C183D7F6-B498-43B3-948B-1728B52AA6E4}">
                  <adec:decorative xmlns:adec="http://schemas.microsoft.com/office/drawing/2017/decorative" val="1"/>
                </a:ext>
              </a:extLst>
            </p:cNvPr>
            <p:cNvPicPr>
              <a:picLocks noChangeAspect="1"/>
            </p:cNvPicPr>
            <p:nvPr/>
          </p:nvPicPr>
          <p:blipFill>
            <a:blip r:embed="rId21"/>
            <a:stretch>
              <a:fillRect/>
            </a:stretch>
          </p:blipFill>
          <p:spPr>
            <a:xfrm>
              <a:off x="3722009" y="3722147"/>
              <a:ext cx="461797" cy="461797"/>
            </a:xfrm>
            <a:prstGeom prst="rect">
              <a:avLst/>
            </a:prstGeom>
          </p:spPr>
        </p:pic>
        <p:pic>
          <p:nvPicPr>
            <p:cNvPr id="18" name="Picture 17" descr="See the source image">
              <a:extLst>
                <a:ext uri="{FF2B5EF4-FFF2-40B4-BE49-F238E27FC236}">
                  <a16:creationId xmlns:a16="http://schemas.microsoft.com/office/drawing/2014/main" id="{A0A6AFBB-9FB3-A839-DD5B-B99CE3BD866B}"/>
                </a:ext>
              </a:extLst>
            </p:cNvPr>
            <p:cNvPicPr>
              <a:picLocks noChangeAspect="1" noChangeArrowheads="1"/>
            </p:cNvPicPr>
            <p:nvPr/>
          </p:nvPicPr>
          <p:blipFill rotWithShape="1">
            <a:blip r:embed="rId22" cstate="print">
              <a:extLst>
                <a:ext uri="{28A0092B-C50C-407E-A947-70E740481C1C}">
                  <a14:useLocalDpi xmlns:a14="http://schemas.microsoft.com/office/drawing/2010/main" val="0"/>
                </a:ext>
              </a:extLst>
            </a:blip>
            <a:srcRect l="11353" t="36036" r="70388" b="36536"/>
            <a:stretch/>
          </p:blipFill>
          <p:spPr bwMode="auto">
            <a:xfrm>
              <a:off x="1402872" y="3707558"/>
              <a:ext cx="487144" cy="487868"/>
            </a:xfrm>
            <a:prstGeom prst="rect">
              <a:avLst/>
            </a:prstGeom>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AE0223DE-1B65-5470-8EC9-390501C9B623}"/>
                </a:ext>
                <a:ext uri="{C183D7F6-B498-43B3-948B-1728B52AA6E4}">
                  <adec:decorative xmlns:adec="http://schemas.microsoft.com/office/drawing/2017/decorative" val="1"/>
                </a:ext>
              </a:extLst>
            </p:cNvPr>
            <p:cNvPicPr>
              <a:picLocks noChangeAspect="1" noChangeArrowheads="1"/>
            </p:cNvPicPr>
            <p:nvPr/>
          </p:nvPicPr>
          <p:blipFill rotWithShape="1">
            <a:blip r:embed="rId23">
              <a:extLst>
                <a:ext uri="{28A0092B-C50C-407E-A947-70E740481C1C}">
                  <a14:useLocalDpi xmlns:a14="http://schemas.microsoft.com/office/drawing/2010/main" val="0"/>
                </a:ext>
              </a:extLst>
            </a:blip>
            <a:srcRect/>
            <a:stretch/>
          </p:blipFill>
          <p:spPr bwMode="auto">
            <a:xfrm>
              <a:off x="1394050" y="1855345"/>
              <a:ext cx="552725" cy="53344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See the source image">
              <a:extLst>
                <a:ext uri="{FF2B5EF4-FFF2-40B4-BE49-F238E27FC236}">
                  <a16:creationId xmlns:a16="http://schemas.microsoft.com/office/drawing/2014/main" id="{B1EEF787-96D3-98FB-9111-546AE6AC6B8E}"/>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830460" y="1872092"/>
              <a:ext cx="493637" cy="495125"/>
            </a:xfrm>
            <a:prstGeom prst="rect">
              <a:avLst/>
            </a:prstGeom>
            <a:extLst>
              <a:ext uri="{909E8E84-426E-40DD-AFC4-6F175D3DCCD1}">
                <a14:hiddenFill xmlns:a14="http://schemas.microsoft.com/office/drawing/2010/main">
                  <a:solidFill>
                    <a:srgbClr val="FFFFFF"/>
                  </a:solidFill>
                </a14:hiddenFill>
              </a:ext>
            </a:extLst>
          </p:spPr>
        </p:pic>
        <p:pic>
          <p:nvPicPr>
            <p:cNvPr id="21" name="Graphic 20">
              <a:extLst>
                <a:ext uri="{FF2B5EF4-FFF2-40B4-BE49-F238E27FC236}">
                  <a16:creationId xmlns:a16="http://schemas.microsoft.com/office/drawing/2014/main" id="{796660BC-9E31-BD8B-6590-7EDEE18C438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061676" y="4541738"/>
              <a:ext cx="656723" cy="656725"/>
            </a:xfrm>
            <a:prstGeom prst="rect">
              <a:avLst/>
            </a:prstGeom>
          </p:spPr>
        </p:pic>
        <p:pic>
          <p:nvPicPr>
            <p:cNvPr id="22" name="Picture 2" descr="Azure SQL Database Logo - PNG Logo Vector Downloads (SVG, EPS)">
              <a:extLst>
                <a:ext uri="{FF2B5EF4-FFF2-40B4-BE49-F238E27FC236}">
                  <a16:creationId xmlns:a16="http://schemas.microsoft.com/office/drawing/2014/main" id="{068BAB56-30AD-33F1-22DF-07505F0AA0F9}"/>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83859" y="4599647"/>
              <a:ext cx="383881" cy="50901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Postgresql Logo Vector SVG Icon - PNG Repo Free PNG Icons">
              <a:extLst>
                <a:ext uri="{FF2B5EF4-FFF2-40B4-BE49-F238E27FC236}">
                  <a16:creationId xmlns:a16="http://schemas.microsoft.com/office/drawing/2014/main" id="{112610D5-A3D0-DE3A-1C8D-C2C7E1E68A54}"/>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450412" y="4602812"/>
              <a:ext cx="527463" cy="527462"/>
            </a:xfrm>
            <a:prstGeom prst="rect">
              <a:avLst/>
            </a:prstGeom>
            <a:noFill/>
            <a:extLst>
              <a:ext uri="{909E8E84-426E-40DD-AFC4-6F175D3DCCD1}">
                <a14:hiddenFill xmlns:a14="http://schemas.microsoft.com/office/drawing/2010/main">
                  <a:solidFill>
                    <a:srgbClr val="FFFFFF"/>
                  </a:solidFill>
                </a14:hiddenFill>
              </a:ext>
            </a:extLst>
          </p:spPr>
        </p:pic>
        <p:pic>
          <p:nvPicPr>
            <p:cNvPr id="24" name="Graphic 23">
              <a:extLst>
                <a:ext uri="{FF2B5EF4-FFF2-40B4-BE49-F238E27FC236}">
                  <a16:creationId xmlns:a16="http://schemas.microsoft.com/office/drawing/2014/main" id="{75A6B4C0-DF7B-0B79-834A-0840C7D1ED0E}"/>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769831" y="4584765"/>
              <a:ext cx="533594" cy="533594"/>
            </a:xfrm>
            <a:prstGeom prst="rect">
              <a:avLst/>
            </a:prstGeom>
          </p:spPr>
        </p:pic>
        <p:pic>
          <p:nvPicPr>
            <p:cNvPr id="58" name="Picture 14" descr="Microsoft Sentinel (Azure) Logo PNG Vector (PDF) Free Download">
              <a:extLst>
                <a:ext uri="{FF2B5EF4-FFF2-40B4-BE49-F238E27FC236}">
                  <a16:creationId xmlns:a16="http://schemas.microsoft.com/office/drawing/2014/main" id="{EE35C461-1782-76CC-5679-7912556B2E8D}"/>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029994" y="1870361"/>
              <a:ext cx="409591" cy="49151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a:extLst>
                <a:ext uri="{FF2B5EF4-FFF2-40B4-BE49-F238E27FC236}">
                  <a16:creationId xmlns:a16="http://schemas.microsoft.com/office/drawing/2014/main" id="{262E124B-5660-37D2-B619-502F39807600}"/>
                </a:ext>
                <a:ext uri="{C183D7F6-B498-43B3-948B-1728B52AA6E4}">
                  <adec:decorative xmlns:adec="http://schemas.microsoft.com/office/drawing/2017/decorative" val="1"/>
                </a:ext>
              </a:extLst>
            </p:cNvPr>
            <p:cNvPicPr>
              <a:picLocks noChangeAspect="1"/>
            </p:cNvPicPr>
            <p:nvPr/>
          </p:nvPicPr>
          <p:blipFill>
            <a:blip r:embed="rId30"/>
            <a:stretch>
              <a:fillRect/>
            </a:stretch>
          </p:blipFill>
          <p:spPr>
            <a:xfrm>
              <a:off x="3119953" y="2739205"/>
              <a:ext cx="570229" cy="570229"/>
            </a:xfrm>
            <a:prstGeom prst="rect">
              <a:avLst/>
            </a:prstGeom>
          </p:spPr>
        </p:pic>
        <p:pic>
          <p:nvPicPr>
            <p:cNvPr id="60" name="Picture 18" descr="OSIsoft Eco-Partnership Integration - Advantech B+B SmartWorx">
              <a:extLst>
                <a:ext uri="{FF2B5EF4-FFF2-40B4-BE49-F238E27FC236}">
                  <a16:creationId xmlns:a16="http://schemas.microsoft.com/office/drawing/2014/main" id="{FD60BE20-C0D5-9330-5936-BE678D5717AF}"/>
                </a:ext>
              </a:extLst>
            </p:cNvPr>
            <p:cNvPicPr>
              <a:picLocks noChangeAspect="1" noChangeArrowheads="1"/>
            </p:cNvPicPr>
            <p:nvPr/>
          </p:nvPicPr>
          <p:blipFill rotWithShape="1">
            <a:blip r:embed="rId31">
              <a:extLst>
                <a:ext uri="{28A0092B-C50C-407E-A947-70E740481C1C}">
                  <a14:useLocalDpi xmlns:a14="http://schemas.microsoft.com/office/drawing/2010/main" val="0"/>
                </a:ext>
              </a:extLst>
            </a:blip>
            <a:srcRect/>
            <a:stretch/>
          </p:blipFill>
          <p:spPr bwMode="auto">
            <a:xfrm>
              <a:off x="827732" y="3716265"/>
              <a:ext cx="501233" cy="476468"/>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All images">
              <a:extLst>
                <a:ext uri="{FF2B5EF4-FFF2-40B4-BE49-F238E27FC236}">
                  <a16:creationId xmlns:a16="http://schemas.microsoft.com/office/drawing/2014/main" id="{ACB10B12-28C0-9E27-7651-257B8F171B32}"/>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116026" y="1856201"/>
              <a:ext cx="267648" cy="267649"/>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0" descr="New Relic integration for Dashboards, Intranets and Chatbots - adenin">
              <a:extLst>
                <a:ext uri="{FF2B5EF4-FFF2-40B4-BE49-F238E27FC236}">
                  <a16:creationId xmlns:a16="http://schemas.microsoft.com/office/drawing/2014/main" id="{DCBBFB84-EBBF-8A63-7778-7D6A1858CF64}"/>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614920" y="1833390"/>
              <a:ext cx="229598" cy="26492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6" descr="Dynatrace logo - Social media &amp; Logos Icons">
              <a:extLst>
                <a:ext uri="{FF2B5EF4-FFF2-40B4-BE49-F238E27FC236}">
                  <a16:creationId xmlns:a16="http://schemas.microsoft.com/office/drawing/2014/main" id="{D498CE92-F716-A1A8-CDB3-C94C3431E443}"/>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361983" y="2110746"/>
              <a:ext cx="267648" cy="267648"/>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 descr="Formation Apache Pinot – Ambient IT">
              <a:extLst>
                <a:ext uri="{FF2B5EF4-FFF2-40B4-BE49-F238E27FC236}">
                  <a16:creationId xmlns:a16="http://schemas.microsoft.com/office/drawing/2014/main" id="{DBC56CDA-7C29-DA3F-5577-E57D2A4C3003}"/>
                </a:ext>
              </a:extLst>
            </p:cNvPr>
            <p:cNvPicPr>
              <a:picLocks noChangeAspect="1" noChangeArrowheads="1"/>
            </p:cNvPicPr>
            <p:nvPr/>
          </p:nvPicPr>
          <p:blipFill rotWithShape="1">
            <a:blip r:embed="rId35">
              <a:extLst>
                <a:ext uri="{28A0092B-C50C-407E-A947-70E740481C1C}">
                  <a14:useLocalDpi xmlns:a14="http://schemas.microsoft.com/office/drawing/2010/main" val="0"/>
                </a:ext>
              </a:extLst>
            </a:blip>
            <a:srcRect l="25492" r="25136"/>
            <a:stretch/>
          </p:blipFill>
          <p:spPr bwMode="auto">
            <a:xfrm>
              <a:off x="3858094" y="2098979"/>
              <a:ext cx="168735" cy="299050"/>
            </a:xfrm>
            <a:prstGeom prst="rect">
              <a:avLst/>
            </a:prstGeom>
            <a:noFill/>
            <a:extLst>
              <a:ext uri="{909E8E84-426E-40DD-AFC4-6F175D3DCCD1}">
                <a14:hiddenFill xmlns:a14="http://schemas.microsoft.com/office/drawing/2010/main">
                  <a:solidFill>
                    <a:srgbClr val="FFFFFF"/>
                  </a:solidFill>
                </a14:hiddenFill>
              </a:ext>
            </a:extLst>
          </p:spPr>
        </p:pic>
        <p:sp>
          <p:nvSpPr>
            <p:cNvPr id="65" name="Rectangle 64">
              <a:extLst>
                <a:ext uri="{FF2B5EF4-FFF2-40B4-BE49-F238E27FC236}">
                  <a16:creationId xmlns:a16="http://schemas.microsoft.com/office/drawing/2014/main" id="{9340AEFC-29D1-E039-D5A4-968B1600C3E6}"/>
                </a:ext>
                <a:ext uri="{C183D7F6-B498-43B3-948B-1728B52AA6E4}">
                  <adec:decorative xmlns:adec="http://schemas.microsoft.com/office/drawing/2017/decorative" val="1"/>
                </a:ext>
              </a:extLst>
            </p:cNvPr>
            <p:cNvSpPr/>
            <p:nvPr/>
          </p:nvSpPr>
          <p:spPr>
            <a:xfrm>
              <a:off x="3101895" y="1820867"/>
              <a:ext cx="953406" cy="579759"/>
            </a:xfrm>
            <a:prstGeom prst="rect">
              <a:avLst/>
            </a:prstGeom>
            <a:solidFill>
              <a:srgbClr val="FFFFF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66" name="Picture 65" descr="redpanda sitting">
              <a:extLst>
                <a:ext uri="{FF2B5EF4-FFF2-40B4-BE49-F238E27FC236}">
                  <a16:creationId xmlns:a16="http://schemas.microsoft.com/office/drawing/2014/main" id="{311CF345-FE61-C83B-C515-C31BC629145F}"/>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722037" y="2795029"/>
              <a:ext cx="262760" cy="230109"/>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4">
              <a:extLst>
                <a:ext uri="{FF2B5EF4-FFF2-40B4-BE49-F238E27FC236}">
                  <a16:creationId xmlns:a16="http://schemas.microsoft.com/office/drawing/2014/main" id="{55A93A0A-DA85-FC27-22B1-7EDA4C926CB6}"/>
                </a:ext>
                <a:ext uri="{C183D7F6-B498-43B3-948B-1728B52AA6E4}">
                  <adec:decorative xmlns:adec="http://schemas.microsoft.com/office/drawing/2017/decorative" val="1"/>
                </a:ext>
              </a:extLst>
            </p:cNvPr>
            <p:cNvPicPr>
              <a:picLocks noChangeAspect="1" noChangeArrowheads="1"/>
            </p:cNvPicPr>
            <p:nvPr/>
          </p:nvPicPr>
          <p:blipFill rotWithShape="1">
            <a:blip r:embed="rId37">
              <a:extLst>
                <a:ext uri="{28A0092B-C50C-407E-A947-70E740481C1C}">
                  <a14:useLocalDpi xmlns:a14="http://schemas.microsoft.com/office/drawing/2010/main" val="0"/>
                </a:ext>
              </a:extLst>
            </a:blip>
            <a:srcRect/>
            <a:stretch/>
          </p:blipFill>
          <p:spPr bwMode="auto">
            <a:xfrm>
              <a:off x="4480566" y="3056309"/>
              <a:ext cx="221344" cy="224879"/>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2" descr="Apache Kafka — Википедия">
              <a:extLst>
                <a:ext uri="{FF2B5EF4-FFF2-40B4-BE49-F238E27FC236}">
                  <a16:creationId xmlns:a16="http://schemas.microsoft.com/office/drawing/2014/main" id="{71768F3A-4413-9632-1FF0-6288A1645707}"/>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790205" y="2795470"/>
              <a:ext cx="148455" cy="240829"/>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0" descr="Apache Druid Training Courses in Lithuania">
              <a:extLst>
                <a:ext uri="{FF2B5EF4-FFF2-40B4-BE49-F238E27FC236}">
                  <a16:creationId xmlns:a16="http://schemas.microsoft.com/office/drawing/2014/main" id="{FC1384E5-DC5C-323F-D7E7-777835EC19AA}"/>
                </a:ext>
              </a:extLst>
            </p:cNvPr>
            <p:cNvPicPr>
              <a:picLocks noChangeAspect="1" noChangeArrowheads="1"/>
            </p:cNvPicPr>
            <p:nvPr/>
          </p:nvPicPr>
          <p:blipFill rotWithShape="1">
            <a:blip r:embed="rId39">
              <a:extLst>
                <a:ext uri="{28A0092B-C50C-407E-A947-70E740481C1C}">
                  <a14:useLocalDpi xmlns:a14="http://schemas.microsoft.com/office/drawing/2010/main" val="0"/>
                </a:ext>
              </a:extLst>
            </a:blip>
            <a:srcRect/>
            <a:stretch/>
          </p:blipFill>
          <p:spPr bwMode="auto">
            <a:xfrm>
              <a:off x="4181619" y="2801235"/>
              <a:ext cx="304556" cy="219908"/>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8" descr="What is Apache Flink? – Igfasouza.com">
              <a:extLst>
                <a:ext uri="{FF2B5EF4-FFF2-40B4-BE49-F238E27FC236}">
                  <a16:creationId xmlns:a16="http://schemas.microsoft.com/office/drawing/2014/main" id="{27FC138D-F34E-E0C1-86F6-0BE257252E1A}"/>
                </a:ext>
              </a:extLst>
            </p:cNvPr>
            <p:cNvPicPr>
              <a:picLocks noChangeAspect="1" noChangeArrowheads="1"/>
            </p:cNvPicPr>
            <p:nvPr/>
          </p:nvPicPr>
          <p:blipFill rotWithShape="1">
            <a:blip r:embed="rId40">
              <a:extLst>
                <a:ext uri="{28A0092B-C50C-407E-A947-70E740481C1C}">
                  <a14:useLocalDpi xmlns:a14="http://schemas.microsoft.com/office/drawing/2010/main" val="0"/>
                </a:ext>
              </a:extLst>
            </a:blip>
            <a:srcRect r="50556"/>
            <a:stretch/>
          </p:blipFill>
          <p:spPr bwMode="auto">
            <a:xfrm>
              <a:off x="3943953" y="3060771"/>
              <a:ext cx="236436" cy="234311"/>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C1A7B790-1BFD-3EE4-1162-2CD2A8882591}"/>
                </a:ext>
                <a:ext uri="{C183D7F6-B498-43B3-948B-1728B52AA6E4}">
                  <adec:decorative xmlns:adec="http://schemas.microsoft.com/office/drawing/2017/decorative" val="1"/>
                </a:ext>
              </a:extLst>
            </p:cNvPr>
            <p:cNvSpPr/>
            <p:nvPr/>
          </p:nvSpPr>
          <p:spPr>
            <a:xfrm>
              <a:off x="3769225" y="2785178"/>
              <a:ext cx="1215573" cy="516279"/>
            </a:xfrm>
            <a:prstGeom prst="rect">
              <a:avLst/>
            </a:prstGeom>
            <a:solidFill>
              <a:srgbClr val="FFFFF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2" name="Picture 71">
              <a:extLst>
                <a:ext uri="{FF2B5EF4-FFF2-40B4-BE49-F238E27FC236}">
                  <a16:creationId xmlns:a16="http://schemas.microsoft.com/office/drawing/2014/main" id="{0FACA5FF-82DB-71CC-C056-DD1D98AF006E}"/>
                </a:ext>
                <a:ext uri="{C183D7F6-B498-43B3-948B-1728B52AA6E4}">
                  <adec:decorative xmlns:adec="http://schemas.microsoft.com/office/drawing/2017/decorative" val="1"/>
                </a:ext>
              </a:extLst>
            </p:cNvPr>
            <p:cNvPicPr>
              <a:picLocks noChangeAspect="1"/>
            </p:cNvPicPr>
            <p:nvPr/>
          </p:nvPicPr>
          <p:blipFill>
            <a:blip r:embed="rId41"/>
            <a:stretch>
              <a:fillRect/>
            </a:stretch>
          </p:blipFill>
          <p:spPr>
            <a:xfrm>
              <a:off x="2574038" y="1855344"/>
              <a:ext cx="511529" cy="515740"/>
            </a:xfrm>
            <a:prstGeom prst="rect">
              <a:avLst/>
            </a:prstGeom>
          </p:spPr>
        </p:pic>
        <p:pic>
          <p:nvPicPr>
            <p:cNvPr id="73" name="Picture 20">
              <a:extLst>
                <a:ext uri="{FF2B5EF4-FFF2-40B4-BE49-F238E27FC236}">
                  <a16:creationId xmlns:a16="http://schemas.microsoft.com/office/drawing/2014/main" id="{4D10E507-0876-B10E-8A7C-F208C284C60C}"/>
                </a:ext>
                <a:ext uri="{C183D7F6-B498-43B3-948B-1728B52AA6E4}">
                  <adec:decorative xmlns:adec="http://schemas.microsoft.com/office/drawing/2017/decorative" val="1"/>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832565" y="5512144"/>
              <a:ext cx="561681" cy="552836"/>
            </a:xfrm>
            <a:prstGeom prst="rect">
              <a:avLst/>
            </a:prstGeom>
            <a:noFill/>
            <a:extLst>
              <a:ext uri="{909E8E84-426E-40DD-AFC4-6F175D3DCCD1}">
                <a14:hiddenFill xmlns:a14="http://schemas.microsoft.com/office/drawing/2010/main">
                  <a:solidFill>
                    <a:srgbClr val="FFFFFF"/>
                  </a:solidFill>
                </a14:hiddenFill>
              </a:ext>
            </a:extLst>
          </p:spPr>
        </p:pic>
        <p:pic>
          <p:nvPicPr>
            <p:cNvPr id="74" name="Graphic 9">
              <a:extLst>
                <a:ext uri="{FF2B5EF4-FFF2-40B4-BE49-F238E27FC236}">
                  <a16:creationId xmlns:a16="http://schemas.microsoft.com/office/drawing/2014/main" id="{141A3DEB-B6B7-ACB5-D4C8-C6AC41BFB3B6}"/>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3"/>
                </a:ext>
              </a:extLst>
            </a:blip>
            <a:srcRect r="78149"/>
            <a:stretch/>
          </p:blipFill>
          <p:spPr>
            <a:xfrm>
              <a:off x="1730411" y="5818185"/>
              <a:ext cx="263496" cy="250819"/>
            </a:xfrm>
            <a:prstGeom prst="rect">
              <a:avLst/>
            </a:prstGeom>
          </p:spPr>
        </p:pic>
        <p:pic>
          <p:nvPicPr>
            <p:cNvPr id="75" name="Picture 10" descr="KSQL: Getting started with Streaming SQL for Apache Kafka - Knoldus Blogs">
              <a:extLst>
                <a:ext uri="{FF2B5EF4-FFF2-40B4-BE49-F238E27FC236}">
                  <a16:creationId xmlns:a16="http://schemas.microsoft.com/office/drawing/2014/main" id="{96B267C4-FCE4-1683-1A67-3037C604E28A}"/>
                </a:ext>
              </a:extLst>
            </p:cNvPr>
            <p:cNvPicPr>
              <a:picLocks noChangeAspect="1" noChangeArrowheads="1"/>
            </p:cNvPicPr>
            <p:nvPr/>
          </p:nvPicPr>
          <p:blipFill rotWithShape="1">
            <a:blip r:embed="rId44">
              <a:extLst>
                <a:ext uri="{28A0092B-C50C-407E-A947-70E740481C1C}">
                  <a14:useLocalDpi xmlns:a14="http://schemas.microsoft.com/office/drawing/2010/main" val="0"/>
                </a:ext>
              </a:extLst>
            </a:blip>
            <a:srcRect/>
            <a:stretch/>
          </p:blipFill>
          <p:spPr bwMode="auto">
            <a:xfrm>
              <a:off x="1531774" y="5551531"/>
              <a:ext cx="187363" cy="274126"/>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6" descr="ClickHouse Logo - PNG Logo Vector Brand Downloads (SVG, EPS)">
              <a:extLst>
                <a:ext uri="{FF2B5EF4-FFF2-40B4-BE49-F238E27FC236}">
                  <a16:creationId xmlns:a16="http://schemas.microsoft.com/office/drawing/2014/main" id="{51C7A9D2-AE26-61DC-A0A1-E97E29AD3616}"/>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988583" y="5551531"/>
              <a:ext cx="252318" cy="223933"/>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0" descr="&quot;Neo4j&quot; Icon - Download for free – Iconduck">
              <a:extLst>
                <a:ext uri="{FF2B5EF4-FFF2-40B4-BE49-F238E27FC236}">
                  <a16:creationId xmlns:a16="http://schemas.microsoft.com/office/drawing/2014/main" id="{A23EFC6D-5065-CC01-1345-C57691F2B1DD}"/>
                </a:ext>
              </a:extLst>
            </p:cNvPr>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246000" y="5817460"/>
              <a:ext cx="219414" cy="248524"/>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77">
              <a:extLst>
                <a:ext uri="{FF2B5EF4-FFF2-40B4-BE49-F238E27FC236}">
                  <a16:creationId xmlns:a16="http://schemas.microsoft.com/office/drawing/2014/main" id="{DE5C0AF6-D880-5C69-54E8-A5E73669D462}"/>
                </a:ext>
                <a:ext uri="{C183D7F6-B498-43B3-948B-1728B52AA6E4}">
                  <adec:decorative xmlns:adec="http://schemas.microsoft.com/office/drawing/2017/decorative" val="1"/>
                </a:ext>
              </a:extLst>
            </p:cNvPr>
            <p:cNvPicPr>
              <a:picLocks noChangeAspect="1"/>
            </p:cNvPicPr>
            <p:nvPr/>
          </p:nvPicPr>
          <p:blipFill rotWithShape="1">
            <a:blip r:embed="rId47"/>
            <a:srcRect r="77171"/>
            <a:stretch/>
          </p:blipFill>
          <p:spPr>
            <a:xfrm>
              <a:off x="2464278" y="5554665"/>
              <a:ext cx="246941" cy="234363"/>
            </a:xfrm>
            <a:prstGeom prst="rect">
              <a:avLst/>
            </a:prstGeom>
          </p:spPr>
        </p:pic>
        <p:pic>
          <p:nvPicPr>
            <p:cNvPr id="79" name="Picture 10">
              <a:extLst>
                <a:ext uri="{FF2B5EF4-FFF2-40B4-BE49-F238E27FC236}">
                  <a16:creationId xmlns:a16="http://schemas.microsoft.com/office/drawing/2014/main" id="{3068A364-3BA0-1F90-455F-9782DE09A332}"/>
                </a:ext>
                <a:ext uri="{C183D7F6-B498-43B3-948B-1728B52AA6E4}">
                  <adec:decorative xmlns:adec="http://schemas.microsoft.com/office/drawing/2017/decorative" val="1"/>
                </a:ext>
              </a:extLst>
            </p:cNvPr>
            <p:cNvPicPr>
              <a:picLocks noChangeAspect="1" noChangeArrowheads="1"/>
            </p:cNvPicPr>
            <p:nvPr/>
          </p:nvPicPr>
          <p:blipFill rotWithShape="1">
            <a:blip r:embed="rId48">
              <a:extLst>
                <a:ext uri="{28A0092B-C50C-407E-A947-70E740481C1C}">
                  <a14:useLocalDpi xmlns:a14="http://schemas.microsoft.com/office/drawing/2010/main" val="0"/>
                </a:ext>
              </a:extLst>
            </a:blip>
            <a:srcRect l="10758" t="25305" r="10458" b="-5358"/>
            <a:stretch/>
          </p:blipFill>
          <p:spPr bwMode="auto">
            <a:xfrm>
              <a:off x="2717509" y="5817460"/>
              <a:ext cx="345618" cy="2485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8" descr="Milvus Pricing 2024">
              <a:extLst>
                <a:ext uri="{FF2B5EF4-FFF2-40B4-BE49-F238E27FC236}">
                  <a16:creationId xmlns:a16="http://schemas.microsoft.com/office/drawing/2014/main" id="{623FA870-FD35-97C2-5AB1-670A285EC9CB}"/>
                </a:ext>
              </a:extLst>
            </p:cNvPr>
            <p:cNvPicPr>
              <a:picLocks noChangeAspect="1" noChangeArrowheads="1"/>
            </p:cNvPicPr>
            <p:nvPr/>
          </p:nvPicPr>
          <p:blipFill rotWithShape="1">
            <a:blip r:embed="rId49">
              <a:extLst>
                <a:ext uri="{28A0092B-C50C-407E-A947-70E740481C1C}">
                  <a14:useLocalDpi xmlns:a14="http://schemas.microsoft.com/office/drawing/2010/main" val="0"/>
                </a:ext>
              </a:extLst>
            </a:blip>
            <a:srcRect l="7825" t="20513" r="6823" b="20164"/>
            <a:stretch/>
          </p:blipFill>
          <p:spPr bwMode="auto">
            <a:xfrm>
              <a:off x="3560556" y="5540335"/>
              <a:ext cx="354733" cy="2465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12" descr="Qdrant Icon Logo PNG Vector (SVG) Free Download">
              <a:extLst>
                <a:ext uri="{FF2B5EF4-FFF2-40B4-BE49-F238E27FC236}">
                  <a16:creationId xmlns:a16="http://schemas.microsoft.com/office/drawing/2014/main" id="{27BEDA55-AC43-1CE7-D4E9-FC6AC6DC6310}"/>
                </a:ext>
              </a:extLst>
            </p:cNvPr>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3061846" y="5551529"/>
              <a:ext cx="205759" cy="237414"/>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6" descr="Chroma Logo PNG Vector (SVG) Free Download">
              <a:extLst>
                <a:ext uri="{FF2B5EF4-FFF2-40B4-BE49-F238E27FC236}">
                  <a16:creationId xmlns:a16="http://schemas.microsoft.com/office/drawing/2014/main" id="{594E815D-E821-F776-6AC8-8EEACFB183A5}"/>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3269487" y="5830784"/>
              <a:ext cx="327966" cy="209899"/>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82">
              <a:extLst>
                <a:ext uri="{FF2B5EF4-FFF2-40B4-BE49-F238E27FC236}">
                  <a16:creationId xmlns:a16="http://schemas.microsoft.com/office/drawing/2014/main" id="{98EC13AA-B83E-F41E-0483-1EE36D2AB27E}"/>
                </a:ext>
                <a:ext uri="{C183D7F6-B498-43B3-948B-1728B52AA6E4}">
                  <adec:decorative xmlns:adec="http://schemas.microsoft.com/office/drawing/2017/decorative" val="1"/>
                </a:ext>
              </a:extLst>
            </p:cNvPr>
            <p:cNvSpPr/>
            <p:nvPr/>
          </p:nvSpPr>
          <p:spPr>
            <a:xfrm>
              <a:off x="1531774" y="5540066"/>
              <a:ext cx="2389363" cy="536067"/>
            </a:xfrm>
            <a:prstGeom prst="rect">
              <a:avLst/>
            </a:prstGeom>
            <a:solidFill>
              <a:srgbClr val="FFFFF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84" name="Picture 8" descr="Spark on Azure: Big Data Made Easy, Spark SQL &amp; Zeppelin vizualisation">
              <a:extLst>
                <a:ext uri="{FF2B5EF4-FFF2-40B4-BE49-F238E27FC236}">
                  <a16:creationId xmlns:a16="http://schemas.microsoft.com/office/drawing/2014/main" id="{AC4A6E70-9199-07C0-5EB2-FB0EB74ACDE8}"/>
                </a:ext>
              </a:extLst>
            </p:cNvPr>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823087" y="4604850"/>
              <a:ext cx="938783" cy="497874"/>
            </a:xfrm>
            <a:prstGeom prst="rect">
              <a:avLst/>
            </a:prstGeom>
            <a:noFill/>
            <a:extLst>
              <a:ext uri="{909E8E84-426E-40DD-AFC4-6F175D3DCCD1}">
                <a14:hiddenFill xmlns:a14="http://schemas.microsoft.com/office/drawing/2010/main">
                  <a:solidFill>
                    <a:srgbClr val="FFFFFF"/>
                  </a:solidFill>
                </a14:hiddenFill>
              </a:ext>
            </a:extLst>
          </p:spPr>
        </p:pic>
      </p:grpSp>
      <p:sp>
        <p:nvSpPr>
          <p:cNvPr id="91" name="Title 101">
            <a:extLst>
              <a:ext uri="{FF2B5EF4-FFF2-40B4-BE49-F238E27FC236}">
                <a16:creationId xmlns:a16="http://schemas.microsoft.com/office/drawing/2014/main" id="{A0760E6B-7762-71B9-01C3-97714434C817}"/>
              </a:ext>
            </a:extLst>
          </p:cNvPr>
          <p:cNvSpPr>
            <a:spLocks noGrp="1"/>
          </p:cNvSpPr>
          <p:nvPr>
            <p:ph type="title"/>
          </p:nvPr>
        </p:nvSpPr>
        <p:spPr>
          <a:xfrm>
            <a:off x="588963" y="443243"/>
            <a:ext cx="5507037" cy="766844"/>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Analytics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Real-Time Intelligence Reference Architecture</a:t>
            </a:r>
            <a:b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br>
            <a:endParaRPr lang="en-US" sz="2800" noProof="0" dirty="0"/>
          </a:p>
        </p:txBody>
      </p:sp>
      <p:sp>
        <p:nvSpPr>
          <p:cNvPr id="2" name="TextBox 1">
            <a:extLst>
              <a:ext uri="{FF2B5EF4-FFF2-40B4-BE49-F238E27FC236}">
                <a16:creationId xmlns:a16="http://schemas.microsoft.com/office/drawing/2014/main" id="{DAFFDC3D-C7C0-3EB1-64CF-D2801E03FDA1}"/>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19728383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1AF97-CB79-37AB-D132-5CD930887F67}"/>
            </a:ext>
          </a:extLst>
        </p:cNvPr>
        <p:cNvGrpSpPr/>
        <p:nvPr/>
      </p:nvGrpSpPr>
      <p:grpSpPr>
        <a:xfrm>
          <a:off x="0" y="0"/>
          <a:ext cx="0" cy="0"/>
          <a:chOff x="0" y="0"/>
          <a:chExt cx="0" cy="0"/>
        </a:xfrm>
      </p:grpSpPr>
      <p:sp>
        <p:nvSpPr>
          <p:cNvPr id="102" name="Title 101">
            <a:extLst>
              <a:ext uri="{FF2B5EF4-FFF2-40B4-BE49-F238E27FC236}">
                <a16:creationId xmlns:a16="http://schemas.microsoft.com/office/drawing/2014/main" id="{29D5420E-28D3-72CD-9249-15F17473CE39}"/>
              </a:ext>
            </a:extLst>
          </p:cNvPr>
          <p:cNvSpPr>
            <a:spLocks noGrp="1"/>
          </p:cNvSpPr>
          <p:nvPr>
            <p:ph type="title"/>
          </p:nvPr>
        </p:nvSpPr>
        <p:spPr>
          <a:xfrm>
            <a:off x="588963" y="548489"/>
            <a:ext cx="8704666" cy="748509"/>
          </a:xfrm>
        </p:spPr>
        <p:txBody>
          <a:bodyPr>
            <a:noAutofit/>
          </a:bodyPr>
          <a:lstStyle/>
          <a:p>
            <a:pPr marL="0" algn="l" rtl="0" eaLnBrk="1" latinLnBrk="0" hangingPunct="1">
              <a:buNone/>
            </a:pPr>
            <a:r>
              <a:rPr lang="en-US" sz="2800" noProof="0" dirty="0"/>
              <a:t>Analytics</a:t>
            </a:r>
            <a:br>
              <a:rPr lang="en-US" sz="2800" noProof="0" dirty="0"/>
            </a:br>
            <a:r>
              <a:rPr lang="en-US" sz="1800" kern="1200" noProof="0" dirty="0">
                <a:solidFill>
                  <a:srgbClr val="000000"/>
                </a:solidFill>
                <a:effectLst/>
                <a:latin typeface="Segoe Sans Text Semibold" pitchFamily="2" charset="0"/>
                <a:ea typeface="+mn-ea"/>
                <a:cs typeface="+mn-cs"/>
              </a:rPr>
              <a:t>Real-Time Intelligence Scope</a:t>
            </a:r>
            <a:br>
              <a:rPr lang="en-US" sz="1400" noProof="0" dirty="0">
                <a:effectLst/>
              </a:rPr>
            </a:br>
            <a:endParaRPr lang="en-US" sz="2800" noProof="0" dirty="0"/>
          </a:p>
        </p:txBody>
      </p:sp>
      <p:sp>
        <p:nvSpPr>
          <p:cNvPr id="22" name="Rounded Rectangle 55">
            <a:extLst>
              <a:ext uri="{FF2B5EF4-FFF2-40B4-BE49-F238E27FC236}">
                <a16:creationId xmlns:a16="http://schemas.microsoft.com/office/drawing/2014/main" id="{E70DB62C-E894-E028-BEB5-8124B733DD42}"/>
              </a:ext>
              <a:ext uri="{C183D7F6-B498-43B3-948B-1728B52AA6E4}">
                <adec:decorative xmlns:adec="http://schemas.microsoft.com/office/drawing/2017/decorative" val="1"/>
              </a:ext>
            </a:extLst>
          </p:cNvPr>
          <p:cNvSpPr>
            <a:spLocks/>
          </p:cNvSpPr>
          <p:nvPr/>
        </p:nvSpPr>
        <p:spPr bwMode="auto">
          <a:xfrm>
            <a:off x="586740" y="1272540"/>
            <a:ext cx="5453761" cy="4831560"/>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4" name="TextBox 23">
            <a:extLst>
              <a:ext uri="{FF2B5EF4-FFF2-40B4-BE49-F238E27FC236}">
                <a16:creationId xmlns:a16="http://schemas.microsoft.com/office/drawing/2014/main" id="{40CC68DC-5951-F927-D40A-D84D693CDB61}"/>
              </a:ext>
            </a:extLst>
          </p:cNvPr>
          <p:cNvSpPr txBox="1"/>
          <p:nvPr/>
        </p:nvSpPr>
        <p:spPr>
          <a:xfrm>
            <a:off x="680403" y="1363980"/>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 name="Rounded Rectangle 55">
            <a:extLst>
              <a:ext uri="{FF2B5EF4-FFF2-40B4-BE49-F238E27FC236}">
                <a16:creationId xmlns:a16="http://schemas.microsoft.com/office/drawing/2014/main" id="{3F1981EC-B769-1FDA-8614-754608B9F3CE}"/>
              </a:ext>
              <a:ext uri="{C183D7F6-B498-43B3-948B-1728B52AA6E4}">
                <adec:decorative xmlns:adec="http://schemas.microsoft.com/office/drawing/2017/decorative" val="1"/>
              </a:ext>
            </a:extLst>
          </p:cNvPr>
          <p:cNvSpPr>
            <a:spLocks/>
          </p:cNvSpPr>
          <p:nvPr/>
        </p:nvSpPr>
        <p:spPr bwMode="auto">
          <a:xfrm>
            <a:off x="6152452" y="1260965"/>
            <a:ext cx="5453761" cy="4792593"/>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4" name="TextBox 3">
            <a:extLst>
              <a:ext uri="{FF2B5EF4-FFF2-40B4-BE49-F238E27FC236}">
                <a16:creationId xmlns:a16="http://schemas.microsoft.com/office/drawing/2014/main" id="{BDBF175C-4E25-5AA0-9CCC-E5A88B925116}"/>
              </a:ext>
            </a:extLst>
          </p:cNvPr>
          <p:cNvSpPr txBox="1"/>
          <p:nvPr/>
        </p:nvSpPr>
        <p:spPr>
          <a:xfrm>
            <a:off x="6240716"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Partner / Customer – Led*</a:t>
            </a:r>
          </a:p>
        </p:txBody>
      </p:sp>
      <p:cxnSp>
        <p:nvCxnSpPr>
          <p:cNvPr id="6" name="Straight Connector 5">
            <a:extLst>
              <a:ext uri="{FF2B5EF4-FFF2-40B4-BE49-F238E27FC236}">
                <a16:creationId xmlns:a16="http://schemas.microsoft.com/office/drawing/2014/main" id="{6A3FA859-75B8-E19D-E7C5-276533089DD2}"/>
              </a:ext>
              <a:ext uri="{C183D7F6-B498-43B3-948B-1728B52AA6E4}">
                <adec:decorative xmlns:adec="http://schemas.microsoft.com/office/drawing/2017/decorative" val="1"/>
              </a:ext>
            </a:extLst>
          </p:cNvPr>
          <p:cNvCxnSpPr>
            <a:cxnSpLocks/>
          </p:cNvCxnSpPr>
          <p:nvPr/>
        </p:nvCxnSpPr>
        <p:spPr>
          <a:xfrm>
            <a:off x="6438627" y="468574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557C863-29A1-AED1-432C-5EBEB880BEB2}"/>
              </a:ext>
              <a:ext uri="{C183D7F6-B498-43B3-948B-1728B52AA6E4}">
                <adec:decorative xmlns:adec="http://schemas.microsoft.com/office/drawing/2017/decorative" val="1"/>
              </a:ext>
            </a:extLst>
          </p:cNvPr>
          <p:cNvCxnSpPr>
            <a:cxnSpLocks/>
          </p:cNvCxnSpPr>
          <p:nvPr/>
        </p:nvCxnSpPr>
        <p:spPr>
          <a:xfrm>
            <a:off x="6438627" y="401338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62EF73B-3CBE-49CF-1A70-B53036DF1C05}"/>
              </a:ext>
              <a:ext uri="{C183D7F6-B498-43B3-948B-1728B52AA6E4}">
                <adec:decorative xmlns:adec="http://schemas.microsoft.com/office/drawing/2017/decorative" val="1"/>
              </a:ext>
            </a:extLst>
          </p:cNvPr>
          <p:cNvCxnSpPr>
            <a:cxnSpLocks/>
          </p:cNvCxnSpPr>
          <p:nvPr/>
        </p:nvCxnSpPr>
        <p:spPr>
          <a:xfrm>
            <a:off x="6438627" y="313484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9CE789D-E7CF-B703-F3A4-98E2156BAA13}"/>
              </a:ext>
              <a:ext uri="{C183D7F6-B498-43B3-948B-1728B52AA6E4}">
                <adec:decorative xmlns:adec="http://schemas.microsoft.com/office/drawing/2017/decorative" val="1"/>
              </a:ext>
            </a:extLst>
          </p:cNvPr>
          <p:cNvCxnSpPr>
            <a:cxnSpLocks/>
          </p:cNvCxnSpPr>
          <p:nvPr/>
        </p:nvCxnSpPr>
        <p:spPr>
          <a:xfrm>
            <a:off x="6438627" y="245352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DDAFE9E5-99FF-E344-32AB-B26A56027C45}"/>
              </a:ext>
            </a:extLst>
          </p:cNvPr>
          <p:cNvSpPr/>
          <p:nvPr/>
        </p:nvSpPr>
        <p:spPr bwMode="auto">
          <a:xfrm>
            <a:off x="6289180" y="18758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E494A90D-D61B-B0A7-3BFC-2B34D4FFE31D}"/>
              </a:ext>
            </a:extLst>
          </p:cNvPr>
          <p:cNvSpPr/>
          <p:nvPr/>
        </p:nvSpPr>
        <p:spPr bwMode="auto">
          <a:xfrm>
            <a:off x="6283989" y="25123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2357872B-5D49-72D2-56CF-05C28E6A580E}"/>
              </a:ext>
            </a:extLst>
          </p:cNvPr>
          <p:cNvSpPr/>
          <p:nvPr/>
        </p:nvSpPr>
        <p:spPr bwMode="auto">
          <a:xfrm>
            <a:off x="6283989" y="32033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15CC62BF-6468-FA6F-61AE-AAB0DF63D161}"/>
              </a:ext>
            </a:extLst>
          </p:cNvPr>
          <p:cNvSpPr/>
          <p:nvPr/>
        </p:nvSpPr>
        <p:spPr bwMode="auto">
          <a:xfrm>
            <a:off x="6283989" y="40637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236F19CC-6A3D-5B3D-D1EA-13E5DCCA4C4C}"/>
              </a:ext>
            </a:extLst>
          </p:cNvPr>
          <p:cNvSpPr/>
          <p:nvPr/>
        </p:nvSpPr>
        <p:spPr bwMode="auto">
          <a:xfrm>
            <a:off x="6283989" y="482655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FE561417-739E-E834-246F-BECDB87F40AF}"/>
              </a:ext>
            </a:extLst>
          </p:cNvPr>
          <p:cNvSpPr txBox="1"/>
          <p:nvPr/>
        </p:nvSpPr>
        <p:spPr>
          <a:xfrm>
            <a:off x="6438627" y="1786465"/>
            <a:ext cx="6974558" cy="371069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Architecture:</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Re-architecture or architecture evaluation</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Capacity sizing and cost estimation activities</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Performance tuning and optimization</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Performance testing and tuning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Performance benchmarking</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Environment prep/config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Capacity provisioning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VM setup /Gateway install</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Network Config</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DevOps/Integrations</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CI/CD setup and testing </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Testing and configuring upstream/downstream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Post Migration Operation</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On going DR/Backup/Monitoring support</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Cost optimization and FinOps</a:t>
            </a:r>
          </a:p>
        </p:txBody>
      </p:sp>
      <p:sp>
        <p:nvSpPr>
          <p:cNvPr id="3" name="Oval 2">
            <a:extLst>
              <a:ext uri="{FF2B5EF4-FFF2-40B4-BE49-F238E27FC236}">
                <a16:creationId xmlns:a16="http://schemas.microsoft.com/office/drawing/2014/main" id="{3CD2AF11-347F-6468-1D05-CA636B1E0BB5}"/>
              </a:ext>
            </a:extLst>
          </p:cNvPr>
          <p:cNvSpPr/>
          <p:nvPr/>
        </p:nvSpPr>
        <p:spPr bwMode="auto">
          <a:xfrm>
            <a:off x="775653" y="17864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334EDEA-3B02-BCE1-2221-B578EE4BE3DA}"/>
              </a:ext>
            </a:extLst>
          </p:cNvPr>
          <p:cNvSpPr txBox="1"/>
          <p:nvPr/>
        </p:nvSpPr>
        <p:spPr>
          <a:xfrm>
            <a:off x="1044951" y="1786465"/>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Splunk can forward to Fabric for analytics</a:t>
            </a:r>
          </a:p>
        </p:txBody>
      </p:sp>
      <p:cxnSp>
        <p:nvCxnSpPr>
          <p:cNvPr id="8" name="Straight Connector 7">
            <a:extLst>
              <a:ext uri="{FF2B5EF4-FFF2-40B4-BE49-F238E27FC236}">
                <a16:creationId xmlns:a16="http://schemas.microsoft.com/office/drawing/2014/main" id="{D1AA4F0A-F824-59F5-6486-56C28B137D04}"/>
              </a:ext>
              <a:ext uri="{C183D7F6-B498-43B3-948B-1728B52AA6E4}">
                <adec:decorative xmlns:adec="http://schemas.microsoft.com/office/drawing/2017/decorative" val="1"/>
              </a:ext>
            </a:extLst>
          </p:cNvPr>
          <p:cNvCxnSpPr>
            <a:cxnSpLocks/>
          </p:cNvCxnSpPr>
          <p:nvPr/>
        </p:nvCxnSpPr>
        <p:spPr>
          <a:xfrm>
            <a:off x="1040188" y="204048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B68C689-407E-5F0B-AE13-F738AEA24A11}"/>
              </a:ext>
            </a:extLst>
          </p:cNvPr>
          <p:cNvSpPr txBox="1"/>
          <p:nvPr/>
        </p:nvSpPr>
        <p:spPr>
          <a:xfrm>
            <a:off x="1044951" y="2125236"/>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Elasticsearch</a:t>
            </a:r>
          </a:p>
        </p:txBody>
      </p:sp>
      <p:sp>
        <p:nvSpPr>
          <p:cNvPr id="17" name="TextBox 16">
            <a:extLst>
              <a:ext uri="{FF2B5EF4-FFF2-40B4-BE49-F238E27FC236}">
                <a16:creationId xmlns:a16="http://schemas.microsoft.com/office/drawing/2014/main" id="{CB063621-4B99-9E93-2B31-1D4BC691D17C}"/>
              </a:ext>
            </a:extLst>
          </p:cNvPr>
          <p:cNvSpPr txBox="1"/>
          <p:nvPr/>
        </p:nvSpPr>
        <p:spPr>
          <a:xfrm>
            <a:off x="1044951" y="2464007"/>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Sentinel using continuous export or setup parallel-ingestion</a:t>
            </a:r>
          </a:p>
        </p:txBody>
      </p:sp>
      <p:sp>
        <p:nvSpPr>
          <p:cNvPr id="19" name="TextBox 18">
            <a:extLst>
              <a:ext uri="{FF2B5EF4-FFF2-40B4-BE49-F238E27FC236}">
                <a16:creationId xmlns:a16="http://schemas.microsoft.com/office/drawing/2014/main" id="{3C586AC8-CE56-DA22-7AF2-00C2F29AAD22}"/>
              </a:ext>
            </a:extLst>
          </p:cNvPr>
          <p:cNvSpPr txBox="1"/>
          <p:nvPr/>
        </p:nvSpPr>
        <p:spPr>
          <a:xfrm>
            <a:off x="1044951" y="2802778"/>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Azure Database Watcher </a:t>
            </a:r>
          </a:p>
        </p:txBody>
      </p:sp>
      <p:sp>
        <p:nvSpPr>
          <p:cNvPr id="20" name="TextBox 19">
            <a:extLst>
              <a:ext uri="{FF2B5EF4-FFF2-40B4-BE49-F238E27FC236}">
                <a16:creationId xmlns:a16="http://schemas.microsoft.com/office/drawing/2014/main" id="{1C6B052A-A1CF-B41F-F2EE-B4537F1DA334}"/>
              </a:ext>
            </a:extLst>
          </p:cNvPr>
          <p:cNvSpPr txBox="1"/>
          <p:nvPr/>
        </p:nvSpPr>
        <p:spPr>
          <a:xfrm>
            <a:off x="1044951" y="3141549"/>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InfluxDB by leveraging telegraph Kusto connector</a:t>
            </a:r>
          </a:p>
        </p:txBody>
      </p:sp>
      <p:sp>
        <p:nvSpPr>
          <p:cNvPr id="21" name="TextBox 20">
            <a:extLst>
              <a:ext uri="{FF2B5EF4-FFF2-40B4-BE49-F238E27FC236}">
                <a16:creationId xmlns:a16="http://schemas.microsoft.com/office/drawing/2014/main" id="{DFC741E4-8F3B-292C-10F3-6E220290E8A1}"/>
              </a:ext>
            </a:extLst>
          </p:cNvPr>
          <p:cNvSpPr txBox="1"/>
          <p:nvPr/>
        </p:nvSpPr>
        <p:spPr>
          <a:xfrm>
            <a:off x="1044951" y="3480320"/>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Aveva OSI-PI</a:t>
            </a:r>
          </a:p>
        </p:txBody>
      </p:sp>
      <p:sp>
        <p:nvSpPr>
          <p:cNvPr id="23" name="TextBox 22">
            <a:extLst>
              <a:ext uri="{FF2B5EF4-FFF2-40B4-BE49-F238E27FC236}">
                <a16:creationId xmlns:a16="http://schemas.microsoft.com/office/drawing/2014/main" id="{091DE479-C484-CB5B-D36A-A8B77B7AFA82}"/>
              </a:ext>
            </a:extLst>
          </p:cNvPr>
          <p:cNvSpPr txBox="1"/>
          <p:nvPr/>
        </p:nvSpPr>
        <p:spPr>
          <a:xfrm>
            <a:off x="1044951" y="3819091"/>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AWS Kinesis, AWS Timestream, Confluent, Google Pubsub, Spark streaming</a:t>
            </a:r>
          </a:p>
        </p:txBody>
      </p:sp>
      <p:sp>
        <p:nvSpPr>
          <p:cNvPr id="25" name="TextBox 24">
            <a:extLst>
              <a:ext uri="{FF2B5EF4-FFF2-40B4-BE49-F238E27FC236}">
                <a16:creationId xmlns:a16="http://schemas.microsoft.com/office/drawing/2014/main" id="{A2872F80-3376-57D8-69AB-C5724F8FC4AB}"/>
              </a:ext>
            </a:extLst>
          </p:cNvPr>
          <p:cNvSpPr txBox="1"/>
          <p:nvPr/>
        </p:nvSpPr>
        <p:spPr>
          <a:xfrm>
            <a:off x="1053539" y="4161637"/>
            <a:ext cx="4906333" cy="338554"/>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Snowflake, Google BigQuery, IBM DB2 when data is timeseries, logs </a:t>
            </a:r>
            <a:br>
              <a:rPr lang="en-US" sz="1100" kern="0" noProof="0" dirty="0">
                <a:latin typeface="Segoe Sans Text" pitchFamily="2" charset="0"/>
                <a:cs typeface="Segoe Sans Text" pitchFamily="2" charset="0"/>
              </a:rPr>
            </a:br>
            <a:r>
              <a:rPr lang="en-US" sz="1100" kern="0" noProof="0" dirty="0">
                <a:latin typeface="Segoe Sans Text" pitchFamily="2" charset="0"/>
                <a:cs typeface="Segoe Sans Text" pitchFamily="2" charset="0"/>
              </a:rPr>
              <a:t>or telemetry</a:t>
            </a:r>
          </a:p>
        </p:txBody>
      </p:sp>
      <p:sp>
        <p:nvSpPr>
          <p:cNvPr id="26" name="TextBox 25">
            <a:extLst>
              <a:ext uri="{FF2B5EF4-FFF2-40B4-BE49-F238E27FC236}">
                <a16:creationId xmlns:a16="http://schemas.microsoft.com/office/drawing/2014/main" id="{BB8863DC-1211-0016-17A5-99F6F69C8BE4}"/>
              </a:ext>
            </a:extLst>
          </p:cNvPr>
          <p:cNvSpPr txBox="1"/>
          <p:nvPr/>
        </p:nvSpPr>
        <p:spPr>
          <a:xfrm>
            <a:off x="1044951" y="4697187"/>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KSQL, Singlestore, Clickhouse, Datadog, Newrelic, Dynatrace, and Pinot</a:t>
            </a:r>
          </a:p>
        </p:txBody>
      </p:sp>
      <p:sp>
        <p:nvSpPr>
          <p:cNvPr id="27" name="TextBox 26">
            <a:extLst>
              <a:ext uri="{FF2B5EF4-FFF2-40B4-BE49-F238E27FC236}">
                <a16:creationId xmlns:a16="http://schemas.microsoft.com/office/drawing/2014/main" id="{C2DABD06-D082-0746-3614-793A9BB2085F}"/>
              </a:ext>
            </a:extLst>
          </p:cNvPr>
          <p:cNvSpPr txBox="1"/>
          <p:nvPr/>
        </p:nvSpPr>
        <p:spPr>
          <a:xfrm>
            <a:off x="1044951" y="5035958"/>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GraphDBs such as Neo4j &amp; Tigergraph</a:t>
            </a:r>
          </a:p>
        </p:txBody>
      </p:sp>
      <p:sp>
        <p:nvSpPr>
          <p:cNvPr id="28" name="TextBox 27">
            <a:extLst>
              <a:ext uri="{FF2B5EF4-FFF2-40B4-BE49-F238E27FC236}">
                <a16:creationId xmlns:a16="http://schemas.microsoft.com/office/drawing/2014/main" id="{A522F1EF-0D96-4B2E-4094-24FA3BCBCB1C}"/>
              </a:ext>
            </a:extLst>
          </p:cNvPr>
          <p:cNvSpPr txBox="1"/>
          <p:nvPr/>
        </p:nvSpPr>
        <p:spPr>
          <a:xfrm>
            <a:off x="1044951" y="5374732"/>
            <a:ext cx="4906333" cy="169277"/>
          </a:xfrm>
          <a:prstGeom prst="rect">
            <a:avLst/>
          </a:prstGeom>
          <a:noFill/>
        </p:spPr>
        <p:txBody>
          <a:bodyPr wrap="square" lIns="0" tIns="0" rIns="0" bIns="0" anchor="t">
            <a:spAutoFit/>
          </a:bodyPr>
          <a:lstStyle/>
          <a:p>
            <a:pPr>
              <a:spcBef>
                <a:spcPts val="600"/>
              </a:spcBef>
              <a:spcAft>
                <a:spcPts val="600"/>
              </a:spcAft>
              <a:defRPr/>
            </a:pPr>
            <a:r>
              <a:rPr lang="en-US" sz="1100" kern="0" noProof="0" dirty="0">
                <a:latin typeface="Segoe Sans Text" pitchFamily="2" charset="0"/>
                <a:cs typeface="Segoe Sans Text" pitchFamily="2" charset="0"/>
              </a:rPr>
              <a:t>VectorstoreDBs such as Weaviate, Qdrant, Chroma, Milvus</a:t>
            </a:r>
          </a:p>
        </p:txBody>
      </p:sp>
      <p:cxnSp>
        <p:nvCxnSpPr>
          <p:cNvPr id="30" name="Straight Connector 29">
            <a:extLst>
              <a:ext uri="{FF2B5EF4-FFF2-40B4-BE49-F238E27FC236}">
                <a16:creationId xmlns:a16="http://schemas.microsoft.com/office/drawing/2014/main" id="{D6FDB084-7C9F-F8E4-2029-621FDADFFC7F}"/>
              </a:ext>
              <a:ext uri="{C183D7F6-B498-43B3-948B-1728B52AA6E4}">
                <adec:decorative xmlns:adec="http://schemas.microsoft.com/office/drawing/2017/decorative" val="1"/>
              </a:ext>
            </a:extLst>
          </p:cNvPr>
          <p:cNvCxnSpPr>
            <a:cxnSpLocks/>
          </p:cNvCxnSpPr>
          <p:nvPr/>
        </p:nvCxnSpPr>
        <p:spPr>
          <a:xfrm>
            <a:off x="1040188" y="237926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B47C0C5-A0C7-774E-E6C8-912663AA677D}"/>
              </a:ext>
              <a:ext uri="{C183D7F6-B498-43B3-948B-1728B52AA6E4}">
                <adec:decorative xmlns:adec="http://schemas.microsoft.com/office/drawing/2017/decorative" val="1"/>
              </a:ext>
            </a:extLst>
          </p:cNvPr>
          <p:cNvCxnSpPr>
            <a:cxnSpLocks/>
          </p:cNvCxnSpPr>
          <p:nvPr/>
        </p:nvCxnSpPr>
        <p:spPr>
          <a:xfrm>
            <a:off x="1040188" y="271803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335B102-35D2-1F71-EB94-250FBBBDE3CD}"/>
              </a:ext>
              <a:ext uri="{C183D7F6-B498-43B3-948B-1728B52AA6E4}">
                <adec:decorative xmlns:adec="http://schemas.microsoft.com/office/drawing/2017/decorative" val="1"/>
              </a:ext>
            </a:extLst>
          </p:cNvPr>
          <p:cNvCxnSpPr>
            <a:cxnSpLocks/>
          </p:cNvCxnSpPr>
          <p:nvPr/>
        </p:nvCxnSpPr>
        <p:spPr>
          <a:xfrm>
            <a:off x="1040188" y="305680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55425B9-C395-DEC3-6A60-4758CCBA522C}"/>
              </a:ext>
              <a:ext uri="{C183D7F6-B498-43B3-948B-1728B52AA6E4}">
                <adec:decorative xmlns:adec="http://schemas.microsoft.com/office/drawing/2017/decorative" val="1"/>
              </a:ext>
            </a:extLst>
          </p:cNvPr>
          <p:cNvCxnSpPr>
            <a:cxnSpLocks/>
          </p:cNvCxnSpPr>
          <p:nvPr/>
        </p:nvCxnSpPr>
        <p:spPr>
          <a:xfrm>
            <a:off x="1040188" y="339557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C7F0726-0295-6639-30F6-5CDD5DE43EF4}"/>
              </a:ext>
              <a:ext uri="{C183D7F6-B498-43B3-948B-1728B52AA6E4}">
                <adec:decorative xmlns:adec="http://schemas.microsoft.com/office/drawing/2017/decorative" val="1"/>
              </a:ext>
            </a:extLst>
          </p:cNvPr>
          <p:cNvCxnSpPr>
            <a:cxnSpLocks/>
          </p:cNvCxnSpPr>
          <p:nvPr/>
        </p:nvCxnSpPr>
        <p:spPr>
          <a:xfrm>
            <a:off x="1040188" y="3734344"/>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014415E-FFCC-CFCE-EDE4-B7846DBBCA64}"/>
              </a:ext>
              <a:ext uri="{C183D7F6-B498-43B3-948B-1728B52AA6E4}">
                <adec:decorative xmlns:adec="http://schemas.microsoft.com/office/drawing/2017/decorative" val="1"/>
              </a:ext>
            </a:extLst>
          </p:cNvPr>
          <p:cNvCxnSpPr>
            <a:cxnSpLocks/>
          </p:cNvCxnSpPr>
          <p:nvPr/>
        </p:nvCxnSpPr>
        <p:spPr>
          <a:xfrm>
            <a:off x="1040188" y="407311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EE2FECE-B6BB-2134-81DD-F37344F2E5D9}"/>
              </a:ext>
              <a:ext uri="{C183D7F6-B498-43B3-948B-1728B52AA6E4}">
                <adec:decorative xmlns:adec="http://schemas.microsoft.com/office/drawing/2017/decorative" val="1"/>
              </a:ext>
            </a:extLst>
          </p:cNvPr>
          <p:cNvCxnSpPr>
            <a:cxnSpLocks/>
          </p:cNvCxnSpPr>
          <p:nvPr/>
        </p:nvCxnSpPr>
        <p:spPr>
          <a:xfrm>
            <a:off x="1040188" y="4598690"/>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68BC18F-DACF-6777-CD78-A5343B212085}"/>
              </a:ext>
              <a:ext uri="{C183D7F6-B498-43B3-948B-1728B52AA6E4}">
                <adec:decorative xmlns:adec="http://schemas.microsoft.com/office/drawing/2017/decorative" val="1"/>
              </a:ext>
            </a:extLst>
          </p:cNvPr>
          <p:cNvCxnSpPr>
            <a:cxnSpLocks/>
          </p:cNvCxnSpPr>
          <p:nvPr/>
        </p:nvCxnSpPr>
        <p:spPr>
          <a:xfrm>
            <a:off x="1040188" y="493746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1583C93-C6D8-1114-7148-CB47B7F9F220}"/>
              </a:ext>
              <a:ext uri="{C183D7F6-B498-43B3-948B-1728B52AA6E4}">
                <adec:decorative xmlns:adec="http://schemas.microsoft.com/office/drawing/2017/decorative" val="1"/>
              </a:ext>
            </a:extLst>
          </p:cNvPr>
          <p:cNvCxnSpPr>
            <a:cxnSpLocks/>
          </p:cNvCxnSpPr>
          <p:nvPr/>
        </p:nvCxnSpPr>
        <p:spPr>
          <a:xfrm>
            <a:off x="1040188" y="5276232"/>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248A000C-3600-B5CA-C977-A139E2F75A4F}"/>
              </a:ext>
            </a:extLst>
          </p:cNvPr>
          <p:cNvSpPr/>
          <p:nvPr/>
        </p:nvSpPr>
        <p:spPr bwMode="auto">
          <a:xfrm>
            <a:off x="775653" y="214129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7" name="Oval 46">
            <a:extLst>
              <a:ext uri="{FF2B5EF4-FFF2-40B4-BE49-F238E27FC236}">
                <a16:creationId xmlns:a16="http://schemas.microsoft.com/office/drawing/2014/main" id="{83CB9C5A-AF09-4D23-B204-E9053DEBE4C7}"/>
              </a:ext>
            </a:extLst>
          </p:cNvPr>
          <p:cNvSpPr/>
          <p:nvPr/>
        </p:nvSpPr>
        <p:spPr bwMode="auto">
          <a:xfrm>
            <a:off x="775653" y="248006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8" name="Oval 47">
            <a:extLst>
              <a:ext uri="{FF2B5EF4-FFF2-40B4-BE49-F238E27FC236}">
                <a16:creationId xmlns:a16="http://schemas.microsoft.com/office/drawing/2014/main" id="{D3EAE45E-2533-20D0-BAF0-C25C3AB02EEE}"/>
              </a:ext>
            </a:extLst>
          </p:cNvPr>
          <p:cNvSpPr/>
          <p:nvPr/>
        </p:nvSpPr>
        <p:spPr bwMode="auto">
          <a:xfrm>
            <a:off x="775653" y="281883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49" name="Oval 48">
            <a:extLst>
              <a:ext uri="{FF2B5EF4-FFF2-40B4-BE49-F238E27FC236}">
                <a16:creationId xmlns:a16="http://schemas.microsoft.com/office/drawing/2014/main" id="{A6DA3574-8709-A9AE-7F66-F8646E889A50}"/>
              </a:ext>
            </a:extLst>
          </p:cNvPr>
          <p:cNvSpPr/>
          <p:nvPr/>
        </p:nvSpPr>
        <p:spPr bwMode="auto">
          <a:xfrm>
            <a:off x="775653" y="315760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1" name="Oval 50">
            <a:extLst>
              <a:ext uri="{FF2B5EF4-FFF2-40B4-BE49-F238E27FC236}">
                <a16:creationId xmlns:a16="http://schemas.microsoft.com/office/drawing/2014/main" id="{F8F8E746-3D8F-D54E-F92B-C8599FBB876F}"/>
              </a:ext>
            </a:extLst>
          </p:cNvPr>
          <p:cNvSpPr/>
          <p:nvPr/>
        </p:nvSpPr>
        <p:spPr bwMode="auto">
          <a:xfrm>
            <a:off x="775653" y="349637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3" name="Oval 52">
            <a:extLst>
              <a:ext uri="{FF2B5EF4-FFF2-40B4-BE49-F238E27FC236}">
                <a16:creationId xmlns:a16="http://schemas.microsoft.com/office/drawing/2014/main" id="{9FB6F76B-AF77-EC29-B99A-9D2B722148A8}"/>
              </a:ext>
            </a:extLst>
          </p:cNvPr>
          <p:cNvSpPr/>
          <p:nvPr/>
        </p:nvSpPr>
        <p:spPr bwMode="auto">
          <a:xfrm>
            <a:off x="775653" y="3835150"/>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4" name="Oval 53">
            <a:extLst>
              <a:ext uri="{FF2B5EF4-FFF2-40B4-BE49-F238E27FC236}">
                <a16:creationId xmlns:a16="http://schemas.microsoft.com/office/drawing/2014/main" id="{EB2BBA4C-5A9E-6290-56E5-3176CACD15CD}"/>
              </a:ext>
            </a:extLst>
          </p:cNvPr>
          <p:cNvSpPr/>
          <p:nvPr/>
        </p:nvSpPr>
        <p:spPr bwMode="auto">
          <a:xfrm>
            <a:off x="775653" y="417538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5" name="Oval 54">
            <a:extLst>
              <a:ext uri="{FF2B5EF4-FFF2-40B4-BE49-F238E27FC236}">
                <a16:creationId xmlns:a16="http://schemas.microsoft.com/office/drawing/2014/main" id="{6210B57A-2361-3129-00CC-EA393D11ADB5}"/>
              </a:ext>
            </a:extLst>
          </p:cNvPr>
          <p:cNvSpPr/>
          <p:nvPr/>
        </p:nvSpPr>
        <p:spPr bwMode="auto">
          <a:xfrm>
            <a:off x="775653" y="4699496"/>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6" name="Oval 55">
            <a:extLst>
              <a:ext uri="{FF2B5EF4-FFF2-40B4-BE49-F238E27FC236}">
                <a16:creationId xmlns:a16="http://schemas.microsoft.com/office/drawing/2014/main" id="{93934994-E568-D26B-D884-8D66D1129982}"/>
              </a:ext>
            </a:extLst>
          </p:cNvPr>
          <p:cNvSpPr/>
          <p:nvPr/>
        </p:nvSpPr>
        <p:spPr bwMode="auto">
          <a:xfrm>
            <a:off x="775653" y="503826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7" name="Oval 56">
            <a:extLst>
              <a:ext uri="{FF2B5EF4-FFF2-40B4-BE49-F238E27FC236}">
                <a16:creationId xmlns:a16="http://schemas.microsoft.com/office/drawing/2014/main" id="{380D7722-F3A9-C1D4-C6E0-C40E757DF50E}"/>
              </a:ext>
            </a:extLst>
          </p:cNvPr>
          <p:cNvSpPr/>
          <p:nvPr/>
        </p:nvSpPr>
        <p:spPr bwMode="auto">
          <a:xfrm>
            <a:off x="775653" y="537704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B8AD1244-FBD4-E36F-3848-066FBE85560E}"/>
              </a:ext>
            </a:extLst>
          </p:cNvPr>
          <p:cNvSpPr txBox="1"/>
          <p:nvPr/>
        </p:nvSpPr>
        <p:spPr>
          <a:xfrm>
            <a:off x="912813" y="5603663"/>
            <a:ext cx="4452119" cy="26161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200"/>
              </a:spcAft>
              <a:buClrTx/>
              <a:buSzTx/>
              <a:tabLst/>
              <a:defRPr/>
            </a:pPr>
            <a:r>
              <a:rPr kumimoji="0" lang="en-US" sz="1100" b="0" i="0" u="none" strike="noStrike" kern="0" cap="none" spc="0" normalizeH="0" baseline="0" noProof="0" dirty="0">
                <a:ln>
                  <a:noFill/>
                </a:ln>
                <a:solidFill>
                  <a:srgbClr val="000000"/>
                </a:solidFill>
                <a:effectLst/>
                <a:uLnTx/>
                <a:uFillTx/>
                <a:latin typeface="Segoe Sans Text"/>
                <a:ea typeface="+mn-ea"/>
                <a:cs typeface="+mn-cs"/>
              </a:rPr>
              <a:t>Project co-ordination and management of Scope 1 activities.</a:t>
            </a:r>
          </a:p>
        </p:txBody>
      </p:sp>
      <p:sp>
        <p:nvSpPr>
          <p:cNvPr id="59" name="Oval 58">
            <a:extLst>
              <a:ext uri="{FF2B5EF4-FFF2-40B4-BE49-F238E27FC236}">
                <a16:creationId xmlns:a16="http://schemas.microsoft.com/office/drawing/2014/main" id="{6DC345ED-0BAC-5801-2F1E-B81B6F8A25F6}"/>
              </a:ext>
            </a:extLst>
          </p:cNvPr>
          <p:cNvSpPr/>
          <p:nvPr/>
        </p:nvSpPr>
        <p:spPr bwMode="auto">
          <a:xfrm>
            <a:off x="775653" y="563312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60" name="Straight Connector 59">
            <a:extLst>
              <a:ext uri="{FF2B5EF4-FFF2-40B4-BE49-F238E27FC236}">
                <a16:creationId xmlns:a16="http://schemas.microsoft.com/office/drawing/2014/main" id="{6E5E93CD-6D93-E605-0B91-D24A1B1F3E28}"/>
              </a:ext>
              <a:ext uri="{C183D7F6-B498-43B3-948B-1728B52AA6E4}">
                <adec:decorative xmlns:adec="http://schemas.microsoft.com/office/drawing/2017/decorative" val="1"/>
              </a:ext>
            </a:extLst>
          </p:cNvPr>
          <p:cNvCxnSpPr>
            <a:cxnSpLocks/>
          </p:cNvCxnSpPr>
          <p:nvPr/>
        </p:nvCxnSpPr>
        <p:spPr>
          <a:xfrm>
            <a:off x="1040188" y="559328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DF99A776-10C5-7F67-54DD-1952D2D914F5}"/>
              </a:ext>
            </a:extLst>
          </p:cNvPr>
          <p:cNvSpPr txBox="1"/>
          <p:nvPr/>
        </p:nvSpPr>
        <p:spPr>
          <a:xfrm>
            <a:off x="6352569" y="1637988"/>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63" name="TextBox 62">
            <a:extLst>
              <a:ext uri="{FF2B5EF4-FFF2-40B4-BE49-F238E27FC236}">
                <a16:creationId xmlns:a16="http://schemas.microsoft.com/office/drawing/2014/main" id="{455F2C3A-C66B-9EA8-8193-E96F0FF479E1}"/>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29" name="TextBox 28">
            <a:extLst>
              <a:ext uri="{FF2B5EF4-FFF2-40B4-BE49-F238E27FC236}">
                <a16:creationId xmlns:a16="http://schemas.microsoft.com/office/drawing/2014/main" id="{3CD89BB8-B1C3-39D1-AF46-360355DFDD44}"/>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390815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6" presetClass="emph" presetSubtype="0" fill="hold" grpId="1" nodeType="withEffect">
                                  <p:stCondLst>
                                    <p:cond delay="0"/>
                                  </p:stCondLst>
                                  <p:childTnLst>
                                    <p:animScale>
                                      <p:cBhvr>
                                        <p:cTn id="9" dur="100" fill="hold"/>
                                        <p:tgtEl>
                                          <p:spTgt spid="29"/>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9"/>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29" grpId="2"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EF25-4D7B-861B-1F4B-DB17581136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635FA5E-6400-D538-A3F6-492A3B8C32B9}"/>
              </a:ext>
            </a:extLst>
          </p:cNvPr>
          <p:cNvSpPr>
            <a:spLocks noGrp="1"/>
          </p:cNvSpPr>
          <p:nvPr>
            <p:ph type="title"/>
          </p:nvPr>
        </p:nvSpPr>
        <p:spPr>
          <a:xfrm>
            <a:off x="577993" y="518434"/>
            <a:ext cx="5507037" cy="748047"/>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Segoe UI Semibold"/>
              </a:rPr>
              <a:t>Real-Time Intelligence</a:t>
            </a:r>
            <a:endParaRPr lang="en-US" sz="2800" noProof="0" dirty="0"/>
          </a:p>
        </p:txBody>
      </p:sp>
      <p:sp>
        <p:nvSpPr>
          <p:cNvPr id="20" name="Rounded Rectangle 55">
            <a:extLst>
              <a:ext uri="{FF2B5EF4-FFF2-40B4-BE49-F238E27FC236}">
                <a16:creationId xmlns:a16="http://schemas.microsoft.com/office/drawing/2014/main" id="{3D9F8457-4A38-9DA1-319A-47F2932B99E0}"/>
              </a:ext>
              <a:ext uri="{C183D7F6-B498-43B3-948B-1728B52AA6E4}">
                <adec:decorative xmlns:adec="http://schemas.microsoft.com/office/drawing/2017/decorative" val="1"/>
              </a:ext>
            </a:extLst>
          </p:cNvPr>
          <p:cNvSpPr/>
          <p:nvPr/>
        </p:nvSpPr>
        <p:spPr bwMode="auto">
          <a:xfrm>
            <a:off x="571698" y="1623224"/>
            <a:ext cx="2448877" cy="4344958"/>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1" name="Content Placeholder 4">
            <a:extLst>
              <a:ext uri="{FF2B5EF4-FFF2-40B4-BE49-F238E27FC236}">
                <a16:creationId xmlns:a16="http://schemas.microsoft.com/office/drawing/2014/main" id="{7D2C3D86-0BEB-87EC-8A20-503FCDC57F43}"/>
              </a:ext>
            </a:extLst>
          </p:cNvPr>
          <p:cNvSpPr txBox="1">
            <a:spLocks/>
          </p:cNvSpPr>
          <p:nvPr/>
        </p:nvSpPr>
        <p:spPr>
          <a:xfrm>
            <a:off x="639991" y="2015208"/>
            <a:ext cx="2448877" cy="3102772"/>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19075" lvl="0" indent="-21907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Deployment templates and scripts</a:t>
            </a:r>
          </a:p>
          <a:p>
            <a:pPr marL="219075" lvl="0" indent="-21907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Translate to KQL, real-time transformations</a:t>
            </a:r>
          </a:p>
          <a:p>
            <a:pPr marL="219075" lvl="0" indent="-21907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Architect and develop Medallion architecture</a:t>
            </a:r>
          </a:p>
          <a:p>
            <a:pPr marL="219075" lvl="0" indent="-219075" defTabSz="914400">
              <a:lnSpc>
                <a:spcPct val="150000"/>
              </a:lnSpc>
              <a:spcBef>
                <a:spcPts val="0"/>
              </a:spcBef>
              <a:spcAft>
                <a:spcPts val="600"/>
              </a:spcAft>
              <a:buSzTx/>
              <a:buFont typeface="Wingdings" panose="05000000000000000000" pitchFamily="2" charset="2"/>
              <a:buChar char="ü"/>
              <a:defRPr/>
            </a:pPr>
            <a:r>
              <a:rPr lang="en-US" sz="1200" noProof="0" dirty="0">
                <a:solidFill>
                  <a:srgbClr val="000000"/>
                </a:solidFill>
              </a:rPr>
              <a:t>Customer data model architects, data engineers and analysts (skills: KQL, PowerShell)</a:t>
            </a:r>
            <a:endParaRPr lang="en-US" sz="1100" noProof="0" dirty="0">
              <a:solidFill>
                <a:srgbClr val="000000"/>
              </a:solidFill>
            </a:endParaRPr>
          </a:p>
        </p:txBody>
      </p:sp>
      <p:sp>
        <p:nvSpPr>
          <p:cNvPr id="24" name="TextBox 23">
            <a:extLst>
              <a:ext uri="{FF2B5EF4-FFF2-40B4-BE49-F238E27FC236}">
                <a16:creationId xmlns:a16="http://schemas.microsoft.com/office/drawing/2014/main" id="{4DE2E50E-BABE-B560-040A-618761C9F451}"/>
              </a:ext>
            </a:extLst>
          </p:cNvPr>
          <p:cNvSpPr txBox="1"/>
          <p:nvPr/>
        </p:nvSpPr>
        <p:spPr>
          <a:xfrm>
            <a:off x="3244316" y="1768991"/>
            <a:ext cx="8254479" cy="1749197"/>
          </a:xfrm>
          <a:prstGeom prst="rect">
            <a:avLst/>
          </a:prstGeom>
          <a:noFill/>
        </p:spPr>
        <p:txBody>
          <a:bodyPr wrap="square">
            <a:spAutoFit/>
          </a:bodyPr>
          <a:lstStyle/>
          <a:p>
            <a:pPr indent="-341630">
              <a:spcAft>
                <a:spcPts val="200"/>
              </a:spcAft>
              <a:defRPr/>
            </a:pPr>
            <a:r>
              <a:rPr lang="en-US" sz="1400" kern="0" noProof="0" dirty="0">
                <a:solidFill>
                  <a:schemeClr val="tx2"/>
                </a:solidFill>
                <a:latin typeface="+mj-lt"/>
              </a:rPr>
              <a:t>Key deliverables</a:t>
            </a:r>
            <a:endParaRPr lang="en-US" sz="1400" noProof="0" dirty="0">
              <a:latin typeface="+mj-lt"/>
            </a:endParaRPr>
          </a:p>
          <a:p>
            <a:pPr marL="238125" indent="-161925" defTabSz="896386">
              <a:spcAft>
                <a:spcPts val="600"/>
              </a:spcAft>
              <a:buFont typeface="Arial" panose="020B0604020202020204" pitchFamily="34" charset="0"/>
              <a:buChar char="•"/>
              <a:defRPr/>
            </a:pPr>
            <a:r>
              <a:rPr lang="en-US" sz="1200" kern="0" noProof="0" dirty="0"/>
              <a:t>Analyze requirements and help you determine the optimal alignment with Fabric Real-Time Intelligence</a:t>
            </a:r>
          </a:p>
          <a:p>
            <a:pPr marL="238125" indent="-161925" defTabSz="896386">
              <a:spcAft>
                <a:spcPts val="600"/>
              </a:spcAft>
              <a:buFont typeface="Arial" panose="020B0604020202020204" pitchFamily="34" charset="0"/>
              <a:buChar char="•"/>
              <a:defRPr/>
            </a:pPr>
            <a:r>
              <a:rPr lang="en-US" sz="1200" kern="0" noProof="0" dirty="0"/>
              <a:t>Migrate data to Fabric using scripts, pipelines, streaming features or agents.</a:t>
            </a:r>
          </a:p>
          <a:p>
            <a:pPr marL="238125" indent="-161925" defTabSz="896386">
              <a:spcAft>
                <a:spcPts val="600"/>
              </a:spcAft>
              <a:buFont typeface="Arial" panose="020B0604020202020204" pitchFamily="34" charset="0"/>
              <a:buChar char="•"/>
              <a:defRPr/>
            </a:pPr>
            <a:r>
              <a:rPr lang="en-US" sz="1200" kern="0" noProof="0" dirty="0"/>
              <a:t>Translate queries to KQL, real-time transformations, medallion architecture, dashboards, and actions</a:t>
            </a:r>
          </a:p>
          <a:p>
            <a:pPr marL="238125" indent="-161925" defTabSz="896386">
              <a:spcAft>
                <a:spcPts val="600"/>
              </a:spcAft>
              <a:buFont typeface="Arial" panose="020B0604020202020204" pitchFamily="34" charset="0"/>
              <a:buChar char="•"/>
              <a:defRPr/>
            </a:pPr>
            <a:r>
              <a:rPr lang="en-US" sz="1200" kern="0" noProof="0" dirty="0"/>
              <a:t>Knowledge transfer, however in-depth ADX/Fabric training is not in scope, but is available through a Value-Based Delivery (VBD)</a:t>
            </a:r>
          </a:p>
          <a:p>
            <a:pPr marL="238125" indent="-161925" defTabSz="896386">
              <a:spcAft>
                <a:spcPts val="600"/>
              </a:spcAft>
              <a:buFont typeface="Arial" panose="020B0604020202020204" pitchFamily="34" charset="0"/>
              <a:buChar char="•"/>
              <a:defRPr/>
            </a:pPr>
            <a:r>
              <a:rPr lang="en-US" sz="1200" kern="0" noProof="0" dirty="0"/>
              <a:t>Creation of one Dashboard that meets the core needs of the workload</a:t>
            </a:r>
          </a:p>
        </p:txBody>
      </p:sp>
      <p:sp>
        <p:nvSpPr>
          <p:cNvPr id="27" name="TextBox 26">
            <a:extLst>
              <a:ext uri="{FF2B5EF4-FFF2-40B4-BE49-F238E27FC236}">
                <a16:creationId xmlns:a16="http://schemas.microsoft.com/office/drawing/2014/main" id="{9224C29C-6AC8-E1C6-4403-855EA9CB8263}"/>
              </a:ext>
            </a:extLst>
          </p:cNvPr>
          <p:cNvSpPr txBox="1"/>
          <p:nvPr/>
        </p:nvSpPr>
        <p:spPr>
          <a:xfrm>
            <a:off x="3253661" y="3612843"/>
            <a:ext cx="3677636" cy="2087751"/>
          </a:xfrm>
          <a:prstGeom prst="rect">
            <a:avLst/>
          </a:prstGeom>
          <a:noFill/>
        </p:spPr>
        <p:txBody>
          <a:bodyPr wrap="square">
            <a:spAutoFit/>
          </a:bodyPr>
          <a:lstStyle/>
          <a:p>
            <a:pPr>
              <a:spcAft>
                <a:spcPts val="200"/>
              </a:spcAft>
              <a:defRPr/>
            </a:pPr>
            <a:r>
              <a:rPr lang="en-US" sz="1400" kern="0" noProof="0" dirty="0">
                <a:solidFill>
                  <a:schemeClr val="tx2"/>
                </a:solidFill>
                <a:latin typeface="+mj-lt"/>
              </a:rPr>
              <a:t>Interface patterns</a:t>
            </a:r>
          </a:p>
          <a:p>
            <a:pPr marL="247650" indent="-171450" defTabSz="896386">
              <a:spcAft>
                <a:spcPts val="600"/>
              </a:spcAft>
              <a:buFont typeface="Arial" panose="020B0604020202020204" pitchFamily="34" charset="0"/>
              <a:buChar char="•"/>
              <a:defRPr/>
            </a:pPr>
            <a:r>
              <a:rPr lang="en-US" sz="1200" kern="0" noProof="0" dirty="0"/>
              <a:t>IoT, MQTT, Eventgrid, </a:t>
            </a:r>
          </a:p>
          <a:p>
            <a:pPr marL="247650" indent="-171450" defTabSz="896386">
              <a:spcAft>
                <a:spcPts val="600"/>
              </a:spcAft>
              <a:buFont typeface="Arial" panose="020B0604020202020204" pitchFamily="34" charset="0"/>
              <a:buChar char="•"/>
              <a:defRPr/>
            </a:pPr>
            <a:r>
              <a:rPr lang="en-US" sz="1200" kern="0" noProof="0" dirty="0"/>
              <a:t>Event Hubs and Service Bus</a:t>
            </a:r>
          </a:p>
          <a:p>
            <a:pPr marL="247650" indent="-171450" defTabSz="896386">
              <a:spcAft>
                <a:spcPts val="600"/>
              </a:spcAft>
              <a:buFont typeface="Arial" panose="020B0604020202020204" pitchFamily="34" charset="0"/>
              <a:buChar char="•"/>
              <a:defRPr/>
            </a:pPr>
            <a:r>
              <a:rPr lang="en-US" sz="1200" kern="0" noProof="0" dirty="0"/>
              <a:t>SignalR websockets</a:t>
            </a:r>
          </a:p>
          <a:p>
            <a:pPr marL="247650" indent="-171450" defTabSz="896386">
              <a:spcAft>
                <a:spcPts val="600"/>
              </a:spcAft>
              <a:buFont typeface="Arial" panose="020B0604020202020204" pitchFamily="34" charset="0"/>
              <a:buChar char="•"/>
              <a:defRPr/>
            </a:pPr>
            <a:r>
              <a:rPr lang="en-US" sz="1200" kern="0" noProof="0" dirty="0"/>
              <a:t>REST-APIs</a:t>
            </a:r>
          </a:p>
          <a:p>
            <a:pPr marL="247650" indent="-171450" defTabSz="896386">
              <a:spcAft>
                <a:spcPts val="600"/>
              </a:spcAft>
              <a:buFont typeface="Arial" panose="020B0604020202020204" pitchFamily="34" charset="0"/>
              <a:buChar char="•"/>
              <a:defRPr/>
            </a:pPr>
            <a:r>
              <a:rPr lang="en-US" sz="1200" kern="0" noProof="0" dirty="0"/>
              <a:t>Kafka, Flink, Redpanda, Druid</a:t>
            </a:r>
          </a:p>
          <a:p>
            <a:pPr marL="247650" indent="-171450" defTabSz="896386">
              <a:spcAft>
                <a:spcPts val="600"/>
              </a:spcAft>
              <a:buFont typeface="Arial" panose="020B0604020202020204" pitchFamily="34" charset="0"/>
              <a:buChar char="•"/>
              <a:defRPr/>
            </a:pPr>
            <a:r>
              <a:rPr lang="en-US" sz="1200" kern="0" noProof="0" dirty="0"/>
              <a:t>Amazon Kinesis</a:t>
            </a:r>
          </a:p>
          <a:p>
            <a:pPr marL="247650" indent="-171450" defTabSz="896386">
              <a:spcAft>
                <a:spcPts val="600"/>
              </a:spcAft>
              <a:buFont typeface="Arial" panose="020B0604020202020204" pitchFamily="34" charset="0"/>
              <a:buChar char="•"/>
              <a:defRPr/>
            </a:pPr>
            <a:r>
              <a:rPr lang="en-US" sz="1200" kern="0" noProof="0" dirty="0"/>
              <a:t>Google PubSub, Solace PubSub</a:t>
            </a:r>
          </a:p>
        </p:txBody>
      </p:sp>
      <p:sp>
        <p:nvSpPr>
          <p:cNvPr id="28" name="TextBox 27">
            <a:extLst>
              <a:ext uri="{FF2B5EF4-FFF2-40B4-BE49-F238E27FC236}">
                <a16:creationId xmlns:a16="http://schemas.microsoft.com/office/drawing/2014/main" id="{404AD71F-793A-17F4-A008-5F1E269E9E03}"/>
              </a:ext>
            </a:extLst>
          </p:cNvPr>
          <p:cNvSpPr txBox="1"/>
          <p:nvPr/>
        </p:nvSpPr>
        <p:spPr>
          <a:xfrm>
            <a:off x="7426857" y="3612843"/>
            <a:ext cx="3589530" cy="1564531"/>
          </a:xfrm>
          <a:prstGeom prst="rect">
            <a:avLst/>
          </a:prstGeom>
          <a:noFill/>
        </p:spPr>
        <p:txBody>
          <a:bodyPr wrap="square">
            <a:spAutoFit/>
          </a:bodyPr>
          <a:lstStyle/>
          <a:p>
            <a:pPr>
              <a:spcAft>
                <a:spcPts val="200"/>
              </a:spcAft>
              <a:defRPr/>
            </a:pPr>
            <a:r>
              <a:rPr lang="en-US" sz="1400" kern="0" noProof="0" dirty="0">
                <a:solidFill>
                  <a:schemeClr val="tx2"/>
                </a:solidFill>
                <a:latin typeface="+mj-lt"/>
              </a:rPr>
              <a:t>CDC scenarios</a:t>
            </a:r>
          </a:p>
          <a:p>
            <a:pPr marL="228600" indent="-171450" defTabSz="896386">
              <a:spcAft>
                <a:spcPts val="600"/>
              </a:spcAft>
              <a:buFont typeface="Arial" panose="020B0604020202020204" pitchFamily="34" charset="0"/>
              <a:buChar char="•"/>
              <a:defRPr/>
            </a:pPr>
            <a:r>
              <a:rPr lang="en-US" sz="1200" kern="0" noProof="0" dirty="0"/>
              <a:t>Azure PostgreSQL</a:t>
            </a:r>
          </a:p>
          <a:p>
            <a:pPr marL="228600" indent="-171450" defTabSz="896386">
              <a:spcAft>
                <a:spcPts val="600"/>
              </a:spcAft>
              <a:buFont typeface="Arial" panose="020B0604020202020204" pitchFamily="34" charset="0"/>
              <a:buChar char="•"/>
              <a:defRPr/>
            </a:pPr>
            <a:r>
              <a:rPr lang="en-US" sz="1200" kern="0" noProof="0" dirty="0"/>
              <a:t>Cosmos DB</a:t>
            </a:r>
          </a:p>
          <a:p>
            <a:pPr marL="228600" indent="-171450" defTabSz="896386">
              <a:spcAft>
                <a:spcPts val="600"/>
              </a:spcAft>
              <a:buFont typeface="Arial" panose="020B0604020202020204" pitchFamily="34" charset="0"/>
              <a:buChar char="•"/>
              <a:defRPr/>
            </a:pPr>
            <a:r>
              <a:rPr lang="en-US" sz="1200" kern="0" noProof="0" dirty="0"/>
              <a:t>Azure MySQL</a:t>
            </a:r>
          </a:p>
          <a:p>
            <a:pPr marL="228600" indent="-171450" defTabSz="896386">
              <a:spcAft>
                <a:spcPts val="600"/>
              </a:spcAft>
              <a:buFont typeface="Arial" panose="020B0604020202020204" pitchFamily="34" charset="0"/>
              <a:buChar char="•"/>
              <a:defRPr/>
            </a:pPr>
            <a:r>
              <a:rPr lang="en-US" sz="1200" kern="0" noProof="0" dirty="0"/>
              <a:t>Azure SQL Database, SQL Server on Azure VM</a:t>
            </a:r>
          </a:p>
          <a:p>
            <a:pPr marL="228600" indent="-171450" defTabSz="896386">
              <a:spcAft>
                <a:spcPts val="600"/>
              </a:spcAft>
              <a:buFont typeface="Arial" panose="020B0604020202020204" pitchFamily="34" charset="0"/>
              <a:buChar char="•"/>
              <a:defRPr/>
            </a:pPr>
            <a:r>
              <a:rPr lang="en-US" sz="1200" kern="0" noProof="0" dirty="0"/>
              <a:t>Oracle Goldengate via EH connector</a:t>
            </a:r>
          </a:p>
        </p:txBody>
      </p:sp>
      <p:sp>
        <p:nvSpPr>
          <p:cNvPr id="3" name="TextBox 2">
            <a:extLst>
              <a:ext uri="{FF2B5EF4-FFF2-40B4-BE49-F238E27FC236}">
                <a16:creationId xmlns:a16="http://schemas.microsoft.com/office/drawing/2014/main" id="{F5759001-F78D-2F15-54B1-407A183E3905}"/>
              </a:ext>
            </a:extLst>
          </p:cNvPr>
          <p:cNvSpPr txBox="1"/>
          <p:nvPr/>
        </p:nvSpPr>
        <p:spPr>
          <a:xfrm>
            <a:off x="641615" y="1686024"/>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cxnSp>
        <p:nvCxnSpPr>
          <p:cNvPr id="4" name="Straight Connector 3">
            <a:extLst>
              <a:ext uri="{FF2B5EF4-FFF2-40B4-BE49-F238E27FC236}">
                <a16:creationId xmlns:a16="http://schemas.microsoft.com/office/drawing/2014/main" id="{0F9B68B1-DC00-8B9D-DE12-CF5FE566E209}"/>
              </a:ext>
              <a:ext uri="{C183D7F6-B498-43B3-948B-1728B52AA6E4}">
                <adec:decorative xmlns:adec="http://schemas.microsoft.com/office/drawing/2017/decorative" val="1"/>
              </a:ext>
            </a:extLst>
          </p:cNvPr>
          <p:cNvCxnSpPr>
            <a:cxnSpLocks/>
          </p:cNvCxnSpPr>
          <p:nvPr/>
        </p:nvCxnSpPr>
        <p:spPr>
          <a:xfrm>
            <a:off x="3354920" y="3518188"/>
            <a:ext cx="814387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14B02A5-48D9-86B0-042A-F175619717A6}"/>
              </a:ext>
              <a:ext uri="{C183D7F6-B498-43B3-948B-1728B52AA6E4}">
                <adec:decorative xmlns:adec="http://schemas.microsoft.com/office/drawing/2017/decorative" val="1"/>
              </a:ext>
            </a:extLst>
          </p:cNvPr>
          <p:cNvCxnSpPr>
            <a:cxnSpLocks/>
          </p:cNvCxnSpPr>
          <p:nvPr/>
        </p:nvCxnSpPr>
        <p:spPr>
          <a:xfrm flipV="1">
            <a:off x="7371555" y="3590697"/>
            <a:ext cx="0" cy="2132042"/>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Graphic 23">
            <a:extLst>
              <a:ext uri="{FF2B5EF4-FFF2-40B4-BE49-F238E27FC236}">
                <a16:creationId xmlns:a16="http://schemas.microsoft.com/office/drawing/2014/main" id="{8BE2B3C0-E622-FD86-88CD-D90C58356CB9}"/>
              </a:ext>
              <a:ext uri="{C183D7F6-B498-43B3-948B-1728B52AA6E4}">
                <adec:decorative xmlns:adec="http://schemas.microsoft.com/office/drawing/2017/decorative" val="1"/>
              </a:ext>
            </a:extLst>
          </p:cNvPr>
          <p:cNvSpPr/>
          <p:nvPr/>
        </p:nvSpPr>
        <p:spPr>
          <a:xfrm>
            <a:off x="670149" y="2129901"/>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Graphic 23">
            <a:extLst>
              <a:ext uri="{FF2B5EF4-FFF2-40B4-BE49-F238E27FC236}">
                <a16:creationId xmlns:a16="http://schemas.microsoft.com/office/drawing/2014/main" id="{50F4BD9C-BDF3-D304-6F89-EE4E022E8499}"/>
              </a:ext>
              <a:ext uri="{C183D7F6-B498-43B3-948B-1728B52AA6E4}">
                <adec:decorative xmlns:adec="http://schemas.microsoft.com/office/drawing/2017/decorative" val="1"/>
              </a:ext>
            </a:extLst>
          </p:cNvPr>
          <p:cNvSpPr/>
          <p:nvPr/>
        </p:nvSpPr>
        <p:spPr>
          <a:xfrm>
            <a:off x="670149" y="280156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Graphic 23">
            <a:extLst>
              <a:ext uri="{FF2B5EF4-FFF2-40B4-BE49-F238E27FC236}">
                <a16:creationId xmlns:a16="http://schemas.microsoft.com/office/drawing/2014/main" id="{C30A0939-9933-7B48-E936-1F6118E3B5E6}"/>
              </a:ext>
              <a:ext uri="{C183D7F6-B498-43B3-948B-1728B52AA6E4}">
                <adec:decorative xmlns:adec="http://schemas.microsoft.com/office/drawing/2017/decorative" val="1"/>
              </a:ext>
            </a:extLst>
          </p:cNvPr>
          <p:cNvSpPr/>
          <p:nvPr/>
        </p:nvSpPr>
        <p:spPr>
          <a:xfrm>
            <a:off x="671963" y="3424328"/>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Graphic 23">
            <a:extLst>
              <a:ext uri="{FF2B5EF4-FFF2-40B4-BE49-F238E27FC236}">
                <a16:creationId xmlns:a16="http://schemas.microsoft.com/office/drawing/2014/main" id="{4158FB0D-C6FB-2E6F-DC85-AC090A27CE68}"/>
              </a:ext>
              <a:ext uri="{C183D7F6-B498-43B3-948B-1728B52AA6E4}">
                <adec:decorative xmlns:adec="http://schemas.microsoft.com/office/drawing/2017/decorative" val="1"/>
              </a:ext>
            </a:extLst>
          </p:cNvPr>
          <p:cNvSpPr/>
          <p:nvPr/>
        </p:nvSpPr>
        <p:spPr>
          <a:xfrm>
            <a:off x="657675" y="4017283"/>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E812AD4A-7BC1-2071-C827-03F7C464CAB7}"/>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grpSp>
        <p:nvGrpSpPr>
          <p:cNvPr id="5" name="Group 4">
            <a:extLst>
              <a:ext uri="{FF2B5EF4-FFF2-40B4-BE49-F238E27FC236}">
                <a16:creationId xmlns:a16="http://schemas.microsoft.com/office/drawing/2014/main" id="{5503239C-867C-85F7-C2BB-5F8B7A8AA722}"/>
              </a:ext>
            </a:extLst>
          </p:cNvPr>
          <p:cNvGrpSpPr/>
          <p:nvPr/>
        </p:nvGrpSpPr>
        <p:grpSpPr>
          <a:xfrm>
            <a:off x="3142152" y="1627824"/>
            <a:ext cx="8531745" cy="4344959"/>
            <a:chOff x="3122613" y="2481106"/>
            <a:chExt cx="8521464" cy="4920648"/>
          </a:xfrm>
        </p:grpSpPr>
        <p:grpSp>
          <p:nvGrpSpPr>
            <p:cNvPr id="7" name="Group 6">
              <a:extLst>
                <a:ext uri="{FF2B5EF4-FFF2-40B4-BE49-F238E27FC236}">
                  <a16:creationId xmlns:a16="http://schemas.microsoft.com/office/drawing/2014/main" id="{6F277EAB-4D5F-746E-438A-A97CED63538E}"/>
                </a:ext>
                <a:ext uri="{C183D7F6-B498-43B3-948B-1728B52AA6E4}">
                  <adec:decorative xmlns:adec="http://schemas.microsoft.com/office/drawing/2017/decorative" val="1"/>
                </a:ext>
              </a:extLst>
            </p:cNvPr>
            <p:cNvGrpSpPr/>
            <p:nvPr/>
          </p:nvGrpSpPr>
          <p:grpSpPr>
            <a:xfrm>
              <a:off x="3122613" y="2481107"/>
              <a:ext cx="8521464" cy="4920647"/>
              <a:chOff x="455996" y="1206500"/>
              <a:chExt cx="11306470" cy="5062538"/>
            </a:xfrm>
          </p:grpSpPr>
          <p:sp>
            <p:nvSpPr>
              <p:cNvPr id="10" name="Rectangle: Rounded Corners 9">
                <a:extLst>
                  <a:ext uri="{FF2B5EF4-FFF2-40B4-BE49-F238E27FC236}">
                    <a16:creationId xmlns:a16="http://schemas.microsoft.com/office/drawing/2014/main" id="{73790BA0-49EC-3B04-4CD3-A41AD9E84E90}"/>
                  </a:ext>
                  <a:ext uri="{C183D7F6-B498-43B3-948B-1728B52AA6E4}">
                    <adec:decorative xmlns:adec="http://schemas.microsoft.com/office/drawing/2017/decorative" val="1"/>
                  </a:ext>
                </a:extLst>
              </p:cNvPr>
              <p:cNvSpPr/>
              <p:nvPr/>
            </p:nvSpPr>
            <p:spPr bwMode="auto">
              <a:xfrm>
                <a:off x="455996" y="1206500"/>
                <a:ext cx="11306470" cy="5062538"/>
              </a:xfrm>
              <a:prstGeom prst="roundRect">
                <a:avLst>
                  <a:gd name="adj" fmla="val 3505"/>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2" name="Rectangle: Rounded Corners 11">
                <a:extLst>
                  <a:ext uri="{FF2B5EF4-FFF2-40B4-BE49-F238E27FC236}">
                    <a16:creationId xmlns:a16="http://schemas.microsoft.com/office/drawing/2014/main" id="{2BFC1C39-7E49-DE89-86AC-C7654070759B}"/>
                  </a:ext>
                  <a:ext uri="{C183D7F6-B498-43B3-948B-1728B52AA6E4}">
                    <adec:decorative xmlns:adec="http://schemas.microsoft.com/office/drawing/2017/decorative" val="1"/>
                  </a:ext>
                </a:extLst>
              </p:cNvPr>
              <p:cNvSpPr/>
              <p:nvPr/>
            </p:nvSpPr>
            <p:spPr bwMode="auto">
              <a:xfrm>
                <a:off x="596736" y="1350169"/>
                <a:ext cx="11024989" cy="4775200"/>
              </a:xfrm>
              <a:prstGeom prst="roundRect">
                <a:avLst>
                  <a:gd name="adj" fmla="val 1202"/>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grpSp>
        <p:sp>
          <p:nvSpPr>
            <p:cNvPr id="8" name="Arrow: Bent 7">
              <a:extLst>
                <a:ext uri="{FF2B5EF4-FFF2-40B4-BE49-F238E27FC236}">
                  <a16:creationId xmlns:a16="http://schemas.microsoft.com/office/drawing/2014/main" id="{93D3F1E5-CF73-7999-7E57-8FC14E8B989F}"/>
                </a:ext>
                <a:ext uri="{C183D7F6-B498-43B3-948B-1728B52AA6E4}">
                  <adec:decorative xmlns:adec="http://schemas.microsoft.com/office/drawing/2017/decorative" val="1"/>
                </a:ext>
              </a:extLst>
            </p:cNvPr>
            <p:cNvSpPr>
              <a:spLocks/>
            </p:cNvSpPr>
            <p:nvPr/>
          </p:nvSpPr>
          <p:spPr bwMode="auto">
            <a:xfrm flipH="1">
              <a:off x="9695822" y="2481106"/>
              <a:ext cx="1942435" cy="2394746"/>
            </a:xfrm>
            <a:prstGeom prst="bentArrow">
              <a:avLst>
                <a:gd name="adj1" fmla="val 25000"/>
                <a:gd name="adj2" fmla="val 0"/>
                <a:gd name="adj3" fmla="val 25000"/>
                <a:gd name="adj4" fmla="val 7163"/>
              </a:avLst>
            </a:prstGeom>
            <a:solidFill>
              <a:schemeClr val="bg1">
                <a:alpha val="80000"/>
              </a:schemeClr>
            </a:solidFill>
            <a:ln w="19050">
              <a:gradFill flip="none" rotWithShape="1">
                <a:gsLst>
                  <a:gs pos="12000">
                    <a:srgbClr val="41B8A4">
                      <a:alpha val="13000"/>
                    </a:srgbClr>
                  </a:gs>
                  <a:gs pos="50000">
                    <a:srgbClr val="07641D"/>
                  </a:gs>
                  <a:gs pos="87000">
                    <a:srgbClr val="3EB29F">
                      <a:alpha val="8000"/>
                    </a:srgbClr>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latin typeface="Segoe Sans Text"/>
                <a:cs typeface="Segoe UI" pitchFamily="34" charset="0"/>
              </a:endParaRPr>
            </a:p>
          </p:txBody>
        </p:sp>
      </p:grpSp>
    </p:spTree>
    <p:extLst>
      <p:ext uri="{BB962C8B-B14F-4D97-AF65-F5344CB8AC3E}">
        <p14:creationId xmlns:p14="http://schemas.microsoft.com/office/powerpoint/2010/main" val="1939177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mph" presetSubtype="0" fill="hold" grpId="1" nodeType="withEffect">
                                  <p:stCondLst>
                                    <p:cond delay="0"/>
                                  </p:stCondLst>
                                  <p:childTnLst>
                                    <p:animScale>
                                      <p:cBhvr>
                                        <p:cTn id="9" dur="100" fill="hold"/>
                                        <p:tgtEl>
                                          <p:spTgt spid="2"/>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2"/>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828D0-9A43-8E3E-9C88-082AD9CC64E2}"/>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A5A2DFAE-C19D-E658-D663-1F79EA999F48}"/>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4C7DB163-B9B1-B46A-A8DC-2B2F6B4DC99A}"/>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5B3D0CA7-EB69-2D6C-A538-AE65A2A267E1}"/>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710E4B40-7DF7-F0C5-D00C-F0B970E98CCB}"/>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64DF28B2-F8FA-A810-63CE-368DCD156B78}"/>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C71AE72B-F7D2-B5F1-B52F-F22FB8843106}"/>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DEB75595-6E4C-FEA7-DDE3-439B4438C6C9}"/>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89B44E2F-992D-4C52-D58D-047CA9A07287}"/>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2B7C27EA-9CF6-A0BE-AE22-8D6C51DBD835}"/>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78AE10A0-83DB-04C4-602A-8C43573E16DA}"/>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0BAF63C9-1929-1C20-1842-07C920AA71F7}"/>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2BA5DC51-1226-8975-D4A3-906039F01AB7}"/>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3F90EB4C-63F5-D158-DBFD-7B581AA4BE5F}"/>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CE9C0219-03A8-920B-4B07-2976CFEC9092}"/>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62F9E057-4110-E070-55A0-BE7AD2FCDB13}"/>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CCDE2695-4C3F-F1BD-DE93-210AD2EAB6BD}"/>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DA481AED-D92B-1104-998E-63E0D724A55D}"/>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9D60D14F-30A0-8BA4-3C4F-EC89EB2AB6E6}"/>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DCC40212-84CD-D8C2-8A82-2B0BFA4AF4FC}"/>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61C70482-294D-7ED7-E8B9-0028D2F7769A}"/>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1C81C246-FA9D-F44F-63BE-D7F619AB545A}"/>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48CAE26E-981F-2BFF-B388-1BEA9D0100D4}"/>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C9893430-E0C0-988C-5345-C1FFB26C8D86}"/>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7929EBD1-6B90-0B42-231E-1FCD09C440CD}"/>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802BD544-763D-AE09-1F8C-7860F500FE04}"/>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8151463F-6448-35CB-F3DC-AB1091862B56}"/>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B8BDEF37-C7FF-571D-D4D0-2E9C28B120E3}"/>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8DA371BE-E23D-5181-BB48-25599E8B2023}"/>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877619C2-669D-FAAC-3FEA-C79B00B6E50B}"/>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1214043B-DF84-CE74-4C81-B5DA6633D6C6}"/>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5893E7E6-CDA5-3C19-1903-B0B926E3F69A}"/>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92A4247A-CED8-6E2B-F6CB-7747122F845E}"/>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5C345ED0-A2F5-1531-33CF-9B9E5902B162}"/>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6326CD2C-D273-30E5-A3EF-229EC294D442}"/>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8DE0F658-2F75-1056-DC7E-3781FC82B5F7}"/>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B0BBD71E-3B3D-326A-F934-B21D019A77D2}"/>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C4F81B6F-68ED-7D49-7F75-1CD8672A5CD1}"/>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3E9EC298-4657-C6F4-048E-261F2012D6AD}"/>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8F91C362-9643-E966-E043-4582DC4AC979}"/>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7" name="TextBox 136">
            <a:extLst>
              <a:ext uri="{FF2B5EF4-FFF2-40B4-BE49-F238E27FC236}">
                <a16:creationId xmlns:a16="http://schemas.microsoft.com/office/drawing/2014/main" id="{C10A9A32-1132-6FEC-45D0-5FE480FB6B01}"/>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4C31D4DD-0515-8D0B-50B0-2E3F3412CFB3}"/>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D78F37C3-6D0F-1EED-9673-8E8625162BF4}"/>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6F35BC8D-F5B7-1118-330A-5471CBA2D9C5}"/>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26BBCF95-C6EE-8C15-A20A-94979202173D}"/>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FE0D154F-1FAD-96F7-D873-DE36F377058F}"/>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E072146E-3FCB-0CEF-82B1-56C480573079}"/>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40734F69-C759-1115-E6BF-7C28C0599ECA}"/>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83DD63A8-3AFF-9ED4-1110-DC326C21F5E6}"/>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106B282F-E35F-1888-C896-5B1D199CB876}"/>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EC06C5DF-99E3-471C-BE51-F47CB12D9390}"/>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C282A8AE-4A7F-0843-7CB8-0C4D23AA0E96}"/>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3314F6C2-5F26-BBA6-51C3-9B8DBF59E9A1}"/>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81D13CF9-F17E-60F4-EC5C-9DDFC547FB6C}"/>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58336974-D754-CFF4-A6F5-097A8322B42B}"/>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756BC397-D25A-30A9-696C-01A44D4C2262}"/>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FDD62D77-5A85-B9FC-C1B8-61F52C481F1C}"/>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670FB7DF-9D42-E254-51FD-C81481B74BDB}"/>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8E7BB719-B930-9A9F-2D9C-BDB08E14D3E6}"/>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15EFB342-62FE-9BAE-96BF-449B6443580D}"/>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85BED77D-1C65-6FA6-2262-DBDEB03FD415}"/>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AF18F08A-1409-1856-D107-6360ABEF060F}"/>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118032E4-0EB0-8076-5BE9-0C856273B1BF}"/>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E7307475-772E-4A1C-5197-217BAB9854BA}"/>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D70B0988-FF41-783D-53A9-50BD7DDE29E5}"/>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5" name="TextBox 4">
            <a:extLst>
              <a:ext uri="{FF2B5EF4-FFF2-40B4-BE49-F238E27FC236}">
                <a16:creationId xmlns:a16="http://schemas.microsoft.com/office/drawing/2014/main" id="{6B9A239C-1FB0-966E-36D5-1EE845B9B216}"/>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13" name="Title 61">
            <a:extLst>
              <a:ext uri="{FF2B5EF4-FFF2-40B4-BE49-F238E27FC236}">
                <a16:creationId xmlns:a16="http://schemas.microsoft.com/office/drawing/2014/main" id="{C9498957-7FE9-A6EE-E350-B68160BD8FD7}"/>
              </a:ext>
            </a:extLst>
          </p:cNvPr>
          <p:cNvSpPr txBox="1">
            <a:spLocks noGrp="1"/>
          </p:cNvSpPr>
          <p:nvPr>
            <p:ph type="title"/>
          </p:nvPr>
        </p:nvSpPr>
        <p:spPr>
          <a:xfrm>
            <a:off x="588263" y="457199"/>
            <a:ext cx="2958873" cy="1815882"/>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mn-lt"/>
                <a:ea typeface="+mn-ea"/>
                <a:cs typeface="Segoe Sans Text" pitchFamily="2" charset="0"/>
              </a:rPr>
              <a:t>Cloud Accelerate Factory Analytics</a:t>
            </a:r>
            <a:br>
              <a:rPr kumimoji="0" lang="en-US" sz="2800" b="0" i="0" u="none" strike="noStrike" kern="1200" cap="none" spc="0" normalizeH="0" baseline="0" noProof="0" dirty="0">
                <a:ln>
                  <a:noFill/>
                </a:ln>
                <a:solidFill>
                  <a:schemeClr val="bg1"/>
                </a:solidFill>
                <a:effectLst/>
                <a:uLnTx/>
                <a:uFillTx/>
                <a:latin typeface="+mn-lt"/>
                <a:ea typeface="+mn-ea"/>
                <a:cs typeface="Segoe Sans Text" pitchFamily="2" charset="0"/>
              </a:rPr>
            </a:br>
            <a:r>
              <a:rPr kumimoji="0" lang="en-US" sz="2800" b="0" i="0" u="none" strike="noStrike" kern="1200" cap="none" spc="0" normalizeH="0" baseline="0" noProof="0" dirty="0">
                <a:ln>
                  <a:noFill/>
                </a:ln>
                <a:solidFill>
                  <a:schemeClr val="bg1"/>
                </a:solidFill>
                <a:effectLst/>
                <a:uLnTx/>
                <a:uFillTx/>
                <a:latin typeface="+mn-lt"/>
                <a:ea typeface="+mn-ea"/>
                <a:cs typeface="Segoe Sans Text" pitchFamily="2" charset="0"/>
              </a:rPr>
              <a:t>Real-Time Intelligence</a:t>
            </a:r>
          </a:p>
        </p:txBody>
      </p:sp>
      <p:sp>
        <p:nvSpPr>
          <p:cNvPr id="17" name="TextBox 16">
            <a:extLst>
              <a:ext uri="{FF2B5EF4-FFF2-40B4-BE49-F238E27FC236}">
                <a16:creationId xmlns:a16="http://schemas.microsoft.com/office/drawing/2014/main" id="{FE9E5E6F-AA0D-0EBC-9A04-980F512A3F74}"/>
              </a:ext>
            </a:extLst>
          </p:cNvPr>
          <p:cNvSpPr txBox="1"/>
          <p:nvPr/>
        </p:nvSpPr>
        <p:spPr>
          <a:xfrm>
            <a:off x="4622309" y="2882321"/>
            <a:ext cx="1454762" cy="307777"/>
          </a:xfrm>
          <a:prstGeom prst="rect">
            <a:avLst/>
          </a:prstGeom>
          <a:noFill/>
        </p:spPr>
        <p:txBody>
          <a:bodyPr wrap="squar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defRPr/>
            </a:pPr>
            <a:r>
              <a:rPr lang="en-US" sz="1000" noProof="0" dirty="0">
                <a:solidFill>
                  <a:srgbClr val="000000"/>
                </a:solidFill>
              </a:rPr>
              <a:t>Scope of </a:t>
            </a:r>
            <a:br>
              <a:rPr lang="en-US" sz="1000" noProof="0" dirty="0"/>
            </a:br>
            <a:r>
              <a:rPr lang="en-US" sz="1000" noProof="0" dirty="0">
                <a:solidFill>
                  <a:srgbClr val="000000"/>
                </a:solidFill>
              </a:rPr>
              <a:t>Real-Time Intelligence</a:t>
            </a:r>
          </a:p>
        </p:txBody>
      </p:sp>
      <p:sp>
        <p:nvSpPr>
          <p:cNvPr id="21" name="TextBox 20">
            <a:extLst>
              <a:ext uri="{FF2B5EF4-FFF2-40B4-BE49-F238E27FC236}">
                <a16:creationId xmlns:a16="http://schemas.microsoft.com/office/drawing/2014/main" id="{426C5F39-94CE-5851-DE2D-AB71D48A6AF9}"/>
              </a:ext>
            </a:extLst>
          </p:cNvPr>
          <p:cNvSpPr txBox="1"/>
          <p:nvPr/>
        </p:nvSpPr>
        <p:spPr>
          <a:xfrm>
            <a:off x="9211452" y="5369781"/>
            <a:ext cx="1287212"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solidFill>
                  <a:srgbClr val="000000"/>
                </a:solidFill>
                <a:cs typeface="Segoe Sans Text" pitchFamily="2" charset="0"/>
              </a:rPr>
              <a:t>Real-Time Intelligence </a:t>
            </a:r>
          </a:p>
        </p:txBody>
      </p:sp>
      <p:sp>
        <p:nvSpPr>
          <p:cNvPr id="24" name="TextBox 23">
            <a:extLst>
              <a:ext uri="{FF2B5EF4-FFF2-40B4-BE49-F238E27FC236}">
                <a16:creationId xmlns:a16="http://schemas.microsoft.com/office/drawing/2014/main" id="{3F005061-3B55-FA8E-50C2-BA891C233688}"/>
              </a:ext>
              <a:ext uri="{C183D7F6-B498-43B3-948B-1728B52AA6E4}">
                <adec:decorative xmlns:adec="http://schemas.microsoft.com/office/drawing/2017/decorative" val="1"/>
              </a:ext>
            </a:extLst>
          </p:cNvPr>
          <p:cNvSpPr txBox="1"/>
          <p:nvPr/>
        </p:nvSpPr>
        <p:spPr>
          <a:xfrm>
            <a:off x="7884382" y="5294369"/>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lgn="l">
              <a:defRPr/>
            </a:pPr>
            <a:r>
              <a:rPr lang="en-US" sz="1000" noProof="0" dirty="0">
                <a:solidFill>
                  <a:srgbClr val="000000"/>
                </a:solidFill>
              </a:rPr>
              <a:t>Dev-test-deploy</a:t>
            </a:r>
          </a:p>
          <a:p>
            <a:pPr lvl="0" algn="l">
              <a:defRPr/>
            </a:pPr>
            <a:r>
              <a:rPr lang="en-US" sz="1000" noProof="0" dirty="0">
                <a:solidFill>
                  <a:srgbClr val="000000"/>
                </a:solidFill>
              </a:rPr>
              <a:t>scoped workloads</a:t>
            </a:r>
          </a:p>
        </p:txBody>
      </p:sp>
    </p:spTree>
    <p:extLst>
      <p:ext uri="{BB962C8B-B14F-4D97-AF65-F5344CB8AC3E}">
        <p14:creationId xmlns:p14="http://schemas.microsoft.com/office/powerpoint/2010/main" val="307075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5570-3371-7C76-89DA-D959971641C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E0AC80-02BA-3295-2AA7-C3A10D8AA690}"/>
              </a:ext>
            </a:extLst>
          </p:cNvPr>
          <p:cNvSpPr txBox="1"/>
          <p:nvPr/>
        </p:nvSpPr>
        <p:spPr>
          <a:xfrm>
            <a:off x="584200" y="4173052"/>
            <a:ext cx="3577253" cy="554038"/>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Power BI Migration</a:t>
            </a:r>
          </a:p>
          <a:p>
            <a:pPr algn="ctr"/>
            <a:r>
              <a:rPr lang="en-US" sz="1400" noProof="0" dirty="0"/>
              <a:t>(Migrate SSRS/SSAS/AAS to Power BI</a:t>
            </a:r>
          </a:p>
        </p:txBody>
      </p:sp>
      <p:sp>
        <p:nvSpPr>
          <p:cNvPr id="8" name="Title 5">
            <a:extLst>
              <a:ext uri="{FF2B5EF4-FFF2-40B4-BE49-F238E27FC236}">
                <a16:creationId xmlns:a16="http://schemas.microsoft.com/office/drawing/2014/main" id="{9461F1EB-0CAD-0EEC-2831-EC3BE5F76F46}"/>
              </a:ext>
            </a:extLst>
          </p:cNvPr>
          <p:cNvSpPr>
            <a:spLocks noGrp="1"/>
          </p:cNvSpPr>
          <p:nvPr>
            <p:ph type="title"/>
          </p:nvPr>
        </p:nvSpPr>
        <p:spPr>
          <a:xfrm>
            <a:off x="585788" y="1685529"/>
            <a:ext cx="10291478" cy="1846659"/>
          </a:xfrm>
        </p:spPr>
        <p:txBody>
          <a:bodyPr/>
          <a:lstStyle/>
          <a:p>
            <a:r>
              <a:rPr lang="en-US" noProof="0" dirty="0"/>
              <a:t>Cloud Accelerate Factory</a:t>
            </a:r>
            <a:br>
              <a:rPr lang="en-US" noProof="0" dirty="0"/>
            </a:br>
            <a:r>
              <a:rPr lang="en-US" noProof="0" dirty="0">
                <a:solidFill>
                  <a:schemeClr val="tx1"/>
                </a:solidFill>
              </a:rPr>
              <a:t>Build a Unified, Governed Data, and AI Estate</a:t>
            </a:r>
            <a:endParaRPr lang="en-US" noProof="0" dirty="0"/>
          </a:p>
        </p:txBody>
      </p:sp>
      <p:sp>
        <p:nvSpPr>
          <p:cNvPr id="10" name="TextBox 9">
            <a:extLst>
              <a:ext uri="{FF2B5EF4-FFF2-40B4-BE49-F238E27FC236}">
                <a16:creationId xmlns:a16="http://schemas.microsoft.com/office/drawing/2014/main" id="{5BC1E8C3-9FCD-E247-20B2-1FE4947C6A37}"/>
              </a:ext>
            </a:extLst>
          </p:cNvPr>
          <p:cNvSpPr txBox="1"/>
          <p:nvPr/>
        </p:nvSpPr>
        <p:spPr>
          <a:xfrm>
            <a:off x="9233457" y="229195"/>
            <a:ext cx="2392441"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3" name="Image 10" descr="Home (outlined)">
            <a:hlinkClick r:id="rId3" action="ppaction://hlinksldjump" tooltip="Home"/>
            <a:extLst>
              <a:ext uri="{FF2B5EF4-FFF2-40B4-BE49-F238E27FC236}">
                <a16:creationId xmlns:a16="http://schemas.microsoft.com/office/drawing/2014/main" id="{2AE3CB55-5C3A-D995-8EE1-E6DA3A251C94}"/>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89981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grpId="1" nodeType="withEffect">
                                  <p:stCondLst>
                                    <p:cond delay="0"/>
                                  </p:stCondLst>
                                  <p:childTnLst>
                                    <p:animScale>
                                      <p:cBhvr>
                                        <p:cTn id="9" dur="100" fill="hold"/>
                                        <p:tgtEl>
                                          <p:spTgt spid="4"/>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4"/>
                                        </p:tgtEl>
                                      </p:cBhvr>
                                      <p:by x="400000" y="400000"/>
                                    </p:animScale>
                                  </p:childTnLst>
                                </p:cTn>
                              </p:par>
                              <p:par>
                                <p:cTn id="12" presetID="10" presetClass="entr" presetSubtype="0" fill="hold" grpId="0" nodeType="withEffect">
                                  <p:stCondLst>
                                    <p:cond delay="2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6" presetClass="emph" presetSubtype="0" fill="hold" grpId="1" nodeType="withEffect">
                                  <p:stCondLst>
                                    <p:cond delay="0"/>
                                  </p:stCondLst>
                                  <p:childTnLst>
                                    <p:animScale>
                                      <p:cBhvr>
                                        <p:cTn id="16" dur="100" fill="hold"/>
                                        <p:tgtEl>
                                          <p:spTgt spid="10"/>
                                        </p:tgtEl>
                                      </p:cBhvr>
                                      <p:by x="25000" y="25000"/>
                                    </p:animScale>
                                  </p:childTnLst>
                                </p:cTn>
                              </p:par>
                              <p:par>
                                <p:cTn id="17" presetID="6" presetClass="emph" presetSubtype="0" decel="100000" fill="hold" grpId="2" nodeType="withEffect">
                                  <p:stCondLst>
                                    <p:cond delay="200"/>
                                  </p:stCondLst>
                                  <p:childTnLst>
                                    <p:animScale>
                                      <p:cBhvr>
                                        <p:cTn id="18"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10" grpId="0" animBg="1"/>
      <p:bldP spid="10" grpId="1" animBg="1"/>
      <p:bldP spid="10" grpId="2"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650B9-C6FC-3B3E-66CE-BA7244005CB0}"/>
            </a:ext>
          </a:extLst>
        </p:cNvPr>
        <p:cNvGrpSpPr/>
        <p:nvPr/>
      </p:nvGrpSpPr>
      <p:grpSpPr>
        <a:xfrm>
          <a:off x="0" y="0"/>
          <a:ext cx="0" cy="0"/>
          <a:chOff x="0" y="0"/>
          <a:chExt cx="0" cy="0"/>
        </a:xfrm>
      </p:grpSpPr>
      <p:sp>
        <p:nvSpPr>
          <p:cNvPr id="10" name="Rounded Rectangle 55">
            <a:extLst>
              <a:ext uri="{FF2B5EF4-FFF2-40B4-BE49-F238E27FC236}">
                <a16:creationId xmlns:a16="http://schemas.microsoft.com/office/drawing/2014/main" id="{723C5C38-4B46-53D7-4784-8EC576416731}"/>
              </a:ext>
              <a:ext uri="{C183D7F6-B498-43B3-948B-1728B52AA6E4}">
                <adec:decorative xmlns:adec="http://schemas.microsoft.com/office/drawing/2017/decorative" val="1"/>
              </a:ext>
            </a:extLst>
          </p:cNvPr>
          <p:cNvSpPr/>
          <p:nvPr/>
        </p:nvSpPr>
        <p:spPr bwMode="auto">
          <a:xfrm>
            <a:off x="9154160" y="1236131"/>
            <a:ext cx="2448877" cy="5259009"/>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3" name="Rounded Rectangle 55">
            <a:extLst>
              <a:ext uri="{FF2B5EF4-FFF2-40B4-BE49-F238E27FC236}">
                <a16:creationId xmlns:a16="http://schemas.microsoft.com/office/drawing/2014/main" id="{BF08B66A-7409-3ABD-8BE0-F33532B74EB3}"/>
              </a:ext>
              <a:ext uri="{C183D7F6-B498-43B3-948B-1728B52AA6E4}">
                <adec:decorative xmlns:adec="http://schemas.microsoft.com/office/drawing/2017/decorative" val="1"/>
              </a:ext>
            </a:extLst>
          </p:cNvPr>
          <p:cNvSpPr/>
          <p:nvPr/>
        </p:nvSpPr>
        <p:spPr bwMode="auto">
          <a:xfrm>
            <a:off x="588961" y="1236131"/>
            <a:ext cx="8443279" cy="5259009"/>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Title 1">
            <a:extLst>
              <a:ext uri="{FF2B5EF4-FFF2-40B4-BE49-F238E27FC236}">
                <a16:creationId xmlns:a16="http://schemas.microsoft.com/office/drawing/2014/main" id="{FB64CEC1-F279-A13D-1AC9-7F43056D4AB6}"/>
              </a:ext>
            </a:extLst>
          </p:cNvPr>
          <p:cNvSpPr>
            <a:spLocks noGrp="1"/>
          </p:cNvSpPr>
          <p:nvPr>
            <p:ph type="title"/>
          </p:nvPr>
        </p:nvSpPr>
        <p:spPr>
          <a:xfrm>
            <a:off x="582929" y="477004"/>
            <a:ext cx="4561771" cy="72603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Analytics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Power BI Migration</a:t>
            </a:r>
            <a:endParaRPr lang="en-US" sz="2800" noProof="0" dirty="0"/>
          </a:p>
        </p:txBody>
      </p:sp>
      <p:sp>
        <p:nvSpPr>
          <p:cNvPr id="18" name="Content Placeholder 4">
            <a:extLst>
              <a:ext uri="{FF2B5EF4-FFF2-40B4-BE49-F238E27FC236}">
                <a16:creationId xmlns:a16="http://schemas.microsoft.com/office/drawing/2014/main" id="{8E586C51-F759-CB52-69DB-30C251249CC7}"/>
              </a:ext>
            </a:extLst>
          </p:cNvPr>
          <p:cNvSpPr txBox="1">
            <a:spLocks/>
          </p:cNvSpPr>
          <p:nvPr/>
        </p:nvSpPr>
        <p:spPr>
          <a:xfrm>
            <a:off x="9154160" y="1579880"/>
            <a:ext cx="2448877" cy="3567130"/>
          </a:xfrm>
          <a:prstGeom prst="rect">
            <a:avLst/>
          </a:prstGeom>
        </p:spPr>
        <p:txBody>
          <a:bodyPr vert="horz" wrap="square" lIns="91440" tIns="91440" rIns="91440" bIns="73152"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spcBef>
                <a:spcPts val="0"/>
              </a:spcBef>
              <a:spcAft>
                <a:spcPts val="300"/>
              </a:spcAft>
              <a:buFont typeface="Wingdings" panose="05000000000000000000" pitchFamily="2" charset="2"/>
              <a:buNone/>
              <a:defRPr/>
            </a:pPr>
            <a:endParaRPr lang="en-US" sz="800" noProof="0" dirty="0">
              <a:solidFill>
                <a:schemeClr val="dk1"/>
              </a:solidFill>
              <a:latin typeface="+mj-lt"/>
              <a:ea typeface="+mj-ea"/>
              <a:cs typeface="+mj-cs"/>
            </a:endParaRPr>
          </a:p>
          <a:p>
            <a:pPr marL="0" lvl="3" indent="0">
              <a:spcBef>
                <a:spcPts val="0"/>
              </a:spcBef>
              <a:spcAft>
                <a:spcPts val="300"/>
              </a:spcAft>
              <a:buFont typeface="Wingdings" panose="05000000000000000000" pitchFamily="2" charset="2"/>
              <a:buNone/>
              <a:defRPr/>
            </a:pPr>
            <a:r>
              <a:rPr lang="en-US" sz="1200" noProof="0" dirty="0">
                <a:solidFill>
                  <a:schemeClr val="dk1"/>
                </a:solidFill>
                <a:latin typeface="+mj-lt"/>
                <a:ea typeface="+mj-ea"/>
                <a:cs typeface="+mj-cs"/>
              </a:rPr>
              <a:t>Requirements to leveraging </a:t>
            </a:r>
            <a:br>
              <a:rPr lang="en-US" sz="1200" noProof="0" dirty="0">
                <a:solidFill>
                  <a:schemeClr val="dk1"/>
                </a:solidFill>
                <a:latin typeface="+mj-lt"/>
                <a:ea typeface="+mj-ea"/>
                <a:cs typeface="+mj-cs"/>
              </a:rPr>
            </a:br>
            <a:r>
              <a:rPr lang="en-US" sz="1200" noProof="0" dirty="0">
                <a:solidFill>
                  <a:schemeClr val="dk1"/>
                </a:solidFill>
                <a:latin typeface="+mj-lt"/>
                <a:ea typeface="+mj-ea"/>
                <a:cs typeface="+mj-cs"/>
              </a:rPr>
              <a:t>this service:</a:t>
            </a:r>
          </a:p>
          <a:p>
            <a:pPr marL="203200" indent="-146050">
              <a:spcBef>
                <a:spcPts val="0"/>
              </a:spcBef>
              <a:spcAft>
                <a:spcPts val="400"/>
              </a:spcAft>
              <a:buSzPct val="100000"/>
              <a:buFont typeface="Arial" panose="020B0604020202020204" pitchFamily="34" charset="0"/>
              <a:buChar char="•"/>
              <a:defRPr/>
            </a:pPr>
            <a:r>
              <a:rPr lang="en-US" sz="1000" noProof="0" dirty="0">
                <a:ln w="3175">
                  <a:noFill/>
                </a:ln>
                <a:solidFill>
                  <a:prstClr val="black"/>
                </a:solidFill>
                <a:cs typeface="+mn-cs"/>
              </a:rPr>
              <a:t>Customer must provide Cloud Factory with admin access to their SSRS (all folders and subfolders), as well as any other required resource for migration</a:t>
            </a:r>
          </a:p>
          <a:p>
            <a:pPr marL="203200" indent="-146050">
              <a:spcBef>
                <a:spcPts val="0"/>
              </a:spcBef>
              <a:spcAft>
                <a:spcPts val="400"/>
              </a:spcAft>
              <a:buSzPct val="100000"/>
              <a:buFont typeface="Arial" panose="020B0604020202020204" pitchFamily="34" charset="0"/>
              <a:buChar char="•"/>
              <a:defRPr/>
            </a:pPr>
            <a:r>
              <a:rPr lang="en-US" sz="1000" noProof="0" dirty="0">
                <a:ln w="3175">
                  <a:noFill/>
                </a:ln>
                <a:solidFill>
                  <a:prstClr val="black"/>
                </a:solidFill>
                <a:cs typeface="+mn-cs"/>
              </a:rPr>
              <a:t>Customer is responsible for ensuring that if the data source is on-premises, a working Gateway connection is created in the PBI service. This is essential for seamless data migration and integration</a:t>
            </a:r>
          </a:p>
          <a:p>
            <a:pPr marL="203200" indent="-146050">
              <a:spcBef>
                <a:spcPts val="0"/>
              </a:spcBef>
              <a:spcAft>
                <a:spcPts val="400"/>
              </a:spcAft>
              <a:buSzPct val="100000"/>
              <a:buFont typeface="Arial" panose="020B0604020202020204" pitchFamily="34" charset="0"/>
              <a:buChar char="•"/>
              <a:defRPr/>
            </a:pPr>
            <a:r>
              <a:rPr lang="en-US" sz="1000" noProof="0" dirty="0">
                <a:ln w="3175">
                  <a:noFill/>
                </a:ln>
                <a:solidFill>
                  <a:prstClr val="black"/>
                </a:solidFill>
                <a:cs typeface="+mn-cs"/>
              </a:rPr>
              <a:t>Customer must assign a Power BI Pro License to the Cloud Factory team</a:t>
            </a:r>
          </a:p>
          <a:p>
            <a:pPr marL="203200" indent="-146050">
              <a:spcBef>
                <a:spcPts val="0"/>
              </a:spcBef>
              <a:spcAft>
                <a:spcPts val="400"/>
              </a:spcAft>
              <a:buSzPct val="100000"/>
              <a:buFont typeface="Arial" panose="020B0604020202020204" pitchFamily="34" charset="0"/>
              <a:buChar char="•"/>
              <a:defRPr/>
            </a:pPr>
            <a:r>
              <a:rPr lang="en-US" sz="1000" noProof="0" dirty="0">
                <a:ln w="3175">
                  <a:noFill/>
                </a:ln>
                <a:solidFill>
                  <a:prstClr val="black"/>
                </a:solidFill>
                <a:cs typeface="+mn-cs"/>
              </a:rPr>
              <a:t>Internet bandwidth availability must meet minimum Factory requirements </a:t>
            </a:r>
          </a:p>
        </p:txBody>
      </p:sp>
      <p:sp>
        <p:nvSpPr>
          <p:cNvPr id="20" name="TextBox 19">
            <a:extLst>
              <a:ext uri="{FF2B5EF4-FFF2-40B4-BE49-F238E27FC236}">
                <a16:creationId xmlns:a16="http://schemas.microsoft.com/office/drawing/2014/main" id="{11440A7D-B64A-8C41-EECA-2BABB47A84C2}"/>
              </a:ext>
            </a:extLst>
          </p:cNvPr>
          <p:cNvSpPr txBox="1"/>
          <p:nvPr/>
        </p:nvSpPr>
        <p:spPr>
          <a:xfrm>
            <a:off x="674050" y="1302325"/>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8B275EA0-B904-F123-E257-D80AB97267A8}"/>
              </a:ext>
            </a:extLst>
          </p:cNvPr>
          <p:cNvSpPr/>
          <p:nvPr/>
        </p:nvSpPr>
        <p:spPr>
          <a:xfrm>
            <a:off x="3834447"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5DD638D9-D178-FEF9-411D-A11E4A8677B2}"/>
              </a:ext>
            </a:extLst>
          </p:cNvPr>
          <p:cNvSpPr txBox="1"/>
          <p:nvPr/>
        </p:nvSpPr>
        <p:spPr>
          <a:xfrm>
            <a:off x="9241631" y="1302325"/>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28086475-1885-A6C1-6006-6A191D308811}"/>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graphicFrame>
        <p:nvGraphicFramePr>
          <p:cNvPr id="4" name="Table 3" title="Exchange Online Technet Guidance">
            <a:extLst>
              <a:ext uri="{FF2B5EF4-FFF2-40B4-BE49-F238E27FC236}">
                <a16:creationId xmlns:a16="http://schemas.microsoft.com/office/drawing/2014/main" id="{EBEAA0B3-1235-455E-0AE8-A75066AD0C1A}"/>
              </a:ext>
            </a:extLst>
          </p:cNvPr>
          <p:cNvGraphicFramePr>
            <a:graphicFrameLocks noGrp="1"/>
          </p:cNvGraphicFramePr>
          <p:nvPr>
            <p:extLst>
              <p:ext uri="{D42A27DB-BD31-4B8C-83A1-F6EECF244321}">
                <p14:modId xmlns:p14="http://schemas.microsoft.com/office/powerpoint/2010/main" val="3072866308"/>
              </p:ext>
            </p:extLst>
          </p:nvPr>
        </p:nvGraphicFramePr>
        <p:xfrm>
          <a:off x="582929" y="1617980"/>
          <a:ext cx="8443279" cy="4526680"/>
        </p:xfrm>
        <a:graphic>
          <a:graphicData uri="http://schemas.openxmlformats.org/drawingml/2006/table">
            <a:tbl>
              <a:tblPr firstRow="1" bandRow="1">
                <a:tableStyleId>{5C22544A-7EE6-4342-B048-85BDC9FD1C3A}</a:tableStyleId>
              </a:tblPr>
              <a:tblGrid>
                <a:gridCol w="278883">
                  <a:extLst>
                    <a:ext uri="{9D8B030D-6E8A-4147-A177-3AD203B41FA5}">
                      <a16:colId xmlns:a16="http://schemas.microsoft.com/office/drawing/2014/main" val="920430407"/>
                    </a:ext>
                  </a:extLst>
                </a:gridCol>
                <a:gridCol w="8164396">
                  <a:extLst>
                    <a:ext uri="{9D8B030D-6E8A-4147-A177-3AD203B41FA5}">
                      <a16:colId xmlns:a16="http://schemas.microsoft.com/office/drawing/2014/main" val="125040094"/>
                    </a:ext>
                  </a:extLst>
                </a:gridCol>
              </a:tblGrid>
              <a:tr h="325909">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chemeClr val="tx1"/>
                        </a:solidFill>
                        <a:effectLst/>
                        <a:uLnTx/>
                        <a:uFillTx/>
                        <a:latin typeface="+mj-lt"/>
                        <a:ea typeface="+mn-ea"/>
                        <a:cs typeface="+mn-cs"/>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j-lt"/>
                          <a:ea typeface="+mn-ea"/>
                          <a:cs typeface="+mn-cs"/>
                        </a:rPr>
                        <a:t>Microsoft Cloud Accelerate Factory (Factory) </a:t>
                      </a:r>
                      <a:r>
                        <a:rPr kumimoji="0" lang="en-US" sz="1050" b="0" i="0" u="none" strike="noStrike" kern="1200" cap="none" spc="0" normalizeH="0" baseline="0" noProof="0" dirty="0">
                          <a:ln>
                            <a:noFill/>
                          </a:ln>
                          <a:solidFill>
                            <a:schemeClr val="tx1"/>
                          </a:solidFill>
                          <a:effectLst/>
                          <a:uLnTx/>
                          <a:uFillTx/>
                          <a:latin typeface="+mn-lt"/>
                          <a:ea typeface="+mn-ea"/>
                          <a:cs typeface="+mn-cs"/>
                        </a:rPr>
                        <a:t>Analytics—Power BI migration</a:t>
                      </a:r>
                    </a:p>
                  </a:txBody>
                  <a:tcPr>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945824">
                <a:tc>
                  <a:txBody>
                    <a:bodyPr/>
                    <a:lstStyle/>
                    <a:p>
                      <a:pPr algn="ctr"/>
                      <a:r>
                        <a:rPr lang="en-US" sz="1050" b="0" noProof="0" dirty="0">
                          <a:solidFill>
                            <a:schemeClr val="tx2"/>
                          </a:solidFill>
                          <a:latin typeface="+mj-lt"/>
                        </a:rPr>
                        <a:t>1</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50000"/>
                        </a:lnSpc>
                        <a:spcBef>
                          <a:spcPts val="0"/>
                        </a:spcBef>
                        <a:spcAft>
                          <a:spcPts val="200"/>
                        </a:spcAft>
                        <a:buClrTx/>
                        <a:buSzTx/>
                        <a:buFont typeface="Arial" panose="020B0604020202020204" pitchFamily="34" charset="0"/>
                        <a:buNone/>
                        <a:tabLst/>
                        <a:defRPr/>
                      </a:pPr>
                      <a:r>
                        <a:rPr lang="en-US" sz="1000" b="0" kern="1200" noProof="0" dirty="0">
                          <a:solidFill>
                            <a:schemeClr val="tx1"/>
                          </a:solidFill>
                          <a:latin typeface="+mj-lt"/>
                          <a:ea typeface="+mn-ea"/>
                          <a:cs typeface="+mn-cs"/>
                        </a:rPr>
                        <a:t>Determine the appropriate path </a:t>
                      </a:r>
                      <a:r>
                        <a:rPr lang="en-US" sz="1000" kern="1200" noProof="0" dirty="0">
                          <a:solidFill>
                            <a:schemeClr val="tx1"/>
                          </a:solidFill>
                          <a:latin typeface="+mn-lt"/>
                          <a:ea typeface="+mn-ea"/>
                          <a:cs typeface="+mn-cs"/>
                        </a:rPr>
                        <a:t>to deploy MVP to Azure Power BI:</a:t>
                      </a:r>
                    </a:p>
                    <a:p>
                      <a:pPr marL="200025" marR="0" lvl="2" indent="-120650" algn="l" defTabSz="914400" rtl="0" eaLnBrk="1" fontAlgn="auto" latinLnBrk="0" hangingPunct="1">
                        <a:lnSpc>
                          <a:spcPct val="150000"/>
                        </a:lnSpc>
                        <a:spcBef>
                          <a:spcPts val="0"/>
                        </a:spcBef>
                        <a:spcAft>
                          <a:spcPts val="20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Migration from SSRS to Power BI</a:t>
                      </a:r>
                    </a:p>
                    <a:p>
                      <a:pPr marL="200025" marR="0" lvl="2" indent="-120650" algn="l" defTabSz="914400" rtl="0" eaLnBrk="1" fontAlgn="auto" latinLnBrk="0" hangingPunct="1">
                        <a:lnSpc>
                          <a:spcPct val="150000"/>
                        </a:lnSpc>
                        <a:spcBef>
                          <a:spcPts val="0"/>
                        </a:spcBef>
                        <a:spcAft>
                          <a:spcPts val="20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Migration from SSAS/AAS to Power BI</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768700">
                <a:tc>
                  <a:txBody>
                    <a:bodyPr/>
                    <a:lstStyle/>
                    <a:p>
                      <a:pPr algn="ctr"/>
                      <a:r>
                        <a:rPr lang="en-US" sz="1050" b="0" noProof="0" dirty="0">
                          <a:solidFill>
                            <a:schemeClr val="tx2"/>
                          </a:solidFill>
                          <a:latin typeface="+mj-lt"/>
                        </a:rPr>
                        <a:t>2</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50000"/>
                        </a:lnSpc>
                        <a:spcBef>
                          <a:spcPts val="0"/>
                        </a:spcBef>
                        <a:spcAft>
                          <a:spcPts val="200"/>
                        </a:spcAft>
                        <a:buClrTx/>
                        <a:buSzTx/>
                        <a:buFont typeface="Arial" panose="020B0604020202020204" pitchFamily="34" charset="0"/>
                        <a:buNone/>
                        <a:tabLst/>
                        <a:defRPr/>
                      </a:pPr>
                      <a:r>
                        <a:rPr lang="en-US" sz="1000" b="0" kern="1200" noProof="0" dirty="0">
                          <a:solidFill>
                            <a:schemeClr val="tx1"/>
                          </a:solidFill>
                          <a:latin typeface="+mj-lt"/>
                          <a:ea typeface="+mn-ea"/>
                          <a:cs typeface="+mn-cs"/>
                        </a:rPr>
                        <a:t>Identify the reports for migration and related complexities </a:t>
                      </a:r>
                      <a:r>
                        <a:rPr lang="en-US" sz="1000" kern="1200" noProof="0" dirty="0">
                          <a:solidFill>
                            <a:schemeClr val="tx1"/>
                          </a:solidFill>
                          <a:latin typeface="+mn-lt"/>
                          <a:ea typeface="+mn-ea"/>
                          <a:cs typeface="+mn-cs"/>
                        </a:rPr>
                        <a:t>associated to it for SSRS/SSAS/AAS to Power BI</a:t>
                      </a:r>
                    </a:p>
                    <a:p>
                      <a:pPr marL="200025" marR="0" lvl="2" indent="-120650" algn="l" defTabSz="914400" rtl="0" eaLnBrk="1" fontAlgn="auto" latinLnBrk="0" hangingPunct="1">
                        <a:lnSpc>
                          <a:spcPct val="150000"/>
                        </a:lnSpc>
                        <a:spcBef>
                          <a:spcPts val="0"/>
                        </a:spcBef>
                        <a:spcAft>
                          <a:spcPts val="20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Identify the SSRS/SSAS/AAS version, report types, and data sources</a:t>
                      </a:r>
                    </a:p>
                    <a:p>
                      <a:pPr marL="200025" marR="0" lvl="2" indent="-120650" algn="l" defTabSz="914400" rtl="0" eaLnBrk="1" fontAlgn="auto" latinLnBrk="0" hangingPunct="1">
                        <a:lnSpc>
                          <a:spcPct val="150000"/>
                        </a:lnSpc>
                        <a:spcBef>
                          <a:spcPts val="0"/>
                        </a:spcBef>
                        <a:spcAft>
                          <a:spcPts val="200"/>
                        </a:spcAft>
                        <a:buClrTx/>
                        <a:buSzTx/>
                        <a:buFont typeface="Arial" panose="020B0604020202020204" pitchFamily="34" charset="0"/>
                        <a:buChar char="•"/>
                        <a:tabLst/>
                        <a:defRPr/>
                      </a:pPr>
                      <a:r>
                        <a:rPr lang="en-US" sz="1000" kern="1200" noProof="0" dirty="0">
                          <a:solidFill>
                            <a:schemeClr val="tx1"/>
                          </a:solidFill>
                          <a:latin typeface="+mn-lt"/>
                          <a:ea typeface="+mn-ea"/>
                          <a:cs typeface="+mn-cs"/>
                        </a:rPr>
                        <a:t>Ensure the License requirement</a:t>
                      </a:r>
                    </a:p>
                  </a:txBody>
                  <a:tcP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334765">
                <a:tc>
                  <a:txBody>
                    <a:bodyPr/>
                    <a:lstStyle/>
                    <a:p>
                      <a:pPr algn="ctr"/>
                      <a:r>
                        <a:rPr lang="en-US" sz="1050" b="0" noProof="0" dirty="0">
                          <a:solidFill>
                            <a:schemeClr val="tx2"/>
                          </a:solidFill>
                          <a:latin typeface="+mj-lt"/>
                        </a:rPr>
                        <a:t>3</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noProof="0" dirty="0">
                          <a:solidFill>
                            <a:schemeClr val="tx1"/>
                          </a:solidFill>
                          <a:latin typeface="+mj-lt"/>
                          <a:ea typeface="+mn-ea"/>
                          <a:cs typeface="+mn-cs"/>
                        </a:rPr>
                        <a:t>Convert, publish, and validate reports</a:t>
                      </a:r>
                      <a:r>
                        <a:rPr lang="en-US" sz="1000" kern="1200" noProof="0" dirty="0">
                          <a:solidFill>
                            <a:schemeClr val="tx1"/>
                          </a:solidFill>
                          <a:latin typeface="+mn-lt"/>
                          <a:ea typeface="+mn-ea"/>
                          <a:cs typeface="+mn-cs"/>
                        </a:rPr>
                        <a:t> ensuring compatibility and performance, using migration tools </a:t>
                      </a:r>
                    </a:p>
                  </a:txBody>
                  <a:tcPr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1750739"/>
                  </a:ext>
                </a:extLst>
              </a:tr>
              <a:tr h="334765">
                <a:tc>
                  <a:txBody>
                    <a:bodyPr/>
                    <a:lstStyle/>
                    <a:p>
                      <a:pPr algn="ctr"/>
                      <a:r>
                        <a:rPr lang="en-US" sz="1050" b="0" noProof="0" dirty="0">
                          <a:solidFill>
                            <a:schemeClr val="tx2"/>
                          </a:solidFill>
                          <a:latin typeface="+mj-lt"/>
                        </a:rPr>
                        <a:t>4</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noProof="0" dirty="0">
                          <a:solidFill>
                            <a:schemeClr val="tx1"/>
                          </a:solidFill>
                          <a:latin typeface="+mj-lt"/>
                          <a:ea typeface="+mn-ea"/>
                          <a:cs typeface="+mn-cs"/>
                        </a:rPr>
                        <a:t>Provision fabric capacity</a:t>
                      </a:r>
                      <a:r>
                        <a:rPr lang="en-US" sz="1000" kern="1200" noProof="0" dirty="0">
                          <a:solidFill>
                            <a:schemeClr val="tx1"/>
                          </a:solidFill>
                          <a:latin typeface="+mn-lt"/>
                          <a:ea typeface="+mn-ea"/>
                          <a:cs typeface="+mn-cs"/>
                        </a:rPr>
                        <a:t> and configure network security</a:t>
                      </a:r>
                    </a:p>
                  </a:txBody>
                  <a:tcPr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4008352"/>
                  </a:ext>
                </a:extLst>
              </a:tr>
              <a:tr h="334765">
                <a:tc>
                  <a:txBody>
                    <a:bodyPr/>
                    <a:lstStyle/>
                    <a:p>
                      <a:pPr algn="ctr"/>
                      <a:r>
                        <a:rPr lang="en-US" sz="1050" b="0" noProof="0" dirty="0">
                          <a:solidFill>
                            <a:schemeClr val="tx2"/>
                          </a:solidFill>
                          <a:latin typeface="+mj-lt"/>
                        </a:rPr>
                        <a:t>5</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noProof="0" dirty="0">
                          <a:solidFill>
                            <a:schemeClr val="tx1"/>
                          </a:solidFill>
                          <a:latin typeface="+mj-lt"/>
                          <a:ea typeface="+mn-ea"/>
                          <a:cs typeface="+mn-cs"/>
                        </a:rPr>
                        <a:t>Reassign and validate Workspace </a:t>
                      </a:r>
                      <a:r>
                        <a:rPr lang="en-US" sz="1000" kern="1200" noProof="0" dirty="0">
                          <a:solidFill>
                            <a:schemeClr val="tx1"/>
                          </a:solidFill>
                          <a:latin typeface="+mn-lt"/>
                          <a:ea typeface="+mn-ea"/>
                          <a:cs typeface="+mn-cs"/>
                        </a:rPr>
                        <a:t>to ensure compatibility and optimize performance</a:t>
                      </a:r>
                    </a:p>
                  </a:txBody>
                  <a:tcPr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9152401"/>
                  </a:ext>
                </a:extLst>
              </a:tr>
              <a:tr h="334765">
                <a:tc>
                  <a:txBody>
                    <a:bodyPr/>
                    <a:lstStyle/>
                    <a:p>
                      <a:pPr algn="ctr"/>
                      <a:r>
                        <a:rPr lang="en-US" sz="1050" b="0" noProof="0" dirty="0">
                          <a:solidFill>
                            <a:schemeClr val="tx2"/>
                          </a:solidFill>
                          <a:latin typeface="+mj-lt"/>
                        </a:rPr>
                        <a:t>6</a:t>
                      </a:r>
                    </a:p>
                  </a:txBody>
                  <a:tcP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kern="1200" noProof="0" dirty="0">
                          <a:solidFill>
                            <a:schemeClr val="tx1"/>
                          </a:solidFill>
                          <a:latin typeface="+mj-lt"/>
                          <a:ea typeface="+mn-ea"/>
                          <a:cs typeface="+mn-cs"/>
                        </a:rPr>
                        <a:t>Handover</a:t>
                      </a:r>
                      <a:r>
                        <a:rPr lang="en-US" sz="1000" kern="1200" noProof="0" dirty="0">
                          <a:solidFill>
                            <a:schemeClr val="tx1"/>
                          </a:solidFill>
                          <a:latin typeface="+mn-lt"/>
                          <a:ea typeface="+mn-ea"/>
                          <a:cs typeface="+mn-cs"/>
                        </a:rPr>
                        <a:t> </a:t>
                      </a:r>
                      <a:r>
                        <a:rPr lang="en-US" sz="1000" b="0" kern="1200" noProof="0" dirty="0">
                          <a:solidFill>
                            <a:schemeClr val="tx1"/>
                          </a:solidFill>
                          <a:latin typeface="+mj-lt"/>
                          <a:ea typeface="+mn-ea"/>
                          <a:cs typeface="+mn-cs"/>
                        </a:rPr>
                        <a:t>to partner </a:t>
                      </a:r>
                      <a:r>
                        <a:rPr lang="en-US" sz="1000" kern="1200" noProof="0" dirty="0">
                          <a:solidFill>
                            <a:schemeClr val="tx1"/>
                          </a:solidFill>
                          <a:latin typeface="+mn-lt"/>
                          <a:ea typeface="+mn-ea"/>
                          <a:cs typeface="+mn-cs"/>
                        </a:rPr>
                        <a:t>for any infrastructure or networking related services </a:t>
                      </a:r>
                    </a:p>
                  </a:txBody>
                  <a:tcPr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0465117"/>
                  </a:ext>
                </a:extLst>
              </a:tr>
              <a:tr h="573884">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900" b="0" i="0" u="none" strike="noStrike" kern="1200" cap="none" spc="0" normalizeH="0" baseline="0" noProof="0" dirty="0">
                          <a:ln>
                            <a:noFill/>
                          </a:ln>
                          <a:solidFill>
                            <a:schemeClr val="tx1"/>
                          </a:solidFill>
                          <a:effectLst/>
                          <a:uLnTx/>
                          <a:uFillTx/>
                          <a:latin typeface="+mn-lt"/>
                          <a:ea typeface="+mn-ea"/>
                          <a:cs typeface="Segoe Sans Text" pitchFamily="2" charset="0"/>
                        </a:rPr>
                        <a:t>attending checkpoint meetings; and implementing user communications, documentation, training, and change management. </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r h="458554">
                <a:tc gridSpan="2">
                  <a:txBody>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dirty="0">
                          <a:ln>
                            <a:noFill/>
                          </a:ln>
                          <a:solidFill>
                            <a:schemeClr val="tx1"/>
                          </a:solidFill>
                          <a:effectLst/>
                          <a:uLnTx/>
                          <a:uFillTx/>
                          <a:latin typeface="+mn-lt"/>
                          <a:ea typeface="+mn-ea"/>
                          <a:cs typeface="+mn-cs"/>
                        </a:rPr>
                        <a:t>Estimated duration for completing all activities in a typical engagement is within 3 weeks per scenario identified, when all the requirements are met, and customer and partner are ready for execution</a:t>
                      </a:r>
                    </a:p>
                  </a:txBody>
                  <a:tcPr>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162794223"/>
                  </a:ext>
                </a:extLst>
              </a:tr>
            </a:tbl>
          </a:graphicData>
        </a:graphic>
      </p:graphicFrame>
      <p:sp>
        <p:nvSpPr>
          <p:cNvPr id="3" name="TextBox 2">
            <a:extLst>
              <a:ext uri="{FF2B5EF4-FFF2-40B4-BE49-F238E27FC236}">
                <a16:creationId xmlns:a16="http://schemas.microsoft.com/office/drawing/2014/main" id="{28597FC6-1BC4-BFEE-E3DD-0EBD48EAE5F9}"/>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4061554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021BC-074C-8881-D45E-5335149AA610}"/>
            </a:ext>
          </a:extLst>
        </p:cNvPr>
        <p:cNvGrpSpPr/>
        <p:nvPr/>
      </p:nvGrpSpPr>
      <p:grpSpPr>
        <a:xfrm>
          <a:off x="0" y="0"/>
          <a:ext cx="0" cy="0"/>
          <a:chOff x="0" y="0"/>
          <a:chExt cx="0" cy="0"/>
        </a:xfrm>
      </p:grpSpPr>
      <p:sp>
        <p:nvSpPr>
          <p:cNvPr id="102" name="Title 101">
            <a:extLst>
              <a:ext uri="{FF2B5EF4-FFF2-40B4-BE49-F238E27FC236}">
                <a16:creationId xmlns:a16="http://schemas.microsoft.com/office/drawing/2014/main" id="{73905DB9-99ED-FD86-237C-341CB6371877}"/>
              </a:ext>
            </a:extLst>
          </p:cNvPr>
          <p:cNvSpPr>
            <a:spLocks noGrp="1"/>
          </p:cNvSpPr>
          <p:nvPr>
            <p:ph type="title"/>
          </p:nvPr>
        </p:nvSpPr>
        <p:spPr>
          <a:xfrm>
            <a:off x="588963" y="548489"/>
            <a:ext cx="8704666" cy="748509"/>
          </a:xfrm>
        </p:spPr>
        <p:txBody>
          <a:bodyPr>
            <a:noAutofit/>
          </a:bodyPr>
          <a:lstStyle/>
          <a:p>
            <a:pPr marL="0" algn="l" rtl="0" eaLnBrk="1" latinLnBrk="0" hangingPunct="1">
              <a:buNone/>
            </a:pPr>
            <a:r>
              <a:rPr lang="en-US" sz="2800" noProof="0" dirty="0"/>
              <a:t>Analytics</a:t>
            </a:r>
            <a:br>
              <a:rPr lang="en-US" sz="2800" noProof="0" dirty="0"/>
            </a:br>
            <a:r>
              <a:rPr lang="en-US" sz="1800" kern="1200" noProof="0" dirty="0">
                <a:solidFill>
                  <a:srgbClr val="000000"/>
                </a:solidFill>
                <a:effectLst/>
                <a:latin typeface="Segoe Sans Text Semibold" pitchFamily="2" charset="0"/>
                <a:ea typeface="+mn-ea"/>
                <a:cs typeface="+mn-cs"/>
              </a:rPr>
              <a:t>Power BI Migration Scope</a:t>
            </a:r>
            <a:br>
              <a:rPr lang="en-US" sz="1400" noProof="0" dirty="0">
                <a:effectLst/>
              </a:rPr>
            </a:br>
            <a:endParaRPr lang="en-US" sz="2800" noProof="0" dirty="0"/>
          </a:p>
        </p:txBody>
      </p:sp>
      <p:sp>
        <p:nvSpPr>
          <p:cNvPr id="22" name="Rounded Rectangle 55">
            <a:extLst>
              <a:ext uri="{FF2B5EF4-FFF2-40B4-BE49-F238E27FC236}">
                <a16:creationId xmlns:a16="http://schemas.microsoft.com/office/drawing/2014/main" id="{4AAD8185-F18B-8B6A-D40F-B62D221B7D25}"/>
              </a:ext>
              <a:ext uri="{C183D7F6-B498-43B3-948B-1728B52AA6E4}">
                <adec:decorative xmlns:adec="http://schemas.microsoft.com/office/drawing/2017/decorative" val="1"/>
              </a:ext>
            </a:extLst>
          </p:cNvPr>
          <p:cNvSpPr>
            <a:spLocks/>
          </p:cNvSpPr>
          <p:nvPr/>
        </p:nvSpPr>
        <p:spPr bwMode="auto">
          <a:xfrm>
            <a:off x="586740" y="1272540"/>
            <a:ext cx="5453761" cy="4831560"/>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24" name="TextBox 23">
            <a:extLst>
              <a:ext uri="{FF2B5EF4-FFF2-40B4-BE49-F238E27FC236}">
                <a16:creationId xmlns:a16="http://schemas.microsoft.com/office/drawing/2014/main" id="{86EF97AB-BBFE-D30B-CEBB-2BB3FE67F59D}"/>
              </a:ext>
            </a:extLst>
          </p:cNvPr>
          <p:cNvSpPr txBox="1"/>
          <p:nvPr/>
        </p:nvSpPr>
        <p:spPr>
          <a:xfrm>
            <a:off x="680403" y="1363980"/>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1: Factory - Led</a:t>
            </a:r>
          </a:p>
        </p:txBody>
      </p:sp>
      <p:sp>
        <p:nvSpPr>
          <p:cNvPr id="2" name="Rounded Rectangle 55">
            <a:extLst>
              <a:ext uri="{FF2B5EF4-FFF2-40B4-BE49-F238E27FC236}">
                <a16:creationId xmlns:a16="http://schemas.microsoft.com/office/drawing/2014/main" id="{1CED6F47-4C5F-CEC4-D17B-FC0BE2ACAFCB}"/>
              </a:ext>
              <a:ext uri="{C183D7F6-B498-43B3-948B-1728B52AA6E4}">
                <adec:decorative xmlns:adec="http://schemas.microsoft.com/office/drawing/2017/decorative" val="1"/>
              </a:ext>
            </a:extLst>
          </p:cNvPr>
          <p:cNvSpPr>
            <a:spLocks/>
          </p:cNvSpPr>
          <p:nvPr/>
        </p:nvSpPr>
        <p:spPr bwMode="auto">
          <a:xfrm>
            <a:off x="6152452" y="1260965"/>
            <a:ext cx="5453761" cy="4792593"/>
          </a:xfrm>
          <a:prstGeom prst="roundRect">
            <a:avLst>
              <a:gd name="adj" fmla="val 247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2000" b="1" i="0" u="none" strike="noStrike" kern="1200" cap="none" spc="0" normalizeH="0" baseline="0" noProof="0" dirty="0">
              <a:ln w="3175">
                <a:noFill/>
              </a:ln>
              <a:gradFill>
                <a:gsLst>
                  <a:gs pos="9174">
                    <a:srgbClr val="000000"/>
                  </a:gs>
                  <a:gs pos="42000">
                    <a:srgbClr val="000000"/>
                  </a:gs>
                </a:gsLst>
                <a:path path="circle">
                  <a:fillToRect l="100000" t="100000"/>
                </a:path>
              </a:gradFill>
              <a:effectLst/>
              <a:uLnTx/>
              <a:uFillTx/>
              <a:latin typeface="Segoe UI Variable Display Semibold" pitchFamily="2" charset="0"/>
              <a:ea typeface="+mn-ea"/>
              <a:cs typeface="Segoe UI" pitchFamily="34" charset="0"/>
            </a:endParaRPr>
          </a:p>
        </p:txBody>
      </p:sp>
      <p:sp>
        <p:nvSpPr>
          <p:cNvPr id="4" name="TextBox 3">
            <a:extLst>
              <a:ext uri="{FF2B5EF4-FFF2-40B4-BE49-F238E27FC236}">
                <a16:creationId xmlns:a16="http://schemas.microsoft.com/office/drawing/2014/main" id="{D6B57E51-56B0-C06D-2095-F9E1FCC09A70}"/>
              </a:ext>
            </a:extLst>
          </p:cNvPr>
          <p:cNvSpPr txBox="1"/>
          <p:nvPr/>
        </p:nvSpPr>
        <p:spPr>
          <a:xfrm>
            <a:off x="6240716" y="1329255"/>
            <a:ext cx="5270881" cy="30924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Scope 2: Unified / ISD/ Partner / Customer – Led*</a:t>
            </a:r>
          </a:p>
        </p:txBody>
      </p:sp>
      <p:cxnSp>
        <p:nvCxnSpPr>
          <p:cNvPr id="6" name="Straight Connector 5">
            <a:extLst>
              <a:ext uri="{FF2B5EF4-FFF2-40B4-BE49-F238E27FC236}">
                <a16:creationId xmlns:a16="http://schemas.microsoft.com/office/drawing/2014/main" id="{D3E58D5B-34FD-5053-A923-AA901936DF3C}"/>
              </a:ext>
              <a:ext uri="{C183D7F6-B498-43B3-948B-1728B52AA6E4}">
                <adec:decorative xmlns:adec="http://schemas.microsoft.com/office/drawing/2017/decorative" val="1"/>
              </a:ext>
            </a:extLst>
          </p:cNvPr>
          <p:cNvCxnSpPr>
            <a:cxnSpLocks/>
          </p:cNvCxnSpPr>
          <p:nvPr/>
        </p:nvCxnSpPr>
        <p:spPr>
          <a:xfrm>
            <a:off x="6438627" y="4685741"/>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BC810D6-FE97-DE07-4E95-19315C7FF03E}"/>
              </a:ext>
              <a:ext uri="{C183D7F6-B498-43B3-948B-1728B52AA6E4}">
                <adec:decorative xmlns:adec="http://schemas.microsoft.com/office/drawing/2017/decorative" val="1"/>
              </a:ext>
            </a:extLst>
          </p:cNvPr>
          <p:cNvCxnSpPr>
            <a:cxnSpLocks/>
          </p:cNvCxnSpPr>
          <p:nvPr/>
        </p:nvCxnSpPr>
        <p:spPr>
          <a:xfrm>
            <a:off x="6438627" y="4013388"/>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E913F41-ADBA-9B22-30D7-A3763577AE7D}"/>
              </a:ext>
              <a:ext uri="{C183D7F6-B498-43B3-948B-1728B52AA6E4}">
                <adec:decorative xmlns:adec="http://schemas.microsoft.com/office/drawing/2017/decorative" val="1"/>
              </a:ext>
            </a:extLst>
          </p:cNvPr>
          <p:cNvCxnSpPr>
            <a:cxnSpLocks/>
          </p:cNvCxnSpPr>
          <p:nvPr/>
        </p:nvCxnSpPr>
        <p:spPr>
          <a:xfrm>
            <a:off x="6438627" y="3134847"/>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ED5CAC-69EE-FC8A-A89E-A4BDD51D0E18}"/>
              </a:ext>
              <a:ext uri="{C183D7F6-B498-43B3-948B-1728B52AA6E4}">
                <adec:decorative xmlns:adec="http://schemas.microsoft.com/office/drawing/2017/decorative" val="1"/>
              </a:ext>
            </a:extLst>
          </p:cNvPr>
          <p:cNvCxnSpPr>
            <a:cxnSpLocks/>
          </p:cNvCxnSpPr>
          <p:nvPr/>
        </p:nvCxnSpPr>
        <p:spPr>
          <a:xfrm>
            <a:off x="6438627" y="2453529"/>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107847E-E983-96C4-F007-1136D0574F41}"/>
              </a:ext>
            </a:extLst>
          </p:cNvPr>
          <p:cNvSpPr/>
          <p:nvPr/>
        </p:nvSpPr>
        <p:spPr bwMode="auto">
          <a:xfrm>
            <a:off x="6289180" y="18758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Oval 12">
            <a:extLst>
              <a:ext uri="{FF2B5EF4-FFF2-40B4-BE49-F238E27FC236}">
                <a16:creationId xmlns:a16="http://schemas.microsoft.com/office/drawing/2014/main" id="{145C015C-EA42-C6C4-0291-792AFA1BBF7C}"/>
              </a:ext>
            </a:extLst>
          </p:cNvPr>
          <p:cNvSpPr/>
          <p:nvPr/>
        </p:nvSpPr>
        <p:spPr bwMode="auto">
          <a:xfrm>
            <a:off x="6283989" y="251230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4" name="Oval 13">
            <a:extLst>
              <a:ext uri="{FF2B5EF4-FFF2-40B4-BE49-F238E27FC236}">
                <a16:creationId xmlns:a16="http://schemas.microsoft.com/office/drawing/2014/main" id="{8E27AA5B-0B2C-8843-8504-673CDC6A3B5C}"/>
              </a:ext>
            </a:extLst>
          </p:cNvPr>
          <p:cNvSpPr/>
          <p:nvPr/>
        </p:nvSpPr>
        <p:spPr bwMode="auto">
          <a:xfrm>
            <a:off x="6283989" y="3203387"/>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Oval 14">
            <a:extLst>
              <a:ext uri="{FF2B5EF4-FFF2-40B4-BE49-F238E27FC236}">
                <a16:creationId xmlns:a16="http://schemas.microsoft.com/office/drawing/2014/main" id="{A9BF9A9A-7E53-82FF-9B80-A51959487101}"/>
              </a:ext>
            </a:extLst>
          </p:cNvPr>
          <p:cNvSpPr/>
          <p:nvPr/>
        </p:nvSpPr>
        <p:spPr bwMode="auto">
          <a:xfrm>
            <a:off x="6283989" y="406371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Oval 15">
            <a:extLst>
              <a:ext uri="{FF2B5EF4-FFF2-40B4-BE49-F238E27FC236}">
                <a16:creationId xmlns:a16="http://schemas.microsoft.com/office/drawing/2014/main" id="{5342511D-DC6D-5FB1-AD28-077E436F9608}"/>
              </a:ext>
            </a:extLst>
          </p:cNvPr>
          <p:cNvSpPr/>
          <p:nvPr/>
        </p:nvSpPr>
        <p:spPr bwMode="auto">
          <a:xfrm>
            <a:off x="6283989" y="4826551"/>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D1534ACD-23C2-9918-F900-A95817FC4C17}"/>
              </a:ext>
            </a:extLst>
          </p:cNvPr>
          <p:cNvSpPr txBox="1"/>
          <p:nvPr/>
        </p:nvSpPr>
        <p:spPr>
          <a:xfrm>
            <a:off x="6438627" y="1786465"/>
            <a:ext cx="6974558" cy="371069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Architecture:</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Re-architecture or architecture evaluation</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Capacity sizing and cost estimation activities</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Performance tuning and optimization</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Performance testing and tuning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Performance benchmarking</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Environment prep/config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Capacity provisioning</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VM setup /Gateway install</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Network Config</a:t>
            </a: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DevOps/Integrations</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CI/CD setup and testing </a:t>
            </a:r>
          </a:p>
          <a:p>
            <a:pPr marL="233363" marR="0" lvl="1" indent="-138113"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Testing and configuring upstream/downstream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15000"/>
              </a:lnSpc>
              <a:spcBef>
                <a:spcPts val="50"/>
              </a:spcBef>
              <a:spcAft>
                <a:spcPts val="20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Segoe Sans Text Semibold"/>
                <a:ea typeface="+mn-ea"/>
                <a:cs typeface="+mn-cs"/>
              </a:rPr>
              <a:t>Post Migration Operation</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On going DR/Backup/Monitoring support</a:t>
            </a:r>
          </a:p>
          <a:p>
            <a:pPr marL="233363" marR="0" lvl="1" indent="-138113" algn="l" defTabSz="914400" rtl="0" eaLnBrk="1" fontAlgn="auto" latinLnBrk="0" hangingPunct="1">
              <a:lnSpc>
                <a:spcPct val="115000"/>
              </a:lnSpc>
              <a:spcBef>
                <a:spcPts val="0"/>
              </a:spcBef>
              <a:spcAft>
                <a:spcPts val="200"/>
              </a:spcAft>
              <a:buClrTx/>
              <a:buSzTx/>
              <a:buFont typeface="Arial" panose="020B0604020202020204" pitchFamily="34" charset="0"/>
              <a:buChar char="•"/>
              <a:tabLst>
                <a:tab pos="457200" algn="l"/>
              </a:tabLst>
              <a:defRPr/>
            </a:pPr>
            <a:r>
              <a:rPr kumimoji="0" lang="en-US" sz="1000" b="0" i="0" u="none" strike="noStrike" kern="0" cap="none" spc="0" normalizeH="0" baseline="0" noProof="0" dirty="0">
                <a:ln>
                  <a:noFill/>
                </a:ln>
                <a:solidFill>
                  <a:srgbClr val="000000"/>
                </a:solidFill>
                <a:effectLst/>
                <a:uLnTx/>
                <a:uFillTx/>
                <a:latin typeface="Segoe Sans Text"/>
                <a:ea typeface="+mn-ea"/>
                <a:cs typeface="+mn-cs"/>
              </a:rPr>
              <a:t>Cost optimization and FinOps</a:t>
            </a:r>
          </a:p>
        </p:txBody>
      </p:sp>
      <p:sp>
        <p:nvSpPr>
          <p:cNvPr id="29" name="TextBox 28">
            <a:extLst>
              <a:ext uri="{FF2B5EF4-FFF2-40B4-BE49-F238E27FC236}">
                <a16:creationId xmlns:a16="http://schemas.microsoft.com/office/drawing/2014/main" id="{1E09AB71-DA0D-8D21-1231-98CC7379BBD6}"/>
              </a:ext>
            </a:extLst>
          </p:cNvPr>
          <p:cNvSpPr txBox="1"/>
          <p:nvPr/>
        </p:nvSpPr>
        <p:spPr>
          <a:xfrm>
            <a:off x="1028173" y="3002616"/>
            <a:ext cx="4910328" cy="579646"/>
          </a:xfrm>
          <a:prstGeom prst="rect">
            <a:avLst/>
          </a:prstGeom>
          <a:noFill/>
        </p:spPr>
        <p:txBody>
          <a:bodyPr wrap="square" lIns="0" tIns="0" rIns="0" bIns="0" anchor="t">
            <a:spAutoFit/>
          </a:bodyPr>
          <a:lstStyle/>
          <a:p>
            <a:pPr lvl="0">
              <a:spcAft>
                <a:spcPts val="200"/>
              </a:spcAft>
              <a:defRPr/>
            </a:pPr>
            <a:r>
              <a:rPr lang="en-US" sz="1400" kern="0" noProof="0" dirty="0">
                <a:latin typeface="+mj-lt"/>
                <a:cs typeface="Segoe Sans Text" pitchFamily="2" charset="0"/>
              </a:rPr>
              <a:t>What:</a:t>
            </a:r>
            <a:endParaRPr lang="en-US" sz="1400" noProof="0" dirty="0">
              <a:latin typeface="+mj-lt"/>
              <a:cs typeface="Segoe Sans Text" pitchFamily="2" charset="0"/>
            </a:endParaRPr>
          </a:p>
          <a:p>
            <a:pPr marL="228600" lvl="1" indent="-128588">
              <a:spcAft>
                <a:spcPts val="200"/>
              </a:spcAft>
              <a:buFont typeface="Arial" panose="020B0604020202020204" pitchFamily="34" charset="0"/>
              <a:buChar char="•"/>
              <a:defRPr/>
            </a:pPr>
            <a:r>
              <a:rPr lang="en-US" sz="1100" noProof="0" dirty="0">
                <a:latin typeface="Segoe Sans Text" pitchFamily="2" charset="0"/>
                <a:cs typeface="Segoe Sans Text" pitchFamily="2" charset="0"/>
              </a:rPr>
              <a:t>SQL Server Reporting Services (SSRS) and Analysis Services (SSAS/AAS) can be migrated easily to Power BI. </a:t>
            </a:r>
          </a:p>
        </p:txBody>
      </p:sp>
      <p:sp>
        <p:nvSpPr>
          <p:cNvPr id="31" name="TextBox 30">
            <a:extLst>
              <a:ext uri="{FF2B5EF4-FFF2-40B4-BE49-F238E27FC236}">
                <a16:creationId xmlns:a16="http://schemas.microsoft.com/office/drawing/2014/main" id="{7E678141-CB85-7B9C-55E3-E145C5B436C8}"/>
              </a:ext>
            </a:extLst>
          </p:cNvPr>
          <p:cNvSpPr txBox="1"/>
          <p:nvPr/>
        </p:nvSpPr>
        <p:spPr>
          <a:xfrm>
            <a:off x="1028173" y="4064878"/>
            <a:ext cx="4910328" cy="579646"/>
          </a:xfrm>
          <a:prstGeom prst="rect">
            <a:avLst/>
          </a:prstGeom>
          <a:noFill/>
        </p:spPr>
        <p:txBody>
          <a:bodyPr wrap="square" lIns="0" tIns="0" rIns="0" bIns="0" anchor="t">
            <a:spAutoFit/>
          </a:bodyPr>
          <a:lstStyle/>
          <a:p>
            <a:pPr lvl="0">
              <a:spcAft>
                <a:spcPts val="200"/>
              </a:spcAft>
              <a:defRPr/>
            </a:pPr>
            <a:r>
              <a:rPr lang="en-US" sz="1400" kern="0" noProof="0" dirty="0">
                <a:latin typeface="+mj-lt"/>
                <a:cs typeface="Segoe Sans Text" pitchFamily="2" charset="0"/>
              </a:rPr>
              <a:t>How:</a:t>
            </a:r>
          </a:p>
          <a:p>
            <a:pPr marL="228600" lvl="1" indent="-128588">
              <a:spcAft>
                <a:spcPts val="200"/>
              </a:spcAft>
              <a:buFont typeface="Arial,Sans-Serif"/>
              <a:buChar char="•"/>
              <a:defRPr/>
            </a:pPr>
            <a:r>
              <a:rPr lang="en-US" sz="1100" kern="0" noProof="0" dirty="0">
                <a:latin typeface="Segoe Sans Text" pitchFamily="2" charset="0"/>
                <a:cs typeface="Segoe Sans Text" pitchFamily="2" charset="0"/>
              </a:rPr>
              <a:t>Leverage first-party tooling to migrate customers out of legacy solutions like SSRS &amp; SSAS/AAS into Power BI and Microsoft Fabric</a:t>
            </a:r>
            <a:endParaRPr lang="en-US" sz="2400" noProof="0" dirty="0">
              <a:latin typeface="Segoe Sans Text" pitchFamily="2" charset="0"/>
              <a:cs typeface="Segoe Sans Text" pitchFamily="2" charset="0"/>
            </a:endParaRPr>
          </a:p>
        </p:txBody>
      </p:sp>
      <p:sp>
        <p:nvSpPr>
          <p:cNvPr id="33" name="TextBox 32">
            <a:extLst>
              <a:ext uri="{FF2B5EF4-FFF2-40B4-BE49-F238E27FC236}">
                <a16:creationId xmlns:a16="http://schemas.microsoft.com/office/drawing/2014/main" id="{1238FA12-53E8-4DBB-C0A1-346B57F6F2BE}"/>
              </a:ext>
            </a:extLst>
          </p:cNvPr>
          <p:cNvSpPr txBox="1"/>
          <p:nvPr/>
        </p:nvSpPr>
        <p:spPr>
          <a:xfrm>
            <a:off x="1028173" y="1786465"/>
            <a:ext cx="4910328" cy="656590"/>
          </a:xfrm>
          <a:prstGeom prst="rect">
            <a:avLst/>
          </a:prstGeom>
          <a:noFill/>
        </p:spPr>
        <p:txBody>
          <a:bodyPr wrap="square" lIns="0" tIns="0" rIns="0" bIns="0">
            <a:spAutoFit/>
          </a:bodyPr>
          <a:lstStyle/>
          <a:p>
            <a:pPr lvl="0">
              <a:spcAft>
                <a:spcPts val="200"/>
              </a:spcAft>
              <a:defRPr/>
            </a:pPr>
            <a:r>
              <a:rPr lang="en-US" sz="1400" kern="0" noProof="0" dirty="0">
                <a:latin typeface="+mj-lt"/>
                <a:cs typeface="Segoe Sans Text" pitchFamily="2" charset="0"/>
              </a:rPr>
              <a:t>Offerings:</a:t>
            </a:r>
          </a:p>
          <a:p>
            <a:pPr marL="223838" lvl="1" indent="-123825">
              <a:spcAft>
                <a:spcPts val="600"/>
              </a:spcAft>
              <a:buFont typeface="Arial" panose="020B0604020202020204" pitchFamily="34" charset="0"/>
              <a:buChar char="•"/>
              <a:defRPr/>
            </a:pPr>
            <a:r>
              <a:rPr lang="en-US" sz="1100" kern="0" noProof="0" dirty="0">
                <a:latin typeface="Segoe Sans Text" pitchFamily="2" charset="0"/>
                <a:cs typeface="Segoe Sans Text" pitchFamily="2" charset="0"/>
              </a:rPr>
              <a:t>SSRS to PBI</a:t>
            </a:r>
          </a:p>
          <a:p>
            <a:pPr marL="223838" lvl="1" indent="-123825">
              <a:spcAft>
                <a:spcPts val="600"/>
              </a:spcAft>
              <a:buFont typeface="Arial" panose="020B0604020202020204" pitchFamily="34" charset="0"/>
              <a:buChar char="•"/>
              <a:defRPr/>
            </a:pPr>
            <a:r>
              <a:rPr lang="en-US" sz="1100" kern="0" noProof="0" dirty="0">
                <a:latin typeface="Segoe Sans Text" pitchFamily="2" charset="0"/>
                <a:cs typeface="Segoe Sans Text" pitchFamily="2" charset="0"/>
              </a:rPr>
              <a:t>SSAS/AAS to PBI</a:t>
            </a:r>
          </a:p>
        </p:txBody>
      </p:sp>
      <p:sp>
        <p:nvSpPr>
          <p:cNvPr id="35" name="Oval 34">
            <a:extLst>
              <a:ext uri="{FF2B5EF4-FFF2-40B4-BE49-F238E27FC236}">
                <a16:creationId xmlns:a16="http://schemas.microsoft.com/office/drawing/2014/main" id="{77DE1F26-3A34-D46A-C0D5-776BD8F270ED}"/>
              </a:ext>
            </a:extLst>
          </p:cNvPr>
          <p:cNvSpPr/>
          <p:nvPr/>
        </p:nvSpPr>
        <p:spPr bwMode="auto">
          <a:xfrm>
            <a:off x="775653" y="1837532"/>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5A3F47BE-3ECE-7965-8210-D348268029E8}"/>
              </a:ext>
            </a:extLst>
          </p:cNvPr>
          <p:cNvSpPr/>
          <p:nvPr/>
        </p:nvSpPr>
        <p:spPr bwMode="auto">
          <a:xfrm>
            <a:off x="783341" y="3038334"/>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7" name="Oval 36">
            <a:extLst>
              <a:ext uri="{FF2B5EF4-FFF2-40B4-BE49-F238E27FC236}">
                <a16:creationId xmlns:a16="http://schemas.microsoft.com/office/drawing/2014/main" id="{FA46106C-93B6-4BA9-34D6-290FA77FEF9F}"/>
              </a:ext>
            </a:extLst>
          </p:cNvPr>
          <p:cNvSpPr/>
          <p:nvPr/>
        </p:nvSpPr>
        <p:spPr bwMode="auto">
          <a:xfrm>
            <a:off x="783341" y="4100595"/>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44" name="Straight Connector 43">
            <a:extLst>
              <a:ext uri="{FF2B5EF4-FFF2-40B4-BE49-F238E27FC236}">
                <a16:creationId xmlns:a16="http://schemas.microsoft.com/office/drawing/2014/main" id="{DEAFA373-681C-574F-5C0B-99F9F05E435F}"/>
              </a:ext>
              <a:ext uri="{C183D7F6-B498-43B3-948B-1728B52AA6E4}">
                <adec:decorative xmlns:adec="http://schemas.microsoft.com/office/drawing/2017/decorative" val="1"/>
              </a:ext>
            </a:extLst>
          </p:cNvPr>
          <p:cNvCxnSpPr>
            <a:cxnSpLocks/>
          </p:cNvCxnSpPr>
          <p:nvPr/>
        </p:nvCxnSpPr>
        <p:spPr>
          <a:xfrm>
            <a:off x="1082454" y="3876873"/>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4439D5D-02EA-C2F1-F12C-0A5724756DEC}"/>
              </a:ext>
              <a:ext uri="{C183D7F6-B498-43B3-948B-1728B52AA6E4}">
                <adec:decorative xmlns:adec="http://schemas.microsoft.com/office/drawing/2017/decorative" val="1"/>
              </a:ext>
            </a:extLst>
          </p:cNvPr>
          <p:cNvCxnSpPr>
            <a:cxnSpLocks/>
          </p:cNvCxnSpPr>
          <p:nvPr/>
        </p:nvCxnSpPr>
        <p:spPr>
          <a:xfrm>
            <a:off x="1068768" y="2808185"/>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1FEA5CB-7943-E42B-FBEF-E3742CBE6C82}"/>
              </a:ext>
            </a:extLst>
          </p:cNvPr>
          <p:cNvSpPr txBox="1"/>
          <p:nvPr/>
        </p:nvSpPr>
        <p:spPr>
          <a:xfrm>
            <a:off x="920501" y="4738820"/>
            <a:ext cx="490943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0" cap="none" spc="0" normalizeH="0" baseline="0" noProof="0" dirty="0">
                <a:ln>
                  <a:noFill/>
                </a:ln>
                <a:effectLst/>
                <a:uLnTx/>
                <a:uFillTx/>
                <a:latin typeface="Segoe Sans Text Semibold"/>
                <a:ea typeface="+mn-ea"/>
                <a:cs typeface="+mn-cs"/>
              </a:rPr>
              <a:t>Factory Responsibilities</a:t>
            </a:r>
          </a:p>
        </p:txBody>
      </p:sp>
      <p:sp>
        <p:nvSpPr>
          <p:cNvPr id="61" name="Oval 60">
            <a:extLst>
              <a:ext uri="{FF2B5EF4-FFF2-40B4-BE49-F238E27FC236}">
                <a16:creationId xmlns:a16="http://schemas.microsoft.com/office/drawing/2014/main" id="{0A9AE50F-F67E-359B-6609-46F0FA2356AC}"/>
              </a:ext>
            </a:extLst>
          </p:cNvPr>
          <p:cNvSpPr/>
          <p:nvPr/>
        </p:nvSpPr>
        <p:spPr bwMode="auto">
          <a:xfrm>
            <a:off x="748079" y="4814729"/>
            <a:ext cx="137160" cy="137160"/>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endParaRPr lang="en-US" sz="1200" noProof="0" dirty="0">
              <a:solidFill>
                <a:srgbClr val="000000"/>
              </a:solidFill>
              <a:latin typeface="Segoe UI" panose="020B0502040204020203" pitchFamily="34" charset="0"/>
              <a:cs typeface="Segoe UI" panose="020B0502040204020203" pitchFamily="34" charset="0"/>
            </a:endParaRPr>
          </a:p>
        </p:txBody>
      </p:sp>
      <p:cxnSp>
        <p:nvCxnSpPr>
          <p:cNvPr id="62" name="Straight Connector 61">
            <a:extLst>
              <a:ext uri="{FF2B5EF4-FFF2-40B4-BE49-F238E27FC236}">
                <a16:creationId xmlns:a16="http://schemas.microsoft.com/office/drawing/2014/main" id="{F023509D-2C8D-2698-1EE8-3E2F966310A3}"/>
              </a:ext>
              <a:ext uri="{C183D7F6-B498-43B3-948B-1728B52AA6E4}">
                <adec:decorative xmlns:adec="http://schemas.microsoft.com/office/drawing/2017/decorative" val="1"/>
              </a:ext>
            </a:extLst>
          </p:cNvPr>
          <p:cNvCxnSpPr>
            <a:cxnSpLocks/>
          </p:cNvCxnSpPr>
          <p:nvPr/>
        </p:nvCxnSpPr>
        <p:spPr>
          <a:xfrm>
            <a:off x="1028173" y="4700136"/>
            <a:ext cx="480176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BE005CA5-C647-C46D-8A86-10ED3D16DDAF}"/>
              </a:ext>
            </a:extLst>
          </p:cNvPr>
          <p:cNvSpPr txBox="1"/>
          <p:nvPr/>
        </p:nvSpPr>
        <p:spPr>
          <a:xfrm>
            <a:off x="979714" y="5077374"/>
            <a:ext cx="4850224" cy="1308050"/>
          </a:xfrm>
          <a:prstGeom prst="rect">
            <a:avLst/>
          </a:prstGeom>
          <a:noFill/>
        </p:spPr>
        <p:txBody>
          <a:bodyPr wrap="square">
            <a:spAutoFit/>
          </a:bodyPr>
          <a:lstStyle/>
          <a:p>
            <a:pPr marL="171450" lvl="0" indent="-171450" defTabSz="932293">
              <a:buFont typeface="Arial" panose="020B0604020202020204" pitchFamily="34" charset="0"/>
              <a:buChar char="•"/>
              <a:defRPr/>
            </a:pPr>
            <a:r>
              <a:rPr lang="en-US" sz="1100" noProof="0" dirty="0">
                <a:latin typeface="Segoe Sans Text" pitchFamily="2" charset="0"/>
                <a:cs typeface="Segoe Sans Text" pitchFamily="2" charset="0"/>
              </a:rPr>
              <a:t>Migrate .rdl reports and SSRS PBI interactive reports from SSRS servers </a:t>
            </a:r>
            <a:br>
              <a:rPr lang="en-US" sz="1100" noProof="0" dirty="0">
                <a:latin typeface="Segoe Sans Text" pitchFamily="2" charset="0"/>
                <a:cs typeface="Segoe Sans Text" pitchFamily="2" charset="0"/>
              </a:rPr>
            </a:br>
            <a:r>
              <a:rPr lang="en-US" sz="1100" noProof="0" dirty="0">
                <a:latin typeface="Segoe Sans Text" pitchFamily="2" charset="0"/>
                <a:cs typeface="Segoe Sans Text" pitchFamily="2" charset="0"/>
              </a:rPr>
              <a:t>to PBI Premium</a:t>
            </a:r>
          </a:p>
          <a:p>
            <a:pPr marL="171450" indent="-171450" defTabSz="932293">
              <a:buFont typeface="Arial" panose="020B0604020202020204" pitchFamily="34" charset="0"/>
              <a:buChar char="•"/>
              <a:defRPr/>
            </a:pPr>
            <a:r>
              <a:rPr lang="en-US" sz="1100" kern="0" noProof="0" dirty="0">
                <a:latin typeface="Segoe Sans Text" pitchFamily="2" charset="0"/>
                <a:cs typeface="Segoe Sans Text" pitchFamily="2" charset="0"/>
              </a:rPr>
              <a:t>Publish reports that that pass checks as PBI Paginated Reports</a:t>
            </a:r>
          </a:p>
          <a:p>
            <a:pPr marL="171450" indent="-171450" defTabSz="932293">
              <a:buFont typeface="Arial" panose="020B0604020202020204" pitchFamily="34" charset="0"/>
              <a:buChar char="•"/>
              <a:defRPr/>
            </a:pPr>
            <a:r>
              <a:rPr lang="en-US" sz="1100" kern="0" noProof="0" dirty="0">
                <a:latin typeface="Segoe Sans Text" pitchFamily="2" charset="0"/>
                <a:cs typeface="Segoe Sans Text" pitchFamily="2" charset="0"/>
              </a:rPr>
              <a:t>Migrate SSAS/AAS models to Power BI Semantic Models</a:t>
            </a:r>
            <a:endParaRPr lang="en-US" sz="1100" noProof="0" dirty="0">
              <a:latin typeface="Segoe Sans Text" pitchFamily="2" charset="0"/>
              <a:cs typeface="Segoe Sans Text" pitchFamily="2" charset="0"/>
            </a:endParaRPr>
          </a:p>
          <a:p>
            <a:pPr defTabSz="932293">
              <a:defRPr/>
            </a:pPr>
            <a:endParaRPr lang="en-US" sz="2400" noProof="0" dirty="0">
              <a:latin typeface="Segoe Sans Text" pitchFamily="2" charset="0"/>
              <a:cs typeface="Segoe Sans Text" pitchFamily="2" charset="0"/>
            </a:endParaRPr>
          </a:p>
          <a:p>
            <a:pPr lvl="0" defTabSz="932293">
              <a:defRPr/>
            </a:pPr>
            <a:endParaRPr lang="en-US" sz="1100" noProof="0" dirty="0">
              <a:latin typeface="Segoe Sans Text" pitchFamily="2" charset="0"/>
              <a:cs typeface="Segoe Sans Text" pitchFamily="2" charset="0"/>
            </a:endParaRPr>
          </a:p>
        </p:txBody>
      </p:sp>
      <p:sp>
        <p:nvSpPr>
          <p:cNvPr id="65" name="TextBox 64">
            <a:extLst>
              <a:ext uri="{FF2B5EF4-FFF2-40B4-BE49-F238E27FC236}">
                <a16:creationId xmlns:a16="http://schemas.microsoft.com/office/drawing/2014/main" id="{1B06F007-AD96-73D1-47BE-9E878161F953}"/>
              </a:ext>
            </a:extLst>
          </p:cNvPr>
          <p:cNvSpPr txBox="1"/>
          <p:nvPr/>
        </p:nvSpPr>
        <p:spPr>
          <a:xfrm>
            <a:off x="6352569" y="1637988"/>
            <a:ext cx="49377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1" u="none" strike="noStrike" kern="1200" cap="none" spc="0" normalizeH="0" baseline="0" noProof="0" dirty="0">
                <a:ln>
                  <a:noFill/>
                </a:ln>
                <a:solidFill>
                  <a:srgbClr val="000000"/>
                </a:solidFill>
                <a:effectLst/>
                <a:uLnTx/>
                <a:uFillTx/>
                <a:latin typeface="Segoe Sans Text"/>
                <a:ea typeface="+mn-ea"/>
                <a:cs typeface="+mn-cs"/>
              </a:rPr>
              <a:t>* Any activity that is not called out under Scope 1 is considered as Scope 2. Some examples below...</a:t>
            </a:r>
          </a:p>
        </p:txBody>
      </p:sp>
      <p:sp>
        <p:nvSpPr>
          <p:cNvPr id="67" name="TextBox 66">
            <a:extLst>
              <a:ext uri="{FF2B5EF4-FFF2-40B4-BE49-F238E27FC236}">
                <a16:creationId xmlns:a16="http://schemas.microsoft.com/office/drawing/2014/main" id="{3B909536-4DEB-11E4-9526-17B0D79F891F}"/>
              </a:ext>
            </a:extLst>
          </p:cNvPr>
          <p:cNvSpPr txBox="1"/>
          <p:nvPr/>
        </p:nvSpPr>
        <p:spPr>
          <a:xfrm>
            <a:off x="212178" y="6680031"/>
            <a:ext cx="12101208" cy="115416"/>
          </a:xfrm>
          <a:prstGeom prst="rect">
            <a:avLst/>
          </a:prstGeom>
          <a:noFill/>
        </p:spPr>
        <p:txBody>
          <a:bodyPr wrap="square" lIns="0" tIns="0" rIns="0" bIns="0" rtlCol="0">
            <a:spAutoFit/>
          </a:bodyPr>
          <a:lstStyle/>
          <a:p>
            <a:r>
              <a:rPr lang="en-US" sz="750" b="1" u="sng" noProof="0" dirty="0"/>
              <a:t>Note 1: </a:t>
            </a:r>
            <a:r>
              <a:rPr lang="en-US" sz="750" noProof="0" dirty="0"/>
              <a:t>Scope 2 will be assumed as customer led in the absence of Partner / ISD / Unified | </a:t>
            </a:r>
            <a:r>
              <a:rPr lang="en-US" sz="750" b="1" u="sng" noProof="0" dirty="0"/>
              <a:t>Note 2: </a:t>
            </a:r>
            <a:r>
              <a:rPr lang="en-US" sz="750" noProof="0" dirty="0"/>
              <a:t>Factory is always open to discuss any adjustments to Scope 1, Scope 2 with committed customer. | </a:t>
            </a:r>
            <a:r>
              <a:rPr lang="en-US" sz="750" b="1" u="sng" noProof="0" dirty="0"/>
              <a:t>Note 3: </a:t>
            </a:r>
            <a:r>
              <a:rPr lang="en-US" sz="750" noProof="0" dirty="0"/>
              <a:t>Consider the details in the slide as conversation starter rather a rigid structure  </a:t>
            </a:r>
          </a:p>
        </p:txBody>
      </p:sp>
      <p:sp>
        <p:nvSpPr>
          <p:cNvPr id="3" name="TextBox 2">
            <a:extLst>
              <a:ext uri="{FF2B5EF4-FFF2-40B4-BE49-F238E27FC236}">
                <a16:creationId xmlns:a16="http://schemas.microsoft.com/office/drawing/2014/main" id="{D090761E-6078-D5F4-C951-2D3E0B120F0E}"/>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2936906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4B830A-4754-2666-571B-B2F535F0512E}"/>
              </a:ext>
              <a:ext uri="{C183D7F6-B498-43B3-948B-1728B52AA6E4}">
                <adec:decorative xmlns:adec="http://schemas.microsoft.com/office/drawing/2017/decorative" val="1"/>
              </a:ext>
            </a:extLst>
          </p:cNvPr>
          <p:cNvSpPr/>
          <p:nvPr/>
        </p:nvSpPr>
        <p:spPr>
          <a:xfrm>
            <a:off x="0" y="0"/>
            <a:ext cx="3984960" cy="6867832"/>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10" name="Oval 9">
            <a:extLst>
              <a:ext uri="{FF2B5EF4-FFF2-40B4-BE49-F238E27FC236}">
                <a16:creationId xmlns:a16="http://schemas.microsoft.com/office/drawing/2014/main" id="{52241957-B9BD-3C76-C3F9-7560B31D7D11}"/>
              </a:ext>
            </a:extLst>
          </p:cNvPr>
          <p:cNvSpPr/>
          <p:nvPr/>
        </p:nvSpPr>
        <p:spPr>
          <a:xfrm>
            <a:off x="588263" y="1532095"/>
            <a:ext cx="402842" cy="402842"/>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1" name="Graphic 120" descr="Icon of an arrow hitting the bullseye">
            <a:extLst>
              <a:ext uri="{FF2B5EF4-FFF2-40B4-BE49-F238E27FC236}">
                <a16:creationId xmlns:a16="http://schemas.microsoft.com/office/drawing/2014/main" id="{2F125F4B-05D0-AE4A-630A-A8F610AF7B97}"/>
              </a:ext>
            </a:extLst>
          </p:cNvPr>
          <p:cNvSpPr>
            <a:spLocks noChangeAspect="1"/>
          </p:cNvSpPr>
          <p:nvPr/>
        </p:nvSpPr>
        <p:spPr>
          <a:xfrm>
            <a:off x="686707" y="1631353"/>
            <a:ext cx="205144" cy="204326"/>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a:gsLst>
              <a:gs pos="0">
                <a:srgbClr val="0078D4"/>
              </a:gs>
              <a:gs pos="33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latin typeface="Segoe UI"/>
            </a:endParaRPr>
          </a:p>
        </p:txBody>
      </p:sp>
      <p:sp>
        <p:nvSpPr>
          <p:cNvPr id="18" name="TextBox 17">
            <a:extLst>
              <a:ext uri="{FF2B5EF4-FFF2-40B4-BE49-F238E27FC236}">
                <a16:creationId xmlns:a16="http://schemas.microsoft.com/office/drawing/2014/main" id="{9106D50D-C690-589B-6020-C867542C5FD5}"/>
              </a:ext>
            </a:extLst>
          </p:cNvPr>
          <p:cNvSpPr txBox="1"/>
          <p:nvPr/>
        </p:nvSpPr>
        <p:spPr>
          <a:xfrm>
            <a:off x="588262" y="1175846"/>
            <a:ext cx="3221882" cy="246221"/>
          </a:xfrm>
          <a:prstGeom prst="rect">
            <a:avLst/>
          </a:prstGeom>
          <a:noFill/>
        </p:spPr>
        <p:txBody>
          <a:bodyPr wrap="square" lIns="0" tIns="0" rIns="0" bIns="0">
            <a:spAutoFit/>
          </a:bodyPr>
          <a:lstStyle/>
          <a:p>
            <a:pPr defTabSz="914367">
              <a:defRPr/>
            </a:pPr>
            <a:r>
              <a:rPr lang="en-US" sz="1600" noProof="0" dirty="0">
                <a:solidFill>
                  <a:schemeClr val="bg1"/>
                </a:solidFill>
                <a:latin typeface="+mj-lt"/>
              </a:rPr>
              <a:t>Power BI – SSAS/AAS to Fabric</a:t>
            </a:r>
          </a:p>
        </p:txBody>
      </p:sp>
      <p:sp>
        <p:nvSpPr>
          <p:cNvPr id="19" name="TextBox 338">
            <a:extLst>
              <a:ext uri="{FF2B5EF4-FFF2-40B4-BE49-F238E27FC236}">
                <a16:creationId xmlns:a16="http://schemas.microsoft.com/office/drawing/2014/main" id="{5C405456-B735-A50E-5525-DB49C6B6A43C}"/>
              </a:ext>
            </a:extLst>
          </p:cNvPr>
          <p:cNvSpPr txBox="1"/>
          <p:nvPr/>
        </p:nvSpPr>
        <p:spPr>
          <a:xfrm>
            <a:off x="1103512" y="1618100"/>
            <a:ext cx="716543"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Purpose</a:t>
            </a:r>
          </a:p>
        </p:txBody>
      </p:sp>
      <p:sp>
        <p:nvSpPr>
          <p:cNvPr id="20" name="Rectangle 19">
            <a:extLst>
              <a:ext uri="{FF2B5EF4-FFF2-40B4-BE49-F238E27FC236}">
                <a16:creationId xmlns:a16="http://schemas.microsoft.com/office/drawing/2014/main" id="{E266C6A1-8016-8247-B2BE-7B574C58D7BE}"/>
              </a:ext>
            </a:extLst>
          </p:cNvPr>
          <p:cNvSpPr/>
          <p:nvPr/>
        </p:nvSpPr>
        <p:spPr>
          <a:xfrm>
            <a:off x="639461" y="2001150"/>
            <a:ext cx="3170683" cy="677108"/>
          </a:xfrm>
          <a:prstGeom prst="rect">
            <a:avLst/>
          </a:prstGeom>
        </p:spPr>
        <p:txBody>
          <a:bodyPr wrap="square" lIns="0" tIns="0" rIns="0" bIns="0">
            <a:spAutoFit/>
          </a:bodyPr>
          <a:lstStyle/>
          <a:p>
            <a:pPr defTabSz="896386">
              <a:spcAft>
                <a:spcPts val="588"/>
              </a:spcAft>
              <a:defRPr/>
            </a:pPr>
            <a:r>
              <a:rPr lang="en-US" sz="1100" noProof="0" dirty="0">
                <a:solidFill>
                  <a:schemeClr val="bg1"/>
                </a:solidFill>
              </a:rPr>
              <a:t>Design, build, and deploy repeatable, low-to-no code change report, semantic layer, data models from SSAS/Azure Analysis Services (AAS) to Power BI Premium/Fabric.</a:t>
            </a:r>
          </a:p>
        </p:txBody>
      </p:sp>
      <p:sp>
        <p:nvSpPr>
          <p:cNvPr id="24" name="Rounded Rectangle 34">
            <a:extLst>
              <a:ext uri="{FF2B5EF4-FFF2-40B4-BE49-F238E27FC236}">
                <a16:creationId xmlns:a16="http://schemas.microsoft.com/office/drawing/2014/main" id="{8A8016D3-2BF1-6C77-7399-D4E630D13B3B}"/>
              </a:ext>
              <a:ext uri="{C183D7F6-B498-43B3-948B-1728B52AA6E4}">
                <adec:decorative xmlns:adec="http://schemas.microsoft.com/office/drawing/2017/decorative" val="1"/>
              </a:ext>
            </a:extLst>
          </p:cNvPr>
          <p:cNvSpPr/>
          <p:nvPr/>
        </p:nvSpPr>
        <p:spPr bwMode="auto">
          <a:xfrm>
            <a:off x="4116083" y="1801670"/>
            <a:ext cx="7570699" cy="2584320"/>
          </a:xfrm>
          <a:prstGeom prst="roundRect">
            <a:avLst>
              <a:gd name="adj" fmla="val 511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5" name="Rounded Rectangle 34">
            <a:extLst>
              <a:ext uri="{FF2B5EF4-FFF2-40B4-BE49-F238E27FC236}">
                <a16:creationId xmlns:a16="http://schemas.microsoft.com/office/drawing/2014/main" id="{F7421EBF-BD77-53F7-75A3-C486EF303B40}"/>
              </a:ext>
              <a:ext uri="{C183D7F6-B498-43B3-948B-1728B52AA6E4}">
                <adec:decorative xmlns:adec="http://schemas.microsoft.com/office/drawing/2017/decorative" val="1"/>
              </a:ext>
            </a:extLst>
          </p:cNvPr>
          <p:cNvSpPr/>
          <p:nvPr/>
        </p:nvSpPr>
        <p:spPr bwMode="auto">
          <a:xfrm>
            <a:off x="4215330" y="1889936"/>
            <a:ext cx="7390405" cy="2410786"/>
          </a:xfrm>
          <a:prstGeom prst="roundRect">
            <a:avLst>
              <a:gd name="adj" fmla="val 4451"/>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26" name="TextBox 25">
            <a:extLst>
              <a:ext uri="{FF2B5EF4-FFF2-40B4-BE49-F238E27FC236}">
                <a16:creationId xmlns:a16="http://schemas.microsoft.com/office/drawing/2014/main" id="{7220FCF1-B4F8-A8FF-80C3-0158DC0C752C}"/>
              </a:ext>
            </a:extLst>
          </p:cNvPr>
          <p:cNvSpPr txBox="1"/>
          <p:nvPr/>
        </p:nvSpPr>
        <p:spPr>
          <a:xfrm>
            <a:off x="4407150" y="5592413"/>
            <a:ext cx="237566"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1</a:t>
            </a:r>
          </a:p>
        </p:txBody>
      </p:sp>
      <p:sp>
        <p:nvSpPr>
          <p:cNvPr id="27" name="TextBox 26">
            <a:extLst>
              <a:ext uri="{FF2B5EF4-FFF2-40B4-BE49-F238E27FC236}">
                <a16:creationId xmlns:a16="http://schemas.microsoft.com/office/drawing/2014/main" id="{0DDA75FA-FC5C-0BC8-F2BB-ABF768006A8D}"/>
              </a:ext>
            </a:extLst>
          </p:cNvPr>
          <p:cNvSpPr txBox="1"/>
          <p:nvPr/>
        </p:nvSpPr>
        <p:spPr>
          <a:xfrm>
            <a:off x="5514851"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2</a:t>
            </a:r>
          </a:p>
        </p:txBody>
      </p:sp>
      <p:sp>
        <p:nvSpPr>
          <p:cNvPr id="28" name="TextBox 27">
            <a:extLst>
              <a:ext uri="{FF2B5EF4-FFF2-40B4-BE49-F238E27FC236}">
                <a16:creationId xmlns:a16="http://schemas.microsoft.com/office/drawing/2014/main" id="{DEAC5B45-9E51-7717-1113-A01575D971E7}"/>
              </a:ext>
            </a:extLst>
          </p:cNvPr>
          <p:cNvSpPr txBox="1"/>
          <p:nvPr/>
        </p:nvSpPr>
        <p:spPr>
          <a:xfrm>
            <a:off x="6632170"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3</a:t>
            </a:r>
          </a:p>
        </p:txBody>
      </p:sp>
      <p:sp>
        <p:nvSpPr>
          <p:cNvPr id="29" name="TextBox 28">
            <a:extLst>
              <a:ext uri="{FF2B5EF4-FFF2-40B4-BE49-F238E27FC236}">
                <a16:creationId xmlns:a16="http://schemas.microsoft.com/office/drawing/2014/main" id="{DAB72327-1B33-21A1-54D5-986FC60239F2}"/>
              </a:ext>
            </a:extLst>
          </p:cNvPr>
          <p:cNvSpPr txBox="1"/>
          <p:nvPr/>
        </p:nvSpPr>
        <p:spPr>
          <a:xfrm>
            <a:off x="7749489"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4</a:t>
            </a:r>
          </a:p>
        </p:txBody>
      </p:sp>
      <p:sp>
        <p:nvSpPr>
          <p:cNvPr id="30" name="TextBox 29">
            <a:extLst>
              <a:ext uri="{FF2B5EF4-FFF2-40B4-BE49-F238E27FC236}">
                <a16:creationId xmlns:a16="http://schemas.microsoft.com/office/drawing/2014/main" id="{300AEB89-E206-BC83-A05F-5D83F5E20BCB}"/>
              </a:ext>
            </a:extLst>
          </p:cNvPr>
          <p:cNvSpPr txBox="1"/>
          <p:nvPr/>
        </p:nvSpPr>
        <p:spPr>
          <a:xfrm>
            <a:off x="8866808"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5</a:t>
            </a:r>
          </a:p>
        </p:txBody>
      </p:sp>
      <p:sp>
        <p:nvSpPr>
          <p:cNvPr id="31" name="TextBox 30">
            <a:extLst>
              <a:ext uri="{FF2B5EF4-FFF2-40B4-BE49-F238E27FC236}">
                <a16:creationId xmlns:a16="http://schemas.microsoft.com/office/drawing/2014/main" id="{D195F70A-6B68-5BF9-6185-FB59530247D8}"/>
              </a:ext>
            </a:extLst>
          </p:cNvPr>
          <p:cNvSpPr txBox="1"/>
          <p:nvPr/>
        </p:nvSpPr>
        <p:spPr>
          <a:xfrm>
            <a:off x="9984127" y="5592413"/>
            <a:ext cx="256802" cy="246221"/>
          </a:xfrm>
          <a:prstGeom prst="rect">
            <a:avLst/>
          </a:prstGeom>
          <a:noFill/>
        </p:spPr>
        <p:txBody>
          <a:bodyPr wrap="none" rtlCol="0" anchor="ctr">
            <a:spAutoFit/>
          </a:bodyPr>
          <a:lstStyle/>
          <a:p>
            <a:pPr algn="ctr" defTabSz="914367">
              <a:defRPr/>
            </a:pPr>
            <a:r>
              <a:rPr lang="en-US" sz="1000" noProof="0" dirty="0">
                <a:solidFill>
                  <a:schemeClr val="tx2"/>
                </a:solidFill>
                <a:latin typeface="+mj-lt"/>
              </a:rPr>
              <a:t>6</a:t>
            </a:r>
          </a:p>
        </p:txBody>
      </p:sp>
      <p:sp>
        <p:nvSpPr>
          <p:cNvPr id="32" name="TextBox 31">
            <a:extLst>
              <a:ext uri="{FF2B5EF4-FFF2-40B4-BE49-F238E27FC236}">
                <a16:creationId xmlns:a16="http://schemas.microsoft.com/office/drawing/2014/main" id="{C0F0340C-0C5B-6125-2484-EBE9E217ABC7}"/>
              </a:ext>
            </a:extLst>
          </p:cNvPr>
          <p:cNvSpPr txBox="1"/>
          <p:nvPr/>
        </p:nvSpPr>
        <p:spPr>
          <a:xfrm>
            <a:off x="11146940" y="5624127"/>
            <a:ext cx="165810" cy="182792"/>
          </a:xfrm>
          <a:prstGeom prst="rect">
            <a:avLst/>
          </a:prstGeom>
          <a:noFill/>
        </p:spPr>
        <p:txBody>
          <a:bodyPr wrap="square" rtlCol="0" anchor="ctr">
            <a:noAutofit/>
          </a:bodyPr>
          <a:lstStyle/>
          <a:p>
            <a:pPr algn="ctr" defTabSz="914367">
              <a:defRPr/>
            </a:pPr>
            <a:r>
              <a:rPr lang="en-US" sz="1000" noProof="0" dirty="0">
                <a:solidFill>
                  <a:schemeClr val="tx2"/>
                </a:solidFill>
                <a:latin typeface="+mj-lt"/>
              </a:rPr>
              <a:t>7</a:t>
            </a:r>
          </a:p>
        </p:txBody>
      </p:sp>
      <p:sp>
        <p:nvSpPr>
          <p:cNvPr id="13" name="Oval 12">
            <a:extLst>
              <a:ext uri="{FF2B5EF4-FFF2-40B4-BE49-F238E27FC236}">
                <a16:creationId xmlns:a16="http://schemas.microsoft.com/office/drawing/2014/main" id="{10A28290-634A-38BF-3EB1-566F004993F7}"/>
              </a:ext>
              <a:ext uri="{C183D7F6-B498-43B3-948B-1728B52AA6E4}">
                <adec:decorative xmlns:adec="http://schemas.microsoft.com/office/drawing/2017/decorative" val="1"/>
              </a:ext>
            </a:extLst>
          </p:cNvPr>
          <p:cNvSpPr/>
          <p:nvPr/>
        </p:nvSpPr>
        <p:spPr>
          <a:xfrm>
            <a:off x="588263" y="4145768"/>
            <a:ext cx="403656" cy="403654"/>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4" name="Graphic 31" descr="Icon of a group of three people">
            <a:extLst>
              <a:ext uri="{FF2B5EF4-FFF2-40B4-BE49-F238E27FC236}">
                <a16:creationId xmlns:a16="http://schemas.microsoft.com/office/drawing/2014/main" id="{E2617E7B-4552-6FD9-47B8-74F73D6F380B}"/>
              </a:ext>
            </a:extLst>
          </p:cNvPr>
          <p:cNvSpPr/>
          <p:nvPr/>
        </p:nvSpPr>
        <p:spPr>
          <a:xfrm>
            <a:off x="670621" y="4245666"/>
            <a:ext cx="238941" cy="203859"/>
          </a:xfrm>
          <a:custGeom>
            <a:avLst/>
            <a:gdLst>
              <a:gd name="connsiteX0" fmla="*/ 198244 w 311045"/>
              <a:gd name="connsiteY0" fmla="*/ 186583 h 280014"/>
              <a:gd name="connsiteX1" fmla="*/ 225454 w 311045"/>
              <a:gd name="connsiteY1" fmla="*/ 213793 h 280014"/>
              <a:gd name="connsiteX2" fmla="*/ 225437 w 311045"/>
              <a:gd name="connsiteY2" fmla="*/ 228752 h 280014"/>
              <a:gd name="connsiteX3" fmla="*/ 156524 w 311045"/>
              <a:gd name="connsiteY3" fmla="*/ 280014 h 280014"/>
              <a:gd name="connsiteX4" fmla="*/ 85517 w 311045"/>
              <a:gd name="connsiteY4" fmla="*/ 229342 h 280014"/>
              <a:gd name="connsiteX5" fmla="*/ 85517 w 311045"/>
              <a:gd name="connsiteY5" fmla="*/ 213793 h 280014"/>
              <a:gd name="connsiteX6" fmla="*/ 112727 w 311045"/>
              <a:gd name="connsiteY6" fmla="*/ 186583 h 280014"/>
              <a:gd name="connsiteX7" fmla="*/ 198244 w 311045"/>
              <a:gd name="connsiteY7" fmla="*/ 186583 h 280014"/>
              <a:gd name="connsiteX8" fmla="*/ 198244 w 311045"/>
              <a:gd name="connsiteY8" fmla="*/ 209906 h 280014"/>
              <a:gd name="connsiteX9" fmla="*/ 112727 w 311045"/>
              <a:gd name="connsiteY9" fmla="*/ 209906 h 280014"/>
              <a:gd name="connsiteX10" fmla="*/ 108840 w 311045"/>
              <a:gd name="connsiteY10" fmla="*/ 213793 h 280014"/>
              <a:gd name="connsiteX11" fmla="*/ 108840 w 311045"/>
              <a:gd name="connsiteY11" fmla="*/ 229342 h 280014"/>
              <a:gd name="connsiteX12" fmla="*/ 156524 w 311045"/>
              <a:gd name="connsiteY12" fmla="*/ 256692 h 280014"/>
              <a:gd name="connsiteX13" fmla="*/ 202132 w 311045"/>
              <a:gd name="connsiteY13" fmla="*/ 229373 h 280014"/>
              <a:gd name="connsiteX14" fmla="*/ 202132 w 311045"/>
              <a:gd name="connsiteY14" fmla="*/ 213793 h 280014"/>
              <a:gd name="connsiteX15" fmla="*/ 198244 w 311045"/>
              <a:gd name="connsiteY15" fmla="*/ 209906 h 280014"/>
              <a:gd name="connsiteX16" fmla="*/ 27210 w 311045"/>
              <a:gd name="connsiteY16" fmla="*/ 108840 h 280014"/>
              <a:gd name="connsiteX17" fmla="*/ 95251 w 311045"/>
              <a:gd name="connsiteY17" fmla="*/ 108842 h 280014"/>
              <a:gd name="connsiteX18" fmla="*/ 93292 w 311045"/>
              <a:gd name="connsiteY18" fmla="*/ 124389 h 280014"/>
              <a:gd name="connsiteX19" fmla="*/ 93771 w 311045"/>
              <a:gd name="connsiteY19" fmla="*/ 132152 h 280014"/>
              <a:gd name="connsiteX20" fmla="*/ 27210 w 311045"/>
              <a:gd name="connsiteY20" fmla="*/ 132163 h 280014"/>
              <a:gd name="connsiteX21" fmla="*/ 23323 w 311045"/>
              <a:gd name="connsiteY21" fmla="*/ 136050 h 280014"/>
              <a:gd name="connsiteX22" fmla="*/ 23323 w 311045"/>
              <a:gd name="connsiteY22" fmla="*/ 151599 h 280014"/>
              <a:gd name="connsiteX23" fmla="*/ 71007 w 311045"/>
              <a:gd name="connsiteY23" fmla="*/ 178949 h 280014"/>
              <a:gd name="connsiteX24" fmla="*/ 89783 w 311045"/>
              <a:gd name="connsiteY24" fmla="*/ 177747 h 280014"/>
              <a:gd name="connsiteX25" fmla="*/ 71542 w 311045"/>
              <a:gd name="connsiteY25" fmla="*/ 202259 h 280014"/>
              <a:gd name="connsiteX26" fmla="*/ 71007 w 311045"/>
              <a:gd name="connsiteY26" fmla="*/ 202272 h 280014"/>
              <a:gd name="connsiteX27" fmla="*/ 0 w 311045"/>
              <a:gd name="connsiteY27" fmla="*/ 151599 h 280014"/>
              <a:gd name="connsiteX28" fmla="*/ 0 w 311045"/>
              <a:gd name="connsiteY28" fmla="*/ 136050 h 280014"/>
              <a:gd name="connsiteX29" fmla="*/ 27210 w 311045"/>
              <a:gd name="connsiteY29" fmla="*/ 108840 h 280014"/>
              <a:gd name="connsiteX30" fmla="*/ 283762 w 311045"/>
              <a:gd name="connsiteY30" fmla="*/ 108840 h 280014"/>
              <a:gd name="connsiteX31" fmla="*/ 310972 w 311045"/>
              <a:gd name="connsiteY31" fmla="*/ 136050 h 280014"/>
              <a:gd name="connsiteX32" fmla="*/ 310955 w 311045"/>
              <a:gd name="connsiteY32" fmla="*/ 151009 h 280014"/>
              <a:gd name="connsiteX33" fmla="*/ 242042 w 311045"/>
              <a:gd name="connsiteY33" fmla="*/ 202272 h 280014"/>
              <a:gd name="connsiteX34" fmla="*/ 239425 w 311045"/>
              <a:gd name="connsiteY34" fmla="*/ 202245 h 280014"/>
              <a:gd name="connsiteX35" fmla="*/ 220484 w 311045"/>
              <a:gd name="connsiteY35" fmla="*/ 177266 h 280014"/>
              <a:gd name="connsiteX36" fmla="*/ 242042 w 311045"/>
              <a:gd name="connsiteY36" fmla="*/ 178949 h 280014"/>
              <a:gd name="connsiteX37" fmla="*/ 287649 w 311045"/>
              <a:gd name="connsiteY37" fmla="*/ 151630 h 280014"/>
              <a:gd name="connsiteX38" fmla="*/ 287649 w 311045"/>
              <a:gd name="connsiteY38" fmla="*/ 136050 h 280014"/>
              <a:gd name="connsiteX39" fmla="*/ 283762 w 311045"/>
              <a:gd name="connsiteY39" fmla="*/ 132163 h 280014"/>
              <a:gd name="connsiteX40" fmla="*/ 217201 w 311045"/>
              <a:gd name="connsiteY40" fmla="*/ 132151 h 280014"/>
              <a:gd name="connsiteX41" fmla="*/ 217680 w 311045"/>
              <a:gd name="connsiteY41" fmla="*/ 124389 h 280014"/>
              <a:gd name="connsiteX42" fmla="*/ 215721 w 311045"/>
              <a:gd name="connsiteY42" fmla="*/ 108842 h 280014"/>
              <a:gd name="connsiteX43" fmla="*/ 283762 w 311045"/>
              <a:gd name="connsiteY43" fmla="*/ 108840 h 280014"/>
              <a:gd name="connsiteX44" fmla="*/ 155486 w 311045"/>
              <a:gd name="connsiteY44" fmla="*/ 77743 h 280014"/>
              <a:gd name="connsiteX45" fmla="*/ 202132 w 311045"/>
              <a:gd name="connsiteY45" fmla="*/ 124389 h 280014"/>
              <a:gd name="connsiteX46" fmla="*/ 155486 w 311045"/>
              <a:gd name="connsiteY46" fmla="*/ 171034 h 280014"/>
              <a:gd name="connsiteX47" fmla="*/ 108840 w 311045"/>
              <a:gd name="connsiteY47" fmla="*/ 124389 h 280014"/>
              <a:gd name="connsiteX48" fmla="*/ 155486 w 311045"/>
              <a:gd name="connsiteY48" fmla="*/ 77743 h 280014"/>
              <a:gd name="connsiteX49" fmla="*/ 155486 w 311045"/>
              <a:gd name="connsiteY49" fmla="*/ 101066 h 280014"/>
              <a:gd name="connsiteX50" fmla="*/ 132163 w 311045"/>
              <a:gd name="connsiteY50" fmla="*/ 124389 h 280014"/>
              <a:gd name="connsiteX51" fmla="*/ 155486 w 311045"/>
              <a:gd name="connsiteY51" fmla="*/ 147712 h 280014"/>
              <a:gd name="connsiteX52" fmla="*/ 178809 w 311045"/>
              <a:gd name="connsiteY52" fmla="*/ 124389 h 280014"/>
              <a:gd name="connsiteX53" fmla="*/ 155486 w 311045"/>
              <a:gd name="connsiteY53" fmla="*/ 101066 h 280014"/>
              <a:gd name="connsiteX54" fmla="*/ 69969 w 311045"/>
              <a:gd name="connsiteY54" fmla="*/ 0 h 280014"/>
              <a:gd name="connsiteX55" fmla="*/ 116614 w 311045"/>
              <a:gd name="connsiteY55" fmla="*/ 46646 h 280014"/>
              <a:gd name="connsiteX56" fmla="*/ 69969 w 311045"/>
              <a:gd name="connsiteY56" fmla="*/ 93292 h 280014"/>
              <a:gd name="connsiteX57" fmla="*/ 23323 w 311045"/>
              <a:gd name="connsiteY57" fmla="*/ 46646 h 280014"/>
              <a:gd name="connsiteX58" fmla="*/ 69969 w 311045"/>
              <a:gd name="connsiteY58" fmla="*/ 0 h 280014"/>
              <a:gd name="connsiteX59" fmla="*/ 241003 w 311045"/>
              <a:gd name="connsiteY59" fmla="*/ 0 h 280014"/>
              <a:gd name="connsiteX60" fmla="*/ 287649 w 311045"/>
              <a:gd name="connsiteY60" fmla="*/ 46646 h 280014"/>
              <a:gd name="connsiteX61" fmla="*/ 241003 w 311045"/>
              <a:gd name="connsiteY61" fmla="*/ 93292 h 280014"/>
              <a:gd name="connsiteX62" fmla="*/ 194357 w 311045"/>
              <a:gd name="connsiteY62" fmla="*/ 46646 h 280014"/>
              <a:gd name="connsiteX63" fmla="*/ 241003 w 311045"/>
              <a:gd name="connsiteY63" fmla="*/ 0 h 280014"/>
              <a:gd name="connsiteX64" fmla="*/ 69969 w 311045"/>
              <a:gd name="connsiteY64" fmla="*/ 23323 h 280014"/>
              <a:gd name="connsiteX65" fmla="*/ 46646 w 311045"/>
              <a:gd name="connsiteY65" fmla="*/ 46646 h 280014"/>
              <a:gd name="connsiteX66" fmla="*/ 69969 w 311045"/>
              <a:gd name="connsiteY66" fmla="*/ 69969 h 280014"/>
              <a:gd name="connsiteX67" fmla="*/ 93292 w 311045"/>
              <a:gd name="connsiteY67" fmla="*/ 46646 h 280014"/>
              <a:gd name="connsiteX68" fmla="*/ 69969 w 311045"/>
              <a:gd name="connsiteY68" fmla="*/ 23323 h 280014"/>
              <a:gd name="connsiteX69" fmla="*/ 241003 w 311045"/>
              <a:gd name="connsiteY69" fmla="*/ 23323 h 280014"/>
              <a:gd name="connsiteX70" fmla="*/ 217680 w 311045"/>
              <a:gd name="connsiteY70" fmla="*/ 46646 h 280014"/>
              <a:gd name="connsiteX71" fmla="*/ 241003 w 311045"/>
              <a:gd name="connsiteY71" fmla="*/ 69969 h 280014"/>
              <a:gd name="connsiteX72" fmla="*/ 264326 w 311045"/>
              <a:gd name="connsiteY72" fmla="*/ 46646 h 280014"/>
              <a:gd name="connsiteX73" fmla="*/ 241003 w 311045"/>
              <a:gd name="connsiteY73" fmla="*/ 23323 h 28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1045" h="280014">
                <a:moveTo>
                  <a:pt x="198244" y="186583"/>
                </a:moveTo>
                <a:cubicBezTo>
                  <a:pt x="213272" y="186583"/>
                  <a:pt x="225454" y="198765"/>
                  <a:pt x="225454" y="213793"/>
                </a:cubicBezTo>
                <a:lnTo>
                  <a:pt x="225437" y="228752"/>
                </a:lnTo>
                <a:cubicBezTo>
                  <a:pt x="227252" y="262790"/>
                  <a:pt x="201943" y="280014"/>
                  <a:pt x="156524" y="280014"/>
                </a:cubicBezTo>
                <a:cubicBezTo>
                  <a:pt x="111295" y="280014"/>
                  <a:pt x="85517" y="263070"/>
                  <a:pt x="85517" y="229342"/>
                </a:cubicBezTo>
                <a:lnTo>
                  <a:pt x="85517" y="213793"/>
                </a:lnTo>
                <a:cubicBezTo>
                  <a:pt x="85517" y="198765"/>
                  <a:pt x="97700" y="186583"/>
                  <a:pt x="112727" y="186583"/>
                </a:cubicBezTo>
                <a:lnTo>
                  <a:pt x="198244" y="186583"/>
                </a:lnTo>
                <a:close/>
                <a:moveTo>
                  <a:pt x="198244" y="209906"/>
                </a:moveTo>
                <a:lnTo>
                  <a:pt x="112727" y="209906"/>
                </a:lnTo>
                <a:cubicBezTo>
                  <a:pt x="110580" y="209906"/>
                  <a:pt x="108840" y="211646"/>
                  <a:pt x="108840" y="213793"/>
                </a:cubicBezTo>
                <a:lnTo>
                  <a:pt x="108840" y="229342"/>
                </a:lnTo>
                <a:cubicBezTo>
                  <a:pt x="108840" y="247630"/>
                  <a:pt x="122627" y="256692"/>
                  <a:pt x="156524" y="256692"/>
                </a:cubicBezTo>
                <a:cubicBezTo>
                  <a:pt x="190232" y="256692"/>
                  <a:pt x="203103" y="247930"/>
                  <a:pt x="202132" y="229373"/>
                </a:cubicBezTo>
                <a:lnTo>
                  <a:pt x="202132" y="213793"/>
                </a:lnTo>
                <a:cubicBezTo>
                  <a:pt x="202132" y="211646"/>
                  <a:pt x="200392" y="209906"/>
                  <a:pt x="198244" y="209906"/>
                </a:cubicBezTo>
                <a:close/>
                <a:moveTo>
                  <a:pt x="27210" y="108840"/>
                </a:moveTo>
                <a:lnTo>
                  <a:pt x="95251" y="108842"/>
                </a:lnTo>
                <a:cubicBezTo>
                  <a:pt x="93972" y="113811"/>
                  <a:pt x="93292" y="119020"/>
                  <a:pt x="93292" y="124389"/>
                </a:cubicBezTo>
                <a:cubicBezTo>
                  <a:pt x="93292" y="127018"/>
                  <a:pt x="93455" y="129610"/>
                  <a:pt x="93771" y="132152"/>
                </a:cubicBezTo>
                <a:lnTo>
                  <a:pt x="27210" y="132163"/>
                </a:lnTo>
                <a:cubicBezTo>
                  <a:pt x="25063" y="132163"/>
                  <a:pt x="23323" y="133903"/>
                  <a:pt x="23323" y="136050"/>
                </a:cubicBezTo>
                <a:lnTo>
                  <a:pt x="23323" y="151599"/>
                </a:lnTo>
                <a:cubicBezTo>
                  <a:pt x="23323" y="169887"/>
                  <a:pt x="37109" y="178949"/>
                  <a:pt x="71007" y="178949"/>
                </a:cubicBezTo>
                <a:cubicBezTo>
                  <a:pt x="78189" y="178949"/>
                  <a:pt x="84425" y="178552"/>
                  <a:pt x="89783" y="177747"/>
                </a:cubicBezTo>
                <a:cubicBezTo>
                  <a:pt x="80995" y="183313"/>
                  <a:pt x="74407" y="192009"/>
                  <a:pt x="71542" y="202259"/>
                </a:cubicBezTo>
                <a:lnTo>
                  <a:pt x="71007" y="202272"/>
                </a:lnTo>
                <a:cubicBezTo>
                  <a:pt x="25777" y="202272"/>
                  <a:pt x="0" y="185327"/>
                  <a:pt x="0" y="151599"/>
                </a:cubicBezTo>
                <a:lnTo>
                  <a:pt x="0" y="136050"/>
                </a:lnTo>
                <a:cubicBezTo>
                  <a:pt x="0" y="121022"/>
                  <a:pt x="12182" y="108840"/>
                  <a:pt x="27210" y="108840"/>
                </a:cubicBezTo>
                <a:close/>
                <a:moveTo>
                  <a:pt x="283762" y="108840"/>
                </a:moveTo>
                <a:cubicBezTo>
                  <a:pt x="298789" y="108840"/>
                  <a:pt x="310972" y="121022"/>
                  <a:pt x="310972" y="136050"/>
                </a:cubicBezTo>
                <a:lnTo>
                  <a:pt x="310955" y="151009"/>
                </a:lnTo>
                <a:cubicBezTo>
                  <a:pt x="312769" y="185047"/>
                  <a:pt x="287461" y="202272"/>
                  <a:pt x="242042" y="202272"/>
                </a:cubicBezTo>
                <a:lnTo>
                  <a:pt x="239425" y="202245"/>
                </a:lnTo>
                <a:cubicBezTo>
                  <a:pt x="236480" y="191717"/>
                  <a:pt x="229606" y="182831"/>
                  <a:pt x="220484" y="177266"/>
                </a:cubicBezTo>
                <a:cubicBezTo>
                  <a:pt x="226496" y="178394"/>
                  <a:pt x="233653" y="178949"/>
                  <a:pt x="242042" y="178949"/>
                </a:cubicBezTo>
                <a:cubicBezTo>
                  <a:pt x="275749" y="178949"/>
                  <a:pt x="288621" y="170187"/>
                  <a:pt x="287649" y="151630"/>
                </a:cubicBezTo>
                <a:lnTo>
                  <a:pt x="287649" y="136050"/>
                </a:lnTo>
                <a:cubicBezTo>
                  <a:pt x="287649" y="133903"/>
                  <a:pt x="285909" y="132163"/>
                  <a:pt x="283762" y="132163"/>
                </a:cubicBezTo>
                <a:lnTo>
                  <a:pt x="217201" y="132151"/>
                </a:lnTo>
                <a:cubicBezTo>
                  <a:pt x="217517" y="129608"/>
                  <a:pt x="217680" y="127018"/>
                  <a:pt x="217680" y="124389"/>
                </a:cubicBezTo>
                <a:cubicBezTo>
                  <a:pt x="217680" y="119020"/>
                  <a:pt x="217001" y="113811"/>
                  <a:pt x="215721" y="108842"/>
                </a:cubicBezTo>
                <a:lnTo>
                  <a:pt x="283762" y="108840"/>
                </a:lnTo>
                <a:close/>
                <a:moveTo>
                  <a:pt x="155486" y="77743"/>
                </a:moveTo>
                <a:cubicBezTo>
                  <a:pt x="181248" y="77743"/>
                  <a:pt x="202132" y="98627"/>
                  <a:pt x="202132" y="124389"/>
                </a:cubicBezTo>
                <a:cubicBezTo>
                  <a:pt x="202132" y="150151"/>
                  <a:pt x="181248" y="171034"/>
                  <a:pt x="155486" y="171034"/>
                </a:cubicBezTo>
                <a:cubicBezTo>
                  <a:pt x="129723" y="171034"/>
                  <a:pt x="108840" y="150151"/>
                  <a:pt x="108840" y="124389"/>
                </a:cubicBezTo>
                <a:cubicBezTo>
                  <a:pt x="108840" y="98627"/>
                  <a:pt x="129723" y="77743"/>
                  <a:pt x="155486" y="77743"/>
                </a:cubicBezTo>
                <a:close/>
                <a:moveTo>
                  <a:pt x="155486" y="101066"/>
                </a:moveTo>
                <a:cubicBezTo>
                  <a:pt x="142605" y="101066"/>
                  <a:pt x="132163" y="111508"/>
                  <a:pt x="132163" y="124389"/>
                </a:cubicBezTo>
                <a:cubicBezTo>
                  <a:pt x="132163" y="137269"/>
                  <a:pt x="142605" y="147712"/>
                  <a:pt x="155486" y="147712"/>
                </a:cubicBezTo>
                <a:cubicBezTo>
                  <a:pt x="168366" y="147712"/>
                  <a:pt x="178809" y="137269"/>
                  <a:pt x="178809" y="124389"/>
                </a:cubicBezTo>
                <a:cubicBezTo>
                  <a:pt x="178809" y="111508"/>
                  <a:pt x="168366" y="101066"/>
                  <a:pt x="155486" y="101066"/>
                </a:cubicBezTo>
                <a:close/>
                <a:moveTo>
                  <a:pt x="69969" y="0"/>
                </a:moveTo>
                <a:cubicBezTo>
                  <a:pt x="95730" y="0"/>
                  <a:pt x="116614" y="20884"/>
                  <a:pt x="116614" y="46646"/>
                </a:cubicBezTo>
                <a:cubicBezTo>
                  <a:pt x="116614" y="72407"/>
                  <a:pt x="95730" y="93292"/>
                  <a:pt x="69969" y="93292"/>
                </a:cubicBezTo>
                <a:cubicBezTo>
                  <a:pt x="44207" y="93292"/>
                  <a:pt x="23323" y="72407"/>
                  <a:pt x="23323" y="46646"/>
                </a:cubicBezTo>
                <a:cubicBezTo>
                  <a:pt x="23323" y="20884"/>
                  <a:pt x="44207" y="0"/>
                  <a:pt x="69969" y="0"/>
                </a:cubicBezTo>
                <a:close/>
                <a:moveTo>
                  <a:pt x="241003" y="0"/>
                </a:moveTo>
                <a:cubicBezTo>
                  <a:pt x="266766" y="0"/>
                  <a:pt x="287649" y="20884"/>
                  <a:pt x="287649" y="46646"/>
                </a:cubicBezTo>
                <a:cubicBezTo>
                  <a:pt x="287649" y="72407"/>
                  <a:pt x="266766" y="93292"/>
                  <a:pt x="241003" y="93292"/>
                </a:cubicBezTo>
                <a:cubicBezTo>
                  <a:pt x="215241" y="93292"/>
                  <a:pt x="194357" y="72407"/>
                  <a:pt x="194357" y="46646"/>
                </a:cubicBezTo>
                <a:cubicBezTo>
                  <a:pt x="194357" y="20884"/>
                  <a:pt x="215241" y="0"/>
                  <a:pt x="241003" y="0"/>
                </a:cubicBezTo>
                <a:close/>
                <a:moveTo>
                  <a:pt x="69969" y="23323"/>
                </a:moveTo>
                <a:cubicBezTo>
                  <a:pt x="57088" y="23323"/>
                  <a:pt x="46646" y="33765"/>
                  <a:pt x="46646" y="46646"/>
                </a:cubicBezTo>
                <a:cubicBezTo>
                  <a:pt x="46646" y="59527"/>
                  <a:pt x="57088" y="69969"/>
                  <a:pt x="69969" y="69969"/>
                </a:cubicBezTo>
                <a:cubicBezTo>
                  <a:pt x="82850" y="69969"/>
                  <a:pt x="93292" y="59527"/>
                  <a:pt x="93292" y="46646"/>
                </a:cubicBezTo>
                <a:cubicBezTo>
                  <a:pt x="93292" y="33765"/>
                  <a:pt x="82850" y="23323"/>
                  <a:pt x="69969" y="23323"/>
                </a:cubicBezTo>
                <a:close/>
                <a:moveTo>
                  <a:pt x="241003" y="23323"/>
                </a:moveTo>
                <a:cubicBezTo>
                  <a:pt x="228123" y="23323"/>
                  <a:pt x="217680" y="33765"/>
                  <a:pt x="217680" y="46646"/>
                </a:cubicBezTo>
                <a:cubicBezTo>
                  <a:pt x="217680" y="59527"/>
                  <a:pt x="228123" y="69969"/>
                  <a:pt x="241003" y="69969"/>
                </a:cubicBezTo>
                <a:cubicBezTo>
                  <a:pt x="253883" y="69969"/>
                  <a:pt x="264326" y="59527"/>
                  <a:pt x="264326" y="46646"/>
                </a:cubicBezTo>
                <a:cubicBezTo>
                  <a:pt x="264326" y="33765"/>
                  <a:pt x="253883" y="23323"/>
                  <a:pt x="241003" y="23323"/>
                </a:cubicBezTo>
                <a:close/>
              </a:path>
            </a:pathLst>
          </a:custGeom>
          <a:gradFill>
            <a:gsLst>
              <a:gs pos="0">
                <a:srgbClr val="0078D4"/>
              </a:gs>
              <a:gs pos="36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latin typeface="Segoe UI"/>
            </a:endParaRPr>
          </a:p>
        </p:txBody>
      </p:sp>
      <p:sp>
        <p:nvSpPr>
          <p:cNvPr id="23" name="TextBox 338">
            <a:extLst>
              <a:ext uri="{FF2B5EF4-FFF2-40B4-BE49-F238E27FC236}">
                <a16:creationId xmlns:a16="http://schemas.microsoft.com/office/drawing/2014/main" id="{F47C527F-39AE-E8DB-4D49-630F49900618}"/>
              </a:ext>
            </a:extLst>
          </p:cNvPr>
          <p:cNvSpPr txBox="1"/>
          <p:nvPr/>
        </p:nvSpPr>
        <p:spPr>
          <a:xfrm>
            <a:off x="1103512" y="4232179"/>
            <a:ext cx="1724575"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Customer resources</a:t>
            </a:r>
          </a:p>
        </p:txBody>
      </p:sp>
      <p:sp>
        <p:nvSpPr>
          <p:cNvPr id="33" name="Rectangle 32">
            <a:extLst>
              <a:ext uri="{FF2B5EF4-FFF2-40B4-BE49-F238E27FC236}">
                <a16:creationId xmlns:a16="http://schemas.microsoft.com/office/drawing/2014/main" id="{8675F151-22B2-1D56-A3CA-E5B26B3DEFCE}"/>
              </a:ext>
            </a:extLst>
          </p:cNvPr>
          <p:cNvSpPr/>
          <p:nvPr/>
        </p:nvSpPr>
        <p:spPr>
          <a:xfrm>
            <a:off x="639383" y="4615635"/>
            <a:ext cx="3172813" cy="897682"/>
          </a:xfrm>
          <a:prstGeom prst="rect">
            <a:avLst/>
          </a:prstGeom>
        </p:spPr>
        <p:txBody>
          <a:bodyPr wrap="square" lIns="0" tIns="0" rIns="0" bIns="0">
            <a:spAutoFit/>
          </a:bodyPr>
          <a:lstStyle/>
          <a:p>
            <a:pPr marL="236546" indent="-171185" defTabSz="896386">
              <a:spcAft>
                <a:spcPts val="400"/>
              </a:spcAft>
              <a:buFont typeface="Arial" panose="020B0604020202020204" pitchFamily="34" charset="0"/>
              <a:buChar char="•"/>
              <a:defRPr/>
            </a:pPr>
            <a:r>
              <a:rPr lang="en-US" sz="1100" noProof="0" dirty="0">
                <a:solidFill>
                  <a:schemeClr val="bg1"/>
                </a:solidFill>
              </a:rPr>
              <a:t>Customer Executive Sponsor</a:t>
            </a:r>
          </a:p>
          <a:p>
            <a:pPr marL="236546" indent="-171185" defTabSz="896386">
              <a:spcAft>
                <a:spcPts val="400"/>
              </a:spcAft>
              <a:buFont typeface="Arial" panose="020B0604020202020204" pitchFamily="34" charset="0"/>
              <a:buChar char="•"/>
              <a:defRPr/>
            </a:pPr>
            <a:r>
              <a:rPr lang="en-US" sz="1100" noProof="0" dirty="0">
                <a:solidFill>
                  <a:schemeClr val="bg1"/>
                </a:solidFill>
              </a:rPr>
              <a:t>Customer data model architects and report writers (skills: SSAS/Azure Analysis Services/Tabular Modelers and Admins, ADLS, PBI, PowerShell)</a:t>
            </a:r>
          </a:p>
        </p:txBody>
      </p:sp>
      <p:grpSp>
        <p:nvGrpSpPr>
          <p:cNvPr id="15" name="Group 14">
            <a:extLst>
              <a:ext uri="{FF2B5EF4-FFF2-40B4-BE49-F238E27FC236}">
                <a16:creationId xmlns:a16="http://schemas.microsoft.com/office/drawing/2014/main" id="{D6D61B24-F399-21A5-CE85-68ECE7D512C5}"/>
              </a:ext>
            </a:extLst>
          </p:cNvPr>
          <p:cNvGrpSpPr/>
          <p:nvPr/>
        </p:nvGrpSpPr>
        <p:grpSpPr>
          <a:xfrm>
            <a:off x="588263" y="5724838"/>
            <a:ext cx="403656" cy="403654"/>
            <a:chOff x="431210" y="5754940"/>
            <a:chExt cx="482209" cy="482208"/>
          </a:xfrm>
        </p:grpSpPr>
        <p:sp>
          <p:nvSpPr>
            <p:cNvPr id="16" name="Oval 15">
              <a:extLst>
                <a:ext uri="{FF2B5EF4-FFF2-40B4-BE49-F238E27FC236}">
                  <a16:creationId xmlns:a16="http://schemas.microsoft.com/office/drawing/2014/main" id="{8F196822-08AB-313C-E9A9-5DE37D44C4DF}"/>
                </a:ext>
                <a:ext uri="{C183D7F6-B498-43B3-948B-1728B52AA6E4}">
                  <adec:decorative xmlns:adec="http://schemas.microsoft.com/office/drawing/2017/decorative" val="1"/>
                </a:ext>
              </a:extLst>
            </p:cNvPr>
            <p:cNvSpPr/>
            <p:nvPr/>
          </p:nvSpPr>
          <p:spPr>
            <a:xfrm>
              <a:off x="431210" y="5754940"/>
              <a:ext cx="482209" cy="482208"/>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7" name="Graphic 33" descr="Icon of a notepad with a pen">
              <a:extLst>
                <a:ext uri="{FF2B5EF4-FFF2-40B4-BE49-F238E27FC236}">
                  <a16:creationId xmlns:a16="http://schemas.microsoft.com/office/drawing/2014/main" id="{BC8EAA0D-2F0E-33DE-72E5-CAC6CC470FA8}"/>
                </a:ext>
              </a:extLst>
            </p:cNvPr>
            <p:cNvSpPr/>
            <p:nvPr/>
          </p:nvSpPr>
          <p:spPr>
            <a:xfrm>
              <a:off x="556545" y="5864842"/>
              <a:ext cx="231538" cy="262405"/>
            </a:xfrm>
            <a:custGeom>
              <a:avLst/>
              <a:gdLst>
                <a:gd name="connsiteX0" fmla="*/ 65747 w 328770"/>
                <a:gd name="connsiteY0" fmla="*/ 120535 h 372600"/>
                <a:gd name="connsiteX1" fmla="*/ 76704 w 328770"/>
                <a:gd name="connsiteY1" fmla="*/ 109577 h 372600"/>
                <a:gd name="connsiteX2" fmla="*/ 186282 w 328770"/>
                <a:gd name="connsiteY2" fmla="*/ 109577 h 372600"/>
                <a:gd name="connsiteX3" fmla="*/ 197240 w 328770"/>
                <a:gd name="connsiteY3" fmla="*/ 120535 h 372600"/>
                <a:gd name="connsiteX4" fmla="*/ 186282 w 328770"/>
                <a:gd name="connsiteY4" fmla="*/ 131492 h 372600"/>
                <a:gd name="connsiteX5" fmla="*/ 76704 w 328770"/>
                <a:gd name="connsiteY5" fmla="*/ 131492 h 372600"/>
                <a:gd name="connsiteX6" fmla="*/ 65747 w 328770"/>
                <a:gd name="connsiteY6" fmla="*/ 120535 h 372600"/>
                <a:gd name="connsiteX7" fmla="*/ 76704 w 328770"/>
                <a:gd name="connsiteY7" fmla="*/ 175323 h 372600"/>
                <a:gd name="connsiteX8" fmla="*/ 65747 w 328770"/>
                <a:gd name="connsiteY8" fmla="*/ 186281 h 372600"/>
                <a:gd name="connsiteX9" fmla="*/ 76704 w 328770"/>
                <a:gd name="connsiteY9" fmla="*/ 197239 h 372600"/>
                <a:gd name="connsiteX10" fmla="*/ 186282 w 328770"/>
                <a:gd name="connsiteY10" fmla="*/ 197239 h 372600"/>
                <a:gd name="connsiteX11" fmla="*/ 197240 w 328770"/>
                <a:gd name="connsiteY11" fmla="*/ 186281 h 372600"/>
                <a:gd name="connsiteX12" fmla="*/ 186282 w 328770"/>
                <a:gd name="connsiteY12" fmla="*/ 175323 h 372600"/>
                <a:gd name="connsiteX13" fmla="*/ 76704 w 328770"/>
                <a:gd name="connsiteY13" fmla="*/ 175323 h 372600"/>
                <a:gd name="connsiteX14" fmla="*/ 65747 w 328770"/>
                <a:gd name="connsiteY14" fmla="*/ 252027 h 372600"/>
                <a:gd name="connsiteX15" fmla="*/ 76704 w 328770"/>
                <a:gd name="connsiteY15" fmla="*/ 241069 h 372600"/>
                <a:gd name="connsiteX16" fmla="*/ 120535 w 328770"/>
                <a:gd name="connsiteY16" fmla="*/ 241069 h 372600"/>
                <a:gd name="connsiteX17" fmla="*/ 131493 w 328770"/>
                <a:gd name="connsiteY17" fmla="*/ 252027 h 372600"/>
                <a:gd name="connsiteX18" fmla="*/ 120535 w 328770"/>
                <a:gd name="connsiteY18" fmla="*/ 262985 h 372600"/>
                <a:gd name="connsiteX19" fmla="*/ 76704 w 328770"/>
                <a:gd name="connsiteY19" fmla="*/ 262985 h 372600"/>
                <a:gd name="connsiteX20" fmla="*/ 65747 w 328770"/>
                <a:gd name="connsiteY20" fmla="*/ 252027 h 372600"/>
                <a:gd name="connsiteX21" fmla="*/ 43831 w 328770"/>
                <a:gd name="connsiteY21" fmla="*/ 10958 h 372600"/>
                <a:gd name="connsiteX22" fmla="*/ 54789 w 328770"/>
                <a:gd name="connsiteY22" fmla="*/ 0 h 372600"/>
                <a:gd name="connsiteX23" fmla="*/ 65747 w 328770"/>
                <a:gd name="connsiteY23" fmla="*/ 10958 h 372600"/>
                <a:gd name="connsiteX24" fmla="*/ 65747 w 328770"/>
                <a:gd name="connsiteY24" fmla="*/ 21915 h 372600"/>
                <a:gd name="connsiteX25" fmla="*/ 120535 w 328770"/>
                <a:gd name="connsiteY25" fmla="*/ 21915 h 372600"/>
                <a:gd name="connsiteX26" fmla="*/ 120535 w 328770"/>
                <a:gd name="connsiteY26" fmla="*/ 10958 h 372600"/>
                <a:gd name="connsiteX27" fmla="*/ 131493 w 328770"/>
                <a:gd name="connsiteY27" fmla="*/ 0 h 372600"/>
                <a:gd name="connsiteX28" fmla="*/ 142451 w 328770"/>
                <a:gd name="connsiteY28" fmla="*/ 10958 h 372600"/>
                <a:gd name="connsiteX29" fmla="*/ 142451 w 328770"/>
                <a:gd name="connsiteY29" fmla="*/ 21915 h 372600"/>
                <a:gd name="connsiteX30" fmla="*/ 197240 w 328770"/>
                <a:gd name="connsiteY30" fmla="*/ 21915 h 372600"/>
                <a:gd name="connsiteX31" fmla="*/ 197240 w 328770"/>
                <a:gd name="connsiteY31" fmla="*/ 10958 h 372600"/>
                <a:gd name="connsiteX32" fmla="*/ 208197 w 328770"/>
                <a:gd name="connsiteY32" fmla="*/ 0 h 372600"/>
                <a:gd name="connsiteX33" fmla="*/ 219155 w 328770"/>
                <a:gd name="connsiteY33" fmla="*/ 10958 h 372600"/>
                <a:gd name="connsiteX34" fmla="*/ 219155 w 328770"/>
                <a:gd name="connsiteY34" fmla="*/ 21915 h 372600"/>
                <a:gd name="connsiteX35" fmla="*/ 230113 w 328770"/>
                <a:gd name="connsiteY35" fmla="*/ 21915 h 372600"/>
                <a:gd name="connsiteX36" fmla="*/ 262986 w 328770"/>
                <a:gd name="connsiteY36" fmla="*/ 54789 h 372600"/>
                <a:gd name="connsiteX37" fmla="*/ 262986 w 328770"/>
                <a:gd name="connsiteY37" fmla="*/ 158484 h 372600"/>
                <a:gd name="connsiteX38" fmla="*/ 243306 w 328770"/>
                <a:gd name="connsiteY38" fmla="*/ 171831 h 372600"/>
                <a:gd name="connsiteX39" fmla="*/ 241071 w 328770"/>
                <a:gd name="connsiteY39" fmla="*/ 174067 h 372600"/>
                <a:gd name="connsiteX40" fmla="*/ 241071 w 328770"/>
                <a:gd name="connsiteY40" fmla="*/ 54789 h 372600"/>
                <a:gd name="connsiteX41" fmla="*/ 230113 w 328770"/>
                <a:gd name="connsiteY41" fmla="*/ 43831 h 372600"/>
                <a:gd name="connsiteX42" fmla="*/ 32873 w 328770"/>
                <a:gd name="connsiteY42" fmla="*/ 43831 h 372600"/>
                <a:gd name="connsiteX43" fmla="*/ 21916 w 328770"/>
                <a:gd name="connsiteY43" fmla="*/ 54789 h 372600"/>
                <a:gd name="connsiteX44" fmla="*/ 21916 w 328770"/>
                <a:gd name="connsiteY44" fmla="*/ 317773 h 372600"/>
                <a:gd name="connsiteX45" fmla="*/ 32873 w 328770"/>
                <a:gd name="connsiteY45" fmla="*/ 328731 h 372600"/>
                <a:gd name="connsiteX46" fmla="*/ 114409 w 328770"/>
                <a:gd name="connsiteY46" fmla="*/ 328731 h 372600"/>
                <a:gd name="connsiteX47" fmla="*/ 110830 w 328770"/>
                <a:gd name="connsiteY47" fmla="*/ 343046 h 372600"/>
                <a:gd name="connsiteX48" fmla="*/ 109640 w 328770"/>
                <a:gd name="connsiteY48" fmla="*/ 350646 h 372600"/>
                <a:gd name="connsiteX49" fmla="*/ 32873 w 328770"/>
                <a:gd name="connsiteY49" fmla="*/ 350646 h 372600"/>
                <a:gd name="connsiteX50" fmla="*/ 0 w 328770"/>
                <a:gd name="connsiteY50" fmla="*/ 317773 h 372600"/>
                <a:gd name="connsiteX51" fmla="*/ 0 w 328770"/>
                <a:gd name="connsiteY51" fmla="*/ 54789 h 372600"/>
                <a:gd name="connsiteX52" fmla="*/ 32873 w 328770"/>
                <a:gd name="connsiteY52" fmla="*/ 21915 h 372600"/>
                <a:gd name="connsiteX53" fmla="*/ 43831 w 328770"/>
                <a:gd name="connsiteY53" fmla="*/ 21915 h 372600"/>
                <a:gd name="connsiteX54" fmla="*/ 43831 w 328770"/>
                <a:gd name="connsiteY54" fmla="*/ 10958 h 372600"/>
                <a:gd name="connsiteX55" fmla="*/ 258805 w 328770"/>
                <a:gd name="connsiteY55" fmla="*/ 187328 h 372600"/>
                <a:gd name="connsiteX56" fmla="*/ 152966 w 328770"/>
                <a:gd name="connsiteY56" fmla="*/ 293167 h 372600"/>
                <a:gd name="connsiteX57" fmla="*/ 140299 w 328770"/>
                <a:gd name="connsiteY57" fmla="*/ 315536 h 372600"/>
                <a:gd name="connsiteX58" fmla="*/ 132093 w 328770"/>
                <a:gd name="connsiteY58" fmla="*/ 348363 h 372600"/>
                <a:gd name="connsiteX59" fmla="*/ 155732 w 328770"/>
                <a:gd name="connsiteY59" fmla="*/ 372001 h 372600"/>
                <a:gd name="connsiteX60" fmla="*/ 188559 w 328770"/>
                <a:gd name="connsiteY60" fmla="*/ 363793 h 372600"/>
                <a:gd name="connsiteX61" fmla="*/ 210928 w 328770"/>
                <a:gd name="connsiteY61" fmla="*/ 351129 h 372600"/>
                <a:gd name="connsiteX62" fmla="*/ 316767 w 328770"/>
                <a:gd name="connsiteY62" fmla="*/ 245290 h 372600"/>
                <a:gd name="connsiteX63" fmla="*/ 316767 w 328770"/>
                <a:gd name="connsiteY63" fmla="*/ 187328 h 372600"/>
                <a:gd name="connsiteX64" fmla="*/ 258805 w 328770"/>
                <a:gd name="connsiteY64" fmla="*/ 187328 h 37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28770" h="372600">
                  <a:moveTo>
                    <a:pt x="65747" y="120535"/>
                  </a:moveTo>
                  <a:cubicBezTo>
                    <a:pt x="65747" y="114483"/>
                    <a:pt x="70653" y="109577"/>
                    <a:pt x="76704" y="109577"/>
                  </a:cubicBezTo>
                  <a:lnTo>
                    <a:pt x="186282" y="109577"/>
                  </a:lnTo>
                  <a:cubicBezTo>
                    <a:pt x="192333" y="109577"/>
                    <a:pt x="197240" y="114483"/>
                    <a:pt x="197240" y="120535"/>
                  </a:cubicBezTo>
                  <a:cubicBezTo>
                    <a:pt x="197240" y="126586"/>
                    <a:pt x="192333" y="131492"/>
                    <a:pt x="186282" y="131492"/>
                  </a:cubicBezTo>
                  <a:lnTo>
                    <a:pt x="76704" y="131492"/>
                  </a:lnTo>
                  <a:cubicBezTo>
                    <a:pt x="70653" y="131492"/>
                    <a:pt x="65747" y="126586"/>
                    <a:pt x="65747" y="120535"/>
                  </a:cubicBezTo>
                  <a:close/>
                  <a:moveTo>
                    <a:pt x="76704" y="175323"/>
                  </a:moveTo>
                  <a:cubicBezTo>
                    <a:pt x="70653" y="175323"/>
                    <a:pt x="65747" y="180230"/>
                    <a:pt x="65747" y="186281"/>
                  </a:cubicBezTo>
                  <a:cubicBezTo>
                    <a:pt x="65747" y="192332"/>
                    <a:pt x="70653" y="197239"/>
                    <a:pt x="76704" y="197239"/>
                  </a:cubicBezTo>
                  <a:lnTo>
                    <a:pt x="186282" y="197239"/>
                  </a:lnTo>
                  <a:cubicBezTo>
                    <a:pt x="192333" y="197239"/>
                    <a:pt x="197240" y="192332"/>
                    <a:pt x="197240" y="186281"/>
                  </a:cubicBezTo>
                  <a:cubicBezTo>
                    <a:pt x="197240" y="180230"/>
                    <a:pt x="192333" y="175323"/>
                    <a:pt x="186282" y="175323"/>
                  </a:cubicBezTo>
                  <a:lnTo>
                    <a:pt x="76704" y="175323"/>
                  </a:lnTo>
                  <a:close/>
                  <a:moveTo>
                    <a:pt x="65747" y="252027"/>
                  </a:moveTo>
                  <a:cubicBezTo>
                    <a:pt x="65747" y="245976"/>
                    <a:pt x="70653" y="241069"/>
                    <a:pt x="76704" y="241069"/>
                  </a:cubicBezTo>
                  <a:lnTo>
                    <a:pt x="120535" y="241069"/>
                  </a:lnTo>
                  <a:cubicBezTo>
                    <a:pt x="126587" y="241069"/>
                    <a:pt x="131493" y="245976"/>
                    <a:pt x="131493" y="252027"/>
                  </a:cubicBezTo>
                  <a:cubicBezTo>
                    <a:pt x="131493" y="258078"/>
                    <a:pt x="126587" y="262985"/>
                    <a:pt x="120535" y="262985"/>
                  </a:cubicBezTo>
                  <a:lnTo>
                    <a:pt x="76704" y="262985"/>
                  </a:lnTo>
                  <a:cubicBezTo>
                    <a:pt x="70653" y="262985"/>
                    <a:pt x="65747" y="258078"/>
                    <a:pt x="65747" y="252027"/>
                  </a:cubicBezTo>
                  <a:close/>
                  <a:moveTo>
                    <a:pt x="43831" y="10958"/>
                  </a:moveTo>
                  <a:cubicBezTo>
                    <a:pt x="43831" y="4906"/>
                    <a:pt x="48737" y="0"/>
                    <a:pt x="54789" y="0"/>
                  </a:cubicBezTo>
                  <a:cubicBezTo>
                    <a:pt x="60841" y="0"/>
                    <a:pt x="65747" y="4906"/>
                    <a:pt x="65747" y="10958"/>
                  </a:cubicBezTo>
                  <a:lnTo>
                    <a:pt x="65747" y="21915"/>
                  </a:lnTo>
                  <a:lnTo>
                    <a:pt x="120535" y="21915"/>
                  </a:lnTo>
                  <a:lnTo>
                    <a:pt x="120535" y="10958"/>
                  </a:lnTo>
                  <a:cubicBezTo>
                    <a:pt x="120535" y="4906"/>
                    <a:pt x="125441" y="0"/>
                    <a:pt x="131493" y="0"/>
                  </a:cubicBezTo>
                  <a:cubicBezTo>
                    <a:pt x="137544" y="0"/>
                    <a:pt x="142451" y="4906"/>
                    <a:pt x="142451" y="10958"/>
                  </a:cubicBezTo>
                  <a:lnTo>
                    <a:pt x="142451" y="21915"/>
                  </a:lnTo>
                  <a:lnTo>
                    <a:pt x="197240" y="21915"/>
                  </a:lnTo>
                  <a:lnTo>
                    <a:pt x="197240" y="10958"/>
                  </a:lnTo>
                  <a:cubicBezTo>
                    <a:pt x="197240" y="4906"/>
                    <a:pt x="202146" y="0"/>
                    <a:pt x="208197" y="0"/>
                  </a:cubicBezTo>
                  <a:cubicBezTo>
                    <a:pt x="214248" y="0"/>
                    <a:pt x="219155" y="4906"/>
                    <a:pt x="219155" y="10958"/>
                  </a:cubicBezTo>
                  <a:lnTo>
                    <a:pt x="219155" y="21915"/>
                  </a:lnTo>
                  <a:lnTo>
                    <a:pt x="230113" y="21915"/>
                  </a:lnTo>
                  <a:cubicBezTo>
                    <a:pt x="248268" y="21915"/>
                    <a:pt x="262986" y="36633"/>
                    <a:pt x="262986" y="54789"/>
                  </a:cubicBezTo>
                  <a:lnTo>
                    <a:pt x="262986" y="158484"/>
                  </a:lnTo>
                  <a:cubicBezTo>
                    <a:pt x="255837" y="161547"/>
                    <a:pt x="249142" y="165996"/>
                    <a:pt x="243306" y="171831"/>
                  </a:cubicBezTo>
                  <a:lnTo>
                    <a:pt x="241071" y="174067"/>
                  </a:lnTo>
                  <a:lnTo>
                    <a:pt x="241071" y="54789"/>
                  </a:lnTo>
                  <a:cubicBezTo>
                    <a:pt x="241071" y="48737"/>
                    <a:pt x="236164" y="43831"/>
                    <a:pt x="230113" y="43831"/>
                  </a:cubicBezTo>
                  <a:lnTo>
                    <a:pt x="32873" y="43831"/>
                  </a:lnTo>
                  <a:cubicBezTo>
                    <a:pt x="26822" y="43831"/>
                    <a:pt x="21916" y="48737"/>
                    <a:pt x="21916" y="54789"/>
                  </a:cubicBezTo>
                  <a:lnTo>
                    <a:pt x="21916" y="317773"/>
                  </a:lnTo>
                  <a:cubicBezTo>
                    <a:pt x="21916" y="323824"/>
                    <a:pt x="26822" y="328731"/>
                    <a:pt x="32873" y="328731"/>
                  </a:cubicBezTo>
                  <a:lnTo>
                    <a:pt x="114409" y="328731"/>
                  </a:lnTo>
                  <a:lnTo>
                    <a:pt x="110830" y="343046"/>
                  </a:lnTo>
                  <a:cubicBezTo>
                    <a:pt x="110190" y="345608"/>
                    <a:pt x="109800" y="348146"/>
                    <a:pt x="109640" y="350646"/>
                  </a:cubicBezTo>
                  <a:lnTo>
                    <a:pt x="32873" y="350646"/>
                  </a:lnTo>
                  <a:cubicBezTo>
                    <a:pt x="14718" y="350646"/>
                    <a:pt x="0" y="335928"/>
                    <a:pt x="0" y="317773"/>
                  </a:cubicBezTo>
                  <a:lnTo>
                    <a:pt x="0" y="54789"/>
                  </a:lnTo>
                  <a:cubicBezTo>
                    <a:pt x="0" y="36633"/>
                    <a:pt x="14718" y="21915"/>
                    <a:pt x="32873" y="21915"/>
                  </a:cubicBezTo>
                  <a:lnTo>
                    <a:pt x="43831" y="21915"/>
                  </a:lnTo>
                  <a:lnTo>
                    <a:pt x="43831" y="10958"/>
                  </a:lnTo>
                  <a:close/>
                  <a:moveTo>
                    <a:pt x="258805" y="187328"/>
                  </a:moveTo>
                  <a:lnTo>
                    <a:pt x="152966" y="293167"/>
                  </a:lnTo>
                  <a:cubicBezTo>
                    <a:pt x="146794" y="299338"/>
                    <a:pt x="142416" y="307070"/>
                    <a:pt x="140299" y="315536"/>
                  </a:cubicBezTo>
                  <a:lnTo>
                    <a:pt x="132093" y="348363"/>
                  </a:lnTo>
                  <a:cubicBezTo>
                    <a:pt x="128524" y="362639"/>
                    <a:pt x="141456" y="375569"/>
                    <a:pt x="155732" y="372001"/>
                  </a:cubicBezTo>
                  <a:lnTo>
                    <a:pt x="188559" y="363793"/>
                  </a:lnTo>
                  <a:cubicBezTo>
                    <a:pt x="197025" y="361676"/>
                    <a:pt x="204757" y="357300"/>
                    <a:pt x="210928" y="351129"/>
                  </a:cubicBezTo>
                  <a:lnTo>
                    <a:pt x="316767" y="245290"/>
                  </a:lnTo>
                  <a:cubicBezTo>
                    <a:pt x="332772" y="229283"/>
                    <a:pt x="332772" y="203333"/>
                    <a:pt x="316767" y="187328"/>
                  </a:cubicBezTo>
                  <a:cubicBezTo>
                    <a:pt x="300762" y="171322"/>
                    <a:pt x="274809" y="171322"/>
                    <a:pt x="258805" y="187328"/>
                  </a:cubicBezTo>
                  <a:close/>
                </a:path>
              </a:pathLst>
            </a:custGeom>
            <a:gradFill>
              <a:gsLst>
                <a:gs pos="0">
                  <a:srgbClr val="0078D4"/>
                </a:gs>
                <a:gs pos="35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latin typeface="Segoe UI"/>
              </a:endParaRPr>
            </a:p>
          </p:txBody>
        </p:sp>
      </p:grpSp>
      <p:sp>
        <p:nvSpPr>
          <p:cNvPr id="34" name="TextBox 338">
            <a:extLst>
              <a:ext uri="{FF2B5EF4-FFF2-40B4-BE49-F238E27FC236}">
                <a16:creationId xmlns:a16="http://schemas.microsoft.com/office/drawing/2014/main" id="{AC46CA8E-64DE-8EEE-E8B3-92A2D3228D7E}"/>
              </a:ext>
            </a:extLst>
          </p:cNvPr>
          <p:cNvSpPr txBox="1"/>
          <p:nvPr/>
        </p:nvSpPr>
        <p:spPr>
          <a:xfrm>
            <a:off x="1103512" y="5811249"/>
            <a:ext cx="1424301"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Nominate today</a:t>
            </a:r>
          </a:p>
        </p:txBody>
      </p:sp>
      <p:sp>
        <p:nvSpPr>
          <p:cNvPr id="35" name="Rectangle 34">
            <a:extLst>
              <a:ext uri="{FF2B5EF4-FFF2-40B4-BE49-F238E27FC236}">
                <a16:creationId xmlns:a16="http://schemas.microsoft.com/office/drawing/2014/main" id="{D460CB72-E6CC-32CF-EE4F-3E94D117775A}"/>
              </a:ext>
            </a:extLst>
          </p:cNvPr>
          <p:cNvSpPr/>
          <p:nvPr/>
        </p:nvSpPr>
        <p:spPr>
          <a:xfrm>
            <a:off x="639383" y="6194705"/>
            <a:ext cx="3172813" cy="169277"/>
          </a:xfrm>
          <a:prstGeom prst="rect">
            <a:avLst/>
          </a:prstGeom>
        </p:spPr>
        <p:txBody>
          <a:bodyPr wrap="square" lIns="0" tIns="0" rIns="0" bIns="0" anchor="t">
            <a:spAutoFit/>
          </a:bodyPr>
          <a:lstStyle/>
          <a:p>
            <a:pPr defTabSz="896386">
              <a:spcAft>
                <a:spcPts val="588"/>
              </a:spcAft>
              <a:defRPr/>
            </a:pPr>
            <a:r>
              <a:rPr lang="en-US" sz="1100" noProof="0" dirty="0">
                <a:solidFill>
                  <a:schemeClr val="bg1"/>
                </a:solidFill>
              </a:rPr>
              <a:t>Submit here: https://aka.ms/AzureOfferNavigator</a:t>
            </a:r>
          </a:p>
        </p:txBody>
      </p:sp>
      <p:sp>
        <p:nvSpPr>
          <p:cNvPr id="36" name="TextBox 338">
            <a:extLst>
              <a:ext uri="{FF2B5EF4-FFF2-40B4-BE49-F238E27FC236}">
                <a16:creationId xmlns:a16="http://schemas.microsoft.com/office/drawing/2014/main" id="{509EA88D-E54E-0AAF-BA93-FA0CACD60825}"/>
              </a:ext>
              <a:ext uri="{C183D7F6-B498-43B3-948B-1728B52AA6E4}">
                <adec:decorative xmlns:adec="http://schemas.microsoft.com/office/drawing/2017/decorative" val="1"/>
              </a:ext>
            </a:extLst>
          </p:cNvPr>
          <p:cNvSpPr txBox="1"/>
          <p:nvPr/>
        </p:nvSpPr>
        <p:spPr>
          <a:xfrm rot="5400000">
            <a:off x="5246510" y="-653178"/>
            <a:ext cx="279094" cy="2198791"/>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noProof="0" dirty="0"/>
          </a:p>
        </p:txBody>
      </p:sp>
      <p:grpSp>
        <p:nvGrpSpPr>
          <p:cNvPr id="37" name="Group 36">
            <a:extLst>
              <a:ext uri="{FF2B5EF4-FFF2-40B4-BE49-F238E27FC236}">
                <a16:creationId xmlns:a16="http://schemas.microsoft.com/office/drawing/2014/main" id="{0894E610-D0D6-8CB5-5840-2FB50771C5BB}"/>
              </a:ext>
            </a:extLst>
          </p:cNvPr>
          <p:cNvGrpSpPr/>
          <p:nvPr/>
        </p:nvGrpSpPr>
        <p:grpSpPr>
          <a:xfrm>
            <a:off x="4116083" y="278072"/>
            <a:ext cx="336291" cy="336290"/>
            <a:chOff x="4222705" y="278072"/>
            <a:chExt cx="336291" cy="336290"/>
          </a:xfrm>
        </p:grpSpPr>
        <p:sp>
          <p:nvSpPr>
            <p:cNvPr id="38" name="Oval 37">
              <a:extLst>
                <a:ext uri="{FF2B5EF4-FFF2-40B4-BE49-F238E27FC236}">
                  <a16:creationId xmlns:a16="http://schemas.microsoft.com/office/drawing/2014/main" id="{AEF0E62B-B55A-614C-4650-F725C5AF8AE9}"/>
                </a:ext>
                <a:ext uri="{C183D7F6-B498-43B3-948B-1728B52AA6E4}">
                  <adec:decorative xmlns:adec="http://schemas.microsoft.com/office/drawing/2017/decorative" val="1"/>
                </a:ext>
              </a:extLst>
            </p:cNvPr>
            <p:cNvSpPr/>
            <p:nvPr/>
          </p:nvSpPr>
          <p:spPr>
            <a:xfrm>
              <a:off x="4222705" y="278072"/>
              <a:ext cx="336291" cy="3362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39" name="Oval 38">
              <a:extLst>
                <a:ext uri="{FF2B5EF4-FFF2-40B4-BE49-F238E27FC236}">
                  <a16:creationId xmlns:a16="http://schemas.microsoft.com/office/drawing/2014/main" id="{B0EF8C3A-5E4A-0B13-9AD1-1A55B582AC8A}"/>
                </a:ext>
                <a:ext uri="{C183D7F6-B498-43B3-948B-1728B52AA6E4}">
                  <adec:decorative xmlns:adec="http://schemas.microsoft.com/office/drawing/2017/decorative" val="1"/>
                </a:ext>
              </a:extLst>
            </p:cNvPr>
            <p:cNvSpPr/>
            <p:nvPr/>
          </p:nvSpPr>
          <p:spPr>
            <a:xfrm>
              <a:off x="4223043" y="278410"/>
              <a:ext cx="335615" cy="335615"/>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40" name="Graphic 62" descr="Icon of a person in front of a notepad">
              <a:extLst>
                <a:ext uri="{FF2B5EF4-FFF2-40B4-BE49-F238E27FC236}">
                  <a16:creationId xmlns:a16="http://schemas.microsoft.com/office/drawing/2014/main" id="{A42365EC-FD90-ADD6-6BD1-19666FFF4E2F}"/>
                </a:ext>
              </a:extLst>
            </p:cNvPr>
            <p:cNvSpPr/>
            <p:nvPr/>
          </p:nvSpPr>
          <p:spPr>
            <a:xfrm>
              <a:off x="4302677" y="351262"/>
              <a:ext cx="176346" cy="189910"/>
            </a:xfrm>
            <a:custGeom>
              <a:avLst/>
              <a:gdLst>
                <a:gd name="connsiteX0" fmla="*/ 21450 w 185737"/>
                <a:gd name="connsiteY0" fmla="*/ 190548 h 200025"/>
                <a:gd name="connsiteX1" fmla="*/ 19 w 185737"/>
                <a:gd name="connsiteY1" fmla="*/ 169116 h 200025"/>
                <a:gd name="connsiteX2" fmla="*/ 0 w 185737"/>
                <a:gd name="connsiteY2" fmla="*/ 35719 h 200025"/>
                <a:gd name="connsiteX3" fmla="*/ 21431 w 185737"/>
                <a:gd name="connsiteY3" fmla="*/ 14288 h 200025"/>
                <a:gd name="connsiteX4" fmla="*/ 28546 w 185737"/>
                <a:gd name="connsiteY4" fmla="*/ 14278 h 200025"/>
                <a:gd name="connsiteX5" fmla="*/ 28546 w 185737"/>
                <a:gd name="connsiteY5" fmla="*/ 7144 h 200025"/>
                <a:gd name="connsiteX6" fmla="*/ 34738 w 185737"/>
                <a:gd name="connsiteY6" fmla="*/ 67 h 200025"/>
                <a:gd name="connsiteX7" fmla="*/ 35690 w 185737"/>
                <a:gd name="connsiteY7" fmla="*/ 0 h 200025"/>
                <a:gd name="connsiteX8" fmla="*/ 42767 w 185737"/>
                <a:gd name="connsiteY8" fmla="*/ 6172 h 200025"/>
                <a:gd name="connsiteX9" fmla="*/ 42834 w 185737"/>
                <a:gd name="connsiteY9" fmla="*/ 7144 h 200025"/>
                <a:gd name="connsiteX10" fmla="*/ 42834 w 185737"/>
                <a:gd name="connsiteY10" fmla="*/ 14278 h 200025"/>
                <a:gd name="connsiteX11" fmla="*/ 71438 w 185737"/>
                <a:gd name="connsiteY11" fmla="*/ 14278 h 200025"/>
                <a:gd name="connsiteX12" fmla="*/ 71438 w 185737"/>
                <a:gd name="connsiteY12" fmla="*/ 7144 h 200025"/>
                <a:gd name="connsiteX13" fmla="*/ 77619 w 185737"/>
                <a:gd name="connsiteY13" fmla="*/ 67 h 200025"/>
                <a:gd name="connsiteX14" fmla="*/ 78581 w 185737"/>
                <a:gd name="connsiteY14" fmla="*/ 0 h 200025"/>
                <a:gd name="connsiteX15" fmla="*/ 85658 w 185737"/>
                <a:gd name="connsiteY15" fmla="*/ 6172 h 200025"/>
                <a:gd name="connsiteX16" fmla="*/ 85725 w 185737"/>
                <a:gd name="connsiteY16" fmla="*/ 7144 h 200025"/>
                <a:gd name="connsiteX17" fmla="*/ 85725 w 185737"/>
                <a:gd name="connsiteY17" fmla="*/ 14278 h 200025"/>
                <a:gd name="connsiteX18" fmla="*/ 114281 w 185737"/>
                <a:gd name="connsiteY18" fmla="*/ 14278 h 200025"/>
                <a:gd name="connsiteX19" fmla="*/ 114281 w 185737"/>
                <a:gd name="connsiteY19" fmla="*/ 7144 h 200025"/>
                <a:gd name="connsiteX20" fmla="*/ 120453 w 185737"/>
                <a:gd name="connsiteY20" fmla="*/ 67 h 200025"/>
                <a:gd name="connsiteX21" fmla="*/ 121444 w 185737"/>
                <a:gd name="connsiteY21" fmla="*/ 0 h 200025"/>
                <a:gd name="connsiteX22" fmla="*/ 128521 w 185737"/>
                <a:gd name="connsiteY22" fmla="*/ 6172 h 200025"/>
                <a:gd name="connsiteX23" fmla="*/ 128588 w 185737"/>
                <a:gd name="connsiteY23" fmla="*/ 7144 h 200025"/>
                <a:gd name="connsiteX24" fmla="*/ 128588 w 185737"/>
                <a:gd name="connsiteY24" fmla="*/ 14278 h 200025"/>
                <a:gd name="connsiteX25" fmla="*/ 135722 w 185737"/>
                <a:gd name="connsiteY25" fmla="*/ 14278 h 200025"/>
                <a:gd name="connsiteX26" fmla="*/ 157153 w 185737"/>
                <a:gd name="connsiteY26" fmla="*/ 35709 h 200025"/>
                <a:gd name="connsiteX27" fmla="*/ 157153 w 185737"/>
                <a:gd name="connsiteY27" fmla="*/ 76933 h 200025"/>
                <a:gd name="connsiteX28" fmla="*/ 142865 w 185737"/>
                <a:gd name="connsiteY28" fmla="*/ 71752 h 200025"/>
                <a:gd name="connsiteX29" fmla="*/ 142865 w 185737"/>
                <a:gd name="connsiteY29" fmla="*/ 35719 h 200025"/>
                <a:gd name="connsiteX30" fmla="*/ 135722 w 185737"/>
                <a:gd name="connsiteY30" fmla="*/ 28575 h 200025"/>
                <a:gd name="connsiteX31" fmla="*/ 21336 w 185737"/>
                <a:gd name="connsiteY31" fmla="*/ 28575 h 200025"/>
                <a:gd name="connsiteX32" fmla="*/ 14288 w 185737"/>
                <a:gd name="connsiteY32" fmla="*/ 35719 h 200025"/>
                <a:gd name="connsiteX33" fmla="*/ 14297 w 185737"/>
                <a:gd name="connsiteY33" fmla="*/ 169107 h 200025"/>
                <a:gd name="connsiteX34" fmla="*/ 21441 w 185737"/>
                <a:gd name="connsiteY34" fmla="*/ 176251 h 200025"/>
                <a:gd name="connsiteX35" fmla="*/ 83525 w 185737"/>
                <a:gd name="connsiteY35" fmla="*/ 176251 h 200025"/>
                <a:gd name="connsiteX36" fmla="*/ 92126 w 185737"/>
                <a:gd name="connsiteY36" fmla="*/ 190538 h 200025"/>
                <a:gd name="connsiteX37" fmla="*/ 21450 w 185737"/>
                <a:gd name="connsiteY37" fmla="*/ 190538 h 200025"/>
                <a:gd name="connsiteX38" fmla="*/ 142856 w 185737"/>
                <a:gd name="connsiteY38" fmla="*/ 81391 h 200025"/>
                <a:gd name="connsiteX39" fmla="*/ 157143 w 185737"/>
                <a:gd name="connsiteY39" fmla="*/ 89173 h 200025"/>
                <a:gd name="connsiteX40" fmla="*/ 164306 w 185737"/>
                <a:gd name="connsiteY40" fmla="*/ 107156 h 200025"/>
                <a:gd name="connsiteX41" fmla="*/ 157163 w 185737"/>
                <a:gd name="connsiteY41" fmla="*/ 125139 h 200025"/>
                <a:gd name="connsiteX42" fmla="*/ 138113 w 185737"/>
                <a:gd name="connsiteY42" fmla="*/ 133350 h 200025"/>
                <a:gd name="connsiteX43" fmla="*/ 111944 w 185737"/>
                <a:gd name="connsiteY43" fmla="*/ 107131 h 200025"/>
                <a:gd name="connsiteX44" fmla="*/ 138161 w 185737"/>
                <a:gd name="connsiteY44" fmla="*/ 80963 h 200025"/>
                <a:gd name="connsiteX45" fmla="*/ 142856 w 185737"/>
                <a:gd name="connsiteY45" fmla="*/ 81391 h 200025"/>
                <a:gd name="connsiteX46" fmla="*/ 104623 w 185737"/>
                <a:gd name="connsiteY46" fmla="*/ 142875 h 200025"/>
                <a:gd name="connsiteX47" fmla="*/ 171450 w 185737"/>
                <a:gd name="connsiteY47" fmla="*/ 142875 h 200025"/>
                <a:gd name="connsiteX48" fmla="*/ 185738 w 185737"/>
                <a:gd name="connsiteY48" fmla="*/ 157163 h 200025"/>
                <a:gd name="connsiteX49" fmla="*/ 185738 w 185737"/>
                <a:gd name="connsiteY49" fmla="*/ 161925 h 200025"/>
                <a:gd name="connsiteX50" fmla="*/ 138113 w 185737"/>
                <a:gd name="connsiteY50" fmla="*/ 200025 h 200025"/>
                <a:gd name="connsiteX51" fmla="*/ 106242 w 185737"/>
                <a:gd name="connsiteY51" fmla="*/ 190548 h 200025"/>
                <a:gd name="connsiteX52" fmla="*/ 93926 w 185737"/>
                <a:gd name="connsiteY52" fmla="*/ 176251 h 200025"/>
                <a:gd name="connsiteX53" fmla="*/ 90488 w 185737"/>
                <a:gd name="connsiteY53" fmla="*/ 161925 h 200025"/>
                <a:gd name="connsiteX54" fmla="*/ 90488 w 185737"/>
                <a:gd name="connsiteY54" fmla="*/ 157163 h 200025"/>
                <a:gd name="connsiteX55" fmla="*/ 104642 w 185737"/>
                <a:gd name="connsiteY55" fmla="*/ 142875 h 200025"/>
                <a:gd name="connsiteX56" fmla="*/ 35700 w 185737"/>
                <a:gd name="connsiteY56" fmla="*/ 95250 h 200025"/>
                <a:gd name="connsiteX57" fmla="*/ 104413 w 185737"/>
                <a:gd name="connsiteY57" fmla="*/ 95250 h 200025"/>
                <a:gd name="connsiteX58" fmla="*/ 102460 w 185737"/>
                <a:gd name="connsiteY58" fmla="*/ 109538 h 200025"/>
                <a:gd name="connsiteX59" fmla="*/ 35700 w 185737"/>
                <a:gd name="connsiteY59" fmla="*/ 109538 h 200025"/>
                <a:gd name="connsiteX60" fmla="*/ 28558 w 185737"/>
                <a:gd name="connsiteY60" fmla="*/ 102392 h 200025"/>
                <a:gd name="connsiteX61" fmla="*/ 34728 w 185737"/>
                <a:gd name="connsiteY61" fmla="*/ 95317 h 200025"/>
                <a:gd name="connsiteX62" fmla="*/ 35700 w 185737"/>
                <a:gd name="connsiteY62" fmla="*/ 95250 h 200025"/>
                <a:gd name="connsiteX63" fmla="*/ 35700 w 185737"/>
                <a:gd name="connsiteY63" fmla="*/ 133350 h 200025"/>
                <a:gd name="connsiteX64" fmla="*/ 73790 w 185737"/>
                <a:gd name="connsiteY64" fmla="*/ 133350 h 200025"/>
                <a:gd name="connsiteX65" fmla="*/ 80932 w 185737"/>
                <a:gd name="connsiteY65" fmla="*/ 140496 h 200025"/>
                <a:gd name="connsiteX66" fmla="*/ 74762 w 185737"/>
                <a:gd name="connsiteY66" fmla="*/ 147571 h 200025"/>
                <a:gd name="connsiteX67" fmla="*/ 73790 w 185737"/>
                <a:gd name="connsiteY67" fmla="*/ 147638 h 200025"/>
                <a:gd name="connsiteX68" fmla="*/ 35700 w 185737"/>
                <a:gd name="connsiteY68" fmla="*/ 147638 h 200025"/>
                <a:gd name="connsiteX69" fmla="*/ 28558 w 185737"/>
                <a:gd name="connsiteY69" fmla="*/ 140492 h 200025"/>
                <a:gd name="connsiteX70" fmla="*/ 34728 w 185737"/>
                <a:gd name="connsiteY70" fmla="*/ 133417 h 200025"/>
                <a:gd name="connsiteX71" fmla="*/ 35700 w 185737"/>
                <a:gd name="connsiteY71" fmla="*/ 133350 h 200025"/>
                <a:gd name="connsiteX72" fmla="*/ 35700 w 185737"/>
                <a:gd name="connsiteY72" fmla="*/ 57150 h 200025"/>
                <a:gd name="connsiteX73" fmla="*/ 121425 w 185737"/>
                <a:gd name="connsiteY73" fmla="*/ 57150 h 200025"/>
                <a:gd name="connsiteX74" fmla="*/ 128557 w 185737"/>
                <a:gd name="connsiteY74" fmla="*/ 64305 h 200025"/>
                <a:gd name="connsiteX75" fmla="*/ 122387 w 185737"/>
                <a:gd name="connsiteY75" fmla="*/ 71371 h 200025"/>
                <a:gd name="connsiteX76" fmla="*/ 121425 w 185737"/>
                <a:gd name="connsiteY76" fmla="*/ 71438 h 200025"/>
                <a:gd name="connsiteX77" fmla="*/ 35700 w 185737"/>
                <a:gd name="connsiteY77" fmla="*/ 71438 h 200025"/>
                <a:gd name="connsiteX78" fmla="*/ 28558 w 185737"/>
                <a:gd name="connsiteY78" fmla="*/ 64292 h 200025"/>
                <a:gd name="connsiteX79" fmla="*/ 34728 w 185737"/>
                <a:gd name="connsiteY79" fmla="*/ 57217 h 200025"/>
                <a:gd name="connsiteX80" fmla="*/ 35700 w 185737"/>
                <a:gd name="connsiteY80" fmla="*/ 5715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85737" h="200025">
                  <a:moveTo>
                    <a:pt x="21450" y="190548"/>
                  </a:moveTo>
                  <a:cubicBezTo>
                    <a:pt x="9614" y="190548"/>
                    <a:pt x="19" y="180952"/>
                    <a:pt x="19" y="169116"/>
                  </a:cubicBezTo>
                  <a:lnTo>
                    <a:pt x="0" y="35719"/>
                  </a:lnTo>
                  <a:cubicBezTo>
                    <a:pt x="0" y="23883"/>
                    <a:pt x="9595" y="14288"/>
                    <a:pt x="21431" y="14288"/>
                  </a:cubicBezTo>
                  <a:lnTo>
                    <a:pt x="28546" y="14278"/>
                  </a:lnTo>
                  <a:lnTo>
                    <a:pt x="28546" y="7144"/>
                  </a:lnTo>
                  <a:cubicBezTo>
                    <a:pt x="28548" y="3568"/>
                    <a:pt x="31193" y="543"/>
                    <a:pt x="34738" y="67"/>
                  </a:cubicBezTo>
                  <a:lnTo>
                    <a:pt x="35690" y="0"/>
                  </a:lnTo>
                  <a:cubicBezTo>
                    <a:pt x="39260" y="0"/>
                    <a:pt x="42282" y="2636"/>
                    <a:pt x="42767" y="6172"/>
                  </a:cubicBezTo>
                  <a:lnTo>
                    <a:pt x="42834" y="7144"/>
                  </a:lnTo>
                  <a:lnTo>
                    <a:pt x="42834" y="14278"/>
                  </a:lnTo>
                  <a:lnTo>
                    <a:pt x="71438" y="14278"/>
                  </a:lnTo>
                  <a:lnTo>
                    <a:pt x="71438" y="7144"/>
                  </a:lnTo>
                  <a:cubicBezTo>
                    <a:pt x="71438" y="3571"/>
                    <a:pt x="74079" y="548"/>
                    <a:pt x="77619" y="67"/>
                  </a:cubicBezTo>
                  <a:lnTo>
                    <a:pt x="78581" y="0"/>
                  </a:lnTo>
                  <a:cubicBezTo>
                    <a:pt x="82151" y="0"/>
                    <a:pt x="85173" y="2636"/>
                    <a:pt x="85658" y="6172"/>
                  </a:cubicBezTo>
                  <a:lnTo>
                    <a:pt x="85725" y="7144"/>
                  </a:lnTo>
                  <a:lnTo>
                    <a:pt x="85725" y="14278"/>
                  </a:lnTo>
                  <a:lnTo>
                    <a:pt x="114281" y="14278"/>
                  </a:lnTo>
                  <a:lnTo>
                    <a:pt x="114281" y="7144"/>
                  </a:lnTo>
                  <a:cubicBezTo>
                    <a:pt x="114281" y="3574"/>
                    <a:pt x="116917" y="552"/>
                    <a:pt x="120453" y="67"/>
                  </a:cubicBezTo>
                  <a:lnTo>
                    <a:pt x="121444" y="0"/>
                  </a:lnTo>
                  <a:cubicBezTo>
                    <a:pt x="125014" y="0"/>
                    <a:pt x="128035" y="2636"/>
                    <a:pt x="128521" y="6172"/>
                  </a:cubicBezTo>
                  <a:lnTo>
                    <a:pt x="128588" y="7144"/>
                  </a:lnTo>
                  <a:lnTo>
                    <a:pt x="128588" y="14278"/>
                  </a:lnTo>
                  <a:lnTo>
                    <a:pt x="135722" y="14278"/>
                  </a:lnTo>
                  <a:cubicBezTo>
                    <a:pt x="147557" y="14278"/>
                    <a:pt x="157153" y="23873"/>
                    <a:pt x="157153" y="35709"/>
                  </a:cubicBezTo>
                  <a:lnTo>
                    <a:pt x="157153" y="76933"/>
                  </a:lnTo>
                  <a:cubicBezTo>
                    <a:pt x="152820" y="74195"/>
                    <a:pt x="147946" y="72427"/>
                    <a:pt x="142865" y="71752"/>
                  </a:cubicBezTo>
                  <a:lnTo>
                    <a:pt x="142865" y="35719"/>
                  </a:lnTo>
                  <a:cubicBezTo>
                    <a:pt x="142865" y="31773"/>
                    <a:pt x="139667" y="28575"/>
                    <a:pt x="135722" y="28575"/>
                  </a:cubicBezTo>
                  <a:lnTo>
                    <a:pt x="21336" y="28575"/>
                  </a:lnTo>
                  <a:cubicBezTo>
                    <a:pt x="17428" y="28627"/>
                    <a:pt x="14287" y="31810"/>
                    <a:pt x="14288" y="35719"/>
                  </a:cubicBezTo>
                  <a:lnTo>
                    <a:pt x="14297" y="169107"/>
                  </a:lnTo>
                  <a:cubicBezTo>
                    <a:pt x="14297" y="173060"/>
                    <a:pt x="17507" y="176251"/>
                    <a:pt x="21441" y="176251"/>
                  </a:cubicBezTo>
                  <a:lnTo>
                    <a:pt x="83525" y="176251"/>
                  </a:lnTo>
                  <a:cubicBezTo>
                    <a:pt x="85430" y="181404"/>
                    <a:pt x="88335" y="186242"/>
                    <a:pt x="92126" y="190538"/>
                  </a:cubicBezTo>
                  <a:lnTo>
                    <a:pt x="21450" y="190538"/>
                  </a:lnTo>
                  <a:close/>
                  <a:moveTo>
                    <a:pt x="142856" y="81391"/>
                  </a:moveTo>
                  <a:cubicBezTo>
                    <a:pt x="148447" y="82420"/>
                    <a:pt x="153410" y="85201"/>
                    <a:pt x="157143" y="89173"/>
                  </a:cubicBezTo>
                  <a:cubicBezTo>
                    <a:pt x="161748" y="94028"/>
                    <a:pt x="164312" y="100465"/>
                    <a:pt x="164306" y="107156"/>
                  </a:cubicBezTo>
                  <a:cubicBezTo>
                    <a:pt x="164318" y="113845"/>
                    <a:pt x="161760" y="120282"/>
                    <a:pt x="157163" y="125139"/>
                  </a:cubicBezTo>
                  <a:cubicBezTo>
                    <a:pt x="152215" y="130385"/>
                    <a:pt x="145323" y="133356"/>
                    <a:pt x="138113" y="133350"/>
                  </a:cubicBezTo>
                  <a:cubicBezTo>
                    <a:pt x="123646" y="133337"/>
                    <a:pt x="111929" y="121598"/>
                    <a:pt x="111944" y="107131"/>
                  </a:cubicBezTo>
                  <a:cubicBezTo>
                    <a:pt x="111957" y="92666"/>
                    <a:pt x="123695" y="80949"/>
                    <a:pt x="138161" y="80963"/>
                  </a:cubicBezTo>
                  <a:cubicBezTo>
                    <a:pt x="139736" y="80964"/>
                    <a:pt x="141307" y="81107"/>
                    <a:pt x="142856" y="81391"/>
                  </a:cubicBezTo>
                  <a:close/>
                  <a:moveTo>
                    <a:pt x="104623" y="142875"/>
                  </a:moveTo>
                  <a:lnTo>
                    <a:pt x="171450" y="142875"/>
                  </a:lnTo>
                  <a:cubicBezTo>
                    <a:pt x="179341" y="142875"/>
                    <a:pt x="185738" y="149272"/>
                    <a:pt x="185738" y="157163"/>
                  </a:cubicBezTo>
                  <a:lnTo>
                    <a:pt x="185738" y="161925"/>
                  </a:lnTo>
                  <a:cubicBezTo>
                    <a:pt x="185738" y="180699"/>
                    <a:pt x="168021" y="200025"/>
                    <a:pt x="138113" y="200025"/>
                  </a:cubicBezTo>
                  <a:cubicBezTo>
                    <a:pt x="124978" y="200025"/>
                    <a:pt x="114205" y="196310"/>
                    <a:pt x="106242" y="190548"/>
                  </a:cubicBezTo>
                  <a:cubicBezTo>
                    <a:pt x="101037" y="186852"/>
                    <a:pt x="96810" y="181945"/>
                    <a:pt x="93926" y="176251"/>
                  </a:cubicBezTo>
                  <a:cubicBezTo>
                    <a:pt x="91691" y="171804"/>
                    <a:pt x="90514" y="166902"/>
                    <a:pt x="90488" y="161925"/>
                  </a:cubicBezTo>
                  <a:lnTo>
                    <a:pt x="90488" y="157163"/>
                  </a:lnTo>
                  <a:cubicBezTo>
                    <a:pt x="90488" y="149323"/>
                    <a:pt x="96803" y="142948"/>
                    <a:pt x="104642" y="142875"/>
                  </a:cubicBezTo>
                  <a:close/>
                  <a:moveTo>
                    <a:pt x="35700" y="95250"/>
                  </a:moveTo>
                  <a:lnTo>
                    <a:pt x="104413" y="95250"/>
                  </a:lnTo>
                  <a:cubicBezTo>
                    <a:pt x="102796" y="99830"/>
                    <a:pt x="102132" y="104692"/>
                    <a:pt x="102460" y="109538"/>
                  </a:cubicBezTo>
                  <a:lnTo>
                    <a:pt x="35700" y="109538"/>
                  </a:lnTo>
                  <a:cubicBezTo>
                    <a:pt x="31754" y="109537"/>
                    <a:pt x="28557" y="106337"/>
                    <a:pt x="28558" y="102392"/>
                  </a:cubicBezTo>
                  <a:cubicBezTo>
                    <a:pt x="28559" y="98823"/>
                    <a:pt x="31193" y="95803"/>
                    <a:pt x="34728" y="95317"/>
                  </a:cubicBezTo>
                  <a:lnTo>
                    <a:pt x="35700" y="95250"/>
                  </a:lnTo>
                  <a:close/>
                  <a:moveTo>
                    <a:pt x="35700" y="133350"/>
                  </a:moveTo>
                  <a:lnTo>
                    <a:pt x="73790" y="133350"/>
                  </a:lnTo>
                  <a:cubicBezTo>
                    <a:pt x="77735" y="133351"/>
                    <a:pt x="80933" y="136550"/>
                    <a:pt x="80932" y="140496"/>
                  </a:cubicBezTo>
                  <a:cubicBezTo>
                    <a:pt x="80931" y="144065"/>
                    <a:pt x="78296" y="147084"/>
                    <a:pt x="74762" y="147571"/>
                  </a:cubicBezTo>
                  <a:lnTo>
                    <a:pt x="73790" y="147638"/>
                  </a:lnTo>
                  <a:lnTo>
                    <a:pt x="35700" y="147638"/>
                  </a:lnTo>
                  <a:cubicBezTo>
                    <a:pt x="31754" y="147637"/>
                    <a:pt x="28557" y="144437"/>
                    <a:pt x="28558" y="140492"/>
                  </a:cubicBezTo>
                  <a:cubicBezTo>
                    <a:pt x="28559" y="136923"/>
                    <a:pt x="31193" y="133903"/>
                    <a:pt x="34728" y="133417"/>
                  </a:cubicBezTo>
                  <a:lnTo>
                    <a:pt x="35700" y="133350"/>
                  </a:lnTo>
                  <a:close/>
                  <a:moveTo>
                    <a:pt x="35700" y="57150"/>
                  </a:moveTo>
                  <a:lnTo>
                    <a:pt x="121425" y="57150"/>
                  </a:lnTo>
                  <a:cubicBezTo>
                    <a:pt x="125370" y="57156"/>
                    <a:pt x="128563" y="60360"/>
                    <a:pt x="128557" y="64305"/>
                  </a:cubicBezTo>
                  <a:cubicBezTo>
                    <a:pt x="128551" y="67870"/>
                    <a:pt x="125919" y="70885"/>
                    <a:pt x="122387" y="71371"/>
                  </a:cubicBezTo>
                  <a:lnTo>
                    <a:pt x="121425" y="71438"/>
                  </a:lnTo>
                  <a:lnTo>
                    <a:pt x="35700" y="71438"/>
                  </a:lnTo>
                  <a:cubicBezTo>
                    <a:pt x="31754" y="71436"/>
                    <a:pt x="28557" y="68237"/>
                    <a:pt x="28558" y="64292"/>
                  </a:cubicBezTo>
                  <a:cubicBezTo>
                    <a:pt x="28559" y="60723"/>
                    <a:pt x="31193" y="57703"/>
                    <a:pt x="34728" y="57217"/>
                  </a:cubicBezTo>
                  <a:lnTo>
                    <a:pt x="35700" y="57150"/>
                  </a:lnTo>
                  <a:close/>
                </a:path>
              </a:pathLst>
            </a:custGeom>
            <a:gradFill>
              <a:gsLst>
                <a:gs pos="0">
                  <a:srgbClr val="0078D4"/>
                </a:gs>
                <a:gs pos="35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sp>
        <p:nvSpPr>
          <p:cNvPr id="42" name="TextBox 340">
            <a:extLst>
              <a:ext uri="{FF2B5EF4-FFF2-40B4-BE49-F238E27FC236}">
                <a16:creationId xmlns:a16="http://schemas.microsoft.com/office/drawing/2014/main" id="{D8E32A71-1997-54F9-6B97-5EDB4F91B46B}"/>
              </a:ext>
            </a:extLst>
          </p:cNvPr>
          <p:cNvSpPr txBox="1">
            <a:spLocks/>
          </p:cNvSpPr>
          <p:nvPr/>
        </p:nvSpPr>
        <p:spPr>
          <a:xfrm>
            <a:off x="4269970" y="672228"/>
            <a:ext cx="2215483" cy="76944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Assess your current state of Power BI adoption and gain clarity on the data culture objectives for your organization to understand benefits and use case for PBI Premium/Fabric.</a:t>
            </a:r>
          </a:p>
        </p:txBody>
      </p:sp>
      <p:sp>
        <p:nvSpPr>
          <p:cNvPr id="43" name="TextBox 338">
            <a:extLst>
              <a:ext uri="{FF2B5EF4-FFF2-40B4-BE49-F238E27FC236}">
                <a16:creationId xmlns:a16="http://schemas.microsoft.com/office/drawing/2014/main" id="{CC6C996F-A464-C5B0-4BA1-71C0764F895E}"/>
              </a:ext>
              <a:ext uri="{C183D7F6-B498-43B3-948B-1728B52AA6E4}">
                <adec:decorative xmlns:adec="http://schemas.microsoft.com/office/drawing/2017/decorative" val="1"/>
              </a:ext>
            </a:extLst>
          </p:cNvPr>
          <p:cNvSpPr txBox="1"/>
          <p:nvPr/>
        </p:nvSpPr>
        <p:spPr>
          <a:xfrm rot="5400000">
            <a:off x="7847176" y="-653178"/>
            <a:ext cx="279094" cy="2198791"/>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noProof="0" dirty="0">
              <a:solidFill>
                <a:schemeClr val="tx2"/>
              </a:solidFill>
            </a:endParaRPr>
          </a:p>
        </p:txBody>
      </p:sp>
      <p:sp>
        <p:nvSpPr>
          <p:cNvPr id="44" name="Oval 43">
            <a:extLst>
              <a:ext uri="{FF2B5EF4-FFF2-40B4-BE49-F238E27FC236}">
                <a16:creationId xmlns:a16="http://schemas.microsoft.com/office/drawing/2014/main" id="{E2CAD09F-F24A-5054-B97F-509BBE0ECAE5}"/>
              </a:ext>
              <a:ext uri="{C183D7F6-B498-43B3-948B-1728B52AA6E4}">
                <adec:decorative xmlns:adec="http://schemas.microsoft.com/office/drawing/2017/decorative" val="1"/>
              </a:ext>
            </a:extLst>
          </p:cNvPr>
          <p:cNvSpPr/>
          <p:nvPr/>
        </p:nvSpPr>
        <p:spPr>
          <a:xfrm>
            <a:off x="6716411" y="278072"/>
            <a:ext cx="336291" cy="3362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solidFill>
                <a:schemeClr val="tx2"/>
              </a:solidFill>
              <a:effectLst/>
              <a:uLnTx/>
              <a:uFillTx/>
              <a:latin typeface="Segoe Sans Display"/>
              <a:ea typeface="+mn-ea"/>
              <a:cs typeface="Segoe Sans Display Semibold" pitchFamily="2" charset="0"/>
            </a:endParaRPr>
          </a:p>
        </p:txBody>
      </p:sp>
      <p:grpSp>
        <p:nvGrpSpPr>
          <p:cNvPr id="45" name="Group 44">
            <a:extLst>
              <a:ext uri="{FF2B5EF4-FFF2-40B4-BE49-F238E27FC236}">
                <a16:creationId xmlns:a16="http://schemas.microsoft.com/office/drawing/2014/main" id="{F7A1330B-103A-7BE0-43CD-765FE5BCDBD6}"/>
              </a:ext>
            </a:extLst>
          </p:cNvPr>
          <p:cNvGrpSpPr/>
          <p:nvPr/>
        </p:nvGrpSpPr>
        <p:grpSpPr>
          <a:xfrm>
            <a:off x="6716749" y="278410"/>
            <a:ext cx="335615" cy="335615"/>
            <a:chOff x="6797487" y="278410"/>
            <a:chExt cx="335615" cy="335615"/>
          </a:xfrm>
        </p:grpSpPr>
        <p:sp>
          <p:nvSpPr>
            <p:cNvPr id="46" name="Oval 45">
              <a:extLst>
                <a:ext uri="{FF2B5EF4-FFF2-40B4-BE49-F238E27FC236}">
                  <a16:creationId xmlns:a16="http://schemas.microsoft.com/office/drawing/2014/main" id="{4BF500FC-82BD-8676-0EBB-65E83C7F0D5A}"/>
                </a:ext>
                <a:ext uri="{C183D7F6-B498-43B3-948B-1728B52AA6E4}">
                  <adec:decorative xmlns:adec="http://schemas.microsoft.com/office/drawing/2017/decorative" val="1"/>
                </a:ext>
              </a:extLst>
            </p:cNvPr>
            <p:cNvSpPr/>
            <p:nvPr/>
          </p:nvSpPr>
          <p:spPr>
            <a:xfrm>
              <a:off x="6797487" y="278410"/>
              <a:ext cx="335615" cy="335615"/>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chemeClr val="tx2"/>
                </a:solidFill>
                <a:cs typeface="Segoe UI" pitchFamily="34" charset="0"/>
              </a:endParaRPr>
            </a:p>
          </p:txBody>
        </p:sp>
        <p:sp>
          <p:nvSpPr>
            <p:cNvPr id="47" name="Freeform: Shape 46" descr="Icon of a gear with three clockwise rotating arrows">
              <a:extLst>
                <a:ext uri="{FF2B5EF4-FFF2-40B4-BE49-F238E27FC236}">
                  <a16:creationId xmlns:a16="http://schemas.microsoft.com/office/drawing/2014/main" id="{2E2E14A7-3730-2C1E-F0CE-E3D1AD36108D}"/>
                </a:ext>
              </a:extLst>
            </p:cNvPr>
            <p:cNvSpPr>
              <a:spLocks noChangeAspect="1"/>
            </p:cNvSpPr>
            <p:nvPr/>
          </p:nvSpPr>
          <p:spPr>
            <a:xfrm>
              <a:off x="6859434" y="344311"/>
              <a:ext cx="211721" cy="203813"/>
            </a:xfrm>
            <a:custGeom>
              <a:avLst/>
              <a:gdLst>
                <a:gd name="connsiteX0" fmla="*/ 36064 w 439688"/>
                <a:gd name="connsiteY0" fmla="*/ 183736 h 423266"/>
                <a:gd name="connsiteX1" fmla="*/ 48030 w 439688"/>
                <a:gd name="connsiteY1" fmla="*/ 185302 h 423266"/>
                <a:gd name="connsiteX2" fmla="*/ 72701 w 439688"/>
                <a:gd name="connsiteY2" fmla="*/ 218007 h 423266"/>
                <a:gd name="connsiteX3" fmla="*/ 70992 w 439688"/>
                <a:gd name="connsiteY3" fmla="*/ 229845 h 423266"/>
                <a:gd name="connsiteX4" fmla="*/ 64570 w 439688"/>
                <a:gd name="connsiteY4" fmla="*/ 231458 h 423266"/>
                <a:gd name="connsiteX5" fmla="*/ 59072 w 439688"/>
                <a:gd name="connsiteY5" fmla="*/ 228095 h 423266"/>
                <a:gd name="connsiteX6" fmla="*/ 46043 w 439688"/>
                <a:gd name="connsiteY6" fmla="*/ 211097 h 423266"/>
                <a:gd name="connsiteX7" fmla="*/ 67388 w 439688"/>
                <a:gd name="connsiteY7" fmla="*/ 301059 h 423266"/>
                <a:gd name="connsiteX8" fmla="*/ 222393 w 439688"/>
                <a:gd name="connsiteY8" fmla="*/ 394292 h 423266"/>
                <a:gd name="connsiteX9" fmla="*/ 228630 w 439688"/>
                <a:gd name="connsiteY9" fmla="*/ 397332 h 423266"/>
                <a:gd name="connsiteX10" fmla="*/ 230386 w 439688"/>
                <a:gd name="connsiteY10" fmla="*/ 404196 h 423266"/>
                <a:gd name="connsiteX11" fmla="*/ 222255 w 439688"/>
                <a:gd name="connsiteY11" fmla="*/ 410921 h 423266"/>
                <a:gd name="connsiteX12" fmla="*/ 222116 w 439688"/>
                <a:gd name="connsiteY12" fmla="*/ 410921 h 423266"/>
                <a:gd name="connsiteX13" fmla="*/ 52696 w 439688"/>
                <a:gd name="connsiteY13" fmla="*/ 308936 h 423266"/>
                <a:gd name="connsiteX14" fmla="*/ 29503 w 439688"/>
                <a:gd name="connsiteY14" fmla="*/ 209992 h 423266"/>
                <a:gd name="connsiteX15" fmla="*/ 13610 w 439688"/>
                <a:gd name="connsiteY15" fmla="*/ 221876 h 423266"/>
                <a:gd name="connsiteX16" fmla="*/ 7419 w 439688"/>
                <a:gd name="connsiteY16" fmla="*/ 223489 h 423266"/>
                <a:gd name="connsiteX17" fmla="*/ 1690 w 439688"/>
                <a:gd name="connsiteY17" fmla="*/ 220172 h 423266"/>
                <a:gd name="connsiteX18" fmla="*/ 3445 w 439688"/>
                <a:gd name="connsiteY18" fmla="*/ 208195 h 423266"/>
                <a:gd name="connsiteX19" fmla="*/ 236855 w 439688"/>
                <a:gd name="connsiteY19" fmla="*/ 175675 h 423266"/>
                <a:gd name="connsiteX20" fmla="*/ 205484 w 439688"/>
                <a:gd name="connsiteY20" fmla="*/ 213953 h 423266"/>
                <a:gd name="connsiteX21" fmla="*/ 230433 w 439688"/>
                <a:gd name="connsiteY21" fmla="*/ 238828 h 423266"/>
                <a:gd name="connsiteX22" fmla="*/ 268826 w 439688"/>
                <a:gd name="connsiteY22" fmla="*/ 207551 h 423266"/>
                <a:gd name="connsiteX23" fmla="*/ 236855 w 439688"/>
                <a:gd name="connsiteY23" fmla="*/ 175675 h 423266"/>
                <a:gd name="connsiteX24" fmla="*/ 236855 w 439688"/>
                <a:gd name="connsiteY24" fmla="*/ 154393 h 423266"/>
                <a:gd name="connsiteX25" fmla="*/ 290171 w 439688"/>
                <a:gd name="connsiteY25" fmla="*/ 207551 h 423266"/>
                <a:gd name="connsiteX26" fmla="*/ 236855 w 439688"/>
                <a:gd name="connsiteY26" fmla="*/ 260708 h 423266"/>
                <a:gd name="connsiteX27" fmla="*/ 183538 w 439688"/>
                <a:gd name="connsiteY27" fmla="*/ 207551 h 423266"/>
                <a:gd name="connsiteX28" fmla="*/ 236855 w 439688"/>
                <a:gd name="connsiteY28" fmla="*/ 154393 h 423266"/>
                <a:gd name="connsiteX29" fmla="*/ 399991 w 439688"/>
                <a:gd name="connsiteY29" fmla="*/ 97873 h 423266"/>
                <a:gd name="connsiteX30" fmla="*/ 405350 w 439688"/>
                <a:gd name="connsiteY30" fmla="*/ 101236 h 423266"/>
                <a:gd name="connsiteX31" fmla="*/ 388625 w 439688"/>
                <a:gd name="connsiteY31" fmla="*/ 342102 h 423266"/>
                <a:gd name="connsiteX32" fmla="*/ 302645 w 439688"/>
                <a:gd name="connsiteY32" fmla="*/ 396779 h 423266"/>
                <a:gd name="connsiteX33" fmla="*/ 319092 w 439688"/>
                <a:gd name="connsiteY33" fmla="*/ 407742 h 423266"/>
                <a:gd name="connsiteX34" fmla="*/ 322742 w 439688"/>
                <a:gd name="connsiteY34" fmla="*/ 413132 h 423266"/>
                <a:gd name="connsiteX35" fmla="*/ 321541 w 439688"/>
                <a:gd name="connsiteY35" fmla="*/ 419488 h 423266"/>
                <a:gd name="connsiteX36" fmla="*/ 314334 w 439688"/>
                <a:gd name="connsiteY36" fmla="*/ 423266 h 423266"/>
                <a:gd name="connsiteX37" fmla="*/ 309621 w 439688"/>
                <a:gd name="connsiteY37" fmla="*/ 421884 h 423266"/>
                <a:gd name="connsiteX38" fmla="*/ 275617 w 439688"/>
                <a:gd name="connsiteY38" fmla="*/ 399267 h 423266"/>
                <a:gd name="connsiteX39" fmla="*/ 273168 w 439688"/>
                <a:gd name="connsiteY39" fmla="*/ 387474 h 423266"/>
                <a:gd name="connsiteX40" fmla="*/ 295899 w 439688"/>
                <a:gd name="connsiteY40" fmla="*/ 353433 h 423266"/>
                <a:gd name="connsiteX41" fmla="*/ 301444 w 439688"/>
                <a:gd name="connsiteY41" fmla="*/ 349840 h 423266"/>
                <a:gd name="connsiteX42" fmla="*/ 307773 w 439688"/>
                <a:gd name="connsiteY42" fmla="*/ 351176 h 423266"/>
                <a:gd name="connsiteX43" fmla="*/ 311377 w 439688"/>
                <a:gd name="connsiteY43" fmla="*/ 356566 h 423266"/>
                <a:gd name="connsiteX44" fmla="*/ 310083 w 439688"/>
                <a:gd name="connsiteY44" fmla="*/ 362923 h 423266"/>
                <a:gd name="connsiteX45" fmla="*/ 298209 w 439688"/>
                <a:gd name="connsiteY45" fmla="*/ 380795 h 423266"/>
                <a:gd name="connsiteX46" fmla="*/ 376336 w 439688"/>
                <a:gd name="connsiteY46" fmla="*/ 330908 h 423266"/>
                <a:gd name="connsiteX47" fmla="*/ 391721 w 439688"/>
                <a:gd name="connsiteY47" fmla="*/ 110817 h 423266"/>
                <a:gd name="connsiteX48" fmla="*/ 393384 w 439688"/>
                <a:gd name="connsiteY48" fmla="*/ 99578 h 423266"/>
                <a:gd name="connsiteX49" fmla="*/ 394863 w 439688"/>
                <a:gd name="connsiteY49" fmla="*/ 101374 h 423266"/>
                <a:gd name="connsiteX50" fmla="*/ 393476 w 439688"/>
                <a:gd name="connsiteY50" fmla="*/ 99532 h 423266"/>
                <a:gd name="connsiteX51" fmla="*/ 399991 w 439688"/>
                <a:gd name="connsiteY51" fmla="*/ 97873 h 423266"/>
                <a:gd name="connsiteX52" fmla="*/ 237039 w 439688"/>
                <a:gd name="connsiteY52" fmla="*/ 90595 h 423266"/>
                <a:gd name="connsiteX53" fmla="*/ 217773 w 439688"/>
                <a:gd name="connsiteY53" fmla="*/ 92254 h 423266"/>
                <a:gd name="connsiteX54" fmla="*/ 216341 w 439688"/>
                <a:gd name="connsiteY54" fmla="*/ 105059 h 423266"/>
                <a:gd name="connsiteX55" fmla="*/ 194765 w 439688"/>
                <a:gd name="connsiteY55" fmla="*/ 137718 h 423266"/>
                <a:gd name="connsiteX56" fmla="*/ 159005 w 439688"/>
                <a:gd name="connsiteY56" fmla="*/ 139054 h 423266"/>
                <a:gd name="connsiteX57" fmla="*/ 146254 w 439688"/>
                <a:gd name="connsiteY57" fmla="*/ 133480 h 423266"/>
                <a:gd name="connsiteX58" fmla="*/ 127080 w 439688"/>
                <a:gd name="connsiteY58" fmla="*/ 166324 h 423266"/>
                <a:gd name="connsiteX59" fmla="*/ 137614 w 439688"/>
                <a:gd name="connsiteY59" fmla="*/ 174062 h 423266"/>
                <a:gd name="connsiteX60" fmla="*/ 155125 w 439688"/>
                <a:gd name="connsiteY60" fmla="*/ 208886 h 423266"/>
                <a:gd name="connsiteX61" fmla="*/ 138400 w 439688"/>
                <a:gd name="connsiteY61" fmla="*/ 240440 h 423266"/>
                <a:gd name="connsiteX62" fmla="*/ 127034 w 439688"/>
                <a:gd name="connsiteY62" fmla="*/ 248777 h 423266"/>
                <a:gd name="connsiteX63" fmla="*/ 146208 w 439688"/>
                <a:gd name="connsiteY63" fmla="*/ 281713 h 423266"/>
                <a:gd name="connsiteX64" fmla="*/ 159052 w 439688"/>
                <a:gd name="connsiteY64" fmla="*/ 276093 h 423266"/>
                <a:gd name="connsiteX65" fmla="*/ 213015 w 439688"/>
                <a:gd name="connsiteY65" fmla="*/ 297190 h 423266"/>
                <a:gd name="connsiteX66" fmla="*/ 216156 w 439688"/>
                <a:gd name="connsiteY66" fmla="*/ 308936 h 423266"/>
                <a:gd name="connsiteX67" fmla="*/ 217727 w 439688"/>
                <a:gd name="connsiteY67" fmla="*/ 322893 h 423266"/>
                <a:gd name="connsiteX68" fmla="*/ 255936 w 439688"/>
                <a:gd name="connsiteY68" fmla="*/ 322893 h 423266"/>
                <a:gd name="connsiteX69" fmla="*/ 257507 w 439688"/>
                <a:gd name="connsiteY69" fmla="*/ 308936 h 423266"/>
                <a:gd name="connsiteX70" fmla="*/ 302738 w 439688"/>
                <a:gd name="connsiteY70" fmla="*/ 272869 h 423266"/>
                <a:gd name="connsiteX71" fmla="*/ 314657 w 439688"/>
                <a:gd name="connsiteY71" fmla="*/ 276047 h 423266"/>
                <a:gd name="connsiteX72" fmla="*/ 327501 w 439688"/>
                <a:gd name="connsiteY72" fmla="*/ 281667 h 423266"/>
                <a:gd name="connsiteX73" fmla="*/ 346629 w 439688"/>
                <a:gd name="connsiteY73" fmla="*/ 248823 h 423266"/>
                <a:gd name="connsiteX74" fmla="*/ 335263 w 439688"/>
                <a:gd name="connsiteY74" fmla="*/ 240486 h 423266"/>
                <a:gd name="connsiteX75" fmla="*/ 326531 w 439688"/>
                <a:gd name="connsiteY75" fmla="*/ 183413 h 423266"/>
                <a:gd name="connsiteX76" fmla="*/ 335263 w 439688"/>
                <a:gd name="connsiteY76" fmla="*/ 174707 h 423266"/>
                <a:gd name="connsiteX77" fmla="*/ 346583 w 439688"/>
                <a:gd name="connsiteY77" fmla="*/ 166370 h 423266"/>
                <a:gd name="connsiteX78" fmla="*/ 327409 w 439688"/>
                <a:gd name="connsiteY78" fmla="*/ 133526 h 423266"/>
                <a:gd name="connsiteX79" fmla="*/ 314657 w 439688"/>
                <a:gd name="connsiteY79" fmla="*/ 139100 h 423266"/>
                <a:gd name="connsiteX80" fmla="*/ 260648 w 439688"/>
                <a:gd name="connsiteY80" fmla="*/ 118049 h 423266"/>
                <a:gd name="connsiteX81" fmla="*/ 257460 w 439688"/>
                <a:gd name="connsiteY81" fmla="*/ 106165 h 423266"/>
                <a:gd name="connsiteX82" fmla="*/ 255889 w 439688"/>
                <a:gd name="connsiteY82" fmla="*/ 92346 h 423266"/>
                <a:gd name="connsiteX83" fmla="*/ 236947 w 439688"/>
                <a:gd name="connsiteY83" fmla="*/ 90687 h 423266"/>
                <a:gd name="connsiteX84" fmla="*/ 237039 w 439688"/>
                <a:gd name="connsiteY84" fmla="*/ 69314 h 423266"/>
                <a:gd name="connsiteX85" fmla="*/ 267948 w 439688"/>
                <a:gd name="connsiteY85" fmla="*/ 72861 h 423266"/>
                <a:gd name="connsiteX86" fmla="*/ 276357 w 439688"/>
                <a:gd name="connsiteY86" fmla="*/ 82074 h 423266"/>
                <a:gd name="connsiteX87" fmla="*/ 278713 w 439688"/>
                <a:gd name="connsiteY87" fmla="*/ 103079 h 423266"/>
                <a:gd name="connsiteX88" fmla="*/ 287815 w 439688"/>
                <a:gd name="connsiteY88" fmla="*/ 118141 h 423266"/>
                <a:gd name="connsiteX89" fmla="*/ 306203 w 439688"/>
                <a:gd name="connsiteY89" fmla="*/ 119523 h 423266"/>
                <a:gd name="connsiteX90" fmla="*/ 326115 w 439688"/>
                <a:gd name="connsiteY90" fmla="*/ 110817 h 423266"/>
                <a:gd name="connsiteX91" fmla="*/ 338220 w 439688"/>
                <a:gd name="connsiteY91" fmla="*/ 113305 h 423266"/>
                <a:gd name="connsiteX92" fmla="*/ 369498 w 439688"/>
                <a:gd name="connsiteY92" fmla="*/ 166923 h 423266"/>
                <a:gd name="connsiteX93" fmla="*/ 365664 w 439688"/>
                <a:gd name="connsiteY93" fmla="*/ 178761 h 423266"/>
                <a:gd name="connsiteX94" fmla="*/ 348015 w 439688"/>
                <a:gd name="connsiteY94" fmla="*/ 191751 h 423266"/>
                <a:gd name="connsiteX95" fmla="*/ 343810 w 439688"/>
                <a:gd name="connsiteY95" fmla="*/ 219112 h 423266"/>
                <a:gd name="connsiteX96" fmla="*/ 348015 w 439688"/>
                <a:gd name="connsiteY96" fmla="*/ 223304 h 423266"/>
                <a:gd name="connsiteX97" fmla="*/ 365664 w 439688"/>
                <a:gd name="connsiteY97" fmla="*/ 236294 h 423266"/>
                <a:gd name="connsiteX98" fmla="*/ 369498 w 439688"/>
                <a:gd name="connsiteY98" fmla="*/ 248132 h 423266"/>
                <a:gd name="connsiteX99" fmla="*/ 338220 w 439688"/>
                <a:gd name="connsiteY99" fmla="*/ 301750 h 423266"/>
                <a:gd name="connsiteX100" fmla="*/ 326162 w 439688"/>
                <a:gd name="connsiteY100" fmla="*/ 304238 h 423266"/>
                <a:gd name="connsiteX101" fmla="*/ 306757 w 439688"/>
                <a:gd name="connsiteY101" fmla="*/ 295762 h 423266"/>
                <a:gd name="connsiteX102" fmla="*/ 289154 w 439688"/>
                <a:gd name="connsiteY102" fmla="*/ 296085 h 423266"/>
                <a:gd name="connsiteX103" fmla="*/ 278805 w 439688"/>
                <a:gd name="connsiteY103" fmla="*/ 311285 h 423266"/>
                <a:gd name="connsiteX104" fmla="*/ 276403 w 439688"/>
                <a:gd name="connsiteY104" fmla="*/ 332935 h 423266"/>
                <a:gd name="connsiteX105" fmla="*/ 268133 w 439688"/>
                <a:gd name="connsiteY105" fmla="*/ 342148 h 423266"/>
                <a:gd name="connsiteX106" fmla="*/ 205761 w 439688"/>
                <a:gd name="connsiteY106" fmla="*/ 342148 h 423266"/>
                <a:gd name="connsiteX107" fmla="*/ 197491 w 439688"/>
                <a:gd name="connsiteY107" fmla="*/ 332935 h 423266"/>
                <a:gd name="connsiteX108" fmla="*/ 195089 w 439688"/>
                <a:gd name="connsiteY108" fmla="*/ 311332 h 423266"/>
                <a:gd name="connsiteX109" fmla="*/ 173328 w 439688"/>
                <a:gd name="connsiteY109" fmla="*/ 294104 h 423266"/>
                <a:gd name="connsiteX110" fmla="*/ 167691 w 439688"/>
                <a:gd name="connsiteY110" fmla="*/ 295624 h 423266"/>
                <a:gd name="connsiteX111" fmla="*/ 147686 w 439688"/>
                <a:gd name="connsiteY111" fmla="*/ 304376 h 423266"/>
                <a:gd name="connsiteX112" fmla="*/ 135581 w 439688"/>
                <a:gd name="connsiteY112" fmla="*/ 301889 h 423266"/>
                <a:gd name="connsiteX113" fmla="*/ 104303 w 439688"/>
                <a:gd name="connsiteY113" fmla="*/ 248225 h 423266"/>
                <a:gd name="connsiteX114" fmla="*/ 108138 w 439688"/>
                <a:gd name="connsiteY114" fmla="*/ 236386 h 423266"/>
                <a:gd name="connsiteX115" fmla="*/ 125787 w 439688"/>
                <a:gd name="connsiteY115" fmla="*/ 223396 h 423266"/>
                <a:gd name="connsiteX116" fmla="*/ 129991 w 439688"/>
                <a:gd name="connsiteY116" fmla="*/ 196035 h 423266"/>
                <a:gd name="connsiteX117" fmla="*/ 125787 w 439688"/>
                <a:gd name="connsiteY117" fmla="*/ 191843 h 423266"/>
                <a:gd name="connsiteX118" fmla="*/ 108138 w 439688"/>
                <a:gd name="connsiteY118" fmla="*/ 178899 h 423266"/>
                <a:gd name="connsiteX119" fmla="*/ 104303 w 439688"/>
                <a:gd name="connsiteY119" fmla="*/ 167107 h 423266"/>
                <a:gd name="connsiteX120" fmla="*/ 135581 w 439688"/>
                <a:gd name="connsiteY120" fmla="*/ 113489 h 423266"/>
                <a:gd name="connsiteX121" fmla="*/ 147686 w 439688"/>
                <a:gd name="connsiteY121" fmla="*/ 111001 h 423266"/>
                <a:gd name="connsiteX122" fmla="*/ 167599 w 439688"/>
                <a:gd name="connsiteY122" fmla="*/ 119707 h 423266"/>
                <a:gd name="connsiteX123" fmla="*/ 193518 w 439688"/>
                <a:gd name="connsiteY123" fmla="*/ 109481 h 423266"/>
                <a:gd name="connsiteX124" fmla="*/ 195042 w 439688"/>
                <a:gd name="connsiteY124" fmla="*/ 103862 h 423266"/>
                <a:gd name="connsiteX125" fmla="*/ 197445 w 439688"/>
                <a:gd name="connsiteY125" fmla="*/ 82212 h 423266"/>
                <a:gd name="connsiteX126" fmla="*/ 205854 w 439688"/>
                <a:gd name="connsiteY126" fmla="*/ 72953 h 423266"/>
                <a:gd name="connsiteX127" fmla="*/ 237039 w 439688"/>
                <a:gd name="connsiteY127" fmla="*/ 69406 h 423266"/>
                <a:gd name="connsiteX128" fmla="*/ 253718 w 439688"/>
                <a:gd name="connsiteY128" fmla="*/ 1555 h 423266"/>
                <a:gd name="connsiteX129" fmla="*/ 348061 w 439688"/>
                <a:gd name="connsiteY129" fmla="*/ 40294 h 423266"/>
                <a:gd name="connsiteX130" fmla="*/ 347553 w 439688"/>
                <a:gd name="connsiteY130" fmla="*/ 20533 h 423266"/>
                <a:gd name="connsiteX131" fmla="*/ 349909 w 439688"/>
                <a:gd name="connsiteY131" fmla="*/ 14499 h 423266"/>
                <a:gd name="connsiteX132" fmla="*/ 355823 w 439688"/>
                <a:gd name="connsiteY132" fmla="*/ 11781 h 423266"/>
                <a:gd name="connsiteX133" fmla="*/ 364647 w 439688"/>
                <a:gd name="connsiteY133" fmla="*/ 20119 h 423266"/>
                <a:gd name="connsiteX134" fmla="*/ 365617 w 439688"/>
                <a:gd name="connsiteY134" fmla="*/ 60885 h 423266"/>
                <a:gd name="connsiteX135" fmla="*/ 357347 w 439688"/>
                <a:gd name="connsiteY135" fmla="*/ 69637 h 423266"/>
                <a:gd name="connsiteX136" fmla="*/ 316367 w 439688"/>
                <a:gd name="connsiteY136" fmla="*/ 70696 h 423266"/>
                <a:gd name="connsiteX137" fmla="*/ 310222 w 439688"/>
                <a:gd name="connsiteY137" fmla="*/ 68255 h 423266"/>
                <a:gd name="connsiteX138" fmla="*/ 307681 w 439688"/>
                <a:gd name="connsiteY138" fmla="*/ 62313 h 423266"/>
                <a:gd name="connsiteX139" fmla="*/ 310037 w 439688"/>
                <a:gd name="connsiteY139" fmla="*/ 56278 h 423266"/>
                <a:gd name="connsiteX140" fmla="*/ 315997 w 439688"/>
                <a:gd name="connsiteY140" fmla="*/ 53653 h 423266"/>
                <a:gd name="connsiteX141" fmla="*/ 337481 w 439688"/>
                <a:gd name="connsiteY141" fmla="*/ 53100 h 423266"/>
                <a:gd name="connsiteX142" fmla="*/ 251639 w 439688"/>
                <a:gd name="connsiteY142" fmla="*/ 18046 h 423266"/>
                <a:gd name="connsiteX143" fmla="*/ 63276 w 439688"/>
                <a:gd name="connsiteY143" fmla="*/ 129335 h 423266"/>
                <a:gd name="connsiteX144" fmla="*/ 55607 w 439688"/>
                <a:gd name="connsiteY144" fmla="*/ 134632 h 423266"/>
                <a:gd name="connsiteX145" fmla="*/ 53297 w 439688"/>
                <a:gd name="connsiteY145" fmla="*/ 134310 h 423266"/>
                <a:gd name="connsiteX146" fmla="*/ 47938 w 439688"/>
                <a:gd name="connsiteY146" fmla="*/ 129888 h 423266"/>
                <a:gd name="connsiteX147" fmla="*/ 47660 w 439688"/>
                <a:gd name="connsiteY147" fmla="*/ 123439 h 423266"/>
                <a:gd name="connsiteX148" fmla="*/ 253718 w 439688"/>
                <a:gd name="connsiteY148" fmla="*/ 1555 h 423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439688" h="423266">
                  <a:moveTo>
                    <a:pt x="36064" y="183736"/>
                  </a:moveTo>
                  <a:cubicBezTo>
                    <a:pt x="39621" y="180926"/>
                    <a:pt x="45027" y="181617"/>
                    <a:pt x="48030" y="185302"/>
                  </a:cubicBezTo>
                  <a:lnTo>
                    <a:pt x="72701" y="218007"/>
                  </a:lnTo>
                  <a:cubicBezTo>
                    <a:pt x="75519" y="221738"/>
                    <a:pt x="74734" y="227081"/>
                    <a:pt x="70992" y="229845"/>
                  </a:cubicBezTo>
                  <a:cubicBezTo>
                    <a:pt x="69144" y="231227"/>
                    <a:pt x="66834" y="231780"/>
                    <a:pt x="64570" y="231458"/>
                  </a:cubicBezTo>
                  <a:cubicBezTo>
                    <a:pt x="62306" y="231089"/>
                    <a:pt x="60365" y="229937"/>
                    <a:pt x="59072" y="228095"/>
                  </a:cubicBezTo>
                  <a:lnTo>
                    <a:pt x="46043" y="211097"/>
                  </a:lnTo>
                  <a:cubicBezTo>
                    <a:pt x="45027" y="242375"/>
                    <a:pt x="52373" y="273329"/>
                    <a:pt x="67388" y="301059"/>
                  </a:cubicBezTo>
                  <a:cubicBezTo>
                    <a:pt x="98066" y="357810"/>
                    <a:pt x="157480" y="393555"/>
                    <a:pt x="222393" y="394292"/>
                  </a:cubicBezTo>
                  <a:cubicBezTo>
                    <a:pt x="224842" y="394338"/>
                    <a:pt x="227106" y="395443"/>
                    <a:pt x="228630" y="397332"/>
                  </a:cubicBezTo>
                  <a:cubicBezTo>
                    <a:pt x="230201" y="399221"/>
                    <a:pt x="230848" y="401754"/>
                    <a:pt x="230386" y="404196"/>
                  </a:cubicBezTo>
                  <a:cubicBezTo>
                    <a:pt x="229601" y="408111"/>
                    <a:pt x="226182" y="410921"/>
                    <a:pt x="222255" y="410921"/>
                  </a:cubicBezTo>
                  <a:lnTo>
                    <a:pt x="222116" y="410921"/>
                  </a:lnTo>
                  <a:cubicBezTo>
                    <a:pt x="151243" y="410046"/>
                    <a:pt x="86331" y="370984"/>
                    <a:pt x="52696" y="308936"/>
                  </a:cubicBezTo>
                  <a:cubicBezTo>
                    <a:pt x="36156" y="278304"/>
                    <a:pt x="28163" y="244217"/>
                    <a:pt x="29503" y="209992"/>
                  </a:cubicBezTo>
                  <a:lnTo>
                    <a:pt x="13610" y="221876"/>
                  </a:lnTo>
                  <a:cubicBezTo>
                    <a:pt x="11900" y="223212"/>
                    <a:pt x="9683" y="223811"/>
                    <a:pt x="7419" y="223489"/>
                  </a:cubicBezTo>
                  <a:cubicBezTo>
                    <a:pt x="5155" y="223166"/>
                    <a:pt x="3076" y="221968"/>
                    <a:pt x="1690" y="220172"/>
                  </a:cubicBezTo>
                  <a:cubicBezTo>
                    <a:pt x="-1128" y="216395"/>
                    <a:pt x="-343" y="211005"/>
                    <a:pt x="3445" y="208195"/>
                  </a:cubicBezTo>
                  <a:close/>
                  <a:moveTo>
                    <a:pt x="236855" y="175675"/>
                  </a:moveTo>
                  <a:cubicBezTo>
                    <a:pt x="217080" y="175675"/>
                    <a:pt x="201511" y="193547"/>
                    <a:pt x="205484" y="213953"/>
                  </a:cubicBezTo>
                  <a:cubicBezTo>
                    <a:pt x="207886" y="226390"/>
                    <a:pt x="217958" y="236432"/>
                    <a:pt x="230433" y="238828"/>
                  </a:cubicBezTo>
                  <a:cubicBezTo>
                    <a:pt x="250900" y="242789"/>
                    <a:pt x="268826" y="227266"/>
                    <a:pt x="268826" y="207551"/>
                  </a:cubicBezTo>
                  <a:cubicBezTo>
                    <a:pt x="268826" y="189954"/>
                    <a:pt x="254503" y="175675"/>
                    <a:pt x="236855" y="175675"/>
                  </a:cubicBezTo>
                  <a:close/>
                  <a:moveTo>
                    <a:pt x="236855" y="154393"/>
                  </a:moveTo>
                  <a:cubicBezTo>
                    <a:pt x="266285" y="154393"/>
                    <a:pt x="290171" y="178208"/>
                    <a:pt x="290171" y="207551"/>
                  </a:cubicBezTo>
                  <a:cubicBezTo>
                    <a:pt x="290171" y="236893"/>
                    <a:pt x="266285" y="260708"/>
                    <a:pt x="236855" y="260708"/>
                  </a:cubicBezTo>
                  <a:cubicBezTo>
                    <a:pt x="207424" y="260708"/>
                    <a:pt x="183538" y="236893"/>
                    <a:pt x="183538" y="207551"/>
                  </a:cubicBezTo>
                  <a:cubicBezTo>
                    <a:pt x="183538" y="178208"/>
                    <a:pt x="207424" y="154393"/>
                    <a:pt x="236855" y="154393"/>
                  </a:cubicBezTo>
                  <a:close/>
                  <a:moveTo>
                    <a:pt x="399991" y="97873"/>
                  </a:moveTo>
                  <a:cubicBezTo>
                    <a:pt x="402209" y="98242"/>
                    <a:pt x="404103" y="99439"/>
                    <a:pt x="405350" y="101236"/>
                  </a:cubicBezTo>
                  <a:cubicBezTo>
                    <a:pt x="456726" y="176043"/>
                    <a:pt x="449888" y="275079"/>
                    <a:pt x="388625" y="342102"/>
                  </a:cubicBezTo>
                  <a:cubicBezTo>
                    <a:pt x="365155" y="367805"/>
                    <a:pt x="335494" y="386645"/>
                    <a:pt x="302645" y="396779"/>
                  </a:cubicBezTo>
                  <a:lnTo>
                    <a:pt x="319092" y="407742"/>
                  </a:lnTo>
                  <a:cubicBezTo>
                    <a:pt x="320987" y="408940"/>
                    <a:pt x="322280" y="410829"/>
                    <a:pt x="322742" y="413132"/>
                  </a:cubicBezTo>
                  <a:cubicBezTo>
                    <a:pt x="323204" y="415343"/>
                    <a:pt x="322742" y="417646"/>
                    <a:pt x="321541" y="419488"/>
                  </a:cubicBezTo>
                  <a:cubicBezTo>
                    <a:pt x="319878" y="421976"/>
                    <a:pt x="317106" y="423266"/>
                    <a:pt x="314334" y="423266"/>
                  </a:cubicBezTo>
                  <a:cubicBezTo>
                    <a:pt x="312717" y="423266"/>
                    <a:pt x="311053" y="422851"/>
                    <a:pt x="309621" y="421884"/>
                  </a:cubicBezTo>
                  <a:lnTo>
                    <a:pt x="275617" y="399267"/>
                  </a:lnTo>
                  <a:cubicBezTo>
                    <a:pt x="271736" y="396733"/>
                    <a:pt x="270627" y="391436"/>
                    <a:pt x="273168" y="387474"/>
                  </a:cubicBezTo>
                  <a:lnTo>
                    <a:pt x="295899" y="353433"/>
                  </a:lnTo>
                  <a:cubicBezTo>
                    <a:pt x="297193" y="351545"/>
                    <a:pt x="299180" y="350255"/>
                    <a:pt x="301444" y="349840"/>
                  </a:cubicBezTo>
                  <a:cubicBezTo>
                    <a:pt x="303661" y="349426"/>
                    <a:pt x="305925" y="349933"/>
                    <a:pt x="307773" y="351176"/>
                  </a:cubicBezTo>
                  <a:cubicBezTo>
                    <a:pt x="309621" y="352374"/>
                    <a:pt x="310915" y="354309"/>
                    <a:pt x="311377" y="356566"/>
                  </a:cubicBezTo>
                  <a:cubicBezTo>
                    <a:pt x="311793" y="358777"/>
                    <a:pt x="311331" y="361080"/>
                    <a:pt x="310083" y="362923"/>
                  </a:cubicBezTo>
                  <a:lnTo>
                    <a:pt x="298209" y="380795"/>
                  </a:lnTo>
                  <a:cubicBezTo>
                    <a:pt x="328056" y="371444"/>
                    <a:pt x="354991" y="354309"/>
                    <a:pt x="376336" y="330908"/>
                  </a:cubicBezTo>
                  <a:cubicBezTo>
                    <a:pt x="432239" y="269690"/>
                    <a:pt x="438569" y="179175"/>
                    <a:pt x="391721" y="110817"/>
                  </a:cubicBezTo>
                  <a:cubicBezTo>
                    <a:pt x="389180" y="107132"/>
                    <a:pt x="389919" y="102203"/>
                    <a:pt x="393384" y="99578"/>
                  </a:cubicBezTo>
                  <a:lnTo>
                    <a:pt x="394863" y="101374"/>
                  </a:lnTo>
                  <a:lnTo>
                    <a:pt x="393476" y="99532"/>
                  </a:lnTo>
                  <a:cubicBezTo>
                    <a:pt x="395371" y="98104"/>
                    <a:pt x="397727" y="97505"/>
                    <a:pt x="399991" y="97873"/>
                  </a:cubicBezTo>
                  <a:close/>
                  <a:moveTo>
                    <a:pt x="237039" y="90595"/>
                  </a:moveTo>
                  <a:cubicBezTo>
                    <a:pt x="230571" y="90687"/>
                    <a:pt x="224149" y="91240"/>
                    <a:pt x="217773" y="92254"/>
                  </a:cubicBezTo>
                  <a:lnTo>
                    <a:pt x="216341" y="105059"/>
                  </a:lnTo>
                  <a:cubicBezTo>
                    <a:pt x="214817" y="118740"/>
                    <a:pt x="207009" y="131315"/>
                    <a:pt x="194765" y="137718"/>
                  </a:cubicBezTo>
                  <a:cubicBezTo>
                    <a:pt x="183169" y="143753"/>
                    <a:pt x="170094" y="143891"/>
                    <a:pt x="159005" y="139054"/>
                  </a:cubicBezTo>
                  <a:lnTo>
                    <a:pt x="146254" y="133480"/>
                  </a:lnTo>
                  <a:cubicBezTo>
                    <a:pt x="138122" y="143338"/>
                    <a:pt x="131654" y="154393"/>
                    <a:pt x="127080" y="166324"/>
                  </a:cubicBezTo>
                  <a:lnTo>
                    <a:pt x="137614" y="174062"/>
                  </a:lnTo>
                  <a:cubicBezTo>
                    <a:pt x="148703" y="182216"/>
                    <a:pt x="155725" y="195159"/>
                    <a:pt x="155125" y="208886"/>
                  </a:cubicBezTo>
                  <a:cubicBezTo>
                    <a:pt x="154524" y="222613"/>
                    <a:pt x="148148" y="233300"/>
                    <a:pt x="138400" y="240440"/>
                  </a:cubicBezTo>
                  <a:lnTo>
                    <a:pt x="127034" y="248777"/>
                  </a:lnTo>
                  <a:cubicBezTo>
                    <a:pt x="131562" y="260708"/>
                    <a:pt x="138076" y="271809"/>
                    <a:pt x="146208" y="281713"/>
                  </a:cubicBezTo>
                  <a:lnTo>
                    <a:pt x="159052" y="276093"/>
                  </a:lnTo>
                  <a:cubicBezTo>
                    <a:pt x="179796" y="267065"/>
                    <a:pt x="203959" y="276508"/>
                    <a:pt x="213015" y="297190"/>
                  </a:cubicBezTo>
                  <a:cubicBezTo>
                    <a:pt x="214632" y="300921"/>
                    <a:pt x="215741" y="304883"/>
                    <a:pt x="216156" y="308936"/>
                  </a:cubicBezTo>
                  <a:lnTo>
                    <a:pt x="217727" y="322893"/>
                  </a:lnTo>
                  <a:cubicBezTo>
                    <a:pt x="230386" y="325012"/>
                    <a:pt x="243277" y="325012"/>
                    <a:pt x="255936" y="322893"/>
                  </a:cubicBezTo>
                  <a:lnTo>
                    <a:pt x="257507" y="308936"/>
                  </a:lnTo>
                  <a:cubicBezTo>
                    <a:pt x="260001" y="286503"/>
                    <a:pt x="280238" y="270381"/>
                    <a:pt x="302738" y="272869"/>
                  </a:cubicBezTo>
                  <a:cubicBezTo>
                    <a:pt x="306849" y="273329"/>
                    <a:pt x="310869" y="274389"/>
                    <a:pt x="314657" y="276047"/>
                  </a:cubicBezTo>
                  <a:lnTo>
                    <a:pt x="327501" y="281667"/>
                  </a:lnTo>
                  <a:cubicBezTo>
                    <a:pt x="335633" y="271809"/>
                    <a:pt x="342101" y="260708"/>
                    <a:pt x="346629" y="248823"/>
                  </a:cubicBezTo>
                  <a:lnTo>
                    <a:pt x="335263" y="240486"/>
                  </a:lnTo>
                  <a:cubicBezTo>
                    <a:pt x="317014" y="227127"/>
                    <a:pt x="313133" y="201562"/>
                    <a:pt x="326531" y="183413"/>
                  </a:cubicBezTo>
                  <a:cubicBezTo>
                    <a:pt x="328980" y="180097"/>
                    <a:pt x="331937" y="177149"/>
                    <a:pt x="335263" y="174707"/>
                  </a:cubicBezTo>
                  <a:lnTo>
                    <a:pt x="346583" y="166370"/>
                  </a:lnTo>
                  <a:cubicBezTo>
                    <a:pt x="342009" y="154439"/>
                    <a:pt x="335540" y="143384"/>
                    <a:pt x="327409" y="133526"/>
                  </a:cubicBezTo>
                  <a:lnTo>
                    <a:pt x="314657" y="139100"/>
                  </a:lnTo>
                  <a:cubicBezTo>
                    <a:pt x="293913" y="148175"/>
                    <a:pt x="269750" y="138732"/>
                    <a:pt x="260648" y="118049"/>
                  </a:cubicBezTo>
                  <a:cubicBezTo>
                    <a:pt x="258985" y="114272"/>
                    <a:pt x="257922" y="110264"/>
                    <a:pt x="257460" y="106165"/>
                  </a:cubicBezTo>
                  <a:lnTo>
                    <a:pt x="255889" y="92346"/>
                  </a:lnTo>
                  <a:cubicBezTo>
                    <a:pt x="249606" y="91332"/>
                    <a:pt x="243277" y="90780"/>
                    <a:pt x="236947" y="90687"/>
                  </a:cubicBezTo>
                  <a:close/>
                  <a:moveTo>
                    <a:pt x="237039" y="69314"/>
                  </a:moveTo>
                  <a:cubicBezTo>
                    <a:pt x="247435" y="69406"/>
                    <a:pt x="257784" y="70604"/>
                    <a:pt x="267948" y="72861"/>
                  </a:cubicBezTo>
                  <a:cubicBezTo>
                    <a:pt x="272430" y="73874"/>
                    <a:pt x="275848" y="77513"/>
                    <a:pt x="276357" y="82074"/>
                  </a:cubicBezTo>
                  <a:lnTo>
                    <a:pt x="278713" y="103079"/>
                  </a:lnTo>
                  <a:cubicBezTo>
                    <a:pt x="279406" y="109159"/>
                    <a:pt x="282548" y="114917"/>
                    <a:pt x="287815" y="118141"/>
                  </a:cubicBezTo>
                  <a:cubicBezTo>
                    <a:pt x="293682" y="121734"/>
                    <a:pt x="300474" y="122011"/>
                    <a:pt x="306203" y="119523"/>
                  </a:cubicBezTo>
                  <a:lnTo>
                    <a:pt x="326115" y="110817"/>
                  </a:lnTo>
                  <a:cubicBezTo>
                    <a:pt x="330273" y="109021"/>
                    <a:pt x="335125" y="109988"/>
                    <a:pt x="338220" y="113305"/>
                  </a:cubicBezTo>
                  <a:cubicBezTo>
                    <a:pt x="352543" y="128598"/>
                    <a:pt x="363261" y="146931"/>
                    <a:pt x="369498" y="166923"/>
                  </a:cubicBezTo>
                  <a:cubicBezTo>
                    <a:pt x="370838" y="171299"/>
                    <a:pt x="369360" y="176043"/>
                    <a:pt x="365664" y="178761"/>
                  </a:cubicBezTo>
                  <a:lnTo>
                    <a:pt x="348015" y="191751"/>
                  </a:lnTo>
                  <a:cubicBezTo>
                    <a:pt x="339283" y="198154"/>
                    <a:pt x="337388" y="210406"/>
                    <a:pt x="343810" y="219112"/>
                  </a:cubicBezTo>
                  <a:cubicBezTo>
                    <a:pt x="345012" y="220725"/>
                    <a:pt x="346398" y="222107"/>
                    <a:pt x="348015" y="223304"/>
                  </a:cubicBezTo>
                  <a:lnTo>
                    <a:pt x="365664" y="236294"/>
                  </a:lnTo>
                  <a:cubicBezTo>
                    <a:pt x="369360" y="239012"/>
                    <a:pt x="370838" y="243756"/>
                    <a:pt x="369498" y="248132"/>
                  </a:cubicBezTo>
                  <a:cubicBezTo>
                    <a:pt x="363261" y="268124"/>
                    <a:pt x="352543" y="286457"/>
                    <a:pt x="338220" y="301750"/>
                  </a:cubicBezTo>
                  <a:cubicBezTo>
                    <a:pt x="335125" y="305021"/>
                    <a:pt x="330320" y="306034"/>
                    <a:pt x="326162" y="304238"/>
                  </a:cubicBezTo>
                  <a:lnTo>
                    <a:pt x="306757" y="295762"/>
                  </a:lnTo>
                  <a:cubicBezTo>
                    <a:pt x="301121" y="293275"/>
                    <a:pt x="294560" y="293136"/>
                    <a:pt x="289154" y="296085"/>
                  </a:cubicBezTo>
                  <a:cubicBezTo>
                    <a:pt x="283102" y="299355"/>
                    <a:pt x="279498" y="305113"/>
                    <a:pt x="278805" y="311285"/>
                  </a:cubicBezTo>
                  <a:lnTo>
                    <a:pt x="276403" y="332935"/>
                  </a:lnTo>
                  <a:cubicBezTo>
                    <a:pt x="275895" y="337450"/>
                    <a:pt x="272568" y="341089"/>
                    <a:pt x="268133" y="342148"/>
                  </a:cubicBezTo>
                  <a:cubicBezTo>
                    <a:pt x="247619" y="346985"/>
                    <a:pt x="226274" y="346985"/>
                    <a:pt x="205761" y="342148"/>
                  </a:cubicBezTo>
                  <a:cubicBezTo>
                    <a:pt x="201326" y="341089"/>
                    <a:pt x="197999" y="337450"/>
                    <a:pt x="197491" y="332935"/>
                  </a:cubicBezTo>
                  <a:lnTo>
                    <a:pt x="195089" y="311332"/>
                  </a:lnTo>
                  <a:cubicBezTo>
                    <a:pt x="193841" y="300599"/>
                    <a:pt x="184139" y="292860"/>
                    <a:pt x="173328" y="294104"/>
                  </a:cubicBezTo>
                  <a:cubicBezTo>
                    <a:pt x="171387" y="294334"/>
                    <a:pt x="169493" y="294841"/>
                    <a:pt x="167691" y="295624"/>
                  </a:cubicBezTo>
                  <a:lnTo>
                    <a:pt x="147686" y="304376"/>
                  </a:lnTo>
                  <a:cubicBezTo>
                    <a:pt x="143528" y="306172"/>
                    <a:pt x="138677" y="305159"/>
                    <a:pt x="135581" y="301889"/>
                  </a:cubicBezTo>
                  <a:cubicBezTo>
                    <a:pt x="121213" y="286595"/>
                    <a:pt x="110540" y="268216"/>
                    <a:pt x="104303" y="248225"/>
                  </a:cubicBezTo>
                  <a:cubicBezTo>
                    <a:pt x="102963" y="243849"/>
                    <a:pt x="104442" y="239104"/>
                    <a:pt x="108138" y="236386"/>
                  </a:cubicBezTo>
                  <a:lnTo>
                    <a:pt x="125787" y="223396"/>
                  </a:lnTo>
                  <a:cubicBezTo>
                    <a:pt x="134519" y="216994"/>
                    <a:pt x="136413" y="204787"/>
                    <a:pt x="129991" y="196035"/>
                  </a:cubicBezTo>
                  <a:cubicBezTo>
                    <a:pt x="128790" y="194422"/>
                    <a:pt x="127404" y="192994"/>
                    <a:pt x="125787" y="191843"/>
                  </a:cubicBezTo>
                  <a:lnTo>
                    <a:pt x="108138" y="178899"/>
                  </a:lnTo>
                  <a:cubicBezTo>
                    <a:pt x="104442" y="176181"/>
                    <a:pt x="102963" y="171437"/>
                    <a:pt x="104303" y="167107"/>
                  </a:cubicBezTo>
                  <a:cubicBezTo>
                    <a:pt x="110540" y="147115"/>
                    <a:pt x="121213" y="128782"/>
                    <a:pt x="135581" y="113489"/>
                  </a:cubicBezTo>
                  <a:cubicBezTo>
                    <a:pt x="138677" y="110172"/>
                    <a:pt x="143528" y="109159"/>
                    <a:pt x="147686" y="111001"/>
                  </a:cubicBezTo>
                  <a:lnTo>
                    <a:pt x="167599" y="119707"/>
                  </a:lnTo>
                  <a:cubicBezTo>
                    <a:pt x="177578" y="124037"/>
                    <a:pt x="189221" y="119431"/>
                    <a:pt x="193518" y="109481"/>
                  </a:cubicBezTo>
                  <a:cubicBezTo>
                    <a:pt x="194303" y="107685"/>
                    <a:pt x="194811" y="105796"/>
                    <a:pt x="195042" y="103862"/>
                  </a:cubicBezTo>
                  <a:lnTo>
                    <a:pt x="197445" y="82212"/>
                  </a:lnTo>
                  <a:cubicBezTo>
                    <a:pt x="197953" y="77651"/>
                    <a:pt x="201372" y="73966"/>
                    <a:pt x="205854" y="72953"/>
                  </a:cubicBezTo>
                  <a:cubicBezTo>
                    <a:pt x="216018" y="70696"/>
                    <a:pt x="226367" y="69544"/>
                    <a:pt x="237039" y="69406"/>
                  </a:cubicBezTo>
                  <a:close/>
                  <a:moveTo>
                    <a:pt x="253718" y="1555"/>
                  </a:moveTo>
                  <a:cubicBezTo>
                    <a:pt x="288323" y="5931"/>
                    <a:pt x="320848" y="19289"/>
                    <a:pt x="348061" y="40294"/>
                  </a:cubicBezTo>
                  <a:lnTo>
                    <a:pt x="347553" y="20533"/>
                  </a:lnTo>
                  <a:cubicBezTo>
                    <a:pt x="347460" y="18322"/>
                    <a:pt x="348292" y="16157"/>
                    <a:pt x="349909" y="14499"/>
                  </a:cubicBezTo>
                  <a:cubicBezTo>
                    <a:pt x="351480" y="12841"/>
                    <a:pt x="353559" y="11873"/>
                    <a:pt x="355823" y="11781"/>
                  </a:cubicBezTo>
                  <a:cubicBezTo>
                    <a:pt x="360582" y="11781"/>
                    <a:pt x="364462" y="15466"/>
                    <a:pt x="364647" y="20119"/>
                  </a:cubicBezTo>
                  <a:lnTo>
                    <a:pt x="365617" y="60885"/>
                  </a:lnTo>
                  <a:cubicBezTo>
                    <a:pt x="365802" y="65491"/>
                    <a:pt x="362060" y="69453"/>
                    <a:pt x="357347" y="69637"/>
                  </a:cubicBezTo>
                  <a:lnTo>
                    <a:pt x="316367" y="70696"/>
                  </a:lnTo>
                  <a:cubicBezTo>
                    <a:pt x="314011" y="70742"/>
                    <a:pt x="311839" y="69821"/>
                    <a:pt x="310222" y="68255"/>
                  </a:cubicBezTo>
                  <a:cubicBezTo>
                    <a:pt x="308605" y="66643"/>
                    <a:pt x="307681" y="64570"/>
                    <a:pt x="307681" y="62313"/>
                  </a:cubicBezTo>
                  <a:cubicBezTo>
                    <a:pt x="307589" y="60102"/>
                    <a:pt x="308420" y="57937"/>
                    <a:pt x="310037" y="56278"/>
                  </a:cubicBezTo>
                  <a:cubicBezTo>
                    <a:pt x="311562" y="54666"/>
                    <a:pt x="313733" y="53699"/>
                    <a:pt x="315997" y="53653"/>
                  </a:cubicBezTo>
                  <a:lnTo>
                    <a:pt x="337481" y="53100"/>
                  </a:lnTo>
                  <a:cubicBezTo>
                    <a:pt x="312625" y="34076"/>
                    <a:pt x="283102" y="22007"/>
                    <a:pt x="251639" y="18046"/>
                  </a:cubicBezTo>
                  <a:cubicBezTo>
                    <a:pt x="170694" y="7820"/>
                    <a:pt x="93215" y="53561"/>
                    <a:pt x="63276" y="129335"/>
                  </a:cubicBezTo>
                  <a:cubicBezTo>
                    <a:pt x="61983" y="132606"/>
                    <a:pt x="58887" y="134632"/>
                    <a:pt x="55607" y="134632"/>
                  </a:cubicBezTo>
                  <a:cubicBezTo>
                    <a:pt x="54822" y="134632"/>
                    <a:pt x="54036" y="134540"/>
                    <a:pt x="53297" y="134310"/>
                  </a:cubicBezTo>
                  <a:cubicBezTo>
                    <a:pt x="50894" y="133573"/>
                    <a:pt x="49000" y="132007"/>
                    <a:pt x="47938" y="129888"/>
                  </a:cubicBezTo>
                  <a:cubicBezTo>
                    <a:pt x="46921" y="127815"/>
                    <a:pt x="46829" y="125512"/>
                    <a:pt x="47660" y="123439"/>
                  </a:cubicBezTo>
                  <a:cubicBezTo>
                    <a:pt x="80325" y="40479"/>
                    <a:pt x="165058" y="-9638"/>
                    <a:pt x="253718" y="1555"/>
                  </a:cubicBezTo>
                  <a:close/>
                </a:path>
              </a:pathLst>
            </a:custGeom>
            <a:gradFill>
              <a:gsLst>
                <a:gs pos="0">
                  <a:srgbClr val="0078D4"/>
                </a:gs>
                <a:gs pos="36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sp>
        <p:nvSpPr>
          <p:cNvPr id="49" name="TextBox 340">
            <a:extLst>
              <a:ext uri="{FF2B5EF4-FFF2-40B4-BE49-F238E27FC236}">
                <a16:creationId xmlns:a16="http://schemas.microsoft.com/office/drawing/2014/main" id="{05F55449-29EE-C5AC-086F-DE51C1825FD8}"/>
              </a:ext>
            </a:extLst>
          </p:cNvPr>
          <p:cNvSpPr txBox="1">
            <a:spLocks/>
          </p:cNvSpPr>
          <p:nvPr/>
        </p:nvSpPr>
        <p:spPr>
          <a:xfrm>
            <a:off x="6870636" y="672228"/>
            <a:ext cx="2252974" cy="1025922"/>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47638" marR="0" lvl="0" indent="-147638"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rPr>
              <a:t>Content collaboration and delivery</a:t>
            </a:r>
          </a:p>
          <a:p>
            <a:pPr marL="147638" marR="0" lvl="0" indent="-147638"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rPr>
              <a:t>Self-service BI</a:t>
            </a:r>
          </a:p>
          <a:p>
            <a:pPr marL="147638" marR="0" lvl="0" indent="-147638"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rPr>
              <a:t>Content management and deployment</a:t>
            </a:r>
          </a:p>
          <a:p>
            <a:pPr marL="147638" marR="0" lvl="0" indent="-147638"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rPr>
              <a:t>Real-Time</a:t>
            </a:r>
          </a:p>
          <a:p>
            <a:pPr marL="147638" marR="0" lvl="0" indent="-147638"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dirty="0">
                <a:ln>
                  <a:noFill/>
                </a:ln>
                <a:effectLst/>
                <a:uLnTx/>
                <a:uFillTx/>
              </a:rPr>
              <a:t>Embedding and Hybrid</a:t>
            </a:r>
          </a:p>
        </p:txBody>
      </p:sp>
      <p:sp>
        <p:nvSpPr>
          <p:cNvPr id="50" name="TextBox 338">
            <a:extLst>
              <a:ext uri="{FF2B5EF4-FFF2-40B4-BE49-F238E27FC236}">
                <a16:creationId xmlns:a16="http://schemas.microsoft.com/office/drawing/2014/main" id="{FA7FBAF7-8B9C-AFC6-4535-38708BE463C3}"/>
              </a:ext>
              <a:ext uri="{C183D7F6-B498-43B3-948B-1728B52AA6E4}">
                <adec:decorative xmlns:adec="http://schemas.microsoft.com/office/drawing/2017/decorative" val="1"/>
              </a:ext>
            </a:extLst>
          </p:cNvPr>
          <p:cNvSpPr txBox="1"/>
          <p:nvPr/>
        </p:nvSpPr>
        <p:spPr>
          <a:xfrm rot="5400000">
            <a:off x="10447841" y="-653177"/>
            <a:ext cx="279094" cy="2198788"/>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noProof="0" dirty="0"/>
          </a:p>
        </p:txBody>
      </p:sp>
      <p:sp>
        <p:nvSpPr>
          <p:cNvPr id="51" name="Oval 50">
            <a:extLst>
              <a:ext uri="{FF2B5EF4-FFF2-40B4-BE49-F238E27FC236}">
                <a16:creationId xmlns:a16="http://schemas.microsoft.com/office/drawing/2014/main" id="{A3F5ED5E-AB45-3F15-B30A-EA77F9995C50}"/>
              </a:ext>
              <a:ext uri="{C183D7F6-B498-43B3-948B-1728B52AA6E4}">
                <adec:decorative xmlns:adec="http://schemas.microsoft.com/office/drawing/2017/decorative" val="1"/>
              </a:ext>
            </a:extLst>
          </p:cNvPr>
          <p:cNvSpPr/>
          <p:nvPr/>
        </p:nvSpPr>
        <p:spPr>
          <a:xfrm>
            <a:off x="9317078" y="278072"/>
            <a:ext cx="336291" cy="3362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solidFill>
                <a:schemeClr val="tx2"/>
              </a:solidFill>
              <a:effectLst/>
              <a:uLnTx/>
              <a:uFillTx/>
              <a:latin typeface="Segoe Sans Display"/>
              <a:ea typeface="+mn-ea"/>
              <a:cs typeface="Segoe Sans Display Semibold" pitchFamily="2" charset="0"/>
            </a:endParaRPr>
          </a:p>
        </p:txBody>
      </p:sp>
      <p:grpSp>
        <p:nvGrpSpPr>
          <p:cNvPr id="52" name="Group 51">
            <a:extLst>
              <a:ext uri="{FF2B5EF4-FFF2-40B4-BE49-F238E27FC236}">
                <a16:creationId xmlns:a16="http://schemas.microsoft.com/office/drawing/2014/main" id="{0AB01421-E59A-CC1D-06C2-42D867F3186A}"/>
              </a:ext>
            </a:extLst>
          </p:cNvPr>
          <p:cNvGrpSpPr/>
          <p:nvPr/>
        </p:nvGrpSpPr>
        <p:grpSpPr>
          <a:xfrm>
            <a:off x="9317416" y="278410"/>
            <a:ext cx="335615" cy="335615"/>
            <a:chOff x="9402722" y="278410"/>
            <a:chExt cx="335615" cy="335615"/>
          </a:xfrm>
        </p:grpSpPr>
        <p:sp>
          <p:nvSpPr>
            <p:cNvPr id="53" name="Oval 52">
              <a:extLst>
                <a:ext uri="{FF2B5EF4-FFF2-40B4-BE49-F238E27FC236}">
                  <a16:creationId xmlns:a16="http://schemas.microsoft.com/office/drawing/2014/main" id="{3C2B997D-A829-B58D-3C10-CB806B9A497D}"/>
                </a:ext>
                <a:ext uri="{C183D7F6-B498-43B3-948B-1728B52AA6E4}">
                  <adec:decorative xmlns:adec="http://schemas.microsoft.com/office/drawing/2017/decorative" val="1"/>
                </a:ext>
              </a:extLst>
            </p:cNvPr>
            <p:cNvSpPr/>
            <p:nvPr/>
          </p:nvSpPr>
          <p:spPr>
            <a:xfrm>
              <a:off x="9402722" y="278410"/>
              <a:ext cx="335615" cy="335615"/>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chemeClr val="tx2"/>
                </a:solidFill>
                <a:cs typeface="Segoe UI" pitchFamily="34" charset="0"/>
              </a:endParaRPr>
            </a:p>
          </p:txBody>
        </p:sp>
        <p:sp>
          <p:nvSpPr>
            <p:cNvPr id="54" name="Graphic 6" descr="Icon of a line graph with an arrow at the end pointing up">
              <a:extLst>
                <a:ext uri="{FF2B5EF4-FFF2-40B4-BE49-F238E27FC236}">
                  <a16:creationId xmlns:a16="http://schemas.microsoft.com/office/drawing/2014/main" id="{31D0784A-4D36-FD0A-81A1-B246E7C4155E}"/>
                </a:ext>
              </a:extLst>
            </p:cNvPr>
            <p:cNvSpPr/>
            <p:nvPr/>
          </p:nvSpPr>
          <p:spPr>
            <a:xfrm>
              <a:off x="9485129" y="360818"/>
              <a:ext cx="170801" cy="170799"/>
            </a:xfrm>
            <a:custGeom>
              <a:avLst/>
              <a:gdLst>
                <a:gd name="connsiteX0" fmla="*/ 26988 w 323850"/>
                <a:gd name="connsiteY0" fmla="*/ 13494 h 323850"/>
                <a:gd name="connsiteX1" fmla="*/ 13494 w 323850"/>
                <a:gd name="connsiteY1" fmla="*/ 0 h 323850"/>
                <a:gd name="connsiteX2" fmla="*/ 0 w 323850"/>
                <a:gd name="connsiteY2" fmla="*/ 13494 h 323850"/>
                <a:gd name="connsiteX3" fmla="*/ 0 w 323850"/>
                <a:gd name="connsiteY3" fmla="*/ 265377 h 323850"/>
                <a:gd name="connsiteX4" fmla="*/ 58473 w 323850"/>
                <a:gd name="connsiteY4" fmla="*/ 323850 h 323850"/>
                <a:gd name="connsiteX5" fmla="*/ 310356 w 323850"/>
                <a:gd name="connsiteY5" fmla="*/ 323850 h 323850"/>
                <a:gd name="connsiteX6" fmla="*/ 323850 w 323850"/>
                <a:gd name="connsiteY6" fmla="*/ 310356 h 323850"/>
                <a:gd name="connsiteX7" fmla="*/ 310356 w 323850"/>
                <a:gd name="connsiteY7" fmla="*/ 296863 h 323850"/>
                <a:gd name="connsiteX8" fmla="*/ 58473 w 323850"/>
                <a:gd name="connsiteY8" fmla="*/ 296863 h 323850"/>
                <a:gd name="connsiteX9" fmla="*/ 26988 w 323850"/>
                <a:gd name="connsiteY9" fmla="*/ 265377 h 323850"/>
                <a:gd name="connsiteX10" fmla="*/ 26988 w 323850"/>
                <a:gd name="connsiteY10" fmla="*/ 13494 h 323850"/>
                <a:gd name="connsiteX11" fmla="*/ 211402 w 323850"/>
                <a:gd name="connsiteY11" fmla="*/ 53975 h 323850"/>
                <a:gd name="connsiteX12" fmla="*/ 197908 w 323850"/>
                <a:gd name="connsiteY12" fmla="*/ 67469 h 323850"/>
                <a:gd name="connsiteX13" fmla="*/ 211402 w 323850"/>
                <a:gd name="connsiteY13" fmla="*/ 80963 h 323850"/>
                <a:gd name="connsiteX14" fmla="*/ 268783 w 323850"/>
                <a:gd name="connsiteY14" fmla="*/ 80963 h 323850"/>
                <a:gd name="connsiteX15" fmla="*/ 184415 w 323850"/>
                <a:gd name="connsiteY15" fmla="*/ 165331 h 323850"/>
                <a:gd name="connsiteX16" fmla="*/ 148976 w 323850"/>
                <a:gd name="connsiteY16" fmla="*/ 129894 h 323850"/>
                <a:gd name="connsiteX17" fmla="*/ 129894 w 323850"/>
                <a:gd name="connsiteY17" fmla="*/ 129894 h 323850"/>
                <a:gd name="connsiteX18" fmla="*/ 62425 w 323850"/>
                <a:gd name="connsiteY18" fmla="*/ 197363 h 323850"/>
                <a:gd name="connsiteX19" fmla="*/ 62425 w 323850"/>
                <a:gd name="connsiteY19" fmla="*/ 216445 h 323850"/>
                <a:gd name="connsiteX20" fmla="*/ 81508 w 323850"/>
                <a:gd name="connsiteY20" fmla="*/ 216445 h 323850"/>
                <a:gd name="connsiteX21" fmla="*/ 139435 w 323850"/>
                <a:gd name="connsiteY21" fmla="*/ 158519 h 323850"/>
                <a:gd name="connsiteX22" fmla="*/ 174874 w 323850"/>
                <a:gd name="connsiteY22" fmla="*/ 193956 h 323850"/>
                <a:gd name="connsiteX23" fmla="*/ 193956 w 323850"/>
                <a:gd name="connsiteY23" fmla="*/ 193956 h 323850"/>
                <a:gd name="connsiteX24" fmla="*/ 287894 w 323850"/>
                <a:gd name="connsiteY24" fmla="*/ 100019 h 323850"/>
                <a:gd name="connsiteX25" fmla="*/ 287894 w 323850"/>
                <a:gd name="connsiteY25" fmla="*/ 157517 h 323850"/>
                <a:gd name="connsiteX26" fmla="*/ 301387 w 323850"/>
                <a:gd name="connsiteY26" fmla="*/ 171011 h 323850"/>
                <a:gd name="connsiteX27" fmla="*/ 314881 w 323850"/>
                <a:gd name="connsiteY27" fmla="*/ 157517 h 323850"/>
                <a:gd name="connsiteX28" fmla="*/ 314881 w 323850"/>
                <a:gd name="connsiteY28" fmla="*/ 67469 h 323850"/>
                <a:gd name="connsiteX29" fmla="*/ 301387 w 323850"/>
                <a:gd name="connsiteY29" fmla="*/ 53975 h 323850"/>
                <a:gd name="connsiteX30" fmla="*/ 211402 w 323850"/>
                <a:gd name="connsiteY30" fmla="*/ 5397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3850" h="323850">
                  <a:moveTo>
                    <a:pt x="26988" y="13494"/>
                  </a:moveTo>
                  <a:cubicBezTo>
                    <a:pt x="26988" y="6041"/>
                    <a:pt x="20946" y="0"/>
                    <a:pt x="13494" y="0"/>
                  </a:cubicBezTo>
                  <a:cubicBezTo>
                    <a:pt x="6041" y="0"/>
                    <a:pt x="0" y="6041"/>
                    <a:pt x="0" y="13494"/>
                  </a:cubicBezTo>
                  <a:lnTo>
                    <a:pt x="0" y="265377"/>
                  </a:lnTo>
                  <a:cubicBezTo>
                    <a:pt x="0" y="297670"/>
                    <a:pt x="26179" y="323850"/>
                    <a:pt x="58473" y="323850"/>
                  </a:cubicBezTo>
                  <a:lnTo>
                    <a:pt x="310356" y="323850"/>
                  </a:lnTo>
                  <a:cubicBezTo>
                    <a:pt x="317808" y="323850"/>
                    <a:pt x="323850" y="317808"/>
                    <a:pt x="323850" y="310356"/>
                  </a:cubicBezTo>
                  <a:cubicBezTo>
                    <a:pt x="323850" y="302904"/>
                    <a:pt x="317808" y="296863"/>
                    <a:pt x="310356" y="296863"/>
                  </a:cubicBezTo>
                  <a:lnTo>
                    <a:pt x="58473" y="296863"/>
                  </a:lnTo>
                  <a:cubicBezTo>
                    <a:pt x="41084" y="296863"/>
                    <a:pt x="26988" y="282766"/>
                    <a:pt x="26988" y="265377"/>
                  </a:cubicBezTo>
                  <a:lnTo>
                    <a:pt x="26988" y="13494"/>
                  </a:lnTo>
                  <a:close/>
                  <a:moveTo>
                    <a:pt x="211402" y="53975"/>
                  </a:moveTo>
                  <a:cubicBezTo>
                    <a:pt x="203950" y="53975"/>
                    <a:pt x="197908" y="60016"/>
                    <a:pt x="197908" y="67469"/>
                  </a:cubicBezTo>
                  <a:cubicBezTo>
                    <a:pt x="197908" y="74921"/>
                    <a:pt x="203950" y="80963"/>
                    <a:pt x="211402" y="80963"/>
                  </a:cubicBezTo>
                  <a:lnTo>
                    <a:pt x="268783" y="80963"/>
                  </a:lnTo>
                  <a:lnTo>
                    <a:pt x="184415" y="165331"/>
                  </a:lnTo>
                  <a:lnTo>
                    <a:pt x="148976" y="129894"/>
                  </a:lnTo>
                  <a:cubicBezTo>
                    <a:pt x="143707" y="124624"/>
                    <a:pt x="135164" y="124624"/>
                    <a:pt x="129894" y="129894"/>
                  </a:cubicBezTo>
                  <a:lnTo>
                    <a:pt x="62425" y="197363"/>
                  </a:lnTo>
                  <a:cubicBezTo>
                    <a:pt x="57156" y="202633"/>
                    <a:pt x="57156" y="211175"/>
                    <a:pt x="62425" y="216445"/>
                  </a:cubicBezTo>
                  <a:cubicBezTo>
                    <a:pt x="67695" y="221715"/>
                    <a:pt x="76239" y="221715"/>
                    <a:pt x="81508" y="216445"/>
                  </a:cubicBezTo>
                  <a:lnTo>
                    <a:pt x="139435" y="158519"/>
                  </a:lnTo>
                  <a:lnTo>
                    <a:pt x="174874" y="193956"/>
                  </a:lnTo>
                  <a:cubicBezTo>
                    <a:pt x="180143" y="199225"/>
                    <a:pt x="188686" y="199225"/>
                    <a:pt x="193956" y="193956"/>
                  </a:cubicBezTo>
                  <a:lnTo>
                    <a:pt x="287894" y="100019"/>
                  </a:lnTo>
                  <a:lnTo>
                    <a:pt x="287894" y="157517"/>
                  </a:lnTo>
                  <a:cubicBezTo>
                    <a:pt x="287894" y="164969"/>
                    <a:pt x="293935" y="171011"/>
                    <a:pt x="301387" y="171011"/>
                  </a:cubicBezTo>
                  <a:cubicBezTo>
                    <a:pt x="308841" y="171011"/>
                    <a:pt x="314881" y="164969"/>
                    <a:pt x="314881" y="157517"/>
                  </a:cubicBezTo>
                  <a:lnTo>
                    <a:pt x="314881" y="67469"/>
                  </a:lnTo>
                  <a:cubicBezTo>
                    <a:pt x="314881" y="60016"/>
                    <a:pt x="308840" y="53975"/>
                    <a:pt x="301387" y="53975"/>
                  </a:cubicBezTo>
                  <a:lnTo>
                    <a:pt x="211402" y="53975"/>
                  </a:lnTo>
                  <a:close/>
                </a:path>
              </a:pathLst>
            </a:custGeom>
            <a:gradFill>
              <a:gsLst>
                <a:gs pos="0">
                  <a:srgbClr val="0078D4"/>
                </a:gs>
                <a:gs pos="3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sp>
        <p:nvSpPr>
          <p:cNvPr id="56" name="TextBox 340">
            <a:extLst>
              <a:ext uri="{FF2B5EF4-FFF2-40B4-BE49-F238E27FC236}">
                <a16:creationId xmlns:a16="http://schemas.microsoft.com/office/drawing/2014/main" id="{2968EACB-3C31-98C2-E263-20A2AA352920}"/>
              </a:ext>
            </a:extLst>
          </p:cNvPr>
          <p:cNvSpPr txBox="1">
            <a:spLocks/>
          </p:cNvSpPr>
          <p:nvPr/>
        </p:nvSpPr>
        <p:spPr>
          <a:xfrm>
            <a:off x="9471299" y="672228"/>
            <a:ext cx="2215483"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Capacity is at the heart of PBI Premium &amp; PBI Embedded reserved for use by your org to publish dashboards, reports, and datasets to users.</a:t>
            </a:r>
          </a:p>
        </p:txBody>
      </p:sp>
      <p:grpSp>
        <p:nvGrpSpPr>
          <p:cNvPr id="57" name="Group 56">
            <a:extLst>
              <a:ext uri="{FF2B5EF4-FFF2-40B4-BE49-F238E27FC236}">
                <a16:creationId xmlns:a16="http://schemas.microsoft.com/office/drawing/2014/main" id="{66704BC9-63CF-DC3F-4F43-F23D891A567D}"/>
              </a:ext>
            </a:extLst>
          </p:cNvPr>
          <p:cNvGrpSpPr/>
          <p:nvPr/>
        </p:nvGrpSpPr>
        <p:grpSpPr>
          <a:xfrm>
            <a:off x="5466206" y="5852231"/>
            <a:ext cx="354090" cy="354090"/>
            <a:chOff x="5516220" y="5783651"/>
            <a:chExt cx="354090" cy="354090"/>
          </a:xfrm>
        </p:grpSpPr>
        <p:sp>
          <p:nvSpPr>
            <p:cNvPr id="58" name="Oval 57">
              <a:extLst>
                <a:ext uri="{FF2B5EF4-FFF2-40B4-BE49-F238E27FC236}">
                  <a16:creationId xmlns:a16="http://schemas.microsoft.com/office/drawing/2014/main" id="{BD84F73F-6A04-505B-44A7-0EA1E9C3CF28}"/>
                </a:ext>
                <a:ext uri="{C183D7F6-B498-43B3-948B-1728B52AA6E4}">
                  <adec:decorative xmlns:adec="http://schemas.microsoft.com/office/drawing/2017/decorative" val="1"/>
                </a:ext>
              </a:extLst>
            </p:cNvPr>
            <p:cNvSpPr/>
            <p:nvPr/>
          </p:nvSpPr>
          <p:spPr>
            <a:xfrm>
              <a:off x="5516220" y="5783651"/>
              <a:ext cx="354090" cy="35409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59" name="Oval 58">
              <a:extLst>
                <a:ext uri="{FF2B5EF4-FFF2-40B4-BE49-F238E27FC236}">
                  <a16:creationId xmlns:a16="http://schemas.microsoft.com/office/drawing/2014/main" id="{294DD25A-9017-E915-12E7-134B9273A24D}"/>
                </a:ext>
                <a:ext uri="{C183D7F6-B498-43B3-948B-1728B52AA6E4}">
                  <adec:decorative xmlns:adec="http://schemas.microsoft.com/office/drawing/2017/decorative" val="1"/>
                </a:ext>
              </a:extLst>
            </p:cNvPr>
            <p:cNvSpPr/>
            <p:nvPr/>
          </p:nvSpPr>
          <p:spPr>
            <a:xfrm>
              <a:off x="5516576" y="5784007"/>
              <a:ext cx="353379" cy="353379"/>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effectLst/>
                <a:uLnTx/>
                <a:uFillTx/>
                <a:latin typeface="Segoe Sans Text Semilight"/>
                <a:ea typeface="+mn-ea"/>
                <a:cs typeface="+mn-cs"/>
              </a:endParaRPr>
            </a:p>
          </p:txBody>
        </p:sp>
        <p:sp>
          <p:nvSpPr>
            <p:cNvPr id="60" name="Graphic 39" descr="Icon of a bulleted document with a checkmark">
              <a:extLst>
                <a:ext uri="{FF2B5EF4-FFF2-40B4-BE49-F238E27FC236}">
                  <a16:creationId xmlns:a16="http://schemas.microsoft.com/office/drawing/2014/main" id="{EBC0E07C-599F-FC13-F9E4-428FB2035628}"/>
                </a:ext>
              </a:extLst>
            </p:cNvPr>
            <p:cNvSpPr/>
            <p:nvPr/>
          </p:nvSpPr>
          <p:spPr>
            <a:xfrm>
              <a:off x="5602482" y="5859829"/>
              <a:ext cx="181567" cy="201735"/>
            </a:xfrm>
            <a:custGeom>
              <a:avLst/>
              <a:gdLst>
                <a:gd name="connsiteX0" fmla="*/ 223930 w 251999"/>
                <a:gd name="connsiteY0" fmla="*/ 29344 h 279991"/>
                <a:gd name="connsiteX1" fmla="*/ 192502 w 251999"/>
                <a:gd name="connsiteY1" fmla="*/ 0 h 279991"/>
                <a:gd name="connsiteX2" fmla="*/ 31501 w 251999"/>
                <a:gd name="connsiteY2" fmla="*/ 0 h 279991"/>
                <a:gd name="connsiteX3" fmla="*/ 29344 w 251999"/>
                <a:gd name="connsiteY3" fmla="*/ 73 h 279991"/>
                <a:gd name="connsiteX4" fmla="*/ 0 w 251999"/>
                <a:gd name="connsiteY4" fmla="*/ 31501 h 279991"/>
                <a:gd name="connsiteX5" fmla="*/ 0 w 251999"/>
                <a:gd name="connsiteY5" fmla="*/ 248477 h 279991"/>
                <a:gd name="connsiteX6" fmla="*/ 73 w 251999"/>
                <a:gd name="connsiteY6" fmla="*/ 250634 h 279991"/>
                <a:gd name="connsiteX7" fmla="*/ 31501 w 251999"/>
                <a:gd name="connsiteY7" fmla="*/ 279977 h 279991"/>
                <a:gd name="connsiteX8" fmla="*/ 137447 w 251999"/>
                <a:gd name="connsiteY8" fmla="*/ 279977 h 279991"/>
                <a:gd name="connsiteX9" fmla="*/ 116465 w 251999"/>
                <a:gd name="connsiteY9" fmla="*/ 258977 h 279991"/>
                <a:gd name="connsiteX10" fmla="*/ 31501 w 251999"/>
                <a:gd name="connsiteY10" fmla="*/ 258977 h 279991"/>
                <a:gd name="connsiteX11" fmla="*/ 30076 w 251999"/>
                <a:gd name="connsiteY11" fmla="*/ 258882 h 279991"/>
                <a:gd name="connsiteX12" fmla="*/ 21000 w 251999"/>
                <a:gd name="connsiteY12" fmla="*/ 248477 h 279991"/>
                <a:gd name="connsiteX13" fmla="*/ 21000 w 251999"/>
                <a:gd name="connsiteY13" fmla="*/ 31501 h 279991"/>
                <a:gd name="connsiteX14" fmla="*/ 21096 w 251999"/>
                <a:gd name="connsiteY14" fmla="*/ 30076 h 279991"/>
                <a:gd name="connsiteX15" fmla="*/ 31501 w 251999"/>
                <a:gd name="connsiteY15" fmla="*/ 21000 h 279991"/>
                <a:gd name="connsiteX16" fmla="*/ 192502 w 251999"/>
                <a:gd name="connsiteY16" fmla="*/ 21000 h 279991"/>
                <a:gd name="connsiteX17" fmla="*/ 193926 w 251999"/>
                <a:gd name="connsiteY17" fmla="*/ 21096 h 279991"/>
                <a:gd name="connsiteX18" fmla="*/ 203002 w 251999"/>
                <a:gd name="connsiteY18" fmla="*/ 31501 h 279991"/>
                <a:gd name="connsiteX19" fmla="*/ 203002 w 251999"/>
                <a:gd name="connsiteY19" fmla="*/ 193439 h 279991"/>
                <a:gd name="connsiteX20" fmla="*/ 219226 w 251999"/>
                <a:gd name="connsiteY20" fmla="*/ 177215 h 279991"/>
                <a:gd name="connsiteX21" fmla="*/ 224003 w 251999"/>
                <a:gd name="connsiteY21" fmla="*/ 173288 h 279991"/>
                <a:gd name="connsiteX22" fmla="*/ 224003 w 251999"/>
                <a:gd name="connsiteY22" fmla="*/ 31501 h 279991"/>
                <a:gd name="connsiteX23" fmla="*/ 223930 w 251999"/>
                <a:gd name="connsiteY23" fmla="*/ 29344 h 279991"/>
                <a:gd name="connsiteX24" fmla="*/ 172029 w 251999"/>
                <a:gd name="connsiteY24" fmla="*/ 279977 h 279991"/>
                <a:gd name="connsiteX25" fmla="*/ 171496 w 251999"/>
                <a:gd name="connsiteY25" fmla="*/ 279991 h 279991"/>
                <a:gd name="connsiteX26" fmla="*/ 170968 w 251999"/>
                <a:gd name="connsiteY26" fmla="*/ 279977 h 279991"/>
                <a:gd name="connsiteX27" fmla="*/ 164070 w 251999"/>
                <a:gd name="connsiteY27" fmla="*/ 276913 h 279991"/>
                <a:gd name="connsiteX28" fmla="*/ 129074 w 251999"/>
                <a:gd name="connsiteY28" fmla="*/ 241887 h 279991"/>
                <a:gd name="connsiteX29" fmla="*/ 129081 w 251999"/>
                <a:gd name="connsiteY29" fmla="*/ 227037 h 279991"/>
                <a:gd name="connsiteX30" fmla="*/ 143931 w 251999"/>
                <a:gd name="connsiteY30" fmla="*/ 227044 h 279991"/>
                <a:gd name="connsiteX31" fmla="*/ 171502 w 251999"/>
                <a:gd name="connsiteY31" fmla="*/ 254638 h 279991"/>
                <a:gd name="connsiteX32" fmla="*/ 234076 w 251999"/>
                <a:gd name="connsiteY32" fmla="*/ 192066 h 279991"/>
                <a:gd name="connsiteX33" fmla="*/ 248924 w 251999"/>
                <a:gd name="connsiteY33" fmla="*/ 192066 h 279991"/>
                <a:gd name="connsiteX34" fmla="*/ 248924 w 251999"/>
                <a:gd name="connsiteY34" fmla="*/ 206914 h 279991"/>
                <a:gd name="connsiteX35" fmla="*/ 178923 w 251999"/>
                <a:gd name="connsiteY35" fmla="*/ 276915 h 279991"/>
                <a:gd name="connsiteX36" fmla="*/ 172029 w 251999"/>
                <a:gd name="connsiteY36" fmla="*/ 279977 h 279991"/>
                <a:gd name="connsiteX37" fmla="*/ 137781 w 251999"/>
                <a:gd name="connsiteY37" fmla="*/ 202990 h 279991"/>
                <a:gd name="connsiteX38" fmla="*/ 135224 w 251999"/>
                <a:gd name="connsiteY38" fmla="*/ 202990 h 279991"/>
                <a:gd name="connsiteX39" fmla="*/ 101447 w 251999"/>
                <a:gd name="connsiteY39" fmla="*/ 202990 h 279991"/>
                <a:gd name="connsiteX40" fmla="*/ 90947 w 251999"/>
                <a:gd name="connsiteY40" fmla="*/ 192490 h 279991"/>
                <a:gd name="connsiteX41" fmla="*/ 101447 w 251999"/>
                <a:gd name="connsiteY41" fmla="*/ 181990 h 279991"/>
                <a:gd name="connsiteX42" fmla="*/ 171502 w 251999"/>
                <a:gd name="connsiteY42" fmla="*/ 181990 h 279991"/>
                <a:gd name="connsiteX43" fmla="*/ 182002 w 251999"/>
                <a:gd name="connsiteY43" fmla="*/ 192490 h 279991"/>
                <a:gd name="connsiteX44" fmla="*/ 171502 w 251999"/>
                <a:gd name="connsiteY44" fmla="*/ 202990 h 279991"/>
                <a:gd name="connsiteX45" fmla="*/ 137781 w 251999"/>
                <a:gd name="connsiteY45" fmla="*/ 202990 h 279991"/>
                <a:gd name="connsiteX46" fmla="*/ 70001 w 251999"/>
                <a:gd name="connsiteY46" fmla="*/ 80510 h 279991"/>
                <a:gd name="connsiteX47" fmla="*/ 56001 w 251999"/>
                <a:gd name="connsiteY47" fmla="*/ 94511 h 279991"/>
                <a:gd name="connsiteX48" fmla="*/ 42001 w 251999"/>
                <a:gd name="connsiteY48" fmla="*/ 80510 h 279991"/>
                <a:gd name="connsiteX49" fmla="*/ 56001 w 251999"/>
                <a:gd name="connsiteY49" fmla="*/ 66510 h 279991"/>
                <a:gd name="connsiteX50" fmla="*/ 70001 w 251999"/>
                <a:gd name="connsiteY50" fmla="*/ 80510 h 279991"/>
                <a:gd name="connsiteX51" fmla="*/ 90947 w 251999"/>
                <a:gd name="connsiteY51" fmla="*/ 80488 h 279991"/>
                <a:gd name="connsiteX52" fmla="*/ 101447 w 251999"/>
                <a:gd name="connsiteY52" fmla="*/ 69988 h 279991"/>
                <a:gd name="connsiteX53" fmla="*/ 171502 w 251999"/>
                <a:gd name="connsiteY53" fmla="*/ 69988 h 279991"/>
                <a:gd name="connsiteX54" fmla="*/ 182002 w 251999"/>
                <a:gd name="connsiteY54" fmla="*/ 80488 h 279991"/>
                <a:gd name="connsiteX55" fmla="*/ 171502 w 251999"/>
                <a:gd name="connsiteY55" fmla="*/ 90988 h 279991"/>
                <a:gd name="connsiteX56" fmla="*/ 101447 w 251999"/>
                <a:gd name="connsiteY56" fmla="*/ 90988 h 279991"/>
                <a:gd name="connsiteX57" fmla="*/ 90947 w 251999"/>
                <a:gd name="connsiteY57" fmla="*/ 80488 h 279991"/>
                <a:gd name="connsiteX58" fmla="*/ 101447 w 251999"/>
                <a:gd name="connsiteY58" fmla="*/ 125989 h 279991"/>
                <a:gd name="connsiteX59" fmla="*/ 90947 w 251999"/>
                <a:gd name="connsiteY59" fmla="*/ 136489 h 279991"/>
                <a:gd name="connsiteX60" fmla="*/ 101447 w 251999"/>
                <a:gd name="connsiteY60" fmla="*/ 146989 h 279991"/>
                <a:gd name="connsiteX61" fmla="*/ 171502 w 251999"/>
                <a:gd name="connsiteY61" fmla="*/ 146989 h 279991"/>
                <a:gd name="connsiteX62" fmla="*/ 182002 w 251999"/>
                <a:gd name="connsiteY62" fmla="*/ 136489 h 279991"/>
                <a:gd name="connsiteX63" fmla="*/ 171502 w 251999"/>
                <a:gd name="connsiteY63" fmla="*/ 125989 h 279991"/>
                <a:gd name="connsiteX64" fmla="*/ 101447 w 251999"/>
                <a:gd name="connsiteY64" fmla="*/ 125989 h 279991"/>
                <a:gd name="connsiteX65" fmla="*/ 56001 w 251999"/>
                <a:gd name="connsiteY65" fmla="*/ 150489 h 279991"/>
                <a:gd name="connsiteX66" fmla="*/ 70001 w 251999"/>
                <a:gd name="connsiteY66" fmla="*/ 136489 h 279991"/>
                <a:gd name="connsiteX67" fmla="*/ 56001 w 251999"/>
                <a:gd name="connsiteY67" fmla="*/ 122488 h 279991"/>
                <a:gd name="connsiteX68" fmla="*/ 42001 w 251999"/>
                <a:gd name="connsiteY68" fmla="*/ 136489 h 279991"/>
                <a:gd name="connsiteX69" fmla="*/ 56001 w 251999"/>
                <a:gd name="connsiteY69" fmla="*/ 150489 h 279991"/>
                <a:gd name="connsiteX70" fmla="*/ 70001 w 251999"/>
                <a:gd name="connsiteY70" fmla="*/ 192462 h 279991"/>
                <a:gd name="connsiteX71" fmla="*/ 56001 w 251999"/>
                <a:gd name="connsiteY71" fmla="*/ 206462 h 279991"/>
                <a:gd name="connsiteX72" fmla="*/ 42001 w 251999"/>
                <a:gd name="connsiteY72" fmla="*/ 192462 h 279991"/>
                <a:gd name="connsiteX73" fmla="*/ 56001 w 251999"/>
                <a:gd name="connsiteY73" fmla="*/ 178461 h 279991"/>
                <a:gd name="connsiteX74" fmla="*/ 70001 w 251999"/>
                <a:gd name="connsiteY74" fmla="*/ 192462 h 27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51999" h="279991">
                  <a:moveTo>
                    <a:pt x="223930" y="29344"/>
                  </a:moveTo>
                  <a:cubicBezTo>
                    <a:pt x="222821" y="12952"/>
                    <a:pt x="209174" y="0"/>
                    <a:pt x="192502" y="0"/>
                  </a:cubicBezTo>
                  <a:lnTo>
                    <a:pt x="31501" y="0"/>
                  </a:lnTo>
                  <a:lnTo>
                    <a:pt x="29344" y="73"/>
                  </a:lnTo>
                  <a:cubicBezTo>
                    <a:pt x="12952" y="1181"/>
                    <a:pt x="0" y="14828"/>
                    <a:pt x="0" y="31501"/>
                  </a:cubicBezTo>
                  <a:lnTo>
                    <a:pt x="0" y="248477"/>
                  </a:lnTo>
                  <a:lnTo>
                    <a:pt x="73" y="250634"/>
                  </a:lnTo>
                  <a:cubicBezTo>
                    <a:pt x="1181" y="267026"/>
                    <a:pt x="14828" y="279977"/>
                    <a:pt x="31501" y="279977"/>
                  </a:cubicBezTo>
                  <a:lnTo>
                    <a:pt x="137447" y="279977"/>
                  </a:lnTo>
                  <a:lnTo>
                    <a:pt x="116465" y="258977"/>
                  </a:lnTo>
                  <a:lnTo>
                    <a:pt x="31501" y="258977"/>
                  </a:lnTo>
                  <a:lnTo>
                    <a:pt x="30076" y="258882"/>
                  </a:lnTo>
                  <a:cubicBezTo>
                    <a:pt x="24951" y="258186"/>
                    <a:pt x="21000" y="253793"/>
                    <a:pt x="21000" y="248477"/>
                  </a:cubicBezTo>
                  <a:lnTo>
                    <a:pt x="21000" y="31501"/>
                  </a:lnTo>
                  <a:lnTo>
                    <a:pt x="21096" y="30076"/>
                  </a:lnTo>
                  <a:cubicBezTo>
                    <a:pt x="21792" y="24951"/>
                    <a:pt x="26185" y="21000"/>
                    <a:pt x="31501" y="21000"/>
                  </a:cubicBezTo>
                  <a:lnTo>
                    <a:pt x="192502" y="21000"/>
                  </a:lnTo>
                  <a:lnTo>
                    <a:pt x="193926" y="21096"/>
                  </a:lnTo>
                  <a:cubicBezTo>
                    <a:pt x="199051" y="21792"/>
                    <a:pt x="203002" y="26185"/>
                    <a:pt x="203002" y="31501"/>
                  </a:cubicBezTo>
                  <a:lnTo>
                    <a:pt x="203002" y="193439"/>
                  </a:lnTo>
                  <a:lnTo>
                    <a:pt x="219226" y="177215"/>
                  </a:lnTo>
                  <a:cubicBezTo>
                    <a:pt x="220715" y="175726"/>
                    <a:pt x="222316" y="174417"/>
                    <a:pt x="224003" y="173288"/>
                  </a:cubicBezTo>
                  <a:lnTo>
                    <a:pt x="224003" y="31501"/>
                  </a:lnTo>
                  <a:lnTo>
                    <a:pt x="223930" y="29344"/>
                  </a:lnTo>
                  <a:close/>
                  <a:moveTo>
                    <a:pt x="172029" y="279977"/>
                  </a:moveTo>
                  <a:cubicBezTo>
                    <a:pt x="171852" y="279987"/>
                    <a:pt x="171674" y="279991"/>
                    <a:pt x="171496" y="279991"/>
                  </a:cubicBezTo>
                  <a:cubicBezTo>
                    <a:pt x="171320" y="279991"/>
                    <a:pt x="171143" y="279987"/>
                    <a:pt x="170968" y="279977"/>
                  </a:cubicBezTo>
                  <a:cubicBezTo>
                    <a:pt x="168375" y="279847"/>
                    <a:pt x="165914" y="278758"/>
                    <a:pt x="164070" y="276913"/>
                  </a:cubicBezTo>
                  <a:lnTo>
                    <a:pt x="129074" y="241887"/>
                  </a:lnTo>
                  <a:cubicBezTo>
                    <a:pt x="124976" y="237785"/>
                    <a:pt x="124979" y="231136"/>
                    <a:pt x="129081" y="227037"/>
                  </a:cubicBezTo>
                  <a:cubicBezTo>
                    <a:pt x="133183" y="222937"/>
                    <a:pt x="139832" y="222940"/>
                    <a:pt x="143931" y="227044"/>
                  </a:cubicBezTo>
                  <a:lnTo>
                    <a:pt x="171502" y="254638"/>
                  </a:lnTo>
                  <a:lnTo>
                    <a:pt x="234076" y="192066"/>
                  </a:lnTo>
                  <a:cubicBezTo>
                    <a:pt x="238175" y="187965"/>
                    <a:pt x="244824" y="187965"/>
                    <a:pt x="248924" y="192066"/>
                  </a:cubicBezTo>
                  <a:cubicBezTo>
                    <a:pt x="253025" y="196166"/>
                    <a:pt x="253025" y="202814"/>
                    <a:pt x="248924" y="206914"/>
                  </a:cubicBezTo>
                  <a:lnTo>
                    <a:pt x="178923" y="276915"/>
                  </a:lnTo>
                  <a:cubicBezTo>
                    <a:pt x="177079" y="278759"/>
                    <a:pt x="174621" y="279847"/>
                    <a:pt x="172029" y="279977"/>
                  </a:cubicBezTo>
                  <a:close/>
                  <a:moveTo>
                    <a:pt x="137781" y="202990"/>
                  </a:moveTo>
                  <a:cubicBezTo>
                    <a:pt x="136929" y="202956"/>
                    <a:pt x="136075" y="202956"/>
                    <a:pt x="135224" y="202990"/>
                  </a:cubicBezTo>
                  <a:lnTo>
                    <a:pt x="101447" y="202990"/>
                  </a:lnTo>
                  <a:cubicBezTo>
                    <a:pt x="95648" y="202990"/>
                    <a:pt x="90947" y="198289"/>
                    <a:pt x="90947" y="192490"/>
                  </a:cubicBezTo>
                  <a:cubicBezTo>
                    <a:pt x="90947" y="186691"/>
                    <a:pt x="95648" y="181990"/>
                    <a:pt x="101447" y="181990"/>
                  </a:cubicBezTo>
                  <a:lnTo>
                    <a:pt x="171502" y="181990"/>
                  </a:lnTo>
                  <a:cubicBezTo>
                    <a:pt x="177302" y="181990"/>
                    <a:pt x="182002" y="186691"/>
                    <a:pt x="182002" y="192490"/>
                  </a:cubicBezTo>
                  <a:cubicBezTo>
                    <a:pt x="182002" y="198289"/>
                    <a:pt x="177302" y="202990"/>
                    <a:pt x="171502" y="202990"/>
                  </a:cubicBezTo>
                  <a:lnTo>
                    <a:pt x="137781" y="202990"/>
                  </a:lnTo>
                  <a:close/>
                  <a:moveTo>
                    <a:pt x="70001" y="80510"/>
                  </a:moveTo>
                  <a:cubicBezTo>
                    <a:pt x="70001" y="88242"/>
                    <a:pt x="63733" y="94511"/>
                    <a:pt x="56001" y="94511"/>
                  </a:cubicBezTo>
                  <a:cubicBezTo>
                    <a:pt x="48269" y="94511"/>
                    <a:pt x="42001" y="88242"/>
                    <a:pt x="42001" y="80510"/>
                  </a:cubicBezTo>
                  <a:cubicBezTo>
                    <a:pt x="42001" y="72778"/>
                    <a:pt x="48269" y="66510"/>
                    <a:pt x="56001" y="66510"/>
                  </a:cubicBezTo>
                  <a:cubicBezTo>
                    <a:pt x="63733" y="66510"/>
                    <a:pt x="70001" y="72778"/>
                    <a:pt x="70001" y="80510"/>
                  </a:cubicBezTo>
                  <a:close/>
                  <a:moveTo>
                    <a:pt x="90947" y="80488"/>
                  </a:moveTo>
                  <a:cubicBezTo>
                    <a:pt x="90947" y="74689"/>
                    <a:pt x="95648" y="69988"/>
                    <a:pt x="101447" y="69988"/>
                  </a:cubicBezTo>
                  <a:lnTo>
                    <a:pt x="171502" y="69988"/>
                  </a:lnTo>
                  <a:cubicBezTo>
                    <a:pt x="177302" y="69988"/>
                    <a:pt x="182002" y="74689"/>
                    <a:pt x="182002" y="80488"/>
                  </a:cubicBezTo>
                  <a:cubicBezTo>
                    <a:pt x="182002" y="86287"/>
                    <a:pt x="177302" y="90988"/>
                    <a:pt x="171502" y="90988"/>
                  </a:cubicBezTo>
                  <a:lnTo>
                    <a:pt x="101447" y="90988"/>
                  </a:lnTo>
                  <a:cubicBezTo>
                    <a:pt x="95648" y="90988"/>
                    <a:pt x="90947" y="86287"/>
                    <a:pt x="90947" y="80488"/>
                  </a:cubicBezTo>
                  <a:close/>
                  <a:moveTo>
                    <a:pt x="101447" y="125989"/>
                  </a:moveTo>
                  <a:cubicBezTo>
                    <a:pt x="95648" y="125989"/>
                    <a:pt x="90947" y="130690"/>
                    <a:pt x="90947" y="136489"/>
                  </a:cubicBezTo>
                  <a:cubicBezTo>
                    <a:pt x="90947" y="142288"/>
                    <a:pt x="95648" y="146989"/>
                    <a:pt x="101447" y="146989"/>
                  </a:cubicBezTo>
                  <a:lnTo>
                    <a:pt x="171502" y="146989"/>
                  </a:lnTo>
                  <a:cubicBezTo>
                    <a:pt x="177302" y="146989"/>
                    <a:pt x="182002" y="142288"/>
                    <a:pt x="182002" y="136489"/>
                  </a:cubicBezTo>
                  <a:cubicBezTo>
                    <a:pt x="182002" y="130690"/>
                    <a:pt x="177302" y="125989"/>
                    <a:pt x="171502" y="125989"/>
                  </a:cubicBezTo>
                  <a:lnTo>
                    <a:pt x="101447" y="125989"/>
                  </a:lnTo>
                  <a:close/>
                  <a:moveTo>
                    <a:pt x="56001" y="150489"/>
                  </a:moveTo>
                  <a:cubicBezTo>
                    <a:pt x="63733" y="150489"/>
                    <a:pt x="70001" y="144221"/>
                    <a:pt x="70001" y="136489"/>
                  </a:cubicBezTo>
                  <a:cubicBezTo>
                    <a:pt x="70001" y="128756"/>
                    <a:pt x="63733" y="122488"/>
                    <a:pt x="56001" y="122488"/>
                  </a:cubicBezTo>
                  <a:cubicBezTo>
                    <a:pt x="48269" y="122488"/>
                    <a:pt x="42001" y="128756"/>
                    <a:pt x="42001" y="136489"/>
                  </a:cubicBezTo>
                  <a:cubicBezTo>
                    <a:pt x="42001" y="144221"/>
                    <a:pt x="48269" y="150489"/>
                    <a:pt x="56001" y="150489"/>
                  </a:cubicBezTo>
                  <a:close/>
                  <a:moveTo>
                    <a:pt x="70001" y="192462"/>
                  </a:moveTo>
                  <a:cubicBezTo>
                    <a:pt x="70001" y="200194"/>
                    <a:pt x="63733" y="206462"/>
                    <a:pt x="56001" y="206462"/>
                  </a:cubicBezTo>
                  <a:cubicBezTo>
                    <a:pt x="48269" y="206462"/>
                    <a:pt x="42001" y="200194"/>
                    <a:pt x="42001" y="192462"/>
                  </a:cubicBezTo>
                  <a:cubicBezTo>
                    <a:pt x="42001" y="184729"/>
                    <a:pt x="48269" y="178461"/>
                    <a:pt x="56001" y="178461"/>
                  </a:cubicBezTo>
                  <a:cubicBezTo>
                    <a:pt x="63733" y="178461"/>
                    <a:pt x="70001" y="184729"/>
                    <a:pt x="70001" y="192462"/>
                  </a:cubicBezTo>
                  <a:close/>
                </a:path>
              </a:pathLst>
            </a:custGeom>
            <a:gradFill>
              <a:gsLst>
                <a:gs pos="0">
                  <a:srgbClr val="0078D4"/>
                </a:gs>
                <a:gs pos="33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61" name="Group 60">
            <a:extLst>
              <a:ext uri="{FF2B5EF4-FFF2-40B4-BE49-F238E27FC236}">
                <a16:creationId xmlns:a16="http://schemas.microsoft.com/office/drawing/2014/main" id="{F52E35CF-DEE9-6C1A-5FE6-E9D118699535}"/>
              </a:ext>
            </a:extLst>
          </p:cNvPr>
          <p:cNvGrpSpPr/>
          <p:nvPr/>
        </p:nvGrpSpPr>
        <p:grpSpPr>
          <a:xfrm>
            <a:off x="7700842" y="5852231"/>
            <a:ext cx="354090" cy="354090"/>
            <a:chOff x="7669225" y="5783651"/>
            <a:chExt cx="354090" cy="354090"/>
          </a:xfrm>
        </p:grpSpPr>
        <p:sp>
          <p:nvSpPr>
            <p:cNvPr id="62" name="Oval 61">
              <a:extLst>
                <a:ext uri="{FF2B5EF4-FFF2-40B4-BE49-F238E27FC236}">
                  <a16:creationId xmlns:a16="http://schemas.microsoft.com/office/drawing/2014/main" id="{C8A1B3FF-4D28-A302-6541-54B5A166A8B7}"/>
                </a:ext>
                <a:ext uri="{C183D7F6-B498-43B3-948B-1728B52AA6E4}">
                  <adec:decorative xmlns:adec="http://schemas.microsoft.com/office/drawing/2017/decorative" val="1"/>
                </a:ext>
              </a:extLst>
            </p:cNvPr>
            <p:cNvSpPr/>
            <p:nvPr/>
          </p:nvSpPr>
          <p:spPr>
            <a:xfrm>
              <a:off x="7669225" y="5783651"/>
              <a:ext cx="354090" cy="35409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63" name="Oval 62">
              <a:extLst>
                <a:ext uri="{FF2B5EF4-FFF2-40B4-BE49-F238E27FC236}">
                  <a16:creationId xmlns:a16="http://schemas.microsoft.com/office/drawing/2014/main" id="{94BD053C-8EBC-E117-8717-162404BEBA9F}"/>
                </a:ext>
                <a:ext uri="{C183D7F6-B498-43B3-948B-1728B52AA6E4}">
                  <adec:decorative xmlns:adec="http://schemas.microsoft.com/office/drawing/2017/decorative" val="1"/>
                </a:ext>
              </a:extLst>
            </p:cNvPr>
            <p:cNvSpPr/>
            <p:nvPr/>
          </p:nvSpPr>
          <p:spPr>
            <a:xfrm>
              <a:off x="7669581" y="5784007"/>
              <a:ext cx="353379" cy="353379"/>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effectLst/>
                <a:uLnTx/>
                <a:uFillTx/>
                <a:latin typeface="Segoe Sans Text Semilight"/>
                <a:ea typeface="+mn-ea"/>
                <a:cs typeface="+mn-cs"/>
              </a:endParaRPr>
            </a:p>
          </p:txBody>
        </p:sp>
        <p:sp>
          <p:nvSpPr>
            <p:cNvPr id="1344" name="Graphic 53" descr="Icon of a cylinder">
              <a:extLst>
                <a:ext uri="{FF2B5EF4-FFF2-40B4-BE49-F238E27FC236}">
                  <a16:creationId xmlns:a16="http://schemas.microsoft.com/office/drawing/2014/main" id="{CE287C1B-A37F-9CA1-03DF-23373DB1EA13}"/>
                </a:ext>
              </a:extLst>
            </p:cNvPr>
            <p:cNvSpPr/>
            <p:nvPr/>
          </p:nvSpPr>
          <p:spPr>
            <a:xfrm>
              <a:off x="7756861" y="5848934"/>
              <a:ext cx="178818" cy="223524"/>
            </a:xfrm>
            <a:custGeom>
              <a:avLst/>
              <a:gdLst>
                <a:gd name="connsiteX0" fmla="*/ 0 w 247325"/>
                <a:gd name="connsiteY0" fmla="*/ 61831 h 309156"/>
                <a:gd name="connsiteX1" fmla="*/ 11968 w 247325"/>
                <a:gd name="connsiteY1" fmla="*/ 34320 h 309156"/>
                <a:gd name="connsiteX2" fmla="*/ 39675 w 247325"/>
                <a:gd name="connsiteY2" fmla="*/ 15729 h 309156"/>
                <a:gd name="connsiteX3" fmla="*/ 123663 w 247325"/>
                <a:gd name="connsiteY3" fmla="*/ 0 h 309156"/>
                <a:gd name="connsiteX4" fmla="*/ 207650 w 247325"/>
                <a:gd name="connsiteY4" fmla="*/ 15729 h 309156"/>
                <a:gd name="connsiteX5" fmla="*/ 235358 w 247325"/>
                <a:gd name="connsiteY5" fmla="*/ 34320 h 309156"/>
                <a:gd name="connsiteX6" fmla="*/ 247325 w 247325"/>
                <a:gd name="connsiteY6" fmla="*/ 61831 h 309156"/>
                <a:gd name="connsiteX7" fmla="*/ 247325 w 247325"/>
                <a:gd name="connsiteY7" fmla="*/ 247325 h 309156"/>
                <a:gd name="connsiteX8" fmla="*/ 235358 w 247325"/>
                <a:gd name="connsiteY8" fmla="*/ 274837 h 309156"/>
                <a:gd name="connsiteX9" fmla="*/ 207650 w 247325"/>
                <a:gd name="connsiteY9" fmla="*/ 293428 h 309156"/>
                <a:gd name="connsiteX10" fmla="*/ 123663 w 247325"/>
                <a:gd name="connsiteY10" fmla="*/ 309157 h 309156"/>
                <a:gd name="connsiteX11" fmla="*/ 39675 w 247325"/>
                <a:gd name="connsiteY11" fmla="*/ 293428 h 309156"/>
                <a:gd name="connsiteX12" fmla="*/ 11968 w 247325"/>
                <a:gd name="connsiteY12" fmla="*/ 274837 h 309156"/>
                <a:gd name="connsiteX13" fmla="*/ 0 w 247325"/>
                <a:gd name="connsiteY13" fmla="*/ 247325 h 309156"/>
                <a:gd name="connsiteX14" fmla="*/ 0 w 247325"/>
                <a:gd name="connsiteY14" fmla="*/ 61831 h 309156"/>
                <a:gd name="connsiteX15" fmla="*/ 23187 w 247325"/>
                <a:gd name="connsiteY15" fmla="*/ 61831 h 309156"/>
                <a:gd name="connsiteX16" fmla="*/ 28833 w 247325"/>
                <a:gd name="connsiteY16" fmla="*/ 73430 h 309156"/>
                <a:gd name="connsiteX17" fmla="*/ 49160 w 247325"/>
                <a:gd name="connsiteY17" fmla="*/ 86776 h 309156"/>
                <a:gd name="connsiteX18" fmla="*/ 123663 w 247325"/>
                <a:gd name="connsiteY18" fmla="*/ 100476 h 309156"/>
                <a:gd name="connsiteX19" fmla="*/ 198165 w 247325"/>
                <a:gd name="connsiteY19" fmla="*/ 86776 h 309156"/>
                <a:gd name="connsiteX20" fmla="*/ 218493 w 247325"/>
                <a:gd name="connsiteY20" fmla="*/ 73430 h 309156"/>
                <a:gd name="connsiteX21" fmla="*/ 224139 w 247325"/>
                <a:gd name="connsiteY21" fmla="*/ 61831 h 309156"/>
                <a:gd name="connsiteX22" fmla="*/ 218493 w 247325"/>
                <a:gd name="connsiteY22" fmla="*/ 50233 h 309156"/>
                <a:gd name="connsiteX23" fmla="*/ 198165 w 247325"/>
                <a:gd name="connsiteY23" fmla="*/ 36887 h 309156"/>
                <a:gd name="connsiteX24" fmla="*/ 123663 w 247325"/>
                <a:gd name="connsiteY24" fmla="*/ 23187 h 309156"/>
                <a:gd name="connsiteX25" fmla="*/ 49160 w 247325"/>
                <a:gd name="connsiteY25" fmla="*/ 36887 h 309156"/>
                <a:gd name="connsiteX26" fmla="*/ 28833 w 247325"/>
                <a:gd name="connsiteY26" fmla="*/ 50233 h 309156"/>
                <a:gd name="connsiteX27" fmla="*/ 23187 w 247325"/>
                <a:gd name="connsiteY27" fmla="*/ 61831 h 309156"/>
                <a:gd name="connsiteX28" fmla="*/ 224139 w 247325"/>
                <a:gd name="connsiteY28" fmla="*/ 98813 h 309156"/>
                <a:gd name="connsiteX29" fmla="*/ 207650 w 247325"/>
                <a:gd name="connsiteY29" fmla="*/ 107934 h 309156"/>
                <a:gd name="connsiteX30" fmla="*/ 123663 w 247325"/>
                <a:gd name="connsiteY30" fmla="*/ 123663 h 309156"/>
                <a:gd name="connsiteX31" fmla="*/ 39675 w 247325"/>
                <a:gd name="connsiteY31" fmla="*/ 107934 h 309156"/>
                <a:gd name="connsiteX32" fmla="*/ 23187 w 247325"/>
                <a:gd name="connsiteY32" fmla="*/ 98813 h 309156"/>
                <a:gd name="connsiteX33" fmla="*/ 23187 w 247325"/>
                <a:gd name="connsiteY33" fmla="*/ 247325 h 309156"/>
                <a:gd name="connsiteX34" fmla="*/ 28833 w 247325"/>
                <a:gd name="connsiteY34" fmla="*/ 258923 h 309156"/>
                <a:gd name="connsiteX35" fmla="*/ 49160 w 247325"/>
                <a:gd name="connsiteY35" fmla="*/ 272270 h 309156"/>
                <a:gd name="connsiteX36" fmla="*/ 123663 w 247325"/>
                <a:gd name="connsiteY36" fmla="*/ 285970 h 309156"/>
                <a:gd name="connsiteX37" fmla="*/ 198165 w 247325"/>
                <a:gd name="connsiteY37" fmla="*/ 272270 h 309156"/>
                <a:gd name="connsiteX38" fmla="*/ 218493 w 247325"/>
                <a:gd name="connsiteY38" fmla="*/ 258923 h 309156"/>
                <a:gd name="connsiteX39" fmla="*/ 224139 w 247325"/>
                <a:gd name="connsiteY39" fmla="*/ 247325 h 309156"/>
                <a:gd name="connsiteX40" fmla="*/ 224139 w 247325"/>
                <a:gd name="connsiteY40" fmla="*/ 98813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47325" h="309156">
                  <a:moveTo>
                    <a:pt x="0" y="61831"/>
                  </a:moveTo>
                  <a:cubicBezTo>
                    <a:pt x="0" y="51157"/>
                    <a:pt x="4874" y="41839"/>
                    <a:pt x="11968" y="34320"/>
                  </a:cubicBezTo>
                  <a:cubicBezTo>
                    <a:pt x="19004" y="26863"/>
                    <a:pt x="28644" y="20674"/>
                    <a:pt x="39675" y="15729"/>
                  </a:cubicBezTo>
                  <a:cubicBezTo>
                    <a:pt x="61766" y="5826"/>
                    <a:pt x="91470" y="0"/>
                    <a:pt x="123663" y="0"/>
                  </a:cubicBezTo>
                  <a:cubicBezTo>
                    <a:pt x="155855" y="0"/>
                    <a:pt x="185559" y="5826"/>
                    <a:pt x="207650" y="15729"/>
                  </a:cubicBezTo>
                  <a:cubicBezTo>
                    <a:pt x="218682" y="20674"/>
                    <a:pt x="228321" y="26863"/>
                    <a:pt x="235358" y="34320"/>
                  </a:cubicBezTo>
                  <a:cubicBezTo>
                    <a:pt x="242451" y="41839"/>
                    <a:pt x="247325" y="51157"/>
                    <a:pt x="247325" y="61831"/>
                  </a:cubicBezTo>
                  <a:lnTo>
                    <a:pt x="247325" y="247325"/>
                  </a:lnTo>
                  <a:cubicBezTo>
                    <a:pt x="247325" y="258001"/>
                    <a:pt x="242451" y="267319"/>
                    <a:pt x="235358" y="274837"/>
                  </a:cubicBezTo>
                  <a:cubicBezTo>
                    <a:pt x="228321" y="282294"/>
                    <a:pt x="218682" y="288483"/>
                    <a:pt x="207650" y="293428"/>
                  </a:cubicBezTo>
                  <a:cubicBezTo>
                    <a:pt x="185559" y="303331"/>
                    <a:pt x="155855" y="309157"/>
                    <a:pt x="123663" y="309157"/>
                  </a:cubicBezTo>
                  <a:cubicBezTo>
                    <a:pt x="91470" y="309157"/>
                    <a:pt x="61766" y="303331"/>
                    <a:pt x="39675" y="293428"/>
                  </a:cubicBezTo>
                  <a:cubicBezTo>
                    <a:pt x="28644" y="288483"/>
                    <a:pt x="19004" y="282294"/>
                    <a:pt x="11968" y="274837"/>
                  </a:cubicBezTo>
                  <a:cubicBezTo>
                    <a:pt x="4874" y="267319"/>
                    <a:pt x="0" y="258001"/>
                    <a:pt x="0" y="247325"/>
                  </a:cubicBezTo>
                  <a:lnTo>
                    <a:pt x="0" y="61831"/>
                  </a:lnTo>
                  <a:close/>
                  <a:moveTo>
                    <a:pt x="23187" y="61831"/>
                  </a:moveTo>
                  <a:cubicBezTo>
                    <a:pt x="23187" y="65030"/>
                    <a:pt x="24585" y="68928"/>
                    <a:pt x="28833" y="73430"/>
                  </a:cubicBezTo>
                  <a:cubicBezTo>
                    <a:pt x="33139" y="77994"/>
                    <a:pt x="39911" y="82630"/>
                    <a:pt x="49160" y="86776"/>
                  </a:cubicBezTo>
                  <a:cubicBezTo>
                    <a:pt x="67631" y="95056"/>
                    <a:pt x="93962" y="100476"/>
                    <a:pt x="123663" y="100476"/>
                  </a:cubicBezTo>
                  <a:cubicBezTo>
                    <a:pt x="153363" y="100476"/>
                    <a:pt x="179694" y="95056"/>
                    <a:pt x="198165" y="86776"/>
                  </a:cubicBezTo>
                  <a:cubicBezTo>
                    <a:pt x="207413" y="82630"/>
                    <a:pt x="214187" y="77994"/>
                    <a:pt x="218493" y="73430"/>
                  </a:cubicBezTo>
                  <a:cubicBezTo>
                    <a:pt x="222741" y="68928"/>
                    <a:pt x="224139" y="65030"/>
                    <a:pt x="224139" y="61831"/>
                  </a:cubicBezTo>
                  <a:cubicBezTo>
                    <a:pt x="224139" y="58633"/>
                    <a:pt x="222741" y="54735"/>
                    <a:pt x="218493" y="50233"/>
                  </a:cubicBezTo>
                  <a:cubicBezTo>
                    <a:pt x="214187" y="45669"/>
                    <a:pt x="207413" y="41033"/>
                    <a:pt x="198165" y="36887"/>
                  </a:cubicBezTo>
                  <a:cubicBezTo>
                    <a:pt x="179694" y="28607"/>
                    <a:pt x="153363" y="23187"/>
                    <a:pt x="123663" y="23187"/>
                  </a:cubicBezTo>
                  <a:cubicBezTo>
                    <a:pt x="93962" y="23187"/>
                    <a:pt x="67631" y="28607"/>
                    <a:pt x="49160" y="36887"/>
                  </a:cubicBezTo>
                  <a:cubicBezTo>
                    <a:pt x="39911" y="41033"/>
                    <a:pt x="33139" y="45669"/>
                    <a:pt x="28833" y="50233"/>
                  </a:cubicBezTo>
                  <a:cubicBezTo>
                    <a:pt x="24585" y="54735"/>
                    <a:pt x="23187" y="58633"/>
                    <a:pt x="23187" y="61831"/>
                  </a:cubicBezTo>
                  <a:close/>
                  <a:moveTo>
                    <a:pt x="224139" y="98813"/>
                  </a:moveTo>
                  <a:cubicBezTo>
                    <a:pt x="219178" y="102220"/>
                    <a:pt x="213618" y="105259"/>
                    <a:pt x="207650" y="107934"/>
                  </a:cubicBezTo>
                  <a:cubicBezTo>
                    <a:pt x="185559" y="117837"/>
                    <a:pt x="155855" y="123663"/>
                    <a:pt x="123663" y="123663"/>
                  </a:cubicBezTo>
                  <a:cubicBezTo>
                    <a:pt x="91470" y="123663"/>
                    <a:pt x="61766" y="117837"/>
                    <a:pt x="39675" y="107934"/>
                  </a:cubicBezTo>
                  <a:cubicBezTo>
                    <a:pt x="33708" y="105259"/>
                    <a:pt x="28148" y="102220"/>
                    <a:pt x="23187" y="98813"/>
                  </a:cubicBezTo>
                  <a:lnTo>
                    <a:pt x="23187" y="247325"/>
                  </a:lnTo>
                  <a:cubicBezTo>
                    <a:pt x="23187" y="250524"/>
                    <a:pt x="24585" y="254422"/>
                    <a:pt x="28833" y="258923"/>
                  </a:cubicBezTo>
                  <a:cubicBezTo>
                    <a:pt x="33139" y="263488"/>
                    <a:pt x="39911" y="268124"/>
                    <a:pt x="49160" y="272270"/>
                  </a:cubicBezTo>
                  <a:cubicBezTo>
                    <a:pt x="67631" y="280550"/>
                    <a:pt x="93962" y="285970"/>
                    <a:pt x="123663" y="285970"/>
                  </a:cubicBezTo>
                  <a:cubicBezTo>
                    <a:pt x="153363" y="285970"/>
                    <a:pt x="179694" y="280550"/>
                    <a:pt x="198165" y="272270"/>
                  </a:cubicBezTo>
                  <a:cubicBezTo>
                    <a:pt x="207413" y="268124"/>
                    <a:pt x="214187" y="263488"/>
                    <a:pt x="218493" y="258923"/>
                  </a:cubicBezTo>
                  <a:cubicBezTo>
                    <a:pt x="222741" y="254422"/>
                    <a:pt x="224139" y="250524"/>
                    <a:pt x="224139" y="247325"/>
                  </a:cubicBezTo>
                  <a:lnTo>
                    <a:pt x="224139" y="98813"/>
                  </a:ln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346" name="Group 1345">
            <a:extLst>
              <a:ext uri="{FF2B5EF4-FFF2-40B4-BE49-F238E27FC236}">
                <a16:creationId xmlns:a16="http://schemas.microsoft.com/office/drawing/2014/main" id="{DA38DC8A-D888-F8C1-2DB2-4C84C130D384}"/>
              </a:ext>
            </a:extLst>
          </p:cNvPr>
          <p:cNvGrpSpPr/>
          <p:nvPr/>
        </p:nvGrpSpPr>
        <p:grpSpPr>
          <a:xfrm>
            <a:off x="4348888" y="5852231"/>
            <a:ext cx="354090" cy="354090"/>
            <a:chOff x="4439718" y="5783651"/>
            <a:chExt cx="354090" cy="354090"/>
          </a:xfrm>
        </p:grpSpPr>
        <p:sp>
          <p:nvSpPr>
            <p:cNvPr id="1349" name="Oval 1348">
              <a:extLst>
                <a:ext uri="{FF2B5EF4-FFF2-40B4-BE49-F238E27FC236}">
                  <a16:creationId xmlns:a16="http://schemas.microsoft.com/office/drawing/2014/main" id="{49AE8FD4-3F73-12C4-60E2-94EA84771C69}"/>
                </a:ext>
                <a:ext uri="{C183D7F6-B498-43B3-948B-1728B52AA6E4}">
                  <adec:decorative xmlns:adec="http://schemas.microsoft.com/office/drawing/2017/decorative" val="1"/>
                </a:ext>
              </a:extLst>
            </p:cNvPr>
            <p:cNvSpPr/>
            <p:nvPr/>
          </p:nvSpPr>
          <p:spPr>
            <a:xfrm>
              <a:off x="4439718"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51" name="Oval 1350">
              <a:extLst>
                <a:ext uri="{FF2B5EF4-FFF2-40B4-BE49-F238E27FC236}">
                  <a16:creationId xmlns:a16="http://schemas.microsoft.com/office/drawing/2014/main" id="{0A3E33EE-A91C-C453-4FD0-C46ED39C50AC}"/>
                </a:ext>
                <a:ext uri="{C183D7F6-B498-43B3-948B-1728B52AA6E4}">
                  <adec:decorative xmlns:adec="http://schemas.microsoft.com/office/drawing/2017/decorative" val="1"/>
                </a:ext>
              </a:extLst>
            </p:cNvPr>
            <p:cNvSpPr/>
            <p:nvPr/>
          </p:nvSpPr>
          <p:spPr>
            <a:xfrm>
              <a:off x="4440074"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353" name="Graphic 33" descr="Icon of a notepad with a pen">
              <a:extLst>
                <a:ext uri="{FF2B5EF4-FFF2-40B4-BE49-F238E27FC236}">
                  <a16:creationId xmlns:a16="http://schemas.microsoft.com/office/drawing/2014/main" id="{880DC96D-F0B5-C8F9-87E3-F52AA75E9240}"/>
                </a:ext>
              </a:extLst>
            </p:cNvPr>
            <p:cNvSpPr/>
            <p:nvPr/>
          </p:nvSpPr>
          <p:spPr>
            <a:xfrm>
              <a:off x="4521608" y="5852856"/>
              <a:ext cx="190310" cy="215681"/>
            </a:xfrm>
            <a:custGeom>
              <a:avLst/>
              <a:gdLst>
                <a:gd name="connsiteX0" fmla="*/ 65747 w 328770"/>
                <a:gd name="connsiteY0" fmla="*/ 120535 h 372600"/>
                <a:gd name="connsiteX1" fmla="*/ 76704 w 328770"/>
                <a:gd name="connsiteY1" fmla="*/ 109577 h 372600"/>
                <a:gd name="connsiteX2" fmla="*/ 186282 w 328770"/>
                <a:gd name="connsiteY2" fmla="*/ 109577 h 372600"/>
                <a:gd name="connsiteX3" fmla="*/ 197240 w 328770"/>
                <a:gd name="connsiteY3" fmla="*/ 120535 h 372600"/>
                <a:gd name="connsiteX4" fmla="*/ 186282 w 328770"/>
                <a:gd name="connsiteY4" fmla="*/ 131492 h 372600"/>
                <a:gd name="connsiteX5" fmla="*/ 76704 w 328770"/>
                <a:gd name="connsiteY5" fmla="*/ 131492 h 372600"/>
                <a:gd name="connsiteX6" fmla="*/ 65747 w 328770"/>
                <a:gd name="connsiteY6" fmla="*/ 120535 h 372600"/>
                <a:gd name="connsiteX7" fmla="*/ 76704 w 328770"/>
                <a:gd name="connsiteY7" fmla="*/ 175323 h 372600"/>
                <a:gd name="connsiteX8" fmla="*/ 65747 w 328770"/>
                <a:gd name="connsiteY8" fmla="*/ 186281 h 372600"/>
                <a:gd name="connsiteX9" fmla="*/ 76704 w 328770"/>
                <a:gd name="connsiteY9" fmla="*/ 197239 h 372600"/>
                <a:gd name="connsiteX10" fmla="*/ 186282 w 328770"/>
                <a:gd name="connsiteY10" fmla="*/ 197239 h 372600"/>
                <a:gd name="connsiteX11" fmla="*/ 197240 w 328770"/>
                <a:gd name="connsiteY11" fmla="*/ 186281 h 372600"/>
                <a:gd name="connsiteX12" fmla="*/ 186282 w 328770"/>
                <a:gd name="connsiteY12" fmla="*/ 175323 h 372600"/>
                <a:gd name="connsiteX13" fmla="*/ 76704 w 328770"/>
                <a:gd name="connsiteY13" fmla="*/ 175323 h 372600"/>
                <a:gd name="connsiteX14" fmla="*/ 65747 w 328770"/>
                <a:gd name="connsiteY14" fmla="*/ 252027 h 372600"/>
                <a:gd name="connsiteX15" fmla="*/ 76704 w 328770"/>
                <a:gd name="connsiteY15" fmla="*/ 241069 h 372600"/>
                <a:gd name="connsiteX16" fmla="*/ 120535 w 328770"/>
                <a:gd name="connsiteY16" fmla="*/ 241069 h 372600"/>
                <a:gd name="connsiteX17" fmla="*/ 131493 w 328770"/>
                <a:gd name="connsiteY17" fmla="*/ 252027 h 372600"/>
                <a:gd name="connsiteX18" fmla="*/ 120535 w 328770"/>
                <a:gd name="connsiteY18" fmla="*/ 262985 h 372600"/>
                <a:gd name="connsiteX19" fmla="*/ 76704 w 328770"/>
                <a:gd name="connsiteY19" fmla="*/ 262985 h 372600"/>
                <a:gd name="connsiteX20" fmla="*/ 65747 w 328770"/>
                <a:gd name="connsiteY20" fmla="*/ 252027 h 372600"/>
                <a:gd name="connsiteX21" fmla="*/ 43831 w 328770"/>
                <a:gd name="connsiteY21" fmla="*/ 10958 h 372600"/>
                <a:gd name="connsiteX22" fmla="*/ 54789 w 328770"/>
                <a:gd name="connsiteY22" fmla="*/ 0 h 372600"/>
                <a:gd name="connsiteX23" fmla="*/ 65747 w 328770"/>
                <a:gd name="connsiteY23" fmla="*/ 10958 h 372600"/>
                <a:gd name="connsiteX24" fmla="*/ 65747 w 328770"/>
                <a:gd name="connsiteY24" fmla="*/ 21915 h 372600"/>
                <a:gd name="connsiteX25" fmla="*/ 120535 w 328770"/>
                <a:gd name="connsiteY25" fmla="*/ 21915 h 372600"/>
                <a:gd name="connsiteX26" fmla="*/ 120535 w 328770"/>
                <a:gd name="connsiteY26" fmla="*/ 10958 h 372600"/>
                <a:gd name="connsiteX27" fmla="*/ 131493 w 328770"/>
                <a:gd name="connsiteY27" fmla="*/ 0 h 372600"/>
                <a:gd name="connsiteX28" fmla="*/ 142451 w 328770"/>
                <a:gd name="connsiteY28" fmla="*/ 10958 h 372600"/>
                <a:gd name="connsiteX29" fmla="*/ 142451 w 328770"/>
                <a:gd name="connsiteY29" fmla="*/ 21915 h 372600"/>
                <a:gd name="connsiteX30" fmla="*/ 197240 w 328770"/>
                <a:gd name="connsiteY30" fmla="*/ 21915 h 372600"/>
                <a:gd name="connsiteX31" fmla="*/ 197240 w 328770"/>
                <a:gd name="connsiteY31" fmla="*/ 10958 h 372600"/>
                <a:gd name="connsiteX32" fmla="*/ 208197 w 328770"/>
                <a:gd name="connsiteY32" fmla="*/ 0 h 372600"/>
                <a:gd name="connsiteX33" fmla="*/ 219155 w 328770"/>
                <a:gd name="connsiteY33" fmla="*/ 10958 h 372600"/>
                <a:gd name="connsiteX34" fmla="*/ 219155 w 328770"/>
                <a:gd name="connsiteY34" fmla="*/ 21915 h 372600"/>
                <a:gd name="connsiteX35" fmla="*/ 230113 w 328770"/>
                <a:gd name="connsiteY35" fmla="*/ 21915 h 372600"/>
                <a:gd name="connsiteX36" fmla="*/ 262986 w 328770"/>
                <a:gd name="connsiteY36" fmla="*/ 54789 h 372600"/>
                <a:gd name="connsiteX37" fmla="*/ 262986 w 328770"/>
                <a:gd name="connsiteY37" fmla="*/ 158484 h 372600"/>
                <a:gd name="connsiteX38" fmla="*/ 243306 w 328770"/>
                <a:gd name="connsiteY38" fmla="*/ 171831 h 372600"/>
                <a:gd name="connsiteX39" fmla="*/ 241071 w 328770"/>
                <a:gd name="connsiteY39" fmla="*/ 174067 h 372600"/>
                <a:gd name="connsiteX40" fmla="*/ 241071 w 328770"/>
                <a:gd name="connsiteY40" fmla="*/ 54789 h 372600"/>
                <a:gd name="connsiteX41" fmla="*/ 230113 w 328770"/>
                <a:gd name="connsiteY41" fmla="*/ 43831 h 372600"/>
                <a:gd name="connsiteX42" fmla="*/ 32873 w 328770"/>
                <a:gd name="connsiteY42" fmla="*/ 43831 h 372600"/>
                <a:gd name="connsiteX43" fmla="*/ 21916 w 328770"/>
                <a:gd name="connsiteY43" fmla="*/ 54789 h 372600"/>
                <a:gd name="connsiteX44" fmla="*/ 21916 w 328770"/>
                <a:gd name="connsiteY44" fmla="*/ 317773 h 372600"/>
                <a:gd name="connsiteX45" fmla="*/ 32873 w 328770"/>
                <a:gd name="connsiteY45" fmla="*/ 328731 h 372600"/>
                <a:gd name="connsiteX46" fmla="*/ 114409 w 328770"/>
                <a:gd name="connsiteY46" fmla="*/ 328731 h 372600"/>
                <a:gd name="connsiteX47" fmla="*/ 110830 w 328770"/>
                <a:gd name="connsiteY47" fmla="*/ 343046 h 372600"/>
                <a:gd name="connsiteX48" fmla="*/ 109640 w 328770"/>
                <a:gd name="connsiteY48" fmla="*/ 350646 h 372600"/>
                <a:gd name="connsiteX49" fmla="*/ 32873 w 328770"/>
                <a:gd name="connsiteY49" fmla="*/ 350646 h 372600"/>
                <a:gd name="connsiteX50" fmla="*/ 0 w 328770"/>
                <a:gd name="connsiteY50" fmla="*/ 317773 h 372600"/>
                <a:gd name="connsiteX51" fmla="*/ 0 w 328770"/>
                <a:gd name="connsiteY51" fmla="*/ 54789 h 372600"/>
                <a:gd name="connsiteX52" fmla="*/ 32873 w 328770"/>
                <a:gd name="connsiteY52" fmla="*/ 21915 h 372600"/>
                <a:gd name="connsiteX53" fmla="*/ 43831 w 328770"/>
                <a:gd name="connsiteY53" fmla="*/ 21915 h 372600"/>
                <a:gd name="connsiteX54" fmla="*/ 43831 w 328770"/>
                <a:gd name="connsiteY54" fmla="*/ 10958 h 372600"/>
                <a:gd name="connsiteX55" fmla="*/ 258805 w 328770"/>
                <a:gd name="connsiteY55" fmla="*/ 187328 h 372600"/>
                <a:gd name="connsiteX56" fmla="*/ 152966 w 328770"/>
                <a:gd name="connsiteY56" fmla="*/ 293167 h 372600"/>
                <a:gd name="connsiteX57" fmla="*/ 140299 w 328770"/>
                <a:gd name="connsiteY57" fmla="*/ 315536 h 372600"/>
                <a:gd name="connsiteX58" fmla="*/ 132093 w 328770"/>
                <a:gd name="connsiteY58" fmla="*/ 348363 h 372600"/>
                <a:gd name="connsiteX59" fmla="*/ 155732 w 328770"/>
                <a:gd name="connsiteY59" fmla="*/ 372001 h 372600"/>
                <a:gd name="connsiteX60" fmla="*/ 188559 w 328770"/>
                <a:gd name="connsiteY60" fmla="*/ 363793 h 372600"/>
                <a:gd name="connsiteX61" fmla="*/ 210928 w 328770"/>
                <a:gd name="connsiteY61" fmla="*/ 351129 h 372600"/>
                <a:gd name="connsiteX62" fmla="*/ 316767 w 328770"/>
                <a:gd name="connsiteY62" fmla="*/ 245290 h 372600"/>
                <a:gd name="connsiteX63" fmla="*/ 316767 w 328770"/>
                <a:gd name="connsiteY63" fmla="*/ 187328 h 372600"/>
                <a:gd name="connsiteX64" fmla="*/ 258805 w 328770"/>
                <a:gd name="connsiteY64" fmla="*/ 187328 h 37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28770" h="372600">
                  <a:moveTo>
                    <a:pt x="65747" y="120535"/>
                  </a:moveTo>
                  <a:cubicBezTo>
                    <a:pt x="65747" y="114483"/>
                    <a:pt x="70653" y="109577"/>
                    <a:pt x="76704" y="109577"/>
                  </a:cubicBezTo>
                  <a:lnTo>
                    <a:pt x="186282" y="109577"/>
                  </a:lnTo>
                  <a:cubicBezTo>
                    <a:pt x="192333" y="109577"/>
                    <a:pt x="197240" y="114483"/>
                    <a:pt x="197240" y="120535"/>
                  </a:cubicBezTo>
                  <a:cubicBezTo>
                    <a:pt x="197240" y="126586"/>
                    <a:pt x="192333" y="131492"/>
                    <a:pt x="186282" y="131492"/>
                  </a:cubicBezTo>
                  <a:lnTo>
                    <a:pt x="76704" y="131492"/>
                  </a:lnTo>
                  <a:cubicBezTo>
                    <a:pt x="70653" y="131492"/>
                    <a:pt x="65747" y="126586"/>
                    <a:pt x="65747" y="120535"/>
                  </a:cubicBezTo>
                  <a:close/>
                  <a:moveTo>
                    <a:pt x="76704" y="175323"/>
                  </a:moveTo>
                  <a:cubicBezTo>
                    <a:pt x="70653" y="175323"/>
                    <a:pt x="65747" y="180230"/>
                    <a:pt x="65747" y="186281"/>
                  </a:cubicBezTo>
                  <a:cubicBezTo>
                    <a:pt x="65747" y="192332"/>
                    <a:pt x="70653" y="197239"/>
                    <a:pt x="76704" y="197239"/>
                  </a:cubicBezTo>
                  <a:lnTo>
                    <a:pt x="186282" y="197239"/>
                  </a:lnTo>
                  <a:cubicBezTo>
                    <a:pt x="192333" y="197239"/>
                    <a:pt x="197240" y="192332"/>
                    <a:pt x="197240" y="186281"/>
                  </a:cubicBezTo>
                  <a:cubicBezTo>
                    <a:pt x="197240" y="180230"/>
                    <a:pt x="192333" y="175323"/>
                    <a:pt x="186282" y="175323"/>
                  </a:cubicBezTo>
                  <a:lnTo>
                    <a:pt x="76704" y="175323"/>
                  </a:lnTo>
                  <a:close/>
                  <a:moveTo>
                    <a:pt x="65747" y="252027"/>
                  </a:moveTo>
                  <a:cubicBezTo>
                    <a:pt x="65747" y="245976"/>
                    <a:pt x="70653" y="241069"/>
                    <a:pt x="76704" y="241069"/>
                  </a:cubicBezTo>
                  <a:lnTo>
                    <a:pt x="120535" y="241069"/>
                  </a:lnTo>
                  <a:cubicBezTo>
                    <a:pt x="126587" y="241069"/>
                    <a:pt x="131493" y="245976"/>
                    <a:pt x="131493" y="252027"/>
                  </a:cubicBezTo>
                  <a:cubicBezTo>
                    <a:pt x="131493" y="258078"/>
                    <a:pt x="126587" y="262985"/>
                    <a:pt x="120535" y="262985"/>
                  </a:cubicBezTo>
                  <a:lnTo>
                    <a:pt x="76704" y="262985"/>
                  </a:lnTo>
                  <a:cubicBezTo>
                    <a:pt x="70653" y="262985"/>
                    <a:pt x="65747" y="258078"/>
                    <a:pt x="65747" y="252027"/>
                  </a:cubicBezTo>
                  <a:close/>
                  <a:moveTo>
                    <a:pt x="43831" y="10958"/>
                  </a:moveTo>
                  <a:cubicBezTo>
                    <a:pt x="43831" y="4906"/>
                    <a:pt x="48737" y="0"/>
                    <a:pt x="54789" y="0"/>
                  </a:cubicBezTo>
                  <a:cubicBezTo>
                    <a:pt x="60841" y="0"/>
                    <a:pt x="65747" y="4906"/>
                    <a:pt x="65747" y="10958"/>
                  </a:cubicBezTo>
                  <a:lnTo>
                    <a:pt x="65747" y="21915"/>
                  </a:lnTo>
                  <a:lnTo>
                    <a:pt x="120535" y="21915"/>
                  </a:lnTo>
                  <a:lnTo>
                    <a:pt x="120535" y="10958"/>
                  </a:lnTo>
                  <a:cubicBezTo>
                    <a:pt x="120535" y="4906"/>
                    <a:pt x="125441" y="0"/>
                    <a:pt x="131493" y="0"/>
                  </a:cubicBezTo>
                  <a:cubicBezTo>
                    <a:pt x="137544" y="0"/>
                    <a:pt x="142451" y="4906"/>
                    <a:pt x="142451" y="10958"/>
                  </a:cubicBezTo>
                  <a:lnTo>
                    <a:pt x="142451" y="21915"/>
                  </a:lnTo>
                  <a:lnTo>
                    <a:pt x="197240" y="21915"/>
                  </a:lnTo>
                  <a:lnTo>
                    <a:pt x="197240" y="10958"/>
                  </a:lnTo>
                  <a:cubicBezTo>
                    <a:pt x="197240" y="4906"/>
                    <a:pt x="202146" y="0"/>
                    <a:pt x="208197" y="0"/>
                  </a:cubicBezTo>
                  <a:cubicBezTo>
                    <a:pt x="214248" y="0"/>
                    <a:pt x="219155" y="4906"/>
                    <a:pt x="219155" y="10958"/>
                  </a:cubicBezTo>
                  <a:lnTo>
                    <a:pt x="219155" y="21915"/>
                  </a:lnTo>
                  <a:lnTo>
                    <a:pt x="230113" y="21915"/>
                  </a:lnTo>
                  <a:cubicBezTo>
                    <a:pt x="248268" y="21915"/>
                    <a:pt x="262986" y="36633"/>
                    <a:pt x="262986" y="54789"/>
                  </a:cubicBezTo>
                  <a:lnTo>
                    <a:pt x="262986" y="158484"/>
                  </a:lnTo>
                  <a:cubicBezTo>
                    <a:pt x="255837" y="161547"/>
                    <a:pt x="249142" y="165996"/>
                    <a:pt x="243306" y="171831"/>
                  </a:cubicBezTo>
                  <a:lnTo>
                    <a:pt x="241071" y="174067"/>
                  </a:lnTo>
                  <a:lnTo>
                    <a:pt x="241071" y="54789"/>
                  </a:lnTo>
                  <a:cubicBezTo>
                    <a:pt x="241071" y="48737"/>
                    <a:pt x="236164" y="43831"/>
                    <a:pt x="230113" y="43831"/>
                  </a:cubicBezTo>
                  <a:lnTo>
                    <a:pt x="32873" y="43831"/>
                  </a:lnTo>
                  <a:cubicBezTo>
                    <a:pt x="26822" y="43831"/>
                    <a:pt x="21916" y="48737"/>
                    <a:pt x="21916" y="54789"/>
                  </a:cubicBezTo>
                  <a:lnTo>
                    <a:pt x="21916" y="317773"/>
                  </a:lnTo>
                  <a:cubicBezTo>
                    <a:pt x="21916" y="323824"/>
                    <a:pt x="26822" y="328731"/>
                    <a:pt x="32873" y="328731"/>
                  </a:cubicBezTo>
                  <a:lnTo>
                    <a:pt x="114409" y="328731"/>
                  </a:lnTo>
                  <a:lnTo>
                    <a:pt x="110830" y="343046"/>
                  </a:lnTo>
                  <a:cubicBezTo>
                    <a:pt x="110190" y="345608"/>
                    <a:pt x="109800" y="348146"/>
                    <a:pt x="109640" y="350646"/>
                  </a:cubicBezTo>
                  <a:lnTo>
                    <a:pt x="32873" y="350646"/>
                  </a:lnTo>
                  <a:cubicBezTo>
                    <a:pt x="14718" y="350646"/>
                    <a:pt x="0" y="335928"/>
                    <a:pt x="0" y="317773"/>
                  </a:cubicBezTo>
                  <a:lnTo>
                    <a:pt x="0" y="54789"/>
                  </a:lnTo>
                  <a:cubicBezTo>
                    <a:pt x="0" y="36633"/>
                    <a:pt x="14718" y="21915"/>
                    <a:pt x="32873" y="21915"/>
                  </a:cubicBezTo>
                  <a:lnTo>
                    <a:pt x="43831" y="21915"/>
                  </a:lnTo>
                  <a:lnTo>
                    <a:pt x="43831" y="10958"/>
                  </a:lnTo>
                  <a:close/>
                  <a:moveTo>
                    <a:pt x="258805" y="187328"/>
                  </a:moveTo>
                  <a:lnTo>
                    <a:pt x="152966" y="293167"/>
                  </a:lnTo>
                  <a:cubicBezTo>
                    <a:pt x="146794" y="299338"/>
                    <a:pt x="142416" y="307070"/>
                    <a:pt x="140299" y="315536"/>
                  </a:cubicBezTo>
                  <a:lnTo>
                    <a:pt x="132093" y="348363"/>
                  </a:lnTo>
                  <a:cubicBezTo>
                    <a:pt x="128524" y="362639"/>
                    <a:pt x="141456" y="375569"/>
                    <a:pt x="155732" y="372001"/>
                  </a:cubicBezTo>
                  <a:lnTo>
                    <a:pt x="188559" y="363793"/>
                  </a:lnTo>
                  <a:cubicBezTo>
                    <a:pt x="197025" y="361676"/>
                    <a:pt x="204757" y="357300"/>
                    <a:pt x="210928" y="351129"/>
                  </a:cubicBezTo>
                  <a:lnTo>
                    <a:pt x="316767" y="245290"/>
                  </a:lnTo>
                  <a:cubicBezTo>
                    <a:pt x="332772" y="229283"/>
                    <a:pt x="332772" y="203333"/>
                    <a:pt x="316767" y="187328"/>
                  </a:cubicBezTo>
                  <a:cubicBezTo>
                    <a:pt x="300762" y="171322"/>
                    <a:pt x="274809" y="171322"/>
                    <a:pt x="258805" y="187328"/>
                  </a:cubicBezTo>
                  <a:close/>
                </a:path>
              </a:pathLst>
            </a:custGeom>
            <a:gradFill>
              <a:gsLst>
                <a:gs pos="0">
                  <a:srgbClr val="0078D4"/>
                </a:gs>
                <a:gs pos="28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355" name="Group 1354">
            <a:extLst>
              <a:ext uri="{FF2B5EF4-FFF2-40B4-BE49-F238E27FC236}">
                <a16:creationId xmlns:a16="http://schemas.microsoft.com/office/drawing/2014/main" id="{DF73D434-9E22-C80E-B070-CCED488A1F38}"/>
              </a:ext>
            </a:extLst>
          </p:cNvPr>
          <p:cNvGrpSpPr/>
          <p:nvPr/>
        </p:nvGrpSpPr>
        <p:grpSpPr>
          <a:xfrm>
            <a:off x="9935478" y="5852231"/>
            <a:ext cx="354090" cy="354090"/>
            <a:chOff x="9822231" y="5783651"/>
            <a:chExt cx="354090" cy="354090"/>
          </a:xfrm>
        </p:grpSpPr>
        <p:sp>
          <p:nvSpPr>
            <p:cNvPr id="1357" name="Oval 1356">
              <a:extLst>
                <a:ext uri="{FF2B5EF4-FFF2-40B4-BE49-F238E27FC236}">
                  <a16:creationId xmlns:a16="http://schemas.microsoft.com/office/drawing/2014/main" id="{3E1EF248-565C-8042-CCA7-862773790513}"/>
                </a:ext>
                <a:ext uri="{C183D7F6-B498-43B3-948B-1728B52AA6E4}">
                  <adec:decorative xmlns:adec="http://schemas.microsoft.com/office/drawing/2017/decorative" val="1"/>
                </a:ext>
              </a:extLst>
            </p:cNvPr>
            <p:cNvSpPr/>
            <p:nvPr/>
          </p:nvSpPr>
          <p:spPr>
            <a:xfrm>
              <a:off x="9822231"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59" name="Oval 1358">
              <a:extLst>
                <a:ext uri="{FF2B5EF4-FFF2-40B4-BE49-F238E27FC236}">
                  <a16:creationId xmlns:a16="http://schemas.microsoft.com/office/drawing/2014/main" id="{4EA7A130-8864-D489-BDA8-4F4A3668165B}"/>
                </a:ext>
                <a:ext uri="{C183D7F6-B498-43B3-948B-1728B52AA6E4}">
                  <adec:decorative xmlns:adec="http://schemas.microsoft.com/office/drawing/2017/decorative" val="1"/>
                </a:ext>
              </a:extLst>
            </p:cNvPr>
            <p:cNvSpPr/>
            <p:nvPr/>
          </p:nvSpPr>
          <p:spPr>
            <a:xfrm>
              <a:off x="9822587"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361" name="Graphic 117" descr="Icon of two arrows with a slash in between">
              <a:extLst>
                <a:ext uri="{FF2B5EF4-FFF2-40B4-BE49-F238E27FC236}">
                  <a16:creationId xmlns:a16="http://schemas.microsoft.com/office/drawing/2014/main" id="{3CC06AFF-4369-A971-7DD6-6D3C7376B1C1}"/>
                </a:ext>
              </a:extLst>
            </p:cNvPr>
            <p:cNvSpPr/>
            <p:nvPr/>
          </p:nvSpPr>
          <p:spPr>
            <a:xfrm>
              <a:off x="9876696" y="5862629"/>
              <a:ext cx="245160" cy="196134"/>
            </a:xfrm>
            <a:custGeom>
              <a:avLst/>
              <a:gdLst>
                <a:gd name="connsiteX0" fmla="*/ 110735 w 365124"/>
                <a:gd name="connsiteY0" fmla="*/ 272810 h 292107"/>
                <a:gd name="connsiteX1" fmla="*/ 229401 w 365124"/>
                <a:gd name="connsiteY1" fmla="*/ 8095 h 292107"/>
                <a:gd name="connsiteX2" fmla="*/ 247496 w 365124"/>
                <a:gd name="connsiteY2" fmla="*/ 1201 h 292107"/>
                <a:gd name="connsiteX3" fmla="*/ 255036 w 365124"/>
                <a:gd name="connsiteY3" fmla="*/ 17550 h 292107"/>
                <a:gd name="connsiteX4" fmla="*/ 254390 w 365124"/>
                <a:gd name="connsiteY4" fmla="*/ 19297 h 292107"/>
                <a:gd name="connsiteX5" fmla="*/ 135724 w 365124"/>
                <a:gd name="connsiteY5" fmla="*/ 284012 h 292107"/>
                <a:gd name="connsiteX6" fmla="*/ 117629 w 365124"/>
                <a:gd name="connsiteY6" fmla="*/ 290906 h 292107"/>
                <a:gd name="connsiteX7" fmla="*/ 110090 w 365124"/>
                <a:gd name="connsiteY7" fmla="*/ 274558 h 292107"/>
                <a:gd name="connsiteX8" fmla="*/ 110735 w 365124"/>
                <a:gd name="connsiteY8" fmla="*/ 272810 h 292107"/>
                <a:gd name="connsiteX9" fmla="*/ 229401 w 365124"/>
                <a:gd name="connsiteY9" fmla="*/ 8095 h 292107"/>
                <a:gd name="connsiteX10" fmla="*/ 110735 w 365124"/>
                <a:gd name="connsiteY10" fmla="*/ 272810 h 292107"/>
                <a:gd name="connsiteX11" fmla="*/ 4010 w 365124"/>
                <a:gd name="connsiteY11" fmla="*/ 136372 h 292107"/>
                <a:gd name="connsiteX12" fmla="*/ 81599 w 365124"/>
                <a:gd name="connsiteY12" fmla="*/ 58783 h 292107"/>
                <a:gd name="connsiteX13" fmla="*/ 100963 w 365124"/>
                <a:gd name="connsiteY13" fmla="*/ 58783 h 292107"/>
                <a:gd name="connsiteX14" fmla="*/ 102289 w 365124"/>
                <a:gd name="connsiteY14" fmla="*/ 76611 h 292107"/>
                <a:gd name="connsiteX15" fmla="*/ 100963 w 365124"/>
                <a:gd name="connsiteY15" fmla="*/ 78146 h 292107"/>
                <a:gd name="connsiteX16" fmla="*/ 33056 w 365124"/>
                <a:gd name="connsiteY16" fmla="*/ 146054 h 292107"/>
                <a:gd name="connsiteX17" fmla="*/ 100963 w 365124"/>
                <a:gd name="connsiteY17" fmla="*/ 213961 h 292107"/>
                <a:gd name="connsiteX18" fmla="*/ 100963 w 365124"/>
                <a:gd name="connsiteY18" fmla="*/ 233324 h 292107"/>
                <a:gd name="connsiteX19" fmla="*/ 83135 w 365124"/>
                <a:gd name="connsiteY19" fmla="*/ 234649 h 292107"/>
                <a:gd name="connsiteX20" fmla="*/ 81599 w 365124"/>
                <a:gd name="connsiteY20" fmla="*/ 233324 h 292107"/>
                <a:gd name="connsiteX21" fmla="*/ 4010 w 365124"/>
                <a:gd name="connsiteY21" fmla="*/ 155735 h 292107"/>
                <a:gd name="connsiteX22" fmla="*/ 2685 w 365124"/>
                <a:gd name="connsiteY22" fmla="*/ 137908 h 292107"/>
                <a:gd name="connsiteX23" fmla="*/ 4010 w 365124"/>
                <a:gd name="connsiteY23" fmla="*/ 136372 h 292107"/>
                <a:gd name="connsiteX24" fmla="*/ 81599 w 365124"/>
                <a:gd name="connsiteY24" fmla="*/ 58783 h 292107"/>
                <a:gd name="connsiteX25" fmla="*/ 4010 w 365124"/>
                <a:gd name="connsiteY25" fmla="*/ 136372 h 292107"/>
                <a:gd name="connsiteX26" fmla="*/ 264162 w 365124"/>
                <a:gd name="connsiteY26" fmla="*/ 58783 h 292107"/>
                <a:gd name="connsiteX27" fmla="*/ 281990 w 365124"/>
                <a:gd name="connsiteY27" fmla="*/ 57457 h 292107"/>
                <a:gd name="connsiteX28" fmla="*/ 283525 w 365124"/>
                <a:gd name="connsiteY28" fmla="*/ 58783 h 292107"/>
                <a:gd name="connsiteX29" fmla="*/ 361114 w 365124"/>
                <a:gd name="connsiteY29" fmla="*/ 136372 h 292107"/>
                <a:gd name="connsiteX30" fmla="*/ 362440 w 365124"/>
                <a:gd name="connsiteY30" fmla="*/ 154200 h 292107"/>
                <a:gd name="connsiteX31" fmla="*/ 361114 w 365124"/>
                <a:gd name="connsiteY31" fmla="*/ 155735 h 292107"/>
                <a:gd name="connsiteX32" fmla="*/ 283525 w 365124"/>
                <a:gd name="connsiteY32" fmla="*/ 233324 h 292107"/>
                <a:gd name="connsiteX33" fmla="*/ 264162 w 365124"/>
                <a:gd name="connsiteY33" fmla="*/ 233324 h 292107"/>
                <a:gd name="connsiteX34" fmla="*/ 262837 w 365124"/>
                <a:gd name="connsiteY34" fmla="*/ 215497 h 292107"/>
                <a:gd name="connsiteX35" fmla="*/ 264162 w 365124"/>
                <a:gd name="connsiteY35" fmla="*/ 213961 h 292107"/>
                <a:gd name="connsiteX36" fmla="*/ 332068 w 365124"/>
                <a:gd name="connsiteY36" fmla="*/ 146054 h 292107"/>
                <a:gd name="connsiteX37" fmla="*/ 264162 w 365124"/>
                <a:gd name="connsiteY37" fmla="*/ 78146 h 292107"/>
                <a:gd name="connsiteX38" fmla="*/ 264162 w 365124"/>
                <a:gd name="connsiteY38" fmla="*/ 58783 h 29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5124" h="292107">
                  <a:moveTo>
                    <a:pt x="110735" y="272810"/>
                  </a:moveTo>
                  <a:lnTo>
                    <a:pt x="229401" y="8095"/>
                  </a:lnTo>
                  <a:cubicBezTo>
                    <a:pt x="232495" y="1194"/>
                    <a:pt x="240595" y="-1892"/>
                    <a:pt x="247496" y="1201"/>
                  </a:cubicBezTo>
                  <a:cubicBezTo>
                    <a:pt x="253822" y="4037"/>
                    <a:pt x="256942" y="11081"/>
                    <a:pt x="255036" y="17550"/>
                  </a:cubicBezTo>
                  <a:lnTo>
                    <a:pt x="254390" y="19297"/>
                  </a:lnTo>
                  <a:lnTo>
                    <a:pt x="135724" y="284012"/>
                  </a:lnTo>
                  <a:cubicBezTo>
                    <a:pt x="132631" y="290913"/>
                    <a:pt x="124529" y="293999"/>
                    <a:pt x="117629" y="290906"/>
                  </a:cubicBezTo>
                  <a:cubicBezTo>
                    <a:pt x="111303" y="288071"/>
                    <a:pt x="108183" y="281026"/>
                    <a:pt x="110090" y="274558"/>
                  </a:cubicBezTo>
                  <a:lnTo>
                    <a:pt x="110735" y="272810"/>
                  </a:lnTo>
                  <a:lnTo>
                    <a:pt x="229401" y="8095"/>
                  </a:lnTo>
                  <a:lnTo>
                    <a:pt x="110735" y="272810"/>
                  </a:lnTo>
                  <a:close/>
                  <a:moveTo>
                    <a:pt x="4010" y="136372"/>
                  </a:moveTo>
                  <a:lnTo>
                    <a:pt x="81599" y="58783"/>
                  </a:lnTo>
                  <a:cubicBezTo>
                    <a:pt x="86946" y="53435"/>
                    <a:pt x="95616" y="53435"/>
                    <a:pt x="100963" y="58783"/>
                  </a:cubicBezTo>
                  <a:cubicBezTo>
                    <a:pt x="105824" y="63643"/>
                    <a:pt x="106266" y="71250"/>
                    <a:pt x="102289" y="76611"/>
                  </a:cubicBezTo>
                  <a:lnTo>
                    <a:pt x="100963" y="78146"/>
                  </a:lnTo>
                  <a:lnTo>
                    <a:pt x="33056" y="146054"/>
                  </a:lnTo>
                  <a:lnTo>
                    <a:pt x="100963" y="213961"/>
                  </a:lnTo>
                  <a:cubicBezTo>
                    <a:pt x="106310" y="219307"/>
                    <a:pt x="106310" y="227977"/>
                    <a:pt x="100963" y="233324"/>
                  </a:cubicBezTo>
                  <a:cubicBezTo>
                    <a:pt x="96102" y="238186"/>
                    <a:pt x="88495" y="238627"/>
                    <a:pt x="83135" y="234649"/>
                  </a:cubicBezTo>
                  <a:lnTo>
                    <a:pt x="81599" y="233324"/>
                  </a:lnTo>
                  <a:lnTo>
                    <a:pt x="4010" y="155735"/>
                  </a:lnTo>
                  <a:cubicBezTo>
                    <a:pt x="-851" y="150873"/>
                    <a:pt x="-1293" y="143268"/>
                    <a:pt x="2685" y="137908"/>
                  </a:cubicBezTo>
                  <a:lnTo>
                    <a:pt x="4010" y="136372"/>
                  </a:lnTo>
                  <a:lnTo>
                    <a:pt x="81599" y="58783"/>
                  </a:lnTo>
                  <a:lnTo>
                    <a:pt x="4010" y="136372"/>
                  </a:lnTo>
                  <a:close/>
                  <a:moveTo>
                    <a:pt x="264162" y="58783"/>
                  </a:moveTo>
                  <a:cubicBezTo>
                    <a:pt x="269022" y="53921"/>
                    <a:pt x="276630" y="53480"/>
                    <a:pt x="281990" y="57457"/>
                  </a:cubicBezTo>
                  <a:lnTo>
                    <a:pt x="283525" y="58783"/>
                  </a:lnTo>
                  <a:lnTo>
                    <a:pt x="361114" y="136372"/>
                  </a:lnTo>
                  <a:cubicBezTo>
                    <a:pt x="365976" y="141232"/>
                    <a:pt x="366418" y="148840"/>
                    <a:pt x="362440" y="154200"/>
                  </a:cubicBezTo>
                  <a:lnTo>
                    <a:pt x="361114" y="155735"/>
                  </a:lnTo>
                  <a:lnTo>
                    <a:pt x="283525" y="233324"/>
                  </a:lnTo>
                  <a:cubicBezTo>
                    <a:pt x="278178" y="238671"/>
                    <a:pt x="269510" y="238671"/>
                    <a:pt x="264162" y="233324"/>
                  </a:cubicBezTo>
                  <a:cubicBezTo>
                    <a:pt x="259301" y="228464"/>
                    <a:pt x="258859" y="220857"/>
                    <a:pt x="262837" y="215497"/>
                  </a:cubicBezTo>
                  <a:lnTo>
                    <a:pt x="264162" y="213961"/>
                  </a:lnTo>
                  <a:lnTo>
                    <a:pt x="332068" y="146054"/>
                  </a:lnTo>
                  <a:lnTo>
                    <a:pt x="264162" y="78146"/>
                  </a:lnTo>
                  <a:cubicBezTo>
                    <a:pt x="258815" y="72799"/>
                    <a:pt x="258815" y="64130"/>
                    <a:pt x="264162" y="58783"/>
                  </a:cubicBez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364" name="Group 1363">
            <a:extLst>
              <a:ext uri="{FF2B5EF4-FFF2-40B4-BE49-F238E27FC236}">
                <a16:creationId xmlns:a16="http://schemas.microsoft.com/office/drawing/2014/main" id="{1B255D38-F207-5F6B-6EFC-F7DEE2524F15}"/>
              </a:ext>
            </a:extLst>
          </p:cNvPr>
          <p:cNvGrpSpPr/>
          <p:nvPr/>
        </p:nvGrpSpPr>
        <p:grpSpPr>
          <a:xfrm>
            <a:off x="6583524" y="5852231"/>
            <a:ext cx="354090" cy="354090"/>
            <a:chOff x="6592723" y="5783651"/>
            <a:chExt cx="354090" cy="354090"/>
          </a:xfrm>
        </p:grpSpPr>
        <p:sp>
          <p:nvSpPr>
            <p:cNvPr id="1366" name="Oval 1365">
              <a:extLst>
                <a:ext uri="{FF2B5EF4-FFF2-40B4-BE49-F238E27FC236}">
                  <a16:creationId xmlns:a16="http://schemas.microsoft.com/office/drawing/2014/main" id="{A8F10C0E-9813-3C5B-7E16-14A90D0258A3}"/>
                </a:ext>
                <a:ext uri="{C183D7F6-B498-43B3-948B-1728B52AA6E4}">
                  <adec:decorative xmlns:adec="http://schemas.microsoft.com/office/drawing/2017/decorative" val="1"/>
                </a:ext>
              </a:extLst>
            </p:cNvPr>
            <p:cNvSpPr/>
            <p:nvPr/>
          </p:nvSpPr>
          <p:spPr>
            <a:xfrm>
              <a:off x="6592723"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68" name="Oval 1367">
              <a:extLst>
                <a:ext uri="{FF2B5EF4-FFF2-40B4-BE49-F238E27FC236}">
                  <a16:creationId xmlns:a16="http://schemas.microsoft.com/office/drawing/2014/main" id="{33041978-3C52-5207-9A37-C609C001DC5B}"/>
                </a:ext>
                <a:ext uri="{C183D7F6-B498-43B3-948B-1728B52AA6E4}">
                  <adec:decorative xmlns:adec="http://schemas.microsoft.com/office/drawing/2017/decorative" val="1"/>
                </a:ext>
              </a:extLst>
            </p:cNvPr>
            <p:cNvSpPr/>
            <p:nvPr/>
          </p:nvSpPr>
          <p:spPr>
            <a:xfrm>
              <a:off x="6593079"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370" name="Graphic 118" descr="Icon of a coding sign inside a box">
              <a:extLst>
                <a:ext uri="{FF2B5EF4-FFF2-40B4-BE49-F238E27FC236}">
                  <a16:creationId xmlns:a16="http://schemas.microsoft.com/office/drawing/2014/main" id="{9C82C1A7-9670-367D-D339-3A95433DD7BA}"/>
                </a:ext>
              </a:extLst>
            </p:cNvPr>
            <p:cNvSpPr/>
            <p:nvPr/>
          </p:nvSpPr>
          <p:spPr>
            <a:xfrm>
              <a:off x="6668901" y="5859829"/>
              <a:ext cx="201735" cy="201735"/>
            </a:xfrm>
            <a:custGeom>
              <a:avLst/>
              <a:gdLst>
                <a:gd name="connsiteX0" fmla="*/ 59333 w 328612"/>
                <a:gd name="connsiteY0" fmla="*/ 0 h 328612"/>
                <a:gd name="connsiteX1" fmla="*/ 0 w 328612"/>
                <a:gd name="connsiteY1" fmla="*/ 59333 h 328612"/>
                <a:gd name="connsiteX2" fmla="*/ 0 w 328612"/>
                <a:gd name="connsiteY2" fmla="*/ 269280 h 328612"/>
                <a:gd name="connsiteX3" fmla="*/ 59333 w 328612"/>
                <a:gd name="connsiteY3" fmla="*/ 328613 h 328612"/>
                <a:gd name="connsiteX4" fmla="*/ 269280 w 328612"/>
                <a:gd name="connsiteY4" fmla="*/ 328613 h 328612"/>
                <a:gd name="connsiteX5" fmla="*/ 328613 w 328612"/>
                <a:gd name="connsiteY5" fmla="*/ 269280 h 328612"/>
                <a:gd name="connsiteX6" fmla="*/ 328613 w 328612"/>
                <a:gd name="connsiteY6" fmla="*/ 59333 h 328612"/>
                <a:gd name="connsiteX7" fmla="*/ 269280 w 328612"/>
                <a:gd name="connsiteY7" fmla="*/ 0 h 328612"/>
                <a:gd name="connsiteX8" fmla="*/ 59333 w 328612"/>
                <a:gd name="connsiteY8" fmla="*/ 0 h 328612"/>
                <a:gd name="connsiteX9" fmla="*/ 27384 w 328612"/>
                <a:gd name="connsiteY9" fmla="*/ 59333 h 328612"/>
                <a:gd name="connsiteX10" fmla="*/ 59333 w 328612"/>
                <a:gd name="connsiteY10" fmla="*/ 27384 h 328612"/>
                <a:gd name="connsiteX11" fmla="*/ 269280 w 328612"/>
                <a:gd name="connsiteY11" fmla="*/ 27384 h 328612"/>
                <a:gd name="connsiteX12" fmla="*/ 301228 w 328612"/>
                <a:gd name="connsiteY12" fmla="*/ 59333 h 328612"/>
                <a:gd name="connsiteX13" fmla="*/ 301228 w 328612"/>
                <a:gd name="connsiteY13" fmla="*/ 269280 h 328612"/>
                <a:gd name="connsiteX14" fmla="*/ 269280 w 328612"/>
                <a:gd name="connsiteY14" fmla="*/ 301228 h 328612"/>
                <a:gd name="connsiteX15" fmla="*/ 59333 w 328612"/>
                <a:gd name="connsiteY15" fmla="*/ 301228 h 328612"/>
                <a:gd name="connsiteX16" fmla="*/ 27384 w 328612"/>
                <a:gd name="connsiteY16" fmla="*/ 269280 h 328612"/>
                <a:gd name="connsiteX17" fmla="*/ 27384 w 328612"/>
                <a:gd name="connsiteY17" fmla="*/ 59333 h 328612"/>
                <a:gd name="connsiteX18" fmla="*/ 137475 w 328612"/>
                <a:gd name="connsiteY18" fmla="*/ 114655 h 328612"/>
                <a:gd name="connsiteX19" fmla="*/ 137475 w 328612"/>
                <a:gd name="connsiteY19" fmla="*/ 95292 h 328612"/>
                <a:gd name="connsiteX20" fmla="*/ 118112 w 328612"/>
                <a:gd name="connsiteY20" fmla="*/ 95292 h 328612"/>
                <a:gd name="connsiteX21" fmla="*/ 58779 w 328612"/>
                <a:gd name="connsiteY21" fmla="*/ 154625 h 328612"/>
                <a:gd name="connsiteX22" fmla="*/ 58779 w 328612"/>
                <a:gd name="connsiteY22" fmla="*/ 173988 h 328612"/>
                <a:gd name="connsiteX23" fmla="*/ 118112 w 328612"/>
                <a:gd name="connsiteY23" fmla="*/ 233320 h 328612"/>
                <a:gd name="connsiteX24" fmla="*/ 137475 w 328612"/>
                <a:gd name="connsiteY24" fmla="*/ 233320 h 328612"/>
                <a:gd name="connsiteX25" fmla="*/ 137475 w 328612"/>
                <a:gd name="connsiteY25" fmla="*/ 213958 h 328612"/>
                <a:gd name="connsiteX26" fmla="*/ 87825 w 328612"/>
                <a:gd name="connsiteY26" fmla="*/ 164306 h 328612"/>
                <a:gd name="connsiteX27" fmla="*/ 137475 w 328612"/>
                <a:gd name="connsiteY27" fmla="*/ 114655 h 328612"/>
                <a:gd name="connsiteX28" fmla="*/ 210500 w 328612"/>
                <a:gd name="connsiteY28" fmla="*/ 95292 h 328612"/>
                <a:gd name="connsiteX29" fmla="*/ 191137 w 328612"/>
                <a:gd name="connsiteY29" fmla="*/ 95292 h 328612"/>
                <a:gd name="connsiteX30" fmla="*/ 191137 w 328612"/>
                <a:gd name="connsiteY30" fmla="*/ 114655 h 328612"/>
                <a:gd name="connsiteX31" fmla="*/ 240787 w 328612"/>
                <a:gd name="connsiteY31" fmla="*/ 164306 h 328612"/>
                <a:gd name="connsiteX32" fmla="*/ 191137 w 328612"/>
                <a:gd name="connsiteY32" fmla="*/ 213958 h 328612"/>
                <a:gd name="connsiteX33" fmla="*/ 191137 w 328612"/>
                <a:gd name="connsiteY33" fmla="*/ 233320 h 328612"/>
                <a:gd name="connsiteX34" fmla="*/ 210500 w 328612"/>
                <a:gd name="connsiteY34" fmla="*/ 233320 h 328612"/>
                <a:gd name="connsiteX35" fmla="*/ 269833 w 328612"/>
                <a:gd name="connsiteY35" fmla="*/ 173988 h 328612"/>
                <a:gd name="connsiteX36" fmla="*/ 269833 w 328612"/>
                <a:gd name="connsiteY36" fmla="*/ 154625 h 328612"/>
                <a:gd name="connsiteX37" fmla="*/ 210500 w 328612"/>
                <a:gd name="connsiteY37" fmla="*/ 95292 h 32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28612" h="328612">
                  <a:moveTo>
                    <a:pt x="59333" y="0"/>
                  </a:moveTo>
                  <a:cubicBezTo>
                    <a:pt x="26564" y="0"/>
                    <a:pt x="0" y="26564"/>
                    <a:pt x="0" y="59333"/>
                  </a:cubicBezTo>
                  <a:lnTo>
                    <a:pt x="0" y="269280"/>
                  </a:lnTo>
                  <a:cubicBezTo>
                    <a:pt x="0" y="302048"/>
                    <a:pt x="26564" y="328613"/>
                    <a:pt x="59333" y="328613"/>
                  </a:cubicBezTo>
                  <a:lnTo>
                    <a:pt x="269280" y="328613"/>
                  </a:lnTo>
                  <a:cubicBezTo>
                    <a:pt x="302048" y="328613"/>
                    <a:pt x="328613" y="302048"/>
                    <a:pt x="328613" y="269280"/>
                  </a:cubicBezTo>
                  <a:lnTo>
                    <a:pt x="328613" y="59333"/>
                  </a:lnTo>
                  <a:cubicBezTo>
                    <a:pt x="328613" y="26564"/>
                    <a:pt x="302048" y="0"/>
                    <a:pt x="269280" y="0"/>
                  </a:cubicBezTo>
                  <a:lnTo>
                    <a:pt x="59333" y="0"/>
                  </a:lnTo>
                  <a:close/>
                  <a:moveTo>
                    <a:pt x="27384" y="59333"/>
                  </a:moveTo>
                  <a:cubicBezTo>
                    <a:pt x="27384" y="41688"/>
                    <a:pt x="41688" y="27384"/>
                    <a:pt x="59333" y="27384"/>
                  </a:cubicBezTo>
                  <a:lnTo>
                    <a:pt x="269280" y="27384"/>
                  </a:lnTo>
                  <a:cubicBezTo>
                    <a:pt x="286924" y="27384"/>
                    <a:pt x="301228" y="41688"/>
                    <a:pt x="301228" y="59333"/>
                  </a:cubicBezTo>
                  <a:lnTo>
                    <a:pt x="301228" y="269280"/>
                  </a:lnTo>
                  <a:cubicBezTo>
                    <a:pt x="301228" y="286924"/>
                    <a:pt x="286924" y="301228"/>
                    <a:pt x="269280" y="301228"/>
                  </a:cubicBezTo>
                  <a:lnTo>
                    <a:pt x="59333" y="301228"/>
                  </a:lnTo>
                  <a:cubicBezTo>
                    <a:pt x="41688" y="301228"/>
                    <a:pt x="27384" y="286924"/>
                    <a:pt x="27384" y="269280"/>
                  </a:cubicBezTo>
                  <a:lnTo>
                    <a:pt x="27384" y="59333"/>
                  </a:lnTo>
                  <a:close/>
                  <a:moveTo>
                    <a:pt x="137475" y="114655"/>
                  </a:moveTo>
                  <a:cubicBezTo>
                    <a:pt x="142822" y="109308"/>
                    <a:pt x="142822" y="100639"/>
                    <a:pt x="137475" y="95292"/>
                  </a:cubicBezTo>
                  <a:cubicBezTo>
                    <a:pt x="132128" y="89945"/>
                    <a:pt x="123459" y="89945"/>
                    <a:pt x="118112" y="95292"/>
                  </a:cubicBezTo>
                  <a:lnTo>
                    <a:pt x="58779" y="154625"/>
                  </a:lnTo>
                  <a:cubicBezTo>
                    <a:pt x="53432" y="159972"/>
                    <a:pt x="53432" y="168640"/>
                    <a:pt x="58779" y="173988"/>
                  </a:cubicBezTo>
                  <a:lnTo>
                    <a:pt x="118112" y="233320"/>
                  </a:lnTo>
                  <a:cubicBezTo>
                    <a:pt x="123459" y="238668"/>
                    <a:pt x="132128" y="238668"/>
                    <a:pt x="137475" y="233320"/>
                  </a:cubicBezTo>
                  <a:cubicBezTo>
                    <a:pt x="142822" y="227973"/>
                    <a:pt x="142822" y="219305"/>
                    <a:pt x="137475" y="213958"/>
                  </a:cubicBezTo>
                  <a:lnTo>
                    <a:pt x="87825" y="164306"/>
                  </a:lnTo>
                  <a:lnTo>
                    <a:pt x="137475" y="114655"/>
                  </a:lnTo>
                  <a:close/>
                  <a:moveTo>
                    <a:pt x="210500" y="95292"/>
                  </a:moveTo>
                  <a:cubicBezTo>
                    <a:pt x="205153" y="89945"/>
                    <a:pt x="196485" y="89945"/>
                    <a:pt x="191137" y="95292"/>
                  </a:cubicBezTo>
                  <a:cubicBezTo>
                    <a:pt x="185790" y="100639"/>
                    <a:pt x="185790" y="109308"/>
                    <a:pt x="191137" y="114655"/>
                  </a:cubicBezTo>
                  <a:lnTo>
                    <a:pt x="240787" y="164306"/>
                  </a:lnTo>
                  <a:lnTo>
                    <a:pt x="191137" y="213958"/>
                  </a:lnTo>
                  <a:cubicBezTo>
                    <a:pt x="185790" y="219305"/>
                    <a:pt x="185790" y="227973"/>
                    <a:pt x="191137" y="233320"/>
                  </a:cubicBezTo>
                  <a:cubicBezTo>
                    <a:pt x="196485" y="238668"/>
                    <a:pt x="205153" y="238668"/>
                    <a:pt x="210500" y="233320"/>
                  </a:cubicBezTo>
                  <a:lnTo>
                    <a:pt x="269833" y="173988"/>
                  </a:lnTo>
                  <a:cubicBezTo>
                    <a:pt x="275180" y="168640"/>
                    <a:pt x="275180" y="159972"/>
                    <a:pt x="269833" y="154625"/>
                  </a:cubicBezTo>
                  <a:lnTo>
                    <a:pt x="210500" y="95292"/>
                  </a:lnTo>
                  <a:close/>
                </a:path>
              </a:pathLst>
            </a:custGeom>
            <a:gradFill>
              <a:gsLst>
                <a:gs pos="0">
                  <a:srgbClr val="0078D4"/>
                </a:gs>
                <a:gs pos="33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grpSp>
        <p:nvGrpSpPr>
          <p:cNvPr id="1374" name="Group 1373">
            <a:extLst>
              <a:ext uri="{FF2B5EF4-FFF2-40B4-BE49-F238E27FC236}">
                <a16:creationId xmlns:a16="http://schemas.microsoft.com/office/drawing/2014/main" id="{5936DD8B-3098-E392-D7B2-FBEF66C68A90}"/>
              </a:ext>
            </a:extLst>
          </p:cNvPr>
          <p:cNvGrpSpPr/>
          <p:nvPr/>
        </p:nvGrpSpPr>
        <p:grpSpPr>
          <a:xfrm>
            <a:off x="8818160" y="5852231"/>
            <a:ext cx="354090" cy="354090"/>
            <a:chOff x="8745728" y="5783651"/>
            <a:chExt cx="354090" cy="354090"/>
          </a:xfrm>
        </p:grpSpPr>
        <p:sp>
          <p:nvSpPr>
            <p:cNvPr id="1375" name="Oval 1374">
              <a:extLst>
                <a:ext uri="{FF2B5EF4-FFF2-40B4-BE49-F238E27FC236}">
                  <a16:creationId xmlns:a16="http://schemas.microsoft.com/office/drawing/2014/main" id="{CFBF131A-119E-8F03-AB18-8EBBA740AB97}"/>
                </a:ext>
                <a:ext uri="{C183D7F6-B498-43B3-948B-1728B52AA6E4}">
                  <adec:decorative xmlns:adec="http://schemas.microsoft.com/office/drawing/2017/decorative" val="1"/>
                </a:ext>
              </a:extLst>
            </p:cNvPr>
            <p:cNvSpPr/>
            <p:nvPr/>
          </p:nvSpPr>
          <p:spPr>
            <a:xfrm>
              <a:off x="8745728" y="578365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77" name="Oval 1376">
              <a:extLst>
                <a:ext uri="{FF2B5EF4-FFF2-40B4-BE49-F238E27FC236}">
                  <a16:creationId xmlns:a16="http://schemas.microsoft.com/office/drawing/2014/main" id="{B0F40D55-7434-8C63-BD87-1537F2D49323}"/>
                </a:ext>
                <a:ext uri="{C183D7F6-B498-43B3-948B-1728B52AA6E4}">
                  <adec:decorative xmlns:adec="http://schemas.microsoft.com/office/drawing/2017/decorative" val="1"/>
                </a:ext>
              </a:extLst>
            </p:cNvPr>
            <p:cNvSpPr/>
            <p:nvPr/>
          </p:nvSpPr>
          <p:spPr>
            <a:xfrm>
              <a:off x="8746084" y="578400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381" name="Graphic 127">
              <a:extLst>
                <a:ext uri="{FF2B5EF4-FFF2-40B4-BE49-F238E27FC236}">
                  <a16:creationId xmlns:a16="http://schemas.microsoft.com/office/drawing/2014/main" id="{9FC83C8B-9153-C26B-D9A5-A28944D2A822}"/>
                </a:ext>
                <a:ext uri="{C183D7F6-B498-43B3-948B-1728B52AA6E4}">
                  <adec:decorative xmlns:adec="http://schemas.microsoft.com/office/drawing/2017/decorative" val="1"/>
                </a:ext>
              </a:extLst>
            </p:cNvPr>
            <p:cNvSpPr/>
            <p:nvPr/>
          </p:nvSpPr>
          <p:spPr>
            <a:xfrm>
              <a:off x="8836380" y="5867282"/>
              <a:ext cx="172786" cy="186829"/>
            </a:xfrm>
            <a:custGeom>
              <a:avLst/>
              <a:gdLst>
                <a:gd name="csX0" fmla="*/ 86314 w 172786"/>
                <a:gd name="csY0" fmla="*/ 9 h 186829"/>
                <a:gd name="csX1" fmla="*/ 51199 w 172786"/>
                <a:gd name="csY1" fmla="*/ 34965 h 186829"/>
                <a:gd name="csX2" fmla="*/ 79310 w 172786"/>
                <a:gd name="csY2" fmla="*/ 69389 h 186829"/>
                <a:gd name="csX3" fmla="*/ 79310 w 172786"/>
                <a:gd name="csY3" fmla="*/ 88737 h 186829"/>
                <a:gd name="csX4" fmla="*/ 48963 w 172786"/>
                <a:gd name="csY4" fmla="*/ 88737 h 186829"/>
                <a:gd name="csX5" fmla="*/ 27953 w 172786"/>
                <a:gd name="csY5" fmla="*/ 109747 h 186829"/>
                <a:gd name="csX6" fmla="*/ 27953 w 172786"/>
                <a:gd name="csY6" fmla="*/ 117450 h 186829"/>
                <a:gd name="csX7" fmla="*/ 735 w 172786"/>
                <a:gd name="csY7" fmla="*/ 158884 h 186829"/>
                <a:gd name="csX8" fmla="*/ 34975 w 172786"/>
                <a:gd name="csY8" fmla="*/ 186830 h 186829"/>
                <a:gd name="csX9" fmla="*/ 70118 w 172786"/>
                <a:gd name="csY9" fmla="*/ 151903 h 186829"/>
                <a:gd name="csX10" fmla="*/ 41959 w 172786"/>
                <a:gd name="csY10" fmla="*/ 117441 h 186829"/>
                <a:gd name="csX11" fmla="*/ 41959 w 172786"/>
                <a:gd name="csY11" fmla="*/ 109737 h 186829"/>
                <a:gd name="csX12" fmla="*/ 48963 w 172786"/>
                <a:gd name="csY12" fmla="*/ 102734 h 186829"/>
                <a:gd name="csX13" fmla="*/ 123665 w 172786"/>
                <a:gd name="csY13" fmla="*/ 102734 h 186829"/>
                <a:gd name="csX14" fmla="*/ 130668 w 172786"/>
                <a:gd name="csY14" fmla="*/ 109737 h 186829"/>
                <a:gd name="csX15" fmla="*/ 130668 w 172786"/>
                <a:gd name="csY15" fmla="*/ 117441 h 186829"/>
                <a:gd name="csX16" fmla="*/ 103450 w 172786"/>
                <a:gd name="csY16" fmla="*/ 158874 h 186829"/>
                <a:gd name="csX17" fmla="*/ 137690 w 172786"/>
                <a:gd name="csY17" fmla="*/ 186820 h 186829"/>
                <a:gd name="csX18" fmla="*/ 172786 w 172786"/>
                <a:gd name="csY18" fmla="*/ 151846 h 186829"/>
                <a:gd name="csX19" fmla="*/ 144675 w 172786"/>
                <a:gd name="csY19" fmla="*/ 117441 h 186829"/>
                <a:gd name="csX20" fmla="*/ 144675 w 172786"/>
                <a:gd name="csY20" fmla="*/ 109737 h 186829"/>
                <a:gd name="csX21" fmla="*/ 123665 w 172786"/>
                <a:gd name="csY21" fmla="*/ 88727 h 186829"/>
                <a:gd name="csX22" fmla="*/ 93317 w 172786"/>
                <a:gd name="csY22" fmla="*/ 88727 h 186829"/>
                <a:gd name="csX23" fmla="*/ 93317 w 172786"/>
                <a:gd name="csY23" fmla="*/ 69379 h 186829"/>
                <a:gd name="csX24" fmla="*/ 120535 w 172786"/>
                <a:gd name="csY24" fmla="*/ 27946 h 186829"/>
                <a:gd name="csX25" fmla="*/ 86314 w 172786"/>
                <a:gd name="csY25" fmla="*/ 0 h 186829"/>
                <a:gd name="csX26" fmla="*/ 65285 w 172786"/>
                <a:gd name="csY26" fmla="*/ 35045 h 186829"/>
                <a:gd name="csX27" fmla="*/ 86314 w 172786"/>
                <a:gd name="csY27" fmla="*/ 14016 h 186829"/>
                <a:gd name="csX28" fmla="*/ 107342 w 172786"/>
                <a:gd name="csY28" fmla="*/ 35045 h 186829"/>
                <a:gd name="csX29" fmla="*/ 86314 w 172786"/>
                <a:gd name="csY29" fmla="*/ 56073 h 186829"/>
                <a:gd name="csX30" fmla="*/ 65285 w 172786"/>
                <a:gd name="csY30" fmla="*/ 35045 h 186829"/>
                <a:gd name="csX31" fmla="*/ 13946 w 172786"/>
                <a:gd name="csY31" fmla="*/ 151785 h 186829"/>
                <a:gd name="csX32" fmla="*/ 34979 w 172786"/>
                <a:gd name="csY32" fmla="*/ 130752 h 186829"/>
                <a:gd name="csX33" fmla="*/ 56013 w 172786"/>
                <a:gd name="csY33" fmla="*/ 151785 h 186829"/>
                <a:gd name="csX34" fmla="*/ 34979 w 172786"/>
                <a:gd name="csY34" fmla="*/ 172818 h 186829"/>
                <a:gd name="csX35" fmla="*/ 13946 w 172786"/>
                <a:gd name="csY35" fmla="*/ 151785 h 186829"/>
                <a:gd name="csX36" fmla="*/ 137690 w 172786"/>
                <a:gd name="csY36" fmla="*/ 130757 h 186829"/>
                <a:gd name="csX37" fmla="*/ 158719 w 172786"/>
                <a:gd name="csY37" fmla="*/ 151785 h 186829"/>
                <a:gd name="csX38" fmla="*/ 137690 w 172786"/>
                <a:gd name="csY38" fmla="*/ 172814 h 186829"/>
                <a:gd name="csX39" fmla="*/ 116661 w 172786"/>
                <a:gd name="csY39" fmla="*/ 151785 h 186829"/>
                <a:gd name="csX40" fmla="*/ 137690 w 172786"/>
                <a:gd name="csY40" fmla="*/ 130757 h 1868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72786" h="186829">
                  <a:moveTo>
                    <a:pt x="86314" y="9"/>
                  </a:moveTo>
                  <a:cubicBezTo>
                    <a:pt x="66964" y="-35"/>
                    <a:pt x="51243" y="15615"/>
                    <a:pt x="51199" y="34965"/>
                  </a:cubicBezTo>
                  <a:cubicBezTo>
                    <a:pt x="51161" y="51675"/>
                    <a:pt x="62929" y="66087"/>
                    <a:pt x="79310" y="69389"/>
                  </a:cubicBezTo>
                  <a:lnTo>
                    <a:pt x="79310" y="88737"/>
                  </a:lnTo>
                  <a:lnTo>
                    <a:pt x="48963" y="88737"/>
                  </a:lnTo>
                  <a:cubicBezTo>
                    <a:pt x="37359" y="88737"/>
                    <a:pt x="27953" y="98143"/>
                    <a:pt x="27953" y="109747"/>
                  </a:cubicBezTo>
                  <a:lnTo>
                    <a:pt x="27953" y="117450"/>
                  </a:lnTo>
                  <a:cubicBezTo>
                    <a:pt x="8995" y="121376"/>
                    <a:pt x="-3190" y="139926"/>
                    <a:pt x="735" y="158884"/>
                  </a:cubicBezTo>
                  <a:cubicBezTo>
                    <a:pt x="4099" y="175127"/>
                    <a:pt x="18387" y="186789"/>
                    <a:pt x="34975" y="186830"/>
                  </a:cubicBezTo>
                  <a:cubicBezTo>
                    <a:pt x="54324" y="186889"/>
                    <a:pt x="70059" y="171252"/>
                    <a:pt x="70118" y="151903"/>
                  </a:cubicBezTo>
                  <a:cubicBezTo>
                    <a:pt x="70170" y="135164"/>
                    <a:pt x="58373" y="120727"/>
                    <a:pt x="41959" y="117441"/>
                  </a:cubicBezTo>
                  <a:lnTo>
                    <a:pt x="41959" y="109737"/>
                  </a:lnTo>
                  <a:cubicBezTo>
                    <a:pt x="41959" y="105870"/>
                    <a:pt x="45095" y="102734"/>
                    <a:pt x="48963" y="102734"/>
                  </a:cubicBezTo>
                  <a:lnTo>
                    <a:pt x="123665" y="102734"/>
                  </a:lnTo>
                  <a:cubicBezTo>
                    <a:pt x="127532" y="102734"/>
                    <a:pt x="130668" y="105870"/>
                    <a:pt x="130668" y="109737"/>
                  </a:cubicBezTo>
                  <a:lnTo>
                    <a:pt x="130668" y="117441"/>
                  </a:lnTo>
                  <a:cubicBezTo>
                    <a:pt x="111711" y="121366"/>
                    <a:pt x="99525" y="139917"/>
                    <a:pt x="103450" y="158874"/>
                  </a:cubicBezTo>
                  <a:cubicBezTo>
                    <a:pt x="106814" y="175117"/>
                    <a:pt x="121102" y="186779"/>
                    <a:pt x="137690" y="186820"/>
                  </a:cubicBezTo>
                  <a:cubicBezTo>
                    <a:pt x="157040" y="186854"/>
                    <a:pt x="172752" y="171196"/>
                    <a:pt x="172786" y="151846"/>
                  </a:cubicBezTo>
                  <a:cubicBezTo>
                    <a:pt x="172815" y="135142"/>
                    <a:pt x="161048" y="120742"/>
                    <a:pt x="144675" y="117441"/>
                  </a:cubicBezTo>
                  <a:lnTo>
                    <a:pt x="144675" y="109737"/>
                  </a:lnTo>
                  <a:cubicBezTo>
                    <a:pt x="144675" y="98134"/>
                    <a:pt x="135268" y="88727"/>
                    <a:pt x="123665" y="88727"/>
                  </a:cubicBezTo>
                  <a:lnTo>
                    <a:pt x="93317" y="88727"/>
                  </a:lnTo>
                  <a:lnTo>
                    <a:pt x="93317" y="69379"/>
                  </a:lnTo>
                  <a:cubicBezTo>
                    <a:pt x="112275" y="65454"/>
                    <a:pt x="124460" y="46904"/>
                    <a:pt x="120535" y="27946"/>
                  </a:cubicBezTo>
                  <a:cubicBezTo>
                    <a:pt x="117173" y="11709"/>
                    <a:pt x="102895" y="49"/>
                    <a:pt x="86314" y="0"/>
                  </a:cubicBezTo>
                  <a:close/>
                  <a:moveTo>
                    <a:pt x="65285" y="35045"/>
                  </a:moveTo>
                  <a:cubicBezTo>
                    <a:pt x="65285" y="23431"/>
                    <a:pt x="74700" y="14016"/>
                    <a:pt x="86314" y="14016"/>
                  </a:cubicBezTo>
                  <a:cubicBezTo>
                    <a:pt x="97927" y="14016"/>
                    <a:pt x="107342" y="23431"/>
                    <a:pt x="107342" y="35045"/>
                  </a:cubicBezTo>
                  <a:cubicBezTo>
                    <a:pt x="107342" y="46658"/>
                    <a:pt x="97927" y="56073"/>
                    <a:pt x="86314" y="56073"/>
                  </a:cubicBezTo>
                  <a:cubicBezTo>
                    <a:pt x="74700" y="56073"/>
                    <a:pt x="65285" y="46658"/>
                    <a:pt x="65285" y="35045"/>
                  </a:cubicBezTo>
                  <a:close/>
                  <a:moveTo>
                    <a:pt x="13946" y="151785"/>
                  </a:moveTo>
                  <a:cubicBezTo>
                    <a:pt x="13946" y="140169"/>
                    <a:pt x="23363" y="130752"/>
                    <a:pt x="34979" y="130752"/>
                  </a:cubicBezTo>
                  <a:cubicBezTo>
                    <a:pt x="46596" y="130752"/>
                    <a:pt x="56013" y="140169"/>
                    <a:pt x="56013" y="151785"/>
                  </a:cubicBezTo>
                  <a:cubicBezTo>
                    <a:pt x="56013" y="163401"/>
                    <a:pt x="46596" y="172818"/>
                    <a:pt x="34979" y="172818"/>
                  </a:cubicBezTo>
                  <a:cubicBezTo>
                    <a:pt x="23363" y="172818"/>
                    <a:pt x="13946" y="163401"/>
                    <a:pt x="13946" y="151785"/>
                  </a:cubicBezTo>
                  <a:close/>
                  <a:moveTo>
                    <a:pt x="137690" y="130757"/>
                  </a:moveTo>
                  <a:cubicBezTo>
                    <a:pt x="149303" y="130757"/>
                    <a:pt x="158719" y="140172"/>
                    <a:pt x="158719" y="151785"/>
                  </a:cubicBezTo>
                  <a:cubicBezTo>
                    <a:pt x="158719" y="163399"/>
                    <a:pt x="149303" y="172814"/>
                    <a:pt x="137690" y="172814"/>
                  </a:cubicBezTo>
                  <a:cubicBezTo>
                    <a:pt x="126077" y="172814"/>
                    <a:pt x="116661" y="163399"/>
                    <a:pt x="116661" y="151785"/>
                  </a:cubicBezTo>
                  <a:cubicBezTo>
                    <a:pt x="116661" y="140172"/>
                    <a:pt x="126077" y="130757"/>
                    <a:pt x="137690" y="130757"/>
                  </a:cubicBezTo>
                  <a:close/>
                </a:path>
              </a:pathLst>
            </a:custGeom>
            <a:gradFill>
              <a:gsLst>
                <a:gs pos="0">
                  <a:srgbClr val="0078D4"/>
                </a:gs>
                <a:gs pos="72000">
                  <a:srgbClr val="1A7385"/>
                </a:gs>
                <a:gs pos="100000">
                  <a:srgbClr val="41B8A4"/>
                </a:gs>
              </a:gsLst>
              <a:lin ang="2700000" scaled="0"/>
            </a:gradFill>
            <a:ln w="41275" cap="flat" cmpd="sng" algn="ctr">
              <a:noFill/>
              <a:prstDash val="solid"/>
              <a:headEnd type="none" w="med" len="med"/>
              <a:tailEnd type="none" w="med" len="med"/>
            </a:ln>
            <a:effectLst/>
          </p:spPr>
          <p:txBody>
            <a:bodyPr/>
            <a:lstStyle/>
            <a:p>
              <a:endParaRPr lang="en-US" noProof="0" dirty="0"/>
            </a:p>
          </p:txBody>
        </p:sp>
      </p:grpSp>
      <p:sp>
        <p:nvSpPr>
          <p:cNvPr id="1382" name="Oval 1381">
            <a:extLst>
              <a:ext uri="{FF2B5EF4-FFF2-40B4-BE49-F238E27FC236}">
                <a16:creationId xmlns:a16="http://schemas.microsoft.com/office/drawing/2014/main" id="{0ABAF5D9-1144-CFD0-0A2A-9F5D1CD80F58}"/>
              </a:ext>
              <a:ext uri="{C183D7F6-B498-43B3-948B-1728B52AA6E4}">
                <adec:decorative xmlns:adec="http://schemas.microsoft.com/office/drawing/2017/decorative" val="1"/>
              </a:ext>
            </a:extLst>
          </p:cNvPr>
          <p:cNvSpPr/>
          <p:nvPr/>
        </p:nvSpPr>
        <p:spPr>
          <a:xfrm>
            <a:off x="11052800" y="5852231"/>
            <a:ext cx="354090" cy="354090"/>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86" name="Oval 1385">
            <a:extLst>
              <a:ext uri="{FF2B5EF4-FFF2-40B4-BE49-F238E27FC236}">
                <a16:creationId xmlns:a16="http://schemas.microsoft.com/office/drawing/2014/main" id="{375C8147-8342-6410-318D-F90F99CEF165}"/>
              </a:ext>
              <a:ext uri="{C183D7F6-B498-43B3-948B-1728B52AA6E4}">
                <adec:decorative xmlns:adec="http://schemas.microsoft.com/office/drawing/2017/decorative" val="1"/>
              </a:ext>
            </a:extLst>
          </p:cNvPr>
          <p:cNvSpPr/>
          <p:nvPr/>
        </p:nvSpPr>
        <p:spPr>
          <a:xfrm>
            <a:off x="4325388" y="2111190"/>
            <a:ext cx="422900" cy="422899"/>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87" name="Oval 1386">
            <a:extLst>
              <a:ext uri="{FF2B5EF4-FFF2-40B4-BE49-F238E27FC236}">
                <a16:creationId xmlns:a16="http://schemas.microsoft.com/office/drawing/2014/main" id="{AB371866-A623-02BC-1195-5D78EC837717}"/>
              </a:ext>
              <a:ext uri="{C183D7F6-B498-43B3-948B-1728B52AA6E4}">
                <adec:decorative xmlns:adec="http://schemas.microsoft.com/office/drawing/2017/decorative" val="1"/>
              </a:ext>
            </a:extLst>
          </p:cNvPr>
          <p:cNvSpPr/>
          <p:nvPr/>
        </p:nvSpPr>
        <p:spPr>
          <a:xfrm>
            <a:off x="4325813" y="2130308"/>
            <a:ext cx="422050" cy="42205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388" name="Oval 1387">
            <a:extLst>
              <a:ext uri="{FF2B5EF4-FFF2-40B4-BE49-F238E27FC236}">
                <a16:creationId xmlns:a16="http://schemas.microsoft.com/office/drawing/2014/main" id="{C6645D19-64A4-430C-6472-F1081C4F7E9F}"/>
              </a:ext>
              <a:ext uri="{C183D7F6-B498-43B3-948B-1728B52AA6E4}">
                <adec:decorative xmlns:adec="http://schemas.microsoft.com/office/drawing/2017/decorative" val="1"/>
              </a:ext>
            </a:extLst>
          </p:cNvPr>
          <p:cNvSpPr/>
          <p:nvPr/>
        </p:nvSpPr>
        <p:spPr>
          <a:xfrm>
            <a:off x="4325388" y="2969151"/>
            <a:ext cx="422900" cy="422899"/>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90" name="Oval 1389">
            <a:extLst>
              <a:ext uri="{FF2B5EF4-FFF2-40B4-BE49-F238E27FC236}">
                <a16:creationId xmlns:a16="http://schemas.microsoft.com/office/drawing/2014/main" id="{5A94F0BD-7FDE-2D7C-C6FC-B2C76AAF98C0}"/>
              </a:ext>
              <a:ext uri="{C183D7F6-B498-43B3-948B-1728B52AA6E4}">
                <adec:decorative xmlns:adec="http://schemas.microsoft.com/office/drawing/2017/decorative" val="1"/>
              </a:ext>
            </a:extLst>
          </p:cNvPr>
          <p:cNvSpPr/>
          <p:nvPr/>
        </p:nvSpPr>
        <p:spPr>
          <a:xfrm>
            <a:off x="4325388" y="3716155"/>
            <a:ext cx="422900" cy="422899"/>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14102" eaLnBrk="1" fontAlgn="base" latinLnBrk="0" hangingPunct="1">
              <a:lnSpc>
                <a:spcPct val="100000"/>
              </a:lnSpc>
              <a:spcBef>
                <a:spcPct val="0"/>
              </a:spcBef>
              <a:spcAft>
                <a:spcPts val="0"/>
              </a:spcAft>
              <a:buClrTx/>
              <a:buSzTx/>
              <a:buFontTx/>
              <a:buNone/>
              <a:tabLst/>
              <a:defRPr/>
            </a:pPr>
            <a:endParaRPr kumimoji="0" lang="en-US" sz="1961" b="1" i="0" u="none" strike="noStrike" kern="0" cap="none" spc="0" normalizeH="0" baseline="0" noProof="0" dirty="0">
              <a:ln>
                <a:noFill/>
              </a:ln>
              <a:effectLst/>
              <a:uLnTx/>
              <a:uFillTx/>
              <a:latin typeface="Segoe Sans Display"/>
              <a:ea typeface="+mn-ea"/>
              <a:cs typeface="Segoe Sans Display Semibold" pitchFamily="2" charset="0"/>
            </a:endParaRPr>
          </a:p>
        </p:txBody>
      </p:sp>
      <p:sp>
        <p:nvSpPr>
          <p:cNvPr id="1391" name="Oval 1390">
            <a:extLst>
              <a:ext uri="{FF2B5EF4-FFF2-40B4-BE49-F238E27FC236}">
                <a16:creationId xmlns:a16="http://schemas.microsoft.com/office/drawing/2014/main" id="{021A2A83-63B4-D919-79B6-CEDC23AC67D4}"/>
              </a:ext>
              <a:ext uri="{C183D7F6-B498-43B3-948B-1728B52AA6E4}">
                <adec:decorative xmlns:adec="http://schemas.microsoft.com/office/drawing/2017/decorative" val="1"/>
              </a:ext>
            </a:extLst>
          </p:cNvPr>
          <p:cNvSpPr/>
          <p:nvPr/>
        </p:nvSpPr>
        <p:spPr>
          <a:xfrm>
            <a:off x="4325813" y="3716580"/>
            <a:ext cx="422050" cy="42205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392" name="Graphic 77" descr="Icon of a document of a checkmark">
            <a:extLst>
              <a:ext uri="{FF2B5EF4-FFF2-40B4-BE49-F238E27FC236}">
                <a16:creationId xmlns:a16="http://schemas.microsoft.com/office/drawing/2014/main" id="{E0A33CD7-720E-36D7-4ED1-4F888BF6CD25}"/>
              </a:ext>
            </a:extLst>
          </p:cNvPr>
          <p:cNvSpPr/>
          <p:nvPr/>
        </p:nvSpPr>
        <p:spPr>
          <a:xfrm>
            <a:off x="4427577" y="2220572"/>
            <a:ext cx="218520" cy="241523"/>
          </a:xfrm>
          <a:custGeom>
            <a:avLst/>
            <a:gdLst>
              <a:gd name="connsiteX0" fmla="*/ 262783 w 293698"/>
              <a:gd name="connsiteY0" fmla="*/ 285970 h 324614"/>
              <a:gd name="connsiteX1" fmla="*/ 174176 w 293698"/>
              <a:gd name="connsiteY1" fmla="*/ 285970 h 324614"/>
              <a:gd name="connsiteX2" fmla="*/ 157522 w 293698"/>
              <a:gd name="connsiteY2" fmla="*/ 309157 h 324614"/>
              <a:gd name="connsiteX3" fmla="*/ 262783 w 293698"/>
              <a:gd name="connsiteY3" fmla="*/ 309157 h 324614"/>
              <a:gd name="connsiteX4" fmla="*/ 293699 w 293698"/>
              <a:gd name="connsiteY4" fmla="*/ 278241 h 324614"/>
              <a:gd name="connsiteX5" fmla="*/ 293699 w 293698"/>
              <a:gd name="connsiteY5" fmla="*/ 121004 h 324614"/>
              <a:gd name="connsiteX6" fmla="*/ 284641 w 293698"/>
              <a:gd name="connsiteY6" fmla="*/ 99147 h 324614"/>
              <a:gd name="connsiteX7" fmla="*/ 194537 w 293698"/>
              <a:gd name="connsiteY7" fmla="*/ 9058 h 324614"/>
              <a:gd name="connsiteX8" fmla="*/ 193784 w 293698"/>
              <a:gd name="connsiteY8" fmla="*/ 8428 h 324614"/>
              <a:gd name="connsiteX9" fmla="*/ 193223 w 293698"/>
              <a:gd name="connsiteY9" fmla="*/ 7976 h 324614"/>
              <a:gd name="connsiteX10" fmla="*/ 189838 w 293698"/>
              <a:gd name="connsiteY10" fmla="*/ 5194 h 324614"/>
              <a:gd name="connsiteX11" fmla="*/ 188593 w 293698"/>
              <a:gd name="connsiteY11" fmla="*/ 4515 h 324614"/>
              <a:gd name="connsiteX12" fmla="*/ 187859 w 293698"/>
              <a:gd name="connsiteY12" fmla="*/ 4143 h 324614"/>
              <a:gd name="connsiteX13" fmla="*/ 187086 w 293698"/>
              <a:gd name="connsiteY13" fmla="*/ 3700 h 324614"/>
              <a:gd name="connsiteX14" fmla="*/ 184520 w 293698"/>
              <a:gd name="connsiteY14" fmla="*/ 2350 h 324614"/>
              <a:gd name="connsiteX15" fmla="*/ 174874 w 293698"/>
              <a:gd name="connsiteY15" fmla="*/ 216 h 324614"/>
              <a:gd name="connsiteX16" fmla="*/ 173966 w 293698"/>
              <a:gd name="connsiteY16" fmla="*/ 115 h 324614"/>
              <a:gd name="connsiteX17" fmla="*/ 172695 w 293698"/>
              <a:gd name="connsiteY17" fmla="*/ 0 h 324614"/>
              <a:gd name="connsiteX18" fmla="*/ 77289 w 293698"/>
              <a:gd name="connsiteY18" fmla="*/ 0 h 324614"/>
              <a:gd name="connsiteX19" fmla="*/ 46374 w 293698"/>
              <a:gd name="connsiteY19" fmla="*/ 30916 h 324614"/>
              <a:gd name="connsiteX20" fmla="*/ 46374 w 293698"/>
              <a:gd name="connsiteY20" fmla="*/ 146822 h 324614"/>
              <a:gd name="connsiteX21" fmla="*/ 69560 w 293698"/>
              <a:gd name="connsiteY21" fmla="*/ 140301 h 324614"/>
              <a:gd name="connsiteX22" fmla="*/ 69560 w 293698"/>
              <a:gd name="connsiteY22" fmla="*/ 30916 h 324614"/>
              <a:gd name="connsiteX23" fmla="*/ 77289 w 293698"/>
              <a:gd name="connsiteY23" fmla="*/ 23187 h 324614"/>
              <a:gd name="connsiteX24" fmla="*/ 170036 w 293698"/>
              <a:gd name="connsiteY24" fmla="*/ 23187 h 324614"/>
              <a:gd name="connsiteX25" fmla="*/ 170036 w 293698"/>
              <a:gd name="connsiteY25" fmla="*/ 92747 h 324614"/>
              <a:gd name="connsiteX26" fmla="*/ 200952 w 293698"/>
              <a:gd name="connsiteY26" fmla="*/ 123663 h 324614"/>
              <a:gd name="connsiteX27" fmla="*/ 270512 w 293698"/>
              <a:gd name="connsiteY27" fmla="*/ 123663 h 324614"/>
              <a:gd name="connsiteX28" fmla="*/ 270512 w 293698"/>
              <a:gd name="connsiteY28" fmla="*/ 278241 h 324614"/>
              <a:gd name="connsiteX29" fmla="*/ 262783 w 293698"/>
              <a:gd name="connsiteY29" fmla="*/ 285970 h 324614"/>
              <a:gd name="connsiteX30" fmla="*/ 253168 w 293698"/>
              <a:gd name="connsiteY30" fmla="*/ 100476 h 324614"/>
              <a:gd name="connsiteX31" fmla="*/ 200952 w 293698"/>
              <a:gd name="connsiteY31" fmla="*/ 100476 h 324614"/>
              <a:gd name="connsiteX32" fmla="*/ 193223 w 293698"/>
              <a:gd name="connsiteY32" fmla="*/ 92747 h 324614"/>
              <a:gd name="connsiteX33" fmla="*/ 193223 w 293698"/>
              <a:gd name="connsiteY33" fmla="*/ 40515 h 324614"/>
              <a:gd name="connsiteX34" fmla="*/ 253168 w 293698"/>
              <a:gd name="connsiteY34" fmla="*/ 100476 h 324614"/>
              <a:gd name="connsiteX35" fmla="*/ 185494 w 293698"/>
              <a:gd name="connsiteY35" fmla="*/ 239596 h 324614"/>
              <a:gd name="connsiteX36" fmla="*/ 182806 w 293698"/>
              <a:gd name="connsiteY36" fmla="*/ 262783 h 324614"/>
              <a:gd name="connsiteX37" fmla="*/ 220274 w 293698"/>
              <a:gd name="connsiteY37" fmla="*/ 262783 h 324614"/>
              <a:gd name="connsiteX38" fmla="*/ 247325 w 293698"/>
              <a:gd name="connsiteY38" fmla="*/ 235732 h 324614"/>
              <a:gd name="connsiteX39" fmla="*/ 247325 w 293698"/>
              <a:gd name="connsiteY39" fmla="*/ 173901 h 324614"/>
              <a:gd name="connsiteX40" fmla="*/ 220274 w 293698"/>
              <a:gd name="connsiteY40" fmla="*/ 146849 h 324614"/>
              <a:gd name="connsiteX41" fmla="*/ 123731 w 293698"/>
              <a:gd name="connsiteY41" fmla="*/ 146849 h 324614"/>
              <a:gd name="connsiteX42" fmla="*/ 162307 w 293698"/>
              <a:gd name="connsiteY42" fmla="*/ 175391 h 324614"/>
              <a:gd name="connsiteX43" fmla="*/ 162307 w 293698"/>
              <a:gd name="connsiteY43" fmla="*/ 170036 h 324614"/>
              <a:gd name="connsiteX44" fmla="*/ 220274 w 293698"/>
              <a:gd name="connsiteY44" fmla="*/ 170036 h 324614"/>
              <a:gd name="connsiteX45" fmla="*/ 224139 w 293698"/>
              <a:gd name="connsiteY45" fmla="*/ 173901 h 324614"/>
              <a:gd name="connsiteX46" fmla="*/ 224139 w 293698"/>
              <a:gd name="connsiteY46" fmla="*/ 193223 h 324614"/>
              <a:gd name="connsiteX47" fmla="*/ 174176 w 293698"/>
              <a:gd name="connsiteY47" fmla="*/ 193223 h 324614"/>
              <a:gd name="connsiteX48" fmla="*/ 182806 w 293698"/>
              <a:gd name="connsiteY48" fmla="*/ 216410 h 324614"/>
              <a:gd name="connsiteX49" fmla="*/ 224139 w 293698"/>
              <a:gd name="connsiteY49" fmla="*/ 216410 h 324614"/>
              <a:gd name="connsiteX50" fmla="*/ 224139 w 293698"/>
              <a:gd name="connsiteY50" fmla="*/ 235732 h 324614"/>
              <a:gd name="connsiteX51" fmla="*/ 220274 w 293698"/>
              <a:gd name="connsiteY51" fmla="*/ 239596 h 324614"/>
              <a:gd name="connsiteX52" fmla="*/ 185494 w 293698"/>
              <a:gd name="connsiteY52" fmla="*/ 239596 h 324614"/>
              <a:gd name="connsiteX53" fmla="*/ 170036 w 293698"/>
              <a:gd name="connsiteY53" fmla="*/ 239596 h 324614"/>
              <a:gd name="connsiteX54" fmla="*/ 85018 w 293698"/>
              <a:gd name="connsiteY54" fmla="*/ 324615 h 324614"/>
              <a:gd name="connsiteX55" fmla="*/ 0 w 293698"/>
              <a:gd name="connsiteY55" fmla="*/ 239596 h 324614"/>
              <a:gd name="connsiteX56" fmla="*/ 85018 w 293698"/>
              <a:gd name="connsiteY56" fmla="*/ 154578 h 324614"/>
              <a:gd name="connsiteX57" fmla="*/ 170036 w 293698"/>
              <a:gd name="connsiteY57" fmla="*/ 239596 h 324614"/>
              <a:gd name="connsiteX58" fmla="*/ 136857 w 293698"/>
              <a:gd name="connsiteY58" fmla="*/ 203215 h 324614"/>
              <a:gd name="connsiteX59" fmla="*/ 125926 w 293698"/>
              <a:gd name="connsiteY59" fmla="*/ 203215 h 324614"/>
              <a:gd name="connsiteX60" fmla="*/ 69560 w 293698"/>
              <a:gd name="connsiteY60" fmla="*/ 259582 h 324614"/>
              <a:gd name="connsiteX61" fmla="*/ 44110 w 293698"/>
              <a:gd name="connsiteY61" fmla="*/ 234131 h 324614"/>
              <a:gd name="connsiteX62" fmla="*/ 33179 w 293698"/>
              <a:gd name="connsiteY62" fmla="*/ 234131 h 324614"/>
              <a:gd name="connsiteX63" fmla="*/ 33179 w 293698"/>
              <a:gd name="connsiteY63" fmla="*/ 245062 h 324614"/>
              <a:gd name="connsiteX64" fmla="*/ 64095 w 293698"/>
              <a:gd name="connsiteY64" fmla="*/ 275978 h 324614"/>
              <a:gd name="connsiteX65" fmla="*/ 75025 w 293698"/>
              <a:gd name="connsiteY65" fmla="*/ 275978 h 324614"/>
              <a:gd name="connsiteX66" fmla="*/ 136857 w 293698"/>
              <a:gd name="connsiteY66" fmla="*/ 214147 h 324614"/>
              <a:gd name="connsiteX67" fmla="*/ 136857 w 293698"/>
              <a:gd name="connsiteY67" fmla="*/ 203215 h 32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93698" h="324614">
                <a:moveTo>
                  <a:pt x="262783" y="285970"/>
                </a:moveTo>
                <a:lnTo>
                  <a:pt x="174176" y="285970"/>
                </a:lnTo>
                <a:cubicBezTo>
                  <a:pt x="169736" y="294487"/>
                  <a:pt x="164113" y="302289"/>
                  <a:pt x="157522" y="309157"/>
                </a:cubicBezTo>
                <a:lnTo>
                  <a:pt x="262783" y="309157"/>
                </a:lnTo>
                <a:cubicBezTo>
                  <a:pt x="279849" y="309157"/>
                  <a:pt x="293699" y="295306"/>
                  <a:pt x="293699" y="278241"/>
                </a:cubicBezTo>
                <a:lnTo>
                  <a:pt x="293699" y="121004"/>
                </a:lnTo>
                <a:cubicBezTo>
                  <a:pt x="293699" y="112811"/>
                  <a:pt x="290437" y="104943"/>
                  <a:pt x="284641" y="99147"/>
                </a:cubicBezTo>
                <a:lnTo>
                  <a:pt x="194537" y="9058"/>
                </a:lnTo>
                <a:cubicBezTo>
                  <a:pt x="194305" y="8827"/>
                  <a:pt x="194044" y="8627"/>
                  <a:pt x="193784" y="8428"/>
                </a:cubicBezTo>
                <a:cubicBezTo>
                  <a:pt x="193591" y="8280"/>
                  <a:pt x="193401" y="8134"/>
                  <a:pt x="193223" y="7976"/>
                </a:cubicBezTo>
                <a:cubicBezTo>
                  <a:pt x="192125" y="6987"/>
                  <a:pt x="191043" y="6013"/>
                  <a:pt x="189838" y="5194"/>
                </a:cubicBezTo>
                <a:cubicBezTo>
                  <a:pt x="189447" y="4930"/>
                  <a:pt x="189020" y="4722"/>
                  <a:pt x="188593" y="4515"/>
                </a:cubicBezTo>
                <a:cubicBezTo>
                  <a:pt x="188346" y="4394"/>
                  <a:pt x="188099" y="4274"/>
                  <a:pt x="187859" y="4143"/>
                </a:cubicBezTo>
                <a:cubicBezTo>
                  <a:pt x="187601" y="3997"/>
                  <a:pt x="187344" y="3849"/>
                  <a:pt x="187086" y="3700"/>
                </a:cubicBezTo>
                <a:cubicBezTo>
                  <a:pt x="186248" y="3215"/>
                  <a:pt x="185407" y="2728"/>
                  <a:pt x="184520" y="2350"/>
                </a:cubicBezTo>
                <a:cubicBezTo>
                  <a:pt x="181475" y="1082"/>
                  <a:pt x="178198" y="448"/>
                  <a:pt x="174874" y="216"/>
                </a:cubicBezTo>
                <a:cubicBezTo>
                  <a:pt x="174570" y="197"/>
                  <a:pt x="174269" y="156"/>
                  <a:pt x="173966" y="115"/>
                </a:cubicBezTo>
                <a:cubicBezTo>
                  <a:pt x="173547" y="57"/>
                  <a:pt x="173126" y="0"/>
                  <a:pt x="172695" y="0"/>
                </a:cubicBezTo>
                <a:lnTo>
                  <a:pt x="77289" y="0"/>
                </a:lnTo>
                <a:cubicBezTo>
                  <a:pt x="60224" y="0"/>
                  <a:pt x="46374" y="13850"/>
                  <a:pt x="46374" y="30916"/>
                </a:cubicBezTo>
                <a:lnTo>
                  <a:pt x="46374" y="146822"/>
                </a:lnTo>
                <a:cubicBezTo>
                  <a:pt x="53703" y="143764"/>
                  <a:pt x="61473" y="141550"/>
                  <a:pt x="69560" y="140301"/>
                </a:cubicBezTo>
                <a:lnTo>
                  <a:pt x="69560" y="30916"/>
                </a:lnTo>
                <a:cubicBezTo>
                  <a:pt x="69560" y="26665"/>
                  <a:pt x="73023" y="23187"/>
                  <a:pt x="77289" y="23187"/>
                </a:cubicBezTo>
                <a:lnTo>
                  <a:pt x="170036" y="23187"/>
                </a:lnTo>
                <a:lnTo>
                  <a:pt x="170036" y="92747"/>
                </a:lnTo>
                <a:cubicBezTo>
                  <a:pt x="170036" y="109812"/>
                  <a:pt x="183886" y="123663"/>
                  <a:pt x="200952" y="123663"/>
                </a:cubicBezTo>
                <a:lnTo>
                  <a:pt x="270512" y="123663"/>
                </a:lnTo>
                <a:lnTo>
                  <a:pt x="270512" y="278241"/>
                </a:lnTo>
                <a:cubicBezTo>
                  <a:pt x="270512" y="282492"/>
                  <a:pt x="267050" y="285970"/>
                  <a:pt x="262783" y="285970"/>
                </a:cubicBezTo>
                <a:close/>
                <a:moveTo>
                  <a:pt x="253168" y="100476"/>
                </a:moveTo>
                <a:lnTo>
                  <a:pt x="200952" y="100476"/>
                </a:lnTo>
                <a:cubicBezTo>
                  <a:pt x="196685" y="100476"/>
                  <a:pt x="193223" y="96998"/>
                  <a:pt x="193223" y="92747"/>
                </a:cubicBezTo>
                <a:lnTo>
                  <a:pt x="193223" y="40515"/>
                </a:lnTo>
                <a:lnTo>
                  <a:pt x="253168" y="100476"/>
                </a:lnTo>
                <a:close/>
                <a:moveTo>
                  <a:pt x="185494" y="239596"/>
                </a:moveTo>
                <a:cubicBezTo>
                  <a:pt x="185494" y="247577"/>
                  <a:pt x="184563" y="255340"/>
                  <a:pt x="182806" y="262783"/>
                </a:cubicBezTo>
                <a:lnTo>
                  <a:pt x="220274" y="262783"/>
                </a:lnTo>
                <a:cubicBezTo>
                  <a:pt x="235214" y="262783"/>
                  <a:pt x="247325" y="250672"/>
                  <a:pt x="247325" y="235732"/>
                </a:cubicBezTo>
                <a:lnTo>
                  <a:pt x="247325" y="173901"/>
                </a:lnTo>
                <a:cubicBezTo>
                  <a:pt x="247325" y="158961"/>
                  <a:pt x="235214" y="146849"/>
                  <a:pt x="220274" y="146849"/>
                </a:cubicBezTo>
                <a:lnTo>
                  <a:pt x="123731" y="146849"/>
                </a:lnTo>
                <a:cubicBezTo>
                  <a:pt x="138803" y="153148"/>
                  <a:pt x="152014" y="163014"/>
                  <a:pt x="162307" y="175391"/>
                </a:cubicBezTo>
                <a:lnTo>
                  <a:pt x="162307" y="170036"/>
                </a:lnTo>
                <a:lnTo>
                  <a:pt x="220274" y="170036"/>
                </a:lnTo>
                <a:cubicBezTo>
                  <a:pt x="222409" y="170036"/>
                  <a:pt x="224139" y="171766"/>
                  <a:pt x="224139" y="173901"/>
                </a:cubicBezTo>
                <a:lnTo>
                  <a:pt x="224139" y="193223"/>
                </a:lnTo>
                <a:lnTo>
                  <a:pt x="174176" y="193223"/>
                </a:lnTo>
                <a:cubicBezTo>
                  <a:pt x="177957" y="200477"/>
                  <a:pt x="180878" y="208251"/>
                  <a:pt x="182806" y="216410"/>
                </a:cubicBezTo>
                <a:lnTo>
                  <a:pt x="224139" y="216410"/>
                </a:lnTo>
                <a:lnTo>
                  <a:pt x="224139" y="235732"/>
                </a:lnTo>
                <a:cubicBezTo>
                  <a:pt x="224139" y="237867"/>
                  <a:pt x="222409" y="239596"/>
                  <a:pt x="220274" y="239596"/>
                </a:cubicBezTo>
                <a:lnTo>
                  <a:pt x="185494" y="239596"/>
                </a:lnTo>
                <a:close/>
                <a:moveTo>
                  <a:pt x="170036" y="239596"/>
                </a:moveTo>
                <a:cubicBezTo>
                  <a:pt x="170036" y="286551"/>
                  <a:pt x="131972" y="324615"/>
                  <a:pt x="85018" y="324615"/>
                </a:cubicBezTo>
                <a:cubicBezTo>
                  <a:pt x="38064" y="324615"/>
                  <a:pt x="0" y="286551"/>
                  <a:pt x="0" y="239596"/>
                </a:cubicBezTo>
                <a:cubicBezTo>
                  <a:pt x="0" y="192642"/>
                  <a:pt x="38064" y="154578"/>
                  <a:pt x="85018" y="154578"/>
                </a:cubicBezTo>
                <a:cubicBezTo>
                  <a:pt x="131972" y="154578"/>
                  <a:pt x="170036" y="192642"/>
                  <a:pt x="170036" y="239596"/>
                </a:cubicBezTo>
                <a:close/>
                <a:moveTo>
                  <a:pt x="136857" y="203215"/>
                </a:moveTo>
                <a:cubicBezTo>
                  <a:pt x="133838" y="200197"/>
                  <a:pt x="128945" y="200197"/>
                  <a:pt x="125926" y="203215"/>
                </a:cubicBezTo>
                <a:lnTo>
                  <a:pt x="69560" y="259582"/>
                </a:lnTo>
                <a:lnTo>
                  <a:pt x="44110" y="234131"/>
                </a:lnTo>
                <a:cubicBezTo>
                  <a:pt x="41091" y="231113"/>
                  <a:pt x="36198" y="231113"/>
                  <a:pt x="33179" y="234131"/>
                </a:cubicBezTo>
                <a:cubicBezTo>
                  <a:pt x="30161" y="237149"/>
                  <a:pt x="30161" y="242043"/>
                  <a:pt x="33179" y="245062"/>
                </a:cubicBezTo>
                <a:lnTo>
                  <a:pt x="64095" y="275978"/>
                </a:lnTo>
                <a:cubicBezTo>
                  <a:pt x="67113" y="278995"/>
                  <a:pt x="72007" y="278995"/>
                  <a:pt x="75025" y="275978"/>
                </a:cubicBezTo>
                <a:lnTo>
                  <a:pt x="136857" y="214147"/>
                </a:lnTo>
                <a:cubicBezTo>
                  <a:pt x="139875" y="211128"/>
                  <a:pt x="139875" y="206234"/>
                  <a:pt x="136857" y="203215"/>
                </a:cubicBezTo>
                <a:close/>
              </a:path>
            </a:pathLst>
          </a:custGeom>
          <a:gradFill>
            <a:gsLst>
              <a:gs pos="0">
                <a:srgbClr val="0078D4"/>
              </a:gs>
              <a:gs pos="42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sp>
        <p:nvSpPr>
          <p:cNvPr id="1393" name="Graphic 305" descr="Icon of a pie chart">
            <a:extLst>
              <a:ext uri="{FF2B5EF4-FFF2-40B4-BE49-F238E27FC236}">
                <a16:creationId xmlns:a16="http://schemas.microsoft.com/office/drawing/2014/main" id="{7689A910-5656-19D2-C108-0DFB7333D352}"/>
              </a:ext>
            </a:extLst>
          </p:cNvPr>
          <p:cNvSpPr/>
          <p:nvPr/>
        </p:nvSpPr>
        <p:spPr>
          <a:xfrm>
            <a:off x="4411180" y="3801946"/>
            <a:ext cx="251313" cy="251313"/>
          </a:xfrm>
          <a:custGeom>
            <a:avLst/>
            <a:gdLst>
              <a:gd name="connsiteX0" fmla="*/ 133666 w 322371"/>
              <a:gd name="connsiteY0" fmla="*/ 39314 h 322371"/>
              <a:gd name="connsiteX1" fmla="*/ 145460 w 322371"/>
              <a:gd name="connsiteY1" fmla="*/ 51108 h 322371"/>
              <a:gd name="connsiteX2" fmla="*/ 145460 w 322371"/>
              <a:gd name="connsiteY2" fmla="*/ 176911 h 322371"/>
              <a:gd name="connsiteX3" fmla="*/ 271263 w 322371"/>
              <a:gd name="connsiteY3" fmla="*/ 176911 h 322371"/>
              <a:gd name="connsiteX4" fmla="*/ 282951 w 322371"/>
              <a:gd name="connsiteY4" fmla="*/ 187104 h 322371"/>
              <a:gd name="connsiteX5" fmla="*/ 283058 w 322371"/>
              <a:gd name="connsiteY5" fmla="*/ 188705 h 322371"/>
              <a:gd name="connsiteX6" fmla="*/ 141529 w 322371"/>
              <a:gd name="connsiteY6" fmla="*/ 322371 h 322371"/>
              <a:gd name="connsiteX7" fmla="*/ 0 w 322371"/>
              <a:gd name="connsiteY7" fmla="*/ 180842 h 322371"/>
              <a:gd name="connsiteX8" fmla="*/ 133666 w 322371"/>
              <a:gd name="connsiteY8" fmla="*/ 39314 h 322371"/>
              <a:gd name="connsiteX9" fmla="*/ 121872 w 322371"/>
              <a:gd name="connsiteY9" fmla="*/ 63484 h 322371"/>
              <a:gd name="connsiteX10" fmla="*/ 118587 w 322371"/>
              <a:gd name="connsiteY10" fmla="*/ 63857 h 322371"/>
              <a:gd name="connsiteX11" fmla="*/ 23588 w 322371"/>
              <a:gd name="connsiteY11" fmla="*/ 180842 h 322371"/>
              <a:gd name="connsiteX12" fmla="*/ 141529 w 322371"/>
              <a:gd name="connsiteY12" fmla="*/ 298783 h 322371"/>
              <a:gd name="connsiteX13" fmla="*/ 258515 w 322371"/>
              <a:gd name="connsiteY13" fmla="*/ 203784 h 322371"/>
              <a:gd name="connsiteX14" fmla="*/ 258872 w 322371"/>
              <a:gd name="connsiteY14" fmla="*/ 200499 h 322371"/>
              <a:gd name="connsiteX15" fmla="*/ 133666 w 322371"/>
              <a:gd name="connsiteY15" fmla="*/ 200499 h 322371"/>
              <a:gd name="connsiteX16" fmla="*/ 121980 w 322371"/>
              <a:gd name="connsiteY16" fmla="*/ 190306 h 322371"/>
              <a:gd name="connsiteX17" fmla="*/ 121872 w 322371"/>
              <a:gd name="connsiteY17" fmla="*/ 188705 h 322371"/>
              <a:gd name="connsiteX18" fmla="*/ 121872 w 322371"/>
              <a:gd name="connsiteY18" fmla="*/ 63484 h 322371"/>
              <a:gd name="connsiteX19" fmla="*/ 180842 w 322371"/>
              <a:gd name="connsiteY19" fmla="*/ 0 h 322371"/>
              <a:gd name="connsiteX20" fmla="*/ 322371 w 322371"/>
              <a:gd name="connsiteY20" fmla="*/ 141529 h 322371"/>
              <a:gd name="connsiteX21" fmla="*/ 310577 w 322371"/>
              <a:gd name="connsiteY21" fmla="*/ 153323 h 322371"/>
              <a:gd name="connsiteX22" fmla="*/ 180842 w 322371"/>
              <a:gd name="connsiteY22" fmla="*/ 153323 h 322371"/>
              <a:gd name="connsiteX23" fmla="*/ 169048 w 322371"/>
              <a:gd name="connsiteY23" fmla="*/ 141529 h 322371"/>
              <a:gd name="connsiteX24" fmla="*/ 169048 w 322371"/>
              <a:gd name="connsiteY24" fmla="*/ 11794 h 322371"/>
              <a:gd name="connsiteX25" fmla="*/ 180842 w 322371"/>
              <a:gd name="connsiteY25" fmla="*/ 0 h 322371"/>
              <a:gd name="connsiteX26" fmla="*/ 192636 w 322371"/>
              <a:gd name="connsiteY26" fmla="*/ 24170 h 322371"/>
              <a:gd name="connsiteX27" fmla="*/ 192636 w 322371"/>
              <a:gd name="connsiteY27" fmla="*/ 129735 h 322371"/>
              <a:gd name="connsiteX28" fmla="*/ 298185 w 322371"/>
              <a:gd name="connsiteY28" fmla="*/ 129735 h 322371"/>
              <a:gd name="connsiteX29" fmla="*/ 297828 w 322371"/>
              <a:gd name="connsiteY29" fmla="*/ 126449 h 322371"/>
              <a:gd name="connsiteX30" fmla="*/ 195921 w 322371"/>
              <a:gd name="connsiteY30" fmla="*/ 24543 h 322371"/>
              <a:gd name="connsiteX31" fmla="*/ 192636 w 322371"/>
              <a:gd name="connsiteY31" fmla="*/ 24170 h 32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2371" h="322371">
                <a:moveTo>
                  <a:pt x="133666" y="39314"/>
                </a:moveTo>
                <a:cubicBezTo>
                  <a:pt x="140180" y="39314"/>
                  <a:pt x="145460" y="44594"/>
                  <a:pt x="145460" y="51108"/>
                </a:cubicBezTo>
                <a:lnTo>
                  <a:pt x="145460" y="176911"/>
                </a:lnTo>
                <a:lnTo>
                  <a:pt x="271263" y="176911"/>
                </a:lnTo>
                <a:cubicBezTo>
                  <a:pt x="277234" y="176911"/>
                  <a:pt x="282169" y="181349"/>
                  <a:pt x="282951" y="187104"/>
                </a:cubicBezTo>
                <a:lnTo>
                  <a:pt x="283058" y="188705"/>
                </a:lnTo>
                <a:cubicBezTo>
                  <a:pt x="283058" y="266870"/>
                  <a:pt x="219694" y="322371"/>
                  <a:pt x="141529" y="322371"/>
                </a:cubicBezTo>
                <a:cubicBezTo>
                  <a:pt x="63365" y="322371"/>
                  <a:pt x="0" y="259007"/>
                  <a:pt x="0" y="180842"/>
                </a:cubicBezTo>
                <a:cubicBezTo>
                  <a:pt x="0" y="102678"/>
                  <a:pt x="55502" y="39314"/>
                  <a:pt x="133666" y="39314"/>
                </a:cubicBezTo>
                <a:close/>
                <a:moveTo>
                  <a:pt x="121872" y="63484"/>
                </a:moveTo>
                <a:lnTo>
                  <a:pt x="118587" y="63857"/>
                </a:lnTo>
                <a:cubicBezTo>
                  <a:pt x="60571" y="71261"/>
                  <a:pt x="23588" y="120814"/>
                  <a:pt x="23588" y="180842"/>
                </a:cubicBezTo>
                <a:cubicBezTo>
                  <a:pt x="23588" y="245979"/>
                  <a:pt x="76392" y="298783"/>
                  <a:pt x="141529" y="298783"/>
                </a:cubicBezTo>
                <a:cubicBezTo>
                  <a:pt x="201557" y="298783"/>
                  <a:pt x="251111" y="261800"/>
                  <a:pt x="258515" y="203784"/>
                </a:cubicBezTo>
                <a:lnTo>
                  <a:pt x="258872" y="200499"/>
                </a:lnTo>
                <a:lnTo>
                  <a:pt x="133666" y="200499"/>
                </a:lnTo>
                <a:cubicBezTo>
                  <a:pt x="127695" y="200499"/>
                  <a:pt x="122761" y="196061"/>
                  <a:pt x="121980" y="190306"/>
                </a:cubicBezTo>
                <a:lnTo>
                  <a:pt x="121872" y="188705"/>
                </a:lnTo>
                <a:lnTo>
                  <a:pt x="121872" y="63484"/>
                </a:lnTo>
                <a:close/>
                <a:moveTo>
                  <a:pt x="180842" y="0"/>
                </a:moveTo>
                <a:cubicBezTo>
                  <a:pt x="259007" y="0"/>
                  <a:pt x="322371" y="63365"/>
                  <a:pt x="322371" y="141529"/>
                </a:cubicBezTo>
                <a:cubicBezTo>
                  <a:pt x="322371" y="148042"/>
                  <a:pt x="317090" y="153323"/>
                  <a:pt x="310577" y="153323"/>
                </a:cubicBezTo>
                <a:lnTo>
                  <a:pt x="180842" y="153323"/>
                </a:lnTo>
                <a:cubicBezTo>
                  <a:pt x="174329" y="153323"/>
                  <a:pt x="169048" y="148042"/>
                  <a:pt x="169048" y="141529"/>
                </a:cubicBezTo>
                <a:lnTo>
                  <a:pt x="169048" y="11794"/>
                </a:lnTo>
                <a:cubicBezTo>
                  <a:pt x="169048" y="5280"/>
                  <a:pt x="174329" y="0"/>
                  <a:pt x="180842" y="0"/>
                </a:cubicBezTo>
                <a:close/>
                <a:moveTo>
                  <a:pt x="192636" y="24170"/>
                </a:moveTo>
                <a:lnTo>
                  <a:pt x="192636" y="129735"/>
                </a:lnTo>
                <a:lnTo>
                  <a:pt x="298185" y="129735"/>
                </a:lnTo>
                <a:lnTo>
                  <a:pt x="297828" y="126449"/>
                </a:lnTo>
                <a:cubicBezTo>
                  <a:pt x="291054" y="73371"/>
                  <a:pt x="248999" y="31317"/>
                  <a:pt x="195921" y="24543"/>
                </a:cubicBezTo>
                <a:lnTo>
                  <a:pt x="192636" y="24170"/>
                </a:lnTo>
                <a:close/>
              </a:path>
            </a:pathLst>
          </a:custGeom>
          <a:gradFill>
            <a:gsLst>
              <a:gs pos="0">
                <a:srgbClr val="0078D4"/>
              </a:gs>
              <a:gs pos="40000">
                <a:srgbClr val="1A7385"/>
              </a:gs>
              <a:gs pos="100000">
                <a:srgbClr val="41B8A4"/>
              </a:gs>
            </a:gsLst>
            <a:lin ang="2700000" scaled="0"/>
          </a:gradFill>
          <a:ln w="41275" cap="flat" cmpd="sng" algn="ctr">
            <a:noFill/>
            <a:prstDash val="solid"/>
            <a:headEnd type="none" w="med" len="med"/>
            <a:tailEnd type="none" w="med" len="med"/>
          </a:ln>
          <a:effectLst/>
        </p:spPr>
        <p:txBody>
          <a:bodyPr rtlCol="0" anchor="ctr"/>
          <a:lstStyle/>
          <a:p>
            <a:endParaRPr lang="en-US" noProof="0" dirty="0"/>
          </a:p>
        </p:txBody>
      </p:sp>
      <p:grpSp>
        <p:nvGrpSpPr>
          <p:cNvPr id="1191" name="Group 1190">
            <a:extLst>
              <a:ext uri="{FF2B5EF4-FFF2-40B4-BE49-F238E27FC236}">
                <a16:creationId xmlns:a16="http://schemas.microsoft.com/office/drawing/2014/main" id="{D6425FC4-4E7A-A3A1-0F76-63C834C97D55}"/>
              </a:ext>
            </a:extLst>
          </p:cNvPr>
          <p:cNvGrpSpPr/>
          <p:nvPr/>
        </p:nvGrpSpPr>
        <p:grpSpPr>
          <a:xfrm>
            <a:off x="4325813" y="2960049"/>
            <a:ext cx="422050" cy="422050"/>
            <a:chOff x="4325813" y="2960049"/>
            <a:chExt cx="422050" cy="422050"/>
          </a:xfrm>
        </p:grpSpPr>
        <p:sp>
          <p:nvSpPr>
            <p:cNvPr id="1389" name="Oval 1388">
              <a:extLst>
                <a:ext uri="{FF2B5EF4-FFF2-40B4-BE49-F238E27FC236}">
                  <a16:creationId xmlns:a16="http://schemas.microsoft.com/office/drawing/2014/main" id="{F95B76C9-CA56-3668-6AEC-B51015DE7C4D}"/>
                </a:ext>
                <a:ext uri="{C183D7F6-B498-43B3-948B-1728B52AA6E4}">
                  <adec:decorative xmlns:adec="http://schemas.microsoft.com/office/drawing/2017/decorative" val="1"/>
                </a:ext>
              </a:extLst>
            </p:cNvPr>
            <p:cNvSpPr/>
            <p:nvPr/>
          </p:nvSpPr>
          <p:spPr>
            <a:xfrm>
              <a:off x="4325813" y="2960049"/>
              <a:ext cx="422050" cy="422050"/>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pic>
          <p:nvPicPr>
            <p:cNvPr id="1189" name="Picture 1188">
              <a:extLst>
                <a:ext uri="{FF2B5EF4-FFF2-40B4-BE49-F238E27FC236}">
                  <a16:creationId xmlns:a16="http://schemas.microsoft.com/office/drawing/2014/main" id="{3B2D79F9-1E33-7176-12E8-77EC5333F3D1}"/>
                </a:ext>
                <a:ext uri="{C183D7F6-B498-43B3-948B-1728B52AA6E4}">
                  <adec:decorative xmlns:adec="http://schemas.microsoft.com/office/drawing/2017/decorative" val="1"/>
                </a:ext>
              </a:extLst>
            </p:cNvPr>
            <p:cNvPicPr>
              <a:picLocks noChangeAspect="1"/>
            </p:cNvPicPr>
            <p:nvPr/>
          </p:nvPicPr>
          <p:blipFill rotWithShape="1">
            <a:blip r:embed="rId3"/>
            <a:srcRect l="17298" t="10652" r="2873" b="4477"/>
            <a:stretch>
              <a:fillRect/>
            </a:stretch>
          </p:blipFill>
          <p:spPr>
            <a:xfrm flipH="1">
              <a:off x="4401738" y="3064001"/>
              <a:ext cx="270201" cy="214146"/>
            </a:xfrm>
            <a:prstGeom prst="rect">
              <a:avLst/>
            </a:prstGeom>
            <a:noFill/>
            <a:ln>
              <a:noFill/>
            </a:ln>
          </p:spPr>
        </p:pic>
      </p:grpSp>
      <p:sp>
        <p:nvSpPr>
          <p:cNvPr id="1395" name="TextBox 1394">
            <a:extLst>
              <a:ext uri="{FF2B5EF4-FFF2-40B4-BE49-F238E27FC236}">
                <a16:creationId xmlns:a16="http://schemas.microsoft.com/office/drawing/2014/main" id="{94A3B4E1-7366-9D27-AC7F-B3FB25DF4447}"/>
              </a:ext>
            </a:extLst>
          </p:cNvPr>
          <p:cNvSpPr txBox="1"/>
          <p:nvPr/>
        </p:nvSpPr>
        <p:spPr>
          <a:xfrm>
            <a:off x="4875752" y="2175384"/>
            <a:ext cx="996696" cy="331899"/>
          </a:xfrm>
          <a:prstGeom prst="rect">
            <a:avLst/>
          </a:prstGeom>
          <a:noFill/>
        </p:spPr>
        <p:txBody>
          <a:bodyPr wrap="square" lIns="0" tIns="0" rIns="0" bIns="0" rtlCol="0" anchor="ctr">
            <a:spAutoFit/>
          </a:bodyPr>
          <a:lstStyle/>
          <a:p>
            <a:pPr defTabSz="914225">
              <a:defRPr/>
            </a:pPr>
            <a:r>
              <a:rPr lang="en-US" sz="1050" noProof="0" dirty="0">
                <a:latin typeface="+mj-lt"/>
              </a:rPr>
              <a:t>Analyze </a:t>
            </a:r>
          </a:p>
          <a:p>
            <a:pPr defTabSz="914225">
              <a:defRPr/>
            </a:pPr>
            <a:r>
              <a:rPr lang="en-US" sz="1050" noProof="0" dirty="0">
                <a:latin typeface="+mj-lt"/>
              </a:rPr>
              <a:t>requirements</a:t>
            </a:r>
          </a:p>
        </p:txBody>
      </p:sp>
      <p:sp>
        <p:nvSpPr>
          <p:cNvPr id="1396" name="TextBox 1395">
            <a:extLst>
              <a:ext uri="{FF2B5EF4-FFF2-40B4-BE49-F238E27FC236}">
                <a16:creationId xmlns:a16="http://schemas.microsoft.com/office/drawing/2014/main" id="{BD2569AD-A8A0-B4EC-6EB9-C7FE44F14F59}"/>
              </a:ext>
            </a:extLst>
          </p:cNvPr>
          <p:cNvSpPr txBox="1"/>
          <p:nvPr/>
        </p:nvSpPr>
        <p:spPr>
          <a:xfrm>
            <a:off x="4875753" y="2928701"/>
            <a:ext cx="996696" cy="484748"/>
          </a:xfrm>
          <a:prstGeom prst="rect">
            <a:avLst/>
          </a:prstGeom>
          <a:noFill/>
        </p:spPr>
        <p:txBody>
          <a:bodyPr wrap="square" lIns="0" tIns="0" rIns="0" bIns="0" rtlCol="0" anchor="ctr">
            <a:spAutoFit/>
          </a:bodyPr>
          <a:lstStyle/>
          <a:p>
            <a:pPr defTabSz="914225">
              <a:defRPr/>
            </a:pPr>
            <a:r>
              <a:rPr lang="en-US" sz="1050" noProof="0" dirty="0">
                <a:latin typeface="+mj-lt"/>
              </a:rPr>
              <a:t>Deploy AAS migration strategy</a:t>
            </a:r>
          </a:p>
        </p:txBody>
      </p:sp>
      <p:sp>
        <p:nvSpPr>
          <p:cNvPr id="1397" name="TextBox 1396">
            <a:extLst>
              <a:ext uri="{FF2B5EF4-FFF2-40B4-BE49-F238E27FC236}">
                <a16:creationId xmlns:a16="http://schemas.microsoft.com/office/drawing/2014/main" id="{1B7D79E0-A213-F7F0-F7D7-A9119250D4BA}"/>
              </a:ext>
            </a:extLst>
          </p:cNvPr>
          <p:cNvSpPr txBox="1"/>
          <p:nvPr/>
        </p:nvSpPr>
        <p:spPr>
          <a:xfrm>
            <a:off x="4875751" y="3766019"/>
            <a:ext cx="994203" cy="323165"/>
          </a:xfrm>
          <a:prstGeom prst="rect">
            <a:avLst/>
          </a:prstGeom>
          <a:noFill/>
        </p:spPr>
        <p:txBody>
          <a:bodyPr wrap="square" lIns="0" tIns="0" rIns="0" bIns="0" rtlCol="0" anchor="ctr">
            <a:spAutoFit/>
          </a:bodyPr>
          <a:lstStyle/>
          <a:p>
            <a:pPr defTabSz="914225">
              <a:defRPr/>
            </a:pPr>
            <a:r>
              <a:rPr lang="en-US" sz="1050" noProof="0" dirty="0">
                <a:latin typeface="+mj-lt"/>
              </a:rPr>
              <a:t>Build analytics</a:t>
            </a:r>
          </a:p>
          <a:p>
            <a:pPr defTabSz="914225">
              <a:defRPr/>
            </a:pPr>
            <a:r>
              <a:rPr lang="en-US" sz="1050" noProof="0" dirty="0">
                <a:latin typeface="+mj-lt"/>
              </a:rPr>
              <a:t>use case</a:t>
            </a:r>
          </a:p>
        </p:txBody>
      </p:sp>
      <p:cxnSp>
        <p:nvCxnSpPr>
          <p:cNvPr id="1398" name="Straight Connector 1397">
            <a:extLst>
              <a:ext uri="{FF2B5EF4-FFF2-40B4-BE49-F238E27FC236}">
                <a16:creationId xmlns:a16="http://schemas.microsoft.com/office/drawing/2014/main" id="{259709DB-E83C-5D2F-3305-000474C9F4E8}"/>
              </a:ext>
              <a:ext uri="{C183D7F6-B498-43B3-948B-1728B52AA6E4}">
                <adec:decorative xmlns:adec="http://schemas.microsoft.com/office/drawing/2017/decorative" val="1"/>
              </a:ext>
            </a:extLst>
          </p:cNvPr>
          <p:cNvCxnSpPr>
            <a:cxnSpLocks/>
          </p:cNvCxnSpPr>
          <p:nvPr/>
        </p:nvCxnSpPr>
        <p:spPr>
          <a:xfrm flipH="1">
            <a:off x="5991680" y="2785864"/>
            <a:ext cx="5518150"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99" name="Straight Connector 1398">
            <a:extLst>
              <a:ext uri="{FF2B5EF4-FFF2-40B4-BE49-F238E27FC236}">
                <a16:creationId xmlns:a16="http://schemas.microsoft.com/office/drawing/2014/main" id="{01FFD2FD-64C7-3CFB-67CE-188095F5BE05}"/>
              </a:ext>
              <a:ext uri="{C183D7F6-B498-43B3-948B-1728B52AA6E4}">
                <adec:decorative xmlns:adec="http://schemas.microsoft.com/office/drawing/2017/decorative" val="1"/>
              </a:ext>
            </a:extLst>
          </p:cNvPr>
          <p:cNvCxnSpPr>
            <a:cxnSpLocks/>
          </p:cNvCxnSpPr>
          <p:nvPr/>
        </p:nvCxnSpPr>
        <p:spPr>
          <a:xfrm flipH="1">
            <a:off x="5991680" y="3543293"/>
            <a:ext cx="5518150"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00" name="TextBox 1399">
            <a:extLst>
              <a:ext uri="{FF2B5EF4-FFF2-40B4-BE49-F238E27FC236}">
                <a16:creationId xmlns:a16="http://schemas.microsoft.com/office/drawing/2014/main" id="{59A33962-8F18-56DF-6F86-8F02A058A257}"/>
              </a:ext>
            </a:extLst>
          </p:cNvPr>
          <p:cNvSpPr txBox="1"/>
          <p:nvPr/>
        </p:nvSpPr>
        <p:spPr>
          <a:xfrm>
            <a:off x="5991680" y="2104503"/>
            <a:ext cx="5518150" cy="466794"/>
          </a:xfrm>
          <a:prstGeom prst="rect">
            <a:avLst/>
          </a:prstGeom>
          <a:noFill/>
        </p:spPr>
        <p:txBody>
          <a:bodyPr wrap="square" lIns="0" tIns="0" rIns="0" bIns="0" rtlCol="0" anchor="ctr">
            <a:spAutoFit/>
          </a:bodyPr>
          <a:lstStyle/>
          <a:p>
            <a:pPr marL="155575" indent="-155575" fontAlgn="base">
              <a:spcAft>
                <a:spcPts val="400"/>
              </a:spcAft>
              <a:buFont typeface="Arial" panose="020B0604020202020204" pitchFamily="34" charset="0"/>
              <a:buChar char="•"/>
              <a:defRPr/>
            </a:pPr>
            <a:r>
              <a:rPr lang="en-US" sz="900" noProof="0" dirty="0"/>
              <a:t>Validate PBI license type (PBI Premium per capacity, PBI Premium per user or PBI Embedded required)​</a:t>
            </a:r>
          </a:p>
          <a:p>
            <a:pPr marL="155575" indent="-155575" fontAlgn="base">
              <a:spcAft>
                <a:spcPts val="400"/>
              </a:spcAft>
              <a:buFont typeface="Arial" panose="020B0604020202020204" pitchFamily="34" charset="0"/>
              <a:buChar char="•"/>
              <a:defRPr/>
            </a:pPr>
            <a:r>
              <a:rPr lang="en-US" sz="900" noProof="0" dirty="0"/>
              <a:t>Workspace administrator permissions required in PBI to perform migrations; can only view completed migrations otherwise.</a:t>
            </a:r>
          </a:p>
        </p:txBody>
      </p:sp>
      <p:sp>
        <p:nvSpPr>
          <p:cNvPr id="1401" name="TextBox 1400">
            <a:extLst>
              <a:ext uri="{FF2B5EF4-FFF2-40B4-BE49-F238E27FC236}">
                <a16:creationId xmlns:a16="http://schemas.microsoft.com/office/drawing/2014/main" id="{4CDF867E-44DD-1D61-FC6E-BAF207B108AD}"/>
              </a:ext>
            </a:extLst>
          </p:cNvPr>
          <p:cNvSpPr txBox="1"/>
          <p:nvPr/>
        </p:nvSpPr>
        <p:spPr>
          <a:xfrm>
            <a:off x="5991680" y="2931182"/>
            <a:ext cx="5518150" cy="466794"/>
          </a:xfrm>
          <a:prstGeom prst="rect">
            <a:avLst/>
          </a:prstGeom>
          <a:noFill/>
        </p:spPr>
        <p:txBody>
          <a:bodyPr wrap="square" lIns="0" tIns="0" rIns="0" bIns="0" rtlCol="0" anchor="ctr">
            <a:spAutoFit/>
          </a:bodyPr>
          <a:lstStyle/>
          <a:p>
            <a:pPr marL="155575" indent="-155575" fontAlgn="base">
              <a:spcAft>
                <a:spcPts val="400"/>
              </a:spcAft>
              <a:buFont typeface="Arial" panose="020B0604020202020204" pitchFamily="34" charset="0"/>
              <a:buChar char="•"/>
              <a:defRPr/>
            </a:pPr>
            <a:r>
              <a:rPr lang="en-US" sz="900" noProof="0" dirty="0"/>
              <a:t>Utilize PBI Adoption Framework to plan and execute reporting strategy in line with corporate strategy​</a:t>
            </a:r>
          </a:p>
          <a:p>
            <a:pPr marL="155575" indent="-155575" fontAlgn="base">
              <a:spcAft>
                <a:spcPts val="400"/>
              </a:spcAft>
              <a:buFont typeface="Arial" panose="020B0604020202020204" pitchFamily="34" charset="0"/>
              <a:buChar char="•"/>
              <a:defRPr/>
            </a:pPr>
            <a:r>
              <a:rPr lang="en-US" sz="900" noProof="0" dirty="0"/>
              <a:t>Determine impact of import vs direct Query/Composite models and Hybrid tables used in underlying data model</a:t>
            </a:r>
          </a:p>
        </p:txBody>
      </p:sp>
      <p:sp>
        <p:nvSpPr>
          <p:cNvPr id="1402" name="TextBox 1401">
            <a:extLst>
              <a:ext uri="{FF2B5EF4-FFF2-40B4-BE49-F238E27FC236}">
                <a16:creationId xmlns:a16="http://schemas.microsoft.com/office/drawing/2014/main" id="{314D3A5A-8DF7-4FA6-BA53-516027BCBA9F}"/>
              </a:ext>
            </a:extLst>
          </p:cNvPr>
          <p:cNvSpPr txBox="1"/>
          <p:nvPr/>
        </p:nvSpPr>
        <p:spPr>
          <a:xfrm>
            <a:off x="5991680" y="3688611"/>
            <a:ext cx="5518150" cy="466794"/>
          </a:xfrm>
          <a:prstGeom prst="rect">
            <a:avLst/>
          </a:prstGeom>
          <a:noFill/>
        </p:spPr>
        <p:txBody>
          <a:bodyPr wrap="square" lIns="0" tIns="0" rIns="0" bIns="0" rtlCol="0" anchor="ctr">
            <a:spAutoFit/>
          </a:bodyPr>
          <a:lstStyle/>
          <a:p>
            <a:pPr marL="155575" indent="-155575" fontAlgn="base">
              <a:spcAft>
                <a:spcPts val="400"/>
              </a:spcAft>
              <a:buFont typeface="Arial" panose="020B0604020202020204" pitchFamily="34" charset="0"/>
              <a:buChar char="•"/>
              <a:defRPr/>
            </a:pPr>
            <a:r>
              <a:rPr lang="en-US" sz="900" noProof="0" dirty="0"/>
              <a:t>Our expert team will develop, test, and deploy customer use case based on approved requirements​</a:t>
            </a:r>
          </a:p>
          <a:p>
            <a:pPr marL="155575" indent="-155575" fontAlgn="base">
              <a:spcAft>
                <a:spcPts val="400"/>
              </a:spcAft>
              <a:buFont typeface="Arial" panose="020B0604020202020204" pitchFamily="34" charset="0"/>
              <a:buChar char="•"/>
              <a:defRPr/>
            </a:pPr>
            <a:r>
              <a:rPr lang="en-US" sz="900" noProof="0" dirty="0"/>
              <a:t>Predefined application templates and accelerators aid in bootstrapping the development process of PBI Premium migration assets.</a:t>
            </a:r>
          </a:p>
        </p:txBody>
      </p:sp>
      <p:sp>
        <p:nvSpPr>
          <p:cNvPr id="1403" name="Rectangle: Rounded Corners 1402">
            <a:extLst>
              <a:ext uri="{FF2B5EF4-FFF2-40B4-BE49-F238E27FC236}">
                <a16:creationId xmlns:a16="http://schemas.microsoft.com/office/drawing/2014/main" id="{7B3506C2-4CD1-2986-EADF-14273AC7DBD7}"/>
              </a:ext>
            </a:extLst>
          </p:cNvPr>
          <p:cNvSpPr/>
          <p:nvPr/>
        </p:nvSpPr>
        <p:spPr>
          <a:xfrm>
            <a:off x="4116083" y="4474256"/>
            <a:ext cx="7570699" cy="332462"/>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Cloud Accelerate Factory: Outline of typical three to six-week project</a:t>
            </a:r>
          </a:p>
        </p:txBody>
      </p:sp>
      <p:sp>
        <p:nvSpPr>
          <p:cNvPr id="1404" name="Rectangle 1403">
            <a:extLst>
              <a:ext uri="{FF2B5EF4-FFF2-40B4-BE49-F238E27FC236}">
                <a16:creationId xmlns:a16="http://schemas.microsoft.com/office/drawing/2014/main" id="{5FA86436-9A11-663B-E01D-BE314DF17B68}"/>
              </a:ext>
            </a:extLst>
          </p:cNvPr>
          <p:cNvSpPr>
            <a:spLocks/>
          </p:cNvSpPr>
          <p:nvPr/>
        </p:nvSpPr>
        <p:spPr>
          <a:xfrm>
            <a:off x="4607225" y="4914621"/>
            <a:ext cx="2168226" cy="138499"/>
          </a:xfrm>
          <a:prstGeom prst="rect">
            <a:avLst/>
          </a:prstGeom>
          <a:noFill/>
          <a:ln>
            <a:noFill/>
          </a:ln>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900" noProof="0" dirty="0">
                <a:solidFill>
                  <a:schemeClr val="tx2"/>
                </a:solidFill>
                <a:latin typeface="+mj-lt"/>
              </a:rPr>
              <a:t>Validation of migration tool feasibility</a:t>
            </a:r>
          </a:p>
        </p:txBody>
      </p:sp>
      <p:sp>
        <p:nvSpPr>
          <p:cNvPr id="1405" name="Rectangle 1404">
            <a:extLst>
              <a:ext uri="{FF2B5EF4-FFF2-40B4-BE49-F238E27FC236}">
                <a16:creationId xmlns:a16="http://schemas.microsoft.com/office/drawing/2014/main" id="{2947896E-1293-1DED-1BDA-9FA1C226A972}"/>
              </a:ext>
            </a:extLst>
          </p:cNvPr>
          <p:cNvSpPr>
            <a:spLocks/>
          </p:cNvSpPr>
          <p:nvPr/>
        </p:nvSpPr>
        <p:spPr>
          <a:xfrm>
            <a:off x="8500220" y="4914621"/>
            <a:ext cx="2012454" cy="138499"/>
          </a:xfrm>
          <a:prstGeom prst="rect">
            <a:avLst/>
          </a:prstGeom>
          <a:noFill/>
          <a:ln>
            <a:noFill/>
          </a:ln>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900" noProof="0" dirty="0">
                <a:solidFill>
                  <a:schemeClr val="tx2"/>
                </a:solidFill>
                <a:latin typeface="+mj-lt"/>
              </a:rPr>
              <a:t>Execution phase of report migration</a:t>
            </a:r>
          </a:p>
        </p:txBody>
      </p:sp>
      <p:sp>
        <p:nvSpPr>
          <p:cNvPr id="1406" name="Rectangle 1405">
            <a:extLst>
              <a:ext uri="{FF2B5EF4-FFF2-40B4-BE49-F238E27FC236}">
                <a16:creationId xmlns:a16="http://schemas.microsoft.com/office/drawing/2014/main" id="{BCB4378E-478D-4F5B-01E2-25EB92DD663B}"/>
              </a:ext>
            </a:extLst>
          </p:cNvPr>
          <p:cNvSpPr>
            <a:spLocks/>
          </p:cNvSpPr>
          <p:nvPr/>
        </p:nvSpPr>
        <p:spPr>
          <a:xfrm>
            <a:off x="4116083" y="5209482"/>
            <a:ext cx="819700" cy="246221"/>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00" noProof="0" dirty="0"/>
              <a:t>Workspace admin </a:t>
            </a:r>
            <a:br>
              <a:rPr lang="en-US" sz="800" noProof="0" dirty="0"/>
            </a:br>
            <a:r>
              <a:rPr lang="en-US" sz="800" noProof="0" dirty="0"/>
              <a:t>rights granted</a:t>
            </a:r>
          </a:p>
        </p:txBody>
      </p:sp>
      <p:sp>
        <p:nvSpPr>
          <p:cNvPr id="1407" name="Rectangle 1406">
            <a:extLst>
              <a:ext uri="{FF2B5EF4-FFF2-40B4-BE49-F238E27FC236}">
                <a16:creationId xmlns:a16="http://schemas.microsoft.com/office/drawing/2014/main" id="{4B352C14-4C1A-AD05-D7A8-2EA13510FF58}"/>
              </a:ext>
            </a:extLst>
          </p:cNvPr>
          <p:cNvSpPr>
            <a:spLocks/>
          </p:cNvSpPr>
          <p:nvPr/>
        </p:nvSpPr>
        <p:spPr>
          <a:xfrm>
            <a:off x="5233402" y="5209483"/>
            <a:ext cx="819700" cy="246221"/>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00" noProof="0" dirty="0"/>
              <a:t>Determine </a:t>
            </a:r>
            <a:br>
              <a:rPr lang="en-US" sz="800" noProof="0" dirty="0"/>
            </a:br>
            <a:r>
              <a:rPr lang="en-US" sz="800" noProof="0" dirty="0"/>
              <a:t>capacity needs</a:t>
            </a:r>
          </a:p>
        </p:txBody>
      </p:sp>
      <p:sp>
        <p:nvSpPr>
          <p:cNvPr id="1152" name="Rectangle 1151">
            <a:extLst>
              <a:ext uri="{FF2B5EF4-FFF2-40B4-BE49-F238E27FC236}">
                <a16:creationId xmlns:a16="http://schemas.microsoft.com/office/drawing/2014/main" id="{03A609A2-E81A-DCAB-A4EA-47A7783D2FE1}"/>
              </a:ext>
            </a:extLst>
          </p:cNvPr>
          <p:cNvSpPr>
            <a:spLocks/>
          </p:cNvSpPr>
          <p:nvPr/>
        </p:nvSpPr>
        <p:spPr>
          <a:xfrm>
            <a:off x="6350721" y="5209482"/>
            <a:ext cx="819700" cy="369332"/>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00" noProof="0" dirty="0"/>
              <a:t>Regional requirements validation</a:t>
            </a:r>
          </a:p>
        </p:txBody>
      </p:sp>
      <p:sp>
        <p:nvSpPr>
          <p:cNvPr id="1153" name="Rectangle 1152">
            <a:extLst>
              <a:ext uri="{FF2B5EF4-FFF2-40B4-BE49-F238E27FC236}">
                <a16:creationId xmlns:a16="http://schemas.microsoft.com/office/drawing/2014/main" id="{85DC127B-BD5F-DA61-A5A5-BD8DF6E40F2F}"/>
              </a:ext>
            </a:extLst>
          </p:cNvPr>
          <p:cNvSpPr>
            <a:spLocks/>
          </p:cNvSpPr>
          <p:nvPr/>
        </p:nvSpPr>
        <p:spPr>
          <a:xfrm>
            <a:off x="7468040" y="5209483"/>
            <a:ext cx="819700" cy="369332"/>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00" noProof="0" dirty="0"/>
              <a:t>Existing</a:t>
            </a:r>
            <a:br>
              <a:rPr lang="en-US" sz="800" noProof="0" dirty="0"/>
            </a:br>
            <a:r>
              <a:rPr lang="en-US" sz="800" noProof="0" dirty="0"/>
              <a:t>SSAS/AAS data models</a:t>
            </a:r>
          </a:p>
        </p:txBody>
      </p:sp>
      <p:sp>
        <p:nvSpPr>
          <p:cNvPr id="1154" name="Rectangle 1153">
            <a:extLst>
              <a:ext uri="{FF2B5EF4-FFF2-40B4-BE49-F238E27FC236}">
                <a16:creationId xmlns:a16="http://schemas.microsoft.com/office/drawing/2014/main" id="{567423AC-A810-FF72-4E03-36175F0F48D2}"/>
              </a:ext>
            </a:extLst>
          </p:cNvPr>
          <p:cNvSpPr>
            <a:spLocks/>
          </p:cNvSpPr>
          <p:nvPr/>
        </p:nvSpPr>
        <p:spPr>
          <a:xfrm>
            <a:off x="8585359" y="5209482"/>
            <a:ext cx="819700" cy="369332"/>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00" noProof="0" dirty="0"/>
              <a:t>Migrate into </a:t>
            </a:r>
            <a:br>
              <a:rPr lang="en-US" sz="800" noProof="0" dirty="0"/>
            </a:br>
            <a:r>
              <a:rPr lang="en-US" sz="800" noProof="0" dirty="0"/>
              <a:t>composite models</a:t>
            </a:r>
          </a:p>
        </p:txBody>
      </p:sp>
      <p:sp>
        <p:nvSpPr>
          <p:cNvPr id="1155" name="Rectangle 1154">
            <a:extLst>
              <a:ext uri="{FF2B5EF4-FFF2-40B4-BE49-F238E27FC236}">
                <a16:creationId xmlns:a16="http://schemas.microsoft.com/office/drawing/2014/main" id="{D02EC50E-FBD5-9D06-6DFC-7FEDB8776CB0}"/>
              </a:ext>
            </a:extLst>
          </p:cNvPr>
          <p:cNvSpPr>
            <a:spLocks/>
          </p:cNvSpPr>
          <p:nvPr/>
        </p:nvSpPr>
        <p:spPr>
          <a:xfrm>
            <a:off x="9702678" y="5209483"/>
            <a:ext cx="819700" cy="369332"/>
          </a:xfrm>
          <a:prstGeom prst="rect">
            <a:avLst/>
          </a:prstGeom>
          <a:noFill/>
          <a:ln>
            <a:noFill/>
          </a:ln>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00" noProof="0" dirty="0"/>
              <a:t>Migration of reports into PBI Premium capacity</a:t>
            </a:r>
          </a:p>
        </p:txBody>
      </p:sp>
      <p:sp>
        <p:nvSpPr>
          <p:cNvPr id="1156" name="Rectangle 1155">
            <a:extLst>
              <a:ext uri="{FF2B5EF4-FFF2-40B4-BE49-F238E27FC236}">
                <a16:creationId xmlns:a16="http://schemas.microsoft.com/office/drawing/2014/main" id="{B98D4F84-0F86-FFFA-C46E-C2E27D4453F1}"/>
              </a:ext>
            </a:extLst>
          </p:cNvPr>
          <p:cNvSpPr>
            <a:spLocks/>
          </p:cNvSpPr>
          <p:nvPr/>
        </p:nvSpPr>
        <p:spPr>
          <a:xfrm>
            <a:off x="10853956" y="5209483"/>
            <a:ext cx="751778" cy="369332"/>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25">
              <a:defRPr/>
            </a:pPr>
            <a:r>
              <a:rPr lang="en-US" sz="800" noProof="0" dirty="0"/>
              <a:t>Validation of </a:t>
            </a:r>
            <a:br>
              <a:rPr lang="en-US" sz="800" noProof="0" dirty="0"/>
            </a:br>
            <a:r>
              <a:rPr lang="en-US" sz="800" noProof="0" dirty="0"/>
              <a:t>migrated reports</a:t>
            </a:r>
          </a:p>
        </p:txBody>
      </p:sp>
      <p:sp>
        <p:nvSpPr>
          <p:cNvPr id="1157" name="Arrow: Pentagon 1156">
            <a:extLst>
              <a:ext uri="{FF2B5EF4-FFF2-40B4-BE49-F238E27FC236}">
                <a16:creationId xmlns:a16="http://schemas.microsoft.com/office/drawing/2014/main" id="{A413CC02-B4A5-FC78-4E93-F74FBF76F286}"/>
              </a:ext>
            </a:extLst>
          </p:cNvPr>
          <p:cNvSpPr/>
          <p:nvPr/>
        </p:nvSpPr>
        <p:spPr bwMode="auto">
          <a:xfrm>
            <a:off x="4116083" y="6301345"/>
            <a:ext cx="2010421" cy="268663"/>
          </a:xfrm>
          <a:prstGeom prst="homePlate">
            <a:avLst/>
          </a:prstGeom>
          <a:solidFill>
            <a:srgbClr val="41B8A4"/>
          </a:solidFill>
          <a:ln w="6350" cap="flat" cmpd="sng" algn="ctr">
            <a:noFill/>
            <a:prstDash val="solid"/>
            <a:miter lim="800000"/>
            <a:headEnd type="none" w="med" len="med"/>
            <a:tailEnd type="none" w="med" len="med"/>
          </a:ln>
          <a:effectLst/>
        </p:spPr>
        <p:txBody>
          <a:bodyPr rot="0" spcFirstLastPara="0" vertOverflow="overflow" horzOverflow="overflow" vert="horz" wrap="square" lIns="91427" tIns="146284" rIns="0" bIns="146284" numCol="1" spcCol="0" rtlCol="0" fromWordArt="0" anchor="ctr" anchorCtr="0" forceAA="0" compatLnSpc="1">
            <a:prstTxWarp prst="textNoShape">
              <a:avLst/>
            </a:prstTxWarp>
            <a:noAutofit/>
          </a:bodyPr>
          <a:lstStyle/>
          <a:p>
            <a:pPr marL="0" marR="0" lvl="0" indent="0" defTabSz="932293"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chemeClr val="bg1"/>
                </a:solidFill>
                <a:effectLst/>
                <a:uLnTx/>
                <a:uFillTx/>
              </a:rPr>
              <a:t>Tech PM/Corp Factory team lead (CSA) </a:t>
            </a:r>
          </a:p>
        </p:txBody>
      </p:sp>
      <p:sp>
        <p:nvSpPr>
          <p:cNvPr id="1158" name="Arrow: Chevron 1157">
            <a:extLst>
              <a:ext uri="{FF2B5EF4-FFF2-40B4-BE49-F238E27FC236}">
                <a16:creationId xmlns:a16="http://schemas.microsoft.com/office/drawing/2014/main" id="{BD0C3214-4A48-1DD2-FF9A-8B922A6826B2}"/>
              </a:ext>
            </a:extLst>
          </p:cNvPr>
          <p:cNvSpPr/>
          <p:nvPr/>
        </p:nvSpPr>
        <p:spPr bwMode="auto">
          <a:xfrm>
            <a:off x="6092927" y="6303437"/>
            <a:ext cx="4419747" cy="258490"/>
          </a:xfrm>
          <a:prstGeom prst="chevron">
            <a:avLst/>
          </a:prstGeom>
          <a:solidFill>
            <a:srgbClr val="41B8A4"/>
          </a:solidFill>
          <a:ln w="6350" cap="flat" cmpd="sng" algn="ctr">
            <a:noFill/>
            <a:prstDash val="solid"/>
            <a:miter lim="800000"/>
            <a:headEnd type="none" w="med" len="med"/>
            <a:tailEnd type="none" w="med" len="med"/>
          </a:ln>
          <a:effectLst/>
        </p:spPr>
        <p:txBody>
          <a:bodyPr rot="0" spcFirstLastPara="0" vertOverflow="overflow" horzOverflow="overflow" vert="horz" wrap="square" lIns="45713" tIns="146284" rIns="0" bIns="146284" numCol="1" spcCol="0" rtlCol="0" fromWordArt="0" anchor="ctr" anchorCtr="0" forceAA="0" compatLnSpc="1">
            <a:prstTxWarp prst="textNoShape">
              <a:avLst/>
            </a:prstTxWarp>
            <a:noAutofit/>
          </a:bodyPr>
          <a:lstStyle/>
          <a:p>
            <a:pPr marL="0" marR="0" lvl="0" indent="0" algn="ctr" defTabSz="932293"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chemeClr val="bg1"/>
                </a:solidFill>
                <a:effectLst/>
                <a:uLnTx/>
                <a:uFillTx/>
              </a:rPr>
              <a:t>Factory team</a:t>
            </a:r>
          </a:p>
        </p:txBody>
      </p:sp>
      <p:sp>
        <p:nvSpPr>
          <p:cNvPr id="1159" name="Arrow: Chevron 1158">
            <a:extLst>
              <a:ext uri="{FF2B5EF4-FFF2-40B4-BE49-F238E27FC236}">
                <a16:creationId xmlns:a16="http://schemas.microsoft.com/office/drawing/2014/main" id="{9AB98DCA-3B06-55A0-8439-AC6CB16D1769}"/>
              </a:ext>
            </a:extLst>
          </p:cNvPr>
          <p:cNvSpPr/>
          <p:nvPr/>
        </p:nvSpPr>
        <p:spPr bwMode="auto">
          <a:xfrm>
            <a:off x="10479097" y="6293265"/>
            <a:ext cx="1126637" cy="268661"/>
          </a:xfrm>
          <a:prstGeom prst="chevron">
            <a:avLst/>
          </a:prstGeom>
          <a:solidFill>
            <a:srgbClr val="41B8A4"/>
          </a:solidFill>
          <a:ln w="6350" cap="flat" cmpd="sng" algn="ctr">
            <a:noFill/>
            <a:prstDash val="solid"/>
            <a:miter lim="800000"/>
            <a:headEnd type="none" w="med" len="med"/>
            <a:tailEnd type="none" w="med" len="med"/>
          </a:ln>
          <a:effectLst/>
        </p:spPr>
        <p:txBody>
          <a:bodyPr rot="0" spcFirstLastPara="0" vertOverflow="overflow" horzOverflow="overflow" vert="horz" wrap="square" lIns="45713" tIns="146284" rIns="0" bIns="146284" numCol="1" spcCol="0" rtlCol="0" fromWordArt="0" anchor="ctr" anchorCtr="0" forceAA="0" compatLnSpc="1">
            <a:prstTxWarp prst="textNoShape">
              <a:avLst/>
            </a:prstTxWarp>
            <a:noAutofit/>
          </a:bodyPr>
          <a:lstStyle/>
          <a:p>
            <a:pPr marL="0" marR="0" lvl="0" indent="0" defTabSz="932293"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chemeClr val="bg1"/>
                </a:solidFill>
                <a:effectLst/>
                <a:uLnTx/>
                <a:uFillTx/>
              </a:rPr>
              <a:t>CUST Approve</a:t>
            </a:r>
          </a:p>
        </p:txBody>
      </p:sp>
      <p:sp>
        <p:nvSpPr>
          <p:cNvPr id="1160" name="Title 34">
            <a:extLst>
              <a:ext uri="{FF2B5EF4-FFF2-40B4-BE49-F238E27FC236}">
                <a16:creationId xmlns:a16="http://schemas.microsoft.com/office/drawing/2014/main" id="{DFDC905C-9500-A351-D472-5B0C5101ACFD}"/>
              </a:ext>
            </a:extLst>
          </p:cNvPr>
          <p:cNvSpPr>
            <a:spLocks noGrp="1"/>
          </p:cNvSpPr>
          <p:nvPr>
            <p:ph type="title"/>
          </p:nvPr>
        </p:nvSpPr>
        <p:spPr>
          <a:xfrm>
            <a:off x="588263" y="253200"/>
            <a:ext cx="3221883" cy="861774"/>
          </a:xfrm>
        </p:spPr>
        <p:txBody>
          <a:bodyPr/>
          <a:lstStyle/>
          <a:p>
            <a:r>
              <a:rPr lang="en-US" sz="2800" noProof="0" dirty="0">
                <a:solidFill>
                  <a:schemeClr val="bg1"/>
                </a:solidFill>
              </a:rPr>
              <a:t>Cloud Accelerate Factory Analytics</a:t>
            </a:r>
          </a:p>
        </p:txBody>
      </p:sp>
      <p:sp>
        <p:nvSpPr>
          <p:cNvPr id="22" name="Rectangle 21">
            <a:extLst>
              <a:ext uri="{FF2B5EF4-FFF2-40B4-BE49-F238E27FC236}">
                <a16:creationId xmlns:a16="http://schemas.microsoft.com/office/drawing/2014/main" id="{B5664E4B-5AC9-EC03-7B4F-386A558D3FD4}"/>
              </a:ext>
            </a:extLst>
          </p:cNvPr>
          <p:cNvSpPr/>
          <p:nvPr/>
        </p:nvSpPr>
        <p:spPr>
          <a:xfrm>
            <a:off x="639383" y="3347164"/>
            <a:ext cx="3172813" cy="610424"/>
          </a:xfrm>
          <a:prstGeom prst="rect">
            <a:avLst/>
          </a:prstGeom>
        </p:spPr>
        <p:txBody>
          <a:bodyPr wrap="square" lIns="0" tIns="0" rIns="0" bIns="0">
            <a:spAutoFit/>
          </a:bodyPr>
          <a:lstStyle/>
          <a:p>
            <a:pPr marL="236546" indent="-171185" defTabSz="896386">
              <a:spcAft>
                <a:spcPts val="400"/>
              </a:spcAft>
              <a:buFont typeface="Arial" panose="020B0604020202020204" pitchFamily="34" charset="0"/>
              <a:buChar char="•"/>
              <a:defRPr/>
            </a:pPr>
            <a:r>
              <a:rPr lang="en-US" sz="1100" noProof="0" dirty="0">
                <a:solidFill>
                  <a:schemeClr val="bg1"/>
                </a:solidFill>
              </a:rPr>
              <a:t>Microsoft architects, PM, and developers</a:t>
            </a:r>
          </a:p>
          <a:p>
            <a:pPr marL="236546" indent="-171185" defTabSz="896386">
              <a:spcAft>
                <a:spcPts val="400"/>
              </a:spcAft>
              <a:buFont typeface="Arial" panose="020B0604020202020204" pitchFamily="34" charset="0"/>
              <a:buChar char="•"/>
              <a:defRPr/>
            </a:pPr>
            <a:r>
              <a:rPr lang="en-US" sz="1100" noProof="0" dirty="0">
                <a:solidFill>
                  <a:schemeClr val="bg1"/>
                </a:solidFill>
              </a:rPr>
              <a:t>Microsoft Field Account team </a:t>
            </a:r>
          </a:p>
          <a:p>
            <a:pPr marL="236546" indent="-171185" defTabSz="896386">
              <a:spcAft>
                <a:spcPts val="400"/>
              </a:spcAft>
              <a:buFont typeface="Arial" panose="020B0604020202020204" pitchFamily="34" charset="0"/>
              <a:buChar char="•"/>
              <a:defRPr/>
            </a:pPr>
            <a:r>
              <a:rPr lang="en-US" sz="1100" noProof="0" dirty="0">
                <a:solidFill>
                  <a:schemeClr val="bg1"/>
                </a:solidFill>
              </a:rPr>
              <a:t>Repeatable assets for rapid deployment</a:t>
            </a:r>
          </a:p>
        </p:txBody>
      </p:sp>
      <p:pic>
        <p:nvPicPr>
          <p:cNvPr id="1164" name="Image 15" descr="Chevron Circle Right (outlined)">
            <a:extLst>
              <a:ext uri="{FF2B5EF4-FFF2-40B4-BE49-F238E27FC236}">
                <a16:creationId xmlns:a16="http://schemas.microsoft.com/office/drawing/2014/main" id="{95989788-28AB-F907-FF52-3FC2B3178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2177" y="5936861"/>
            <a:ext cx="184830" cy="184830"/>
          </a:xfrm>
          <a:prstGeom prst="rect">
            <a:avLst/>
          </a:prstGeom>
        </p:spPr>
      </p:pic>
      <p:pic>
        <p:nvPicPr>
          <p:cNvPr id="1165" name="Image 15" descr="Chevron Circle Right (outlined)">
            <a:extLst>
              <a:ext uri="{FF2B5EF4-FFF2-40B4-BE49-F238E27FC236}">
                <a16:creationId xmlns:a16="http://schemas.microsoft.com/office/drawing/2014/main" id="{A61E0F3A-16E1-98D3-7C64-615CBC5466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09495" y="5936861"/>
            <a:ext cx="184830" cy="184830"/>
          </a:xfrm>
          <a:prstGeom prst="rect">
            <a:avLst/>
          </a:prstGeom>
        </p:spPr>
      </p:pic>
      <p:pic>
        <p:nvPicPr>
          <p:cNvPr id="1166" name="Image 15" descr="Chevron Circle Right (outlined)">
            <a:extLst>
              <a:ext uri="{FF2B5EF4-FFF2-40B4-BE49-F238E27FC236}">
                <a16:creationId xmlns:a16="http://schemas.microsoft.com/office/drawing/2014/main" id="{AA7D7246-8473-904C-1AC0-212A51B4B4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6813" y="5936861"/>
            <a:ext cx="184830" cy="184830"/>
          </a:xfrm>
          <a:prstGeom prst="rect">
            <a:avLst/>
          </a:prstGeom>
        </p:spPr>
      </p:pic>
      <p:pic>
        <p:nvPicPr>
          <p:cNvPr id="1167" name="Image 15" descr="Chevron Circle Right (outlined)">
            <a:extLst>
              <a:ext uri="{FF2B5EF4-FFF2-40B4-BE49-F238E27FC236}">
                <a16:creationId xmlns:a16="http://schemas.microsoft.com/office/drawing/2014/main" id="{E19C8F7F-CA43-E1F0-2C77-E8571D31F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44131" y="5936861"/>
            <a:ext cx="184830" cy="184830"/>
          </a:xfrm>
          <a:prstGeom prst="rect">
            <a:avLst/>
          </a:prstGeom>
        </p:spPr>
      </p:pic>
      <p:pic>
        <p:nvPicPr>
          <p:cNvPr id="1168" name="Image 15" descr="Chevron Circle Right (outlined)">
            <a:extLst>
              <a:ext uri="{FF2B5EF4-FFF2-40B4-BE49-F238E27FC236}">
                <a16:creationId xmlns:a16="http://schemas.microsoft.com/office/drawing/2014/main" id="{A0AF2419-7543-2165-A35D-D93D736342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61449" y="5936861"/>
            <a:ext cx="184830" cy="184830"/>
          </a:xfrm>
          <a:prstGeom prst="rect">
            <a:avLst/>
          </a:prstGeom>
        </p:spPr>
      </p:pic>
      <p:pic>
        <p:nvPicPr>
          <p:cNvPr id="1169" name="Image 15" descr="Chevron Circle Right (outlined)">
            <a:extLst>
              <a:ext uri="{FF2B5EF4-FFF2-40B4-BE49-F238E27FC236}">
                <a16:creationId xmlns:a16="http://schemas.microsoft.com/office/drawing/2014/main" id="{A3B5DDBA-F73A-A58C-82F9-D6C9E6CB33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78767" y="5936861"/>
            <a:ext cx="184830" cy="184830"/>
          </a:xfrm>
          <a:prstGeom prst="rect">
            <a:avLst/>
          </a:prstGeom>
        </p:spPr>
      </p:pic>
      <p:sp>
        <p:nvSpPr>
          <p:cNvPr id="1170" name="TextBox 338">
            <a:extLst>
              <a:ext uri="{FF2B5EF4-FFF2-40B4-BE49-F238E27FC236}">
                <a16:creationId xmlns:a16="http://schemas.microsoft.com/office/drawing/2014/main" id="{FB8400AE-B877-8635-53A5-7297B3F34E6E}"/>
              </a:ext>
            </a:extLst>
          </p:cNvPr>
          <p:cNvSpPr txBox="1"/>
          <p:nvPr/>
        </p:nvSpPr>
        <p:spPr>
          <a:xfrm>
            <a:off x="4534307" y="361579"/>
            <a:ext cx="1685855" cy="1692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mj-lt"/>
              </a:rPr>
              <a:t>Accelerated</a:t>
            </a:r>
            <a:r>
              <a:rPr kumimoji="0" lang="en-US" sz="1100" b="0" i="0" u="none" strike="noStrike" kern="1200" cap="none" spc="0" normalizeH="0" baseline="0" noProof="0" dirty="0">
                <a:ln>
                  <a:noFill/>
                </a:ln>
                <a:solidFill>
                  <a:schemeClr val="tx2"/>
                </a:solidFill>
                <a:effectLst/>
                <a:uLnTx/>
                <a:uFillTx/>
                <a:latin typeface="+mj-lt"/>
              </a:rPr>
              <a:t> results</a:t>
            </a:r>
          </a:p>
        </p:txBody>
      </p:sp>
      <p:sp>
        <p:nvSpPr>
          <p:cNvPr id="1171" name="TextBox 338">
            <a:extLst>
              <a:ext uri="{FF2B5EF4-FFF2-40B4-BE49-F238E27FC236}">
                <a16:creationId xmlns:a16="http://schemas.microsoft.com/office/drawing/2014/main" id="{4E252EA2-78A1-4A88-C61B-A629742A9DFD}"/>
              </a:ext>
            </a:extLst>
          </p:cNvPr>
          <p:cNvSpPr txBox="1"/>
          <p:nvPr/>
        </p:nvSpPr>
        <p:spPr>
          <a:xfrm>
            <a:off x="7134298" y="361579"/>
            <a:ext cx="1699826" cy="1692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mj-lt"/>
              </a:rPr>
              <a:t>Actionable</a:t>
            </a:r>
            <a:r>
              <a:rPr kumimoji="0" lang="en-US" sz="1100" b="0" i="0" u="none" strike="noStrike" kern="1200" cap="none" spc="0" normalizeH="0" baseline="0" noProof="0" dirty="0">
                <a:ln>
                  <a:noFill/>
                </a:ln>
                <a:solidFill>
                  <a:schemeClr val="tx2"/>
                </a:solidFill>
                <a:effectLst/>
                <a:uLnTx/>
                <a:uFillTx/>
                <a:latin typeface="+mj-lt"/>
              </a:rPr>
              <a:t> insights</a:t>
            </a:r>
          </a:p>
        </p:txBody>
      </p:sp>
      <p:sp>
        <p:nvSpPr>
          <p:cNvPr id="1172" name="TextBox 338">
            <a:extLst>
              <a:ext uri="{FF2B5EF4-FFF2-40B4-BE49-F238E27FC236}">
                <a16:creationId xmlns:a16="http://schemas.microsoft.com/office/drawing/2014/main" id="{ECFC4E37-8971-3E5D-50C7-FEFDFA6ABF42}"/>
              </a:ext>
            </a:extLst>
          </p:cNvPr>
          <p:cNvSpPr txBox="1"/>
          <p:nvPr/>
        </p:nvSpPr>
        <p:spPr>
          <a:xfrm>
            <a:off x="9734965" y="361579"/>
            <a:ext cx="1809268" cy="1692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mj-lt"/>
              </a:rPr>
              <a:t>Capacity</a:t>
            </a:r>
            <a:r>
              <a:rPr kumimoji="0" lang="en-US" sz="1100" b="0" i="0" u="none" strike="noStrike" kern="1200" cap="none" spc="0" normalizeH="0" baseline="0" noProof="0" dirty="0">
                <a:ln>
                  <a:noFill/>
                </a:ln>
                <a:solidFill>
                  <a:schemeClr val="tx2"/>
                </a:solidFill>
                <a:effectLst/>
                <a:uLnTx/>
                <a:uFillTx/>
                <a:latin typeface="+mj-lt"/>
              </a:rPr>
              <a:t> at-scale</a:t>
            </a:r>
          </a:p>
        </p:txBody>
      </p:sp>
      <p:grpSp>
        <p:nvGrpSpPr>
          <p:cNvPr id="1177" name="Group 1176">
            <a:extLst>
              <a:ext uri="{FF2B5EF4-FFF2-40B4-BE49-F238E27FC236}">
                <a16:creationId xmlns:a16="http://schemas.microsoft.com/office/drawing/2014/main" id="{45B15BEB-BC87-2350-3210-25589DD39CE0}"/>
              </a:ext>
            </a:extLst>
          </p:cNvPr>
          <p:cNvGrpSpPr/>
          <p:nvPr/>
        </p:nvGrpSpPr>
        <p:grpSpPr>
          <a:xfrm>
            <a:off x="11053155" y="5852587"/>
            <a:ext cx="353379" cy="353379"/>
            <a:chOff x="11053155" y="5852587"/>
            <a:chExt cx="353379" cy="353379"/>
          </a:xfrm>
        </p:grpSpPr>
        <p:sp>
          <p:nvSpPr>
            <p:cNvPr id="1384" name="Oval 1383">
              <a:extLst>
                <a:ext uri="{FF2B5EF4-FFF2-40B4-BE49-F238E27FC236}">
                  <a16:creationId xmlns:a16="http://schemas.microsoft.com/office/drawing/2014/main" id="{EC2D5780-9429-87E4-C6E8-359F53064143}"/>
                </a:ext>
                <a:ext uri="{C183D7F6-B498-43B3-948B-1728B52AA6E4}">
                  <adec:decorative xmlns:adec="http://schemas.microsoft.com/office/drawing/2017/decorative" val="1"/>
                </a:ext>
              </a:extLst>
            </p:cNvPr>
            <p:cNvSpPr/>
            <p:nvPr/>
          </p:nvSpPr>
          <p:spPr>
            <a:xfrm>
              <a:off x="11053155" y="5852587"/>
              <a:ext cx="353379" cy="353379"/>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pic>
          <p:nvPicPr>
            <p:cNvPr id="1176" name="Picture 1175">
              <a:extLst>
                <a:ext uri="{FF2B5EF4-FFF2-40B4-BE49-F238E27FC236}">
                  <a16:creationId xmlns:a16="http://schemas.microsoft.com/office/drawing/2014/main" id="{4E9DD6DB-E4C1-FE63-62AE-B1EBB60DA870}"/>
                </a:ext>
                <a:ext uri="{C183D7F6-B498-43B3-948B-1728B52AA6E4}">
                  <adec:decorative xmlns:adec="http://schemas.microsoft.com/office/drawing/2017/decorative" val="1"/>
                </a:ext>
              </a:extLst>
            </p:cNvPr>
            <p:cNvPicPr>
              <a:picLocks noChangeAspect="1"/>
            </p:cNvPicPr>
            <p:nvPr/>
          </p:nvPicPr>
          <p:blipFill>
            <a:blip r:embed="rId5"/>
            <a:srcRect l="10291" r="10291"/>
            <a:stretch>
              <a:fillRect/>
            </a:stretch>
          </p:blipFill>
          <p:spPr>
            <a:xfrm>
              <a:off x="11140277" y="5916276"/>
              <a:ext cx="179135" cy="226001"/>
            </a:xfrm>
            <a:prstGeom prst="rect">
              <a:avLst/>
            </a:prstGeom>
          </p:spPr>
        </p:pic>
      </p:grpSp>
      <p:sp>
        <p:nvSpPr>
          <p:cNvPr id="1178" name="TextBox 338">
            <a:extLst>
              <a:ext uri="{FF2B5EF4-FFF2-40B4-BE49-F238E27FC236}">
                <a16:creationId xmlns:a16="http://schemas.microsoft.com/office/drawing/2014/main" id="{867C3C6A-505B-63D5-2520-18F59584EBC8}"/>
              </a:ext>
            </a:extLst>
          </p:cNvPr>
          <p:cNvSpPr txBox="1"/>
          <p:nvPr/>
        </p:nvSpPr>
        <p:spPr>
          <a:xfrm>
            <a:off x="1103512" y="2968844"/>
            <a:ext cx="1732269" cy="230832"/>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89638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bg1"/>
                </a:solidFill>
                <a:effectLst/>
                <a:uLnTx/>
                <a:uFillTx/>
                <a:latin typeface="+mj-lt"/>
              </a:rPr>
              <a:t>Microsoft resources</a:t>
            </a:r>
          </a:p>
        </p:txBody>
      </p:sp>
      <p:sp>
        <p:nvSpPr>
          <p:cNvPr id="1181" name="Oval 1180">
            <a:extLst>
              <a:ext uri="{FF2B5EF4-FFF2-40B4-BE49-F238E27FC236}">
                <a16:creationId xmlns:a16="http://schemas.microsoft.com/office/drawing/2014/main" id="{844E315A-DFB9-71D9-FEC6-FC4825D60855}"/>
              </a:ext>
            </a:extLst>
          </p:cNvPr>
          <p:cNvSpPr/>
          <p:nvPr/>
        </p:nvSpPr>
        <p:spPr>
          <a:xfrm>
            <a:off x="588263" y="2882839"/>
            <a:ext cx="402842" cy="402842"/>
          </a:xfrm>
          <a:prstGeom prst="ellipse">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1195" name="Graphic 252">
            <a:extLst>
              <a:ext uri="{FF2B5EF4-FFF2-40B4-BE49-F238E27FC236}">
                <a16:creationId xmlns:a16="http://schemas.microsoft.com/office/drawing/2014/main" id="{05EE8268-DA9B-6692-FC0D-170831AEFDB3}"/>
              </a:ext>
            </a:extLst>
          </p:cNvPr>
          <p:cNvSpPr/>
          <p:nvPr/>
        </p:nvSpPr>
        <p:spPr>
          <a:xfrm>
            <a:off x="674267" y="2968845"/>
            <a:ext cx="230834" cy="230832"/>
          </a:xfrm>
          <a:custGeom>
            <a:avLst/>
            <a:gdLst>
              <a:gd name="csX0" fmla="*/ 30641 w 95250"/>
              <a:gd name="csY0" fmla="*/ 50144 h 95250"/>
              <a:gd name="csX1" fmla="*/ 35957 w 95250"/>
              <a:gd name="csY1" fmla="*/ 47625 h 95250"/>
              <a:gd name="csX2" fmla="*/ 59293 w 95250"/>
              <a:gd name="csY2" fmla="*/ 47625 h 95250"/>
              <a:gd name="csX3" fmla="*/ 64609 w 95250"/>
              <a:gd name="csY3" fmla="*/ 50144 h 95250"/>
              <a:gd name="csX4" fmla="*/ 66675 w 95250"/>
              <a:gd name="csY4" fmla="*/ 55340 h 95250"/>
              <a:gd name="csX5" fmla="*/ 66675 w 95250"/>
              <a:gd name="csY5" fmla="*/ 56864 h 95250"/>
              <a:gd name="csX6" fmla="*/ 47625 w 95250"/>
              <a:gd name="csY6" fmla="*/ 71438 h 95250"/>
              <a:gd name="csX7" fmla="*/ 28575 w 95250"/>
              <a:gd name="csY7" fmla="*/ 56864 h 95250"/>
              <a:gd name="csX8" fmla="*/ 28575 w 95250"/>
              <a:gd name="csY8" fmla="*/ 55340 h 95250"/>
              <a:gd name="csX9" fmla="*/ 30641 w 95250"/>
              <a:gd name="csY9" fmla="*/ 50144 h 95250"/>
              <a:gd name="csX10" fmla="*/ 47625 w 95250"/>
              <a:gd name="csY10" fmla="*/ 38100 h 95250"/>
              <a:gd name="csX11" fmla="*/ 57150 w 95250"/>
              <a:gd name="csY11" fmla="*/ 28575 h 95250"/>
              <a:gd name="csX12" fmla="*/ 47625 w 95250"/>
              <a:gd name="csY12" fmla="*/ 19050 h 95250"/>
              <a:gd name="csX13" fmla="*/ 38100 w 95250"/>
              <a:gd name="csY13" fmla="*/ 28575 h 95250"/>
              <a:gd name="csX14" fmla="*/ 47625 w 95250"/>
              <a:gd name="csY14" fmla="*/ 38100 h 95250"/>
              <a:gd name="csX15" fmla="*/ 47625 w 95250"/>
              <a:gd name="csY15" fmla="*/ 95250 h 95250"/>
              <a:gd name="csX16" fmla="*/ 95250 w 95250"/>
              <a:gd name="csY16" fmla="*/ 47625 h 95250"/>
              <a:gd name="csX17" fmla="*/ 47625 w 95250"/>
              <a:gd name="csY17" fmla="*/ 0 h 95250"/>
              <a:gd name="csX18" fmla="*/ 0 w 95250"/>
              <a:gd name="csY18" fmla="*/ 47625 h 95250"/>
              <a:gd name="csX19" fmla="*/ 47625 w 95250"/>
              <a:gd name="csY19" fmla="*/ 95250 h 95250"/>
              <a:gd name="csX20" fmla="*/ 47625 w 95250"/>
              <a:gd name="csY20" fmla="*/ 85725 h 95250"/>
              <a:gd name="csX21" fmla="*/ 9525 w 95250"/>
              <a:gd name="csY21" fmla="*/ 47625 h 95250"/>
              <a:gd name="csX22" fmla="*/ 47625 w 95250"/>
              <a:gd name="csY22" fmla="*/ 9525 h 95250"/>
              <a:gd name="csX23" fmla="*/ 85725 w 95250"/>
              <a:gd name="csY23" fmla="*/ 47625 h 95250"/>
              <a:gd name="csX24" fmla="*/ 47625 w 95250"/>
              <a:gd name="csY24"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95250" h="95250">
                <a:moveTo>
                  <a:pt x="30641" y="50144"/>
                </a:moveTo>
                <a:cubicBezTo>
                  <a:pt x="31885" y="48745"/>
                  <a:pt x="33743" y="47625"/>
                  <a:pt x="35957" y="47625"/>
                </a:cubicBezTo>
                <a:lnTo>
                  <a:pt x="59293" y="47625"/>
                </a:lnTo>
                <a:cubicBezTo>
                  <a:pt x="61507" y="47625"/>
                  <a:pt x="63365" y="48745"/>
                  <a:pt x="64609" y="50144"/>
                </a:cubicBezTo>
                <a:cubicBezTo>
                  <a:pt x="65843" y="51532"/>
                  <a:pt x="66675" y="53412"/>
                  <a:pt x="66675" y="55340"/>
                </a:cubicBezTo>
                <a:lnTo>
                  <a:pt x="66675" y="56864"/>
                </a:lnTo>
                <a:cubicBezTo>
                  <a:pt x="66675" y="64648"/>
                  <a:pt x="58897" y="71438"/>
                  <a:pt x="47625" y="71438"/>
                </a:cubicBezTo>
                <a:cubicBezTo>
                  <a:pt x="36353" y="71438"/>
                  <a:pt x="28575" y="64648"/>
                  <a:pt x="28575" y="56864"/>
                </a:cubicBezTo>
                <a:lnTo>
                  <a:pt x="28575" y="55340"/>
                </a:lnTo>
                <a:cubicBezTo>
                  <a:pt x="28575" y="53412"/>
                  <a:pt x="29407" y="51532"/>
                  <a:pt x="30641" y="50144"/>
                </a:cubicBezTo>
                <a:close/>
                <a:moveTo>
                  <a:pt x="47625" y="38100"/>
                </a:moveTo>
                <a:cubicBezTo>
                  <a:pt x="52885" y="38100"/>
                  <a:pt x="57150" y="33835"/>
                  <a:pt x="57150" y="28575"/>
                </a:cubicBezTo>
                <a:cubicBezTo>
                  <a:pt x="57150" y="23315"/>
                  <a:pt x="52885" y="19050"/>
                  <a:pt x="47625" y="19050"/>
                </a:cubicBezTo>
                <a:cubicBezTo>
                  <a:pt x="42365" y="19050"/>
                  <a:pt x="38100" y="23315"/>
                  <a:pt x="38100" y="28575"/>
                </a:cubicBezTo>
                <a:cubicBezTo>
                  <a:pt x="38100" y="33835"/>
                  <a:pt x="42365" y="38100"/>
                  <a:pt x="47625" y="38100"/>
                </a:cubicBezTo>
                <a:close/>
                <a:moveTo>
                  <a:pt x="47625" y="95250"/>
                </a:moveTo>
                <a:cubicBezTo>
                  <a:pt x="73928" y="95250"/>
                  <a:pt x="95250" y="73928"/>
                  <a:pt x="95250" y="47625"/>
                </a:cubicBezTo>
                <a:cubicBezTo>
                  <a:pt x="95250" y="21322"/>
                  <a:pt x="73928" y="0"/>
                  <a:pt x="47625" y="0"/>
                </a:cubicBezTo>
                <a:cubicBezTo>
                  <a:pt x="21322" y="0"/>
                  <a:pt x="0" y="21322"/>
                  <a:pt x="0" y="47625"/>
                </a:cubicBezTo>
                <a:cubicBezTo>
                  <a:pt x="0" y="73928"/>
                  <a:pt x="21322" y="95250"/>
                  <a:pt x="47625" y="95250"/>
                </a:cubicBezTo>
                <a:close/>
                <a:moveTo>
                  <a:pt x="47625" y="85725"/>
                </a:moveTo>
                <a:cubicBezTo>
                  <a:pt x="26583" y="85725"/>
                  <a:pt x="9525" y="68667"/>
                  <a:pt x="9525" y="47625"/>
                </a:cubicBezTo>
                <a:cubicBezTo>
                  <a:pt x="9525" y="26583"/>
                  <a:pt x="26583" y="9525"/>
                  <a:pt x="47625" y="9525"/>
                </a:cubicBezTo>
                <a:cubicBezTo>
                  <a:pt x="68667" y="9525"/>
                  <a:pt x="85725" y="26583"/>
                  <a:pt x="85725" y="47625"/>
                </a:cubicBezTo>
                <a:cubicBezTo>
                  <a:pt x="85725" y="68667"/>
                  <a:pt x="68667" y="85725"/>
                  <a:pt x="47625" y="85725"/>
                </a:cubicBezTo>
                <a:close/>
              </a:path>
            </a:pathLst>
          </a:custGeom>
          <a:gradFill>
            <a:gsLst>
              <a:gs pos="0">
                <a:srgbClr val="0078D4"/>
              </a:gs>
              <a:gs pos="36000">
                <a:srgbClr val="1A7385"/>
              </a:gs>
              <a:gs pos="100000">
                <a:srgbClr val="41B8A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dirty="0">
              <a:solidFill>
                <a:srgbClr val="000000"/>
              </a:solidFill>
              <a:latin typeface="Segoe UI"/>
            </a:endParaRPr>
          </a:p>
        </p:txBody>
      </p:sp>
    </p:spTree>
    <p:extLst>
      <p:ext uri="{BB962C8B-B14F-4D97-AF65-F5344CB8AC3E}">
        <p14:creationId xmlns:p14="http://schemas.microsoft.com/office/powerpoint/2010/main" val="1657647871"/>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C490-8DD5-3E5D-589A-703E87E13A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453FF08-C60C-FEAB-DDE3-968FE0612C18}"/>
              </a:ext>
            </a:extLst>
          </p:cNvPr>
          <p:cNvSpPr>
            <a:spLocks noGrp="1"/>
          </p:cNvSpPr>
          <p:nvPr>
            <p:ph type="title"/>
          </p:nvPr>
        </p:nvSpPr>
        <p:spPr>
          <a:xfrm>
            <a:off x="588963" y="679701"/>
            <a:ext cx="5507037" cy="113877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Key Deliverables</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Segoe UI Semibold"/>
              </a:rPr>
              <a:t>Power BI Migration</a:t>
            </a:r>
            <a:b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br>
            <a:endParaRPr lang="en-US" sz="2800" noProof="0" dirty="0"/>
          </a:p>
        </p:txBody>
      </p:sp>
      <p:sp>
        <p:nvSpPr>
          <p:cNvPr id="27" name="Content Placeholder 4">
            <a:extLst>
              <a:ext uri="{FF2B5EF4-FFF2-40B4-BE49-F238E27FC236}">
                <a16:creationId xmlns:a16="http://schemas.microsoft.com/office/drawing/2014/main" id="{D3206883-090E-80B7-1C35-F035D5804555}"/>
              </a:ext>
            </a:extLst>
          </p:cNvPr>
          <p:cNvSpPr txBox="1">
            <a:spLocks/>
          </p:cNvSpPr>
          <p:nvPr/>
        </p:nvSpPr>
        <p:spPr>
          <a:xfrm>
            <a:off x="760259" y="1981708"/>
            <a:ext cx="2448877" cy="2076851"/>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50000"/>
              </a:lnSpc>
              <a:spcBef>
                <a:spcPts val="0"/>
              </a:spcBef>
              <a:spcAft>
                <a:spcPts val="200"/>
              </a:spcAft>
              <a:buSzTx/>
              <a:buFont typeface="Wingdings" panose="05000000000000000000" pitchFamily="2" charset="2"/>
              <a:buChar char="ü"/>
              <a:defRPr/>
            </a:pPr>
            <a:r>
              <a:rPr lang="en-US" sz="1400" noProof="0" dirty="0"/>
              <a:t>Migration from SSRS to Power BI</a:t>
            </a:r>
          </a:p>
          <a:p>
            <a:pPr marL="457200" lvl="0" indent="-136525" defTabSz="914400">
              <a:lnSpc>
                <a:spcPct val="150000"/>
              </a:lnSpc>
              <a:spcBef>
                <a:spcPts val="0"/>
              </a:spcBef>
              <a:spcAft>
                <a:spcPts val="600"/>
              </a:spcAft>
              <a:buSzTx/>
              <a:buFont typeface="Arial" panose="020B0604020202020204" pitchFamily="34" charset="0"/>
              <a:buChar char="•"/>
              <a:defRPr/>
            </a:pPr>
            <a:r>
              <a:rPr lang="en-US" sz="1200" noProof="0" dirty="0"/>
              <a:t>Simple, medium, high</a:t>
            </a:r>
          </a:p>
          <a:p>
            <a:pPr lvl="0" defTabSz="914400">
              <a:lnSpc>
                <a:spcPct val="150000"/>
              </a:lnSpc>
              <a:spcBef>
                <a:spcPts val="0"/>
              </a:spcBef>
              <a:spcAft>
                <a:spcPts val="200"/>
              </a:spcAft>
              <a:buSzTx/>
              <a:buFont typeface="Wingdings" panose="05000000000000000000" pitchFamily="2" charset="2"/>
              <a:buChar char="ü"/>
              <a:defRPr/>
            </a:pPr>
            <a:r>
              <a:rPr lang="en-US" sz="1400" noProof="0" dirty="0"/>
              <a:t>Migration from SSAS/AAS </a:t>
            </a:r>
            <a:br>
              <a:rPr lang="en-US" sz="1400" noProof="0" dirty="0"/>
            </a:br>
            <a:r>
              <a:rPr lang="en-US" sz="1400" noProof="0" dirty="0"/>
              <a:t>to Power BI</a:t>
            </a:r>
          </a:p>
          <a:p>
            <a:pPr marL="457200" lvl="0" indent="-136525" defTabSz="914400">
              <a:lnSpc>
                <a:spcPct val="150000"/>
              </a:lnSpc>
              <a:spcBef>
                <a:spcPts val="0"/>
              </a:spcBef>
              <a:spcAft>
                <a:spcPts val="600"/>
              </a:spcAft>
              <a:buSzTx/>
              <a:buFont typeface="Arial" panose="020B0604020202020204" pitchFamily="34" charset="0"/>
              <a:buChar char="•"/>
              <a:defRPr/>
            </a:pPr>
            <a:r>
              <a:rPr lang="en-US" sz="1200" noProof="0" dirty="0"/>
              <a:t>Simple, medium, high</a:t>
            </a:r>
          </a:p>
        </p:txBody>
      </p:sp>
      <p:sp>
        <p:nvSpPr>
          <p:cNvPr id="16" name="TextBox 15">
            <a:extLst>
              <a:ext uri="{FF2B5EF4-FFF2-40B4-BE49-F238E27FC236}">
                <a16:creationId xmlns:a16="http://schemas.microsoft.com/office/drawing/2014/main" id="{1F557955-34FE-AF6A-A7CA-36FF8C648D69}"/>
              </a:ext>
            </a:extLst>
          </p:cNvPr>
          <p:cNvSpPr txBox="1"/>
          <p:nvPr/>
        </p:nvSpPr>
        <p:spPr>
          <a:xfrm>
            <a:off x="571500" y="4774586"/>
            <a:ext cx="11049000"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Report complexity factors</a:t>
            </a:r>
          </a:p>
        </p:txBody>
      </p:sp>
      <p:sp>
        <p:nvSpPr>
          <p:cNvPr id="17" name="Rounded Rectangle 55">
            <a:extLst>
              <a:ext uri="{FF2B5EF4-FFF2-40B4-BE49-F238E27FC236}">
                <a16:creationId xmlns:a16="http://schemas.microsoft.com/office/drawing/2014/main" id="{D8BF87D3-F4A5-D074-0FFB-B1C1F091A615}"/>
              </a:ext>
              <a:ext uri="{C183D7F6-B498-43B3-948B-1728B52AA6E4}">
                <adec:decorative xmlns:adec="http://schemas.microsoft.com/office/drawing/2017/decorative" val="1"/>
              </a:ext>
            </a:extLst>
          </p:cNvPr>
          <p:cNvSpPr/>
          <p:nvPr/>
        </p:nvSpPr>
        <p:spPr bwMode="auto">
          <a:xfrm>
            <a:off x="577993" y="1446968"/>
            <a:ext cx="2687721" cy="3229807"/>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8" name="Rounded Rectangle 55">
            <a:extLst>
              <a:ext uri="{FF2B5EF4-FFF2-40B4-BE49-F238E27FC236}">
                <a16:creationId xmlns:a16="http://schemas.microsoft.com/office/drawing/2014/main" id="{81FD6CD0-65EE-1886-6F3E-0E703FA8616E}"/>
              </a:ext>
              <a:ext uri="{C183D7F6-B498-43B3-948B-1728B52AA6E4}">
                <adec:decorative xmlns:adec="http://schemas.microsoft.com/office/drawing/2017/decorative" val="1"/>
              </a:ext>
            </a:extLst>
          </p:cNvPr>
          <p:cNvSpPr/>
          <p:nvPr/>
        </p:nvSpPr>
        <p:spPr bwMode="auto">
          <a:xfrm>
            <a:off x="3456667" y="1446968"/>
            <a:ext cx="8163833" cy="3229807"/>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9" name="TextBox 18">
            <a:extLst>
              <a:ext uri="{FF2B5EF4-FFF2-40B4-BE49-F238E27FC236}">
                <a16:creationId xmlns:a16="http://schemas.microsoft.com/office/drawing/2014/main" id="{711DC03D-61A9-8456-B77A-E68A89A896AC}"/>
              </a:ext>
            </a:extLst>
          </p:cNvPr>
          <p:cNvSpPr txBox="1"/>
          <p:nvPr/>
        </p:nvSpPr>
        <p:spPr>
          <a:xfrm>
            <a:off x="3566395" y="1544779"/>
            <a:ext cx="7944377"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Expected execution SLAs</a:t>
            </a:r>
          </a:p>
        </p:txBody>
      </p:sp>
      <p:sp>
        <p:nvSpPr>
          <p:cNvPr id="21" name="Rectangle: Rounded Corners 20">
            <a:extLst>
              <a:ext uri="{FF2B5EF4-FFF2-40B4-BE49-F238E27FC236}">
                <a16:creationId xmlns:a16="http://schemas.microsoft.com/office/drawing/2014/main" id="{82B2CEEF-6665-C0B1-F06E-AE254A1ED3F0}"/>
              </a:ext>
            </a:extLst>
          </p:cNvPr>
          <p:cNvSpPr/>
          <p:nvPr/>
        </p:nvSpPr>
        <p:spPr bwMode="auto">
          <a:xfrm>
            <a:off x="5480027" y="2066424"/>
            <a:ext cx="3875585" cy="1210939"/>
          </a:xfrm>
          <a:prstGeom prst="roundRect">
            <a:avLst>
              <a:gd name="adj" fmla="val 5470"/>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23" name="Rectangle: Rounded Corners 46">
            <a:extLst>
              <a:ext uri="{FF2B5EF4-FFF2-40B4-BE49-F238E27FC236}">
                <a16:creationId xmlns:a16="http://schemas.microsoft.com/office/drawing/2014/main" id="{C2EE0E04-D102-A399-1D8D-53EC9ECF80C6}"/>
              </a:ext>
            </a:extLst>
          </p:cNvPr>
          <p:cNvSpPr/>
          <p:nvPr/>
        </p:nvSpPr>
        <p:spPr bwMode="auto">
          <a:xfrm>
            <a:off x="5629458" y="2605234"/>
            <a:ext cx="3507039" cy="400110"/>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defTabSz="914367" eaLnBrk="1" fontAlgn="auto" latinLnBrk="0" hangingPunct="1">
              <a:lnSpc>
                <a:spcPct val="100000"/>
              </a:lnSpc>
              <a:spcBef>
                <a:spcPts val="0"/>
              </a:spcBef>
              <a:spcAft>
                <a:spcPts val="0"/>
              </a:spcAft>
              <a:buClrTx/>
              <a:buSzTx/>
              <a:buFontTx/>
              <a:buNone/>
              <a:tabLst/>
              <a:defRPr/>
            </a:pPr>
            <a:r>
              <a:rPr kumimoji="0" lang="en-US" sz="1400" i="0" u="none" strike="noStrike" kern="0" cap="none" normalizeH="0" baseline="0" noProof="0" dirty="0">
                <a:ln>
                  <a:noFill/>
                </a:ln>
                <a:effectLst/>
                <a:uLnTx/>
                <a:uFillTx/>
                <a:latin typeface="+mj-lt"/>
                <a:ea typeface="+mj-ea"/>
                <a:cs typeface="+mj-cs"/>
              </a:rPr>
              <a:t>Simple (A)</a:t>
            </a:r>
          </a:p>
          <a:p>
            <a:pPr marL="0" marR="0" lvl="0" indent="0" defTabSz="914367" eaLnBrk="1" fontAlgn="auto" latinLnBrk="0" hangingPunct="1">
              <a:lnSpc>
                <a:spcPct val="100000"/>
              </a:lnSpc>
              <a:spcBef>
                <a:spcPts val="0"/>
              </a:spcBef>
              <a:spcAft>
                <a:spcPts val="0"/>
              </a:spcAft>
              <a:buClrTx/>
              <a:buSzTx/>
              <a:buFontTx/>
              <a:buNone/>
              <a:tabLst/>
              <a:defRPr/>
            </a:pPr>
            <a:r>
              <a:rPr kumimoji="0" lang="en-US" sz="1200" b="0" i="0" u="none" strike="noStrike" kern="0" cap="none" normalizeH="0" baseline="0" noProof="0" dirty="0">
                <a:ln>
                  <a:noFill/>
                </a:ln>
                <a:effectLst/>
                <a:uLnTx/>
                <a:uFillTx/>
              </a:rPr>
              <a:t>SSRS/</a:t>
            </a:r>
            <a:r>
              <a:rPr lang="en-US" sz="1200" kern="0" noProof="0" dirty="0"/>
              <a:t>SSAS/AAS</a:t>
            </a:r>
            <a:r>
              <a:rPr kumimoji="0" lang="en-US" sz="1200" b="0" i="0" u="none" strike="noStrike" kern="0" cap="none" normalizeH="0" baseline="0" noProof="0" dirty="0">
                <a:ln>
                  <a:noFill/>
                </a:ln>
                <a:effectLst/>
                <a:uLnTx/>
                <a:uFillTx/>
              </a:rPr>
              <a:t> to PBI: Five simple report migration</a:t>
            </a:r>
          </a:p>
        </p:txBody>
      </p:sp>
      <p:sp>
        <p:nvSpPr>
          <p:cNvPr id="24" name="Rectangle: Rounded Corners 23">
            <a:extLst>
              <a:ext uri="{FF2B5EF4-FFF2-40B4-BE49-F238E27FC236}">
                <a16:creationId xmlns:a16="http://schemas.microsoft.com/office/drawing/2014/main" id="{A4A153DF-6640-416F-9571-646B72D2E905}"/>
              </a:ext>
            </a:extLst>
          </p:cNvPr>
          <p:cNvSpPr/>
          <p:nvPr/>
        </p:nvSpPr>
        <p:spPr>
          <a:xfrm>
            <a:off x="5610408" y="2140530"/>
            <a:ext cx="1204959" cy="283773"/>
          </a:xfrm>
          <a:prstGeom prst="roundRect">
            <a:avLst>
              <a:gd name="adj" fmla="val 50000"/>
            </a:avLst>
          </a:prstGeom>
          <a:solidFill>
            <a:srgbClr val="41B8A4"/>
          </a:solidFill>
          <a:ln>
            <a:no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i="0" u="none" strike="noStrike" kern="1200" cap="none" normalizeH="0" baseline="0" noProof="0" dirty="0">
                <a:ln>
                  <a:noFill/>
                </a:ln>
                <a:solidFill>
                  <a:schemeClr val="bg1"/>
                </a:solidFill>
                <a:effectLst/>
                <a:uLnTx/>
                <a:uFillTx/>
                <a:latin typeface="+mj-lt"/>
                <a:ea typeface="+mj-ea"/>
                <a:cs typeface="+mj-cs"/>
              </a:rPr>
              <a:t>Type A (18 days)</a:t>
            </a:r>
          </a:p>
        </p:txBody>
      </p:sp>
      <p:sp>
        <p:nvSpPr>
          <p:cNvPr id="38" name="Rectangle: Rounded Corners 37">
            <a:extLst>
              <a:ext uri="{FF2B5EF4-FFF2-40B4-BE49-F238E27FC236}">
                <a16:creationId xmlns:a16="http://schemas.microsoft.com/office/drawing/2014/main" id="{B1B54326-36E6-E291-A059-2EF2109672B2}"/>
              </a:ext>
            </a:extLst>
          </p:cNvPr>
          <p:cNvSpPr/>
          <p:nvPr/>
        </p:nvSpPr>
        <p:spPr bwMode="auto">
          <a:xfrm>
            <a:off x="3589084" y="3331833"/>
            <a:ext cx="3875585" cy="1207008"/>
          </a:xfrm>
          <a:prstGeom prst="roundRect">
            <a:avLst>
              <a:gd name="adj" fmla="val 5470"/>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39" name="Rectangle: Rounded Corners 46">
            <a:extLst>
              <a:ext uri="{FF2B5EF4-FFF2-40B4-BE49-F238E27FC236}">
                <a16:creationId xmlns:a16="http://schemas.microsoft.com/office/drawing/2014/main" id="{8DF5D147-BC04-86F0-21C1-167B60F5F3C7}"/>
              </a:ext>
            </a:extLst>
          </p:cNvPr>
          <p:cNvSpPr/>
          <p:nvPr/>
        </p:nvSpPr>
        <p:spPr bwMode="auto">
          <a:xfrm>
            <a:off x="3738516" y="3821189"/>
            <a:ext cx="3507038" cy="5847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defTabSz="914367" eaLnBrk="1" fontAlgn="auto" latinLnBrk="0" hangingPunct="1">
              <a:lnSpc>
                <a:spcPct val="100000"/>
              </a:lnSpc>
              <a:spcBef>
                <a:spcPts val="0"/>
              </a:spcBef>
              <a:spcAft>
                <a:spcPts val="0"/>
              </a:spcAft>
              <a:buClrTx/>
              <a:buSzTx/>
              <a:buFontTx/>
              <a:buNone/>
              <a:tabLst/>
              <a:defRPr/>
            </a:pPr>
            <a:r>
              <a:rPr kumimoji="0" lang="en-US" sz="1400" i="0" u="none" strike="noStrike" kern="0" cap="none" normalizeH="0" baseline="0" noProof="0" dirty="0">
                <a:ln>
                  <a:noFill/>
                </a:ln>
                <a:effectLst/>
                <a:uLnTx/>
                <a:uFillTx/>
                <a:latin typeface="+mj-lt"/>
                <a:ea typeface="+mj-ea"/>
                <a:cs typeface="+mj-cs"/>
              </a:rPr>
              <a:t>Medium(B)</a:t>
            </a:r>
          </a:p>
          <a:p>
            <a:pPr marL="0" marR="0" lvl="0" indent="0" defTabSz="914367"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effectLst/>
                <a:uLnTx/>
                <a:uFillTx/>
                <a:ea typeface="+mj-ea"/>
                <a:cs typeface="+mj-cs"/>
              </a:rPr>
              <a:t>SSRS/SSAS/AAS—PBI: Ten simple report or five medium complex report migration</a:t>
            </a:r>
          </a:p>
        </p:txBody>
      </p:sp>
      <p:sp>
        <p:nvSpPr>
          <p:cNvPr id="40" name="Rectangle: Rounded Corners 39">
            <a:extLst>
              <a:ext uri="{FF2B5EF4-FFF2-40B4-BE49-F238E27FC236}">
                <a16:creationId xmlns:a16="http://schemas.microsoft.com/office/drawing/2014/main" id="{FE3740F6-3370-7344-02C3-42BBD05ECF69}"/>
              </a:ext>
            </a:extLst>
          </p:cNvPr>
          <p:cNvSpPr/>
          <p:nvPr/>
        </p:nvSpPr>
        <p:spPr>
          <a:xfrm>
            <a:off x="3719465" y="3410240"/>
            <a:ext cx="1204959" cy="300241"/>
          </a:xfrm>
          <a:prstGeom prst="roundRect">
            <a:avLst>
              <a:gd name="adj" fmla="val 50000"/>
            </a:avLst>
          </a:prstGeom>
          <a:solidFill>
            <a:schemeClr val="tx2"/>
          </a:solidFill>
          <a:ln>
            <a:no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i="0" u="none" strike="noStrike" kern="1200" cap="none" normalizeH="0" baseline="0" noProof="0" dirty="0">
                <a:ln>
                  <a:noFill/>
                </a:ln>
                <a:solidFill>
                  <a:schemeClr val="bg1"/>
                </a:solidFill>
                <a:effectLst/>
                <a:uLnTx/>
                <a:uFillTx/>
                <a:latin typeface="+mj-lt"/>
                <a:ea typeface="+mj-ea"/>
                <a:cs typeface="+mj-cs"/>
              </a:rPr>
              <a:t>Type B (26 days)</a:t>
            </a:r>
          </a:p>
        </p:txBody>
      </p:sp>
      <p:sp>
        <p:nvSpPr>
          <p:cNvPr id="42" name="Rectangle: Rounded Corners 41">
            <a:extLst>
              <a:ext uri="{FF2B5EF4-FFF2-40B4-BE49-F238E27FC236}">
                <a16:creationId xmlns:a16="http://schemas.microsoft.com/office/drawing/2014/main" id="{271E2A40-C9B2-3235-864C-00610923FD34}"/>
              </a:ext>
            </a:extLst>
          </p:cNvPr>
          <p:cNvSpPr/>
          <p:nvPr/>
        </p:nvSpPr>
        <p:spPr bwMode="auto">
          <a:xfrm>
            <a:off x="7616137" y="3331833"/>
            <a:ext cx="3875585" cy="1207008"/>
          </a:xfrm>
          <a:prstGeom prst="roundRect">
            <a:avLst>
              <a:gd name="adj" fmla="val 5470"/>
            </a:avLst>
          </a:prstGeom>
          <a:solidFill>
            <a:schemeClr val="bg1"/>
          </a:solidFill>
          <a:ln>
            <a:noFill/>
            <a:headEnd type="none" w="med" len="med"/>
            <a:tailEnd type="none" w="med" len="med"/>
          </a:ln>
          <a:effectLst>
            <a:outerShdw blurRad="127000" algn="ctr" rotWithShape="0">
              <a:prstClr val="black">
                <a:alpha val="7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dirty="0">
              <a:solidFill>
                <a:srgbClr val="FFFFFF"/>
              </a:solidFill>
              <a:cs typeface="Segoe UI" pitchFamily="34" charset="0"/>
            </a:endParaRPr>
          </a:p>
        </p:txBody>
      </p:sp>
      <p:sp>
        <p:nvSpPr>
          <p:cNvPr id="43" name="Rectangle: Rounded Corners 46">
            <a:extLst>
              <a:ext uri="{FF2B5EF4-FFF2-40B4-BE49-F238E27FC236}">
                <a16:creationId xmlns:a16="http://schemas.microsoft.com/office/drawing/2014/main" id="{AF85326D-9BC4-5FAA-B2A2-AFA1D9E8F8CD}"/>
              </a:ext>
            </a:extLst>
          </p:cNvPr>
          <p:cNvSpPr/>
          <p:nvPr/>
        </p:nvSpPr>
        <p:spPr bwMode="auto">
          <a:xfrm>
            <a:off x="7765568" y="3821189"/>
            <a:ext cx="3614893" cy="5847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defTabSz="914367" eaLnBrk="1" fontAlgn="auto" latinLnBrk="0" hangingPunct="1">
              <a:lnSpc>
                <a:spcPct val="100000"/>
              </a:lnSpc>
              <a:spcBef>
                <a:spcPts val="0"/>
              </a:spcBef>
              <a:spcAft>
                <a:spcPts val="0"/>
              </a:spcAft>
              <a:buClrTx/>
              <a:buSzTx/>
              <a:buFontTx/>
              <a:buNone/>
              <a:tabLst/>
              <a:defRPr/>
            </a:pPr>
            <a:r>
              <a:rPr kumimoji="0" lang="en-US" sz="1400" i="0" u="none" strike="noStrike" kern="0" cap="none" normalizeH="0" baseline="0" noProof="0" dirty="0">
                <a:ln>
                  <a:noFill/>
                </a:ln>
                <a:effectLst/>
                <a:uLnTx/>
                <a:uFillTx/>
                <a:latin typeface="+mj-lt"/>
                <a:ea typeface="+mj-ea"/>
                <a:cs typeface="+mj-cs"/>
              </a:rPr>
              <a:t>High(C)</a:t>
            </a:r>
          </a:p>
          <a:p>
            <a:pPr marL="0" marR="0" lvl="0" indent="0" defTabSz="914367"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effectLst/>
                <a:uLnTx/>
                <a:uFillTx/>
                <a:ea typeface="+mj-ea"/>
                <a:cs typeface="+mj-cs"/>
              </a:rPr>
              <a:t>SSRS/SSAS/AAS—PBI: Ten Medium complex report/</a:t>
            </a:r>
            <a:br>
              <a:rPr kumimoji="0" lang="en-US" sz="1200" i="0" u="none" strike="noStrike" kern="0" cap="none" normalizeH="0" baseline="0" noProof="0" dirty="0">
                <a:ln>
                  <a:noFill/>
                </a:ln>
                <a:effectLst/>
                <a:uLnTx/>
                <a:uFillTx/>
                <a:ea typeface="+mj-ea"/>
                <a:cs typeface="+mj-cs"/>
              </a:rPr>
            </a:br>
            <a:r>
              <a:rPr kumimoji="0" lang="en-US" sz="1200" i="0" u="none" strike="noStrike" kern="0" cap="none" normalizeH="0" baseline="0" noProof="0" dirty="0">
                <a:ln>
                  <a:noFill/>
                </a:ln>
                <a:effectLst/>
                <a:uLnTx/>
                <a:uFillTx/>
                <a:ea typeface="+mj-ea"/>
                <a:cs typeface="+mj-cs"/>
              </a:rPr>
              <a:t>five High complex report migration</a:t>
            </a:r>
          </a:p>
        </p:txBody>
      </p:sp>
      <p:sp>
        <p:nvSpPr>
          <p:cNvPr id="44" name="Rectangle: Rounded Corners 43">
            <a:extLst>
              <a:ext uri="{FF2B5EF4-FFF2-40B4-BE49-F238E27FC236}">
                <a16:creationId xmlns:a16="http://schemas.microsoft.com/office/drawing/2014/main" id="{ED275B9A-83B7-AC1D-30D2-B8B56E1759C0}"/>
              </a:ext>
            </a:extLst>
          </p:cNvPr>
          <p:cNvSpPr/>
          <p:nvPr/>
        </p:nvSpPr>
        <p:spPr>
          <a:xfrm>
            <a:off x="7746518" y="3410240"/>
            <a:ext cx="1204959" cy="300241"/>
          </a:xfrm>
          <a:prstGeom prst="roundRect">
            <a:avLst>
              <a:gd name="adj" fmla="val 50000"/>
            </a:avLst>
          </a:prstGeom>
          <a:solidFill>
            <a:schemeClr val="accent2"/>
          </a:solidFill>
          <a:ln>
            <a:noFill/>
          </a:ln>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a:defRPr/>
            </a:pPr>
            <a:r>
              <a:rPr lang="en-US" sz="900" noProof="0" dirty="0">
                <a:solidFill>
                  <a:schemeClr val="bg1"/>
                </a:solidFill>
                <a:latin typeface="+mj-lt"/>
              </a:rPr>
              <a:t>Type C (32 days)</a:t>
            </a:r>
          </a:p>
        </p:txBody>
      </p:sp>
      <p:sp>
        <p:nvSpPr>
          <p:cNvPr id="46" name="TextBox 45">
            <a:extLst>
              <a:ext uri="{FF2B5EF4-FFF2-40B4-BE49-F238E27FC236}">
                <a16:creationId xmlns:a16="http://schemas.microsoft.com/office/drawing/2014/main" id="{264B6BA6-49A9-6F6B-CEF4-06915C4B48CF}"/>
              </a:ext>
            </a:extLst>
          </p:cNvPr>
          <p:cNvSpPr txBox="1"/>
          <p:nvPr/>
        </p:nvSpPr>
        <p:spPr>
          <a:xfrm>
            <a:off x="681228" y="1544779"/>
            <a:ext cx="2481072" cy="329184"/>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graphicFrame>
        <p:nvGraphicFramePr>
          <p:cNvPr id="47" name="Table 46">
            <a:extLst>
              <a:ext uri="{FF2B5EF4-FFF2-40B4-BE49-F238E27FC236}">
                <a16:creationId xmlns:a16="http://schemas.microsoft.com/office/drawing/2014/main" id="{66237EA5-7191-0CB0-F03C-974F97ABC4F1}"/>
              </a:ext>
            </a:extLst>
          </p:cNvPr>
          <p:cNvGraphicFramePr>
            <a:graphicFrameLocks noGrp="1"/>
          </p:cNvGraphicFramePr>
          <p:nvPr>
            <p:extLst>
              <p:ext uri="{D42A27DB-BD31-4B8C-83A1-F6EECF244321}">
                <p14:modId xmlns:p14="http://schemas.microsoft.com/office/powerpoint/2010/main" val="321032025"/>
              </p:ext>
            </p:extLst>
          </p:nvPr>
        </p:nvGraphicFramePr>
        <p:xfrm>
          <a:off x="587518" y="5190271"/>
          <a:ext cx="10984804" cy="1088291"/>
        </p:xfrm>
        <a:graphic>
          <a:graphicData uri="http://schemas.openxmlformats.org/drawingml/2006/table">
            <a:tbl>
              <a:tblPr firstRow="1" firstCol="1" bandRow="1">
                <a:effectLst>
                  <a:outerShdw blurRad="127000" algn="ctr" rotWithShape="0">
                    <a:srgbClr val="000000">
                      <a:alpha val="10000"/>
                    </a:srgbClr>
                  </a:outerShdw>
                </a:effectLst>
                <a:tableStyleId>{B301B821-A1FF-4177-AEE7-76D212191A09}</a:tableStyleId>
              </a:tblPr>
              <a:tblGrid>
                <a:gridCol w="993632">
                  <a:extLst>
                    <a:ext uri="{9D8B030D-6E8A-4147-A177-3AD203B41FA5}">
                      <a16:colId xmlns:a16="http://schemas.microsoft.com/office/drawing/2014/main" val="3581702336"/>
                    </a:ext>
                  </a:extLst>
                </a:gridCol>
                <a:gridCol w="2047875">
                  <a:extLst>
                    <a:ext uri="{9D8B030D-6E8A-4147-A177-3AD203B41FA5}">
                      <a16:colId xmlns:a16="http://schemas.microsoft.com/office/drawing/2014/main" val="604349641"/>
                    </a:ext>
                  </a:extLst>
                </a:gridCol>
                <a:gridCol w="1390650">
                  <a:extLst>
                    <a:ext uri="{9D8B030D-6E8A-4147-A177-3AD203B41FA5}">
                      <a16:colId xmlns:a16="http://schemas.microsoft.com/office/drawing/2014/main" val="84489538"/>
                    </a:ext>
                  </a:extLst>
                </a:gridCol>
                <a:gridCol w="1724025">
                  <a:extLst>
                    <a:ext uri="{9D8B030D-6E8A-4147-A177-3AD203B41FA5}">
                      <a16:colId xmlns:a16="http://schemas.microsoft.com/office/drawing/2014/main" val="2087614379"/>
                    </a:ext>
                  </a:extLst>
                </a:gridCol>
                <a:gridCol w="2781300">
                  <a:extLst>
                    <a:ext uri="{9D8B030D-6E8A-4147-A177-3AD203B41FA5}">
                      <a16:colId xmlns:a16="http://schemas.microsoft.com/office/drawing/2014/main" val="3589475699"/>
                    </a:ext>
                  </a:extLst>
                </a:gridCol>
                <a:gridCol w="2047322">
                  <a:extLst>
                    <a:ext uri="{9D8B030D-6E8A-4147-A177-3AD203B41FA5}">
                      <a16:colId xmlns:a16="http://schemas.microsoft.com/office/drawing/2014/main" val="2319115992"/>
                    </a:ext>
                  </a:extLst>
                </a:gridCol>
              </a:tblGrid>
              <a:tr h="278210">
                <a:tc>
                  <a:txBody>
                    <a:bodyPr/>
                    <a:lstStyle/>
                    <a:p>
                      <a:pPr algn="ctr" fontAlgn="ctr"/>
                      <a:r>
                        <a:rPr lang="en-US" sz="1100" b="0" kern="0" noProof="0" dirty="0">
                          <a:solidFill>
                            <a:schemeClr val="tx1"/>
                          </a:solidFill>
                          <a:latin typeface="+mj-lt"/>
                          <a:ea typeface="+mn-ea"/>
                          <a:cs typeface="+mn-cs"/>
                        </a:rPr>
                        <a:t>Complexity</a:t>
                      </a:r>
                    </a:p>
                  </a:txBody>
                  <a:tcPr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kern="0" noProof="0" dirty="0">
                          <a:solidFill>
                            <a:schemeClr val="tx1"/>
                          </a:solidFill>
                          <a:latin typeface="+mj-lt"/>
                          <a:ea typeface="+mn-ea"/>
                          <a:cs typeface="+mn-cs"/>
                        </a:rPr>
                        <a:t>Using RDL Migration Tool Kit</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kern="0" noProof="0" dirty="0">
                          <a:solidFill>
                            <a:srgbClr val="000000"/>
                          </a:solidFill>
                          <a:latin typeface="+mj-lt"/>
                          <a:ea typeface="+mn-ea"/>
                          <a:cs typeface="+mn-cs"/>
                        </a:rPr>
                        <a:t>Row level security</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kern="0" noProof="0" dirty="0">
                          <a:solidFill>
                            <a:schemeClr val="tx1"/>
                          </a:solidFill>
                          <a:latin typeface="+mj-lt"/>
                          <a:ea typeface="+mn-ea"/>
                          <a:cs typeface="+mn-cs"/>
                        </a:rPr>
                        <a:t>Change of data source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kern="0" noProof="0" dirty="0">
                          <a:solidFill>
                            <a:schemeClr val="tx1"/>
                          </a:solidFill>
                          <a:latin typeface="+mj-lt"/>
                          <a:ea typeface="+mn-ea"/>
                          <a:cs typeface="+mn-cs"/>
                        </a:rPr>
                        <a:t>Change of static parameters required</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100" b="0" kern="0" noProof="0" dirty="0">
                          <a:solidFill>
                            <a:schemeClr val="tx1"/>
                          </a:solidFill>
                          <a:latin typeface="+mj-lt"/>
                          <a:ea typeface="+mn-ea"/>
                          <a:cs typeface="+mn-cs"/>
                        </a:rPr>
                        <a:t>Usage of stored procedures</a:t>
                      </a:r>
                    </a:p>
                  </a:txBody>
                  <a:tcPr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8668818"/>
                  </a:ext>
                </a:extLst>
              </a:tr>
              <a:tr h="270027">
                <a:tc>
                  <a:txBody>
                    <a:bodyPr/>
                    <a:lstStyle/>
                    <a:p>
                      <a:pPr algn="ctr" fontAlgn="ctr"/>
                      <a:r>
                        <a:rPr lang="en-US" sz="1050" b="0" kern="0" noProof="0" dirty="0">
                          <a:solidFill>
                            <a:srgbClr val="000000"/>
                          </a:solidFill>
                          <a:latin typeface="+mj-lt"/>
                          <a:ea typeface="+mn-ea"/>
                          <a:cs typeface="+mn-cs"/>
                        </a:rPr>
                        <a:t>High</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Y</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Y</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6948736"/>
                  </a:ext>
                </a:extLst>
              </a:tr>
              <a:tr h="270027">
                <a:tc>
                  <a:txBody>
                    <a:bodyPr/>
                    <a:lstStyle/>
                    <a:p>
                      <a:pPr algn="ctr" fontAlgn="ctr"/>
                      <a:r>
                        <a:rPr lang="en-US" sz="1050" b="0" kern="0" noProof="0" dirty="0">
                          <a:solidFill>
                            <a:srgbClr val="000000"/>
                          </a:solidFill>
                          <a:latin typeface="+mj-lt"/>
                          <a:ea typeface="+mn-ea"/>
                          <a:cs typeface="+mn-cs"/>
                        </a:rPr>
                        <a:t>Medium</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Y</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443283"/>
                  </a:ext>
                </a:extLst>
              </a:tr>
              <a:tr h="270027">
                <a:tc>
                  <a:txBody>
                    <a:bodyPr/>
                    <a:lstStyle/>
                    <a:p>
                      <a:pPr algn="ctr" fontAlgn="ctr"/>
                      <a:r>
                        <a:rPr lang="en-US" sz="1050" b="0" kern="0" noProof="0" dirty="0">
                          <a:solidFill>
                            <a:srgbClr val="000000"/>
                          </a:solidFill>
                          <a:latin typeface="+mj-lt"/>
                          <a:ea typeface="+mn-ea"/>
                          <a:cs typeface="+mn-cs"/>
                        </a:rPr>
                        <a:t>Simple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algn="ctr"/>
                      <a:r>
                        <a:rPr lang="en-US" sz="1050" kern="0" noProof="0" dirty="0">
                          <a:solidFill>
                            <a:srgbClr val="000000"/>
                          </a:solidFill>
                          <a:latin typeface="+mn-lt"/>
                          <a:ea typeface="+mn-ea"/>
                          <a:cs typeface="+mn-cs"/>
                        </a:rPr>
                        <a:t>Y</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050" kern="0" noProof="0" dirty="0">
                          <a:solidFill>
                            <a:srgbClr val="000000"/>
                          </a:solidFill>
                          <a:latin typeface="+mn-lt"/>
                          <a:ea typeface="+mn-ea"/>
                          <a:cs typeface="+mn-cs"/>
                        </a:rPr>
                        <a:t>N</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1973746"/>
                  </a:ext>
                </a:extLst>
              </a:tr>
            </a:tbl>
          </a:graphicData>
        </a:graphic>
      </p:graphicFrame>
      <p:sp>
        <p:nvSpPr>
          <p:cNvPr id="7" name="Graphic 23">
            <a:extLst>
              <a:ext uri="{FF2B5EF4-FFF2-40B4-BE49-F238E27FC236}">
                <a16:creationId xmlns:a16="http://schemas.microsoft.com/office/drawing/2014/main" id="{3ABC9E99-63B6-104F-DBF7-2CD630FD0551}"/>
              </a:ext>
              <a:ext uri="{C183D7F6-B498-43B3-948B-1728B52AA6E4}">
                <adec:decorative xmlns:adec="http://schemas.microsoft.com/office/drawing/2017/decorative" val="1"/>
              </a:ext>
            </a:extLst>
          </p:cNvPr>
          <p:cNvSpPr/>
          <p:nvPr/>
        </p:nvSpPr>
        <p:spPr>
          <a:xfrm>
            <a:off x="838202" y="2123825"/>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9" name="Graphic 23">
            <a:extLst>
              <a:ext uri="{FF2B5EF4-FFF2-40B4-BE49-F238E27FC236}">
                <a16:creationId xmlns:a16="http://schemas.microsoft.com/office/drawing/2014/main" id="{E6F7A073-E1EC-4E65-D50D-83610C634DF4}"/>
              </a:ext>
              <a:ext uri="{C183D7F6-B498-43B3-948B-1728B52AA6E4}">
                <adec:decorative xmlns:adec="http://schemas.microsoft.com/office/drawing/2017/decorative" val="1"/>
              </a:ext>
            </a:extLst>
          </p:cNvPr>
          <p:cNvSpPr/>
          <p:nvPr/>
        </p:nvSpPr>
        <p:spPr>
          <a:xfrm>
            <a:off x="819151" y="316668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2D742543-7EAE-BED0-2861-52ED29E3F35E}"/>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Tree>
    <p:extLst>
      <p:ext uri="{BB962C8B-B14F-4D97-AF65-F5344CB8AC3E}">
        <p14:creationId xmlns:p14="http://schemas.microsoft.com/office/powerpoint/2010/main" val="522005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fill="hold" grpId="1" nodeType="withEffect">
                                  <p:stCondLst>
                                    <p:cond delay="0"/>
                                  </p:stCondLst>
                                  <p:childTnLst>
                                    <p:animScale>
                                      <p:cBhvr>
                                        <p:cTn id="9" dur="100" fill="hold"/>
                                        <p:tgtEl>
                                          <p:spTgt spid="3"/>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3"/>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1C3C1-EDC5-FF0A-BD98-A3759008F6B1}"/>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CAD3D3A9-ABC1-CA1E-515F-0ADB1A18768D}"/>
              </a:ext>
              <a:ext uri="{C183D7F6-B498-43B3-948B-1728B52AA6E4}">
                <adec:decorative xmlns:adec="http://schemas.microsoft.com/office/drawing/2017/decorative" val="1"/>
              </a:ext>
            </a:extLst>
          </p:cNvPr>
          <p:cNvSpPr/>
          <p:nvPr/>
        </p:nvSpPr>
        <p:spPr bwMode="auto">
          <a:xfrm>
            <a:off x="-19938" y="0"/>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5A6702CD-D655-7F8F-9C6E-894FAA2A7407}"/>
              </a:ext>
              <a:ext uri="{C183D7F6-B498-43B3-948B-1728B52AA6E4}">
                <adec:decorative xmlns:adec="http://schemas.microsoft.com/office/drawing/2017/decorative" val="1"/>
              </a:ext>
            </a:extLst>
          </p:cNvPr>
          <p:cNvCxnSpPr>
            <a:cxnSpLocks/>
          </p:cNvCxnSpPr>
          <p:nvPr/>
        </p:nvCxnSpPr>
        <p:spPr>
          <a:xfrm>
            <a:off x="588263" y="3724250"/>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F126C55B-906F-BE29-98C2-C6E6F2542268}"/>
              </a:ext>
            </a:extLst>
          </p:cNvPr>
          <p:cNvSpPr>
            <a:spLocks/>
          </p:cNvSpPr>
          <p:nvPr/>
        </p:nvSpPr>
        <p:spPr>
          <a:xfrm>
            <a:off x="472429" y="4083094"/>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F0E21EA6-4ABF-E146-5A1E-B160F6D23BAD}"/>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2EB285AC-FA32-47E6-94E6-E316CF4F9C4C}"/>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98272241-F51E-A902-EC6E-41902F3F82AD}"/>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1BDABEE7-BDAA-4F30-A3E5-07C1CC16B655}"/>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69A19579-EFD3-F536-A34C-7BFE845ACC06}"/>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798E6FA6-08A6-960F-5122-3EFED53A1551}"/>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A880A040-F83B-4019-B05B-CDBCC2A6583F}"/>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4CBAE074-9BAB-CB0D-56F3-8C30D16D6A8D}"/>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FBD2387F-2F80-6F80-5056-9CAF68EACF90}"/>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CD8AECB0-A5D4-3826-12EB-1E82F87E971B}"/>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E62074AA-0710-E4F5-6FE2-F54023F208A4}"/>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51F5EAB9-A99D-6493-1FC5-4749BE8DB1A3}"/>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9A330B69-41BD-52DA-3F3B-DD7E869A30E6}"/>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C33E8966-8943-F367-8DF8-8985CA8CC48A}"/>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971EA35C-6536-B17E-B9B2-AC40FCC168B0}"/>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F85B1E68-C66A-0558-DE19-A586B18DCE34}"/>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832306B5-70AE-8C9D-11B2-355509EF6365}"/>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09478D85-1838-31C7-7F4D-B2AE4059AA49}"/>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E0C078A4-2120-133C-6DD1-0B8B4721C801}"/>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49222FC9-DA67-266C-2606-0FD0C5F6BF42}"/>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B8F91229-1494-3E8D-E03E-2B108E2DAA2A}"/>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1E8BB1B7-8243-5DBF-8916-39ACF0420F0E}"/>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6A519B5E-05AE-5520-19D0-2817CAFFCB71}"/>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B4D6D592-155A-9D32-363B-D290B738DAB2}"/>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C34887D2-E3D2-9BD8-79B5-5CBF1F6CB700}"/>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1569DDE9-EF8A-91C8-54DE-BD5EE131FC11}"/>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84DC4163-13D2-707D-FECB-A1D4461D4923}"/>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CE553D5A-E6D5-8C4A-2681-AA0C4D24B659}"/>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072DA673-C7E8-4827-4A71-78AF15214927}"/>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2369971F-3E56-9495-366E-75F0AACC858F}"/>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27A70CCA-B1B3-FC94-93DF-B988159E25F0}"/>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1973EC26-1E3E-FC1A-CD3A-64C647609EB1}"/>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2" name="TextBox 131">
            <a:extLst>
              <a:ext uri="{FF2B5EF4-FFF2-40B4-BE49-F238E27FC236}">
                <a16:creationId xmlns:a16="http://schemas.microsoft.com/office/drawing/2014/main" id="{F523ECC3-A88B-0E13-7169-63930D573E6F}"/>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B6E8C0E7-25C3-DF7F-7632-27FC9960C043}"/>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08221EFA-8520-203D-A6F8-A693972AB6B9}"/>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443F19F3-55F5-A5C5-A59A-DC98171E66CA}"/>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7" name="TextBox 136">
            <a:extLst>
              <a:ext uri="{FF2B5EF4-FFF2-40B4-BE49-F238E27FC236}">
                <a16:creationId xmlns:a16="http://schemas.microsoft.com/office/drawing/2014/main" id="{CF2F2F5C-F5D5-02C8-C7F5-404364AF23C4}"/>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AA6140AE-2C97-DD14-16C6-F2BA754CFC1C}"/>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5A5F2936-9C4C-125C-87C2-9A1BC2C71627}"/>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78AFC323-4170-3022-8EB3-DC2D00083CDD}"/>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0871D9EE-B5ED-921C-EA1B-E61B08FC571F}"/>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A76F128F-9B82-DB40-4FD1-41FC97AB8437}"/>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012DD3ED-7C9A-F65A-0FF2-3F9E3863E710}"/>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9863F260-A9E0-9214-F9B8-7F26CE047935}"/>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51C541A6-70DB-7651-FDCF-605E51413D25}"/>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8C3F4576-CDF2-7AEF-95ED-9284DABDBFB7}"/>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F3E3FA74-318E-0A5F-0476-7A47CFD6F3F4}"/>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45AEEC39-70BA-0CEF-6011-F23793589F9E}"/>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8BAF2AE5-170A-5E4E-3B2F-C8C0D2C0C97F}"/>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7CBAB2B1-F15F-1F69-F9B5-4932A9E3FA08}"/>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452131EE-C6B3-99A8-BA54-993477ED101D}"/>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E8EA6388-62A8-2336-5D16-5365E128D80D}"/>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8" name="Oval 7">
            <a:extLst>
              <a:ext uri="{FF2B5EF4-FFF2-40B4-BE49-F238E27FC236}">
                <a16:creationId xmlns:a16="http://schemas.microsoft.com/office/drawing/2014/main" id="{D79588DF-8EB2-4251-B007-DD9962EA388A}"/>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0B37BE03-A697-158F-CAEB-6EF3C5C183BC}"/>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D2BA1CDA-BD7F-B416-BCCA-EBDB22EB8859}"/>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73EF0BFE-D8E8-2CC7-8292-C9B19A981885}"/>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0A21B349-972D-4259-B985-4C4399192DBE}"/>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6B8D7B21-6F84-2FBF-E6A9-5D850770CFC4}"/>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8451F622-A4DC-8C83-99F3-768B1FCF56C1}"/>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A735F0FA-2CB8-BED4-8B2C-44CEAEFD22EE}"/>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549A8CD7-F4F2-3969-CB1E-501BD6F7CEFB}"/>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5" name="TextBox 4">
            <a:extLst>
              <a:ext uri="{FF2B5EF4-FFF2-40B4-BE49-F238E27FC236}">
                <a16:creationId xmlns:a16="http://schemas.microsoft.com/office/drawing/2014/main" id="{6D009BFF-4F8B-71F0-003D-0C251C0E4C80}"/>
              </a:ext>
            </a:extLst>
          </p:cNvPr>
          <p:cNvSpPr txBox="1"/>
          <p:nvPr/>
        </p:nvSpPr>
        <p:spPr>
          <a:xfrm>
            <a:off x="9233457" y="229195"/>
            <a:ext cx="239244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Supported Workload</a:t>
            </a:r>
          </a:p>
        </p:txBody>
      </p:sp>
      <p:sp>
        <p:nvSpPr>
          <p:cNvPr id="15" name="Title 61">
            <a:extLst>
              <a:ext uri="{FF2B5EF4-FFF2-40B4-BE49-F238E27FC236}">
                <a16:creationId xmlns:a16="http://schemas.microsoft.com/office/drawing/2014/main" id="{6D758BCA-A616-3509-846C-9FBA3D3E5C40}"/>
              </a:ext>
            </a:extLst>
          </p:cNvPr>
          <p:cNvSpPr txBox="1">
            <a:spLocks noGrp="1"/>
          </p:cNvSpPr>
          <p:nvPr>
            <p:ph type="title"/>
          </p:nvPr>
        </p:nvSpPr>
        <p:spPr>
          <a:xfrm>
            <a:off x="588263" y="457200"/>
            <a:ext cx="2929530" cy="1938992"/>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Analytics</a:t>
            </a:r>
            <a:br>
              <a:rPr lang="en-US" sz="3000" noProof="0" dirty="0">
                <a:solidFill>
                  <a:schemeClr val="bg1"/>
                </a:solidFill>
              </a:rPr>
            </a:br>
            <a:r>
              <a:rPr lang="en-US" sz="3000" noProof="0" dirty="0">
                <a:solidFill>
                  <a:schemeClr val="bg1"/>
                </a:solidFill>
                <a:latin typeface="+mn-lt"/>
              </a:rPr>
              <a:t>Power BI Migration</a:t>
            </a:r>
          </a:p>
        </p:txBody>
      </p:sp>
      <p:sp>
        <p:nvSpPr>
          <p:cNvPr id="19" name="TextBox 18">
            <a:extLst>
              <a:ext uri="{FF2B5EF4-FFF2-40B4-BE49-F238E27FC236}">
                <a16:creationId xmlns:a16="http://schemas.microsoft.com/office/drawing/2014/main" id="{F9818EF3-6513-62B9-5F4E-366CFC012C43}"/>
              </a:ext>
            </a:extLst>
          </p:cNvPr>
          <p:cNvSpPr txBox="1"/>
          <p:nvPr/>
        </p:nvSpPr>
        <p:spPr>
          <a:xfrm>
            <a:off x="9178347" y="5396351"/>
            <a:ext cx="1078821"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algn="l">
              <a:defRPr/>
            </a:pPr>
            <a:r>
              <a:rPr lang="en-US" sz="1000" noProof="0" dirty="0"/>
              <a:t>Power BI migration</a:t>
            </a:r>
          </a:p>
        </p:txBody>
      </p:sp>
      <p:sp>
        <p:nvSpPr>
          <p:cNvPr id="23" name="TextBox 22">
            <a:extLst>
              <a:ext uri="{FF2B5EF4-FFF2-40B4-BE49-F238E27FC236}">
                <a16:creationId xmlns:a16="http://schemas.microsoft.com/office/drawing/2014/main" id="{909B71E5-9810-6626-4A1A-D03F62450FFC}"/>
              </a:ext>
              <a:ext uri="{C183D7F6-B498-43B3-948B-1728B52AA6E4}">
                <adec:decorative xmlns:adec="http://schemas.microsoft.com/office/drawing/2017/decorative" val="1"/>
              </a:ext>
            </a:extLst>
          </p:cNvPr>
          <p:cNvSpPr txBox="1"/>
          <p:nvPr/>
        </p:nvSpPr>
        <p:spPr>
          <a:xfrm>
            <a:off x="7883272" y="5240136"/>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lgn="l">
              <a:defRPr/>
            </a:pPr>
            <a:r>
              <a:rPr lang="en-US" sz="1000" noProof="0" dirty="0"/>
              <a:t>Dev-test-deploy</a:t>
            </a:r>
          </a:p>
          <a:p>
            <a:pPr lvl="0" algn="l">
              <a:defRPr/>
            </a:pPr>
            <a:r>
              <a:rPr lang="en-US" sz="1000" noProof="0" dirty="0"/>
              <a:t>scoped workloads</a:t>
            </a:r>
          </a:p>
        </p:txBody>
      </p:sp>
      <p:sp>
        <p:nvSpPr>
          <p:cNvPr id="25" name="TextBox 24">
            <a:extLst>
              <a:ext uri="{FF2B5EF4-FFF2-40B4-BE49-F238E27FC236}">
                <a16:creationId xmlns:a16="http://schemas.microsoft.com/office/drawing/2014/main" id="{36C3A32D-AF13-B6C1-9417-4D5ABBAE50B6}"/>
              </a:ext>
            </a:extLst>
          </p:cNvPr>
          <p:cNvSpPr txBox="1"/>
          <p:nvPr/>
        </p:nvSpPr>
        <p:spPr>
          <a:xfrm>
            <a:off x="4676582" y="2842453"/>
            <a:ext cx="1454762" cy="307777"/>
          </a:xfrm>
          <a:prstGeom prst="rect">
            <a:avLst/>
          </a:prstGeom>
          <a:noFill/>
        </p:spPr>
        <p:txBody>
          <a:bodyPr wrap="squar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lvl="0">
              <a:defRPr/>
            </a:pPr>
            <a:r>
              <a:rPr lang="en-US" sz="1000" noProof="0" dirty="0"/>
              <a:t>Scope of </a:t>
            </a:r>
            <a:br>
              <a:rPr lang="en-US" sz="1000" noProof="0" dirty="0"/>
            </a:br>
            <a:r>
              <a:rPr lang="en-US" sz="1000" noProof="0" dirty="0"/>
              <a:t>Power BI for migration</a:t>
            </a:r>
          </a:p>
        </p:txBody>
      </p:sp>
    </p:spTree>
    <p:extLst>
      <p:ext uri="{BB962C8B-B14F-4D97-AF65-F5344CB8AC3E}">
        <p14:creationId xmlns:p14="http://schemas.microsoft.com/office/powerpoint/2010/main" val="354585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6" presetClass="emph" presetSubtype="0" fill="hold" grpId="1" nodeType="withEffect">
                                  <p:stCondLst>
                                    <p:cond delay="0"/>
                                  </p:stCondLst>
                                  <p:childTnLst>
                                    <p:animScale>
                                      <p:cBhvr>
                                        <p:cTn id="9" dur="100" fill="hold"/>
                                        <p:tgtEl>
                                          <p:spTgt spid="5"/>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5"/>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4D37E-9F50-895F-E85B-A492967DF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12C0F-A196-5A2D-8B2B-113B9583CBAB}"/>
              </a:ext>
            </a:extLst>
          </p:cNvPr>
          <p:cNvSpPr>
            <a:spLocks noGrp="1"/>
          </p:cNvSpPr>
          <p:nvPr>
            <p:ph type="title"/>
          </p:nvPr>
        </p:nvSpPr>
        <p:spPr>
          <a:xfrm>
            <a:off x="585216" y="2300715"/>
            <a:ext cx="9144000" cy="1231106"/>
          </a:xfrm>
        </p:spPr>
        <p:txBody>
          <a:bodyPr/>
          <a:lstStyle/>
          <a:p>
            <a:r>
              <a:rPr lang="en-US" noProof="0" dirty="0">
                <a:cs typeface="Segoe Sans Text" pitchFamily="2" charset="0"/>
              </a:rPr>
              <a:t>Cloud Accelerate Factory </a:t>
            </a:r>
            <a:br>
              <a:rPr lang="en-US" noProof="0" dirty="0">
                <a:cs typeface="Segoe Sans Text" pitchFamily="2" charset="0"/>
              </a:rPr>
            </a:br>
            <a:r>
              <a:rPr lang="en-US" noProof="0" dirty="0">
                <a:solidFill>
                  <a:schemeClr val="tx1"/>
                </a:solidFill>
                <a:cs typeface="Segoe Sans Text" pitchFamily="2" charset="0"/>
              </a:rPr>
              <a:t>Infrastructure &amp; Database Migration </a:t>
            </a:r>
          </a:p>
        </p:txBody>
      </p:sp>
      <p:sp>
        <p:nvSpPr>
          <p:cNvPr id="11" name="TextBox 10">
            <a:extLst>
              <a:ext uri="{FF2B5EF4-FFF2-40B4-BE49-F238E27FC236}">
                <a16:creationId xmlns:a16="http://schemas.microsoft.com/office/drawing/2014/main" id="{A0D0A4B1-68DA-5D86-444A-90437829D9AD}"/>
              </a:ext>
            </a:extLst>
          </p:cNvPr>
          <p:cNvSpPr txBox="1"/>
          <p:nvPr/>
        </p:nvSpPr>
        <p:spPr>
          <a:xfrm>
            <a:off x="585216" y="4349917"/>
            <a:ext cx="2648857"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lgn="ctr">
              <a:defRPr sz="1200">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b="1" noProof="0" dirty="0"/>
              <a:t>Small SMB Segment</a:t>
            </a:r>
          </a:p>
        </p:txBody>
      </p:sp>
      <p:sp>
        <p:nvSpPr>
          <p:cNvPr id="4" name="Image 10" descr="Home (outlined)">
            <a:hlinkClick r:id="rId2" action="ppaction://hlinksldjump" tooltip="Home"/>
            <a:extLst>
              <a:ext uri="{FF2B5EF4-FFF2-40B4-BE49-F238E27FC236}">
                <a16:creationId xmlns:a16="http://schemas.microsoft.com/office/drawing/2014/main" id="{DCD27CEE-B33F-42C1-DEAE-84ACDC5DC073}"/>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221752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6" presetClass="emph" presetSubtype="0" fill="hold" grpId="1" nodeType="withEffect">
                                  <p:stCondLst>
                                    <p:cond delay="0"/>
                                  </p:stCondLst>
                                  <p:childTnLst>
                                    <p:animScale>
                                      <p:cBhvr>
                                        <p:cTn id="9" dur="100" fill="hold"/>
                                        <p:tgtEl>
                                          <p:spTgt spid="11"/>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1"/>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78575-A7D2-AD50-A06D-D0400C9B2352}"/>
            </a:ext>
          </a:extLst>
        </p:cNvPr>
        <p:cNvGrpSpPr/>
        <p:nvPr/>
      </p:nvGrpSpPr>
      <p:grpSpPr>
        <a:xfrm>
          <a:off x="0" y="0"/>
          <a:ext cx="0" cy="0"/>
          <a:chOff x="0" y="0"/>
          <a:chExt cx="0" cy="0"/>
        </a:xfrm>
      </p:grpSpPr>
      <p:sp>
        <p:nvSpPr>
          <p:cNvPr id="4" name="Title 31">
            <a:extLst>
              <a:ext uri="{FF2B5EF4-FFF2-40B4-BE49-F238E27FC236}">
                <a16:creationId xmlns:a16="http://schemas.microsoft.com/office/drawing/2014/main" id="{355C1312-AA08-C1A7-D47F-0E449C379133}"/>
              </a:ext>
            </a:extLst>
          </p:cNvPr>
          <p:cNvSpPr txBox="1">
            <a:spLocks/>
          </p:cNvSpPr>
          <p:nvPr/>
        </p:nvSpPr>
        <p:spPr>
          <a:xfrm>
            <a:off x="514720" y="799983"/>
            <a:ext cx="7910436" cy="430887"/>
          </a:xfrm>
          <a:prstGeom prst="rect">
            <a:avLst/>
          </a:prstGeom>
        </p:spPr>
        <p:txBody>
          <a:bodyPr vert="horz" wrap="square" lIns="0" tIns="0" rIns="0" bIns="0" rtlCol="0" anchor="t">
            <a:spAutoFit/>
          </a:bodyPr>
          <a:lstStyle>
            <a:lvl1pPr defTabSz="932742">
              <a:lnSpc>
                <a:spcPct val="100000"/>
              </a:lnSpc>
              <a:spcBef>
                <a:spcPct val="0"/>
              </a:spcBef>
              <a:buNone/>
              <a:defRPr lang="en-US" sz="2800" b="0" cap="none" spc="-50" baseline="0" dirty="0" smtClean="0">
                <a:ln w="3175">
                  <a:noFill/>
                </a:ln>
                <a:solidFill>
                  <a:schemeClr val="tx2"/>
                </a:solidFill>
                <a:effectLst/>
                <a:latin typeface="+mj-lt"/>
                <a:cs typeface="Segoe Sans Text" pitchFamily="2" charset="0"/>
              </a:defRPr>
            </a:lvl1pPr>
          </a:lstStyle>
          <a:p>
            <a:r>
              <a:rPr lang="en-US" noProof="0" dirty="0"/>
              <a:t>Supported scenarios for SMB exclusive Customers</a:t>
            </a:r>
          </a:p>
        </p:txBody>
      </p:sp>
      <p:sp>
        <p:nvSpPr>
          <p:cNvPr id="20" name="Rectangle: Rounded Corners 2">
            <a:extLst>
              <a:ext uri="{FF2B5EF4-FFF2-40B4-BE49-F238E27FC236}">
                <a16:creationId xmlns:a16="http://schemas.microsoft.com/office/drawing/2014/main" id="{C1B94806-7CE3-CD41-A494-AB2E8BCAE4F4}"/>
              </a:ext>
              <a:ext uri="{C183D7F6-B498-43B3-948B-1728B52AA6E4}">
                <adec:decorative xmlns:adec="http://schemas.microsoft.com/office/drawing/2017/decorative" val="0"/>
              </a:ext>
            </a:extLst>
          </p:cNvPr>
          <p:cNvSpPr/>
          <p:nvPr/>
        </p:nvSpPr>
        <p:spPr bwMode="auto">
          <a:xfrm>
            <a:off x="578434" y="1250883"/>
            <a:ext cx="3486350" cy="3383280"/>
          </a:xfrm>
          <a:prstGeom prst="roundRect">
            <a:avLst>
              <a:gd name="adj" fmla="val 312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900" noProof="0" dirty="0">
              <a:ln w="3175">
                <a:noFill/>
              </a:ln>
              <a:latin typeface="Segoe UI Variable Display Semibold" pitchFamily="2" charset="0"/>
              <a:cs typeface="Segoe UI" pitchFamily="34" charset="0"/>
            </a:endParaRPr>
          </a:p>
        </p:txBody>
      </p:sp>
      <p:sp>
        <p:nvSpPr>
          <p:cNvPr id="21" name="TextBox 20">
            <a:extLst>
              <a:ext uri="{FF2B5EF4-FFF2-40B4-BE49-F238E27FC236}">
                <a16:creationId xmlns:a16="http://schemas.microsoft.com/office/drawing/2014/main" id="{0E169DB2-FAA1-527C-53B0-B0A06C1F31FE}"/>
              </a:ext>
            </a:extLst>
          </p:cNvPr>
          <p:cNvSpPr txBox="1"/>
          <p:nvPr/>
        </p:nvSpPr>
        <p:spPr>
          <a:xfrm>
            <a:off x="670862" y="1584943"/>
            <a:ext cx="3301494" cy="44114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Azure Arc for Win and SQL</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w="3175">
                  <a:noFill/>
                </a:ln>
                <a:effectLst/>
                <a:uLnTx/>
                <a:uFillTx/>
              </a:rPr>
              <a:t>Automated Scripts for Arc Enabled deployment (Windows &amp; SQL Server)</a:t>
            </a:r>
          </a:p>
        </p:txBody>
      </p:sp>
      <p:sp>
        <p:nvSpPr>
          <p:cNvPr id="22" name="TextBox 21">
            <a:extLst>
              <a:ext uri="{FF2B5EF4-FFF2-40B4-BE49-F238E27FC236}">
                <a16:creationId xmlns:a16="http://schemas.microsoft.com/office/drawing/2014/main" id="{71195BBF-8425-A8DD-6699-0DBF2D214638}"/>
              </a:ext>
            </a:extLst>
          </p:cNvPr>
          <p:cNvSpPr txBox="1"/>
          <p:nvPr/>
        </p:nvSpPr>
        <p:spPr>
          <a:xfrm>
            <a:off x="670862" y="2438592"/>
            <a:ext cx="3301494" cy="60529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Server Rehost to Azure Native</a:t>
            </a:r>
            <a:r>
              <a:rPr kumimoji="0" lang="en-US" sz="900" b="0" i="0" u="none" strike="noStrike" kern="1200" cap="none" normalizeH="0" baseline="0" noProof="0" dirty="0">
                <a:ln>
                  <a:noFill/>
                </a:ln>
                <a:solidFill>
                  <a:schemeClr val="tx2"/>
                </a:solidFill>
                <a:effectLst/>
                <a:uLnTx/>
                <a:uFillTx/>
              </a:rPr>
              <a:t> </a:t>
            </a:r>
            <a:r>
              <a:rPr kumimoji="0" lang="en-US" sz="900" b="0" i="0" u="none" strike="noStrike" kern="1200" cap="none" normalizeH="0" baseline="0" noProof="0" dirty="0">
                <a:ln>
                  <a:noFill/>
                </a:ln>
                <a:effectLst/>
                <a:uLnTx/>
                <a:uFillTx/>
              </a:rPr>
              <a:t>(choose multiple)</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VMware/Hyper-V (agentless) | Physical/HCI VMs (agent based) | AWS, GCP (agent based)</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Landing Zone: New Standard Deployment | Validation</a:t>
            </a:r>
            <a:endParaRPr kumimoji="0" lang="en-US" sz="900" b="1" i="0" u="none" strike="noStrike" kern="1200" cap="none" normalizeH="0" baseline="0" noProof="0" dirty="0">
              <a:ln>
                <a:noFill/>
              </a:ln>
              <a:effectLst/>
              <a:uLnTx/>
              <a:uFillTx/>
            </a:endParaRPr>
          </a:p>
        </p:txBody>
      </p:sp>
      <p:sp>
        <p:nvSpPr>
          <p:cNvPr id="26" name="TextBox 25">
            <a:extLst>
              <a:ext uri="{FF2B5EF4-FFF2-40B4-BE49-F238E27FC236}">
                <a16:creationId xmlns:a16="http://schemas.microsoft.com/office/drawing/2014/main" id="{3BBF09B9-D3F8-7827-C928-5A1AD0522B71}"/>
              </a:ext>
            </a:extLst>
          </p:cNvPr>
          <p:cNvSpPr txBox="1"/>
          <p:nvPr/>
        </p:nvSpPr>
        <p:spPr>
          <a:xfrm>
            <a:off x="670862" y="3436311"/>
            <a:ext cx="3301494" cy="1072088"/>
          </a:xfrm>
          <a:prstGeom prst="rect">
            <a:avLst/>
          </a:prstGeom>
          <a:noFill/>
        </p:spPr>
        <p:txBody>
          <a:bodyPr wrap="square" lIns="0" tIns="0" rIns="0" bIns="0">
            <a:spAutoFit/>
          </a:bodyPr>
          <a:lstStyle/>
          <a:p>
            <a:pPr marL="0" marR="0" lvl="0" indent="-282575" algn="l" defTabSz="914400" rtl="0" eaLnBrk="1" fontAlgn="auto" latinLnBrk="0" hangingPunct="1">
              <a:lnSpc>
                <a:spcPct val="100000"/>
              </a:lnSpc>
              <a:spcAft>
                <a:spcPts val="200"/>
              </a:spcAft>
              <a:buClrTx/>
              <a:buSzTx/>
              <a:buFontTx/>
              <a:buNone/>
              <a:tabLst/>
              <a:defRPr/>
            </a:pPr>
            <a:r>
              <a:rPr kumimoji="0" lang="en-US" sz="900" i="0" u="none" strike="noStrike" kern="1200" cap="none" normalizeH="0" baseline="0" noProof="0" dirty="0">
                <a:ln>
                  <a:noFill/>
                </a:ln>
                <a:solidFill>
                  <a:schemeClr val="tx2"/>
                </a:solidFill>
                <a:effectLst/>
                <a:uLnTx/>
                <a:uFillTx/>
                <a:latin typeface="+mj-lt"/>
                <a:ea typeface="+mj-ea"/>
                <a:cs typeface="+mj-cs"/>
              </a:rPr>
              <a:t>Additional Infra services for Migration on Small Customers (avg less than 15 servers): </a:t>
            </a:r>
          </a:p>
          <a:p>
            <a:pPr marL="196850" marR="0" lvl="1"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Single Domain Controller: Extending On-Prem to Cloud</a:t>
            </a:r>
          </a:p>
          <a:p>
            <a:pPr marL="196850" marR="0" lvl="1"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Network services: Azure FW, App Gateway, VPN gateway, NSG</a:t>
            </a:r>
          </a:p>
          <a:p>
            <a:pPr marL="196850" marR="0" lvl="1"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File server | Print Server Migration As-Is</a:t>
            </a:r>
          </a:p>
          <a:p>
            <a:pPr marL="196850" marR="0" lvl="1"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VPN server to VPN gateway migration (P2S)</a:t>
            </a:r>
          </a:p>
        </p:txBody>
      </p:sp>
      <p:cxnSp>
        <p:nvCxnSpPr>
          <p:cNvPr id="27" name="Straight Connector 26">
            <a:extLst>
              <a:ext uri="{FF2B5EF4-FFF2-40B4-BE49-F238E27FC236}">
                <a16:creationId xmlns:a16="http://schemas.microsoft.com/office/drawing/2014/main" id="{3822F1BB-47AB-0222-0F82-14F714BF7543}"/>
              </a:ext>
            </a:extLst>
          </p:cNvPr>
          <p:cNvCxnSpPr>
            <a:cxnSpLocks/>
          </p:cNvCxnSpPr>
          <p:nvPr/>
        </p:nvCxnSpPr>
        <p:spPr>
          <a:xfrm>
            <a:off x="656174" y="2084727"/>
            <a:ext cx="331618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F3752A2-44B7-B9F2-5DC1-59F60E185FA0}"/>
              </a:ext>
            </a:extLst>
          </p:cNvPr>
          <p:cNvCxnSpPr>
            <a:cxnSpLocks/>
          </p:cNvCxnSpPr>
          <p:nvPr/>
        </p:nvCxnSpPr>
        <p:spPr>
          <a:xfrm>
            <a:off x="656174" y="3076876"/>
            <a:ext cx="3316182" cy="557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Rectangle: Rounded Corners 2">
            <a:extLst>
              <a:ext uri="{FF2B5EF4-FFF2-40B4-BE49-F238E27FC236}">
                <a16:creationId xmlns:a16="http://schemas.microsoft.com/office/drawing/2014/main" id="{3D09C371-727C-2B8A-80C0-0903920FDA43}"/>
              </a:ext>
              <a:ext uri="{C183D7F6-B498-43B3-948B-1728B52AA6E4}">
                <adec:decorative xmlns:adec="http://schemas.microsoft.com/office/drawing/2017/decorative" val="0"/>
              </a:ext>
            </a:extLst>
          </p:cNvPr>
          <p:cNvSpPr/>
          <p:nvPr/>
        </p:nvSpPr>
        <p:spPr bwMode="auto">
          <a:xfrm>
            <a:off x="4190042" y="1266348"/>
            <a:ext cx="4425372" cy="3383280"/>
          </a:xfrm>
          <a:prstGeom prst="roundRect">
            <a:avLst>
              <a:gd name="adj" fmla="val 312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900" b="1" noProof="0" dirty="0">
              <a:ln w="3175">
                <a:noFill/>
              </a:ln>
              <a:latin typeface="Segoe UI Variable Display Semibold" pitchFamily="2" charset="0"/>
              <a:cs typeface="Segoe UI" pitchFamily="34" charset="0"/>
            </a:endParaRPr>
          </a:p>
        </p:txBody>
      </p:sp>
      <p:sp>
        <p:nvSpPr>
          <p:cNvPr id="36" name="TextBox 35">
            <a:extLst>
              <a:ext uri="{FF2B5EF4-FFF2-40B4-BE49-F238E27FC236}">
                <a16:creationId xmlns:a16="http://schemas.microsoft.com/office/drawing/2014/main" id="{08BCEE39-93BD-DE9A-F553-F0938582CA35}"/>
              </a:ext>
            </a:extLst>
          </p:cNvPr>
          <p:cNvSpPr txBox="1"/>
          <p:nvPr/>
        </p:nvSpPr>
        <p:spPr>
          <a:xfrm>
            <a:off x="4267781" y="1597673"/>
            <a:ext cx="2011680" cy="71814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Support for Database Re-Platform </a:t>
            </a:r>
            <a:endParaRPr kumimoji="0" lang="en-US" sz="900" b="0" i="0" u="none" strike="noStrike" kern="1200" cap="none" normalizeH="0" baseline="0" noProof="0" dirty="0">
              <a:ln>
                <a:noFill/>
              </a:ln>
              <a:solidFill>
                <a:schemeClr val="tx2"/>
              </a:solidFill>
              <a:effectLst/>
              <a:uLnTx/>
              <a:uFillTx/>
              <a:latin typeface="+mj-lt"/>
            </a:endParaRPr>
          </a:p>
          <a:p>
            <a:pPr marL="0" marR="0" lvl="0" indent="0" algn="l" defTabSz="914400" rtl="0" eaLnBrk="1" fontAlgn="auto" latinLnBrk="0" hangingPunct="1">
              <a:lnSpc>
                <a:spcPct val="100000"/>
              </a:lnSpc>
              <a:spcAft>
                <a:spcPts val="200"/>
              </a:spcAft>
              <a:buClrTx/>
              <a:buSzTx/>
              <a:buFontTx/>
              <a:buNone/>
              <a:tabLst/>
              <a:defRPr/>
            </a:pPr>
            <a:r>
              <a:rPr kumimoji="0" lang="en-US" sz="900" b="0" i="0" u="none" strike="noStrike" kern="1200" cap="none" normalizeH="0" baseline="0" noProof="0" dirty="0">
                <a:ln>
                  <a:noFill/>
                </a:ln>
                <a:effectLst/>
                <a:uLnTx/>
                <a:uFillTx/>
              </a:rPr>
              <a:t>(Modernize SQL, OSS &amp; NoSQL DB to PaaS | Heterogeneous DB Migration – Oracle/Sybase to SQL &amp; Oracle to PostgreSQL</a:t>
            </a:r>
          </a:p>
        </p:txBody>
      </p:sp>
      <p:sp>
        <p:nvSpPr>
          <p:cNvPr id="38" name="TextBox 37">
            <a:extLst>
              <a:ext uri="{FF2B5EF4-FFF2-40B4-BE49-F238E27FC236}">
                <a16:creationId xmlns:a16="http://schemas.microsoft.com/office/drawing/2014/main" id="{725F8520-3486-9B62-C727-5BCC61DB9E55}"/>
              </a:ext>
            </a:extLst>
          </p:cNvPr>
          <p:cNvSpPr txBox="1"/>
          <p:nvPr/>
        </p:nvSpPr>
        <p:spPr>
          <a:xfrm>
            <a:off x="4267782" y="3954804"/>
            <a:ext cx="2011680" cy="46679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Security</a:t>
            </a:r>
            <a:r>
              <a:rPr kumimoji="0" lang="en-US" sz="900" i="0" strike="noStrike" kern="1200" cap="none" normalizeH="0" baseline="0" noProof="0" dirty="0">
                <a:ln>
                  <a:noFill/>
                </a:ln>
                <a:effectLst/>
                <a:uLnTx/>
                <a:uFillTx/>
                <a:latin typeface="+mj-lt"/>
                <a:ea typeface="+mj-ea"/>
                <a:cs typeface="+mj-cs"/>
              </a:rPr>
              <a:t> </a:t>
            </a:r>
            <a:r>
              <a:rPr kumimoji="0" lang="en-US" sz="900" b="0" i="0" u="none" strike="noStrike" kern="1200" cap="none" normalizeH="0" baseline="0" noProof="0" dirty="0">
                <a:ln>
                  <a:noFill/>
                </a:ln>
                <a:effectLst/>
                <a:uLnTx/>
                <a:uFillTx/>
              </a:rPr>
              <a:t>(choose multiple)</a:t>
            </a:r>
            <a:endParaRPr kumimoji="0" lang="en-US" sz="900" i="0" u="sng" strike="noStrike" kern="1200" cap="none" normalizeH="0" baseline="0" noProof="0" dirty="0">
              <a:ln>
                <a:noFill/>
              </a:ln>
              <a:effectLst/>
              <a:uLnTx/>
              <a:uFillTx/>
            </a:endParaRP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Advanced Defender CSPM plan</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Defender for Cloud for CWP</a:t>
            </a:r>
          </a:p>
        </p:txBody>
      </p:sp>
      <p:sp>
        <p:nvSpPr>
          <p:cNvPr id="53" name="TextBox 52">
            <a:extLst>
              <a:ext uri="{FF2B5EF4-FFF2-40B4-BE49-F238E27FC236}">
                <a16:creationId xmlns:a16="http://schemas.microsoft.com/office/drawing/2014/main" id="{89563D07-2D46-A5CB-76A9-9B045B22B47B}"/>
              </a:ext>
            </a:extLst>
          </p:cNvPr>
          <p:cNvSpPr txBox="1"/>
          <p:nvPr/>
        </p:nvSpPr>
        <p:spPr>
          <a:xfrm>
            <a:off x="4267782" y="2889090"/>
            <a:ext cx="2011680" cy="63094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AVD</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RDS to AVD</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Citrix VDI to AVD</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New Standard AVD deployment</a:t>
            </a:r>
          </a:p>
        </p:txBody>
      </p:sp>
      <p:cxnSp>
        <p:nvCxnSpPr>
          <p:cNvPr id="67" name="Straight Connector 66">
            <a:extLst>
              <a:ext uri="{FF2B5EF4-FFF2-40B4-BE49-F238E27FC236}">
                <a16:creationId xmlns:a16="http://schemas.microsoft.com/office/drawing/2014/main" id="{DFA22E45-2692-3EF2-08FE-21B94F173E0A}"/>
              </a:ext>
            </a:extLst>
          </p:cNvPr>
          <p:cNvCxnSpPr>
            <a:cxnSpLocks/>
          </p:cNvCxnSpPr>
          <p:nvPr/>
        </p:nvCxnSpPr>
        <p:spPr>
          <a:xfrm>
            <a:off x="6402728" y="1326323"/>
            <a:ext cx="0" cy="3263331"/>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14282BF-989C-B565-5DA3-5D562821AD95}"/>
              </a:ext>
            </a:extLst>
          </p:cNvPr>
          <p:cNvSpPr txBox="1"/>
          <p:nvPr/>
        </p:nvSpPr>
        <p:spPr>
          <a:xfrm>
            <a:off x="6480468" y="1597673"/>
            <a:ext cx="2011680" cy="630942"/>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Aft>
                <a:spcPts val="200"/>
              </a:spcAft>
              <a:buClrTx/>
              <a:buSzTx/>
              <a:buFontTx/>
              <a:buNone/>
              <a:tabLst/>
              <a:defRPr/>
            </a:pPr>
            <a:r>
              <a:rPr kumimoji="0" lang="en-US" sz="900" i="0" u="sng" strike="noStrike" kern="0" cap="none" normalizeH="0" baseline="0" noProof="0" dirty="0">
                <a:ln>
                  <a:noFill/>
                </a:ln>
                <a:solidFill>
                  <a:schemeClr val="tx2"/>
                </a:solidFill>
                <a:effectLst/>
                <a:uLnTx/>
                <a:uFillTx/>
                <a:latin typeface="+mj-lt"/>
                <a:ea typeface="+mj-ea"/>
                <a:cs typeface="+mj-cs"/>
              </a:rPr>
              <a:t>Deploy Analytics</a:t>
            </a:r>
          </a:p>
          <a:p>
            <a:pPr marL="196850" marR="0" lvl="0" indent="-120650" algn="l" defTabSz="932472" rtl="0" eaLnBrk="1" fontAlgn="base"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Migrate DW to Lakehouse</a:t>
            </a:r>
          </a:p>
          <a:p>
            <a:pPr marL="196850" marR="0" lvl="0" indent="-120650" algn="l" defTabSz="932472" rtl="0" eaLnBrk="1" fontAlgn="base"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Migrate SSRS/SSAS to Power BI</a:t>
            </a:r>
          </a:p>
          <a:p>
            <a:pPr marL="196850" marR="0" lvl="0" indent="-120650" algn="l" defTabSz="932472" rtl="0" eaLnBrk="1" fontAlgn="base"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Real time intelligence</a:t>
            </a:r>
          </a:p>
        </p:txBody>
      </p:sp>
      <p:cxnSp>
        <p:nvCxnSpPr>
          <p:cNvPr id="73" name="Straight Connector 72">
            <a:extLst>
              <a:ext uri="{FF2B5EF4-FFF2-40B4-BE49-F238E27FC236}">
                <a16:creationId xmlns:a16="http://schemas.microsoft.com/office/drawing/2014/main" id="{4264101B-DFD8-B903-0EF3-A246AE148A03}"/>
              </a:ext>
            </a:extLst>
          </p:cNvPr>
          <p:cNvCxnSpPr>
            <a:cxnSpLocks/>
          </p:cNvCxnSpPr>
          <p:nvPr/>
        </p:nvCxnSpPr>
        <p:spPr>
          <a:xfrm>
            <a:off x="4267781" y="2538282"/>
            <a:ext cx="2057203"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BF9241A-8D86-2304-52F2-D5F36057B4CC}"/>
              </a:ext>
            </a:extLst>
          </p:cNvPr>
          <p:cNvCxnSpPr>
            <a:cxnSpLocks/>
          </p:cNvCxnSpPr>
          <p:nvPr/>
        </p:nvCxnSpPr>
        <p:spPr>
          <a:xfrm>
            <a:off x="4267781" y="3603996"/>
            <a:ext cx="2057203"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7421B7F-4B4E-1826-9242-5FBAA44DD068}"/>
              </a:ext>
            </a:extLst>
          </p:cNvPr>
          <p:cNvCxnSpPr>
            <a:cxnSpLocks/>
          </p:cNvCxnSpPr>
          <p:nvPr/>
        </p:nvCxnSpPr>
        <p:spPr>
          <a:xfrm>
            <a:off x="6480467" y="2538282"/>
            <a:ext cx="205719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F040544-7C7E-1BF7-1639-F026058BA663}"/>
              </a:ext>
            </a:extLst>
          </p:cNvPr>
          <p:cNvCxnSpPr>
            <a:cxnSpLocks/>
          </p:cNvCxnSpPr>
          <p:nvPr/>
        </p:nvCxnSpPr>
        <p:spPr>
          <a:xfrm>
            <a:off x="6480467" y="3603996"/>
            <a:ext cx="2057199"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8990B19-B6B2-7A12-31E2-8E23D5D11947}"/>
              </a:ext>
            </a:extLst>
          </p:cNvPr>
          <p:cNvSpPr txBox="1"/>
          <p:nvPr/>
        </p:nvSpPr>
        <p:spPr>
          <a:xfrm>
            <a:off x="6480468" y="2889090"/>
            <a:ext cx="2011680" cy="579646"/>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Aft>
                <a:spcPts val="200"/>
              </a:spcAft>
              <a:buClrTx/>
              <a:buSzTx/>
              <a:buFontTx/>
              <a:buNone/>
              <a:tabLst/>
              <a:defRPr/>
            </a:pPr>
            <a:r>
              <a:rPr kumimoji="0" lang="en-US" sz="900" i="0" u="sng" strike="noStrike" kern="0" cap="none" normalizeH="0" baseline="0" noProof="0" dirty="0">
                <a:ln>
                  <a:noFill/>
                </a:ln>
                <a:solidFill>
                  <a:schemeClr val="tx2"/>
                </a:solidFill>
                <a:effectLst/>
                <a:uLnTx/>
                <a:uFillTx/>
                <a:latin typeface="+mj-lt"/>
                <a:ea typeface="+mj-ea"/>
                <a:cs typeface="+mj-cs"/>
              </a:rPr>
              <a:t>App Modernization</a:t>
            </a:r>
          </a:p>
          <a:p>
            <a:pPr marL="196850" marR="0" lvl="0" indent="-120650" algn="l" defTabSz="932472" rtl="0" eaLnBrk="1" fontAlgn="base" latinLnBrk="0" hangingPunct="1">
              <a:lnSpc>
                <a:spcPct val="100000"/>
              </a:lnSpc>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Replatform, Refactor .NET/Java Apps to PaaS (App Service/AKS/</a:t>
            </a:r>
            <a:r>
              <a:rPr lang="en-US" sz="900" noProof="0" dirty="0"/>
              <a:t> </a:t>
            </a:r>
            <a:r>
              <a:rPr kumimoji="0" lang="en-US" sz="900" b="0" i="0" u="none" strike="noStrike" kern="1200" cap="none" normalizeH="0" baseline="0" noProof="0" dirty="0">
                <a:ln>
                  <a:noFill/>
                </a:ln>
                <a:effectLst/>
                <a:uLnTx/>
                <a:uFillTx/>
              </a:rPr>
              <a:t>ACA) with AI Agents</a:t>
            </a:r>
          </a:p>
        </p:txBody>
      </p:sp>
      <p:sp>
        <p:nvSpPr>
          <p:cNvPr id="84" name="TextBox 83">
            <a:extLst>
              <a:ext uri="{FF2B5EF4-FFF2-40B4-BE49-F238E27FC236}">
                <a16:creationId xmlns:a16="http://schemas.microsoft.com/office/drawing/2014/main" id="{1769876B-36E2-3489-98FE-9467068D59A8}"/>
              </a:ext>
            </a:extLst>
          </p:cNvPr>
          <p:cNvSpPr txBox="1"/>
          <p:nvPr/>
        </p:nvSpPr>
        <p:spPr>
          <a:xfrm>
            <a:off x="6480468" y="3954804"/>
            <a:ext cx="2011680" cy="60529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Jumpstart AOAI</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b="0" i="0" u="none" strike="noStrike" kern="0" cap="none" normalizeH="0" baseline="0" noProof="0" dirty="0">
                <a:ln>
                  <a:noFill/>
                </a:ln>
                <a:effectLst/>
                <a:uLnTx/>
                <a:uFillTx/>
              </a:rPr>
              <a:t>Proof of Concept to deliver a working MVP</a:t>
            </a:r>
          </a:p>
          <a:p>
            <a:pPr marL="196850" marR="0" lvl="0" indent="-120650" algn="l" defTabSz="914400" rtl="0" eaLnBrk="1" fontAlgn="auto" latinLnBrk="0" hangingPunct="1">
              <a:lnSpc>
                <a:spcPct val="100000"/>
              </a:lnSpc>
              <a:spcAft>
                <a:spcPts val="200"/>
              </a:spcAft>
              <a:buClrTx/>
              <a:buSzTx/>
              <a:buFont typeface="Arial" panose="020B0604020202020204" pitchFamily="34" charset="0"/>
              <a:buChar char="•"/>
              <a:tabLst/>
              <a:defRPr/>
            </a:pPr>
            <a:r>
              <a:rPr kumimoji="0" lang="en-US" sz="900" i="0" u="none" strike="noStrike" kern="0" cap="none" normalizeH="0" baseline="0" noProof="0" dirty="0">
                <a:ln>
                  <a:noFill/>
                </a:ln>
                <a:effectLst/>
                <a:uLnTx/>
                <a:uFillTx/>
                <a:latin typeface="+mj-lt"/>
                <a:ea typeface="+mj-ea"/>
                <a:cs typeface="+mj-cs"/>
              </a:rPr>
              <a:t>GitHub Migrations</a:t>
            </a:r>
          </a:p>
        </p:txBody>
      </p:sp>
      <p:cxnSp>
        <p:nvCxnSpPr>
          <p:cNvPr id="85" name="Straight Connector 84">
            <a:extLst>
              <a:ext uri="{FF2B5EF4-FFF2-40B4-BE49-F238E27FC236}">
                <a16:creationId xmlns:a16="http://schemas.microsoft.com/office/drawing/2014/main" id="{FD83D82E-2CCA-0C63-F9F8-31C77EE68EC9}"/>
              </a:ext>
            </a:extLst>
          </p:cNvPr>
          <p:cNvCxnSpPr>
            <a:cxnSpLocks/>
          </p:cNvCxnSpPr>
          <p:nvPr/>
        </p:nvCxnSpPr>
        <p:spPr>
          <a:xfrm>
            <a:off x="4267782" y="4649628"/>
            <a:ext cx="1920240" cy="0"/>
          </a:xfrm>
          <a:prstGeom prst="line">
            <a:avLst/>
          </a:prstGeom>
          <a:ln>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503FA1F-CDA3-9177-FD20-1ED5F0EFB93E}"/>
              </a:ext>
            </a:extLst>
          </p:cNvPr>
          <p:cNvCxnSpPr>
            <a:cxnSpLocks/>
          </p:cNvCxnSpPr>
          <p:nvPr/>
        </p:nvCxnSpPr>
        <p:spPr>
          <a:xfrm>
            <a:off x="4593820" y="4644058"/>
            <a:ext cx="3200266" cy="5570"/>
          </a:xfrm>
          <a:prstGeom prst="line">
            <a:avLst/>
          </a:prstGeom>
          <a:ln>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D119CE9E-2F16-D6C1-31DC-140CD28C05D3}"/>
              </a:ext>
            </a:extLst>
          </p:cNvPr>
          <p:cNvSpPr txBox="1"/>
          <p:nvPr/>
        </p:nvSpPr>
        <p:spPr>
          <a:xfrm>
            <a:off x="8908712" y="1614244"/>
            <a:ext cx="2660904" cy="564436"/>
          </a:xfrm>
          <a:prstGeom prst="roundRect">
            <a:avLst>
              <a:gd name="adj" fmla="val 9797"/>
            </a:avLst>
          </a:prstGeom>
          <a:solidFill>
            <a:schemeClr val="bg1"/>
          </a:solidFill>
          <a:effectLst>
            <a:outerShdw blurRad="127000" algn="ctr" rotWithShape="0">
              <a:srgbClr val="000000">
                <a:alpha val="10000"/>
              </a:srgbClr>
            </a:outerShdw>
          </a:effectLst>
        </p:spPr>
        <p:txBody>
          <a:bodyPr wrap="square" lIns="45720" tIns="45720" rIns="45720" bIns="45720">
            <a:spAutoFit/>
          </a:bodyPr>
          <a:lstStyle/>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900" i="0" u="none" strike="noStrike" kern="0" cap="none" normalizeH="0" baseline="0" noProof="0" dirty="0">
                <a:ln>
                  <a:noFill/>
                </a:ln>
                <a:effectLst/>
                <a:uLnTx/>
                <a:uFillTx/>
                <a:latin typeface="+mj-lt"/>
                <a:ea typeface="+mj-ea"/>
                <a:cs typeface="+mj-cs"/>
              </a:rPr>
              <a:t>Oracle Databases@Azure</a:t>
            </a:r>
          </a:p>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900" b="0" i="0" u="none" strike="noStrike" kern="1200" cap="none" normalizeH="0" baseline="0" noProof="0" dirty="0">
                <a:ln>
                  <a:noFill/>
                </a:ln>
                <a:effectLst/>
                <a:uLnTx/>
                <a:uFillTx/>
              </a:rPr>
              <a:t>Migrate of on-prem Oracle Exadata system to Exadata service </a:t>
            </a:r>
          </a:p>
        </p:txBody>
      </p:sp>
      <p:sp>
        <p:nvSpPr>
          <p:cNvPr id="90" name="TextBox 89">
            <a:extLst>
              <a:ext uri="{FF2B5EF4-FFF2-40B4-BE49-F238E27FC236}">
                <a16:creationId xmlns:a16="http://schemas.microsoft.com/office/drawing/2014/main" id="{1CAB39BB-6F03-D4C9-B882-963946FAD298}"/>
              </a:ext>
            </a:extLst>
          </p:cNvPr>
          <p:cNvSpPr txBox="1"/>
          <p:nvPr/>
        </p:nvSpPr>
        <p:spPr>
          <a:xfrm>
            <a:off x="8908712" y="1335463"/>
            <a:ext cx="1237518"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normalizeH="0" baseline="0" noProof="0" dirty="0">
                <a:ln>
                  <a:noFill/>
                </a:ln>
                <a:solidFill>
                  <a:schemeClr val="tx2"/>
                </a:solidFill>
                <a:effectLst/>
                <a:uLnTx/>
                <a:uFillTx/>
                <a:latin typeface="+mj-lt"/>
                <a:ea typeface="+mj-ea"/>
                <a:cs typeface="+mj-cs"/>
              </a:rPr>
              <a:t>New Additions ….</a:t>
            </a:r>
          </a:p>
        </p:txBody>
      </p:sp>
      <p:sp>
        <p:nvSpPr>
          <p:cNvPr id="92" name="TextBox 91">
            <a:extLst>
              <a:ext uri="{FF2B5EF4-FFF2-40B4-BE49-F238E27FC236}">
                <a16:creationId xmlns:a16="http://schemas.microsoft.com/office/drawing/2014/main" id="{D030FB85-12BF-F71A-69D9-D1A88A9E2535}"/>
              </a:ext>
            </a:extLst>
          </p:cNvPr>
          <p:cNvSpPr txBox="1"/>
          <p:nvPr/>
        </p:nvSpPr>
        <p:spPr>
          <a:xfrm>
            <a:off x="8801048" y="4210234"/>
            <a:ext cx="2876232" cy="2044700"/>
          </a:xfrm>
          <a:prstGeom prst="roundRect">
            <a:avLst>
              <a:gd name="adj" fmla="val 42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2000" b="1">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sz="900" noProof="0" dirty="0">
              <a:solidFill>
                <a:schemeClr val="tx1"/>
              </a:solidFill>
            </a:endParaRPr>
          </a:p>
        </p:txBody>
      </p:sp>
      <p:sp>
        <p:nvSpPr>
          <p:cNvPr id="94" name="TextBox 93">
            <a:extLst>
              <a:ext uri="{FF2B5EF4-FFF2-40B4-BE49-F238E27FC236}">
                <a16:creationId xmlns:a16="http://schemas.microsoft.com/office/drawing/2014/main" id="{4ED1A9F9-F078-1C0D-04B5-51631C7B177D}"/>
              </a:ext>
            </a:extLst>
          </p:cNvPr>
          <p:cNvSpPr txBox="1"/>
          <p:nvPr/>
        </p:nvSpPr>
        <p:spPr>
          <a:xfrm>
            <a:off x="8908712" y="2265697"/>
            <a:ext cx="2660904" cy="564436"/>
          </a:xfrm>
          <a:prstGeom prst="roundRect">
            <a:avLst>
              <a:gd name="adj" fmla="val 9797"/>
            </a:avLst>
          </a:prstGeom>
          <a:solidFill>
            <a:schemeClr val="bg1"/>
          </a:solidFill>
          <a:effectLst>
            <a:outerShdw blurRad="127000" algn="ctr" rotWithShape="0">
              <a:srgbClr val="000000">
                <a:alpha val="10000"/>
              </a:srgbClr>
            </a:outerShdw>
          </a:effectLst>
        </p:spPr>
        <p:txBody>
          <a:bodyPr wrap="square" lIns="45720" tIns="45720" rIns="45720" bIns="45720">
            <a:spAutoFit/>
          </a:bodyPr>
          <a:lstStyle/>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900" i="0" u="none" strike="noStrike" kern="0" cap="none" normalizeH="0" baseline="0" noProof="0" dirty="0">
                <a:ln>
                  <a:noFill/>
                </a:ln>
                <a:effectLst/>
                <a:uLnTx/>
                <a:uFillTx/>
                <a:latin typeface="+mj-lt"/>
                <a:ea typeface="+mj-ea"/>
                <a:cs typeface="+mj-cs"/>
              </a:rPr>
              <a:t>SAP – RISE/Grow</a:t>
            </a:r>
          </a:p>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900" b="0" i="0" u="none" strike="noStrike" kern="1200" cap="none" normalizeH="0" baseline="0" noProof="0" dirty="0">
                <a:ln>
                  <a:noFill/>
                </a:ln>
                <a:effectLst/>
                <a:uLnTx/>
                <a:uFillTx/>
              </a:rPr>
              <a:t>Well Architected assessment and Platform health checks</a:t>
            </a:r>
          </a:p>
        </p:txBody>
      </p:sp>
      <p:sp>
        <p:nvSpPr>
          <p:cNvPr id="96" name="TextBox 95">
            <a:extLst>
              <a:ext uri="{FF2B5EF4-FFF2-40B4-BE49-F238E27FC236}">
                <a16:creationId xmlns:a16="http://schemas.microsoft.com/office/drawing/2014/main" id="{75C295AE-33DD-5391-577B-C5C556CD5139}"/>
              </a:ext>
            </a:extLst>
          </p:cNvPr>
          <p:cNvSpPr txBox="1"/>
          <p:nvPr/>
        </p:nvSpPr>
        <p:spPr>
          <a:xfrm>
            <a:off x="8908712" y="2917150"/>
            <a:ext cx="2660904" cy="411065"/>
          </a:xfrm>
          <a:prstGeom prst="roundRect">
            <a:avLst>
              <a:gd name="adj" fmla="val 9797"/>
            </a:avLst>
          </a:prstGeom>
          <a:solidFill>
            <a:schemeClr val="bg1"/>
          </a:solidFill>
          <a:effectLst>
            <a:outerShdw blurRad="127000" algn="ctr" rotWithShape="0">
              <a:srgbClr val="000000">
                <a:alpha val="10000"/>
              </a:srgbClr>
            </a:outerShdw>
          </a:effectLst>
        </p:spPr>
        <p:txBody>
          <a:bodyPr wrap="square" lIns="45720" tIns="45720" rIns="45720" bIns="45720">
            <a:noAutofit/>
          </a:bodyPr>
          <a:lstStyle/>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900" i="0" u="none" strike="noStrike" kern="0" cap="none" normalizeH="0" baseline="0" noProof="0" dirty="0">
                <a:ln>
                  <a:noFill/>
                </a:ln>
                <a:effectLst/>
                <a:uLnTx/>
                <a:uFillTx/>
                <a:latin typeface="+mj-lt"/>
                <a:ea typeface="+mj-ea"/>
                <a:cs typeface="+mj-cs"/>
              </a:rPr>
              <a:t>Resiliency </a:t>
            </a:r>
          </a:p>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900" b="0" i="0" u="none" strike="noStrike" kern="1200" cap="none" normalizeH="0" baseline="0" noProof="0" dirty="0">
                <a:ln>
                  <a:noFill/>
                </a:ln>
                <a:effectLst/>
                <a:uLnTx/>
                <a:uFillTx/>
              </a:rPr>
              <a:t>Enable zone redundancy for selected workloads </a:t>
            </a:r>
          </a:p>
        </p:txBody>
      </p:sp>
      <p:sp>
        <p:nvSpPr>
          <p:cNvPr id="98" name="TextBox 97">
            <a:extLst>
              <a:ext uri="{FF2B5EF4-FFF2-40B4-BE49-F238E27FC236}">
                <a16:creationId xmlns:a16="http://schemas.microsoft.com/office/drawing/2014/main" id="{F4461044-1AE3-7CE1-74D1-727B995DAC13}"/>
              </a:ext>
            </a:extLst>
          </p:cNvPr>
          <p:cNvSpPr txBox="1"/>
          <p:nvPr/>
        </p:nvSpPr>
        <p:spPr>
          <a:xfrm>
            <a:off x="8908712" y="3415232"/>
            <a:ext cx="2660904" cy="584910"/>
          </a:xfrm>
          <a:prstGeom prst="roundRect">
            <a:avLst>
              <a:gd name="adj" fmla="val 9797"/>
            </a:avLst>
          </a:prstGeom>
          <a:solidFill>
            <a:schemeClr val="bg1"/>
          </a:solidFill>
          <a:effectLst>
            <a:outerShdw blurRad="127000" algn="ctr" rotWithShape="0">
              <a:srgbClr val="000000">
                <a:alpha val="10000"/>
              </a:srgbClr>
            </a:outerShdw>
          </a:effectLst>
        </p:spPr>
        <p:txBody>
          <a:bodyPr wrap="square" lIns="45720" tIns="45720" rIns="45720" bIns="45720">
            <a:noAutofit/>
          </a:bodyPr>
          <a:lstStyle/>
          <a:p>
            <a:pPr marL="0" marR="0" lvl="0" indent="0" algn="l" defTabSz="932472" rtl="0" eaLnBrk="1" fontAlgn="base" latinLnBrk="0" hangingPunct="1">
              <a:lnSpc>
                <a:spcPct val="100000"/>
              </a:lnSpc>
              <a:spcBef>
                <a:spcPct val="0"/>
              </a:spcBef>
              <a:spcAft>
                <a:spcPts val="200"/>
              </a:spcAft>
              <a:buClrTx/>
              <a:buSzTx/>
              <a:buFontTx/>
              <a:buNone/>
              <a:tabLst/>
              <a:defRPr/>
            </a:pPr>
            <a:r>
              <a:rPr kumimoji="0" lang="en-US" sz="900" i="0" u="none" strike="noStrike" kern="0" cap="none" normalizeH="0" baseline="0" noProof="0" dirty="0">
                <a:ln>
                  <a:noFill/>
                </a:ln>
                <a:effectLst/>
                <a:uLnTx/>
                <a:uFillTx/>
                <a:latin typeface="+mj-lt"/>
                <a:ea typeface="+mj-ea"/>
                <a:cs typeface="+mj-cs"/>
              </a:rPr>
              <a:t>Agent Development</a:t>
            </a:r>
          </a:p>
          <a:p>
            <a:pPr marL="193675" marR="0" lvl="0" indent="-123825" algn="l" defTabSz="932472"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Microsoft Foundry (pro code)</a:t>
            </a:r>
          </a:p>
          <a:p>
            <a:pPr marL="193675" marR="0" lvl="0" indent="-123825" algn="l" defTabSz="932472"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Copilot Studio (low code)</a:t>
            </a:r>
          </a:p>
        </p:txBody>
      </p:sp>
      <p:sp>
        <p:nvSpPr>
          <p:cNvPr id="100" name="Rectangle: Rounded Corners 2">
            <a:extLst>
              <a:ext uri="{FF2B5EF4-FFF2-40B4-BE49-F238E27FC236}">
                <a16:creationId xmlns:a16="http://schemas.microsoft.com/office/drawing/2014/main" id="{8EAC7BF0-277E-FD23-0854-335FBF11074F}"/>
              </a:ext>
              <a:ext uri="{C183D7F6-B498-43B3-948B-1728B52AA6E4}">
                <adec:decorative xmlns:adec="http://schemas.microsoft.com/office/drawing/2017/decorative" val="0"/>
              </a:ext>
            </a:extLst>
          </p:cNvPr>
          <p:cNvSpPr/>
          <p:nvPr/>
        </p:nvSpPr>
        <p:spPr bwMode="auto">
          <a:xfrm>
            <a:off x="8801048" y="1216063"/>
            <a:ext cx="2876232" cy="2871097"/>
          </a:xfrm>
          <a:prstGeom prst="roundRect">
            <a:avLst>
              <a:gd name="adj" fmla="val 312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900" b="1" noProof="0" dirty="0">
              <a:ln w="3175">
                <a:noFill/>
              </a:ln>
              <a:latin typeface="Segoe UI Variable Display Semibold" pitchFamily="2" charset="0"/>
              <a:cs typeface="Segoe UI" pitchFamily="34" charset="0"/>
            </a:endParaRPr>
          </a:p>
        </p:txBody>
      </p:sp>
      <p:sp>
        <p:nvSpPr>
          <p:cNvPr id="102" name="TextBox 101">
            <a:extLst>
              <a:ext uri="{FF2B5EF4-FFF2-40B4-BE49-F238E27FC236}">
                <a16:creationId xmlns:a16="http://schemas.microsoft.com/office/drawing/2014/main" id="{447C756C-DE87-8E94-C6A9-931C0C601723}"/>
              </a:ext>
            </a:extLst>
          </p:cNvPr>
          <p:cNvSpPr txBox="1"/>
          <p:nvPr/>
        </p:nvSpPr>
        <p:spPr>
          <a:xfrm>
            <a:off x="8909097" y="4320407"/>
            <a:ext cx="2660134" cy="1616596"/>
          </a:xfrm>
          <a:prstGeom prst="rect">
            <a:avLst/>
          </a:prstGeom>
          <a:noFill/>
          <a:ln>
            <a:noFill/>
          </a:ln>
          <a:effectLst>
            <a:outerShdw blurRad="127000" dist="38100" dir="2700000" algn="tl" rotWithShape="0">
              <a:prstClr val="black">
                <a:alpha val="20000"/>
              </a:prstClr>
            </a:outerShdw>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en-US"/>
            </a:defPPr>
            <a:lvl1pPr marR="0" lvl="0" indent="0" algn="ctr" fontAlgn="auto">
              <a:lnSpc>
                <a:spcPct val="90000"/>
              </a:lnSpc>
              <a:spcBef>
                <a:spcPts val="0"/>
              </a:spcBef>
              <a:spcAft>
                <a:spcPts val="0"/>
              </a:spcAft>
              <a:buClrTx/>
              <a:buSzTx/>
              <a:buFontTx/>
              <a:buNone/>
              <a:tabLst/>
              <a:defRPr kumimoji="0" b="0" i="0" u="none" strike="noStrike" cap="none" spc="0" normalizeH="0" baseline="0">
                <a:ln>
                  <a:noFill/>
                </a:ln>
                <a:solidFill>
                  <a:srgbClr val="0078D4"/>
                </a:solidFill>
                <a:effectLst/>
                <a:uLnTx/>
                <a:uFillTx/>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900" i="0" u="none" strike="noStrike" kern="1200" cap="none" normalizeH="0" baseline="0" noProof="0" dirty="0">
                <a:ln>
                  <a:noFill/>
                </a:ln>
                <a:solidFill>
                  <a:schemeClr val="tx2"/>
                </a:solidFill>
                <a:uLnTx/>
                <a:uFillTx/>
                <a:latin typeface="+mj-lt"/>
                <a:ea typeface="+mj-ea"/>
                <a:cs typeface="+mj-cs"/>
              </a:rPr>
              <a:t>Not within Factory Scope: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900" b="0" i="0" u="none" strike="noStrike" kern="1200" cap="none" normalizeH="0" baseline="0" noProof="0" dirty="0">
                <a:ln>
                  <a:noFill/>
                </a:ln>
                <a:solidFill>
                  <a:schemeClr val="tx1"/>
                </a:solidFill>
                <a:uLnTx/>
                <a:uFillTx/>
                <a:latin typeface="+mn-lt"/>
              </a:rPr>
              <a:t>Migrations: SAP | Solaris | AIX | Amazon Linux | HPC/Azure Stack HCI/Azure Local | SharePoint/Exchange/Biztalk | Azure to Azure | File Server to Blob Storage | Cross-DB | Domain Controllers | Oracle DB or OCI | AVS: Network extension config | AVD: Horizon | Arc: Linux | Analytics: Tableau to PBI | AI: Copilot</a:t>
            </a:r>
          </a:p>
        </p:txBody>
      </p:sp>
      <p:sp>
        <p:nvSpPr>
          <p:cNvPr id="103" name="Rectangle: Rounded Corners 70">
            <a:extLst>
              <a:ext uri="{FF2B5EF4-FFF2-40B4-BE49-F238E27FC236}">
                <a16:creationId xmlns:a16="http://schemas.microsoft.com/office/drawing/2014/main" id="{E72CD6D4-6C38-1423-BB81-96D7E977A1D7}"/>
              </a:ext>
            </a:extLst>
          </p:cNvPr>
          <p:cNvSpPr>
            <a:spLocks/>
          </p:cNvSpPr>
          <p:nvPr/>
        </p:nvSpPr>
        <p:spPr bwMode="auto">
          <a:xfrm>
            <a:off x="578434" y="4882818"/>
            <a:ext cx="8046720" cy="1553761"/>
          </a:xfrm>
          <a:prstGeom prst="roundRect">
            <a:avLst>
              <a:gd name="adj" fmla="val 6594"/>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900" b="1" noProof="0" dirty="0">
              <a:ln w="3175">
                <a:noFill/>
              </a:ln>
              <a:latin typeface="Segoe UI Variable Display Semibold" pitchFamily="2" charset="0"/>
              <a:cs typeface="Segoe UI" pitchFamily="34" charset="0"/>
            </a:endParaRPr>
          </a:p>
        </p:txBody>
      </p:sp>
      <p:sp>
        <p:nvSpPr>
          <p:cNvPr id="104" name="TextBox 103">
            <a:extLst>
              <a:ext uri="{FF2B5EF4-FFF2-40B4-BE49-F238E27FC236}">
                <a16:creationId xmlns:a16="http://schemas.microsoft.com/office/drawing/2014/main" id="{354C8205-B809-1D88-4791-6B01F0E1A5AA}"/>
              </a:ext>
            </a:extLst>
          </p:cNvPr>
          <p:cNvSpPr txBox="1"/>
          <p:nvPr/>
        </p:nvSpPr>
        <p:spPr>
          <a:xfrm>
            <a:off x="688256" y="4985026"/>
            <a:ext cx="2633593" cy="184666"/>
          </a:xfrm>
          <a:prstGeom prst="rect">
            <a:avLst/>
          </a:prstGeom>
          <a:noFill/>
        </p:spPr>
        <p:txBody>
          <a:bodyPr wrap="square" lIns="0" tIns="0" rIns="0" bIns="0">
            <a:spAutoFit/>
          </a:bodyPr>
          <a:lstStyle/>
          <a:p>
            <a:pPr marL="0" marR="0" lvl="0" indent="0" algn="l" defTabSz="932563" rtl="0" eaLnBrk="1" fontAlgn="auto" latinLnBrk="0" hangingPunct="1">
              <a:lnSpc>
                <a:spcPct val="100000"/>
              </a:lnSpc>
              <a:spcBef>
                <a:spcPct val="0"/>
              </a:spcBef>
              <a:spcAft>
                <a:spcPts val="0"/>
              </a:spcAft>
              <a:buClrTx/>
              <a:buSzTx/>
              <a:buFontTx/>
              <a:buNone/>
              <a:tabLst/>
              <a:defRPr/>
            </a:pPr>
            <a:r>
              <a:rPr kumimoji="0" lang="en-US" sz="1200" i="0" u="none" strike="noStrike" kern="1200" cap="none" normalizeH="0" baseline="0" noProof="0" dirty="0">
                <a:ln w="3175">
                  <a:noFill/>
                </a:ln>
                <a:solidFill>
                  <a:schemeClr val="tx2"/>
                </a:solidFill>
                <a:effectLst/>
                <a:uLnTx/>
                <a:uFillTx/>
                <a:latin typeface="+mj-lt"/>
                <a:ea typeface="+mj-ea"/>
                <a:cs typeface="+mj-cs"/>
              </a:rPr>
              <a:t>Localized coverage:</a:t>
            </a:r>
          </a:p>
        </p:txBody>
      </p:sp>
      <p:sp>
        <p:nvSpPr>
          <p:cNvPr id="105" name="TextBox 104">
            <a:extLst>
              <a:ext uri="{FF2B5EF4-FFF2-40B4-BE49-F238E27FC236}">
                <a16:creationId xmlns:a16="http://schemas.microsoft.com/office/drawing/2014/main" id="{4314BD66-42C5-2D7B-D0BF-0E3D207320C4}"/>
              </a:ext>
            </a:extLst>
          </p:cNvPr>
          <p:cNvSpPr txBox="1"/>
          <p:nvPr/>
        </p:nvSpPr>
        <p:spPr>
          <a:xfrm>
            <a:off x="3856074" y="4985026"/>
            <a:ext cx="2516158" cy="184666"/>
          </a:xfrm>
          <a:prstGeom prst="rect">
            <a:avLst/>
          </a:prstGeom>
          <a:noFill/>
        </p:spPr>
        <p:txBody>
          <a:bodyPr wrap="square" lIns="0" tIns="0" rIns="0" bIns="0">
            <a:spAutoFit/>
          </a:bodyPr>
          <a:lstStyle/>
          <a:p>
            <a:pPr marL="0" marR="0" lvl="0" indent="0" algn="l" defTabSz="932563" rtl="0" eaLnBrk="1" fontAlgn="auto" latinLnBrk="0" hangingPunct="1">
              <a:lnSpc>
                <a:spcPct val="100000"/>
              </a:lnSpc>
              <a:spcBef>
                <a:spcPct val="0"/>
              </a:spcBef>
              <a:spcAft>
                <a:spcPts val="0"/>
              </a:spcAft>
              <a:buClrTx/>
              <a:buSzTx/>
              <a:buFontTx/>
              <a:buNone/>
              <a:tabLst/>
              <a:defRPr/>
            </a:pPr>
            <a:r>
              <a:rPr kumimoji="0" lang="en-US" sz="1200" i="0" u="none" strike="noStrike" kern="1200" cap="none" normalizeH="0" baseline="0" noProof="0" dirty="0">
                <a:ln w="3175">
                  <a:noFill/>
                </a:ln>
                <a:solidFill>
                  <a:schemeClr val="tx2"/>
                </a:solidFill>
                <a:effectLst/>
                <a:uLnTx/>
                <a:uFillTx/>
                <a:latin typeface="+mj-lt"/>
                <a:ea typeface="+mj-ea"/>
                <a:cs typeface="+mj-cs"/>
              </a:rPr>
              <a:t>Requirements/Notes:</a:t>
            </a:r>
          </a:p>
        </p:txBody>
      </p:sp>
      <p:sp>
        <p:nvSpPr>
          <p:cNvPr id="106" name="TextBox 105">
            <a:extLst>
              <a:ext uri="{FF2B5EF4-FFF2-40B4-BE49-F238E27FC236}">
                <a16:creationId xmlns:a16="http://schemas.microsoft.com/office/drawing/2014/main" id="{D6CB97E5-D2D7-38AB-5670-1581A4B69DF8}"/>
              </a:ext>
            </a:extLst>
          </p:cNvPr>
          <p:cNvSpPr txBox="1"/>
          <p:nvPr/>
        </p:nvSpPr>
        <p:spPr>
          <a:xfrm>
            <a:off x="3856074" y="5247536"/>
            <a:ext cx="4648199" cy="30264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Project Size</a:t>
            </a:r>
          </a:p>
          <a:p>
            <a:pPr marL="188913" marR="0" lvl="0" indent="-128588"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normalizeH="0" baseline="0" noProof="0" dirty="0">
                <a:ln w="3175">
                  <a:noFill/>
                </a:ln>
                <a:effectLst/>
                <a:uLnTx/>
                <a:uFillTx/>
              </a:rPr>
              <a:t>Any project size (no minimum and no maximum)</a:t>
            </a:r>
            <a:endParaRPr kumimoji="0" lang="en-US" sz="900" b="0" i="0" u="none" strike="noStrike" kern="1200" cap="none" normalizeH="0" baseline="0" noProof="0" dirty="0">
              <a:ln>
                <a:noFill/>
              </a:ln>
              <a:effectLst/>
              <a:uLnTx/>
              <a:uFillTx/>
            </a:endParaRPr>
          </a:p>
        </p:txBody>
      </p:sp>
      <p:graphicFrame>
        <p:nvGraphicFramePr>
          <p:cNvPr id="107" name="Table 106">
            <a:extLst>
              <a:ext uri="{FF2B5EF4-FFF2-40B4-BE49-F238E27FC236}">
                <a16:creationId xmlns:a16="http://schemas.microsoft.com/office/drawing/2014/main" id="{1B09B37D-B87A-3F81-F134-EFA74D1B89A7}"/>
              </a:ext>
            </a:extLst>
          </p:cNvPr>
          <p:cNvGraphicFramePr>
            <a:graphicFrameLocks noGrp="1"/>
          </p:cNvGraphicFramePr>
          <p:nvPr>
            <p:extLst>
              <p:ext uri="{D42A27DB-BD31-4B8C-83A1-F6EECF244321}">
                <p14:modId xmlns:p14="http://schemas.microsoft.com/office/powerpoint/2010/main" val="4290518948"/>
              </p:ext>
            </p:extLst>
          </p:nvPr>
        </p:nvGraphicFramePr>
        <p:xfrm>
          <a:off x="679486" y="5272618"/>
          <a:ext cx="2973387" cy="1073248"/>
        </p:xfrm>
        <a:graphic>
          <a:graphicData uri="http://schemas.openxmlformats.org/drawingml/2006/table">
            <a:tbl>
              <a:tblPr firstRow="1" bandRow="1">
                <a:effectLst>
                  <a:outerShdw blurRad="127000" algn="ctr" rotWithShape="0">
                    <a:srgbClr val="000000">
                      <a:alpha val="10000"/>
                    </a:srgbClr>
                  </a:outerShdw>
                </a:effectLst>
                <a:tableStyleId>{2D5ABB26-0587-4C30-8999-92F81FD0307C}</a:tableStyleId>
              </a:tblPr>
              <a:tblGrid>
                <a:gridCol w="1199080">
                  <a:extLst>
                    <a:ext uri="{9D8B030D-6E8A-4147-A177-3AD203B41FA5}">
                      <a16:colId xmlns:a16="http://schemas.microsoft.com/office/drawing/2014/main" val="731291129"/>
                    </a:ext>
                  </a:extLst>
                </a:gridCol>
                <a:gridCol w="1774307">
                  <a:extLst>
                    <a:ext uri="{9D8B030D-6E8A-4147-A177-3AD203B41FA5}">
                      <a16:colId xmlns:a16="http://schemas.microsoft.com/office/drawing/2014/main" val="1356546233"/>
                    </a:ext>
                  </a:extLst>
                </a:gridCol>
              </a:tblGrid>
              <a:tr h="268312">
                <a:tc>
                  <a:txBody>
                    <a:bodyPr/>
                    <a:lstStyle/>
                    <a:p>
                      <a:pPr algn="r"/>
                      <a:r>
                        <a:rPr lang="en-US" sz="1000" b="0" noProof="0" dirty="0">
                          <a:latin typeface="+mj-lt"/>
                          <a:ea typeface="+mj-ea"/>
                          <a:cs typeface="+mj-cs"/>
                        </a:rPr>
                        <a:t>All Time Zones:</a:t>
                      </a:r>
                    </a:p>
                  </a:txBody>
                  <a:tcPr>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000" noProof="0" dirty="0">
                          <a:latin typeface="+mn-lt"/>
                          <a:ea typeface="+mn-ea"/>
                          <a:cs typeface="+mn-cs"/>
                        </a:rPr>
                        <a:t>English</a:t>
                      </a:r>
                    </a:p>
                  </a:txBody>
                  <a:tcPr>
                    <a:lnL w="6350" cap="flat" cmpd="sng" algn="ctr">
                      <a:solidFill>
                        <a:schemeClr val="bg1">
                          <a:lumMod val="85000"/>
                        </a:schemeClr>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26757962"/>
                  </a:ext>
                </a:extLst>
              </a:tr>
              <a:tr h="268312">
                <a:tc>
                  <a:txBody>
                    <a:bodyPr/>
                    <a:lstStyle/>
                    <a:p>
                      <a:pPr algn="r"/>
                      <a:r>
                        <a:rPr lang="en-US" sz="1000" b="0" noProof="0" dirty="0">
                          <a:latin typeface="+mj-lt"/>
                          <a:ea typeface="+mj-ea"/>
                          <a:cs typeface="+mj-cs"/>
                        </a:rPr>
                        <a:t>ASIA:</a:t>
                      </a:r>
                    </a:p>
                  </a:txBody>
                  <a:tcPr>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000" noProof="0" dirty="0">
                          <a:latin typeface="+mn-lt"/>
                          <a:ea typeface="+mn-ea"/>
                          <a:cs typeface="+mn-cs"/>
                        </a:rPr>
                        <a:t>Chinese, Japanese, Korean</a:t>
                      </a:r>
                    </a:p>
                  </a:txBody>
                  <a:tcPr>
                    <a:lnL w="6350" cap="flat" cmpd="sng" algn="ctr">
                      <a:solidFill>
                        <a:schemeClr val="bg1">
                          <a:lumMod val="85000"/>
                        </a:schemeClr>
                      </a:solidFill>
                      <a:prstDash val="solid"/>
                      <a:round/>
                      <a:headEnd type="none" w="med" len="med"/>
                      <a:tailEnd type="none" w="med" len="med"/>
                    </a:lnL>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3491790"/>
                  </a:ext>
                </a:extLst>
              </a:tr>
              <a:tr h="268312">
                <a:tc>
                  <a:txBody>
                    <a:bodyPr/>
                    <a:lstStyle/>
                    <a:p>
                      <a:pPr algn="r"/>
                      <a:r>
                        <a:rPr lang="en-US" sz="1000" b="0" noProof="0" dirty="0">
                          <a:latin typeface="+mj-lt"/>
                          <a:ea typeface="+mj-ea"/>
                          <a:cs typeface="+mj-cs"/>
                        </a:rPr>
                        <a:t>EMEA:</a:t>
                      </a:r>
                    </a:p>
                  </a:txBody>
                  <a:tcPr>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000" noProof="0" dirty="0">
                          <a:latin typeface="+mn-lt"/>
                          <a:ea typeface="+mn-ea"/>
                          <a:cs typeface="+mn-cs"/>
                        </a:rPr>
                        <a:t>German, French</a:t>
                      </a:r>
                    </a:p>
                  </a:txBody>
                  <a:tcPr>
                    <a:lnL w="6350" cap="flat" cmpd="sng" algn="ctr">
                      <a:solidFill>
                        <a:schemeClr val="bg1">
                          <a:lumMod val="85000"/>
                        </a:schemeClr>
                      </a:solidFill>
                      <a:prstDash val="solid"/>
                      <a:round/>
                      <a:headEnd type="none" w="med" len="med"/>
                      <a:tailEnd type="none" w="med" len="med"/>
                    </a:lnL>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1708666"/>
                  </a:ext>
                </a:extLst>
              </a:tr>
              <a:tr h="268312">
                <a:tc>
                  <a:txBody>
                    <a:bodyPr/>
                    <a:lstStyle/>
                    <a:p>
                      <a:pPr algn="r"/>
                      <a:r>
                        <a:rPr lang="en-US" sz="1000" b="0" noProof="0" dirty="0">
                          <a:latin typeface="+mj-lt"/>
                          <a:ea typeface="+mj-ea"/>
                          <a:cs typeface="+mj-cs"/>
                        </a:rPr>
                        <a:t>LATAM:</a:t>
                      </a:r>
                    </a:p>
                  </a:txBody>
                  <a:tcPr>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solidFill>
                      <a:schemeClr val="bg1"/>
                    </a:solidFill>
                  </a:tcPr>
                </a:tc>
                <a:tc>
                  <a:txBody>
                    <a:bodyPr/>
                    <a:lstStyle/>
                    <a:p>
                      <a:r>
                        <a:rPr lang="en-US" sz="1000" noProof="0" dirty="0">
                          <a:latin typeface="+mn-lt"/>
                          <a:ea typeface="+mn-ea"/>
                          <a:cs typeface="+mn-cs"/>
                        </a:rPr>
                        <a:t>Spanish, Portuguese</a:t>
                      </a:r>
                    </a:p>
                  </a:txBody>
                  <a:tcPr>
                    <a:lnL w="6350" cap="flat" cmpd="sng" algn="ctr">
                      <a:solidFill>
                        <a:schemeClr val="bg1">
                          <a:lumMod val="85000"/>
                        </a:schemeClr>
                      </a:solidFill>
                      <a:prstDash val="solid"/>
                      <a:round/>
                      <a:headEnd type="none" w="med" len="med"/>
                      <a:tailEnd type="none" w="med" len="med"/>
                    </a:lnL>
                    <a:lnT w="6350" cap="flat" cmpd="sng" algn="ctr">
                      <a:solidFill>
                        <a:schemeClr val="bg1">
                          <a:lumMod val="8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427996636"/>
                  </a:ext>
                </a:extLst>
              </a:tr>
            </a:tbl>
          </a:graphicData>
        </a:graphic>
      </p:graphicFrame>
      <p:cxnSp>
        <p:nvCxnSpPr>
          <p:cNvPr id="108" name="Straight Connector 107">
            <a:extLst>
              <a:ext uri="{FF2B5EF4-FFF2-40B4-BE49-F238E27FC236}">
                <a16:creationId xmlns:a16="http://schemas.microsoft.com/office/drawing/2014/main" id="{2DD4AE5A-2B87-3BC1-F7D3-D4E86E34255E}"/>
              </a:ext>
            </a:extLst>
          </p:cNvPr>
          <p:cNvCxnSpPr>
            <a:cxnSpLocks/>
          </p:cNvCxnSpPr>
          <p:nvPr/>
        </p:nvCxnSpPr>
        <p:spPr>
          <a:xfrm>
            <a:off x="4275756" y="4780988"/>
            <a:ext cx="1920240" cy="0"/>
          </a:xfrm>
          <a:prstGeom prst="line">
            <a:avLst/>
          </a:prstGeom>
          <a:ln>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8A27C602-3783-A997-D1C0-EB93B9F1F59F}"/>
              </a:ext>
            </a:extLst>
          </p:cNvPr>
          <p:cNvCxnSpPr>
            <a:cxnSpLocks/>
          </p:cNvCxnSpPr>
          <p:nvPr/>
        </p:nvCxnSpPr>
        <p:spPr>
          <a:xfrm>
            <a:off x="4601794" y="4775418"/>
            <a:ext cx="3200266" cy="5570"/>
          </a:xfrm>
          <a:prstGeom prst="line">
            <a:avLst/>
          </a:prstGeom>
          <a:ln>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62CB01B8-DBD5-F389-EEB2-8F3A150886EE}"/>
              </a:ext>
            </a:extLst>
          </p:cNvPr>
          <p:cNvSpPr txBox="1"/>
          <p:nvPr/>
        </p:nvSpPr>
        <p:spPr>
          <a:xfrm>
            <a:off x="3856074" y="5705871"/>
            <a:ext cx="4648199" cy="63094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900" i="0" u="sng" strike="noStrike" kern="1200" cap="none" normalizeH="0" baseline="0" noProof="0" dirty="0">
                <a:ln>
                  <a:noFill/>
                </a:ln>
                <a:solidFill>
                  <a:schemeClr val="tx2"/>
                </a:solidFill>
                <a:effectLst/>
                <a:uLnTx/>
                <a:uFillTx/>
                <a:latin typeface="+mj-lt"/>
                <a:ea typeface="+mj-ea"/>
                <a:cs typeface="+mj-cs"/>
              </a:rPr>
              <a:t>Customer Commitment and Delivery Ready </a:t>
            </a:r>
          </a:p>
          <a:p>
            <a:pPr marL="188913" marR="0" lvl="1" indent="-128588"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The Factory is a delivery engine for post-sales</a:t>
            </a:r>
          </a:p>
          <a:p>
            <a:pPr marL="188913" marR="0" lvl="1" indent="-128588"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We don‘t do TCO or engage on any licensing questions</a:t>
            </a:r>
          </a:p>
          <a:p>
            <a:pPr marL="188913" marR="0" lvl="1" indent="-128588"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900" b="0" i="0" u="none" strike="noStrike" kern="1200" cap="none" normalizeH="0" baseline="0" noProof="0" dirty="0">
                <a:ln>
                  <a:noFill/>
                </a:ln>
                <a:effectLst/>
                <a:uLnTx/>
                <a:uFillTx/>
              </a:rPr>
              <a:t>We run technical assessment as part of the migration (but no pre-sales assessment)</a:t>
            </a:r>
          </a:p>
        </p:txBody>
      </p:sp>
      <p:cxnSp>
        <p:nvCxnSpPr>
          <p:cNvPr id="111" name="Straight Connector 110">
            <a:extLst>
              <a:ext uri="{FF2B5EF4-FFF2-40B4-BE49-F238E27FC236}">
                <a16:creationId xmlns:a16="http://schemas.microsoft.com/office/drawing/2014/main" id="{B6CD48CE-7886-A218-A3B7-5DFE51714F9F}"/>
              </a:ext>
            </a:extLst>
          </p:cNvPr>
          <p:cNvCxnSpPr>
            <a:cxnSpLocks/>
          </p:cNvCxnSpPr>
          <p:nvPr/>
        </p:nvCxnSpPr>
        <p:spPr>
          <a:xfrm>
            <a:off x="3744949" y="4942681"/>
            <a:ext cx="0" cy="1493898"/>
          </a:xfrm>
          <a:prstGeom prst="line">
            <a:avLst/>
          </a:prstGeom>
          <a:ln w="6350">
            <a:solidFill>
              <a:schemeClr val="bg1">
                <a:lumMod val="8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536DFED7-02BB-6A64-C371-2F687693D489}"/>
              </a:ext>
            </a:extLst>
          </p:cNvPr>
          <p:cNvCxnSpPr>
            <a:cxnSpLocks/>
          </p:cNvCxnSpPr>
          <p:nvPr/>
        </p:nvCxnSpPr>
        <p:spPr>
          <a:xfrm flipH="1">
            <a:off x="3856074" y="5628027"/>
            <a:ext cx="4644048"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6FFABF2-1000-8C96-6470-5870B7CC8716}"/>
              </a:ext>
            </a:extLst>
          </p:cNvPr>
          <p:cNvSpPr txBox="1"/>
          <p:nvPr/>
        </p:nvSpPr>
        <p:spPr>
          <a:xfrm>
            <a:off x="7574201" y="122075"/>
            <a:ext cx="3965343" cy="426668"/>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Nominate: </a:t>
            </a:r>
            <a:r>
              <a:rPr lang="en-US" noProof="0" dirty="0">
                <a:solidFill>
                  <a:schemeClr val="tx2">
                    <a:lumMod val="60000"/>
                    <a:lumOff val="40000"/>
                  </a:schemeClr>
                </a:solidFill>
                <a:hlinkClick r:id="rId3">
                  <a:extLst>
                    <a:ext uri="{A12FA001-AC4F-418D-AE19-62706E023703}">
                      <ahyp:hlinkClr xmlns:ahyp="http://schemas.microsoft.com/office/drawing/2018/hyperlinkcolor" val="tx"/>
                    </a:ext>
                  </a:extLst>
                </a:hlinkClick>
              </a:rPr>
              <a:t>Factory Nomination Form</a:t>
            </a:r>
            <a:endParaRPr lang="en-US" noProof="0" dirty="0">
              <a:solidFill>
                <a:schemeClr val="tx2">
                  <a:lumMod val="60000"/>
                  <a:lumOff val="40000"/>
                </a:schemeClr>
              </a:solidFill>
            </a:endParaRPr>
          </a:p>
        </p:txBody>
      </p:sp>
    </p:spTree>
    <p:extLst>
      <p:ext uri="{BB962C8B-B14F-4D97-AF65-F5344CB8AC3E}">
        <p14:creationId xmlns:p14="http://schemas.microsoft.com/office/powerpoint/2010/main" val="449397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FC89-6DEF-2A84-94F7-B18DFCCAC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BE80C-0A8A-3CDB-0B0F-BFC63B41F085}"/>
              </a:ext>
            </a:extLst>
          </p:cNvPr>
          <p:cNvSpPr>
            <a:spLocks noGrp="1"/>
          </p:cNvSpPr>
          <p:nvPr>
            <p:ph type="title"/>
          </p:nvPr>
        </p:nvSpPr>
        <p:spPr>
          <a:xfrm>
            <a:off x="585216" y="2300715"/>
            <a:ext cx="9144000" cy="1231106"/>
          </a:xfrm>
        </p:spPr>
        <p:txBody>
          <a:bodyPr/>
          <a:lstStyle/>
          <a:p>
            <a:r>
              <a:rPr lang="en-US" noProof="0" dirty="0"/>
              <a:t>Additional Services </a:t>
            </a:r>
            <a:br>
              <a:rPr lang="en-US" noProof="0" dirty="0"/>
            </a:br>
            <a:r>
              <a:rPr lang="en-US" noProof="0" dirty="0">
                <a:solidFill>
                  <a:schemeClr val="tx1"/>
                </a:solidFill>
              </a:rPr>
              <a:t>Beyond Standard Factory Offerings</a:t>
            </a:r>
            <a:endParaRPr lang="en-US" sz="3600" noProof="0" dirty="0">
              <a:solidFill>
                <a:schemeClr val="tx1"/>
              </a:solidFill>
            </a:endParaRPr>
          </a:p>
        </p:txBody>
      </p:sp>
      <p:sp>
        <p:nvSpPr>
          <p:cNvPr id="10" name="TextBox 9">
            <a:extLst>
              <a:ext uri="{FF2B5EF4-FFF2-40B4-BE49-F238E27FC236}">
                <a16:creationId xmlns:a16="http://schemas.microsoft.com/office/drawing/2014/main" id="{2357BBC7-71CC-227A-9B11-DEA4DCADBC53}"/>
              </a:ext>
            </a:extLst>
          </p:cNvPr>
          <p:cNvSpPr txBox="1"/>
          <p:nvPr/>
        </p:nvSpPr>
        <p:spPr>
          <a:xfrm>
            <a:off x="585216" y="4355932"/>
            <a:ext cx="3513349"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algn="ctr">
              <a:defRPr sz="1600" b="1">
                <a:solidFill>
                  <a:srgbClr val="000000"/>
                </a:solidFill>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Small SMB Segment</a:t>
            </a:r>
          </a:p>
        </p:txBody>
      </p:sp>
      <p:sp>
        <p:nvSpPr>
          <p:cNvPr id="4" name="Image 10" descr="Home (outlined)">
            <a:hlinkClick r:id="rId2" action="ppaction://hlinksldjump" tooltip="Home"/>
            <a:extLst>
              <a:ext uri="{FF2B5EF4-FFF2-40B4-BE49-F238E27FC236}">
                <a16:creationId xmlns:a16="http://schemas.microsoft.com/office/drawing/2014/main" id="{68C0FA90-BC61-195A-B7CC-1AD582D294B3}"/>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89317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6" presetClass="emph" presetSubtype="0" fill="hold" grpId="1" nodeType="withEffect">
                                  <p:stCondLst>
                                    <p:cond delay="0"/>
                                  </p:stCondLst>
                                  <p:childTnLst>
                                    <p:animScale>
                                      <p:cBhvr>
                                        <p:cTn id="9" dur="100" fill="hold"/>
                                        <p:tgtEl>
                                          <p:spTgt spid="10"/>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0"/>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B359-9D66-BFB3-42D6-89DB14C89EAC}"/>
            </a:ext>
          </a:extLst>
        </p:cNvPr>
        <p:cNvGrpSpPr/>
        <p:nvPr/>
      </p:nvGrpSpPr>
      <p:grpSpPr>
        <a:xfrm>
          <a:off x="0" y="0"/>
          <a:ext cx="0" cy="0"/>
          <a:chOff x="0" y="0"/>
          <a:chExt cx="0" cy="0"/>
        </a:xfrm>
      </p:grpSpPr>
      <p:sp>
        <p:nvSpPr>
          <p:cNvPr id="16" name="Rounded Rectangle 55">
            <a:extLst>
              <a:ext uri="{FF2B5EF4-FFF2-40B4-BE49-F238E27FC236}">
                <a16:creationId xmlns:a16="http://schemas.microsoft.com/office/drawing/2014/main" id="{EA6641B5-EABD-CF61-60B2-FF43783949CA}"/>
              </a:ext>
              <a:ext uri="{C183D7F6-B498-43B3-948B-1728B52AA6E4}">
                <adec:decorative xmlns:adec="http://schemas.microsoft.com/office/drawing/2017/decorative" val="1"/>
              </a:ext>
            </a:extLst>
          </p:cNvPr>
          <p:cNvSpPr/>
          <p:nvPr/>
        </p:nvSpPr>
        <p:spPr bwMode="auto">
          <a:xfrm>
            <a:off x="9154160" y="1409630"/>
            <a:ext cx="2448877" cy="5169792"/>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7" name="Rounded Rectangle 55">
            <a:extLst>
              <a:ext uri="{FF2B5EF4-FFF2-40B4-BE49-F238E27FC236}">
                <a16:creationId xmlns:a16="http://schemas.microsoft.com/office/drawing/2014/main" id="{F8071886-6DB1-CF8D-94CB-EA3944E7076C}"/>
              </a:ext>
              <a:ext uri="{C183D7F6-B498-43B3-948B-1728B52AA6E4}">
                <adec:decorative xmlns:adec="http://schemas.microsoft.com/office/drawing/2017/decorative" val="1"/>
              </a:ext>
            </a:extLst>
          </p:cNvPr>
          <p:cNvSpPr/>
          <p:nvPr/>
        </p:nvSpPr>
        <p:spPr bwMode="auto">
          <a:xfrm>
            <a:off x="588961" y="1247706"/>
            <a:ext cx="8443279" cy="5343104"/>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8" name="Title 1">
            <a:extLst>
              <a:ext uri="{FF2B5EF4-FFF2-40B4-BE49-F238E27FC236}">
                <a16:creationId xmlns:a16="http://schemas.microsoft.com/office/drawing/2014/main" id="{40C50A27-4049-68C2-40C1-E0A5A7BEF661}"/>
              </a:ext>
            </a:extLst>
          </p:cNvPr>
          <p:cNvSpPr>
            <a:spLocks noGrp="1"/>
          </p:cNvSpPr>
          <p:nvPr>
            <p:ph type="title"/>
          </p:nvPr>
        </p:nvSpPr>
        <p:spPr>
          <a:xfrm>
            <a:off x="607555" y="544045"/>
            <a:ext cx="8424685" cy="70788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Infrastructure Migration </a:t>
            </a:r>
            <a:br>
              <a:rPr lang="en-US" sz="2800" noProof="0" dirty="0"/>
            </a:b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Infrastructure and database migration (Small SMB segment)</a:t>
            </a:r>
            <a:endParaRPr lang="en-US" sz="2800" noProof="0" dirty="0"/>
          </a:p>
        </p:txBody>
      </p:sp>
      <p:sp>
        <p:nvSpPr>
          <p:cNvPr id="20" name="TextBox 19">
            <a:extLst>
              <a:ext uri="{FF2B5EF4-FFF2-40B4-BE49-F238E27FC236}">
                <a16:creationId xmlns:a16="http://schemas.microsoft.com/office/drawing/2014/main" id="{65289686-DCAF-2D90-83B2-7A762475E536}"/>
              </a:ext>
            </a:extLst>
          </p:cNvPr>
          <p:cNvSpPr txBox="1"/>
          <p:nvPr/>
        </p:nvSpPr>
        <p:spPr>
          <a:xfrm>
            <a:off x="674050" y="1302325"/>
            <a:ext cx="8273100"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to expect</a:t>
            </a:r>
          </a:p>
        </p:txBody>
      </p:sp>
      <p:sp>
        <p:nvSpPr>
          <p:cNvPr id="21" name="Graphic 22">
            <a:extLst>
              <a:ext uri="{FF2B5EF4-FFF2-40B4-BE49-F238E27FC236}">
                <a16:creationId xmlns:a16="http://schemas.microsoft.com/office/drawing/2014/main" id="{7DE8187B-9355-453A-61D9-AD57269BEAB5}"/>
              </a:ext>
            </a:extLst>
          </p:cNvPr>
          <p:cNvSpPr/>
          <p:nvPr/>
        </p:nvSpPr>
        <p:spPr>
          <a:xfrm>
            <a:off x="3834447" y="135172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2" name="TextBox 21">
            <a:extLst>
              <a:ext uri="{FF2B5EF4-FFF2-40B4-BE49-F238E27FC236}">
                <a16:creationId xmlns:a16="http://schemas.microsoft.com/office/drawing/2014/main" id="{58728789-C0AD-0ED4-15DD-3F7006798EE1}"/>
              </a:ext>
            </a:extLst>
          </p:cNvPr>
          <p:cNvSpPr txBox="1"/>
          <p:nvPr/>
        </p:nvSpPr>
        <p:spPr>
          <a:xfrm>
            <a:off x="9230673" y="1262855"/>
            <a:ext cx="2309042" cy="302955"/>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Notes</a:t>
            </a:r>
          </a:p>
        </p:txBody>
      </p:sp>
      <p:sp>
        <p:nvSpPr>
          <p:cNvPr id="23" name="Graphic 25">
            <a:extLst>
              <a:ext uri="{FF2B5EF4-FFF2-40B4-BE49-F238E27FC236}">
                <a16:creationId xmlns:a16="http://schemas.microsoft.com/office/drawing/2014/main" id="{060B8017-A15F-3827-19AE-060BD1F4AE3A}"/>
              </a:ext>
            </a:extLst>
          </p:cNvPr>
          <p:cNvSpPr/>
          <p:nvPr/>
        </p:nvSpPr>
        <p:spPr>
          <a:xfrm>
            <a:off x="9852025" y="1358552"/>
            <a:ext cx="161925" cy="190500"/>
          </a:xfrm>
          <a:custGeom>
            <a:avLst/>
            <a:gdLst>
              <a:gd name="csX0" fmla="*/ 19050 w 76200"/>
              <a:gd name="csY0" fmla="*/ 33338 h 95250"/>
              <a:gd name="csX1" fmla="*/ 23813 w 76200"/>
              <a:gd name="csY1" fmla="*/ 38100 h 95250"/>
              <a:gd name="csX2" fmla="*/ 52388 w 76200"/>
              <a:gd name="csY2" fmla="*/ 38100 h 95250"/>
              <a:gd name="csX3" fmla="*/ 57150 w 76200"/>
              <a:gd name="csY3" fmla="*/ 33338 h 95250"/>
              <a:gd name="csX4" fmla="*/ 52388 w 76200"/>
              <a:gd name="csY4" fmla="*/ 28575 h 95250"/>
              <a:gd name="csX5" fmla="*/ 23813 w 76200"/>
              <a:gd name="csY5" fmla="*/ 28575 h 95250"/>
              <a:gd name="csX6" fmla="*/ 19050 w 76200"/>
              <a:gd name="csY6" fmla="*/ 33338 h 95250"/>
              <a:gd name="csX7" fmla="*/ 23813 w 76200"/>
              <a:gd name="csY7" fmla="*/ 57150 h 95250"/>
              <a:gd name="csX8" fmla="*/ 19050 w 76200"/>
              <a:gd name="csY8" fmla="*/ 52388 h 95250"/>
              <a:gd name="csX9" fmla="*/ 23813 w 76200"/>
              <a:gd name="csY9" fmla="*/ 47625 h 95250"/>
              <a:gd name="csX10" fmla="*/ 52388 w 76200"/>
              <a:gd name="csY10" fmla="*/ 47625 h 95250"/>
              <a:gd name="csX11" fmla="*/ 57150 w 76200"/>
              <a:gd name="csY11" fmla="*/ 52388 h 95250"/>
              <a:gd name="csX12" fmla="*/ 52388 w 76200"/>
              <a:gd name="csY12" fmla="*/ 57150 h 95250"/>
              <a:gd name="csX13" fmla="*/ 23813 w 76200"/>
              <a:gd name="csY13" fmla="*/ 57150 h 95250"/>
              <a:gd name="csX14" fmla="*/ 19050 w 76200"/>
              <a:gd name="csY14" fmla="*/ 71438 h 95250"/>
              <a:gd name="csX15" fmla="*/ 23813 w 76200"/>
              <a:gd name="csY15" fmla="*/ 76200 h 95250"/>
              <a:gd name="csX16" fmla="*/ 33338 w 76200"/>
              <a:gd name="csY16" fmla="*/ 76200 h 95250"/>
              <a:gd name="csX17" fmla="*/ 38100 w 76200"/>
              <a:gd name="csY17" fmla="*/ 71438 h 95250"/>
              <a:gd name="csX18" fmla="*/ 33338 w 76200"/>
              <a:gd name="csY18" fmla="*/ 66675 h 95250"/>
              <a:gd name="csX19" fmla="*/ 23813 w 76200"/>
              <a:gd name="csY19" fmla="*/ 66675 h 95250"/>
              <a:gd name="csX20" fmla="*/ 19050 w 76200"/>
              <a:gd name="csY20" fmla="*/ 71438 h 95250"/>
              <a:gd name="csX21" fmla="*/ 19050 w 76200"/>
              <a:gd name="csY21" fmla="*/ 4763 h 95250"/>
              <a:gd name="csX22" fmla="*/ 23813 w 76200"/>
              <a:gd name="csY22" fmla="*/ 0 h 95250"/>
              <a:gd name="csX23" fmla="*/ 28575 w 76200"/>
              <a:gd name="csY23" fmla="*/ 4763 h 95250"/>
              <a:gd name="csX24" fmla="*/ 28575 w 76200"/>
              <a:gd name="csY24" fmla="*/ 9525 h 95250"/>
              <a:gd name="csX25" fmla="*/ 47625 w 76200"/>
              <a:gd name="csY25" fmla="*/ 9525 h 95250"/>
              <a:gd name="csX26" fmla="*/ 47625 w 76200"/>
              <a:gd name="csY26" fmla="*/ 4763 h 95250"/>
              <a:gd name="csX27" fmla="*/ 52388 w 76200"/>
              <a:gd name="csY27" fmla="*/ 0 h 95250"/>
              <a:gd name="csX28" fmla="*/ 57150 w 76200"/>
              <a:gd name="csY28" fmla="*/ 4763 h 95250"/>
              <a:gd name="csX29" fmla="*/ 57150 w 76200"/>
              <a:gd name="csY29" fmla="*/ 9525 h 95250"/>
              <a:gd name="csX30" fmla="*/ 76200 w 76200"/>
              <a:gd name="csY30" fmla="*/ 28575 h 95250"/>
              <a:gd name="csX31" fmla="*/ 76200 w 76200"/>
              <a:gd name="csY31" fmla="*/ 66675 h 95250"/>
              <a:gd name="csX32" fmla="*/ 47625 w 76200"/>
              <a:gd name="csY32" fmla="*/ 95250 h 95250"/>
              <a:gd name="csX33" fmla="*/ 19050 w 76200"/>
              <a:gd name="csY33" fmla="*/ 95250 h 95250"/>
              <a:gd name="csX34" fmla="*/ 0 w 76200"/>
              <a:gd name="csY34" fmla="*/ 76200 h 95250"/>
              <a:gd name="csX35" fmla="*/ 0 w 76200"/>
              <a:gd name="csY35" fmla="*/ 28575 h 95250"/>
              <a:gd name="csX36" fmla="*/ 19050 w 76200"/>
              <a:gd name="csY36" fmla="*/ 9525 h 95250"/>
              <a:gd name="csX37" fmla="*/ 19050 w 76200"/>
              <a:gd name="csY37" fmla="*/ 4763 h 95250"/>
              <a:gd name="csX38" fmla="*/ 47625 w 76200"/>
              <a:gd name="csY38" fmla="*/ 85725 h 95250"/>
              <a:gd name="csX39" fmla="*/ 47625 w 76200"/>
              <a:gd name="csY39" fmla="*/ 71438 h 95250"/>
              <a:gd name="csX40" fmla="*/ 52388 w 76200"/>
              <a:gd name="csY40" fmla="*/ 66675 h 95250"/>
              <a:gd name="csX41" fmla="*/ 66675 w 76200"/>
              <a:gd name="csY41" fmla="*/ 66675 h 95250"/>
              <a:gd name="csX42" fmla="*/ 66675 w 76200"/>
              <a:gd name="csY42" fmla="*/ 28575 h 95250"/>
              <a:gd name="csX43" fmla="*/ 57150 w 76200"/>
              <a:gd name="csY43" fmla="*/ 19050 h 95250"/>
              <a:gd name="csX44" fmla="*/ 19050 w 76200"/>
              <a:gd name="csY44" fmla="*/ 19050 h 95250"/>
              <a:gd name="csX45" fmla="*/ 9525 w 76200"/>
              <a:gd name="csY45" fmla="*/ 28575 h 95250"/>
              <a:gd name="csX46" fmla="*/ 9525 w 76200"/>
              <a:gd name="csY46" fmla="*/ 76200 h 95250"/>
              <a:gd name="csX47" fmla="*/ 19050 w 76200"/>
              <a:gd name="csY47" fmla="*/ 85725 h 95250"/>
              <a:gd name="csX48" fmla="*/ 47625 w 76200"/>
              <a:gd name="csY48" fmla="*/ 85725 h 95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76200" h="95250">
                <a:moveTo>
                  <a:pt x="19050" y="33338"/>
                </a:moveTo>
                <a:cubicBezTo>
                  <a:pt x="19050" y="35968"/>
                  <a:pt x="21182" y="38100"/>
                  <a:pt x="23813" y="38100"/>
                </a:cubicBezTo>
                <a:lnTo>
                  <a:pt x="52388" y="38100"/>
                </a:lnTo>
                <a:cubicBezTo>
                  <a:pt x="55018" y="38100"/>
                  <a:pt x="57150" y="35968"/>
                  <a:pt x="57150" y="33338"/>
                </a:cubicBezTo>
                <a:cubicBezTo>
                  <a:pt x="57150" y="30707"/>
                  <a:pt x="55018" y="28575"/>
                  <a:pt x="52388" y="28575"/>
                </a:cubicBezTo>
                <a:lnTo>
                  <a:pt x="23813" y="28575"/>
                </a:lnTo>
                <a:cubicBezTo>
                  <a:pt x="21182" y="28575"/>
                  <a:pt x="19050" y="30707"/>
                  <a:pt x="19050" y="33338"/>
                </a:cubicBezTo>
                <a:close/>
                <a:moveTo>
                  <a:pt x="23813" y="57150"/>
                </a:moveTo>
                <a:cubicBezTo>
                  <a:pt x="21182" y="57150"/>
                  <a:pt x="19050" y="55018"/>
                  <a:pt x="19050" y="52388"/>
                </a:cubicBezTo>
                <a:cubicBezTo>
                  <a:pt x="19050" y="49757"/>
                  <a:pt x="21182" y="47625"/>
                  <a:pt x="23813" y="47625"/>
                </a:cubicBezTo>
                <a:lnTo>
                  <a:pt x="52388" y="47625"/>
                </a:lnTo>
                <a:cubicBezTo>
                  <a:pt x="55018" y="47625"/>
                  <a:pt x="57150" y="49757"/>
                  <a:pt x="57150" y="52388"/>
                </a:cubicBezTo>
                <a:cubicBezTo>
                  <a:pt x="57150" y="55018"/>
                  <a:pt x="55018" y="57150"/>
                  <a:pt x="52388" y="57150"/>
                </a:cubicBezTo>
                <a:lnTo>
                  <a:pt x="23813" y="57150"/>
                </a:lnTo>
                <a:close/>
                <a:moveTo>
                  <a:pt x="19050" y="71438"/>
                </a:moveTo>
                <a:cubicBezTo>
                  <a:pt x="19050" y="74068"/>
                  <a:pt x="21182" y="76200"/>
                  <a:pt x="23813" y="76200"/>
                </a:cubicBezTo>
                <a:lnTo>
                  <a:pt x="33338" y="76200"/>
                </a:lnTo>
                <a:cubicBezTo>
                  <a:pt x="35968" y="76200"/>
                  <a:pt x="38100" y="74068"/>
                  <a:pt x="38100" y="71438"/>
                </a:cubicBezTo>
                <a:cubicBezTo>
                  <a:pt x="38100" y="68807"/>
                  <a:pt x="35968" y="66675"/>
                  <a:pt x="33338" y="66675"/>
                </a:cubicBezTo>
                <a:lnTo>
                  <a:pt x="23813" y="66675"/>
                </a:lnTo>
                <a:cubicBezTo>
                  <a:pt x="21182" y="66675"/>
                  <a:pt x="19050" y="68807"/>
                  <a:pt x="19050" y="71438"/>
                </a:cubicBezTo>
                <a:close/>
                <a:moveTo>
                  <a:pt x="19050" y="4763"/>
                </a:moveTo>
                <a:cubicBezTo>
                  <a:pt x="19050" y="2132"/>
                  <a:pt x="21182" y="0"/>
                  <a:pt x="23813" y="0"/>
                </a:cubicBezTo>
                <a:cubicBezTo>
                  <a:pt x="26443" y="0"/>
                  <a:pt x="28575" y="2132"/>
                  <a:pt x="28575" y="4763"/>
                </a:cubicBezTo>
                <a:lnTo>
                  <a:pt x="28575" y="9525"/>
                </a:lnTo>
                <a:lnTo>
                  <a:pt x="47625" y="9525"/>
                </a:lnTo>
                <a:lnTo>
                  <a:pt x="47625" y="4763"/>
                </a:lnTo>
                <a:cubicBezTo>
                  <a:pt x="47625" y="2132"/>
                  <a:pt x="49757" y="0"/>
                  <a:pt x="52388" y="0"/>
                </a:cubicBezTo>
                <a:cubicBezTo>
                  <a:pt x="55018" y="0"/>
                  <a:pt x="57150" y="2132"/>
                  <a:pt x="57150" y="4763"/>
                </a:cubicBezTo>
                <a:lnTo>
                  <a:pt x="57150" y="9525"/>
                </a:lnTo>
                <a:cubicBezTo>
                  <a:pt x="67671" y="9525"/>
                  <a:pt x="76200" y="18054"/>
                  <a:pt x="76200" y="28575"/>
                </a:cubicBezTo>
                <a:lnTo>
                  <a:pt x="76200" y="66675"/>
                </a:lnTo>
                <a:lnTo>
                  <a:pt x="47625" y="95250"/>
                </a:lnTo>
                <a:lnTo>
                  <a:pt x="19050" y="95250"/>
                </a:lnTo>
                <a:cubicBezTo>
                  <a:pt x="8529" y="95250"/>
                  <a:pt x="0" y="86721"/>
                  <a:pt x="0" y="76200"/>
                </a:cubicBezTo>
                <a:lnTo>
                  <a:pt x="0" y="28575"/>
                </a:lnTo>
                <a:cubicBezTo>
                  <a:pt x="0" y="18054"/>
                  <a:pt x="8529" y="9525"/>
                  <a:pt x="19050" y="9525"/>
                </a:cubicBezTo>
                <a:lnTo>
                  <a:pt x="19050" y="4763"/>
                </a:lnTo>
                <a:close/>
                <a:moveTo>
                  <a:pt x="47625" y="85725"/>
                </a:moveTo>
                <a:lnTo>
                  <a:pt x="47625" y="71438"/>
                </a:lnTo>
                <a:cubicBezTo>
                  <a:pt x="47625" y="68807"/>
                  <a:pt x="49757" y="66675"/>
                  <a:pt x="52388" y="66675"/>
                </a:cubicBezTo>
                <a:lnTo>
                  <a:pt x="66675" y="66675"/>
                </a:lnTo>
                <a:lnTo>
                  <a:pt x="66675" y="28575"/>
                </a:lnTo>
                <a:cubicBezTo>
                  <a:pt x="66675" y="23315"/>
                  <a:pt x="62410" y="19050"/>
                  <a:pt x="57150" y="19050"/>
                </a:cubicBezTo>
                <a:lnTo>
                  <a:pt x="19050" y="19050"/>
                </a:lnTo>
                <a:cubicBezTo>
                  <a:pt x="13790" y="19050"/>
                  <a:pt x="9525" y="23315"/>
                  <a:pt x="9525" y="28575"/>
                </a:cubicBezTo>
                <a:lnTo>
                  <a:pt x="9525" y="76200"/>
                </a:lnTo>
                <a:cubicBezTo>
                  <a:pt x="9525" y="81460"/>
                  <a:pt x="13790" y="85725"/>
                  <a:pt x="19050" y="85725"/>
                </a:cubicBezTo>
                <a:lnTo>
                  <a:pt x="47625" y="85725"/>
                </a:lnTo>
                <a:close/>
              </a:path>
            </a:pathLst>
          </a:custGeom>
          <a:solidFill>
            <a:schemeClr val="bg1"/>
          </a:solidFill>
          <a:ln w="9525" cap="flat">
            <a:noFill/>
            <a:prstDash val="solid"/>
            <a:miter/>
          </a:ln>
        </p:spPr>
        <p:txBody>
          <a:bodyPr/>
          <a:lstStyle/>
          <a:p>
            <a:endParaRPr lang="en-US" noProof="0" dirty="0"/>
          </a:p>
        </p:txBody>
      </p:sp>
      <p:sp>
        <p:nvSpPr>
          <p:cNvPr id="3" name="TextBox 2">
            <a:extLst>
              <a:ext uri="{FF2B5EF4-FFF2-40B4-BE49-F238E27FC236}">
                <a16:creationId xmlns:a16="http://schemas.microsoft.com/office/drawing/2014/main" id="{7D00879C-5A77-3A50-91CA-9A61AA80D56F}"/>
              </a:ext>
            </a:extLst>
          </p:cNvPr>
          <p:cNvSpPr txBox="1"/>
          <p:nvPr/>
        </p:nvSpPr>
        <p:spPr>
          <a:xfrm>
            <a:off x="10234478" y="70229"/>
            <a:ext cx="1316195" cy="302955"/>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At a glance</a:t>
            </a:r>
          </a:p>
        </p:txBody>
      </p:sp>
      <p:graphicFrame>
        <p:nvGraphicFramePr>
          <p:cNvPr id="4" name="Table 3" title="Exchange Online Technet Guidance">
            <a:extLst>
              <a:ext uri="{FF2B5EF4-FFF2-40B4-BE49-F238E27FC236}">
                <a16:creationId xmlns:a16="http://schemas.microsoft.com/office/drawing/2014/main" id="{11345A05-3FE4-450B-6A87-4C56E0BAEBEE}"/>
              </a:ext>
            </a:extLst>
          </p:cNvPr>
          <p:cNvGraphicFramePr>
            <a:graphicFrameLocks noGrp="1"/>
          </p:cNvGraphicFramePr>
          <p:nvPr>
            <p:extLst>
              <p:ext uri="{D42A27DB-BD31-4B8C-83A1-F6EECF244321}">
                <p14:modId xmlns:p14="http://schemas.microsoft.com/office/powerpoint/2010/main" val="836121543"/>
              </p:ext>
            </p:extLst>
          </p:nvPr>
        </p:nvGraphicFramePr>
        <p:xfrm>
          <a:off x="582929" y="1617979"/>
          <a:ext cx="8443279" cy="4957064"/>
        </p:xfrm>
        <a:graphic>
          <a:graphicData uri="http://schemas.openxmlformats.org/drawingml/2006/table">
            <a:tbl>
              <a:tblPr firstRow="1" bandRow="1">
                <a:tableStyleId>{5C22544A-7EE6-4342-B048-85BDC9FD1C3A}</a:tableStyleId>
              </a:tblPr>
              <a:tblGrid>
                <a:gridCol w="276938">
                  <a:extLst>
                    <a:ext uri="{9D8B030D-6E8A-4147-A177-3AD203B41FA5}">
                      <a16:colId xmlns:a16="http://schemas.microsoft.com/office/drawing/2014/main" val="920430407"/>
                    </a:ext>
                  </a:extLst>
                </a:gridCol>
                <a:gridCol w="8166341">
                  <a:extLst>
                    <a:ext uri="{9D8B030D-6E8A-4147-A177-3AD203B41FA5}">
                      <a16:colId xmlns:a16="http://schemas.microsoft.com/office/drawing/2014/main" val="125040094"/>
                    </a:ext>
                  </a:extLst>
                </a:gridCol>
              </a:tblGrid>
              <a:tr h="227757">
                <a:tc gridSpan="2">
                  <a:txBody>
                    <a:bodyPr/>
                    <a:lstStyle/>
                    <a:p>
                      <a:pPr marL="0" marR="0" lvl="0" indent="0" algn="just" defTabSz="914367"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mj-lt"/>
                        <a:ea typeface="+mn-ea"/>
                        <a:cs typeface="+mn-cs"/>
                      </a:endParaRPr>
                    </a:p>
                    <a:p>
                      <a:pPr marL="0" marR="0" lvl="0" indent="0" algn="just"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mj-lt"/>
                          <a:ea typeface="+mn-ea"/>
                          <a:cs typeface="+mn-cs"/>
                        </a:rPr>
                        <a:t>Microsoft Cloud Accelerate Factory (Factory)</a:t>
                      </a:r>
                    </a:p>
                  </a:txBody>
                  <a:tcPr marT="54864" marB="54864">
                    <a:lnL w="12700" cmpd="sng">
                      <a:noFill/>
                    </a:lnL>
                    <a:lnR w="12700" cmpd="sng">
                      <a:noFill/>
                    </a:lnR>
                    <a:lnT w="1270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Segoe UI Semibold"/>
                        <a:ea typeface="+mn-ea"/>
                        <a:cs typeface="+mn-cs"/>
                      </a:endParaRPr>
                    </a:p>
                  </a:txBody>
                  <a:tcPr marL="64008" marR="64008" marT="64008" marB="64008" anchor="ctr">
                    <a:lnL w="12700" cmpd="sng">
                      <a:noFill/>
                    </a:lnL>
                    <a:lnR w="12700" cmpd="sng">
                      <a:noFill/>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2141315"/>
                  </a:ext>
                </a:extLst>
              </a:tr>
              <a:tr h="864420">
                <a:tc>
                  <a:txBody>
                    <a:bodyPr/>
                    <a:lstStyle/>
                    <a:p>
                      <a:pPr algn="ctr"/>
                      <a:r>
                        <a:rPr lang="en-US" sz="1000" b="0" noProof="0" dirty="0">
                          <a:solidFill>
                            <a:schemeClr val="tx2"/>
                          </a:solidFill>
                          <a:latin typeface="+mj-lt"/>
                        </a:rPr>
                        <a:t>1</a:t>
                      </a:r>
                    </a:p>
                  </a:txBody>
                  <a:tcPr marT="54864" marB="54864">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noProof="0" dirty="0">
                          <a:solidFill>
                            <a:srgbClr val="000000"/>
                          </a:solidFill>
                          <a:latin typeface="+mn-lt"/>
                        </a:rPr>
                        <a:t>Build clear understanding of network requirements for migrating the workload in cloud</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noProof="0" dirty="0">
                          <a:solidFill>
                            <a:srgbClr val="000000"/>
                          </a:solidFill>
                          <a:latin typeface="+mn-lt"/>
                        </a:rPr>
                        <a:t>Firewall and NSG</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noProof="0" dirty="0">
                          <a:solidFill>
                            <a:srgbClr val="000000"/>
                          </a:solidFill>
                          <a:latin typeface="+mn-lt"/>
                        </a:rPr>
                        <a:t>VPN Gateway</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noProof="0" dirty="0">
                          <a:solidFill>
                            <a:srgbClr val="000000"/>
                          </a:solidFill>
                          <a:latin typeface="+mn-lt"/>
                        </a:rPr>
                        <a:t>App Gateway</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noProof="0" dirty="0">
                          <a:solidFill>
                            <a:srgbClr val="000000"/>
                          </a:solidFill>
                          <a:latin typeface="+mn-lt"/>
                        </a:rPr>
                        <a:t>Load Balancer</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noProof="0" dirty="0">
                          <a:solidFill>
                            <a:srgbClr val="000000"/>
                          </a:solidFill>
                          <a:latin typeface="+mn-lt"/>
                        </a:rPr>
                        <a:t>Route table</a:t>
                      </a:r>
                      <a:endParaRPr lang="en-US" sz="1000" b="0" noProof="0" dirty="0">
                        <a:solidFill>
                          <a:srgbClr val="000000"/>
                        </a:solidFill>
                        <a:latin typeface="+mn-lt"/>
                      </a:endParaRPr>
                    </a:p>
                  </a:txBody>
                  <a:tcPr marT="54864" marB="54864"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4880617"/>
                  </a:ext>
                </a:extLst>
              </a:tr>
              <a:tr h="727845">
                <a:tc>
                  <a:txBody>
                    <a:bodyPr/>
                    <a:lstStyle/>
                    <a:p>
                      <a:pPr algn="ctr"/>
                      <a:r>
                        <a:rPr lang="en-US" sz="1000" b="0" noProof="0" dirty="0">
                          <a:solidFill>
                            <a:schemeClr val="tx2"/>
                          </a:solidFill>
                          <a:latin typeface="+mj-lt"/>
                        </a:rPr>
                        <a:t>2</a:t>
                      </a:r>
                    </a:p>
                  </a:txBody>
                  <a:tcPr marT="54864" marB="54864">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kern="1200" noProof="0" dirty="0">
                          <a:solidFill>
                            <a:srgbClr val="000000"/>
                          </a:solidFill>
                          <a:latin typeface="+mn-lt"/>
                          <a:ea typeface="+mn-ea"/>
                          <a:cs typeface="+mn-cs"/>
                        </a:rPr>
                        <a:t>Build clear understanding of existing domain controller along with the location hosted (local server room/Colo hosted) planned to be moved into the Azure cloud. </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Only for workplace user access (desktop/laptop)</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For server domain join </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Required for both workplace user access and server domain join</a:t>
                      </a:r>
                    </a:p>
                  </a:txBody>
                  <a:tcPr marT="54864" marB="54864">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400997"/>
                  </a:ext>
                </a:extLst>
              </a:tr>
              <a:tr h="607339">
                <a:tc>
                  <a:txBody>
                    <a:bodyPr/>
                    <a:lstStyle/>
                    <a:p>
                      <a:pPr algn="ctr"/>
                      <a:r>
                        <a:rPr lang="en-US" sz="1000" b="0" noProof="0" dirty="0">
                          <a:solidFill>
                            <a:schemeClr val="tx2"/>
                          </a:solidFill>
                          <a:latin typeface="+mj-lt"/>
                        </a:rPr>
                        <a:t>3</a:t>
                      </a:r>
                    </a:p>
                  </a:txBody>
                  <a:tcPr marT="54864" marB="54864">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lang="en-US" sz="1000" b="0" kern="1200" noProof="0" dirty="0">
                          <a:solidFill>
                            <a:srgbClr val="000000"/>
                          </a:solidFill>
                          <a:latin typeface="+mn-lt"/>
                          <a:ea typeface="+mn-ea"/>
                          <a:cs typeface="+mn-cs"/>
                        </a:rPr>
                        <a:t>Build clear understanding on the file server migration from on premises to Azure Cloud</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File server current configuration like DFS, cluster environment, storage, etc..</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Current access mechanism for end-users </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Overall data size </a:t>
                      </a:r>
                    </a:p>
                  </a:txBody>
                  <a:tcPr marT="54864" marB="54864">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679505"/>
                  </a:ext>
                </a:extLst>
              </a:tr>
              <a:tr h="478799">
                <a:tc>
                  <a:txBody>
                    <a:bodyPr/>
                    <a:lstStyle/>
                    <a:p>
                      <a:pPr algn="ctr"/>
                      <a:r>
                        <a:rPr lang="en-US" sz="1000" b="0" noProof="0" dirty="0">
                          <a:solidFill>
                            <a:schemeClr val="tx2"/>
                          </a:solidFill>
                          <a:latin typeface="+mj-lt"/>
                        </a:rPr>
                        <a:t>4</a:t>
                      </a:r>
                    </a:p>
                  </a:txBody>
                  <a:tcPr marT="54864" marB="54864">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 typeface="Arial" panose="020B0604020202020204" pitchFamily="34" charset="0"/>
                        <a:buNone/>
                        <a:tabLst/>
                        <a:defRPr/>
                      </a:pPr>
                      <a:r>
                        <a:rPr lang="en-US" sz="1000" b="0" kern="1200" noProof="0" dirty="0">
                          <a:solidFill>
                            <a:srgbClr val="000000"/>
                          </a:solidFill>
                          <a:latin typeface="+mn-lt"/>
                          <a:ea typeface="+mn-ea"/>
                          <a:cs typeface="+mn-cs"/>
                        </a:rPr>
                        <a:t>Migration of VPN users from existing VPN servers to VPN gateway (P2S)</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List of users </a:t>
                      </a:r>
                    </a:p>
                    <a:p>
                      <a:pPr marL="223838" marR="0" lvl="0" indent="-152400" algn="l" defTabSz="914367"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sz="900" b="0" kern="1200" noProof="0" dirty="0">
                          <a:solidFill>
                            <a:srgbClr val="000000"/>
                          </a:solidFill>
                          <a:latin typeface="+mn-lt"/>
                          <a:ea typeface="+mn-ea"/>
                          <a:cs typeface="+mn-cs"/>
                        </a:rPr>
                        <a:t>Access mechanism </a:t>
                      </a:r>
                      <a:endParaRPr lang="en-US" sz="1000" b="0" kern="1200" noProof="0" dirty="0">
                        <a:solidFill>
                          <a:srgbClr val="000000"/>
                        </a:solidFill>
                        <a:latin typeface="+mn-lt"/>
                        <a:ea typeface="+mn-ea"/>
                        <a:cs typeface="+mn-cs"/>
                      </a:endParaRPr>
                    </a:p>
                  </a:txBody>
                  <a:tcPr marT="54864" marB="54864">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354759"/>
                  </a:ext>
                </a:extLst>
              </a:tr>
              <a:tr h="221732">
                <a:tc>
                  <a:txBody>
                    <a:bodyPr/>
                    <a:lstStyle/>
                    <a:p>
                      <a:pPr algn="ctr"/>
                      <a:r>
                        <a:rPr lang="en-US" sz="1000" b="0" noProof="0" dirty="0">
                          <a:solidFill>
                            <a:schemeClr val="tx2"/>
                          </a:solidFill>
                          <a:latin typeface="+mj-lt"/>
                        </a:rPr>
                        <a:t>5</a:t>
                      </a:r>
                    </a:p>
                  </a:txBody>
                  <a:tcPr marT="54864" marB="54864">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200"/>
                        </a:spcAft>
                        <a:buClrTx/>
                        <a:buSzTx/>
                        <a:buFont typeface="Arial" panose="020B0604020202020204" pitchFamily="34" charset="0"/>
                        <a:buNone/>
                        <a:tabLst/>
                        <a:defRPr/>
                      </a:pPr>
                      <a:r>
                        <a:rPr lang="en-US" sz="1000" b="0" i="0" u="none" strike="noStrike" noProof="0" dirty="0">
                          <a:solidFill>
                            <a:srgbClr val="1A1A1A"/>
                          </a:solidFill>
                          <a:effectLst/>
                          <a:latin typeface="+mn-lt"/>
                        </a:rPr>
                        <a:t>Hand over to customer/ISD/Partner for post-migration activities</a:t>
                      </a:r>
                      <a:endParaRPr lang="en-US" sz="1000" b="0" kern="1200" noProof="0" dirty="0">
                        <a:solidFill>
                          <a:srgbClr val="000000"/>
                        </a:solidFill>
                        <a:latin typeface="+mn-lt"/>
                        <a:ea typeface="+mn-ea"/>
                        <a:cs typeface="+mn-cs"/>
                      </a:endParaRPr>
                    </a:p>
                  </a:txBody>
                  <a:tcPr marT="54864" marB="54864">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2443979"/>
                  </a:ext>
                </a:extLst>
              </a:tr>
              <a:tr h="462745">
                <a:tc gridSpan="2">
                  <a:txBody>
                    <a:bodyPr/>
                    <a:lstStyle/>
                    <a:p>
                      <a:pPr marL="0" marR="0" lvl="0" indent="0" algn="l" defTabSz="932563"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Throughout the engagement, partners are responsible for: Configuring recommended settings and executing needed remediations when applicable; providing overall project management; coordinating and </a:t>
                      </a:r>
                      <a:r>
                        <a:rPr kumimoji="0" lang="en-US" sz="1000" b="0" i="0" u="none" strike="noStrike" kern="1200" cap="none" spc="0" normalizeH="0" baseline="0" noProof="0" dirty="0">
                          <a:ln>
                            <a:noFill/>
                          </a:ln>
                          <a:solidFill>
                            <a:srgbClr val="282828"/>
                          </a:solidFill>
                          <a:effectLst/>
                          <a:uLnTx/>
                          <a:uFillTx/>
                          <a:latin typeface="+mn-lt"/>
                          <a:ea typeface="+mn-ea"/>
                          <a:cs typeface="Segoe Sans Text" pitchFamily="2" charset="0"/>
                        </a:rPr>
                        <a:t>attending checkpoint meetings; and implementing user communications, documentation, training, and change management. </a:t>
                      </a: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T="54864" marB="54864">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585133331"/>
                  </a:ext>
                </a:extLst>
              </a:tr>
              <a:tr h="347059">
                <a:tc gridSpan="2">
                  <a:txBody>
                    <a:bodyPr/>
                    <a:lstStyle/>
                    <a:p>
                      <a:pPr marL="0" marR="0" lvl="0" indent="0" algn="l" defTabSz="932563" rtl="0" eaLnBrk="1" fontAlgn="auto" latinLnBrk="0" hangingPunct="1">
                        <a:lnSpc>
                          <a:spcPct val="100000"/>
                        </a:lnSpc>
                        <a:spcBef>
                          <a:spcPts val="0"/>
                        </a:spcBef>
                        <a:spcAft>
                          <a:spcPts val="200"/>
                        </a:spcAft>
                        <a:buClrTx/>
                        <a:buSzTx/>
                        <a:buFontTx/>
                        <a:buNone/>
                        <a:tabLst/>
                        <a:defRPr/>
                      </a:pPr>
                      <a:r>
                        <a:rPr lang="en-US" sz="900" b="0" i="0" u="none" strike="noStrike" kern="1200" cap="none" spc="0" normalizeH="0" baseline="0" noProof="0" dirty="0">
                          <a:ln>
                            <a:noFill/>
                          </a:ln>
                          <a:solidFill>
                            <a:srgbClr val="000000"/>
                          </a:solidFill>
                          <a:effectLst/>
                          <a:uLnTx/>
                          <a:uFillTx/>
                          <a:latin typeface="+mn-lt"/>
                        </a:rPr>
                        <a:t>Estimated duration for completing all activities in a typical engagement is within four weeks when all the requirements are met, and customer and partner are ready for execution.</a:t>
                      </a:r>
                    </a:p>
                  </a:txBody>
                  <a:tcPr marT="54864" marB="54864">
                    <a:lnL w="12700" cmpd="sng">
                      <a:noFill/>
                    </a:lnL>
                    <a:lnR w="1270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marR="0" lvl="1" indent="-1143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latin typeface="+mn-lt"/>
                        <a:ea typeface="+mn-ea"/>
                        <a:cs typeface="+mn-cs"/>
                      </a:endParaRPr>
                    </a:p>
                  </a:txBody>
                  <a:tcPr marL="63999" marR="63999" marT="63999" marB="63999"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5477502"/>
                  </a:ext>
                </a:extLst>
              </a:tr>
            </a:tbl>
          </a:graphicData>
        </a:graphic>
      </p:graphicFrame>
      <p:sp>
        <p:nvSpPr>
          <p:cNvPr id="6" name="Content Placeholder 4">
            <a:extLst>
              <a:ext uri="{FF2B5EF4-FFF2-40B4-BE49-F238E27FC236}">
                <a16:creationId xmlns:a16="http://schemas.microsoft.com/office/drawing/2014/main" id="{74FEA0D3-0E8C-C33A-0852-696362EC1DF7}"/>
              </a:ext>
            </a:extLst>
          </p:cNvPr>
          <p:cNvSpPr txBox="1">
            <a:spLocks/>
          </p:cNvSpPr>
          <p:nvPr/>
        </p:nvSpPr>
        <p:spPr>
          <a:xfrm>
            <a:off x="9154160" y="1579880"/>
            <a:ext cx="2448877" cy="4875694"/>
          </a:xfrm>
          <a:prstGeom prst="rect">
            <a:avLst/>
          </a:prstGeom>
        </p:spPr>
        <p:txBody>
          <a:bodyPr vert="horz" wrap="square" lIns="91440" tIns="45720" rIns="91440" bIns="45720" rtlCol="0" anchor="t">
            <a:no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300"/>
              </a:spcAft>
              <a:defRPr/>
            </a:pPr>
            <a:endParaRPr lang="en-US" sz="800" noProof="0" dirty="0">
              <a:latin typeface="+mj-lt"/>
              <a:ea typeface="+mj-ea"/>
              <a:cs typeface="+mj-cs"/>
            </a:endParaRPr>
          </a:p>
          <a:p>
            <a:pPr marL="0" lvl="3">
              <a:spcBef>
                <a:spcPts val="0"/>
              </a:spcBef>
              <a:spcAft>
                <a:spcPts val="300"/>
              </a:spcAft>
              <a:defRPr/>
            </a:pPr>
            <a:r>
              <a:rPr lang="en-US" sz="1200" noProof="0" dirty="0">
                <a:latin typeface="+mj-lt"/>
                <a:ea typeface="+mj-ea"/>
                <a:cs typeface="+mj-cs"/>
              </a:rPr>
              <a:t>Requirements to leveraging </a:t>
            </a:r>
            <a:br>
              <a:rPr lang="en-US" sz="1200" noProof="0" dirty="0">
                <a:latin typeface="+mj-lt"/>
                <a:ea typeface="+mj-ea"/>
                <a:cs typeface="+mj-cs"/>
              </a:rPr>
            </a:br>
            <a:r>
              <a:rPr lang="en-US" sz="1200" noProof="0" dirty="0">
                <a:latin typeface="+mj-lt"/>
                <a:ea typeface="+mj-ea"/>
                <a:cs typeface="+mj-cs"/>
              </a:rPr>
              <a:t>this service:</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Customer commitment to migrate</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Customer/partner to validate and provide In-Scope Inventory including the dependent Infra services, OS versions, applications, database details with source platform </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Customer should ensure Azure Landing Zone is available to migrate the VMs</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Customer to provide minimum of 200Mbps internet bandwidth which is required during the migration period</a:t>
            </a:r>
          </a:p>
          <a:p>
            <a:pPr marL="203200" indent="-146050">
              <a:lnSpc>
                <a:spcPct val="100000"/>
              </a:lnSpc>
              <a:spcBef>
                <a:spcPts val="0"/>
              </a:spcBef>
              <a:spcAft>
                <a:spcPts val="600"/>
              </a:spcAft>
              <a:buSzPct val="100000"/>
              <a:buFont typeface="Arial" panose="020B0604020202020204" pitchFamily="34" charset="0"/>
              <a:buChar char="•"/>
            </a:pPr>
            <a:r>
              <a:rPr lang="en-US" sz="1000" noProof="0" dirty="0"/>
              <a:t>Factory can perform D and A with Azure Migrate tool. Up to two VMs on premises needed to deploy AZ Migrate</a:t>
            </a:r>
          </a:p>
        </p:txBody>
      </p:sp>
    </p:spTree>
    <p:extLst>
      <p:ext uri="{BB962C8B-B14F-4D97-AF65-F5344CB8AC3E}">
        <p14:creationId xmlns:p14="http://schemas.microsoft.com/office/powerpoint/2010/main" val="371780071"/>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A94E4-5AE8-21CA-EF28-2C7FA1BB0082}"/>
            </a:ext>
          </a:extLst>
        </p:cNvPr>
        <p:cNvGrpSpPr/>
        <p:nvPr/>
      </p:nvGrpSpPr>
      <p:grpSpPr>
        <a:xfrm>
          <a:off x="0" y="0"/>
          <a:ext cx="0" cy="0"/>
          <a:chOff x="0" y="0"/>
          <a:chExt cx="0" cy="0"/>
        </a:xfrm>
      </p:grpSpPr>
      <p:sp>
        <p:nvSpPr>
          <p:cNvPr id="19" name="Rounded Rectangle 55">
            <a:extLst>
              <a:ext uri="{FF2B5EF4-FFF2-40B4-BE49-F238E27FC236}">
                <a16:creationId xmlns:a16="http://schemas.microsoft.com/office/drawing/2014/main" id="{715A12C1-1533-12C2-6B29-765D90B6BDF9}"/>
              </a:ext>
              <a:ext uri="{C183D7F6-B498-43B3-948B-1728B52AA6E4}">
                <adec:decorative xmlns:adec="http://schemas.microsoft.com/office/drawing/2017/decorative" val="1"/>
              </a:ext>
            </a:extLst>
          </p:cNvPr>
          <p:cNvSpPr/>
          <p:nvPr/>
        </p:nvSpPr>
        <p:spPr bwMode="auto">
          <a:xfrm>
            <a:off x="577993" y="1481713"/>
            <a:ext cx="2448877" cy="4832032"/>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0" name="Content Placeholder 4">
            <a:extLst>
              <a:ext uri="{FF2B5EF4-FFF2-40B4-BE49-F238E27FC236}">
                <a16:creationId xmlns:a16="http://schemas.microsoft.com/office/drawing/2014/main" id="{1DE7D052-C280-698E-DA1C-513450CF2092}"/>
              </a:ext>
            </a:extLst>
          </p:cNvPr>
          <p:cNvSpPr txBox="1">
            <a:spLocks/>
          </p:cNvSpPr>
          <p:nvPr/>
        </p:nvSpPr>
        <p:spPr>
          <a:xfrm>
            <a:off x="839150" y="1921739"/>
            <a:ext cx="2448877" cy="2702663"/>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914400">
              <a:lnSpc>
                <a:spcPct val="150000"/>
              </a:lnSpc>
              <a:spcBef>
                <a:spcPts val="0"/>
              </a:spcBef>
              <a:spcAft>
                <a:spcPts val="600"/>
              </a:spcAft>
              <a:buSzTx/>
              <a:buFont typeface="Wingdings" panose="05000000000000000000" pitchFamily="2" charset="2"/>
              <a:buChar char="ü"/>
              <a:defRPr/>
            </a:pPr>
            <a:r>
              <a:rPr lang="en-US" sz="1200" noProof="0" dirty="0"/>
              <a:t>On premises to Azure VMs</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t>Third-party cloud IaaS and physical to Azure VMs</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t>Azure Landing Zone</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t>Azure discovery and assessment</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t>Azure DNS (private)</a:t>
            </a:r>
          </a:p>
          <a:p>
            <a:pPr lvl="0" defTabSz="914400">
              <a:lnSpc>
                <a:spcPct val="150000"/>
              </a:lnSpc>
              <a:spcBef>
                <a:spcPts val="0"/>
              </a:spcBef>
              <a:spcAft>
                <a:spcPts val="600"/>
              </a:spcAft>
              <a:buSzTx/>
              <a:buFont typeface="Wingdings" panose="05000000000000000000" pitchFamily="2" charset="2"/>
              <a:buChar char="ü"/>
              <a:defRPr/>
            </a:pPr>
            <a:r>
              <a:rPr lang="en-US" sz="1200" noProof="0" dirty="0"/>
              <a:t>VPN Gateway</a:t>
            </a:r>
          </a:p>
        </p:txBody>
      </p:sp>
      <p:sp>
        <p:nvSpPr>
          <p:cNvPr id="21" name="Rounded Rectangle 55">
            <a:extLst>
              <a:ext uri="{FF2B5EF4-FFF2-40B4-BE49-F238E27FC236}">
                <a16:creationId xmlns:a16="http://schemas.microsoft.com/office/drawing/2014/main" id="{493C990E-0327-2027-7C7A-04489BC7E168}"/>
              </a:ext>
              <a:ext uri="{C183D7F6-B498-43B3-948B-1728B52AA6E4}">
                <adec:decorative xmlns:adec="http://schemas.microsoft.com/office/drawing/2017/decorative" val="1"/>
              </a:ext>
            </a:extLst>
          </p:cNvPr>
          <p:cNvSpPr/>
          <p:nvPr/>
        </p:nvSpPr>
        <p:spPr bwMode="auto">
          <a:xfrm>
            <a:off x="3122613" y="1475106"/>
            <a:ext cx="8497887" cy="4832032"/>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2" name="Graphic 22">
            <a:extLst>
              <a:ext uri="{FF2B5EF4-FFF2-40B4-BE49-F238E27FC236}">
                <a16:creationId xmlns:a16="http://schemas.microsoft.com/office/drawing/2014/main" id="{317DCD5A-F6C9-2C04-2207-10E5E16F1780}"/>
              </a:ext>
            </a:extLst>
          </p:cNvPr>
          <p:cNvSpPr/>
          <p:nvPr/>
        </p:nvSpPr>
        <p:spPr>
          <a:xfrm>
            <a:off x="6691947" y="1332675"/>
            <a:ext cx="204153" cy="204153"/>
          </a:xfrm>
          <a:custGeom>
            <a:avLst/>
            <a:gdLst>
              <a:gd name="csX0" fmla="*/ 347188 w 360446"/>
              <a:gd name="csY0" fmla="*/ 114534 h 360446"/>
              <a:gd name="csX1" fmla="*/ 245913 w 360446"/>
              <a:gd name="csY1" fmla="*/ 13259 h 360446"/>
              <a:gd name="csX2" fmla="*/ 173453 w 360446"/>
              <a:gd name="csY2" fmla="*/ 25018 h 360446"/>
              <a:gd name="csX3" fmla="*/ 123234 w 360446"/>
              <a:gd name="csY3" fmla="*/ 125456 h 360446"/>
              <a:gd name="csX4" fmla="*/ 116473 w 360446"/>
              <a:gd name="csY4" fmla="*/ 131384 h 360446"/>
              <a:gd name="csX5" fmla="*/ 42465 w 360446"/>
              <a:gd name="csY5" fmla="*/ 156951 h 360446"/>
              <a:gd name="csX6" fmla="*/ 32496 w 360446"/>
              <a:gd name="csY6" fmla="*/ 200231 h 360446"/>
              <a:gd name="csX7" fmla="*/ 87938 w 360446"/>
              <a:gd name="csY7" fmla="*/ 255672 h 360446"/>
              <a:gd name="csX8" fmla="*/ 0 w 360446"/>
              <a:gd name="csY8" fmla="*/ 343609 h 360446"/>
              <a:gd name="csX9" fmla="*/ 0 w 360446"/>
              <a:gd name="csY9" fmla="*/ 360447 h 360446"/>
              <a:gd name="csX10" fmla="*/ 16838 w 360446"/>
              <a:gd name="csY10" fmla="*/ 360447 h 360446"/>
              <a:gd name="csX11" fmla="*/ 104775 w 360446"/>
              <a:gd name="csY11" fmla="*/ 272510 h 360446"/>
              <a:gd name="csX12" fmla="*/ 160217 w 360446"/>
              <a:gd name="csY12" fmla="*/ 327951 h 360446"/>
              <a:gd name="csX13" fmla="*/ 203497 w 360446"/>
              <a:gd name="csY13" fmla="*/ 317983 h 360446"/>
              <a:gd name="csX14" fmla="*/ 229063 w 360446"/>
              <a:gd name="csY14" fmla="*/ 243974 h 360446"/>
              <a:gd name="csX15" fmla="*/ 234992 w 360446"/>
              <a:gd name="csY15" fmla="*/ 237212 h 360446"/>
              <a:gd name="csX16" fmla="*/ 335430 w 360446"/>
              <a:gd name="csY16" fmla="*/ 186994 h 360446"/>
              <a:gd name="csX17" fmla="*/ 347188 w 360446"/>
              <a:gd name="csY17" fmla="*/ 114534 h 360446"/>
              <a:gd name="csX18" fmla="*/ 229074 w 360446"/>
              <a:gd name="csY18" fmla="*/ 30097 h 360446"/>
              <a:gd name="csX19" fmla="*/ 330350 w 360446"/>
              <a:gd name="csY19" fmla="*/ 131373 h 360446"/>
              <a:gd name="csX20" fmla="*/ 324780 w 360446"/>
              <a:gd name="csY20" fmla="*/ 165695 h 360446"/>
              <a:gd name="csX21" fmla="*/ 224342 w 360446"/>
              <a:gd name="csY21" fmla="*/ 215915 h 360446"/>
              <a:gd name="csX22" fmla="*/ 206555 w 360446"/>
              <a:gd name="csY22" fmla="*/ 236199 h 360446"/>
              <a:gd name="csX23" fmla="*/ 180989 w 360446"/>
              <a:gd name="csY23" fmla="*/ 310207 h 360446"/>
              <a:gd name="csX24" fmla="*/ 177055 w 360446"/>
              <a:gd name="csY24" fmla="*/ 311113 h 360446"/>
              <a:gd name="csX25" fmla="*/ 49334 w 360446"/>
              <a:gd name="csY25" fmla="*/ 183392 h 360446"/>
              <a:gd name="csX26" fmla="*/ 50241 w 360446"/>
              <a:gd name="csY26" fmla="*/ 179459 h 360446"/>
              <a:gd name="csX27" fmla="*/ 124248 w 360446"/>
              <a:gd name="csY27" fmla="*/ 153892 h 360446"/>
              <a:gd name="csX28" fmla="*/ 144533 w 360446"/>
              <a:gd name="csY28" fmla="*/ 136105 h 360446"/>
              <a:gd name="csX29" fmla="*/ 194752 w 360446"/>
              <a:gd name="csY29" fmla="*/ 35667 h 360446"/>
              <a:gd name="csX30" fmla="*/ 229074 w 360446"/>
              <a:gd name="csY30" fmla="*/ 30097 h 360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60446" h="360446">
                <a:moveTo>
                  <a:pt x="347188" y="114534"/>
                </a:moveTo>
                <a:lnTo>
                  <a:pt x="245913" y="13259"/>
                </a:lnTo>
                <a:cubicBezTo>
                  <a:pt x="224076" y="-8578"/>
                  <a:pt x="187263" y="-2604"/>
                  <a:pt x="173453" y="25018"/>
                </a:cubicBezTo>
                <a:lnTo>
                  <a:pt x="123234" y="125456"/>
                </a:lnTo>
                <a:cubicBezTo>
                  <a:pt x="121843" y="128240"/>
                  <a:pt x="119415" y="130368"/>
                  <a:pt x="116473" y="131384"/>
                </a:cubicBezTo>
                <a:lnTo>
                  <a:pt x="42465" y="156951"/>
                </a:lnTo>
                <a:cubicBezTo>
                  <a:pt x="24178" y="163268"/>
                  <a:pt x="18815" y="186550"/>
                  <a:pt x="32496" y="200231"/>
                </a:cubicBezTo>
                <a:lnTo>
                  <a:pt x="87938" y="255672"/>
                </a:lnTo>
                <a:lnTo>
                  <a:pt x="0" y="343609"/>
                </a:lnTo>
                <a:lnTo>
                  <a:pt x="0" y="360447"/>
                </a:lnTo>
                <a:lnTo>
                  <a:pt x="16838" y="360447"/>
                </a:lnTo>
                <a:lnTo>
                  <a:pt x="104775" y="272510"/>
                </a:lnTo>
                <a:lnTo>
                  <a:pt x="160217" y="327951"/>
                </a:lnTo>
                <a:cubicBezTo>
                  <a:pt x="173898" y="341632"/>
                  <a:pt x="197179" y="336270"/>
                  <a:pt x="203497" y="317983"/>
                </a:cubicBezTo>
                <a:lnTo>
                  <a:pt x="229063" y="243974"/>
                </a:lnTo>
                <a:cubicBezTo>
                  <a:pt x="230079" y="241032"/>
                  <a:pt x="232208" y="238605"/>
                  <a:pt x="234992" y="237212"/>
                </a:cubicBezTo>
                <a:lnTo>
                  <a:pt x="335430" y="186994"/>
                </a:lnTo>
                <a:cubicBezTo>
                  <a:pt x="363050" y="173184"/>
                  <a:pt x="369024" y="136371"/>
                  <a:pt x="347188" y="114534"/>
                </a:cubicBezTo>
                <a:close/>
                <a:moveTo>
                  <a:pt x="229074" y="30097"/>
                </a:moveTo>
                <a:lnTo>
                  <a:pt x="330350" y="131373"/>
                </a:lnTo>
                <a:cubicBezTo>
                  <a:pt x="340693" y="141716"/>
                  <a:pt x="337864" y="159153"/>
                  <a:pt x="324780" y="165695"/>
                </a:cubicBezTo>
                <a:lnTo>
                  <a:pt x="224342" y="215915"/>
                </a:lnTo>
                <a:cubicBezTo>
                  <a:pt x="215990" y="220090"/>
                  <a:pt x="209605" y="227372"/>
                  <a:pt x="206555" y="236199"/>
                </a:cubicBezTo>
                <a:lnTo>
                  <a:pt x="180989" y="310207"/>
                </a:lnTo>
                <a:cubicBezTo>
                  <a:pt x="180415" y="311869"/>
                  <a:pt x="178298" y="312357"/>
                  <a:pt x="177055" y="311113"/>
                </a:cubicBezTo>
                <a:lnTo>
                  <a:pt x="49334" y="183392"/>
                </a:lnTo>
                <a:cubicBezTo>
                  <a:pt x="48091" y="182149"/>
                  <a:pt x="48578" y="180032"/>
                  <a:pt x="50241" y="179459"/>
                </a:cubicBezTo>
                <a:lnTo>
                  <a:pt x="124248" y="153892"/>
                </a:lnTo>
                <a:cubicBezTo>
                  <a:pt x="133075" y="150843"/>
                  <a:pt x="140357" y="144457"/>
                  <a:pt x="144533" y="136105"/>
                </a:cubicBezTo>
                <a:lnTo>
                  <a:pt x="194752" y="35667"/>
                </a:lnTo>
                <a:cubicBezTo>
                  <a:pt x="201294" y="22583"/>
                  <a:pt x="218731" y="19753"/>
                  <a:pt x="229074" y="30097"/>
                </a:cubicBezTo>
                <a:close/>
              </a:path>
            </a:pathLst>
          </a:custGeom>
          <a:solidFill>
            <a:schemeClr val="bg1"/>
          </a:solidFill>
          <a:ln w="9525" cap="flat">
            <a:noFill/>
            <a:prstDash val="solid"/>
            <a:miter/>
          </a:ln>
        </p:spPr>
        <p:txBody>
          <a:bodyPr/>
          <a:lstStyle/>
          <a:p>
            <a:endParaRPr lang="en-US" noProof="0" dirty="0"/>
          </a:p>
        </p:txBody>
      </p:sp>
      <p:sp>
        <p:nvSpPr>
          <p:cNvPr id="23" name="TextBox 22">
            <a:extLst>
              <a:ext uri="{FF2B5EF4-FFF2-40B4-BE49-F238E27FC236}">
                <a16:creationId xmlns:a16="http://schemas.microsoft.com/office/drawing/2014/main" id="{340177EB-B8EA-E1A9-E33C-0BFCA4FEA1C7}"/>
              </a:ext>
            </a:extLst>
          </p:cNvPr>
          <p:cNvSpPr txBox="1"/>
          <p:nvPr/>
        </p:nvSpPr>
        <p:spPr>
          <a:xfrm>
            <a:off x="3213621" y="1534700"/>
            <a:ext cx="4081914" cy="3370153"/>
          </a:xfrm>
          <a:prstGeom prst="rect">
            <a:avLst/>
          </a:prstGeom>
          <a:noFill/>
        </p:spPr>
        <p:txBody>
          <a:bodyPr wrap="square">
            <a:spAutoFit/>
          </a:bodyPr>
          <a:lstStyle/>
          <a:p>
            <a:pPr marL="231775" lvl="1" indent="-231775">
              <a:buFont typeface="+mj-lt"/>
              <a:buAutoNum type="arabicPeriod"/>
              <a:defRPr/>
            </a:pPr>
            <a:r>
              <a:rPr lang="en-US" sz="1400" kern="0" noProof="0" dirty="0">
                <a:solidFill>
                  <a:schemeClr val="tx2"/>
                </a:solidFill>
                <a:latin typeface="+mj-lt"/>
              </a:rPr>
              <a:t>On premises to Azure VMs</a:t>
            </a:r>
          </a:p>
          <a:p>
            <a:pPr marL="463550" lvl="1" indent="-158750">
              <a:spcAft>
                <a:spcPts val="600"/>
              </a:spcAft>
              <a:buFont typeface="Arial" panose="020B0604020202020204" pitchFamily="34" charset="0"/>
              <a:buChar char="•"/>
              <a:defRPr/>
            </a:pPr>
            <a:r>
              <a:rPr lang="en-US" sz="1200" kern="0" noProof="0" dirty="0"/>
              <a:t>Migration VMWare/Hyper-V workloads as-is using Azure Migrate appliance (one dedicated </a:t>
            </a:r>
            <a:br>
              <a:rPr lang="en-US" sz="1200" kern="0" noProof="0" dirty="0"/>
            </a:br>
            <a:r>
              <a:rPr lang="en-US" sz="1200" kern="0" noProof="0" dirty="0"/>
              <a:t>server required)</a:t>
            </a:r>
          </a:p>
          <a:p>
            <a:pPr marL="225425" lvl="1" indent="-225425">
              <a:spcBef>
                <a:spcPts val="600"/>
              </a:spcBef>
              <a:buFont typeface="+mj-lt"/>
              <a:buAutoNum type="arabicPeriod" startAt="2"/>
              <a:defRPr/>
            </a:pPr>
            <a:r>
              <a:rPr lang="en-US" sz="1400" kern="0" noProof="0" dirty="0">
                <a:solidFill>
                  <a:schemeClr val="tx2"/>
                </a:solidFill>
                <a:latin typeface="+mj-lt"/>
              </a:rPr>
              <a:t>Third-party cloud IaaS and physical to Azure VMs </a:t>
            </a:r>
          </a:p>
          <a:p>
            <a:pPr marL="463550" lvl="1" indent="-158750">
              <a:spcAft>
                <a:spcPts val="600"/>
              </a:spcAft>
              <a:buFont typeface="Arial" panose="020B0604020202020204" pitchFamily="34" charset="0"/>
              <a:buChar char="•"/>
              <a:defRPr/>
            </a:pPr>
            <a:r>
              <a:rPr lang="en-US" sz="1200" kern="0" noProof="0" dirty="0"/>
              <a:t>Migration of IaaS workloads and physical (Windows and Linux) as-is using Azure Migrate appliance (two dedicated server required)</a:t>
            </a:r>
          </a:p>
          <a:p>
            <a:pPr marL="225425" lvl="1" indent="-225425">
              <a:spcBef>
                <a:spcPts val="600"/>
              </a:spcBef>
              <a:buFont typeface="+mj-lt"/>
              <a:buAutoNum type="arabicPeriod" startAt="3"/>
              <a:defRPr/>
            </a:pPr>
            <a:r>
              <a:rPr lang="en-US" sz="1400" kern="0" noProof="0" dirty="0">
                <a:solidFill>
                  <a:schemeClr val="tx2"/>
                </a:solidFill>
                <a:latin typeface="+mj-lt"/>
              </a:rPr>
              <a:t>Azure Landing Zone</a:t>
            </a:r>
          </a:p>
          <a:p>
            <a:pPr marL="463550" lvl="1" indent="-158750">
              <a:spcAft>
                <a:spcPts val="200"/>
              </a:spcAft>
              <a:buFont typeface="Arial" panose="020B0604020202020204" pitchFamily="34" charset="0"/>
              <a:buChar char="•"/>
              <a:defRPr/>
            </a:pPr>
            <a:r>
              <a:rPr lang="en-US" sz="1200" kern="0" noProof="0" dirty="0"/>
              <a:t>Deployment of SMB proposed architecture with two subscription</a:t>
            </a:r>
          </a:p>
          <a:p>
            <a:pPr marL="463550" lvl="1" indent="-158750">
              <a:spcAft>
                <a:spcPts val="200"/>
              </a:spcAft>
              <a:buFont typeface="Arial" panose="020B0604020202020204" pitchFamily="34" charset="0"/>
              <a:buChar char="•"/>
              <a:defRPr/>
            </a:pPr>
            <a:r>
              <a:rPr lang="en-US" sz="1200" kern="0" noProof="0" dirty="0"/>
              <a:t>Two non-overlapping CIDR range</a:t>
            </a:r>
          </a:p>
          <a:p>
            <a:pPr marL="463550" lvl="1" indent="-158750">
              <a:spcAft>
                <a:spcPts val="200"/>
              </a:spcAft>
              <a:buFont typeface="Arial" panose="020B0604020202020204" pitchFamily="34" charset="0"/>
              <a:buChar char="•"/>
              <a:defRPr/>
            </a:pPr>
            <a:r>
              <a:rPr lang="en-US" sz="1200" kern="0" noProof="0" dirty="0"/>
              <a:t>Validation of existing LZ</a:t>
            </a:r>
          </a:p>
          <a:p>
            <a:pPr marL="288925" lvl="1">
              <a:spcAft>
                <a:spcPts val="1200"/>
              </a:spcAft>
              <a:defRPr/>
            </a:pPr>
            <a:endParaRPr lang="en-US" sz="1200" kern="0" noProof="0" dirty="0">
              <a:solidFill>
                <a:prstClr val="black"/>
              </a:solidFill>
            </a:endParaRPr>
          </a:p>
        </p:txBody>
      </p:sp>
      <p:sp>
        <p:nvSpPr>
          <p:cNvPr id="24" name="TextBox 23">
            <a:extLst>
              <a:ext uri="{FF2B5EF4-FFF2-40B4-BE49-F238E27FC236}">
                <a16:creationId xmlns:a16="http://schemas.microsoft.com/office/drawing/2014/main" id="{1B8D6778-A2E9-F595-EB0F-30EFE4765F19}"/>
              </a:ext>
            </a:extLst>
          </p:cNvPr>
          <p:cNvSpPr txBox="1"/>
          <p:nvPr/>
        </p:nvSpPr>
        <p:spPr>
          <a:xfrm>
            <a:off x="7462176" y="1534700"/>
            <a:ext cx="4081914" cy="4370427"/>
          </a:xfrm>
          <a:prstGeom prst="rect">
            <a:avLst/>
          </a:prstGeom>
          <a:noFill/>
        </p:spPr>
        <p:txBody>
          <a:bodyPr wrap="square">
            <a:spAutoFit/>
          </a:bodyPr>
          <a:lstStyle/>
          <a:p>
            <a:pPr marL="225425" lvl="1" indent="-225425">
              <a:buFont typeface="+mj-lt"/>
              <a:buAutoNum type="arabicPeriod" startAt="4"/>
              <a:defRPr/>
            </a:pPr>
            <a:r>
              <a:rPr lang="en-US" sz="1400" kern="0" noProof="0" dirty="0">
                <a:solidFill>
                  <a:schemeClr val="tx2"/>
                </a:solidFill>
                <a:latin typeface="+mj-lt"/>
              </a:rPr>
              <a:t>Azure discovery and assessment</a:t>
            </a:r>
          </a:p>
          <a:p>
            <a:pPr marL="463550" lvl="1" indent="-149225">
              <a:spcAft>
                <a:spcPts val="200"/>
              </a:spcAft>
              <a:buFont typeface="Arial" panose="020B0604020202020204" pitchFamily="34" charset="0"/>
              <a:buChar char="•"/>
              <a:defRPr/>
            </a:pPr>
            <a:r>
              <a:rPr lang="en-US" sz="1200" kern="0" noProof="0" dirty="0"/>
              <a:t>Assesses whether on-premises servers, SQL Servers, and web apps are ready for migration to Azure</a:t>
            </a:r>
          </a:p>
          <a:p>
            <a:pPr marL="463550" lvl="1" indent="-149225">
              <a:spcAft>
                <a:spcPts val="200"/>
              </a:spcAft>
              <a:buFont typeface="Arial" panose="020B0604020202020204" pitchFamily="34" charset="0"/>
              <a:buChar char="•"/>
              <a:defRPr/>
            </a:pPr>
            <a:r>
              <a:rPr lang="en-US" sz="1200" kern="0" noProof="0" dirty="0"/>
              <a:t>Estimates the size of Azure VMs/Azure SQL configuration/number of Azure VMware solution nodes after migration</a:t>
            </a:r>
          </a:p>
          <a:p>
            <a:pPr marL="463550" lvl="1" indent="-149225">
              <a:spcAft>
                <a:spcPts val="200"/>
              </a:spcAft>
              <a:buFont typeface="Arial" panose="020B0604020202020204" pitchFamily="34" charset="0"/>
              <a:buChar char="•"/>
              <a:defRPr/>
            </a:pPr>
            <a:r>
              <a:rPr lang="en-US" sz="1200" kern="0" noProof="0" dirty="0"/>
              <a:t>Validate Connectivity Setup (internet, site-to-site) and bandwidth availability</a:t>
            </a:r>
          </a:p>
          <a:p>
            <a:pPr marL="463550" lvl="1" indent="-149225">
              <a:spcAft>
                <a:spcPts val="200"/>
              </a:spcAft>
              <a:buFont typeface="Arial" panose="020B0604020202020204" pitchFamily="34" charset="0"/>
              <a:buChar char="•"/>
              <a:defRPr/>
            </a:pPr>
            <a:r>
              <a:rPr lang="en-US" sz="1200" kern="0" noProof="0" dirty="0"/>
              <a:t>Provide screen share guidance on Azure Migrate Appliance set-up and execution</a:t>
            </a:r>
          </a:p>
          <a:p>
            <a:pPr marL="231775" lvl="1" indent="-231775">
              <a:spcBef>
                <a:spcPts val="600"/>
              </a:spcBef>
              <a:buFont typeface="+mj-lt"/>
              <a:buAutoNum type="arabicPeriod" startAt="5"/>
              <a:defRPr/>
            </a:pPr>
            <a:r>
              <a:rPr lang="en-US" sz="1400" kern="0" noProof="0" dirty="0">
                <a:solidFill>
                  <a:schemeClr val="tx2"/>
                </a:solidFill>
                <a:latin typeface="+mj-lt"/>
              </a:rPr>
              <a:t>Azure DNS (private)—screen share guidance only</a:t>
            </a:r>
          </a:p>
          <a:p>
            <a:pPr marL="463550" lvl="1" indent="-149225">
              <a:spcAft>
                <a:spcPts val="200"/>
              </a:spcAft>
              <a:buFont typeface="Arial" panose="020B0604020202020204" pitchFamily="34" charset="0"/>
              <a:buChar char="•"/>
              <a:defRPr/>
            </a:pPr>
            <a:r>
              <a:rPr lang="en-US" sz="1200" kern="0" noProof="0" dirty="0"/>
              <a:t>Configuration of Azure Private DNS zones</a:t>
            </a:r>
          </a:p>
          <a:p>
            <a:pPr marL="463550" lvl="1" indent="-149225">
              <a:spcAft>
                <a:spcPts val="200"/>
              </a:spcAft>
              <a:buFont typeface="Arial" panose="020B0604020202020204" pitchFamily="34" charset="0"/>
              <a:buChar char="•"/>
              <a:defRPr/>
            </a:pPr>
            <a:r>
              <a:rPr lang="en-US" sz="1200" kern="0" noProof="0" dirty="0"/>
              <a:t>Migration of existing DNS records to Azure DNS</a:t>
            </a:r>
          </a:p>
          <a:p>
            <a:pPr marL="463550" lvl="1" indent="-149225">
              <a:spcAft>
                <a:spcPts val="200"/>
              </a:spcAft>
              <a:buFont typeface="Arial" panose="020B0604020202020204" pitchFamily="34" charset="0"/>
              <a:buChar char="•"/>
              <a:defRPr/>
            </a:pPr>
            <a:r>
              <a:rPr lang="en-US" sz="1200" kern="0" noProof="0" dirty="0"/>
              <a:t>Integration with virtual networks for secure name resolution</a:t>
            </a:r>
          </a:p>
          <a:p>
            <a:pPr marL="231775" lvl="1" indent="-231775">
              <a:spcBef>
                <a:spcPts val="600"/>
              </a:spcBef>
              <a:buFont typeface="+mj-lt"/>
              <a:buAutoNum type="arabicPeriod" startAt="6"/>
              <a:defRPr/>
            </a:pPr>
            <a:r>
              <a:rPr lang="en-US" sz="1200" kern="0" noProof="0" dirty="0">
                <a:solidFill>
                  <a:schemeClr val="tx2"/>
                </a:solidFill>
                <a:latin typeface="+mj-lt"/>
              </a:rPr>
              <a:t>VPN Gateway </a:t>
            </a:r>
          </a:p>
          <a:p>
            <a:pPr marL="463550" lvl="1" indent="-149225">
              <a:buFont typeface="Arial" panose="020B0604020202020204" pitchFamily="34" charset="0"/>
              <a:buChar char="•"/>
              <a:defRPr/>
            </a:pPr>
            <a:r>
              <a:rPr lang="en-US" sz="1200" kern="0" noProof="0" dirty="0"/>
              <a:t>Configuration of Azure VPN Gateway for site-to-site connectivity</a:t>
            </a:r>
          </a:p>
          <a:p>
            <a:pPr marL="288925" lvl="1">
              <a:spcAft>
                <a:spcPts val="1200"/>
              </a:spcAft>
              <a:defRPr/>
            </a:pPr>
            <a:endParaRPr lang="en-US" sz="1200" kern="0" noProof="0" dirty="0">
              <a:solidFill>
                <a:prstClr val="black"/>
              </a:solidFill>
            </a:endParaRPr>
          </a:p>
        </p:txBody>
      </p:sp>
      <p:sp>
        <p:nvSpPr>
          <p:cNvPr id="26" name="TextBox 25">
            <a:extLst>
              <a:ext uri="{FF2B5EF4-FFF2-40B4-BE49-F238E27FC236}">
                <a16:creationId xmlns:a16="http://schemas.microsoft.com/office/drawing/2014/main" id="{21B17675-55D6-B9E7-105F-DFD24046048B}"/>
              </a:ext>
            </a:extLst>
          </p:cNvPr>
          <p:cNvSpPr txBox="1"/>
          <p:nvPr/>
        </p:nvSpPr>
        <p:spPr>
          <a:xfrm>
            <a:off x="647910" y="1544513"/>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7" name="Title 5">
            <a:extLst>
              <a:ext uri="{FF2B5EF4-FFF2-40B4-BE49-F238E27FC236}">
                <a16:creationId xmlns:a16="http://schemas.microsoft.com/office/drawing/2014/main" id="{4274625C-3E00-B232-DD4A-D414C80A34C2}"/>
              </a:ext>
            </a:extLst>
          </p:cNvPr>
          <p:cNvSpPr txBox="1">
            <a:spLocks/>
          </p:cNvSpPr>
          <p:nvPr/>
        </p:nvSpPr>
        <p:spPr>
          <a:xfrm>
            <a:off x="921382" y="272290"/>
            <a:ext cx="7848981" cy="101590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lang="en-US" sz="2800" noProof="0" dirty="0"/>
              <a:t>Infrastructure Migration</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Infrastructure and database migration (Small SMB segment)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One-time engagement</a:t>
            </a:r>
            <a:endParaRPr kumimoji="0" lang="en-US" sz="1800" b="0" i="0" u="none" strike="noStrike" kern="1200" cap="none" spc="0" normalizeH="0" baseline="0" noProof="0" dirty="0">
              <a:ln>
                <a:noFill/>
              </a:ln>
              <a:solidFill>
                <a:srgbClr val="000000"/>
              </a:solidFill>
              <a:effectLst/>
              <a:uLnTx/>
              <a:uFillTx/>
              <a:latin typeface="Segoe Sans Text Semibold"/>
              <a:ea typeface="+mn-ea"/>
              <a:cs typeface="+mn-cs"/>
            </a:endParaRPr>
          </a:p>
          <a:p>
            <a:pPr>
              <a:defRPr/>
            </a:pPr>
            <a:endParaRPr lang="en-US" sz="2800" noProof="0" dirty="0"/>
          </a:p>
        </p:txBody>
      </p:sp>
      <p:sp>
        <p:nvSpPr>
          <p:cNvPr id="9" name="Graphic 23">
            <a:extLst>
              <a:ext uri="{FF2B5EF4-FFF2-40B4-BE49-F238E27FC236}">
                <a16:creationId xmlns:a16="http://schemas.microsoft.com/office/drawing/2014/main" id="{105E3960-DD7A-BA4D-49FF-BE1A22C26CE7}"/>
              </a:ext>
              <a:ext uri="{C183D7F6-B498-43B3-948B-1728B52AA6E4}">
                <adec:decorative xmlns:adec="http://schemas.microsoft.com/office/drawing/2017/decorative" val="1"/>
              </a:ext>
            </a:extLst>
          </p:cNvPr>
          <p:cNvSpPr/>
          <p:nvPr/>
        </p:nvSpPr>
        <p:spPr>
          <a:xfrm>
            <a:off x="857582" y="207507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1" name="Graphic 23">
            <a:extLst>
              <a:ext uri="{FF2B5EF4-FFF2-40B4-BE49-F238E27FC236}">
                <a16:creationId xmlns:a16="http://schemas.microsoft.com/office/drawing/2014/main" id="{B3FDE1A2-1655-ED83-A0D8-9274F56C6648}"/>
              </a:ext>
              <a:ext uri="{C183D7F6-B498-43B3-948B-1728B52AA6E4}">
                <adec:decorative xmlns:adec="http://schemas.microsoft.com/office/drawing/2017/decorative" val="1"/>
              </a:ext>
            </a:extLst>
          </p:cNvPr>
          <p:cNvSpPr/>
          <p:nvPr/>
        </p:nvSpPr>
        <p:spPr>
          <a:xfrm>
            <a:off x="869182" y="2414414"/>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Graphic 23">
            <a:extLst>
              <a:ext uri="{FF2B5EF4-FFF2-40B4-BE49-F238E27FC236}">
                <a16:creationId xmlns:a16="http://schemas.microsoft.com/office/drawing/2014/main" id="{49DCAB40-3C36-17F8-CF4A-303FD3D9B24C}"/>
              </a:ext>
              <a:ext uri="{C183D7F6-B498-43B3-948B-1728B52AA6E4}">
                <adec:decorative xmlns:adec="http://schemas.microsoft.com/office/drawing/2017/decorative" val="1"/>
              </a:ext>
            </a:extLst>
          </p:cNvPr>
          <p:cNvSpPr/>
          <p:nvPr/>
        </p:nvSpPr>
        <p:spPr>
          <a:xfrm>
            <a:off x="869182" y="303411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Graphic 23">
            <a:extLst>
              <a:ext uri="{FF2B5EF4-FFF2-40B4-BE49-F238E27FC236}">
                <a16:creationId xmlns:a16="http://schemas.microsoft.com/office/drawing/2014/main" id="{C0A76A40-8093-6674-F3BB-BBDCA233A014}"/>
              </a:ext>
              <a:ext uri="{C183D7F6-B498-43B3-948B-1728B52AA6E4}">
                <adec:decorative xmlns:adec="http://schemas.microsoft.com/office/drawing/2017/decorative" val="1"/>
              </a:ext>
            </a:extLst>
          </p:cNvPr>
          <p:cNvSpPr/>
          <p:nvPr/>
        </p:nvSpPr>
        <p:spPr>
          <a:xfrm>
            <a:off x="869182" y="344168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Graphic 23">
            <a:extLst>
              <a:ext uri="{FF2B5EF4-FFF2-40B4-BE49-F238E27FC236}">
                <a16:creationId xmlns:a16="http://schemas.microsoft.com/office/drawing/2014/main" id="{FB9B7470-0247-C2DC-D9A0-F7746B88AC8C}"/>
              </a:ext>
              <a:ext uri="{C183D7F6-B498-43B3-948B-1728B52AA6E4}">
                <adec:decorative xmlns:adec="http://schemas.microsoft.com/office/drawing/2017/decorative" val="1"/>
              </a:ext>
            </a:extLst>
          </p:cNvPr>
          <p:cNvSpPr/>
          <p:nvPr/>
        </p:nvSpPr>
        <p:spPr>
          <a:xfrm>
            <a:off x="869182" y="4033042"/>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5" name="Graphic 23">
            <a:extLst>
              <a:ext uri="{FF2B5EF4-FFF2-40B4-BE49-F238E27FC236}">
                <a16:creationId xmlns:a16="http://schemas.microsoft.com/office/drawing/2014/main" id="{7AE503BC-248E-8B6F-07F2-CCF7880F0793}"/>
              </a:ext>
              <a:ext uri="{C183D7F6-B498-43B3-948B-1728B52AA6E4}">
                <adec:decorative xmlns:adec="http://schemas.microsoft.com/office/drawing/2017/decorative" val="1"/>
              </a:ext>
            </a:extLst>
          </p:cNvPr>
          <p:cNvSpPr/>
          <p:nvPr/>
        </p:nvSpPr>
        <p:spPr>
          <a:xfrm>
            <a:off x="877252" y="4368443"/>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11823360"/>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A170-939C-8F5C-AC16-66CD4AAB4EB5}"/>
            </a:ext>
          </a:extLst>
        </p:cNvPr>
        <p:cNvGrpSpPr/>
        <p:nvPr/>
      </p:nvGrpSpPr>
      <p:grpSpPr>
        <a:xfrm>
          <a:off x="0" y="0"/>
          <a:ext cx="0" cy="0"/>
          <a:chOff x="0" y="0"/>
          <a:chExt cx="0" cy="0"/>
        </a:xfrm>
      </p:grpSpPr>
      <p:sp>
        <p:nvSpPr>
          <p:cNvPr id="7" name="Rounded Rectangle 55">
            <a:extLst>
              <a:ext uri="{FF2B5EF4-FFF2-40B4-BE49-F238E27FC236}">
                <a16:creationId xmlns:a16="http://schemas.microsoft.com/office/drawing/2014/main" id="{643170D0-A6B2-4281-6F30-FAEFF151C452}"/>
              </a:ext>
              <a:ext uri="{C183D7F6-B498-43B3-948B-1728B52AA6E4}">
                <adec:decorative xmlns:adec="http://schemas.microsoft.com/office/drawing/2017/decorative" val="1"/>
              </a:ext>
            </a:extLst>
          </p:cNvPr>
          <p:cNvSpPr/>
          <p:nvPr/>
        </p:nvSpPr>
        <p:spPr bwMode="auto">
          <a:xfrm>
            <a:off x="577993" y="1516438"/>
            <a:ext cx="2448877" cy="4832032"/>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9" name="Rounded Rectangle 55">
            <a:extLst>
              <a:ext uri="{FF2B5EF4-FFF2-40B4-BE49-F238E27FC236}">
                <a16:creationId xmlns:a16="http://schemas.microsoft.com/office/drawing/2014/main" id="{C20DA935-C412-E381-4541-D82BA2579E87}"/>
              </a:ext>
              <a:ext uri="{C183D7F6-B498-43B3-948B-1728B52AA6E4}">
                <adec:decorative xmlns:adec="http://schemas.microsoft.com/office/drawing/2017/decorative" val="1"/>
              </a:ext>
            </a:extLst>
          </p:cNvPr>
          <p:cNvSpPr/>
          <p:nvPr/>
        </p:nvSpPr>
        <p:spPr bwMode="auto">
          <a:xfrm>
            <a:off x="3122613" y="1509831"/>
            <a:ext cx="8497887" cy="4832032"/>
          </a:xfrm>
          <a:prstGeom prst="roundRect">
            <a:avLst>
              <a:gd name="adj" fmla="val 2021"/>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21" name="Content Placeholder 4">
            <a:extLst>
              <a:ext uri="{FF2B5EF4-FFF2-40B4-BE49-F238E27FC236}">
                <a16:creationId xmlns:a16="http://schemas.microsoft.com/office/drawing/2014/main" id="{849A0B81-1DE5-D59B-4E07-11819EC971FF}"/>
              </a:ext>
            </a:extLst>
          </p:cNvPr>
          <p:cNvSpPr txBox="1">
            <a:spLocks/>
          </p:cNvSpPr>
          <p:nvPr/>
        </p:nvSpPr>
        <p:spPr>
          <a:xfrm>
            <a:off x="728469" y="1909502"/>
            <a:ext cx="2309042" cy="2148665"/>
          </a:xfrm>
          <a:prstGeom prst="rect">
            <a:avLst/>
          </a:prstGeom>
        </p:spPr>
        <p:txBody>
          <a:bodyPr vert="horz" wrap="square" lIns="91440" tIns="91440" rIns="91440" bIns="45720" rtlCol="0" anchor="t">
            <a:spAutoFit/>
          </a:bodyPr>
          <a:lstStyle>
            <a:lvl1pPr marL="2286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90000"/>
              </a:lnSpc>
              <a:spcBef>
                <a:spcPts val="6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t>Azure Firewall and NSGs</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t>Load Balancer</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t>Private Endpoints</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t>APP Gateway</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t>Single Domain Controller</a:t>
            </a:r>
          </a:p>
          <a:p>
            <a:pPr marL="225425" lvl="0" indent="-225425" defTabSz="914400">
              <a:lnSpc>
                <a:spcPct val="150000"/>
              </a:lnSpc>
              <a:spcBef>
                <a:spcPts val="0"/>
              </a:spcBef>
              <a:spcAft>
                <a:spcPts val="600"/>
              </a:spcAft>
              <a:buSzTx/>
              <a:buFont typeface="Wingdings" panose="05000000000000000000" pitchFamily="2" charset="2"/>
              <a:buChar char="ü"/>
              <a:defRPr/>
            </a:pPr>
            <a:r>
              <a:rPr lang="en-US" sz="1200" noProof="0" dirty="0"/>
              <a:t>File and print server as-is</a:t>
            </a:r>
          </a:p>
        </p:txBody>
      </p:sp>
      <p:sp>
        <p:nvSpPr>
          <p:cNvPr id="22" name="TextBox 21">
            <a:extLst>
              <a:ext uri="{FF2B5EF4-FFF2-40B4-BE49-F238E27FC236}">
                <a16:creationId xmlns:a16="http://schemas.microsoft.com/office/drawing/2014/main" id="{98A35FCB-6E2B-EDF3-8676-AC006440722D}"/>
              </a:ext>
            </a:extLst>
          </p:cNvPr>
          <p:cNvSpPr txBox="1"/>
          <p:nvPr/>
        </p:nvSpPr>
        <p:spPr>
          <a:xfrm>
            <a:off x="3213620" y="1569425"/>
            <a:ext cx="8342585" cy="4172937"/>
          </a:xfrm>
          <a:prstGeom prst="rect">
            <a:avLst/>
          </a:prstGeom>
          <a:noFill/>
        </p:spPr>
        <p:txBody>
          <a:bodyPr wrap="square">
            <a:spAutoFit/>
          </a:bodyPr>
          <a:lstStyle/>
          <a:p>
            <a:pPr marL="231775" lvl="1" indent="-231775">
              <a:buFont typeface="+mj-lt"/>
              <a:buAutoNum type="arabicPeriod"/>
              <a:defRPr/>
            </a:pPr>
            <a:r>
              <a:rPr lang="en-US" sz="1400" kern="0" noProof="0" dirty="0">
                <a:solidFill>
                  <a:schemeClr val="tx2"/>
                </a:solidFill>
                <a:latin typeface="+mj-lt"/>
              </a:rPr>
              <a:t>Single Domain Controller: Extending on premises to cloud as ADC</a:t>
            </a:r>
          </a:p>
          <a:p>
            <a:pPr marL="463550" lvl="1" indent="-149225">
              <a:spcAft>
                <a:spcPts val="200"/>
              </a:spcAft>
              <a:buFont typeface="Arial" panose="020B0604020202020204" pitchFamily="34" charset="0"/>
              <a:buChar char="•"/>
              <a:defRPr/>
            </a:pPr>
            <a:r>
              <a:rPr lang="en-US" sz="1200" kern="0" noProof="0" dirty="0"/>
              <a:t>Off prem no changes required</a:t>
            </a:r>
          </a:p>
          <a:p>
            <a:pPr marL="463550" lvl="1" indent="-149225">
              <a:spcAft>
                <a:spcPts val="200"/>
              </a:spcAft>
              <a:buFont typeface="Arial" panose="020B0604020202020204" pitchFamily="34" charset="0"/>
              <a:buChar char="•"/>
              <a:defRPr/>
            </a:pPr>
            <a:r>
              <a:rPr lang="en-US" sz="1200" kern="0" noProof="0" dirty="0"/>
              <a:t>On-premises partners/customers to confirm/accept potential latency issues or keep a domain controller on premises. On-Prem decommission is not included.</a:t>
            </a:r>
          </a:p>
          <a:p>
            <a:pPr marL="225425" lvl="1" indent="-225425">
              <a:spcBef>
                <a:spcPts val="600"/>
              </a:spcBef>
              <a:buFont typeface="+mj-lt"/>
              <a:buAutoNum type="arabicPeriod" startAt="2"/>
              <a:defRPr/>
            </a:pPr>
            <a:r>
              <a:rPr lang="en-US" sz="1400" kern="0" noProof="0" dirty="0">
                <a:solidFill>
                  <a:schemeClr val="tx2"/>
                </a:solidFill>
                <a:latin typeface="+mj-lt"/>
              </a:rPr>
              <a:t>Azure Firewall and NSGs</a:t>
            </a:r>
          </a:p>
          <a:p>
            <a:pPr marL="463550" lvl="1" indent="-149225">
              <a:spcAft>
                <a:spcPts val="200"/>
              </a:spcAft>
              <a:buFont typeface="Arial" panose="020B0604020202020204" pitchFamily="34" charset="0"/>
              <a:buChar char="•"/>
              <a:defRPr/>
            </a:pPr>
            <a:r>
              <a:rPr lang="en-US" sz="1200" kern="0" noProof="0" dirty="0"/>
              <a:t>Deployment and configuration of Azure Firewall</a:t>
            </a:r>
          </a:p>
          <a:p>
            <a:pPr marL="463550" lvl="1" indent="-149225">
              <a:spcAft>
                <a:spcPts val="200"/>
              </a:spcAft>
              <a:buFont typeface="Arial" panose="020B0604020202020204" pitchFamily="34" charset="0"/>
              <a:buChar char="•"/>
              <a:defRPr/>
            </a:pPr>
            <a:r>
              <a:rPr lang="en-US" sz="1200" kern="0" noProof="0" dirty="0"/>
              <a:t>Setup of Network Security Groups (NSGs) for resource protection</a:t>
            </a:r>
          </a:p>
          <a:p>
            <a:pPr marL="463550" lvl="1" indent="-149225">
              <a:spcAft>
                <a:spcPts val="200"/>
              </a:spcAft>
              <a:buFont typeface="Arial" panose="020B0604020202020204" pitchFamily="34" charset="0"/>
              <a:buChar char="•"/>
              <a:defRPr/>
            </a:pPr>
            <a:r>
              <a:rPr lang="en-US" sz="1200" kern="0" noProof="0" dirty="0"/>
              <a:t>Creation of standard and minimal required rules for inbound and outbound traffic</a:t>
            </a:r>
          </a:p>
          <a:p>
            <a:pPr marL="225425" lvl="1" indent="-225425">
              <a:spcBef>
                <a:spcPts val="600"/>
              </a:spcBef>
              <a:buFont typeface="+mj-lt"/>
              <a:buAutoNum type="arabicPeriod" startAt="3"/>
              <a:defRPr/>
            </a:pPr>
            <a:r>
              <a:rPr lang="en-US" sz="1400" kern="0" noProof="0" dirty="0">
                <a:solidFill>
                  <a:schemeClr val="tx2"/>
                </a:solidFill>
                <a:latin typeface="+mj-lt"/>
              </a:rPr>
              <a:t>Private endpoints</a:t>
            </a:r>
          </a:p>
          <a:p>
            <a:pPr marL="463550" lvl="1" indent="-149225">
              <a:spcAft>
                <a:spcPts val="600"/>
              </a:spcAft>
              <a:buFont typeface="Arial" panose="020B0604020202020204" pitchFamily="34" charset="0"/>
              <a:buChar char="•"/>
              <a:defRPr/>
            </a:pPr>
            <a:r>
              <a:rPr lang="en-US" sz="1200" kern="0" noProof="0" dirty="0"/>
              <a:t>Configuration of private endpoints for critical services</a:t>
            </a:r>
          </a:p>
          <a:p>
            <a:pPr marL="225425" lvl="1" indent="-225425">
              <a:spcBef>
                <a:spcPts val="600"/>
              </a:spcBef>
              <a:buFont typeface="+mj-lt"/>
              <a:buAutoNum type="arabicPeriod" startAt="4"/>
              <a:defRPr/>
            </a:pPr>
            <a:r>
              <a:rPr lang="en-US" sz="1400" kern="0" noProof="0" dirty="0">
                <a:solidFill>
                  <a:schemeClr val="tx2"/>
                </a:solidFill>
                <a:latin typeface="+mj-lt"/>
              </a:rPr>
              <a:t>APP Gateway</a:t>
            </a:r>
          </a:p>
          <a:p>
            <a:pPr marL="463550" lvl="1" indent="-149225">
              <a:spcAft>
                <a:spcPts val="600"/>
              </a:spcAft>
              <a:buFont typeface="Arial" panose="020B0604020202020204" pitchFamily="34" charset="0"/>
              <a:buChar char="•"/>
              <a:defRPr/>
            </a:pPr>
            <a:r>
              <a:rPr lang="en-US" sz="1200" kern="0" noProof="0" dirty="0"/>
              <a:t>Deployment and configuration of Azure Application Gateway</a:t>
            </a:r>
          </a:p>
          <a:p>
            <a:pPr marL="231775" lvl="1" indent="-231775">
              <a:spcBef>
                <a:spcPts val="600"/>
              </a:spcBef>
              <a:buFont typeface="+mj-lt"/>
              <a:buAutoNum type="arabicPeriod" startAt="5"/>
              <a:defRPr/>
            </a:pPr>
            <a:r>
              <a:rPr lang="en-US" sz="1400" kern="0" noProof="0" dirty="0">
                <a:solidFill>
                  <a:schemeClr val="tx2"/>
                </a:solidFill>
                <a:latin typeface="+mj-lt"/>
              </a:rPr>
              <a:t>Load Balancer</a:t>
            </a:r>
          </a:p>
          <a:p>
            <a:pPr marL="463550" lvl="1" indent="-149225">
              <a:spcAft>
                <a:spcPts val="600"/>
              </a:spcAft>
              <a:buFont typeface="Arial" panose="020B0604020202020204" pitchFamily="34" charset="0"/>
              <a:buChar char="•"/>
              <a:defRPr/>
            </a:pPr>
            <a:r>
              <a:rPr lang="en-US" sz="1200" kern="0" noProof="0" dirty="0"/>
              <a:t>Setup of Azure Load Balancer (Standard and Basic)</a:t>
            </a:r>
          </a:p>
          <a:p>
            <a:pPr marL="231775" lvl="1" indent="-231775">
              <a:spcBef>
                <a:spcPts val="600"/>
              </a:spcBef>
              <a:buFont typeface="+mj-lt"/>
              <a:buAutoNum type="arabicPeriod" startAt="6"/>
              <a:defRPr/>
            </a:pPr>
            <a:r>
              <a:rPr lang="en-US" sz="1400" kern="0" noProof="0" dirty="0">
                <a:solidFill>
                  <a:schemeClr val="tx2"/>
                </a:solidFill>
                <a:latin typeface="+mj-lt"/>
              </a:rPr>
              <a:t>File and print server as-is migration </a:t>
            </a:r>
          </a:p>
          <a:p>
            <a:pPr marL="463550" lvl="1" indent="-149225">
              <a:spcAft>
                <a:spcPts val="200"/>
              </a:spcAft>
              <a:buFont typeface="Arial" panose="020B0604020202020204" pitchFamily="34" charset="0"/>
              <a:buChar char="•"/>
              <a:defRPr/>
            </a:pPr>
            <a:r>
              <a:rPr lang="en-US" sz="1200" kern="0" noProof="0" dirty="0"/>
              <a:t>Lift and shift migration of file and print servers to Azure (IaaS)</a:t>
            </a:r>
          </a:p>
          <a:p>
            <a:pPr marL="463550" lvl="1" indent="-149225">
              <a:spcAft>
                <a:spcPts val="200"/>
              </a:spcAft>
              <a:buFont typeface="Arial" panose="020B0604020202020204" pitchFamily="34" charset="0"/>
              <a:buChar char="•"/>
              <a:defRPr/>
            </a:pPr>
            <a:r>
              <a:rPr lang="en-US" sz="1200" kern="0" noProof="0" dirty="0"/>
              <a:t>Setup of Azure File Sync for hybrid configurations</a:t>
            </a:r>
          </a:p>
        </p:txBody>
      </p:sp>
      <p:sp>
        <p:nvSpPr>
          <p:cNvPr id="24" name="TextBox 23">
            <a:extLst>
              <a:ext uri="{FF2B5EF4-FFF2-40B4-BE49-F238E27FC236}">
                <a16:creationId xmlns:a16="http://schemas.microsoft.com/office/drawing/2014/main" id="{35CA9C33-ADAE-6CAF-91A4-24B70D7C1D2E}"/>
              </a:ext>
            </a:extLst>
          </p:cNvPr>
          <p:cNvSpPr txBox="1"/>
          <p:nvPr/>
        </p:nvSpPr>
        <p:spPr>
          <a:xfrm>
            <a:off x="647910" y="1579238"/>
            <a:ext cx="2309042" cy="329184"/>
          </a:xfrm>
          <a:prstGeom prst="roundRect">
            <a:avLst>
              <a:gd name="adj" fmla="val 16988"/>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What we offer</a:t>
            </a:r>
          </a:p>
        </p:txBody>
      </p:sp>
      <p:sp>
        <p:nvSpPr>
          <p:cNvPr id="25" name="Title 5">
            <a:extLst>
              <a:ext uri="{FF2B5EF4-FFF2-40B4-BE49-F238E27FC236}">
                <a16:creationId xmlns:a16="http://schemas.microsoft.com/office/drawing/2014/main" id="{2DF58827-9246-2954-8E0F-D0CCC4119440}"/>
              </a:ext>
            </a:extLst>
          </p:cNvPr>
          <p:cNvSpPr txBox="1">
            <a:spLocks/>
          </p:cNvSpPr>
          <p:nvPr/>
        </p:nvSpPr>
        <p:spPr>
          <a:xfrm>
            <a:off x="577993" y="415551"/>
            <a:ext cx="7825227" cy="102592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lang="en-US" sz="2800" noProof="0" dirty="0"/>
              <a:t>Infrastructure Migration</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Infrastructure and Database Migration (Small SMB segment)</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Multiple engagements and up to 15 servers per customer</a:t>
            </a:r>
            <a:endParaRPr kumimoji="0" lang="en-US" sz="1800" b="0" i="0" u="none" strike="noStrike" kern="1200" cap="none" spc="0" normalizeH="0" baseline="0" noProof="0" dirty="0">
              <a:ln>
                <a:noFill/>
              </a:ln>
              <a:solidFill>
                <a:srgbClr val="000000"/>
              </a:solidFill>
              <a:effectLst/>
              <a:uLnTx/>
              <a:uFillTx/>
              <a:latin typeface="Segoe Sans Text Semibold"/>
              <a:ea typeface="+mn-ea"/>
              <a:cs typeface="+mn-cs"/>
            </a:endParaRPr>
          </a:p>
        </p:txBody>
      </p:sp>
      <p:sp>
        <p:nvSpPr>
          <p:cNvPr id="11" name="Graphic 23">
            <a:extLst>
              <a:ext uri="{FF2B5EF4-FFF2-40B4-BE49-F238E27FC236}">
                <a16:creationId xmlns:a16="http://schemas.microsoft.com/office/drawing/2014/main" id="{87E09D8F-7326-1637-F1DE-2449D1E26C6A}"/>
              </a:ext>
              <a:ext uri="{C183D7F6-B498-43B3-948B-1728B52AA6E4}">
                <adec:decorative xmlns:adec="http://schemas.microsoft.com/office/drawing/2017/decorative" val="1"/>
              </a:ext>
            </a:extLst>
          </p:cNvPr>
          <p:cNvSpPr/>
          <p:nvPr/>
        </p:nvSpPr>
        <p:spPr>
          <a:xfrm>
            <a:off x="767937" y="2087849"/>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3" name="Graphic 23">
            <a:extLst>
              <a:ext uri="{FF2B5EF4-FFF2-40B4-BE49-F238E27FC236}">
                <a16:creationId xmlns:a16="http://schemas.microsoft.com/office/drawing/2014/main" id="{BE246360-2319-5764-4577-F7EFBEA41376}"/>
              </a:ext>
              <a:ext uri="{C183D7F6-B498-43B3-948B-1728B52AA6E4}">
                <adec:decorative xmlns:adec="http://schemas.microsoft.com/office/drawing/2017/decorative" val="1"/>
              </a:ext>
            </a:extLst>
          </p:cNvPr>
          <p:cNvSpPr/>
          <p:nvPr/>
        </p:nvSpPr>
        <p:spPr>
          <a:xfrm>
            <a:off x="764286" y="240096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5" name="Graphic 23">
            <a:extLst>
              <a:ext uri="{FF2B5EF4-FFF2-40B4-BE49-F238E27FC236}">
                <a16:creationId xmlns:a16="http://schemas.microsoft.com/office/drawing/2014/main" id="{74836E02-26AE-291B-E606-C130CC429E19}"/>
              </a:ext>
              <a:ext uri="{C183D7F6-B498-43B3-948B-1728B52AA6E4}">
                <adec:decorative xmlns:adec="http://schemas.microsoft.com/office/drawing/2017/decorative" val="1"/>
              </a:ext>
            </a:extLst>
          </p:cNvPr>
          <p:cNvSpPr/>
          <p:nvPr/>
        </p:nvSpPr>
        <p:spPr>
          <a:xfrm>
            <a:off x="764286" y="2713687"/>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7" name="Graphic 23">
            <a:extLst>
              <a:ext uri="{FF2B5EF4-FFF2-40B4-BE49-F238E27FC236}">
                <a16:creationId xmlns:a16="http://schemas.microsoft.com/office/drawing/2014/main" id="{2B39D605-FEAD-82D4-3D38-F0BC4AC7DD3C}"/>
              </a:ext>
              <a:ext uri="{C183D7F6-B498-43B3-948B-1728B52AA6E4}">
                <adec:decorative xmlns:adec="http://schemas.microsoft.com/office/drawing/2017/decorative" val="1"/>
              </a:ext>
            </a:extLst>
          </p:cNvPr>
          <p:cNvSpPr/>
          <p:nvPr/>
        </p:nvSpPr>
        <p:spPr>
          <a:xfrm>
            <a:off x="764286" y="3101698"/>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9" name="Graphic 23">
            <a:extLst>
              <a:ext uri="{FF2B5EF4-FFF2-40B4-BE49-F238E27FC236}">
                <a16:creationId xmlns:a16="http://schemas.microsoft.com/office/drawing/2014/main" id="{F7DAA5FB-C4C0-3F88-94AC-EA0FEE97A7E7}"/>
              </a:ext>
              <a:ext uri="{C183D7F6-B498-43B3-948B-1728B52AA6E4}">
                <adec:decorative xmlns:adec="http://schemas.microsoft.com/office/drawing/2017/decorative" val="1"/>
              </a:ext>
            </a:extLst>
          </p:cNvPr>
          <p:cNvSpPr/>
          <p:nvPr/>
        </p:nvSpPr>
        <p:spPr>
          <a:xfrm>
            <a:off x="771432" y="3429000"/>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23" name="Graphic 23">
            <a:extLst>
              <a:ext uri="{FF2B5EF4-FFF2-40B4-BE49-F238E27FC236}">
                <a16:creationId xmlns:a16="http://schemas.microsoft.com/office/drawing/2014/main" id="{DCB6E238-086F-79FE-758D-836585342E48}"/>
              </a:ext>
              <a:ext uri="{C183D7F6-B498-43B3-948B-1728B52AA6E4}">
                <adec:decorative xmlns:adec="http://schemas.microsoft.com/office/drawing/2017/decorative" val="1"/>
              </a:ext>
            </a:extLst>
          </p:cNvPr>
          <p:cNvSpPr/>
          <p:nvPr/>
        </p:nvSpPr>
        <p:spPr>
          <a:xfrm>
            <a:off x="771432" y="3788145"/>
            <a:ext cx="190500" cy="185657"/>
          </a:xfrm>
          <a:custGeom>
            <a:avLst/>
            <a:gdLst>
              <a:gd name="connsiteX0" fmla="*/ 95250 w 190500"/>
              <a:gd name="connsiteY0" fmla="*/ 0 h 190500"/>
              <a:gd name="connsiteX1" fmla="*/ 190500 w 190500"/>
              <a:gd name="connsiteY1" fmla="*/ 95250 h 190500"/>
              <a:gd name="connsiteX2" fmla="*/ 95250 w 190500"/>
              <a:gd name="connsiteY2" fmla="*/ 190500 h 190500"/>
              <a:gd name="connsiteX3" fmla="*/ 0 w 190500"/>
              <a:gd name="connsiteY3" fmla="*/ 95250 h 190500"/>
              <a:gd name="connsiteX4" fmla="*/ 95250 w 190500"/>
              <a:gd name="connsiteY4" fmla="*/ 0 h 190500"/>
              <a:gd name="connsiteX5" fmla="*/ 125921 w 190500"/>
              <a:gd name="connsiteY5" fmla="*/ 66389 h 190500"/>
              <a:gd name="connsiteX6" fmla="*/ 83344 w 190500"/>
              <a:gd name="connsiteY6" fmla="*/ 108966 h 190500"/>
              <a:gd name="connsiteX7" fmla="*/ 64580 w 190500"/>
              <a:gd name="connsiteY7" fmla="*/ 90202 h 190500"/>
              <a:gd name="connsiteX8" fmla="*/ 54483 w 190500"/>
              <a:gd name="connsiteY8" fmla="*/ 90583 h 190500"/>
              <a:gd name="connsiteX9" fmla="*/ 54483 w 190500"/>
              <a:gd name="connsiteY9" fmla="*/ 100298 h 190500"/>
              <a:gd name="connsiteX10" fmla="*/ 78296 w 190500"/>
              <a:gd name="connsiteY10" fmla="*/ 124111 h 190500"/>
              <a:gd name="connsiteX11" fmla="*/ 88392 w 190500"/>
              <a:gd name="connsiteY11" fmla="*/ 124111 h 190500"/>
              <a:gd name="connsiteX12" fmla="*/ 136017 w 190500"/>
              <a:gd name="connsiteY12" fmla="*/ 76486 h 190500"/>
              <a:gd name="connsiteX13" fmla="*/ 136398 w 190500"/>
              <a:gd name="connsiteY13" fmla="*/ 66389 h 190500"/>
              <a:gd name="connsiteX14" fmla="*/ 126302 w 190500"/>
              <a:gd name="connsiteY14" fmla="*/ 66008 h 190500"/>
              <a:gd name="connsiteX15" fmla="*/ 125921 w 190500"/>
              <a:gd name="connsiteY15" fmla="*/ 6638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250" y="0"/>
                </a:moveTo>
                <a:cubicBezTo>
                  <a:pt x="147828" y="0"/>
                  <a:pt x="190500" y="42672"/>
                  <a:pt x="190500" y="95250"/>
                </a:cubicBezTo>
                <a:cubicBezTo>
                  <a:pt x="190500" y="147828"/>
                  <a:pt x="147828" y="190500"/>
                  <a:pt x="95250" y="190500"/>
                </a:cubicBezTo>
                <a:cubicBezTo>
                  <a:pt x="42672" y="190500"/>
                  <a:pt x="0" y="147828"/>
                  <a:pt x="0" y="95250"/>
                </a:cubicBezTo>
                <a:cubicBezTo>
                  <a:pt x="0" y="42672"/>
                  <a:pt x="42672" y="0"/>
                  <a:pt x="95250" y="0"/>
                </a:cubicBezTo>
                <a:close/>
                <a:moveTo>
                  <a:pt x="125921" y="66389"/>
                </a:moveTo>
                <a:lnTo>
                  <a:pt x="83344" y="108966"/>
                </a:lnTo>
                <a:lnTo>
                  <a:pt x="64580" y="90202"/>
                </a:lnTo>
                <a:cubicBezTo>
                  <a:pt x="61722" y="87535"/>
                  <a:pt x="57150" y="87630"/>
                  <a:pt x="54483" y="90583"/>
                </a:cubicBezTo>
                <a:cubicBezTo>
                  <a:pt x="51911" y="93345"/>
                  <a:pt x="51911" y="97536"/>
                  <a:pt x="54483" y="100298"/>
                </a:cubicBezTo>
                <a:lnTo>
                  <a:pt x="78296" y="124111"/>
                </a:lnTo>
                <a:cubicBezTo>
                  <a:pt x="81058" y="126873"/>
                  <a:pt x="85630" y="126873"/>
                  <a:pt x="88392" y="124111"/>
                </a:cubicBezTo>
                <a:lnTo>
                  <a:pt x="136017" y="76486"/>
                </a:lnTo>
                <a:cubicBezTo>
                  <a:pt x="138875" y="73819"/>
                  <a:pt x="139065" y="69247"/>
                  <a:pt x="136398" y="66389"/>
                </a:cubicBezTo>
                <a:cubicBezTo>
                  <a:pt x="133731" y="63532"/>
                  <a:pt x="129159" y="63341"/>
                  <a:pt x="126302" y="66008"/>
                </a:cubicBezTo>
                <a:cubicBezTo>
                  <a:pt x="126206" y="66104"/>
                  <a:pt x="126016" y="66199"/>
                  <a:pt x="125921" y="66389"/>
                </a:cubicBezTo>
                <a:close/>
              </a:path>
            </a:pathLst>
          </a:cu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43701154"/>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1F973-3BDE-04CA-6D97-0E8DF7C29AD7}"/>
            </a:ext>
          </a:extLst>
        </p:cNvPr>
        <p:cNvGrpSpPr/>
        <p:nvPr/>
      </p:nvGrpSpPr>
      <p:grpSpPr>
        <a:xfrm>
          <a:off x="0" y="0"/>
          <a:ext cx="0" cy="0"/>
          <a:chOff x="0" y="0"/>
          <a:chExt cx="0" cy="0"/>
        </a:xfrm>
      </p:grpSpPr>
      <p:sp>
        <p:nvSpPr>
          <p:cNvPr id="55" name="Freeform: Shape 32">
            <a:extLst>
              <a:ext uri="{FF2B5EF4-FFF2-40B4-BE49-F238E27FC236}">
                <a16:creationId xmlns:a16="http://schemas.microsoft.com/office/drawing/2014/main" id="{4847335E-6927-5931-8376-8E84C14856C8}"/>
              </a:ext>
              <a:ext uri="{C183D7F6-B498-43B3-948B-1728B52AA6E4}">
                <adec:decorative xmlns:adec="http://schemas.microsoft.com/office/drawing/2017/decorative" val="1"/>
              </a:ext>
            </a:extLst>
          </p:cNvPr>
          <p:cNvSpPr/>
          <p:nvPr/>
        </p:nvSpPr>
        <p:spPr bwMode="auto">
          <a:xfrm>
            <a:off x="0" y="-1841"/>
            <a:ext cx="3963516" cy="6858000"/>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cxnSp>
        <p:nvCxnSpPr>
          <p:cNvPr id="76" name="Straight Connector 75">
            <a:extLst>
              <a:ext uri="{FF2B5EF4-FFF2-40B4-BE49-F238E27FC236}">
                <a16:creationId xmlns:a16="http://schemas.microsoft.com/office/drawing/2014/main" id="{0584C8FF-6216-220A-FE89-085916B6FF1E}"/>
              </a:ext>
              <a:ext uri="{C183D7F6-B498-43B3-948B-1728B52AA6E4}">
                <adec:decorative xmlns:adec="http://schemas.microsoft.com/office/drawing/2017/decorative" val="1"/>
              </a:ext>
            </a:extLst>
          </p:cNvPr>
          <p:cNvCxnSpPr>
            <a:cxnSpLocks/>
          </p:cNvCxnSpPr>
          <p:nvPr/>
        </p:nvCxnSpPr>
        <p:spPr>
          <a:xfrm>
            <a:off x="570246" y="4627332"/>
            <a:ext cx="1054100" cy="0"/>
          </a:xfrm>
          <a:prstGeom prst="line">
            <a:avLst/>
          </a:prstGeom>
          <a:ln w="38100" cap="rnd">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24A10565-9891-90A8-C05B-D9075EC03972}"/>
              </a:ext>
            </a:extLst>
          </p:cNvPr>
          <p:cNvSpPr>
            <a:spLocks/>
          </p:cNvSpPr>
          <p:nvPr/>
        </p:nvSpPr>
        <p:spPr>
          <a:xfrm>
            <a:off x="424334" y="5101977"/>
            <a:ext cx="3045364" cy="369332"/>
          </a:xfrm>
          <a:prstGeom prst="rect">
            <a:avLst/>
          </a:prstGeom>
          <a:noFill/>
          <a:ln>
            <a:noFill/>
            <a:prstDash/>
          </a:ln>
          <a:effectLst/>
        </p:spPr>
        <p:txBody>
          <a:bodyPr rot="0" spcFirstLastPara="0" vertOverflow="overflow" horzOverflow="overflow" vert="horz" wrap="square" lIns="91440" tIns="0" rIns="0" bIns="0" numCol="1" spcCol="0" rtlCol="0" fromWordArt="0" anchor="ctr" anchorCtr="0" forceAA="0" compatLnSpc="1">
            <a:prstTxWarp prst="textNoShape">
              <a:avLst/>
            </a:prstTxWarp>
            <a:spAutoFit/>
          </a:bodyPr>
          <a:lstStyle/>
          <a:p>
            <a:pPr lvl="0" defTabSz="932742">
              <a:spcBef>
                <a:spcPct val="0"/>
              </a:spcBef>
              <a:defRPr/>
            </a:pPr>
            <a:r>
              <a:rPr lang="en-US" sz="2400" dirty="0">
                <a:ln w="3175">
                  <a:noFill/>
                </a:ln>
                <a:solidFill>
                  <a:schemeClr val="bg1"/>
                </a:solidFill>
                <a:cs typeface="Segoe Sans Text" pitchFamily="2" charset="0"/>
              </a:rPr>
              <a:t>Joint delivery model</a:t>
            </a:r>
          </a:p>
        </p:txBody>
      </p:sp>
      <p:sp>
        <p:nvSpPr>
          <p:cNvPr id="63" name="Text Box 3" descr="This is a copyright notice that should be included on the final slide.">
            <a:extLst>
              <a:ext uri="{FF2B5EF4-FFF2-40B4-BE49-F238E27FC236}">
                <a16:creationId xmlns:a16="http://schemas.microsoft.com/office/drawing/2014/main" id="{798DA595-B2B1-7692-1629-86316E550B5A}"/>
              </a:ext>
            </a:extLst>
          </p:cNvPr>
          <p:cNvSpPr txBox="1">
            <a:spLocks noChangeArrowheads="1"/>
          </p:cNvSpPr>
          <p:nvPr/>
        </p:nvSpPr>
        <p:spPr bwMode="blackWhite">
          <a:xfrm>
            <a:off x="570246" y="6557140"/>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290"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Segoe Sans Text" pitchFamily="2" charset="0"/>
                <a:ea typeface="+mn-ea"/>
                <a:cs typeface="Segoe Sans Text" pitchFamily="2" charset="0"/>
              </a:rPr>
              <a:t>© Copyright Microsoft Corporation. All rights reserved. </a:t>
            </a:r>
          </a:p>
        </p:txBody>
      </p:sp>
      <p:sp>
        <p:nvSpPr>
          <p:cNvPr id="26" name="TextBox 25">
            <a:extLst>
              <a:ext uri="{FF2B5EF4-FFF2-40B4-BE49-F238E27FC236}">
                <a16:creationId xmlns:a16="http://schemas.microsoft.com/office/drawing/2014/main" id="{706D4033-9342-377B-7137-EFB79B7507AD}"/>
              </a:ext>
            </a:extLst>
          </p:cNvPr>
          <p:cNvSpPr txBox="1"/>
          <p:nvPr/>
        </p:nvSpPr>
        <p:spPr>
          <a:xfrm>
            <a:off x="4066796" y="6197527"/>
            <a:ext cx="8142218" cy="553998"/>
          </a:xfrm>
          <a:prstGeom prst="rect">
            <a:avLst/>
          </a:prstGeom>
          <a:noFill/>
          <a:ln>
            <a:noFill/>
          </a:ln>
        </p:spPr>
        <p:txBody>
          <a:bodyPr wrap="square" lIns="0" tIns="0" rIns="0" bIns="0" rtlCol="0">
            <a:spAutoFit/>
          </a:bodyPr>
          <a:lstStyle/>
          <a:p>
            <a:pPr marL="111125" lvl="0" indent="-111125" defTabSz="932472" fontAlgn="base">
              <a:spcBef>
                <a:spcPct val="0"/>
              </a:spcBef>
              <a:spcAft>
                <a:spcPct val="0"/>
              </a:spcAft>
              <a:defRPr/>
            </a:pPr>
            <a:r>
              <a:rPr kumimoji="0" lang="en-US" sz="1200" b="1"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 ISD/Partners (partner delivery orchestration center): </a:t>
            </a:r>
            <a:r>
              <a:rPr kumimoji="0" lang="en-US" sz="1200" i="0" u="none" strike="noStrike" kern="1200" cap="none" spc="0" normalizeH="0" baseline="0" noProof="0" dirty="0">
                <a:ln>
                  <a:noFill/>
                </a:ln>
                <a:solidFill>
                  <a:srgbClr val="000000"/>
                </a:solidFill>
                <a:effectLst/>
                <a:uLnTx/>
                <a:uFillTx/>
                <a:latin typeface="Segoe Sans Text"/>
                <a:ea typeface="Segoe UI" pitchFamily="34" charset="0"/>
                <a:cs typeface="Segoe Sans Text" pitchFamily="2" charset="0"/>
              </a:rPr>
              <a:t>If ISD/Partner is applicable, ISD/P</a:t>
            </a:r>
            <a:r>
              <a:rPr kumimoji="0" lang="en-US" sz="1200" b="0" i="0" u="none" strike="noStrike" kern="1200" cap="none" spc="0" normalizeH="0" baseline="0" noProof="0" dirty="0">
                <a:ln>
                  <a:noFill/>
                </a:ln>
                <a:solidFill>
                  <a:srgbClr val="000000"/>
                </a:solidFill>
                <a:effectLst/>
                <a:uLnTx/>
                <a:uFillTx/>
                <a:latin typeface="Segoe Sans Text"/>
                <a:ea typeface="+mn-ea"/>
                <a:cs typeface="+mn-cs"/>
              </a:rPr>
              <a:t>artner owns overall cloud journey engagement; Factory delivers migration scope under ISD/Partner project manager. </a:t>
            </a:r>
            <a:r>
              <a:rPr lang="en-US" sz="1200" dirty="0">
                <a:solidFill>
                  <a:srgbClr val="000000"/>
                </a:solidFill>
              </a:rPr>
              <a:t>If the project does have ISD/Partner engaged those activities falls into the Customer purview.</a:t>
            </a:r>
            <a:endParaRPr kumimoji="0" lang="en-US" sz="12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2" name="Freeform: Shape 121">
            <a:extLst>
              <a:ext uri="{FF2B5EF4-FFF2-40B4-BE49-F238E27FC236}">
                <a16:creationId xmlns:a16="http://schemas.microsoft.com/office/drawing/2014/main" id="{E0AFF904-FA15-1C74-9137-AB3AB4455F58}"/>
              </a:ext>
            </a:extLst>
          </p:cNvPr>
          <p:cNvSpPr/>
          <p:nvPr/>
        </p:nvSpPr>
        <p:spPr>
          <a:xfrm>
            <a:off x="6860246" y="1073008"/>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300"/>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3" name="Freeform: Shape 122">
            <a:extLst>
              <a:ext uri="{FF2B5EF4-FFF2-40B4-BE49-F238E27FC236}">
                <a16:creationId xmlns:a16="http://schemas.microsoft.com/office/drawing/2014/main" id="{18F6FEC7-5E27-F6D7-8596-C7857CE4569E}"/>
              </a:ext>
            </a:extLst>
          </p:cNvPr>
          <p:cNvSpPr/>
          <p:nvPr/>
        </p:nvSpPr>
        <p:spPr>
          <a:xfrm>
            <a:off x="7835580" y="2688127"/>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4" name="Freeform: Shape 123">
            <a:extLst>
              <a:ext uri="{FF2B5EF4-FFF2-40B4-BE49-F238E27FC236}">
                <a16:creationId xmlns:a16="http://schemas.microsoft.com/office/drawing/2014/main" id="{5F74736E-4378-8172-6167-A99D9CCF541B}"/>
              </a:ext>
            </a:extLst>
          </p:cNvPr>
          <p:cNvSpPr/>
          <p:nvPr/>
        </p:nvSpPr>
        <p:spPr>
          <a:xfrm>
            <a:off x="5949196" y="2725169"/>
            <a:ext cx="2555319" cy="2552009"/>
          </a:xfrm>
          <a:custGeom>
            <a:avLst/>
            <a:gdLst>
              <a:gd name="connsiteX0" fmla="*/ 0 w 2555319"/>
              <a:gd name="connsiteY0" fmla="*/ 1276005 h 2552009"/>
              <a:gd name="connsiteX1" fmla="*/ 1277660 w 2555319"/>
              <a:gd name="connsiteY1" fmla="*/ 0 h 2552009"/>
              <a:gd name="connsiteX2" fmla="*/ 2555319 w 2555319"/>
              <a:gd name="connsiteY2" fmla="*/ 1276005 h 2552009"/>
              <a:gd name="connsiteX3" fmla="*/ 1277660 w 2555319"/>
              <a:gd name="connsiteY3" fmla="*/ 2552010 h 2552009"/>
              <a:gd name="connsiteX4" fmla="*/ 0 w 2555319"/>
              <a:gd name="connsiteY4" fmla="*/ 1276005 h 2552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5319" h="2552009">
                <a:moveTo>
                  <a:pt x="0" y="1276005"/>
                </a:moveTo>
                <a:cubicBezTo>
                  <a:pt x="0" y="571427"/>
                  <a:pt x="572064" y="0"/>
                  <a:pt x="1277660" y="0"/>
                </a:cubicBezTo>
                <a:cubicBezTo>
                  <a:pt x="1983256" y="0"/>
                  <a:pt x="2555319" y="571300"/>
                  <a:pt x="2555319" y="1276005"/>
                </a:cubicBezTo>
                <a:cubicBezTo>
                  <a:pt x="2555319" y="1980710"/>
                  <a:pt x="1983383" y="2552010"/>
                  <a:pt x="1277660" y="2552010"/>
                </a:cubicBezTo>
                <a:cubicBezTo>
                  <a:pt x="571936" y="2552010"/>
                  <a:pt x="0" y="1980710"/>
                  <a:pt x="0" y="1276005"/>
                </a:cubicBezTo>
                <a:close/>
              </a:path>
            </a:pathLst>
          </a:custGeom>
          <a:solidFill>
            <a:srgbClr val="F4F3F5"/>
          </a:solidFill>
          <a:ln w="127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25" name="Freeform: Shape 124">
            <a:extLst>
              <a:ext uri="{FF2B5EF4-FFF2-40B4-BE49-F238E27FC236}">
                <a16:creationId xmlns:a16="http://schemas.microsoft.com/office/drawing/2014/main" id="{41A49ED4-93FC-7CC4-2275-E354AB4AD2D1}"/>
              </a:ext>
            </a:extLst>
          </p:cNvPr>
          <p:cNvSpPr/>
          <p:nvPr/>
        </p:nvSpPr>
        <p:spPr>
          <a:xfrm>
            <a:off x="5940612" y="1053914"/>
            <a:ext cx="4479891" cy="4242359"/>
          </a:xfrm>
          <a:custGeom>
            <a:avLst/>
            <a:gdLst>
              <a:gd name="connsiteX0" fmla="*/ 3456313 w 4479891"/>
              <a:gd name="connsiteY0" fmla="*/ 1644142 h 4242359"/>
              <a:gd name="connsiteX1" fmla="*/ 3504431 w 4479891"/>
              <a:gd name="connsiteY1" fmla="*/ 1295099 h 4242359"/>
              <a:gd name="connsiteX2" fmla="*/ 2207804 w 4479891"/>
              <a:gd name="connsiteY2" fmla="*/ 0 h 4242359"/>
              <a:gd name="connsiteX3" fmla="*/ 911050 w 4479891"/>
              <a:gd name="connsiteY3" fmla="*/ 1295099 h 4242359"/>
              <a:gd name="connsiteX4" fmla="*/ 973679 w 4479891"/>
              <a:gd name="connsiteY4" fmla="*/ 1692896 h 4242359"/>
              <a:gd name="connsiteX5" fmla="*/ 0 w 4479891"/>
              <a:gd name="connsiteY5" fmla="*/ 2947261 h 4242359"/>
              <a:gd name="connsiteX6" fmla="*/ 1296754 w 4479891"/>
              <a:gd name="connsiteY6" fmla="*/ 4242360 h 4242359"/>
              <a:gd name="connsiteX7" fmla="*/ 2257449 w 4479891"/>
              <a:gd name="connsiteY7" fmla="*/ 3816177 h 4242359"/>
              <a:gd name="connsiteX8" fmla="*/ 3183138 w 4479891"/>
              <a:gd name="connsiteY8" fmla="*/ 4205317 h 4242359"/>
              <a:gd name="connsiteX9" fmla="*/ 4479892 w 4479891"/>
              <a:gd name="connsiteY9" fmla="*/ 2910218 h 4242359"/>
              <a:gd name="connsiteX10" fmla="*/ 3456440 w 4479891"/>
              <a:gd name="connsiteY10" fmla="*/ 1644142 h 4242359"/>
              <a:gd name="connsiteX11" fmla="*/ 949239 w 4479891"/>
              <a:gd name="connsiteY11" fmla="*/ 1295099 h 4242359"/>
              <a:gd name="connsiteX12" fmla="*/ 2207804 w 4479891"/>
              <a:gd name="connsiteY12" fmla="*/ 38188 h 4242359"/>
              <a:gd name="connsiteX13" fmla="*/ 3466369 w 4479891"/>
              <a:gd name="connsiteY13" fmla="*/ 1295099 h 4242359"/>
              <a:gd name="connsiteX14" fmla="*/ 3418888 w 4479891"/>
              <a:gd name="connsiteY14" fmla="*/ 1636632 h 4242359"/>
              <a:gd name="connsiteX15" fmla="*/ 3183138 w 4479891"/>
              <a:gd name="connsiteY15" fmla="*/ 1615119 h 4242359"/>
              <a:gd name="connsiteX16" fmla="*/ 2222316 w 4479891"/>
              <a:gd name="connsiteY16" fmla="*/ 2041430 h 4242359"/>
              <a:gd name="connsiteX17" fmla="*/ 1296754 w 4479891"/>
              <a:gd name="connsiteY17" fmla="*/ 1652162 h 4242359"/>
              <a:gd name="connsiteX18" fmla="*/ 1011104 w 4479891"/>
              <a:gd name="connsiteY18" fmla="*/ 1683858 h 4242359"/>
              <a:gd name="connsiteX19" fmla="*/ 949366 w 4479891"/>
              <a:gd name="connsiteY19" fmla="*/ 1294972 h 4242359"/>
              <a:gd name="connsiteX20" fmla="*/ 2223334 w 4479891"/>
              <a:gd name="connsiteY20" fmla="*/ 2098076 h 4242359"/>
              <a:gd name="connsiteX21" fmla="*/ 2480979 w 4479891"/>
              <a:gd name="connsiteY21" fmla="*/ 2521968 h 4242359"/>
              <a:gd name="connsiteX22" fmla="*/ 2207804 w 4479891"/>
              <a:gd name="connsiteY22" fmla="*/ 2551883 h 4242359"/>
              <a:gd name="connsiteX23" fmla="*/ 1983001 w 4479891"/>
              <a:gd name="connsiteY23" fmla="*/ 2531515 h 4242359"/>
              <a:gd name="connsiteX24" fmla="*/ 2223461 w 4479891"/>
              <a:gd name="connsiteY24" fmla="*/ 2097949 h 4242359"/>
              <a:gd name="connsiteX25" fmla="*/ 1945194 w 4479891"/>
              <a:gd name="connsiteY25" fmla="*/ 2524132 h 4242359"/>
              <a:gd name="connsiteX26" fmla="*/ 1023452 w 4479891"/>
              <a:gd name="connsiteY26" fmla="*/ 1720264 h 4242359"/>
              <a:gd name="connsiteX27" fmla="*/ 1296627 w 4479891"/>
              <a:gd name="connsiteY27" fmla="*/ 1690350 h 4242359"/>
              <a:gd name="connsiteX28" fmla="*/ 2196984 w 4479891"/>
              <a:gd name="connsiteY28" fmla="*/ 2070071 h 4242359"/>
              <a:gd name="connsiteX29" fmla="*/ 1945194 w 4479891"/>
              <a:gd name="connsiteY29" fmla="*/ 2524132 h 4242359"/>
              <a:gd name="connsiteX30" fmla="*/ 2207804 w 4479891"/>
              <a:gd name="connsiteY30" fmla="*/ 2590071 h 4242359"/>
              <a:gd name="connsiteX31" fmla="*/ 2493454 w 4479891"/>
              <a:gd name="connsiteY31" fmla="*/ 2558375 h 4242359"/>
              <a:gd name="connsiteX32" fmla="*/ 2555192 w 4479891"/>
              <a:gd name="connsiteY32" fmla="*/ 2947261 h 4242359"/>
              <a:gd name="connsiteX33" fmla="*/ 2256176 w 4479891"/>
              <a:gd name="connsiteY33" fmla="*/ 3759530 h 4242359"/>
              <a:gd name="connsiteX34" fmla="*/ 1924445 w 4479891"/>
              <a:gd name="connsiteY34" fmla="*/ 2910218 h 4242359"/>
              <a:gd name="connsiteX35" fmla="*/ 1971799 w 4479891"/>
              <a:gd name="connsiteY35" fmla="*/ 2568431 h 4242359"/>
              <a:gd name="connsiteX36" fmla="*/ 2207677 w 4479891"/>
              <a:gd name="connsiteY36" fmla="*/ 2590198 h 4242359"/>
              <a:gd name="connsiteX37" fmla="*/ 2248666 w 4479891"/>
              <a:gd name="connsiteY37" fmla="*/ 2069180 h 4242359"/>
              <a:gd name="connsiteX38" fmla="*/ 3183138 w 4479891"/>
              <a:gd name="connsiteY38" fmla="*/ 1653307 h 4242359"/>
              <a:gd name="connsiteX39" fmla="*/ 3407941 w 4479891"/>
              <a:gd name="connsiteY39" fmla="*/ 1673420 h 4242359"/>
              <a:gd name="connsiteX40" fmla="*/ 2518404 w 4479891"/>
              <a:gd name="connsiteY40" fmla="*/ 2513185 h 4242359"/>
              <a:gd name="connsiteX41" fmla="*/ 2248666 w 4479891"/>
              <a:gd name="connsiteY41" fmla="*/ 2069180 h 4242359"/>
              <a:gd name="connsiteX42" fmla="*/ 1296754 w 4479891"/>
              <a:gd name="connsiteY42" fmla="*/ 4204045 h 4242359"/>
              <a:gd name="connsiteX43" fmla="*/ 38188 w 4479891"/>
              <a:gd name="connsiteY43" fmla="*/ 2947134 h 4242359"/>
              <a:gd name="connsiteX44" fmla="*/ 986154 w 4479891"/>
              <a:gd name="connsiteY44" fmla="*/ 1729048 h 4242359"/>
              <a:gd name="connsiteX45" fmla="*/ 1934375 w 4479891"/>
              <a:gd name="connsiteY45" fmla="*/ 2560793 h 4242359"/>
              <a:gd name="connsiteX46" fmla="*/ 1886384 w 4479891"/>
              <a:gd name="connsiteY46" fmla="*/ 2910091 h 4242359"/>
              <a:gd name="connsiteX47" fmla="*/ 2230972 w 4479891"/>
              <a:gd name="connsiteY47" fmla="*/ 3788299 h 4242359"/>
              <a:gd name="connsiteX48" fmla="*/ 1296627 w 4479891"/>
              <a:gd name="connsiteY48" fmla="*/ 4204045 h 4242359"/>
              <a:gd name="connsiteX49" fmla="*/ 3183138 w 4479891"/>
              <a:gd name="connsiteY49" fmla="*/ 4167002 h 4242359"/>
              <a:gd name="connsiteX50" fmla="*/ 2282781 w 4479891"/>
              <a:gd name="connsiteY50" fmla="*/ 3787280 h 4242359"/>
              <a:gd name="connsiteX51" fmla="*/ 2593508 w 4479891"/>
              <a:gd name="connsiteY51" fmla="*/ 2947134 h 4242359"/>
              <a:gd name="connsiteX52" fmla="*/ 2530879 w 4479891"/>
              <a:gd name="connsiteY52" fmla="*/ 2549337 h 4242359"/>
              <a:gd name="connsiteX53" fmla="*/ 3445748 w 4479891"/>
              <a:gd name="connsiteY53" fmla="*/ 1680803 h 4242359"/>
              <a:gd name="connsiteX54" fmla="*/ 4441704 w 4479891"/>
              <a:gd name="connsiteY54" fmla="*/ 2910091 h 4242359"/>
              <a:gd name="connsiteX55" fmla="*/ 3183138 w 4479891"/>
              <a:gd name="connsiteY55" fmla="*/ 4167002 h 424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79891" h="4242359">
                <a:moveTo>
                  <a:pt x="3456313" y="1644142"/>
                </a:moveTo>
                <a:cubicBezTo>
                  <a:pt x="3487500" y="1533014"/>
                  <a:pt x="3504431" y="1416029"/>
                  <a:pt x="3504431" y="1295099"/>
                </a:cubicBezTo>
                <a:cubicBezTo>
                  <a:pt x="3504558" y="580974"/>
                  <a:pt x="2922820" y="0"/>
                  <a:pt x="2207804" y="0"/>
                </a:cubicBezTo>
                <a:cubicBezTo>
                  <a:pt x="1492788" y="0"/>
                  <a:pt x="911050" y="580974"/>
                  <a:pt x="911050" y="1295099"/>
                </a:cubicBezTo>
                <a:cubicBezTo>
                  <a:pt x="911050" y="1433851"/>
                  <a:pt x="933072" y="1567510"/>
                  <a:pt x="973679" y="1692896"/>
                </a:cubicBezTo>
                <a:cubicBezTo>
                  <a:pt x="414472" y="1836612"/>
                  <a:pt x="0" y="2344392"/>
                  <a:pt x="0" y="2947261"/>
                </a:cubicBezTo>
                <a:cubicBezTo>
                  <a:pt x="0" y="3661386"/>
                  <a:pt x="581738" y="4242360"/>
                  <a:pt x="1296754" y="4242360"/>
                </a:cubicBezTo>
                <a:cubicBezTo>
                  <a:pt x="1677239" y="4242360"/>
                  <a:pt x="2020044" y="4077768"/>
                  <a:pt x="2257449" y="3816177"/>
                </a:cubicBezTo>
                <a:cubicBezTo>
                  <a:pt x="2492945" y="4056128"/>
                  <a:pt x="2820857" y="4205317"/>
                  <a:pt x="3183138" y="4205317"/>
                </a:cubicBezTo>
                <a:cubicBezTo>
                  <a:pt x="3898154" y="4205317"/>
                  <a:pt x="4479892" y="3624343"/>
                  <a:pt x="4479892" y="2910218"/>
                </a:cubicBezTo>
                <a:cubicBezTo>
                  <a:pt x="4479892" y="2289782"/>
                  <a:pt x="4040724" y="1769909"/>
                  <a:pt x="3456440" y="1644142"/>
                </a:cubicBezTo>
                <a:close/>
                <a:moveTo>
                  <a:pt x="949239" y="1295099"/>
                </a:moveTo>
                <a:cubicBezTo>
                  <a:pt x="949239" y="601978"/>
                  <a:pt x="1513792" y="38188"/>
                  <a:pt x="2207804" y="38188"/>
                </a:cubicBezTo>
                <a:cubicBezTo>
                  <a:pt x="2901816" y="38188"/>
                  <a:pt x="3466369" y="601978"/>
                  <a:pt x="3466369" y="1295099"/>
                </a:cubicBezTo>
                <a:cubicBezTo>
                  <a:pt x="3466369" y="1413484"/>
                  <a:pt x="3449694" y="1528049"/>
                  <a:pt x="3418888" y="1636632"/>
                </a:cubicBezTo>
                <a:cubicBezTo>
                  <a:pt x="3342384" y="1622502"/>
                  <a:pt x="3263589" y="1615119"/>
                  <a:pt x="3183138" y="1615119"/>
                </a:cubicBezTo>
                <a:cubicBezTo>
                  <a:pt x="2802526" y="1615119"/>
                  <a:pt x="2459721" y="1779711"/>
                  <a:pt x="2222316" y="2041430"/>
                </a:cubicBezTo>
                <a:cubicBezTo>
                  <a:pt x="1986820" y="1801479"/>
                  <a:pt x="1659035" y="1652162"/>
                  <a:pt x="1296754" y="1652162"/>
                </a:cubicBezTo>
                <a:cubicBezTo>
                  <a:pt x="1198610" y="1652162"/>
                  <a:pt x="1103011" y="1663109"/>
                  <a:pt x="1011104" y="1683858"/>
                </a:cubicBezTo>
                <a:cubicBezTo>
                  <a:pt x="971133" y="1561400"/>
                  <a:pt x="949366" y="1430668"/>
                  <a:pt x="949366" y="1294972"/>
                </a:cubicBezTo>
                <a:close/>
                <a:moveTo>
                  <a:pt x="2223334" y="2098076"/>
                </a:moveTo>
                <a:cubicBezTo>
                  <a:pt x="2335226" y="2219897"/>
                  <a:pt x="2423696" y="2363486"/>
                  <a:pt x="2480979" y="2521968"/>
                </a:cubicBezTo>
                <a:cubicBezTo>
                  <a:pt x="2393018" y="2541444"/>
                  <a:pt x="2301620" y="2551883"/>
                  <a:pt x="2207804" y="2551883"/>
                </a:cubicBezTo>
                <a:cubicBezTo>
                  <a:pt x="2131045" y="2551883"/>
                  <a:pt x="2055941" y="2544754"/>
                  <a:pt x="1983001" y="2531515"/>
                </a:cubicBezTo>
                <a:cubicBezTo>
                  <a:pt x="2034046" y="2370615"/>
                  <a:pt x="2116534" y="2223716"/>
                  <a:pt x="2223461" y="2097949"/>
                </a:cubicBezTo>
                <a:close/>
                <a:moveTo>
                  <a:pt x="1945194" y="2524132"/>
                </a:moveTo>
                <a:cubicBezTo>
                  <a:pt x="1517483" y="2433116"/>
                  <a:pt x="1169459" y="2124553"/>
                  <a:pt x="1023452" y="1720264"/>
                </a:cubicBezTo>
                <a:cubicBezTo>
                  <a:pt x="1111412" y="1700788"/>
                  <a:pt x="1202810" y="1690350"/>
                  <a:pt x="1296627" y="1690350"/>
                </a:cubicBezTo>
                <a:cubicBezTo>
                  <a:pt x="1649234" y="1690350"/>
                  <a:pt x="1968235" y="1835976"/>
                  <a:pt x="2196984" y="2070071"/>
                </a:cubicBezTo>
                <a:cubicBezTo>
                  <a:pt x="2084582" y="2201440"/>
                  <a:pt x="1998022" y="2355339"/>
                  <a:pt x="1945194" y="2524132"/>
                </a:cubicBezTo>
                <a:close/>
                <a:moveTo>
                  <a:pt x="2207804" y="2590071"/>
                </a:moveTo>
                <a:cubicBezTo>
                  <a:pt x="2305948" y="2590071"/>
                  <a:pt x="2401547" y="2579124"/>
                  <a:pt x="2493454" y="2558375"/>
                </a:cubicBezTo>
                <a:cubicBezTo>
                  <a:pt x="2533425" y="2680833"/>
                  <a:pt x="2555192" y="2811564"/>
                  <a:pt x="2555192" y="2947261"/>
                </a:cubicBezTo>
                <a:cubicBezTo>
                  <a:pt x="2555192" y="3256715"/>
                  <a:pt x="2442536" y="3540328"/>
                  <a:pt x="2256176" y="3759530"/>
                </a:cubicBezTo>
                <a:cubicBezTo>
                  <a:pt x="2050340" y="3535618"/>
                  <a:pt x="1924445" y="3237366"/>
                  <a:pt x="1924445" y="2910218"/>
                </a:cubicBezTo>
                <a:cubicBezTo>
                  <a:pt x="1924445" y="2791834"/>
                  <a:pt x="1940994" y="2677141"/>
                  <a:pt x="1971799" y="2568431"/>
                </a:cubicBezTo>
                <a:cubicBezTo>
                  <a:pt x="2048303" y="2582561"/>
                  <a:pt x="2127099" y="2590198"/>
                  <a:pt x="2207677" y="2590198"/>
                </a:cubicBezTo>
                <a:close/>
                <a:moveTo>
                  <a:pt x="2248666" y="2069180"/>
                </a:moveTo>
                <a:cubicBezTo>
                  <a:pt x="2479197" y="1813954"/>
                  <a:pt x="2812710" y="1653307"/>
                  <a:pt x="3183138" y="1653307"/>
                </a:cubicBezTo>
                <a:cubicBezTo>
                  <a:pt x="3259897" y="1653307"/>
                  <a:pt x="3335001" y="1660181"/>
                  <a:pt x="3407941" y="1673420"/>
                </a:cubicBezTo>
                <a:cubicBezTo>
                  <a:pt x="3277464" y="2085092"/>
                  <a:pt x="2940259" y="2405875"/>
                  <a:pt x="2518404" y="2513185"/>
                </a:cubicBezTo>
                <a:cubicBezTo>
                  <a:pt x="2458957" y="2346938"/>
                  <a:pt x="2366286" y="2196348"/>
                  <a:pt x="2248666" y="2069180"/>
                </a:cubicBezTo>
                <a:close/>
                <a:moveTo>
                  <a:pt x="1296754" y="4204045"/>
                </a:moveTo>
                <a:cubicBezTo>
                  <a:pt x="602869" y="4204045"/>
                  <a:pt x="38188" y="3640255"/>
                  <a:pt x="38188" y="2947134"/>
                </a:cubicBezTo>
                <a:cubicBezTo>
                  <a:pt x="38188" y="2361067"/>
                  <a:pt x="441841" y="1867545"/>
                  <a:pt x="986154" y="1729048"/>
                </a:cubicBezTo>
                <a:cubicBezTo>
                  <a:pt x="1135344" y="2146703"/>
                  <a:pt x="1493552" y="2465831"/>
                  <a:pt x="1934375" y="2560793"/>
                </a:cubicBezTo>
                <a:cubicBezTo>
                  <a:pt x="1903187" y="2671922"/>
                  <a:pt x="1886384" y="2789033"/>
                  <a:pt x="1886384" y="2910091"/>
                </a:cubicBezTo>
                <a:cubicBezTo>
                  <a:pt x="1886384" y="3248696"/>
                  <a:pt x="2017243" y="3557259"/>
                  <a:pt x="2230972" y="3788299"/>
                </a:cubicBezTo>
                <a:cubicBezTo>
                  <a:pt x="2000440" y="4043398"/>
                  <a:pt x="1667055" y="4204045"/>
                  <a:pt x="1296627" y="4204045"/>
                </a:cubicBezTo>
                <a:close/>
                <a:moveTo>
                  <a:pt x="3183138" y="4167002"/>
                </a:moveTo>
                <a:cubicBezTo>
                  <a:pt x="2830531" y="4167002"/>
                  <a:pt x="2511403" y="4021376"/>
                  <a:pt x="2282781" y="3787280"/>
                </a:cubicBezTo>
                <a:cubicBezTo>
                  <a:pt x="2476396" y="3560950"/>
                  <a:pt x="2593508" y="3267535"/>
                  <a:pt x="2593508" y="2947134"/>
                </a:cubicBezTo>
                <a:cubicBezTo>
                  <a:pt x="2593508" y="2808382"/>
                  <a:pt x="2571486" y="2674722"/>
                  <a:pt x="2530879" y="2549337"/>
                </a:cubicBezTo>
                <a:cubicBezTo>
                  <a:pt x="2965464" y="2437699"/>
                  <a:pt x="3312597" y="2105968"/>
                  <a:pt x="3445748" y="1680803"/>
                </a:cubicBezTo>
                <a:cubicBezTo>
                  <a:pt x="4014120" y="1801733"/>
                  <a:pt x="4441704" y="2306967"/>
                  <a:pt x="4441704" y="2910091"/>
                </a:cubicBezTo>
                <a:cubicBezTo>
                  <a:pt x="4441704" y="3603085"/>
                  <a:pt x="3877150" y="4167002"/>
                  <a:pt x="3183138" y="4167002"/>
                </a:cubicBezTo>
                <a:close/>
              </a:path>
            </a:pathLst>
          </a:custGeom>
          <a:gradFill flip="none" rotWithShape="1">
            <a:gsLst>
              <a:gs pos="65000">
                <a:srgbClr val="0E6083"/>
              </a:gs>
              <a:gs pos="30000">
                <a:srgbClr val="004981"/>
              </a:gs>
              <a:gs pos="100000">
                <a:srgbClr val="41B8A4"/>
              </a:gs>
              <a:gs pos="0">
                <a:srgbClr val="0064AD"/>
              </a:gs>
            </a:gsLst>
            <a:path path="circle">
              <a:fillToRect l="100000" t="100000"/>
            </a:path>
            <a:tileRect r="-100000" b="-100000"/>
          </a:gradFill>
          <a:ln>
            <a:no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Segoe Sans Text Semibold"/>
              <a:ea typeface="+mn-ea"/>
              <a:cs typeface="+mn-cs"/>
            </a:endParaRPr>
          </a:p>
        </p:txBody>
      </p:sp>
      <p:sp>
        <p:nvSpPr>
          <p:cNvPr id="126" name="Freeform: Shape 125">
            <a:extLst>
              <a:ext uri="{FF2B5EF4-FFF2-40B4-BE49-F238E27FC236}">
                <a16:creationId xmlns:a16="http://schemas.microsoft.com/office/drawing/2014/main" id="{F9B2E4D2-BC4F-C137-33BC-D44D564E0998}"/>
              </a:ext>
            </a:extLst>
          </p:cNvPr>
          <p:cNvSpPr/>
          <p:nvPr/>
        </p:nvSpPr>
        <p:spPr>
          <a:xfrm>
            <a:off x="7654185" y="2933169"/>
            <a:ext cx="1010212" cy="1009703"/>
          </a:xfrm>
          <a:custGeom>
            <a:avLst/>
            <a:gdLst>
              <a:gd name="connsiteX0" fmla="*/ 0 w 1010212"/>
              <a:gd name="connsiteY0" fmla="*/ 504852 h 1009703"/>
              <a:gd name="connsiteX1" fmla="*/ 504343 w 1010212"/>
              <a:gd name="connsiteY1" fmla="*/ 0 h 1009703"/>
              <a:gd name="connsiteX2" fmla="*/ 1010213 w 1010212"/>
              <a:gd name="connsiteY2" fmla="*/ 504852 h 1009703"/>
              <a:gd name="connsiteX3" fmla="*/ 504343 w 1010212"/>
              <a:gd name="connsiteY3" fmla="*/ 1009704 h 1009703"/>
              <a:gd name="connsiteX4" fmla="*/ 0 w 1010212"/>
              <a:gd name="connsiteY4" fmla="*/ 504852 h 1009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212" h="1009703">
                <a:moveTo>
                  <a:pt x="0" y="504852"/>
                </a:moveTo>
                <a:cubicBezTo>
                  <a:pt x="0" y="225694"/>
                  <a:pt x="226203" y="0"/>
                  <a:pt x="504343" y="0"/>
                </a:cubicBezTo>
                <a:cubicBezTo>
                  <a:pt x="782482" y="0"/>
                  <a:pt x="1010213" y="225821"/>
                  <a:pt x="1010213" y="504852"/>
                </a:cubicBezTo>
                <a:cubicBezTo>
                  <a:pt x="1010213" y="783883"/>
                  <a:pt x="784010" y="1009704"/>
                  <a:pt x="504343" y="1009704"/>
                </a:cubicBezTo>
                <a:cubicBezTo>
                  <a:pt x="224676" y="1009704"/>
                  <a:pt x="0" y="782482"/>
                  <a:pt x="0" y="504852"/>
                </a:cubicBezTo>
              </a:path>
            </a:pathLst>
          </a:custGeom>
          <a:solidFill>
            <a:srgbClr val="FFFFFF"/>
          </a:solidFill>
          <a:ln w="25400">
            <a:gradFill flip="none" rotWithShape="1">
              <a:gsLst>
                <a:gs pos="57240">
                  <a:srgbClr val="1A7385"/>
                </a:gs>
                <a:gs pos="0">
                  <a:srgbClr val="004A83"/>
                </a:gs>
                <a:gs pos="30000">
                  <a:srgbClr val="0C5C82"/>
                </a:gs>
                <a:gs pos="90000">
                  <a:srgbClr val="3FB3A0"/>
                </a:gs>
              </a:gsLst>
              <a:path path="circle">
                <a:fillToRect l="100000" t="100000"/>
              </a:path>
              <a:tileRect r="-100000" b="-100000"/>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bold"/>
                <a:ea typeface="+mn-ea"/>
                <a:cs typeface="+mn-cs"/>
              </a:rPr>
              <a:t>Joint governance</a:t>
            </a:r>
          </a:p>
        </p:txBody>
      </p:sp>
      <p:grpSp>
        <p:nvGrpSpPr>
          <p:cNvPr id="127" name="Group 126" descr="A Venn diagram of Partner, Customer and Microsoft with Joint Governance at the core, Partner and Customer is joined by All up delivery, Customer and Microsoft is joined by Unified delivery, lastly, Microsoft and Partner is joined by Rehost. ">
            <a:extLst>
              <a:ext uri="{FF2B5EF4-FFF2-40B4-BE49-F238E27FC236}">
                <a16:creationId xmlns:a16="http://schemas.microsoft.com/office/drawing/2014/main" id="{C10E9A68-5FF3-E341-033E-23EFB61786F7}"/>
              </a:ext>
            </a:extLst>
          </p:cNvPr>
          <p:cNvGrpSpPr/>
          <p:nvPr/>
        </p:nvGrpSpPr>
        <p:grpSpPr>
          <a:xfrm>
            <a:off x="4239203" y="462933"/>
            <a:ext cx="5890131" cy="4856423"/>
            <a:chOff x="3669200" y="727997"/>
            <a:chExt cx="5890131" cy="4856423"/>
          </a:xfrm>
        </p:grpSpPr>
        <p:grpSp>
          <p:nvGrpSpPr>
            <p:cNvPr id="158" name="Group 157">
              <a:extLst>
                <a:ext uri="{FF2B5EF4-FFF2-40B4-BE49-F238E27FC236}">
                  <a16:creationId xmlns:a16="http://schemas.microsoft.com/office/drawing/2014/main" id="{83DD7E5F-093C-C3DE-0FEA-EF8F1FADF393}"/>
                </a:ext>
              </a:extLst>
            </p:cNvPr>
            <p:cNvGrpSpPr/>
            <p:nvPr/>
          </p:nvGrpSpPr>
          <p:grpSpPr>
            <a:xfrm>
              <a:off x="5332078" y="1351912"/>
              <a:ext cx="4227253" cy="4232508"/>
              <a:chOff x="5332078" y="1351912"/>
              <a:chExt cx="4227253" cy="4232508"/>
            </a:xfrm>
          </p:grpSpPr>
          <p:grpSp>
            <p:nvGrpSpPr>
              <p:cNvPr id="160" name="Group 159">
                <a:extLst>
                  <a:ext uri="{FF2B5EF4-FFF2-40B4-BE49-F238E27FC236}">
                    <a16:creationId xmlns:a16="http://schemas.microsoft.com/office/drawing/2014/main" id="{6712DD9C-1C52-7133-51FD-D00A3BFE3451}"/>
                  </a:ext>
                </a:extLst>
              </p:cNvPr>
              <p:cNvGrpSpPr/>
              <p:nvPr/>
            </p:nvGrpSpPr>
            <p:grpSpPr>
              <a:xfrm>
                <a:off x="5332078" y="1351912"/>
                <a:ext cx="3324972" cy="4232508"/>
                <a:chOff x="5332078" y="1351912"/>
                <a:chExt cx="3324972" cy="4232508"/>
              </a:xfrm>
            </p:grpSpPr>
            <p:sp>
              <p:nvSpPr>
                <p:cNvPr id="170" name="Oval 169">
                  <a:extLst>
                    <a:ext uri="{FF2B5EF4-FFF2-40B4-BE49-F238E27FC236}">
                      <a16:creationId xmlns:a16="http://schemas.microsoft.com/office/drawing/2014/main" id="{C98DAC47-529F-3D49-B924-124AF8E82719}"/>
                    </a:ext>
                  </a:extLst>
                </p:cNvPr>
                <p:cNvSpPr>
                  <a:spLocks noChangeAspect="1"/>
                </p:cNvSpPr>
                <p:nvPr/>
              </p:nvSpPr>
              <p:spPr>
                <a:xfrm>
                  <a:off x="6785419" y="1502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1" name="Oval 170">
                  <a:extLst>
                    <a:ext uri="{FF2B5EF4-FFF2-40B4-BE49-F238E27FC236}">
                      <a16:creationId xmlns:a16="http://schemas.microsoft.com/office/drawing/2014/main" id="{01B9F23C-3D9D-C4BE-B956-5097D932B1B8}"/>
                    </a:ext>
                  </a:extLst>
                </p:cNvPr>
                <p:cNvSpPr>
                  <a:spLocks noChangeAspect="1"/>
                </p:cNvSpPr>
                <p:nvPr/>
              </p:nvSpPr>
              <p:spPr>
                <a:xfrm>
                  <a:off x="7941332" y="135191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2" name="Oval 171">
                  <a:extLst>
                    <a:ext uri="{FF2B5EF4-FFF2-40B4-BE49-F238E27FC236}">
                      <a16:creationId xmlns:a16="http://schemas.microsoft.com/office/drawing/2014/main" id="{DE8AA81F-AFA5-862E-B2AF-17F0C0D7E559}"/>
                    </a:ext>
                  </a:extLst>
                </p:cNvPr>
                <p:cNvSpPr>
                  <a:spLocks noChangeAspect="1"/>
                </p:cNvSpPr>
                <p:nvPr/>
              </p:nvSpPr>
              <p:spPr>
                <a:xfrm>
                  <a:off x="6240850" y="2518067"/>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4" name="Oval 173">
                  <a:extLst>
                    <a:ext uri="{FF2B5EF4-FFF2-40B4-BE49-F238E27FC236}">
                      <a16:creationId xmlns:a16="http://schemas.microsoft.com/office/drawing/2014/main" id="{5D2354D1-CF36-E185-740C-58DDFF0AF0E4}"/>
                    </a:ext>
                  </a:extLst>
                </p:cNvPr>
                <p:cNvSpPr>
                  <a:spLocks noChangeAspect="1"/>
                </p:cNvSpPr>
                <p:nvPr/>
              </p:nvSpPr>
              <p:spPr>
                <a:xfrm>
                  <a:off x="6329783" y="2050666"/>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5" name="Oval 174">
                  <a:extLst>
                    <a:ext uri="{FF2B5EF4-FFF2-40B4-BE49-F238E27FC236}">
                      <a16:creationId xmlns:a16="http://schemas.microsoft.com/office/drawing/2014/main" id="{6DA63F60-30CE-554F-C514-349B55830C36}"/>
                    </a:ext>
                  </a:extLst>
                </p:cNvPr>
                <p:cNvSpPr>
                  <a:spLocks noChangeAspect="1"/>
                </p:cNvSpPr>
                <p:nvPr/>
              </p:nvSpPr>
              <p:spPr>
                <a:xfrm>
                  <a:off x="8529468" y="17682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6" name="Oval 175">
                  <a:extLst>
                    <a:ext uri="{FF2B5EF4-FFF2-40B4-BE49-F238E27FC236}">
                      <a16:creationId xmlns:a16="http://schemas.microsoft.com/office/drawing/2014/main" id="{C4D04F88-A3B9-CED1-763B-9BDAE7B7BF63}"/>
                    </a:ext>
                  </a:extLst>
                </p:cNvPr>
                <p:cNvSpPr>
                  <a:spLocks noChangeAspect="1"/>
                </p:cNvSpPr>
                <p:nvPr/>
              </p:nvSpPr>
              <p:spPr>
                <a:xfrm>
                  <a:off x="5737165" y="326185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7" name="Oval 176">
                  <a:extLst>
                    <a:ext uri="{FF2B5EF4-FFF2-40B4-BE49-F238E27FC236}">
                      <a16:creationId xmlns:a16="http://schemas.microsoft.com/office/drawing/2014/main" id="{2A3B38B4-2CE5-08BE-3499-878309798683}"/>
                    </a:ext>
                  </a:extLst>
                </p:cNvPr>
                <p:cNvSpPr>
                  <a:spLocks noChangeAspect="1"/>
                </p:cNvSpPr>
                <p:nvPr/>
              </p:nvSpPr>
              <p:spPr>
                <a:xfrm>
                  <a:off x="5332078" y="443507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8" name="Oval 177">
                  <a:extLst>
                    <a:ext uri="{FF2B5EF4-FFF2-40B4-BE49-F238E27FC236}">
                      <a16:creationId xmlns:a16="http://schemas.microsoft.com/office/drawing/2014/main" id="{953F6C68-86AC-4AED-F843-124E084E4ACD}"/>
                    </a:ext>
                  </a:extLst>
                </p:cNvPr>
                <p:cNvSpPr>
                  <a:spLocks noChangeAspect="1"/>
                </p:cNvSpPr>
                <p:nvPr/>
              </p:nvSpPr>
              <p:spPr>
                <a:xfrm>
                  <a:off x="5592874" y="5001533"/>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79" name="Oval 178">
                  <a:extLst>
                    <a:ext uri="{FF2B5EF4-FFF2-40B4-BE49-F238E27FC236}">
                      <a16:creationId xmlns:a16="http://schemas.microsoft.com/office/drawing/2014/main" id="{027B37E7-F22F-1513-3924-53BE334FC454}"/>
                    </a:ext>
                  </a:extLst>
                </p:cNvPr>
                <p:cNvSpPr>
                  <a:spLocks noChangeAspect="1"/>
                </p:cNvSpPr>
                <p:nvPr/>
              </p:nvSpPr>
              <p:spPr>
                <a:xfrm>
                  <a:off x="6383323" y="5456838"/>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0" name="Oval 179">
                  <a:extLst>
                    <a:ext uri="{FF2B5EF4-FFF2-40B4-BE49-F238E27FC236}">
                      <a16:creationId xmlns:a16="http://schemas.microsoft.com/office/drawing/2014/main" id="{A8B04647-4CBE-4CBC-0505-9749E53B9635}"/>
                    </a:ext>
                  </a:extLst>
                </p:cNvPr>
                <p:cNvSpPr>
                  <a:spLocks noChangeAspect="1"/>
                </p:cNvSpPr>
                <p:nvPr/>
              </p:nvSpPr>
              <p:spPr>
                <a:xfrm>
                  <a:off x="5392257" y="3776310"/>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61" name="TextBox 160">
                <a:extLst>
                  <a:ext uri="{FF2B5EF4-FFF2-40B4-BE49-F238E27FC236}">
                    <a16:creationId xmlns:a16="http://schemas.microsoft.com/office/drawing/2014/main" id="{30E2FD46-C628-08C6-518D-63D2C157552B}"/>
                  </a:ext>
                </a:extLst>
              </p:cNvPr>
              <p:cNvSpPr txBox="1"/>
              <p:nvPr/>
            </p:nvSpPr>
            <p:spPr>
              <a:xfrm>
                <a:off x="8416479" y="4319182"/>
                <a:ext cx="1142851" cy="215444"/>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Account team </a:t>
                </a:r>
              </a:p>
            </p:txBody>
          </p:sp>
          <p:sp>
            <p:nvSpPr>
              <p:cNvPr id="162" name="TextBox 161">
                <a:extLst>
                  <a:ext uri="{FF2B5EF4-FFF2-40B4-BE49-F238E27FC236}">
                    <a16:creationId xmlns:a16="http://schemas.microsoft.com/office/drawing/2014/main" id="{D07E8480-4CBE-CA83-A4FE-785AE24082C4}"/>
                  </a:ext>
                </a:extLst>
              </p:cNvPr>
              <p:cNvSpPr txBox="1"/>
              <p:nvPr/>
            </p:nvSpPr>
            <p:spPr>
              <a:xfrm>
                <a:off x="8416479" y="4603926"/>
                <a:ext cx="1000393" cy="646331"/>
              </a:xfrm>
              <a:prstGeom prst="rect">
                <a:avLst/>
              </a:prstGeom>
              <a:noFill/>
              <a:ln>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Sans Text Semibold"/>
                    <a:ea typeface="+mn-ea"/>
                    <a:cs typeface="+mn-cs"/>
                  </a:rPr>
                  <a:t>Cloud Accelerate Factory</a:t>
                </a:r>
              </a:p>
            </p:txBody>
          </p:sp>
          <p:sp>
            <p:nvSpPr>
              <p:cNvPr id="163" name="TextBox 162">
                <a:extLst>
                  <a:ext uri="{FF2B5EF4-FFF2-40B4-BE49-F238E27FC236}">
                    <a16:creationId xmlns:a16="http://schemas.microsoft.com/office/drawing/2014/main" id="{E08813C4-5663-CD76-BD2B-9E8D2CB910B4}"/>
                  </a:ext>
                </a:extLst>
              </p:cNvPr>
              <p:cNvSpPr txBox="1"/>
              <p:nvPr/>
            </p:nvSpPr>
            <p:spPr>
              <a:xfrm>
                <a:off x="6666058" y="2840528"/>
                <a:ext cx="428002" cy="83099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Migration</a:t>
                </a:r>
                <a:b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b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wave (from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Sans Text Semibold"/>
                    <a:ea typeface="+mn-ea"/>
                    <a:cs typeface="+mn-cs"/>
                  </a:rPr>
                  <a:t>backlog)</a:t>
                </a:r>
              </a:p>
            </p:txBody>
          </p:sp>
          <p:sp>
            <p:nvSpPr>
              <p:cNvPr id="164" name="TextBox 163">
                <a:extLst>
                  <a:ext uri="{FF2B5EF4-FFF2-40B4-BE49-F238E27FC236}">
                    <a16:creationId xmlns:a16="http://schemas.microsoft.com/office/drawing/2014/main" id="{6F81EE79-668D-4F1D-051C-ADB05A873B2D}"/>
                  </a:ext>
                </a:extLst>
              </p:cNvPr>
              <p:cNvSpPr txBox="1"/>
              <p:nvPr/>
            </p:nvSpPr>
            <p:spPr>
              <a:xfrm>
                <a:off x="8149930" y="3143568"/>
                <a:ext cx="360676" cy="138499"/>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Sans Text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Rehost</a:t>
                </a:r>
              </a:p>
            </p:txBody>
          </p:sp>
          <p:sp>
            <p:nvSpPr>
              <p:cNvPr id="165" name="TextBox 164">
                <a:extLst>
                  <a:ext uri="{FF2B5EF4-FFF2-40B4-BE49-F238E27FC236}">
                    <a16:creationId xmlns:a16="http://schemas.microsoft.com/office/drawing/2014/main" id="{5492E965-6733-EF32-EF88-35631BFC918D}"/>
                  </a:ext>
                </a:extLst>
              </p:cNvPr>
              <p:cNvSpPr txBox="1"/>
              <p:nvPr/>
            </p:nvSpPr>
            <p:spPr>
              <a:xfrm>
                <a:off x="7315406" y="4302136"/>
                <a:ext cx="519373" cy="276999"/>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sz="1050" b="0" i="0" u="none" strike="noStrike" cap="none" spc="0" normalizeH="0" baseline="0">
                    <a:ln>
                      <a:noFill/>
                    </a:ln>
                    <a:effectLst/>
                    <a:uLnTx/>
                    <a:uFillTx/>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Migration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Sans Text Semibold"/>
                    <a:ea typeface="+mn-ea"/>
                    <a:cs typeface="+mn-cs"/>
                  </a:rPr>
                  <a:t>plan</a:t>
                </a:r>
              </a:p>
            </p:txBody>
          </p:sp>
          <p:sp>
            <p:nvSpPr>
              <p:cNvPr id="166" name="TextBox 165">
                <a:extLst>
                  <a:ext uri="{FF2B5EF4-FFF2-40B4-BE49-F238E27FC236}">
                    <a16:creationId xmlns:a16="http://schemas.microsoft.com/office/drawing/2014/main" id="{7E2BFC65-33BA-4500-D487-6A5F082ECD37}"/>
                  </a:ext>
                </a:extLst>
              </p:cNvPr>
              <p:cNvSpPr txBox="1"/>
              <p:nvPr/>
            </p:nvSpPr>
            <p:spPr>
              <a:xfrm>
                <a:off x="5708896" y="4111594"/>
                <a:ext cx="149424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Customer</a:t>
                </a:r>
              </a:p>
            </p:txBody>
          </p:sp>
          <p:sp>
            <p:nvSpPr>
              <p:cNvPr id="167" name="TextBox 166">
                <a:extLst>
                  <a:ext uri="{FF2B5EF4-FFF2-40B4-BE49-F238E27FC236}">
                    <a16:creationId xmlns:a16="http://schemas.microsoft.com/office/drawing/2014/main" id="{F7B93350-D48E-D0E2-EF58-83D11205B87F}"/>
                  </a:ext>
                </a:extLst>
              </p:cNvPr>
              <p:cNvSpPr txBox="1"/>
              <p:nvPr/>
            </p:nvSpPr>
            <p:spPr>
              <a:xfrm>
                <a:off x="8175515" y="3942105"/>
                <a:ext cx="1383816" cy="307777"/>
              </a:xfrm>
              <a:prstGeom prst="rect">
                <a:avLst/>
              </a:prstGeom>
              <a:noFill/>
              <a:ln>
                <a:noFill/>
              </a:ln>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Microsoft</a:t>
                </a:r>
              </a:p>
            </p:txBody>
          </p:sp>
          <p:sp>
            <p:nvSpPr>
              <p:cNvPr id="168" name="Oval 167">
                <a:extLst>
                  <a:ext uri="{FF2B5EF4-FFF2-40B4-BE49-F238E27FC236}">
                    <a16:creationId xmlns:a16="http://schemas.microsoft.com/office/drawing/2014/main" id="{2CDF8D72-EE4F-8AE9-FD7E-7FEF7F49C9BE}"/>
                  </a:ext>
                </a:extLst>
              </p:cNvPr>
              <p:cNvSpPr>
                <a:spLocks noChangeAspect="1"/>
              </p:cNvSpPr>
              <p:nvPr/>
            </p:nvSpPr>
            <p:spPr>
              <a:xfrm>
                <a:off x="8194132" y="4643461"/>
                <a:ext cx="127582" cy="127582"/>
              </a:xfrm>
              <a:prstGeom prst="ellipse">
                <a:avLst/>
              </a:prstGeom>
              <a:solidFill>
                <a:srgbClr val="FFA38B"/>
              </a:solidFill>
              <a:ln w="19050">
                <a:solidFill>
                  <a:srgbClr val="F4364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9" name="Oval 168">
                <a:extLst>
                  <a:ext uri="{FF2B5EF4-FFF2-40B4-BE49-F238E27FC236}">
                    <a16:creationId xmlns:a16="http://schemas.microsoft.com/office/drawing/2014/main" id="{B4278C14-EE54-844E-3D1A-D6C07954FD66}"/>
                  </a:ext>
                </a:extLst>
              </p:cNvPr>
              <p:cNvSpPr>
                <a:spLocks noChangeAspect="1"/>
              </p:cNvSpPr>
              <p:nvPr/>
            </p:nvSpPr>
            <p:spPr>
              <a:xfrm>
                <a:off x="8194132" y="4363113"/>
                <a:ext cx="127582" cy="127582"/>
              </a:xfrm>
              <a:prstGeom prst="ellipse">
                <a:avLst/>
              </a:prstGeom>
              <a:solidFill>
                <a:srgbClr val="8DC8E8"/>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grpSp>
        <p:sp>
          <p:nvSpPr>
            <p:cNvPr id="159" name="Rectangle 158">
              <a:extLst>
                <a:ext uri="{FF2B5EF4-FFF2-40B4-BE49-F238E27FC236}">
                  <a16:creationId xmlns:a16="http://schemas.microsoft.com/office/drawing/2014/main" id="{4A1B4C9B-258D-DFBE-7539-4319EBA35614}"/>
                </a:ext>
              </a:extLst>
            </p:cNvPr>
            <p:cNvSpPr/>
            <p:nvPr/>
          </p:nvSpPr>
          <p:spPr bwMode="auto">
            <a:xfrm>
              <a:off x="3669200" y="727997"/>
              <a:ext cx="184047" cy="1840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grpSp>
      <p:sp>
        <p:nvSpPr>
          <p:cNvPr id="128" name="Rectangle 127" descr="Partner ">
            <a:extLst>
              <a:ext uri="{FF2B5EF4-FFF2-40B4-BE49-F238E27FC236}">
                <a16:creationId xmlns:a16="http://schemas.microsoft.com/office/drawing/2014/main" id="{41020AF9-CEBE-F79C-C602-063D74A616BA}"/>
              </a:ext>
            </a:extLst>
          </p:cNvPr>
          <p:cNvSpPr/>
          <p:nvPr/>
        </p:nvSpPr>
        <p:spPr bwMode="auto">
          <a:xfrm>
            <a:off x="4883202" y="457200"/>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29" name="TextBox 128">
            <a:extLst>
              <a:ext uri="{FF2B5EF4-FFF2-40B4-BE49-F238E27FC236}">
                <a16:creationId xmlns:a16="http://schemas.microsoft.com/office/drawing/2014/main" id="{3D66D0E2-BAA6-22D8-4673-D2C80C9D547B}"/>
              </a:ext>
            </a:extLst>
          </p:cNvPr>
          <p:cNvSpPr txBox="1"/>
          <p:nvPr/>
        </p:nvSpPr>
        <p:spPr>
          <a:xfrm>
            <a:off x="5957735" y="1107763"/>
            <a:ext cx="1139736" cy="307777"/>
          </a:xfrm>
          <a:prstGeom prst="rect">
            <a:avLst/>
          </a:prstGeom>
          <a:noFill/>
        </p:spPr>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Customized/coding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implementation</a:t>
            </a:r>
          </a:p>
        </p:txBody>
      </p:sp>
      <p:sp>
        <p:nvSpPr>
          <p:cNvPr id="130" name="TextBox 129">
            <a:extLst>
              <a:ext uri="{FF2B5EF4-FFF2-40B4-BE49-F238E27FC236}">
                <a16:creationId xmlns:a16="http://schemas.microsoft.com/office/drawing/2014/main" id="{F70BE273-04E5-C87C-BD2D-4F710CD8BD62}"/>
              </a:ext>
            </a:extLst>
          </p:cNvPr>
          <p:cNvSpPr txBox="1"/>
          <p:nvPr/>
        </p:nvSpPr>
        <p:spPr>
          <a:xfrm>
            <a:off x="8895382" y="893108"/>
            <a:ext cx="1350776"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Services outside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scope</a:t>
            </a:r>
          </a:p>
        </p:txBody>
      </p:sp>
      <p:sp>
        <p:nvSpPr>
          <p:cNvPr id="131" name="TextBox 130">
            <a:extLst>
              <a:ext uri="{FF2B5EF4-FFF2-40B4-BE49-F238E27FC236}">
                <a16:creationId xmlns:a16="http://schemas.microsoft.com/office/drawing/2014/main" id="{051E50EB-9439-FBBA-3D27-49F77DCD0764}"/>
              </a:ext>
            </a:extLst>
          </p:cNvPr>
          <p:cNvSpPr txBox="1"/>
          <p:nvPr/>
        </p:nvSpPr>
        <p:spPr>
          <a:xfrm>
            <a:off x="4471284" y="2102902"/>
            <a:ext cx="2118676" cy="461665"/>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Post-migration services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support (including +5 days Hypercare)</a:t>
            </a:r>
          </a:p>
        </p:txBody>
      </p:sp>
      <p:sp>
        <p:nvSpPr>
          <p:cNvPr id="132" name="TextBox 131">
            <a:extLst>
              <a:ext uri="{FF2B5EF4-FFF2-40B4-BE49-F238E27FC236}">
                <a16:creationId xmlns:a16="http://schemas.microsoft.com/office/drawing/2014/main" id="{C1DAEE19-63DF-B106-862B-6E2D624FA6C3}"/>
              </a:ext>
            </a:extLst>
          </p:cNvPr>
          <p:cNvSpPr txBox="1"/>
          <p:nvPr/>
        </p:nvSpPr>
        <p:spPr>
          <a:xfrm>
            <a:off x="9608246" y="1843208"/>
            <a:ext cx="1612621" cy="307777"/>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Overall project management</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and governance</a:t>
            </a:r>
          </a:p>
        </p:txBody>
      </p:sp>
      <p:sp>
        <p:nvSpPr>
          <p:cNvPr id="133" name="TextBox 132">
            <a:extLst>
              <a:ext uri="{FF2B5EF4-FFF2-40B4-BE49-F238E27FC236}">
                <a16:creationId xmlns:a16="http://schemas.microsoft.com/office/drawing/2014/main" id="{9053E0A6-4EBF-2ED8-E54C-54AC22AB34CF}"/>
              </a:ext>
            </a:extLst>
          </p:cNvPr>
          <p:cNvSpPr txBox="1"/>
          <p:nvPr/>
        </p:nvSpPr>
        <p:spPr>
          <a:xfrm>
            <a:off x="4833895" y="1650557"/>
            <a:ext cx="1896353" cy="307777"/>
          </a:xfrm>
          <a:prstGeom prst="rect">
            <a:avLst/>
          </a:prstGeom>
          <a:noFill/>
        </p:spPr>
        <p:txBody>
          <a:bodyPr wrap="non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In-person customer engagement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(when applicable)</a:t>
            </a:r>
          </a:p>
        </p:txBody>
      </p:sp>
      <p:sp>
        <p:nvSpPr>
          <p:cNvPr id="134" name="TextBox 133">
            <a:extLst>
              <a:ext uri="{FF2B5EF4-FFF2-40B4-BE49-F238E27FC236}">
                <a16:creationId xmlns:a16="http://schemas.microsoft.com/office/drawing/2014/main" id="{9A048030-81A1-2821-90EF-881F84D7D14A}"/>
              </a:ext>
            </a:extLst>
          </p:cNvPr>
          <p:cNvSpPr txBox="1"/>
          <p:nvPr/>
        </p:nvSpPr>
        <p:spPr>
          <a:xfrm>
            <a:off x="9464958" y="1465293"/>
            <a:ext cx="1695977"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Customer environment access</a:t>
            </a:r>
          </a:p>
        </p:txBody>
      </p:sp>
      <p:sp>
        <p:nvSpPr>
          <p:cNvPr id="135" name="Rectangle 134" descr="Customer ">
            <a:extLst>
              <a:ext uri="{FF2B5EF4-FFF2-40B4-BE49-F238E27FC236}">
                <a16:creationId xmlns:a16="http://schemas.microsoft.com/office/drawing/2014/main" id="{5C50F1FC-A640-86AE-D399-C621C0B9CF92}"/>
              </a:ext>
            </a:extLst>
          </p:cNvPr>
          <p:cNvSpPr/>
          <p:nvPr/>
        </p:nvSpPr>
        <p:spPr bwMode="auto">
          <a:xfrm>
            <a:off x="4234916" y="2848806"/>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37" name="TextBox 136">
            <a:extLst>
              <a:ext uri="{FF2B5EF4-FFF2-40B4-BE49-F238E27FC236}">
                <a16:creationId xmlns:a16="http://schemas.microsoft.com/office/drawing/2014/main" id="{00C731C3-8BE6-2A91-4605-77139DAC5905}"/>
              </a:ext>
            </a:extLst>
          </p:cNvPr>
          <p:cNvSpPr txBox="1"/>
          <p:nvPr/>
        </p:nvSpPr>
        <p:spPr>
          <a:xfrm>
            <a:off x="4460053" y="3409469"/>
            <a:ext cx="1332095"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Project manager/SPOC </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to align governance</a:t>
            </a:r>
          </a:p>
        </p:txBody>
      </p:sp>
      <p:sp>
        <p:nvSpPr>
          <p:cNvPr id="138" name="TextBox 137">
            <a:extLst>
              <a:ext uri="{FF2B5EF4-FFF2-40B4-BE49-F238E27FC236}">
                <a16:creationId xmlns:a16="http://schemas.microsoft.com/office/drawing/2014/main" id="{A04CB3A7-E7F7-5180-4366-BA265546944A}"/>
              </a:ext>
            </a:extLst>
          </p:cNvPr>
          <p:cNvSpPr txBox="1"/>
          <p:nvPr/>
        </p:nvSpPr>
        <p:spPr>
          <a:xfrm>
            <a:off x="4374634" y="4143847"/>
            <a:ext cx="1346522"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User acceptance testing</a:t>
            </a:r>
          </a:p>
        </p:txBody>
      </p:sp>
      <p:sp>
        <p:nvSpPr>
          <p:cNvPr id="139" name="TextBox 138">
            <a:extLst>
              <a:ext uri="{FF2B5EF4-FFF2-40B4-BE49-F238E27FC236}">
                <a16:creationId xmlns:a16="http://schemas.microsoft.com/office/drawing/2014/main" id="{1656984C-2F64-4F14-D97C-04192352BFDD}"/>
              </a:ext>
            </a:extLst>
          </p:cNvPr>
          <p:cNvSpPr txBox="1"/>
          <p:nvPr/>
        </p:nvSpPr>
        <p:spPr>
          <a:xfrm>
            <a:off x="4651045" y="4640195"/>
            <a:ext cx="1375377" cy="307777"/>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Technical resources for</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execution/pre-requisites</a:t>
            </a:r>
          </a:p>
        </p:txBody>
      </p:sp>
      <p:sp>
        <p:nvSpPr>
          <p:cNvPr id="140" name="TextBox 139">
            <a:extLst>
              <a:ext uri="{FF2B5EF4-FFF2-40B4-BE49-F238E27FC236}">
                <a16:creationId xmlns:a16="http://schemas.microsoft.com/office/drawing/2014/main" id="{69F93BE6-D127-3888-4C68-0297F683121E}"/>
              </a:ext>
            </a:extLst>
          </p:cNvPr>
          <p:cNvSpPr txBox="1"/>
          <p:nvPr/>
        </p:nvSpPr>
        <p:spPr>
          <a:xfrm>
            <a:off x="5612250" y="5292837"/>
            <a:ext cx="1231106" cy="153888"/>
          </a:xfrm>
          <a:prstGeom prst="rect">
            <a:avLst/>
          </a:prstGeom>
          <a:noFill/>
        </p:spPr>
        <p:txBody>
          <a:bodyPr wrap="none" lIns="0" tIns="0" rIns="0" bIns="0" rtlCol="0">
            <a:spAutoFit/>
          </a:bodyPr>
          <a:lstStyle>
            <a:defPPr>
              <a:defRPr lang="en-US"/>
            </a:defPPr>
            <a:lvl1pPr marR="0" lvl="0" indent="0" algn="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Sign-off and approval</a:t>
            </a:r>
          </a:p>
        </p:txBody>
      </p:sp>
      <p:sp>
        <p:nvSpPr>
          <p:cNvPr id="141" name="Rectangle 140" descr="Microsoft: Account team and Migration Factory ">
            <a:extLst>
              <a:ext uri="{FF2B5EF4-FFF2-40B4-BE49-F238E27FC236}">
                <a16:creationId xmlns:a16="http://schemas.microsoft.com/office/drawing/2014/main" id="{719B2504-58A7-1341-BC2B-2C9624FEA836}"/>
              </a:ext>
            </a:extLst>
          </p:cNvPr>
          <p:cNvSpPr/>
          <p:nvPr/>
        </p:nvSpPr>
        <p:spPr bwMode="auto">
          <a:xfrm>
            <a:off x="9312019" y="2642099"/>
            <a:ext cx="223336" cy="22333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2" name="Oval 141" descr="Account team  ">
            <a:extLst>
              <a:ext uri="{FF2B5EF4-FFF2-40B4-BE49-F238E27FC236}">
                <a16:creationId xmlns:a16="http://schemas.microsoft.com/office/drawing/2014/main" id="{C932FF19-B475-7779-4459-B160C5800794}"/>
              </a:ext>
            </a:extLst>
          </p:cNvPr>
          <p:cNvSpPr>
            <a:spLocks noChangeAspect="1"/>
          </p:cNvSpPr>
          <p:nvPr/>
        </p:nvSpPr>
        <p:spPr>
          <a:xfrm>
            <a:off x="9626673" y="2773278"/>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3" name="TextBox 142">
            <a:extLst>
              <a:ext uri="{FF2B5EF4-FFF2-40B4-BE49-F238E27FC236}">
                <a16:creationId xmlns:a16="http://schemas.microsoft.com/office/drawing/2014/main" id="{D3E1751C-715A-3012-0AAB-403F8FDD1E7D}"/>
              </a:ext>
            </a:extLst>
          </p:cNvPr>
          <p:cNvSpPr txBox="1"/>
          <p:nvPr/>
        </p:nvSpPr>
        <p:spPr>
          <a:xfrm>
            <a:off x="9855058" y="2705345"/>
            <a:ext cx="1417055"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Unblocking/SME support</a:t>
            </a:r>
          </a:p>
        </p:txBody>
      </p:sp>
      <p:sp>
        <p:nvSpPr>
          <p:cNvPr id="144" name="Oval 143">
            <a:extLst>
              <a:ext uri="{FF2B5EF4-FFF2-40B4-BE49-F238E27FC236}">
                <a16:creationId xmlns:a16="http://schemas.microsoft.com/office/drawing/2014/main" id="{0F2B1B50-6A7D-8565-715B-F7F65D8A75FD}"/>
              </a:ext>
              <a:ext uri="{C183D7F6-B498-43B3-948B-1728B52AA6E4}">
                <adec:decorative xmlns:adec="http://schemas.microsoft.com/office/drawing/2017/decorative" val="1"/>
              </a:ext>
            </a:extLst>
          </p:cNvPr>
          <p:cNvSpPr>
            <a:spLocks noChangeAspect="1"/>
          </p:cNvSpPr>
          <p:nvPr/>
        </p:nvSpPr>
        <p:spPr>
          <a:xfrm>
            <a:off x="9942356" y="298838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5" name="TextBox 144">
            <a:extLst>
              <a:ext uri="{FF2B5EF4-FFF2-40B4-BE49-F238E27FC236}">
                <a16:creationId xmlns:a16="http://schemas.microsoft.com/office/drawing/2014/main" id="{15DBF5B8-A5B5-684E-8797-4C46CC0F516E}"/>
              </a:ext>
            </a:extLst>
          </p:cNvPr>
          <p:cNvSpPr txBox="1"/>
          <p:nvPr/>
        </p:nvSpPr>
        <p:spPr>
          <a:xfrm>
            <a:off x="10199335" y="2989047"/>
            <a:ext cx="1102866"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Licensing questions</a:t>
            </a:r>
          </a:p>
        </p:txBody>
      </p:sp>
      <p:sp>
        <p:nvSpPr>
          <p:cNvPr id="146" name="Oval 145">
            <a:extLst>
              <a:ext uri="{FF2B5EF4-FFF2-40B4-BE49-F238E27FC236}">
                <a16:creationId xmlns:a16="http://schemas.microsoft.com/office/drawing/2014/main" id="{645D4251-B059-5BE5-423E-BFE1C995D767}"/>
              </a:ext>
              <a:ext uri="{C183D7F6-B498-43B3-948B-1728B52AA6E4}">
                <adec:decorative xmlns:adec="http://schemas.microsoft.com/office/drawing/2017/decorative" val="1"/>
              </a:ext>
            </a:extLst>
          </p:cNvPr>
          <p:cNvSpPr>
            <a:spLocks noChangeAspect="1"/>
          </p:cNvSpPr>
          <p:nvPr/>
        </p:nvSpPr>
        <p:spPr>
          <a:xfrm>
            <a:off x="10168657" y="3299672"/>
            <a:ext cx="127582" cy="127582"/>
          </a:xfrm>
          <a:prstGeom prst="ellipse">
            <a:avLst/>
          </a:prstGeom>
          <a:solidFill>
            <a:srgbClr val="8DC8E8"/>
          </a:solidFill>
          <a:ln w="19050">
            <a:solidFill>
              <a:srgbClr val="005FA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7" name="TextBox 146">
            <a:extLst>
              <a:ext uri="{FF2B5EF4-FFF2-40B4-BE49-F238E27FC236}">
                <a16:creationId xmlns:a16="http://schemas.microsoft.com/office/drawing/2014/main" id="{2B20D56E-0F69-BD32-8872-43F71C0A0C44}"/>
              </a:ext>
            </a:extLst>
          </p:cNvPr>
          <p:cNvSpPr txBox="1"/>
          <p:nvPr/>
        </p:nvSpPr>
        <p:spPr>
          <a:xfrm>
            <a:off x="10437151" y="3209574"/>
            <a:ext cx="1037143" cy="307777"/>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Cost analysis/</a:t>
            </a:r>
            <a:br>
              <a:rPr kumimoji="0" lang="en-US" sz="1000" b="0" i="0" u="none" strike="noStrike" kern="1200" cap="none" spc="0" normalizeH="0" baseline="0" noProof="0" dirty="0">
                <a:ln>
                  <a:noFill/>
                </a:ln>
                <a:solidFill>
                  <a:srgbClr val="000000"/>
                </a:solidFill>
                <a:effectLst/>
                <a:uLnTx/>
                <a:uFillTx/>
                <a:latin typeface="Segoe Sans Text"/>
                <a:ea typeface="+mn-ea"/>
                <a:cs typeface="+mn-cs"/>
              </a:rPr>
            </a:br>
            <a:r>
              <a:rPr kumimoji="0" lang="en-US" sz="1000" b="0" i="0" u="none" strike="noStrike" kern="1200" cap="none" spc="0" normalizeH="0" baseline="0" noProof="0" dirty="0">
                <a:ln>
                  <a:noFill/>
                </a:ln>
                <a:solidFill>
                  <a:srgbClr val="000000"/>
                </a:solidFill>
                <a:effectLst/>
                <a:uLnTx/>
                <a:uFillTx/>
                <a:latin typeface="Segoe Sans Text"/>
                <a:ea typeface="+mn-ea"/>
                <a:cs typeface="+mn-cs"/>
              </a:rPr>
              <a:t>Deal orchestration</a:t>
            </a:r>
          </a:p>
        </p:txBody>
      </p:sp>
      <p:sp>
        <p:nvSpPr>
          <p:cNvPr id="149" name="TextBox 148">
            <a:extLst>
              <a:ext uri="{FF2B5EF4-FFF2-40B4-BE49-F238E27FC236}">
                <a16:creationId xmlns:a16="http://schemas.microsoft.com/office/drawing/2014/main" id="{945FD838-C9AB-2E5A-CA3E-C2A95D3A26BE}"/>
              </a:ext>
            </a:extLst>
          </p:cNvPr>
          <p:cNvSpPr txBox="1"/>
          <p:nvPr/>
        </p:nvSpPr>
        <p:spPr>
          <a:xfrm>
            <a:off x="10543721" y="3638487"/>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Pre-requisites guidance/services</a:t>
            </a:r>
          </a:p>
        </p:txBody>
      </p:sp>
      <p:sp>
        <p:nvSpPr>
          <p:cNvPr id="156" name="Oval 155">
            <a:extLst>
              <a:ext uri="{FF2B5EF4-FFF2-40B4-BE49-F238E27FC236}">
                <a16:creationId xmlns:a16="http://schemas.microsoft.com/office/drawing/2014/main" id="{D5DA02F4-19F0-921B-8FDB-AA1F362E759B}"/>
              </a:ext>
              <a:ext uri="{C183D7F6-B498-43B3-948B-1728B52AA6E4}">
                <adec:decorative xmlns:adec="http://schemas.microsoft.com/office/drawing/2017/decorative" val="1"/>
              </a:ext>
            </a:extLst>
          </p:cNvPr>
          <p:cNvSpPr>
            <a:spLocks noChangeAspect="1"/>
          </p:cNvSpPr>
          <p:nvPr/>
        </p:nvSpPr>
        <p:spPr>
          <a:xfrm>
            <a:off x="9022380" y="5190374"/>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1" name="TextBox 180">
            <a:extLst>
              <a:ext uri="{FF2B5EF4-FFF2-40B4-BE49-F238E27FC236}">
                <a16:creationId xmlns:a16="http://schemas.microsoft.com/office/drawing/2014/main" id="{FDD1D34A-FE79-9E92-9714-2D605B6E1823}"/>
              </a:ext>
            </a:extLst>
          </p:cNvPr>
          <p:cNvSpPr txBox="1"/>
          <p:nvPr/>
        </p:nvSpPr>
        <p:spPr>
          <a:xfrm>
            <a:off x="7076458" y="1933035"/>
            <a:ext cx="2195268" cy="553998"/>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ISD/Partner*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4">
                    <a:lumMod val="75000"/>
                  </a:srgbClr>
                </a:solidFill>
                <a:effectLst/>
                <a:uLnTx/>
                <a:uFillTx/>
                <a:latin typeface="Segoe Sans Text Semibold"/>
                <a:ea typeface="+mn-ea"/>
                <a:cs typeface="+mn-cs"/>
              </a:rPr>
              <a:t>(when applicable)</a:t>
            </a:r>
          </a:p>
        </p:txBody>
      </p:sp>
      <p:sp>
        <p:nvSpPr>
          <p:cNvPr id="4" name="TextBox 3">
            <a:extLst>
              <a:ext uri="{FF2B5EF4-FFF2-40B4-BE49-F238E27FC236}">
                <a16:creationId xmlns:a16="http://schemas.microsoft.com/office/drawing/2014/main" id="{ADABEFF2-5C52-7AB1-ED06-A60CE3E9E9CB}"/>
              </a:ext>
            </a:extLst>
          </p:cNvPr>
          <p:cNvSpPr txBox="1"/>
          <p:nvPr/>
        </p:nvSpPr>
        <p:spPr>
          <a:xfrm>
            <a:off x="7070030" y="531004"/>
            <a:ext cx="152669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Envisioning &amp; Discovery Workshop, Wave Planning</a:t>
            </a: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6" name="TextBox 5">
            <a:extLst>
              <a:ext uri="{FF2B5EF4-FFF2-40B4-BE49-F238E27FC236}">
                <a16:creationId xmlns:a16="http://schemas.microsoft.com/office/drawing/2014/main" id="{F1A4B44D-268A-400C-8C8C-3C71C365DE6D}"/>
              </a:ext>
            </a:extLst>
          </p:cNvPr>
          <p:cNvSpPr txBox="1"/>
          <p:nvPr/>
        </p:nvSpPr>
        <p:spPr>
          <a:xfrm>
            <a:off x="10547647" y="4244485"/>
            <a:ext cx="1448932"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Target Architecture deployment</a:t>
            </a:r>
          </a:p>
        </p:txBody>
      </p:sp>
      <p:sp>
        <p:nvSpPr>
          <p:cNvPr id="7" name="TextBox 6">
            <a:extLst>
              <a:ext uri="{FF2B5EF4-FFF2-40B4-BE49-F238E27FC236}">
                <a16:creationId xmlns:a16="http://schemas.microsoft.com/office/drawing/2014/main" id="{1DFF56A0-B3F2-A708-2DDC-0F4CEB60866A}"/>
              </a:ext>
            </a:extLst>
          </p:cNvPr>
          <p:cNvSpPr txBox="1"/>
          <p:nvPr/>
        </p:nvSpPr>
        <p:spPr>
          <a:xfrm>
            <a:off x="9233457" y="229195"/>
            <a:ext cx="2362201" cy="302955"/>
          </a:xfrm>
          <a:prstGeom prst="roundRect">
            <a:avLst>
              <a:gd name="adj" fmla="val 50000"/>
            </a:avLst>
          </a:prstGeom>
          <a:solidFill>
            <a:schemeClr val="bg1">
              <a:lumMod val="95000"/>
            </a:schemeClr>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Factory Optimized Workload</a:t>
            </a:r>
          </a:p>
        </p:txBody>
      </p:sp>
      <p:sp>
        <p:nvSpPr>
          <p:cNvPr id="8" name="Oval 7">
            <a:extLst>
              <a:ext uri="{FF2B5EF4-FFF2-40B4-BE49-F238E27FC236}">
                <a16:creationId xmlns:a16="http://schemas.microsoft.com/office/drawing/2014/main" id="{3140454B-D959-DC2B-FBAD-6E1FD0CC2DBF}"/>
              </a:ext>
            </a:extLst>
          </p:cNvPr>
          <p:cNvSpPr>
            <a:spLocks noChangeAspect="1"/>
          </p:cNvSpPr>
          <p:nvPr/>
        </p:nvSpPr>
        <p:spPr>
          <a:xfrm>
            <a:off x="9310257" y="1929539"/>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0" name="TextBox 9">
            <a:extLst>
              <a:ext uri="{FF2B5EF4-FFF2-40B4-BE49-F238E27FC236}">
                <a16:creationId xmlns:a16="http://schemas.microsoft.com/office/drawing/2014/main" id="{C3E9EA23-7B20-B623-EEF2-A09665551CC1}"/>
              </a:ext>
            </a:extLst>
          </p:cNvPr>
          <p:cNvSpPr txBox="1"/>
          <p:nvPr/>
        </p:nvSpPr>
        <p:spPr>
          <a:xfrm>
            <a:off x="9610733" y="2346775"/>
            <a:ext cx="1448932" cy="153888"/>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dirty="0">
                <a:solidFill>
                  <a:srgbClr val="000000"/>
                </a:solidFill>
                <a:latin typeface="Segoe Sans Text"/>
              </a:rPr>
              <a:t>Solution Design</a:t>
            </a:r>
          </a:p>
        </p:txBody>
      </p:sp>
      <p:sp>
        <p:nvSpPr>
          <p:cNvPr id="12" name="Oval 11">
            <a:extLst>
              <a:ext uri="{FF2B5EF4-FFF2-40B4-BE49-F238E27FC236}">
                <a16:creationId xmlns:a16="http://schemas.microsoft.com/office/drawing/2014/main" id="{B33E5C5F-5DC8-89A1-CF60-46FEF3DFAED0}"/>
              </a:ext>
            </a:extLst>
          </p:cNvPr>
          <p:cNvSpPr>
            <a:spLocks noChangeAspect="1"/>
          </p:cNvSpPr>
          <p:nvPr/>
        </p:nvSpPr>
        <p:spPr>
          <a:xfrm>
            <a:off x="7891019" y="102003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4" name="Oval 13">
            <a:extLst>
              <a:ext uri="{FF2B5EF4-FFF2-40B4-BE49-F238E27FC236}">
                <a16:creationId xmlns:a16="http://schemas.microsoft.com/office/drawing/2014/main" id="{8FAF8815-D309-CEA4-61E5-A390515DC249}"/>
              </a:ext>
            </a:extLst>
          </p:cNvPr>
          <p:cNvSpPr>
            <a:spLocks noChangeAspect="1"/>
          </p:cNvSpPr>
          <p:nvPr/>
        </p:nvSpPr>
        <p:spPr>
          <a:xfrm>
            <a:off x="9351078" y="2343422"/>
            <a:ext cx="127582" cy="127582"/>
          </a:xfrm>
          <a:prstGeom prst="ellipse">
            <a:avLst/>
          </a:prstGeom>
          <a:solidFill>
            <a:srgbClr val="F4F3F5"/>
          </a:solidFill>
          <a:ln w="19050">
            <a:solidFill>
              <a:srgbClr val="0E608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6" name="Oval 15">
            <a:extLst>
              <a:ext uri="{FF2B5EF4-FFF2-40B4-BE49-F238E27FC236}">
                <a16:creationId xmlns:a16="http://schemas.microsoft.com/office/drawing/2014/main" id="{27B92B8A-FB9D-DC87-A69A-D3FA7490EC44}"/>
              </a:ext>
              <a:ext uri="{C183D7F6-B498-43B3-948B-1728B52AA6E4}">
                <adec:decorative xmlns:adec="http://schemas.microsoft.com/office/drawing/2017/decorative" val="1"/>
              </a:ext>
            </a:extLst>
          </p:cNvPr>
          <p:cNvSpPr>
            <a:spLocks noChangeAspect="1"/>
          </p:cNvSpPr>
          <p:nvPr/>
        </p:nvSpPr>
        <p:spPr>
          <a:xfrm>
            <a:off x="8479255" y="50381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18" name="Oval 17">
            <a:extLst>
              <a:ext uri="{FF2B5EF4-FFF2-40B4-BE49-F238E27FC236}">
                <a16:creationId xmlns:a16="http://schemas.microsoft.com/office/drawing/2014/main" id="{3172ED5A-1183-C5B2-94B4-0F40E335C04C}"/>
              </a:ext>
              <a:ext uri="{C183D7F6-B498-43B3-948B-1728B52AA6E4}">
                <adec:decorative xmlns:adec="http://schemas.microsoft.com/office/drawing/2017/decorative" val="1"/>
              </a:ext>
            </a:extLst>
          </p:cNvPr>
          <p:cNvSpPr>
            <a:spLocks noChangeAspect="1"/>
          </p:cNvSpPr>
          <p:nvPr/>
        </p:nvSpPr>
        <p:spPr>
          <a:xfrm>
            <a:off x="10276513" y="4268230"/>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0" name="Oval 19">
            <a:extLst>
              <a:ext uri="{FF2B5EF4-FFF2-40B4-BE49-F238E27FC236}">
                <a16:creationId xmlns:a16="http://schemas.microsoft.com/office/drawing/2014/main" id="{80E48131-8995-BB97-88AD-513000756FDC}"/>
              </a:ext>
              <a:ext uri="{C183D7F6-B498-43B3-948B-1728B52AA6E4}">
                <adec:decorative xmlns:adec="http://schemas.microsoft.com/office/drawing/2017/decorative" val="1"/>
              </a:ext>
            </a:extLst>
          </p:cNvPr>
          <p:cNvSpPr>
            <a:spLocks noChangeAspect="1"/>
          </p:cNvSpPr>
          <p:nvPr/>
        </p:nvSpPr>
        <p:spPr>
          <a:xfrm>
            <a:off x="9983620" y="477298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22" name="Oval 21">
            <a:extLst>
              <a:ext uri="{FF2B5EF4-FFF2-40B4-BE49-F238E27FC236}">
                <a16:creationId xmlns:a16="http://schemas.microsoft.com/office/drawing/2014/main" id="{2465DB15-9B89-E88D-7DEB-89FD455250D8}"/>
              </a:ext>
              <a:ext uri="{C183D7F6-B498-43B3-948B-1728B52AA6E4}">
                <adec:decorative xmlns:adec="http://schemas.microsoft.com/office/drawing/2017/decorative" val="1"/>
              </a:ext>
            </a:extLst>
          </p:cNvPr>
          <p:cNvSpPr>
            <a:spLocks noChangeAspect="1"/>
          </p:cNvSpPr>
          <p:nvPr/>
        </p:nvSpPr>
        <p:spPr>
          <a:xfrm>
            <a:off x="10320689" y="3753336"/>
            <a:ext cx="127582" cy="127582"/>
          </a:xfrm>
          <a:prstGeom prst="ellipse">
            <a:avLst/>
          </a:prstGeom>
          <a:solidFill>
            <a:srgbClr val="FFA38B"/>
          </a:solidFill>
          <a:ln w="19050">
            <a:solidFill>
              <a:srgbClr val="E2387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8D4"/>
              </a:solidFill>
              <a:effectLst/>
              <a:uLnTx/>
              <a:uFillTx/>
              <a:latin typeface="Segoe Sans Text Semibold"/>
              <a:ea typeface="+mn-ea"/>
              <a:cs typeface="+mn-cs"/>
            </a:endParaRPr>
          </a:p>
        </p:txBody>
      </p:sp>
      <p:sp>
        <p:nvSpPr>
          <p:cNvPr id="3" name="TextBox 2">
            <a:extLst>
              <a:ext uri="{FF2B5EF4-FFF2-40B4-BE49-F238E27FC236}">
                <a16:creationId xmlns:a16="http://schemas.microsoft.com/office/drawing/2014/main" id="{E88EE76A-F03A-9349-4C15-1FB25F79ADBE}"/>
              </a:ext>
            </a:extLst>
          </p:cNvPr>
          <p:cNvSpPr txBox="1"/>
          <p:nvPr/>
        </p:nvSpPr>
        <p:spPr>
          <a:xfrm>
            <a:off x="10255660" y="4752886"/>
            <a:ext cx="1552247" cy="461665"/>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Factory team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t>
            </a:r>
            <a:r>
              <a:rPr lang="en-US" sz="1000" dirty="0">
                <a:solidFill>
                  <a:srgbClr val="000000"/>
                </a:solidFill>
                <a:latin typeface="Segoe Sans Text"/>
              </a:rPr>
              <a:t>coordinators, </a:t>
            </a:r>
            <a:r>
              <a:rPr kumimoji="0" lang="en-US" sz="1000" b="0" i="0" u="none" strike="noStrike" kern="1200" cap="none" spc="0" normalizeH="0" baseline="0" noProof="0" dirty="0">
                <a:ln>
                  <a:noFill/>
                </a:ln>
                <a:solidFill>
                  <a:srgbClr val="000000"/>
                </a:solidFill>
                <a:effectLst/>
                <a:uLnTx/>
                <a:uFillTx/>
                <a:latin typeface="Segoe Sans Text"/>
                <a:ea typeface="+mn-ea"/>
                <a:cs typeface="+mn-cs"/>
              </a:rPr>
              <a:t>architect, engineers)</a:t>
            </a:r>
          </a:p>
        </p:txBody>
      </p:sp>
      <p:sp>
        <p:nvSpPr>
          <p:cNvPr id="13" name="Title 61">
            <a:extLst>
              <a:ext uri="{FF2B5EF4-FFF2-40B4-BE49-F238E27FC236}">
                <a16:creationId xmlns:a16="http://schemas.microsoft.com/office/drawing/2014/main" id="{C1E18008-4B0D-4C15-1CEC-669829DDB1E9}"/>
              </a:ext>
            </a:extLst>
          </p:cNvPr>
          <p:cNvSpPr txBox="1">
            <a:spLocks/>
          </p:cNvSpPr>
          <p:nvPr/>
        </p:nvSpPr>
        <p:spPr>
          <a:xfrm>
            <a:off x="389260" y="317208"/>
            <a:ext cx="3162300" cy="3785652"/>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r>
              <a:rPr lang="en-US" sz="3000" noProof="0" dirty="0">
                <a:solidFill>
                  <a:schemeClr val="bg1"/>
                </a:solidFill>
              </a:rPr>
              <a:t>Cloud Accelerate Factory Infrastructure Migration – Infrastructure and Database Migration </a:t>
            </a:r>
            <a:r>
              <a:rPr lang="en-US" sz="3000" noProof="0" dirty="0">
                <a:solidFill>
                  <a:schemeClr val="bg1"/>
                </a:solidFill>
                <a:latin typeface="+mn-lt"/>
              </a:rPr>
              <a:t>(Small SMB segment)</a:t>
            </a:r>
          </a:p>
        </p:txBody>
      </p:sp>
      <p:sp>
        <p:nvSpPr>
          <p:cNvPr id="17" name="TextBox 16">
            <a:extLst>
              <a:ext uri="{FF2B5EF4-FFF2-40B4-BE49-F238E27FC236}">
                <a16:creationId xmlns:a16="http://schemas.microsoft.com/office/drawing/2014/main" id="{8D6CB40F-6D10-E279-A1DA-0EC1184868C8}"/>
              </a:ext>
            </a:extLst>
          </p:cNvPr>
          <p:cNvSpPr txBox="1"/>
          <p:nvPr/>
        </p:nvSpPr>
        <p:spPr>
          <a:xfrm>
            <a:off x="4674628" y="2859233"/>
            <a:ext cx="1423121" cy="307777"/>
          </a:xfrm>
          <a:prstGeom prst="rect">
            <a:avLst/>
          </a:prstGeom>
          <a:noFill/>
        </p:spPr>
        <p:txBody>
          <a:bodyPr wrap="square" lIns="0" tIns="0" rIns="0" bIns="0" rtlCol="0" anchor="ctr">
            <a:spAutoFit/>
          </a:bodyPr>
          <a:lstStyle>
            <a:defPPr>
              <a:defRPr lang="en-US"/>
            </a:defPPr>
            <a:lvl1pPr marR="0" lvl="0" indent="0" algn="r" fontAlgn="auto">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LnTx/>
                <a:uFillTx/>
                <a:latin typeface="Segoe Sans Text"/>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rPr>
              <a:t>Scope of server rehost</a:t>
            </a:r>
            <a:br>
              <a:rPr kumimoji="0" lang="en-US" sz="1000" b="0" i="0" u="none" strike="noStrike" kern="1200" cap="none" spc="0" normalizeH="0" baseline="0" noProof="0" dirty="0">
                <a:ln>
                  <a:noFill/>
                </a:ln>
                <a:solidFill>
                  <a:schemeClr val="tx1"/>
                </a:solidFill>
                <a:effectLst/>
                <a:uLnTx/>
                <a:uFillTx/>
                <a:latin typeface="+mn-lt"/>
              </a:rPr>
            </a:br>
            <a:r>
              <a:rPr kumimoji="0" lang="en-US" sz="1000" b="0" i="0" u="none" strike="noStrike" kern="1200" cap="none" spc="0" normalizeH="0" baseline="0" noProof="0" dirty="0">
                <a:ln>
                  <a:noFill/>
                </a:ln>
                <a:solidFill>
                  <a:schemeClr val="tx1"/>
                </a:solidFill>
                <a:effectLst/>
                <a:uLnTx/>
                <a:uFillTx/>
                <a:latin typeface="+mn-lt"/>
              </a:rPr>
              <a:t>to Azure Native</a:t>
            </a:r>
          </a:p>
        </p:txBody>
      </p:sp>
      <p:sp>
        <p:nvSpPr>
          <p:cNvPr id="21" name="TextBox 20">
            <a:extLst>
              <a:ext uri="{FF2B5EF4-FFF2-40B4-BE49-F238E27FC236}">
                <a16:creationId xmlns:a16="http://schemas.microsoft.com/office/drawing/2014/main" id="{5DB89BB0-B82C-C34C-0690-721A6117CDC2}"/>
              </a:ext>
            </a:extLst>
          </p:cNvPr>
          <p:cNvSpPr txBox="1"/>
          <p:nvPr/>
        </p:nvSpPr>
        <p:spPr>
          <a:xfrm>
            <a:off x="9065544" y="5426087"/>
            <a:ext cx="1660711" cy="153888"/>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Server rehost to Azure Native</a:t>
            </a:r>
          </a:p>
        </p:txBody>
      </p:sp>
      <p:sp>
        <p:nvSpPr>
          <p:cNvPr id="24" name="TextBox 23">
            <a:extLst>
              <a:ext uri="{FF2B5EF4-FFF2-40B4-BE49-F238E27FC236}">
                <a16:creationId xmlns:a16="http://schemas.microsoft.com/office/drawing/2014/main" id="{3E11F984-E786-CB7A-3C79-7A74CFA46298}"/>
              </a:ext>
              <a:ext uri="{C183D7F6-B498-43B3-948B-1728B52AA6E4}">
                <adec:decorative xmlns:adec="http://schemas.microsoft.com/office/drawing/2017/decorative" val="1"/>
              </a:ext>
            </a:extLst>
          </p:cNvPr>
          <p:cNvSpPr txBox="1"/>
          <p:nvPr/>
        </p:nvSpPr>
        <p:spPr>
          <a:xfrm>
            <a:off x="7779676" y="5282948"/>
            <a:ext cx="1285868" cy="307777"/>
          </a:xfrm>
          <a:prstGeom prst="rect">
            <a:avLst/>
          </a:prstGeom>
          <a:noFill/>
        </p:spPr>
        <p:txBody>
          <a:bodyPr wrap="squar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Dev-test-deploy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rPr>
              <a:t>scoped workloads</a:t>
            </a:r>
          </a:p>
        </p:txBody>
      </p:sp>
    </p:spTree>
    <p:extLst>
      <p:ext uri="{BB962C8B-B14F-4D97-AF65-F5344CB8AC3E}">
        <p14:creationId xmlns:p14="http://schemas.microsoft.com/office/powerpoint/2010/main" val="267988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fill="hold" grpId="1" nodeType="withEffect">
                                  <p:stCondLst>
                                    <p:cond delay="0"/>
                                  </p:stCondLst>
                                  <p:childTnLst>
                                    <p:animScale>
                                      <p:cBhvr>
                                        <p:cTn id="9" dur="100" fill="hold"/>
                                        <p:tgtEl>
                                          <p:spTgt spid="7"/>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7"/>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F50DC-967A-6EFD-6162-B8372708207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A2FF56C-3994-8D7B-C1C5-55D4B2B86A25}"/>
              </a:ext>
            </a:extLst>
          </p:cNvPr>
          <p:cNvSpPr>
            <a:spLocks noGrp="1"/>
          </p:cNvSpPr>
          <p:nvPr>
            <p:ph type="title"/>
          </p:nvPr>
        </p:nvSpPr>
        <p:spPr>
          <a:xfrm>
            <a:off x="585788" y="2301082"/>
            <a:ext cx="9144000" cy="1231106"/>
          </a:xfrm>
        </p:spPr>
        <p:txBody>
          <a:bodyPr/>
          <a:lstStyle/>
          <a:p>
            <a:r>
              <a:rPr lang="en-US" noProof="0" dirty="0"/>
              <a:t>Cloud Accelerate Factory</a:t>
            </a:r>
            <a:br>
              <a:rPr lang="en-US" noProof="0" dirty="0"/>
            </a:br>
            <a:r>
              <a:rPr lang="en-US" noProof="0" dirty="0">
                <a:solidFill>
                  <a:schemeClr val="tx1"/>
                </a:solidFill>
              </a:rPr>
              <a:t>Infrastructure &amp; Database Migration</a:t>
            </a:r>
          </a:p>
        </p:txBody>
      </p:sp>
      <p:sp>
        <p:nvSpPr>
          <p:cNvPr id="11" name="TextBox 10">
            <a:extLst>
              <a:ext uri="{FF2B5EF4-FFF2-40B4-BE49-F238E27FC236}">
                <a16:creationId xmlns:a16="http://schemas.microsoft.com/office/drawing/2014/main" id="{E8085AB2-30B2-5546-5E23-659DFB45065A}"/>
              </a:ext>
            </a:extLst>
          </p:cNvPr>
          <p:cNvSpPr txBox="1"/>
          <p:nvPr/>
        </p:nvSpPr>
        <p:spPr>
          <a:xfrm>
            <a:off x="645224" y="4377447"/>
            <a:ext cx="3813629" cy="457200"/>
          </a:xfrm>
          <a:prstGeom prst="roundRect">
            <a:avLst>
              <a:gd name="adj" fmla="val 50000"/>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Segoe UI" panose="020B0502040204020203" pitchFamily="34" charset="0"/>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sz="1600" b="1" noProof="0" dirty="0"/>
              <a:t>Proposed Architecture for SMB</a:t>
            </a:r>
          </a:p>
        </p:txBody>
      </p:sp>
      <p:sp>
        <p:nvSpPr>
          <p:cNvPr id="3" name="Image 10" descr="Home (outlined)">
            <a:hlinkClick r:id="rId2" action="ppaction://hlinksldjump" tooltip="Home"/>
            <a:extLst>
              <a:ext uri="{FF2B5EF4-FFF2-40B4-BE49-F238E27FC236}">
                <a16:creationId xmlns:a16="http://schemas.microsoft.com/office/drawing/2014/main" id="{0029A66B-47DD-BC50-E585-057A312D0A25}"/>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5844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6" presetClass="emph" presetSubtype="0" fill="hold" grpId="1" nodeType="withEffect">
                                  <p:stCondLst>
                                    <p:cond delay="0"/>
                                  </p:stCondLst>
                                  <p:childTnLst>
                                    <p:animScale>
                                      <p:cBhvr>
                                        <p:cTn id="9" dur="100" fill="hold"/>
                                        <p:tgtEl>
                                          <p:spTgt spid="11"/>
                                        </p:tgtEl>
                                      </p:cBhvr>
                                      <p:by x="25000" y="25000"/>
                                    </p:animScale>
                                  </p:childTnLst>
                                </p:cTn>
                              </p:par>
                              <p:par>
                                <p:cTn id="10" presetID="6" presetClass="emph" presetSubtype="0" decel="100000" fill="hold" grpId="2" nodeType="withEffect">
                                  <p:stCondLst>
                                    <p:cond delay="200"/>
                                  </p:stCondLst>
                                  <p:childTnLst>
                                    <p:animScale>
                                      <p:cBhvr>
                                        <p:cTn id="11" dur="500" fill="hold"/>
                                        <p:tgtEl>
                                          <p:spTgt spid="11"/>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68E1-ACC5-89AA-A8D9-E17F122FEC53}"/>
            </a:ext>
          </a:extLst>
        </p:cNvPr>
        <p:cNvGrpSpPr/>
        <p:nvPr/>
      </p:nvGrpSpPr>
      <p:grpSpPr>
        <a:xfrm>
          <a:off x="0" y="0"/>
          <a:ext cx="0" cy="0"/>
          <a:chOff x="0" y="0"/>
          <a:chExt cx="0" cy="0"/>
        </a:xfrm>
      </p:grpSpPr>
      <p:sp>
        <p:nvSpPr>
          <p:cNvPr id="10" name="Rounded Rectangle 40 - 1">
            <a:extLst>
              <a:ext uri="{FF2B5EF4-FFF2-40B4-BE49-F238E27FC236}">
                <a16:creationId xmlns:a16="http://schemas.microsoft.com/office/drawing/2014/main" id="{32D1B3CB-1316-894D-617D-FE29862C779E}"/>
              </a:ext>
              <a:ext uri="{C183D7F6-B498-43B3-948B-1728B52AA6E4}">
                <adec:decorative xmlns:adec="http://schemas.microsoft.com/office/drawing/2017/decorative" val="1"/>
              </a:ext>
            </a:extLst>
          </p:cNvPr>
          <p:cNvSpPr>
            <a:spLocks/>
          </p:cNvSpPr>
          <p:nvPr/>
        </p:nvSpPr>
        <p:spPr bwMode="auto">
          <a:xfrm rot="5400000">
            <a:off x="6808052" y="1500605"/>
            <a:ext cx="4899069" cy="4741692"/>
          </a:xfrm>
          <a:prstGeom prst="round2SameRect">
            <a:avLst>
              <a:gd name="adj1" fmla="val 3404"/>
              <a:gd name="adj2" fmla="val 0"/>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1" name="Rounded Rectangle 40">
            <a:extLst>
              <a:ext uri="{FF2B5EF4-FFF2-40B4-BE49-F238E27FC236}">
                <a16:creationId xmlns:a16="http://schemas.microsoft.com/office/drawing/2014/main" id="{DAC1D7A9-7D73-B6E5-FB50-BA399F3BCF86}"/>
              </a:ext>
              <a:ext uri="{C183D7F6-B498-43B3-948B-1728B52AA6E4}">
                <adec:decorative xmlns:adec="http://schemas.microsoft.com/office/drawing/2017/decorative" val="1"/>
              </a:ext>
            </a:extLst>
          </p:cNvPr>
          <p:cNvSpPr>
            <a:spLocks/>
          </p:cNvSpPr>
          <p:nvPr/>
        </p:nvSpPr>
        <p:spPr bwMode="auto">
          <a:xfrm>
            <a:off x="588963" y="1386941"/>
            <a:ext cx="6215773" cy="4975759"/>
          </a:xfrm>
          <a:prstGeom prst="roundRect">
            <a:avLst>
              <a:gd name="adj" fmla="val 2288"/>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Oval 14">
            <a:extLst>
              <a:ext uri="{FF2B5EF4-FFF2-40B4-BE49-F238E27FC236}">
                <a16:creationId xmlns:a16="http://schemas.microsoft.com/office/drawing/2014/main" id="{960AB3C6-F824-3E2E-467B-35A0C5D56081}"/>
              </a:ext>
              <a:ext uri="{C183D7F6-B498-43B3-948B-1728B52AA6E4}">
                <adec:decorative xmlns:adec="http://schemas.microsoft.com/office/drawing/2017/decorative" val="1"/>
              </a:ext>
            </a:extLst>
          </p:cNvPr>
          <p:cNvSpPr/>
          <p:nvPr/>
        </p:nvSpPr>
        <p:spPr bwMode="auto">
          <a:xfrm>
            <a:off x="746850" y="1528898"/>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9D879C8B-84F8-05DF-1BE6-A6522EC4975C}"/>
              </a:ext>
            </a:extLst>
          </p:cNvPr>
          <p:cNvSpPr txBox="1">
            <a:spLocks/>
          </p:cNvSpPr>
          <p:nvPr/>
        </p:nvSpPr>
        <p:spPr>
          <a:xfrm>
            <a:off x="1032296" y="1497148"/>
            <a:ext cx="5669280" cy="36933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rPr>
              <a:t>Factory personnel only to create the </a:t>
            </a:r>
            <a:r>
              <a:rPr kumimoji="0" lang="en-US" sz="1200" b="0" i="1" u="none" strike="noStrike" kern="1200" cap="none" spc="0" normalizeH="0" baseline="0" noProof="0" dirty="0">
                <a:ln>
                  <a:noFill/>
                </a:ln>
                <a:solidFill>
                  <a:srgbClr val="000000"/>
                </a:solidFill>
                <a:effectLst/>
                <a:uLnTx/>
                <a:uFillTx/>
              </a:rPr>
              <a:t>in-scope</a:t>
            </a:r>
            <a:r>
              <a:rPr kumimoji="0" lang="en-US" sz="1200" b="0" i="0" u="none" strike="noStrike" kern="1200" cap="none" spc="0" normalizeH="0" baseline="0" noProof="0" dirty="0">
                <a:ln>
                  <a:noFill/>
                </a:ln>
                <a:solidFill>
                  <a:srgbClr val="000000"/>
                </a:solidFill>
                <a:effectLst/>
                <a:uLnTx/>
                <a:uFillTx/>
              </a:rPr>
              <a:t> Azure resources within the provided subscriptions</a:t>
            </a:r>
          </a:p>
        </p:txBody>
      </p:sp>
      <p:sp>
        <p:nvSpPr>
          <p:cNvPr id="17" name="TextBox 16">
            <a:extLst>
              <a:ext uri="{FF2B5EF4-FFF2-40B4-BE49-F238E27FC236}">
                <a16:creationId xmlns:a16="http://schemas.microsoft.com/office/drawing/2014/main" id="{45C710C0-EA8F-83D1-1457-173591E6C14E}"/>
              </a:ext>
            </a:extLst>
          </p:cNvPr>
          <p:cNvSpPr txBox="1"/>
          <p:nvPr/>
        </p:nvSpPr>
        <p:spPr>
          <a:xfrm>
            <a:off x="1032296" y="2086894"/>
            <a:ext cx="5669280" cy="184666"/>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rPr>
              <a:t>Separate Resource Groups for networking and DCs within ”platform” subscription</a:t>
            </a:r>
          </a:p>
        </p:txBody>
      </p:sp>
      <p:sp>
        <p:nvSpPr>
          <p:cNvPr id="18" name="TextBox 17">
            <a:extLst>
              <a:ext uri="{FF2B5EF4-FFF2-40B4-BE49-F238E27FC236}">
                <a16:creationId xmlns:a16="http://schemas.microsoft.com/office/drawing/2014/main" id="{FA5CCDDB-80F2-6AD5-0FA2-F512EA1EE9CA}"/>
              </a:ext>
            </a:extLst>
          </p:cNvPr>
          <p:cNvSpPr txBox="1"/>
          <p:nvPr/>
        </p:nvSpPr>
        <p:spPr>
          <a:xfrm>
            <a:off x="1032296" y="2491974"/>
            <a:ext cx="5669280" cy="36933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rPr>
              <a:t>Separate Resource Groups for networking and ”applications” within the ”workload” subscription</a:t>
            </a:r>
          </a:p>
        </p:txBody>
      </p:sp>
      <p:sp>
        <p:nvSpPr>
          <p:cNvPr id="19" name="TextBox 18">
            <a:extLst>
              <a:ext uri="{FF2B5EF4-FFF2-40B4-BE49-F238E27FC236}">
                <a16:creationId xmlns:a16="http://schemas.microsoft.com/office/drawing/2014/main" id="{462DC524-3FA0-526B-A03F-6ABC425DF3FD}"/>
              </a:ext>
            </a:extLst>
          </p:cNvPr>
          <p:cNvSpPr txBox="1"/>
          <p:nvPr/>
        </p:nvSpPr>
        <p:spPr>
          <a:xfrm>
            <a:off x="1032296" y="3081720"/>
            <a:ext cx="5669280" cy="36933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1144588" algn="l"/>
              </a:tabLst>
              <a:defRPr/>
            </a:pPr>
            <a:r>
              <a:rPr kumimoji="0" lang="en-US" sz="1200" b="0" i="0" u="none" strike="noStrike" kern="1200" cap="none" spc="0" normalizeH="0" baseline="0" noProof="0" dirty="0">
                <a:ln>
                  <a:noFill/>
                </a:ln>
                <a:solidFill>
                  <a:srgbClr val="000000"/>
                </a:solidFill>
                <a:effectLst/>
                <a:uLnTx/>
                <a:uFillTx/>
              </a:rPr>
              <a:t>Factory network engineers to create hub and spoke VNets, the required subnets and the required VNet peering</a:t>
            </a:r>
          </a:p>
        </p:txBody>
      </p:sp>
      <p:sp>
        <p:nvSpPr>
          <p:cNvPr id="20" name="TextBox 19">
            <a:extLst>
              <a:ext uri="{FF2B5EF4-FFF2-40B4-BE49-F238E27FC236}">
                <a16:creationId xmlns:a16="http://schemas.microsoft.com/office/drawing/2014/main" id="{7BD9CADF-AAEF-EA1D-9681-AA8B850F6CFC}"/>
              </a:ext>
            </a:extLst>
          </p:cNvPr>
          <p:cNvSpPr txBox="1"/>
          <p:nvPr/>
        </p:nvSpPr>
        <p:spPr>
          <a:xfrm>
            <a:off x="1032296" y="3671466"/>
            <a:ext cx="5669280" cy="36933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rPr>
              <a:t>Factory network engineers to configure S2S VPN from Azure side, and configure suitable network routing for cross-premises, cross-spoke and Internet outbound</a:t>
            </a:r>
          </a:p>
        </p:txBody>
      </p:sp>
      <p:sp>
        <p:nvSpPr>
          <p:cNvPr id="21" name="TextBox 20">
            <a:extLst>
              <a:ext uri="{FF2B5EF4-FFF2-40B4-BE49-F238E27FC236}">
                <a16:creationId xmlns:a16="http://schemas.microsoft.com/office/drawing/2014/main" id="{2F0806D3-597C-916A-E117-C5CC3F6E5FB0}"/>
              </a:ext>
            </a:extLst>
          </p:cNvPr>
          <p:cNvSpPr txBox="1"/>
          <p:nvPr/>
        </p:nvSpPr>
        <p:spPr>
          <a:xfrm>
            <a:off x="1032296" y="4261212"/>
            <a:ext cx="5669280" cy="553998"/>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rPr>
              <a:t>Factory network engineers to help customer/VAR establish network connectivity on their side (between on premises and Azure), by providing high-level guidance and documentation</a:t>
            </a:r>
          </a:p>
        </p:txBody>
      </p:sp>
      <p:cxnSp>
        <p:nvCxnSpPr>
          <p:cNvPr id="26" name="Straight Connector 25">
            <a:extLst>
              <a:ext uri="{FF2B5EF4-FFF2-40B4-BE49-F238E27FC236}">
                <a16:creationId xmlns:a16="http://schemas.microsoft.com/office/drawing/2014/main" id="{FE1C46B4-7DCB-44BB-F52C-51F52AC7A54B}"/>
              </a:ext>
              <a:ext uri="{C183D7F6-B498-43B3-948B-1728B52AA6E4}">
                <adec:decorative xmlns:adec="http://schemas.microsoft.com/office/drawing/2017/decorative" val="1"/>
              </a:ext>
            </a:extLst>
          </p:cNvPr>
          <p:cNvCxnSpPr>
            <a:cxnSpLocks/>
          </p:cNvCxnSpPr>
          <p:nvPr/>
        </p:nvCxnSpPr>
        <p:spPr>
          <a:xfrm>
            <a:off x="1032296" y="1976687"/>
            <a:ext cx="566928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E8DDF82-2B5C-1C74-E5A4-531451C7DDB2}"/>
              </a:ext>
              <a:ext uri="{C183D7F6-B498-43B3-948B-1728B52AA6E4}">
                <adec:decorative xmlns:adec="http://schemas.microsoft.com/office/drawing/2017/decorative" val="1"/>
              </a:ext>
            </a:extLst>
          </p:cNvPr>
          <p:cNvCxnSpPr>
            <a:cxnSpLocks/>
          </p:cNvCxnSpPr>
          <p:nvPr/>
        </p:nvCxnSpPr>
        <p:spPr>
          <a:xfrm>
            <a:off x="1032296" y="2381767"/>
            <a:ext cx="566928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B843EB-68EE-48E8-F91A-DC3575C98E1F}"/>
              </a:ext>
              <a:ext uri="{C183D7F6-B498-43B3-948B-1728B52AA6E4}">
                <adec:decorative xmlns:adec="http://schemas.microsoft.com/office/drawing/2017/decorative" val="1"/>
              </a:ext>
            </a:extLst>
          </p:cNvPr>
          <p:cNvCxnSpPr>
            <a:cxnSpLocks/>
          </p:cNvCxnSpPr>
          <p:nvPr/>
        </p:nvCxnSpPr>
        <p:spPr>
          <a:xfrm>
            <a:off x="1032296" y="2971513"/>
            <a:ext cx="566928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1670F26-78DB-26FB-A8B0-769D76152F78}"/>
              </a:ext>
              <a:ext uri="{C183D7F6-B498-43B3-948B-1728B52AA6E4}">
                <adec:decorative xmlns:adec="http://schemas.microsoft.com/office/drawing/2017/decorative" val="1"/>
              </a:ext>
            </a:extLst>
          </p:cNvPr>
          <p:cNvCxnSpPr>
            <a:cxnSpLocks/>
          </p:cNvCxnSpPr>
          <p:nvPr/>
        </p:nvCxnSpPr>
        <p:spPr>
          <a:xfrm>
            <a:off x="1032296" y="3561259"/>
            <a:ext cx="566928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D75730-AB13-940C-D7CB-383AE6BF5536}"/>
              </a:ext>
              <a:ext uri="{C183D7F6-B498-43B3-948B-1728B52AA6E4}">
                <adec:decorative xmlns:adec="http://schemas.microsoft.com/office/drawing/2017/decorative" val="1"/>
              </a:ext>
            </a:extLst>
          </p:cNvPr>
          <p:cNvCxnSpPr>
            <a:cxnSpLocks/>
          </p:cNvCxnSpPr>
          <p:nvPr/>
        </p:nvCxnSpPr>
        <p:spPr>
          <a:xfrm>
            <a:off x="1032296" y="4151005"/>
            <a:ext cx="5669280"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AADA270-93F2-9BD9-3453-648B9A567A63}"/>
              </a:ext>
              <a:ext uri="{C183D7F6-B498-43B3-948B-1728B52AA6E4}">
                <adec:decorative xmlns:adec="http://schemas.microsoft.com/office/drawing/2017/decorative" val="1"/>
              </a:ext>
            </a:extLst>
          </p:cNvPr>
          <p:cNvSpPr/>
          <p:nvPr/>
        </p:nvSpPr>
        <p:spPr bwMode="auto">
          <a:xfrm>
            <a:off x="746850" y="2109051"/>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5" name="Oval 34">
            <a:extLst>
              <a:ext uri="{FF2B5EF4-FFF2-40B4-BE49-F238E27FC236}">
                <a16:creationId xmlns:a16="http://schemas.microsoft.com/office/drawing/2014/main" id="{1C048C4A-9A16-4EFF-B0A3-455108E37538}"/>
              </a:ext>
              <a:ext uri="{C183D7F6-B498-43B3-948B-1728B52AA6E4}">
                <adec:decorative xmlns:adec="http://schemas.microsoft.com/office/drawing/2017/decorative" val="1"/>
              </a:ext>
            </a:extLst>
          </p:cNvPr>
          <p:cNvSpPr/>
          <p:nvPr/>
        </p:nvSpPr>
        <p:spPr bwMode="auto">
          <a:xfrm>
            <a:off x="746850" y="2523724"/>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6" name="Oval 35">
            <a:extLst>
              <a:ext uri="{FF2B5EF4-FFF2-40B4-BE49-F238E27FC236}">
                <a16:creationId xmlns:a16="http://schemas.microsoft.com/office/drawing/2014/main" id="{F4620CA3-8775-4F26-8AF5-3805943BFA27}"/>
              </a:ext>
              <a:ext uri="{C183D7F6-B498-43B3-948B-1728B52AA6E4}">
                <adec:decorative xmlns:adec="http://schemas.microsoft.com/office/drawing/2017/decorative" val="1"/>
              </a:ext>
            </a:extLst>
          </p:cNvPr>
          <p:cNvSpPr/>
          <p:nvPr/>
        </p:nvSpPr>
        <p:spPr bwMode="auto">
          <a:xfrm>
            <a:off x="746850" y="3113470"/>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7" name="Oval 36">
            <a:extLst>
              <a:ext uri="{FF2B5EF4-FFF2-40B4-BE49-F238E27FC236}">
                <a16:creationId xmlns:a16="http://schemas.microsoft.com/office/drawing/2014/main" id="{4FEF758F-F884-E2F2-9B8C-8C97EFB715F5}"/>
              </a:ext>
              <a:ext uri="{C183D7F6-B498-43B3-948B-1728B52AA6E4}">
                <adec:decorative xmlns:adec="http://schemas.microsoft.com/office/drawing/2017/decorative" val="1"/>
              </a:ext>
            </a:extLst>
          </p:cNvPr>
          <p:cNvSpPr/>
          <p:nvPr/>
        </p:nvSpPr>
        <p:spPr bwMode="auto">
          <a:xfrm>
            <a:off x="746850" y="3703216"/>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8" name="Oval 37">
            <a:extLst>
              <a:ext uri="{FF2B5EF4-FFF2-40B4-BE49-F238E27FC236}">
                <a16:creationId xmlns:a16="http://schemas.microsoft.com/office/drawing/2014/main" id="{6DAE3F46-6157-765B-0A80-24CE53B940D3}"/>
              </a:ext>
              <a:ext uri="{C183D7F6-B498-43B3-948B-1728B52AA6E4}">
                <adec:decorative xmlns:adec="http://schemas.microsoft.com/office/drawing/2017/decorative" val="1"/>
              </a:ext>
            </a:extLst>
          </p:cNvPr>
          <p:cNvSpPr/>
          <p:nvPr/>
        </p:nvSpPr>
        <p:spPr bwMode="auto">
          <a:xfrm>
            <a:off x="746850" y="4292962"/>
            <a:ext cx="140352" cy="140352"/>
          </a:xfrm>
          <a:prstGeom prst="ellipse">
            <a:avLst/>
          </a:prstGeom>
          <a:solidFill>
            <a:schemeClr val="bg1"/>
          </a:solidFill>
          <a:ln w="12700" cap="rnd" cmpd="sng" algn="ctr">
            <a:gradFill flip="none" rotWithShape="1">
              <a:gsLst>
                <a:gs pos="80000">
                  <a:srgbClr val="319A89"/>
                </a:gs>
                <a:gs pos="57000">
                  <a:srgbClr val="004880"/>
                </a:gs>
                <a:gs pos="28000">
                  <a:srgbClr val="0070C0"/>
                </a:gs>
                <a:gs pos="0">
                  <a:srgbClr val="009CE1"/>
                </a:gs>
                <a:gs pos="100000">
                  <a:srgbClr val="49C5B1"/>
                </a:gs>
              </a:gsLst>
              <a:path path="circle">
                <a:fillToRect t="100000" r="100000"/>
              </a:path>
              <a:tileRect l="-100000" b="-100000"/>
            </a:gradFill>
            <a:prstDash val="solid"/>
            <a:headEnd type="none" w="lg" len="med"/>
            <a:tailEnd type="none" w="lg" len="med"/>
          </a:ln>
          <a:effectLst>
            <a:outerShdw blurRad="139700" algn="ctr" rotWithShape="0">
              <a:srgbClr val="000000">
                <a:alpha val="10000"/>
              </a:srgbClr>
            </a:outerShdw>
          </a:effectLst>
        </p:spPr>
        <p:txBody>
          <a:bodyPr rot="0" spcFirstLastPara="0" vertOverflow="overflow" horzOverflow="overflow" vert="horz" wrap="square" lIns="173736" tIns="138989" rIns="173736" bIns="138989" numCol="1" spcCol="0" rtlCol="0" fromWordArt="0" anchor="ctr" anchorCtr="0" forceAA="0" compatLnSpc="1">
            <a:prstTxWarp prst="textNoShape">
              <a:avLst/>
            </a:prstTxWarp>
            <a:noAutofit/>
          </a:bodyPr>
          <a:lstStyle/>
          <a:p>
            <a:pPr algn="ctr"/>
            <a:endParaRPr lang="en-US" sz="1200" noProof="0" dirty="0">
              <a:solidFill>
                <a:srgbClr val="000000"/>
              </a:solidFill>
              <a:latin typeface="Segoe UI" panose="020B0502040204020203" pitchFamily="34" charset="0"/>
              <a:cs typeface="Segoe UI" panose="020B0502040204020203" pitchFamily="34" charset="0"/>
            </a:endParaRPr>
          </a:p>
        </p:txBody>
      </p:sp>
      <p:sp>
        <p:nvSpPr>
          <p:cNvPr id="39" name="TextBox 38">
            <a:extLst>
              <a:ext uri="{FF2B5EF4-FFF2-40B4-BE49-F238E27FC236}">
                <a16:creationId xmlns:a16="http://schemas.microsoft.com/office/drawing/2014/main" id="{8E85EE5A-03AE-80CA-1E40-F9806B5DED30}"/>
              </a:ext>
            </a:extLst>
          </p:cNvPr>
          <p:cNvSpPr txBox="1">
            <a:spLocks/>
          </p:cNvSpPr>
          <p:nvPr/>
        </p:nvSpPr>
        <p:spPr>
          <a:xfrm>
            <a:off x="697151" y="4925421"/>
            <a:ext cx="5999397" cy="302955"/>
          </a:xfrm>
          <a:prstGeom prst="roundRect">
            <a:avLst>
              <a:gd name="adj" fmla="val 21547"/>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noProof="0" dirty="0"/>
              <a:t>Prerequisites for deployment</a:t>
            </a:r>
          </a:p>
        </p:txBody>
      </p:sp>
      <p:sp>
        <p:nvSpPr>
          <p:cNvPr id="40" name="TextBox 39">
            <a:extLst>
              <a:ext uri="{FF2B5EF4-FFF2-40B4-BE49-F238E27FC236}">
                <a16:creationId xmlns:a16="http://schemas.microsoft.com/office/drawing/2014/main" id="{68DD56EB-150B-5A82-2130-27222F28BF19}"/>
              </a:ext>
            </a:extLst>
          </p:cNvPr>
          <p:cNvSpPr txBox="1"/>
          <p:nvPr/>
        </p:nvSpPr>
        <p:spPr>
          <a:xfrm>
            <a:off x="586847" y="5228376"/>
            <a:ext cx="6215773" cy="1092607"/>
          </a:xfrm>
          <a:prstGeom prst="rect">
            <a:avLst/>
          </a:prstGeom>
          <a:noFill/>
        </p:spPr>
        <p:txBody>
          <a:bodyPr wrap="square" lIns="91440" tIns="45720" rIns="91440" bIns="45720" rtlCol="0" anchor="t">
            <a:spAutoFit/>
          </a:bodyPr>
          <a:lstStyle/>
          <a:p>
            <a:pPr marL="349250" marR="0" lvl="0" indent="-228600" algn="l" defTabSz="914400" rtl="0" eaLnBrk="1" fontAlgn="auto" latinLnBrk="0" hangingPunct="1">
              <a:lnSpc>
                <a:spcPct val="100000"/>
              </a:lnSpc>
              <a:spcBef>
                <a:spcPts val="0"/>
              </a:spcBef>
              <a:spcAft>
                <a:spcPts val="3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rPr>
              <a:t>Two (2) Azure subscriptions are required—one (1) for the ”platform” components and one (1) for the actual ”workloads”/”applications”</a:t>
            </a:r>
          </a:p>
          <a:p>
            <a:pPr marL="349250" marR="0" lvl="0" indent="-228600" algn="l" defTabSz="914400" rtl="0" eaLnBrk="1" fontAlgn="auto" latinLnBrk="0" hangingPunct="1">
              <a:lnSpc>
                <a:spcPct val="100000"/>
              </a:lnSpc>
              <a:spcBef>
                <a:spcPts val="0"/>
              </a:spcBef>
              <a:spcAft>
                <a:spcPts val="300"/>
              </a:spcAft>
              <a:buClrTx/>
              <a:buSzTx/>
              <a:buFontTx/>
              <a:buAutoNum type="arabicPeriod"/>
              <a:tabLst/>
              <a:defRPr/>
            </a:pPr>
            <a:r>
              <a:rPr kumimoji="0" lang="en-US" sz="1000" b="0" i="0" u="none" strike="noStrike" kern="1200" cap="none" spc="0" normalizeH="0" baseline="0" noProof="0" dirty="0">
                <a:ln>
                  <a:noFill/>
                </a:ln>
                <a:solidFill>
                  <a:srgbClr val="000000"/>
                </a:solidFill>
                <a:effectLst/>
                <a:uLnTx/>
                <a:uFillTx/>
              </a:rPr>
              <a:t>Factory personnel needs to have contributor (and security admin for Defender for Cloud) role(s) to execute)</a:t>
            </a:r>
          </a:p>
          <a:p>
            <a:pPr marL="349250" marR="0" lvl="0" indent="-228600" algn="l" defTabSz="914400" rtl="0" eaLnBrk="1" fontAlgn="auto" latinLnBrk="0" hangingPunct="1">
              <a:lnSpc>
                <a:spcPct val="100000"/>
              </a:lnSpc>
              <a:spcBef>
                <a:spcPts val="0"/>
              </a:spcBef>
              <a:spcAft>
                <a:spcPts val="300"/>
              </a:spcAft>
              <a:buClrTx/>
              <a:buSzTx/>
              <a:buFontTx/>
              <a:buAutoNum type="arabicPeriod"/>
              <a:tabLst/>
              <a:defRPr/>
            </a:pPr>
            <a:r>
              <a:rPr kumimoji="0" lang="en-US" sz="1000" b="0" i="0" u="none" strike="noStrike" kern="1200" cap="none" spc="0" normalizeH="0" baseline="0" noProof="0" dirty="0">
                <a:ln>
                  <a:noFill/>
                </a:ln>
                <a:solidFill>
                  <a:srgbClr val="000000"/>
                </a:solidFill>
                <a:effectLst/>
                <a:uLnTx/>
                <a:uFillTx/>
              </a:rPr>
              <a:t>Azure Region for deployment, IP address ranges for hub and spoke VNets, Azure Firewall SKU, VPN Gateway SKU</a:t>
            </a:r>
          </a:p>
        </p:txBody>
      </p:sp>
      <p:sp>
        <p:nvSpPr>
          <p:cNvPr id="41" name="TextBox 9">
            <a:extLst>
              <a:ext uri="{FF2B5EF4-FFF2-40B4-BE49-F238E27FC236}">
                <a16:creationId xmlns:a16="http://schemas.microsoft.com/office/drawing/2014/main" id="{1AD24688-1B74-806E-5C60-F4983D98FD3F}"/>
              </a:ext>
            </a:extLst>
          </p:cNvPr>
          <p:cNvSpPr txBox="1"/>
          <p:nvPr/>
        </p:nvSpPr>
        <p:spPr>
          <a:xfrm>
            <a:off x="6886742" y="1584704"/>
            <a:ext cx="4658095" cy="4113947"/>
          </a:xfrm>
          <a:prstGeom prst="rect">
            <a:avLst/>
          </a:prstGeom>
          <a:noFill/>
        </p:spPr>
        <p:txBody>
          <a:bodyPr wrap="square" lIns="91440" tIns="45720" rIns="91440" bIns="4572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42888" marR="0" lvl="0" indent="-242888" algn="l" defTabSz="914400" rtl="0" eaLnBrk="1" fontAlgn="auto" latinLnBrk="0" hangingPunct="1">
              <a:lnSpc>
                <a:spcPct val="100000"/>
              </a:lnSpc>
              <a:spcBef>
                <a:spcPts val="0"/>
              </a:spcBef>
              <a:spcAft>
                <a:spcPts val="400"/>
              </a:spcAft>
              <a:buClrTx/>
              <a:buSzTx/>
              <a:buFontTx/>
              <a:buAutoNum type="arabicPeriod"/>
              <a:tabLst/>
              <a:defRPr/>
            </a:pPr>
            <a:r>
              <a:rPr kumimoji="0" lang="en-US" sz="1600" i="0" u="none" strike="noStrike" kern="1200" cap="none" spc="0" normalizeH="0" baseline="0" noProof="0" dirty="0">
                <a:ln>
                  <a:noFill/>
                </a:ln>
                <a:solidFill>
                  <a:srgbClr val="0078D4"/>
                </a:solidFill>
                <a:effectLst/>
                <a:uLnTx/>
                <a:uFillTx/>
                <a:latin typeface="+mj-lt"/>
                <a:ea typeface="+mj-ea"/>
                <a:cs typeface="+mj-cs"/>
              </a:rPr>
              <a:t>”</a:t>
            </a:r>
            <a:r>
              <a:rPr kumimoji="0" lang="en-US" sz="1400" i="0" u="none" strike="noStrike" kern="1200" cap="none" spc="0" normalizeH="0" baseline="0" noProof="0" dirty="0">
                <a:ln>
                  <a:noFill/>
                </a:ln>
                <a:solidFill>
                  <a:srgbClr val="0078D4"/>
                </a:solidFill>
                <a:effectLst/>
                <a:uLnTx/>
                <a:uFillTx/>
                <a:latin typeface="+mj-lt"/>
                <a:ea typeface="+mj-ea"/>
                <a:cs typeface="+mj-cs"/>
              </a:rPr>
              <a:t>Platform” subscription</a:t>
            </a:r>
          </a:p>
          <a:p>
            <a:pPr marR="0" lvl="1"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rPr>
              <a:t>Resource Group: ”hub-net-rg” with resources:</a:t>
            </a:r>
          </a:p>
          <a:p>
            <a:pPr marL="730250" marR="0" lvl="2" indent="-174625" algn="l" defTabSz="914400" rtl="0" eaLnBrk="1" fontAlgn="auto" latinLnBrk="0" hangingPunct="1">
              <a:lnSpc>
                <a:spcPct val="100000"/>
              </a:lnSpc>
              <a:spcBef>
                <a:spcPts val="0"/>
              </a:spcBef>
              <a:spcAft>
                <a:spcPts val="4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Hub Vnet (with suitable Subnets for Azure Firewall, VPN GW and Domain Controller(s))</a:t>
            </a:r>
          </a:p>
          <a:p>
            <a:pPr marL="730250" marR="0" lvl="2" indent="-174625" algn="l" defTabSz="914400" rtl="0" eaLnBrk="1" fontAlgn="auto" latinLnBrk="0" hangingPunct="1">
              <a:lnSpc>
                <a:spcPct val="100000"/>
              </a:lnSpc>
              <a:spcBef>
                <a:spcPts val="0"/>
              </a:spcBef>
              <a:spcAft>
                <a:spcPts val="4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Azure Firewall</a:t>
            </a:r>
          </a:p>
          <a:p>
            <a:pPr marL="730250" marR="0" lvl="2" indent="-174625" algn="l" defTabSz="914400" rtl="0" eaLnBrk="1" fontAlgn="auto" latinLnBrk="0" hangingPunct="1">
              <a:lnSpc>
                <a:spcPct val="100000"/>
              </a:lnSpc>
              <a:spcBef>
                <a:spcPts val="0"/>
              </a:spcBef>
              <a:spcAft>
                <a:spcPts val="4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VPN Gateway</a:t>
            </a:r>
          </a:p>
          <a:p>
            <a:pPr marL="730250" marR="0" lvl="2" indent="-174625" algn="l" defTabSz="914400" rtl="0" eaLnBrk="1" fontAlgn="auto" latinLnBrk="0" hangingPunct="1">
              <a:lnSpc>
                <a:spcPct val="100000"/>
              </a:lnSpc>
              <a:spcBef>
                <a:spcPts val="0"/>
              </a:spcBef>
              <a:spcAft>
                <a:spcPts val="4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Required Route Table(s)</a:t>
            </a:r>
          </a:p>
          <a:p>
            <a:pPr marL="457200" marR="0" lvl="1"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rPr>
              <a:t>Resource Group: ”id-rg” with resources:</a:t>
            </a:r>
          </a:p>
          <a:p>
            <a:pPr marL="730250" marR="0" lvl="2" indent="-174625" algn="l" defTabSz="914400" rtl="0" eaLnBrk="1" fontAlgn="auto" latinLnBrk="0" hangingPunct="1">
              <a:lnSpc>
                <a:spcPct val="100000"/>
              </a:lnSpc>
              <a:spcBef>
                <a:spcPts val="0"/>
              </a:spcBef>
              <a:spcAft>
                <a:spcPts val="6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New Domain Controller(s)</a:t>
            </a:r>
            <a:endParaRPr kumimoji="0" lang="en-US" sz="1200" b="0" i="0" u="none" strike="noStrike" kern="1200" cap="none" spc="0" normalizeH="0" baseline="0" noProof="0" dirty="0">
              <a:ln>
                <a:noFill/>
              </a:ln>
              <a:solidFill>
                <a:srgbClr val="121D2F"/>
              </a:solidFill>
              <a:effectLst/>
              <a:uLnTx/>
              <a:uFillTx/>
            </a:endParaRPr>
          </a:p>
          <a:p>
            <a:pPr marL="242888" marR="0" lvl="0" indent="-242888" algn="l" defTabSz="914400" rtl="0" eaLnBrk="1" fontAlgn="auto" latinLnBrk="0" hangingPunct="1">
              <a:lnSpc>
                <a:spcPct val="100000"/>
              </a:lnSpc>
              <a:spcBef>
                <a:spcPts val="0"/>
              </a:spcBef>
              <a:spcAft>
                <a:spcPts val="400"/>
              </a:spcAft>
              <a:buClrTx/>
              <a:buSzTx/>
              <a:buFontTx/>
              <a:buAutoNum type="arabicPeriod"/>
              <a:tabLst/>
              <a:defRPr/>
            </a:pPr>
            <a:r>
              <a:rPr kumimoji="0" lang="en-US" sz="1400" i="0" u="none" strike="noStrike" kern="1200" cap="none" spc="0" normalizeH="0" baseline="0" noProof="0" dirty="0">
                <a:ln>
                  <a:noFill/>
                </a:ln>
                <a:solidFill>
                  <a:srgbClr val="0078D4"/>
                </a:solidFill>
                <a:effectLst/>
                <a:uLnTx/>
                <a:uFillTx/>
                <a:latin typeface="+mj-lt"/>
                <a:ea typeface="+mj-ea"/>
                <a:cs typeface="+mj-cs"/>
              </a:rPr>
              <a:t>”Workload” subscription</a:t>
            </a:r>
          </a:p>
          <a:p>
            <a:pPr marL="457200" marR="0" lvl="1"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tab pos="631825" algn="l"/>
              </a:tabLst>
              <a:defRPr/>
            </a:pPr>
            <a:r>
              <a:rPr kumimoji="0" lang="en-US" sz="1400" b="0" i="0" u="none" strike="noStrike" kern="1200" cap="none" spc="0" normalizeH="0" baseline="0" noProof="0" dirty="0">
                <a:ln>
                  <a:noFill/>
                </a:ln>
                <a:solidFill>
                  <a:srgbClr val="000000"/>
                </a:solidFill>
                <a:effectLst/>
                <a:uLnTx/>
                <a:uFillTx/>
              </a:rPr>
              <a:t>Resource Group: ”spoke-net-rg” with resources:</a:t>
            </a:r>
          </a:p>
          <a:p>
            <a:pPr marL="730250" marR="0" lvl="2" indent="-174625" algn="l" defTabSz="914400" rtl="0" eaLnBrk="1" fontAlgn="auto" latinLnBrk="0" hangingPunct="1">
              <a:lnSpc>
                <a:spcPct val="100000"/>
              </a:lnSpc>
              <a:spcBef>
                <a:spcPts val="0"/>
              </a:spcBef>
              <a:spcAft>
                <a:spcPts val="4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Spoke VNet (one (1) Subnet by default for workload(s)/ ”applications”)</a:t>
            </a:r>
          </a:p>
          <a:p>
            <a:pPr marL="730250" marR="0" lvl="2" indent="-174625" algn="l" defTabSz="914400" rtl="0" eaLnBrk="1" fontAlgn="auto" latinLnBrk="0" hangingPunct="1">
              <a:lnSpc>
                <a:spcPct val="100000"/>
              </a:lnSpc>
              <a:spcBef>
                <a:spcPts val="0"/>
              </a:spcBef>
              <a:spcAft>
                <a:spcPts val="6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Required Route table(s)</a:t>
            </a:r>
          </a:p>
          <a:p>
            <a:pPr marL="457200" marR="0" lvl="1"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rPr>
              <a:t>Additional Resource Group(s):</a:t>
            </a:r>
          </a:p>
          <a:p>
            <a:pPr marL="730250" marR="0" lvl="2" indent="-174625" algn="l" defTabSz="914400" rtl="0" eaLnBrk="1" fontAlgn="auto" latinLnBrk="0" hangingPunct="1">
              <a:lnSpc>
                <a:spcPct val="100000"/>
              </a:lnSpc>
              <a:spcBef>
                <a:spcPts val="0"/>
              </a:spcBef>
              <a:spcAft>
                <a:spcPts val="600"/>
              </a:spcAft>
              <a:buClrTx/>
              <a:buSzTx/>
              <a:buFont typeface="Segoe Sans Text" pitchFamily="2" charset="0"/>
              <a:buChar char="‒"/>
              <a:tabLst/>
              <a:defRPr/>
            </a:pPr>
            <a:r>
              <a:rPr kumimoji="0" lang="en-US" sz="1200" b="0" i="0" u="none" strike="noStrike" kern="1200" cap="none" spc="0" normalizeH="0" baseline="0" noProof="0" dirty="0">
                <a:ln>
                  <a:noFill/>
                </a:ln>
                <a:solidFill>
                  <a:srgbClr val="000000"/>
                </a:solidFill>
                <a:effectLst/>
                <a:uLnTx/>
                <a:uFillTx/>
              </a:rPr>
              <a:t>One (1) RG per ”application” type (e.g., File Service), to host the respective ”application” VMs</a:t>
            </a:r>
          </a:p>
        </p:txBody>
      </p:sp>
      <p:sp>
        <p:nvSpPr>
          <p:cNvPr id="42" name="Title 1">
            <a:extLst>
              <a:ext uri="{FF2B5EF4-FFF2-40B4-BE49-F238E27FC236}">
                <a16:creationId xmlns:a16="http://schemas.microsoft.com/office/drawing/2014/main" id="{1A2EAF1D-C678-7FAE-D596-BC9E1E46286B}"/>
              </a:ext>
            </a:extLst>
          </p:cNvPr>
          <p:cNvSpPr txBox="1">
            <a:spLocks/>
          </p:cNvSpPr>
          <p:nvPr/>
        </p:nvSpPr>
        <p:spPr>
          <a:xfrm>
            <a:off x="586847" y="687204"/>
            <a:ext cx="7918429" cy="72109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noProof="0" dirty="0"/>
              <a:t>Infrastructure Migration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Sans Text Semibold"/>
                <a:ea typeface="+mn-ea"/>
                <a:cs typeface="+mn-cs"/>
              </a:rPr>
              <a:t>Infrastructure and database migration (Small SMB)—proposed architecture</a:t>
            </a:r>
          </a:p>
        </p:txBody>
      </p:sp>
    </p:spTree>
    <p:custDataLst>
      <p:tags r:id="rId1"/>
    </p:custDataLst>
    <p:extLst>
      <p:ext uri="{BB962C8B-B14F-4D97-AF65-F5344CB8AC3E}">
        <p14:creationId xmlns:p14="http://schemas.microsoft.com/office/powerpoint/2010/main" val="3718394161"/>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09ACD14-D871-5402-B6FF-8907E5A997D4}"/>
              </a:ext>
            </a:extLst>
          </p:cNvPr>
          <p:cNvSpPr>
            <a:spLocks noGrp="1"/>
          </p:cNvSpPr>
          <p:nvPr>
            <p:ph type="title"/>
          </p:nvPr>
        </p:nvSpPr>
        <p:spPr>
          <a:xfrm>
            <a:off x="588963" y="1030957"/>
            <a:ext cx="7757972" cy="584692"/>
          </a:xfrm>
        </p:spPr>
        <p:txBody>
          <a:bodyPr/>
          <a:lstStyle/>
          <a:p>
            <a:r>
              <a:rPr lang="en-US" sz="2800" noProof="0" dirty="0"/>
              <a:t>Factory SMB Scale Offer – Proposed Architecture</a:t>
            </a:r>
          </a:p>
        </p:txBody>
      </p:sp>
      <p:pic>
        <p:nvPicPr>
          <p:cNvPr id="11" name="Picture 10" descr="A diagram of a network  Description automatically generated">
            <a:extLst>
              <a:ext uri="{FF2B5EF4-FFF2-40B4-BE49-F238E27FC236}">
                <a16:creationId xmlns:a16="http://schemas.microsoft.com/office/drawing/2014/main" id="{5BF70A11-7CD4-7E90-827C-6C8D6F93F8F7}"/>
              </a:ext>
            </a:extLst>
          </p:cNvPr>
          <p:cNvPicPr>
            <a:picLocks noChangeAspect="1"/>
          </p:cNvPicPr>
          <p:nvPr/>
        </p:nvPicPr>
        <p:blipFill rotWithShape="1">
          <a:blip r:embed="rId2"/>
          <a:srcRect t="-4564" b="-4564"/>
          <a:stretch>
            <a:fillRect/>
          </a:stretch>
        </p:blipFill>
        <p:spPr>
          <a:xfrm>
            <a:off x="751424" y="1905373"/>
            <a:ext cx="6241658" cy="4380084"/>
          </a:xfrm>
          <a:prstGeom prst="rect">
            <a:avLst/>
          </a:prstGeom>
          <a:ln>
            <a:noFill/>
          </a:ln>
          <a:effectLst>
            <a:softEdge rad="112500"/>
          </a:effectLst>
        </p:spPr>
      </p:pic>
      <p:pic>
        <p:nvPicPr>
          <p:cNvPr id="12" name="Picture 11" descr="A screenshot of a computer  Description automatically generated">
            <a:extLst>
              <a:ext uri="{FF2B5EF4-FFF2-40B4-BE49-F238E27FC236}">
                <a16:creationId xmlns:a16="http://schemas.microsoft.com/office/drawing/2014/main" id="{39755A20-D495-D36B-E28D-1DEA19B8FE0C}"/>
              </a:ext>
            </a:extLst>
          </p:cNvPr>
          <p:cNvPicPr>
            <a:picLocks noChangeAspect="1"/>
          </p:cNvPicPr>
          <p:nvPr/>
        </p:nvPicPr>
        <p:blipFill rotWithShape="1">
          <a:blip r:embed="rId3"/>
          <a:srcRect l="-29737" r="-29737"/>
          <a:stretch>
            <a:fillRect/>
          </a:stretch>
        </p:blipFill>
        <p:spPr>
          <a:xfrm>
            <a:off x="7527905" y="1905373"/>
            <a:ext cx="3907167" cy="4380084"/>
          </a:xfrm>
          <a:prstGeom prst="rect">
            <a:avLst/>
          </a:prstGeom>
          <a:ln>
            <a:noFill/>
          </a:ln>
          <a:effectLst>
            <a:softEdge rad="112500"/>
          </a:effectLst>
        </p:spPr>
      </p:pic>
      <p:sp>
        <p:nvSpPr>
          <p:cNvPr id="13" name="Rounded Rectangle 55">
            <a:extLst>
              <a:ext uri="{FF2B5EF4-FFF2-40B4-BE49-F238E27FC236}">
                <a16:creationId xmlns:a16="http://schemas.microsoft.com/office/drawing/2014/main" id="{3C255F2F-1FEA-105A-4C4E-4BDD6D74BCC2}"/>
              </a:ext>
              <a:ext uri="{C183D7F6-B498-43B3-948B-1728B52AA6E4}">
                <adec:decorative xmlns:adec="http://schemas.microsoft.com/office/drawing/2017/decorative" val="1"/>
              </a:ext>
            </a:extLst>
          </p:cNvPr>
          <p:cNvSpPr/>
          <p:nvPr/>
        </p:nvSpPr>
        <p:spPr bwMode="auto">
          <a:xfrm>
            <a:off x="7356764" y="1552574"/>
            <a:ext cx="4249449" cy="4895469"/>
          </a:xfrm>
          <a:prstGeom prst="roundRect">
            <a:avLst>
              <a:gd name="adj" fmla="val 3807"/>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4" name="Rounded Rectangle 55">
            <a:extLst>
              <a:ext uri="{FF2B5EF4-FFF2-40B4-BE49-F238E27FC236}">
                <a16:creationId xmlns:a16="http://schemas.microsoft.com/office/drawing/2014/main" id="{EAAED483-30A5-0C36-99C8-9CB0BDA5A608}"/>
              </a:ext>
              <a:ext uri="{C183D7F6-B498-43B3-948B-1728B52AA6E4}">
                <adec:decorative xmlns:adec="http://schemas.microsoft.com/office/drawing/2017/decorative" val="1"/>
              </a:ext>
            </a:extLst>
          </p:cNvPr>
          <p:cNvSpPr/>
          <p:nvPr/>
        </p:nvSpPr>
        <p:spPr bwMode="auto">
          <a:xfrm>
            <a:off x="588963" y="1552574"/>
            <a:ext cx="6566580" cy="4895469"/>
          </a:xfrm>
          <a:prstGeom prst="roundRect">
            <a:avLst>
              <a:gd name="adj" fmla="val 3646"/>
            </a:avLst>
          </a:prstGeom>
          <a:noFill/>
          <a:ln w="9525" cap="rnd" cmpd="sng" algn="ctr">
            <a:solidFill>
              <a:schemeClr val="bg1">
                <a:lumMod val="85000"/>
              </a:schemeClr>
            </a:solidFill>
            <a:prstDash val="solid"/>
            <a:headEnd type="none" w="lg" len="sm"/>
            <a:tailEnd type="none" w="lg" len="sm"/>
          </a:ln>
          <a:effectLst/>
        </p:spPr>
        <p:txBody>
          <a:bodyPr wrap="square" lIns="0" tIns="0" rIns="0" bIns="45720"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275850" fontAlgn="base">
              <a:spcBef>
                <a:spcPts val="200"/>
              </a:spcBef>
              <a:spcAft>
                <a:spcPct val="0"/>
              </a:spcAft>
              <a:tabLst>
                <a:tab pos="3701239" algn="l"/>
              </a:tabLst>
            </a:pPr>
            <a:endParaRPr lang="en-US" sz="2000" b="1" noProof="0" dirty="0">
              <a:ln w="3175">
                <a:noFill/>
              </a:ln>
              <a:gradFill>
                <a:gsLst>
                  <a:gs pos="9174">
                    <a:srgbClr val="000000"/>
                  </a:gs>
                  <a:gs pos="42000">
                    <a:srgbClr val="000000"/>
                  </a:gs>
                </a:gsLst>
                <a:path path="circle">
                  <a:fillToRect l="100000" t="100000"/>
                </a:path>
              </a:gradFill>
              <a:latin typeface="Segoe UI Variable Display Semibold" pitchFamily="2" charset="0"/>
              <a:cs typeface="Segoe UI" pitchFamily="34" charset="0"/>
            </a:endParaRPr>
          </a:p>
        </p:txBody>
      </p:sp>
      <p:sp>
        <p:nvSpPr>
          <p:cNvPr id="15" name="TextBox 14">
            <a:extLst>
              <a:ext uri="{FF2B5EF4-FFF2-40B4-BE49-F238E27FC236}">
                <a16:creationId xmlns:a16="http://schemas.microsoft.com/office/drawing/2014/main" id="{FE4E02EB-3528-8A5E-D51B-58539BEA6AAE}"/>
              </a:ext>
            </a:extLst>
          </p:cNvPr>
          <p:cNvSpPr txBox="1"/>
          <p:nvPr/>
        </p:nvSpPr>
        <p:spPr>
          <a:xfrm>
            <a:off x="1465626" y="1615650"/>
            <a:ext cx="4813254" cy="374571"/>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Resource View</a:t>
            </a:r>
          </a:p>
        </p:txBody>
      </p:sp>
      <p:sp>
        <p:nvSpPr>
          <p:cNvPr id="16" name="TextBox 15">
            <a:extLst>
              <a:ext uri="{FF2B5EF4-FFF2-40B4-BE49-F238E27FC236}">
                <a16:creationId xmlns:a16="http://schemas.microsoft.com/office/drawing/2014/main" id="{0D022B87-2065-0F6B-E750-05B5DF84EE5D}"/>
              </a:ext>
            </a:extLst>
          </p:cNvPr>
          <p:cNvSpPr txBox="1"/>
          <p:nvPr/>
        </p:nvSpPr>
        <p:spPr>
          <a:xfrm>
            <a:off x="7674728" y="1615649"/>
            <a:ext cx="3613520" cy="374571"/>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1200" kern="0">
                <a:solidFill>
                  <a:schemeClr val="bg1"/>
                </a:solidFill>
                <a:latin typeface="+mj-lt"/>
                <a:ea typeface="+mj-ea"/>
                <a:cs typeface="+mj-cs"/>
              </a:defRPr>
            </a:lvl1pPr>
          </a:lstStyle>
          <a:p>
            <a:r>
              <a:rPr lang="en-US" noProof="0" dirty="0"/>
              <a:t>Network View</a:t>
            </a:r>
          </a:p>
        </p:txBody>
      </p:sp>
    </p:spTree>
    <p:extLst>
      <p:ext uri="{BB962C8B-B14F-4D97-AF65-F5344CB8AC3E}">
        <p14:creationId xmlns:p14="http://schemas.microsoft.com/office/powerpoint/2010/main" val="476987324"/>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AF993-D239-D8C0-1711-925B090C1FC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B388E4-0276-B351-6C8D-92F9D221940B}"/>
              </a:ext>
            </a:extLst>
          </p:cNvPr>
          <p:cNvSpPr>
            <a:spLocks noGrp="1"/>
          </p:cNvSpPr>
          <p:nvPr>
            <p:ph type="title"/>
          </p:nvPr>
        </p:nvSpPr>
        <p:spPr/>
        <p:txBody>
          <a:bodyPr/>
          <a:lstStyle/>
          <a:p>
            <a:r>
              <a:rPr lang="en-US" noProof="0" dirty="0"/>
              <a:t>Appendix</a:t>
            </a:r>
          </a:p>
        </p:txBody>
      </p:sp>
      <p:sp>
        <p:nvSpPr>
          <p:cNvPr id="3" name="Image 10" descr="Home (outlined)">
            <a:hlinkClick r:id="rId2" action="ppaction://hlinksldjump" tooltip="Home"/>
            <a:extLst>
              <a:ext uri="{FF2B5EF4-FFF2-40B4-BE49-F238E27FC236}">
                <a16:creationId xmlns:a16="http://schemas.microsoft.com/office/drawing/2014/main" id="{BD69F88D-6AFC-8B40-1B68-AC63A01BE7C6}"/>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075741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14397-16A1-6C58-5DC7-8C2F001E17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C25D8C1-63AF-0CBA-3A7E-BFB4D6CDCC9D}"/>
              </a:ext>
            </a:extLst>
          </p:cNvPr>
          <p:cNvSpPr>
            <a:spLocks noGrp="1"/>
          </p:cNvSpPr>
          <p:nvPr>
            <p:ph type="title"/>
          </p:nvPr>
        </p:nvSpPr>
        <p:spPr>
          <a:xfrm>
            <a:off x="584200" y="1755668"/>
            <a:ext cx="9144000" cy="1661993"/>
          </a:xfrm>
        </p:spPr>
        <p:txBody>
          <a:bodyPr/>
          <a:lstStyle/>
          <a:p>
            <a:r>
              <a:rPr lang="en-US" sz="5400" noProof="0" dirty="0">
                <a:solidFill>
                  <a:schemeClr val="accent2"/>
                </a:solidFill>
              </a:rPr>
              <a:t>Factory Delivery- Engagement Model </a:t>
            </a:r>
          </a:p>
        </p:txBody>
      </p:sp>
      <p:sp>
        <p:nvSpPr>
          <p:cNvPr id="6" name="Text Placeholder 5">
            <a:extLst>
              <a:ext uri="{FF2B5EF4-FFF2-40B4-BE49-F238E27FC236}">
                <a16:creationId xmlns:a16="http://schemas.microsoft.com/office/drawing/2014/main" id="{C7A08488-D9E9-2780-67F5-377A82810175}"/>
              </a:ext>
            </a:extLst>
          </p:cNvPr>
          <p:cNvSpPr>
            <a:spLocks noGrp="1"/>
          </p:cNvSpPr>
          <p:nvPr>
            <p:ph type="body" sz="quarter" idx="12"/>
          </p:nvPr>
        </p:nvSpPr>
        <p:spPr>
          <a:xfrm>
            <a:off x="584200" y="4329735"/>
            <a:ext cx="9144000" cy="307777"/>
          </a:xfrm>
        </p:spPr>
        <p:txBody>
          <a:bodyPr/>
          <a:lstStyle/>
          <a:p>
            <a:r>
              <a:rPr lang="en-US" sz="2000" noProof="0" dirty="0">
                <a:latin typeface="+mj-lt"/>
              </a:rPr>
              <a:t>Factory Delivery Ownership </a:t>
            </a:r>
          </a:p>
        </p:txBody>
      </p:sp>
      <p:pic>
        <p:nvPicPr>
          <p:cNvPr id="5" name="MS logo gray - EMF" descr="Microsoft logo, gray text version">
            <a:extLst>
              <a:ext uri="{FF2B5EF4-FFF2-40B4-BE49-F238E27FC236}">
                <a16:creationId xmlns:a16="http://schemas.microsoft.com/office/drawing/2014/main" id="{1EAF91D5-BBDB-B27D-5F72-889EB4BCF6F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Rectangle: Rounded Corners 8">
            <a:extLst>
              <a:ext uri="{FF2B5EF4-FFF2-40B4-BE49-F238E27FC236}">
                <a16:creationId xmlns:a16="http://schemas.microsoft.com/office/drawing/2014/main" id="{E3C0FECD-B52F-10EA-5809-21642518B4C4}"/>
              </a:ext>
            </a:extLst>
          </p:cNvPr>
          <p:cNvSpPr/>
          <p:nvPr/>
        </p:nvSpPr>
        <p:spPr bwMode="auto">
          <a:xfrm>
            <a:off x="584200" y="3945044"/>
            <a:ext cx="3931920" cy="91440"/>
          </a:xfrm>
          <a:prstGeom prst="roundRect">
            <a:avLst>
              <a:gd name="adj" fmla="val 50000"/>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Tree>
    <p:extLst>
      <p:ext uri="{BB962C8B-B14F-4D97-AF65-F5344CB8AC3E}">
        <p14:creationId xmlns:p14="http://schemas.microsoft.com/office/powerpoint/2010/main" val="1172375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26606-6715-1B3B-4129-78F7C83C0836}"/>
              </a:ext>
            </a:extLst>
          </p:cNvPr>
          <p:cNvSpPr>
            <a:spLocks noGrp="1"/>
          </p:cNvSpPr>
          <p:nvPr>
            <p:ph type="title"/>
          </p:nvPr>
        </p:nvSpPr>
        <p:spPr>
          <a:xfrm>
            <a:off x="440054" y="606898"/>
            <a:ext cx="11311890" cy="861774"/>
          </a:xfrm>
        </p:spPr>
        <p:txBody>
          <a:bodyPr/>
          <a:lstStyle/>
          <a:p>
            <a:r>
              <a:rPr lang="en-US" sz="2800" noProof="0" dirty="0"/>
              <a:t>Factory – Engagement Model for Scope 1 – Modernize with Confidence</a:t>
            </a:r>
          </a:p>
        </p:txBody>
      </p:sp>
      <p:sp>
        <p:nvSpPr>
          <p:cNvPr id="3" name="Rectangle 2">
            <a:extLst>
              <a:ext uri="{FF2B5EF4-FFF2-40B4-BE49-F238E27FC236}">
                <a16:creationId xmlns:a16="http://schemas.microsoft.com/office/drawing/2014/main" id="{5A40DD91-4AB8-93CA-4EE3-2A83F2D53477}"/>
              </a:ext>
            </a:extLst>
          </p:cNvPr>
          <p:cNvSpPr/>
          <p:nvPr/>
        </p:nvSpPr>
        <p:spPr>
          <a:xfrm>
            <a:off x="440054" y="2470822"/>
            <a:ext cx="11311890" cy="4222678"/>
          </a:xfrm>
          <a:prstGeom prst="rect">
            <a:avLst/>
          </a:prstGeom>
          <a:solidFill>
            <a:sysClr val="window" lastClr="FFFFFF">
              <a:lumMod val="95000"/>
            </a:sysClr>
          </a:solidFill>
          <a:ln w="6350" cap="flat" cmpd="sng" algn="ctr">
            <a:solidFill>
              <a:srgbClr val="156082">
                <a:shade val="15000"/>
              </a:srgb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4" name="Rectangle: Rounded Corners 3">
            <a:extLst>
              <a:ext uri="{FF2B5EF4-FFF2-40B4-BE49-F238E27FC236}">
                <a16:creationId xmlns:a16="http://schemas.microsoft.com/office/drawing/2014/main" id="{48244937-6810-92DF-31C5-F24DD50051C9}"/>
              </a:ext>
            </a:extLst>
          </p:cNvPr>
          <p:cNvSpPr/>
          <p:nvPr/>
        </p:nvSpPr>
        <p:spPr>
          <a:xfrm>
            <a:off x="440054" y="1762935"/>
            <a:ext cx="11311890" cy="548640"/>
          </a:xfrm>
          <a:prstGeom prst="roundRect">
            <a:avLst/>
          </a:prstGeom>
          <a:solidFill>
            <a:srgbClr val="0070C0"/>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Delivery Excellence</a:t>
            </a:r>
          </a:p>
          <a:p>
            <a:pPr algn="ctr"/>
            <a:r>
              <a:rPr lang="en-US" sz="1200" kern="0" noProof="0" dirty="0">
                <a:solidFill>
                  <a:schemeClr val="bg1"/>
                </a:solidFill>
                <a:latin typeface="+mj-lt"/>
                <a:ea typeface="+mj-ea"/>
                <a:cs typeface="+mj-cs"/>
              </a:rPr>
              <a:t>Strategy | Standards | Templates | KPIs</a:t>
            </a:r>
          </a:p>
        </p:txBody>
      </p:sp>
      <p:sp>
        <p:nvSpPr>
          <p:cNvPr id="5" name="Rectangle: Rounded Corners 4">
            <a:extLst>
              <a:ext uri="{FF2B5EF4-FFF2-40B4-BE49-F238E27FC236}">
                <a16:creationId xmlns:a16="http://schemas.microsoft.com/office/drawing/2014/main" id="{39BA6549-41D7-C95B-9C92-02692BF12F55}"/>
              </a:ext>
            </a:extLst>
          </p:cNvPr>
          <p:cNvSpPr/>
          <p:nvPr/>
        </p:nvSpPr>
        <p:spPr>
          <a:xfrm>
            <a:off x="609600" y="2620045"/>
            <a:ext cx="10972800" cy="548640"/>
          </a:xfrm>
          <a:prstGeom prst="roundRect">
            <a:avLst/>
          </a:prstGeom>
          <a:solidFill>
            <a:schemeClr val="bg1">
              <a:lumMod val="85000"/>
            </a:schemeClr>
          </a:solidFill>
          <a:ln w="1905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lumMod val="75000"/>
                    <a:lumOff val="25000"/>
                  </a:srgbClr>
                </a:solidFill>
                <a:effectLst/>
                <a:uLnTx/>
                <a:uFillTx/>
                <a:latin typeface="Aptos" panose="02110004020202020204"/>
                <a:ea typeface="+mn-ea"/>
                <a:cs typeface="+mn-cs"/>
              </a:rPr>
              <a:t>Platform &amp; Landing Zone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lumMod val="75000"/>
                    <a:lumOff val="25000"/>
                  </a:srgbClr>
                </a:solidFill>
                <a:effectLst/>
                <a:uLnTx/>
                <a:uFillTx/>
                <a:latin typeface="Aptos" panose="02110004020202020204"/>
                <a:ea typeface="+mn-ea"/>
                <a:cs typeface="+mn-cs"/>
              </a:rPr>
              <a:t>Identity | Network | Security | Policy | DevOps &amp; IAC Foundation | Monitoring &amp; Backup</a:t>
            </a:r>
          </a:p>
        </p:txBody>
      </p:sp>
      <p:graphicFrame>
        <p:nvGraphicFramePr>
          <p:cNvPr id="6" name="Diagram 5">
            <a:extLst>
              <a:ext uri="{FF2B5EF4-FFF2-40B4-BE49-F238E27FC236}">
                <a16:creationId xmlns:a16="http://schemas.microsoft.com/office/drawing/2014/main" id="{68B7833E-FEFD-E97B-8BAB-0568792150CB}"/>
              </a:ext>
            </a:extLst>
          </p:cNvPr>
          <p:cNvGraphicFramePr/>
          <p:nvPr>
            <p:extLst>
              <p:ext uri="{D42A27DB-BD31-4B8C-83A1-F6EECF244321}">
                <p14:modId xmlns:p14="http://schemas.microsoft.com/office/powerpoint/2010/main" val="277684842"/>
              </p:ext>
            </p:extLst>
          </p:nvPr>
        </p:nvGraphicFramePr>
        <p:xfrm>
          <a:off x="1467247" y="3238450"/>
          <a:ext cx="9411128" cy="5803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Rounded Corners 6">
            <a:extLst>
              <a:ext uri="{FF2B5EF4-FFF2-40B4-BE49-F238E27FC236}">
                <a16:creationId xmlns:a16="http://schemas.microsoft.com/office/drawing/2014/main" id="{02663AE1-49E5-CC5C-1337-680934EF3E70}"/>
              </a:ext>
            </a:extLst>
          </p:cNvPr>
          <p:cNvSpPr/>
          <p:nvPr/>
        </p:nvSpPr>
        <p:spPr>
          <a:xfrm>
            <a:off x="1327201" y="3908069"/>
            <a:ext cx="3108960" cy="514857"/>
          </a:xfrm>
          <a:prstGeom prst="roundRect">
            <a:avLst/>
          </a:prstGeom>
          <a:gradFill>
            <a:gsLst>
              <a:gs pos="21000">
                <a:srgbClr val="0070C0"/>
              </a:gs>
              <a:gs pos="0">
                <a:srgbClr val="009CE1"/>
              </a:gs>
              <a:gs pos="76000">
                <a:srgbClr val="004880"/>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kern="0" noProof="0" dirty="0">
                <a:solidFill>
                  <a:schemeClr val="bg1"/>
                </a:solidFill>
                <a:latin typeface="+mj-lt"/>
                <a:ea typeface="+mj-ea"/>
                <a:cs typeface="+mj-cs"/>
              </a:rPr>
              <a:t>Rehost</a:t>
            </a:r>
          </a:p>
          <a:p>
            <a:pPr algn="ctr"/>
            <a:r>
              <a:rPr lang="en-US" sz="1100" kern="0" noProof="0" dirty="0">
                <a:solidFill>
                  <a:schemeClr val="bg1"/>
                </a:solidFill>
                <a:latin typeface="+mj-lt"/>
                <a:ea typeface="+mj-ea"/>
                <a:cs typeface="+mj-cs"/>
              </a:rPr>
              <a:t>VM Discovery → Azure Migrate → Lift &amp; Shift</a:t>
            </a:r>
          </a:p>
        </p:txBody>
      </p:sp>
      <p:sp>
        <p:nvSpPr>
          <p:cNvPr id="8" name="Rectangle: Rounded Corners 7">
            <a:extLst>
              <a:ext uri="{FF2B5EF4-FFF2-40B4-BE49-F238E27FC236}">
                <a16:creationId xmlns:a16="http://schemas.microsoft.com/office/drawing/2014/main" id="{DFED51AA-82ED-412F-DEE5-734181BF8B65}"/>
              </a:ext>
            </a:extLst>
          </p:cNvPr>
          <p:cNvSpPr/>
          <p:nvPr/>
        </p:nvSpPr>
        <p:spPr>
          <a:xfrm>
            <a:off x="4615707" y="3897009"/>
            <a:ext cx="3108960" cy="525924"/>
          </a:xfrm>
          <a:prstGeom prst="roundRect">
            <a:avLst/>
          </a:prstGeom>
          <a:solidFill>
            <a:srgbClr val="004A83"/>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kern="0" noProof="0" dirty="0">
                <a:solidFill>
                  <a:schemeClr val="bg1"/>
                </a:solidFill>
                <a:latin typeface="+mj-lt"/>
                <a:ea typeface="+mj-ea"/>
                <a:cs typeface="+mj-cs"/>
              </a:rPr>
              <a:t>Refactor</a:t>
            </a:r>
          </a:p>
          <a:p>
            <a:pPr algn="ctr"/>
            <a:r>
              <a:rPr lang="en-US" sz="1100" kern="0" noProof="0" dirty="0">
                <a:solidFill>
                  <a:schemeClr val="bg1"/>
                </a:solidFill>
                <a:latin typeface="+mj-lt"/>
                <a:ea typeface="+mj-ea"/>
                <a:cs typeface="+mj-cs"/>
              </a:rPr>
              <a:t>Assessment → Design → Code updates → CI/CD</a:t>
            </a:r>
          </a:p>
        </p:txBody>
      </p:sp>
      <p:sp>
        <p:nvSpPr>
          <p:cNvPr id="9" name="Rectangle: Rounded Corners 8">
            <a:extLst>
              <a:ext uri="{FF2B5EF4-FFF2-40B4-BE49-F238E27FC236}">
                <a16:creationId xmlns:a16="http://schemas.microsoft.com/office/drawing/2014/main" id="{1E79B999-BA7C-64B3-6EA9-C9280C6C66FF}"/>
              </a:ext>
            </a:extLst>
          </p:cNvPr>
          <p:cNvSpPr/>
          <p:nvPr/>
        </p:nvSpPr>
        <p:spPr>
          <a:xfrm>
            <a:off x="609600" y="6135048"/>
            <a:ext cx="10972800" cy="398295"/>
          </a:xfrm>
          <a:prstGeom prst="roundRect">
            <a:avLst/>
          </a:prstGeom>
          <a:solidFill>
            <a:srgbClr val="1A7385"/>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Cutover &amp; Operations Transition</a:t>
            </a:r>
          </a:p>
          <a:p>
            <a:pPr algn="ctr"/>
            <a:r>
              <a:rPr lang="en-US" sz="1200" kern="0" noProof="0" dirty="0">
                <a:solidFill>
                  <a:schemeClr val="bg1"/>
                </a:solidFill>
                <a:latin typeface="+mj-lt"/>
                <a:ea typeface="+mj-ea"/>
                <a:cs typeface="+mj-cs"/>
              </a:rPr>
              <a:t>Data Migration → Cutover &amp; Go-Live → Hypercare </a:t>
            </a:r>
          </a:p>
        </p:txBody>
      </p:sp>
      <p:sp>
        <p:nvSpPr>
          <p:cNvPr id="10" name="Rectangle: Rounded Corners 9">
            <a:extLst>
              <a:ext uri="{FF2B5EF4-FFF2-40B4-BE49-F238E27FC236}">
                <a16:creationId xmlns:a16="http://schemas.microsoft.com/office/drawing/2014/main" id="{1A2D834B-5FB4-0B77-8CB1-7BDC1B727B4E}"/>
              </a:ext>
            </a:extLst>
          </p:cNvPr>
          <p:cNvSpPr/>
          <p:nvPr/>
        </p:nvSpPr>
        <p:spPr>
          <a:xfrm>
            <a:off x="440054" y="1121228"/>
            <a:ext cx="11311890" cy="548640"/>
          </a:xfrm>
          <a:prstGeom prst="roundRect">
            <a:avLst/>
          </a:prstGeom>
          <a:solidFill>
            <a:schemeClr val="accent2">
              <a:lumMod val="75000"/>
            </a:schemeClr>
          </a:solid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Sans Display Semibold"/>
                <a:ea typeface="+mn-ea"/>
                <a:cs typeface="+mn-cs"/>
              </a:rPr>
              <a:t>Governance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Sans Display Semibold"/>
                <a:ea typeface="+mn-ea"/>
                <a:cs typeface="+mn-cs"/>
              </a:rPr>
              <a:t>Strategy  | Daily &amp; Weekly Cadence | Process &amp; Templates | KPIs Adherence | Project Management</a:t>
            </a:r>
          </a:p>
        </p:txBody>
      </p:sp>
      <p:sp>
        <p:nvSpPr>
          <p:cNvPr id="11" name="Rectangle: Rounded Corners 10">
            <a:extLst>
              <a:ext uri="{FF2B5EF4-FFF2-40B4-BE49-F238E27FC236}">
                <a16:creationId xmlns:a16="http://schemas.microsoft.com/office/drawing/2014/main" id="{AED228E0-1CCD-F995-9649-BDFEE311F6E3}"/>
              </a:ext>
            </a:extLst>
          </p:cNvPr>
          <p:cNvSpPr/>
          <p:nvPr/>
        </p:nvSpPr>
        <p:spPr>
          <a:xfrm>
            <a:off x="7904213" y="3908070"/>
            <a:ext cx="3108960" cy="514856"/>
          </a:xfrm>
          <a:prstGeom prst="roundRect">
            <a:avLst/>
          </a:prstGeom>
          <a:gradFill>
            <a:gsLst>
              <a:gs pos="70000">
                <a:srgbClr val="319A89"/>
              </a:gs>
              <a:gs pos="24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kern="0" noProof="0" dirty="0">
                <a:solidFill>
                  <a:schemeClr val="bg1"/>
                </a:solidFill>
                <a:latin typeface="+mj-lt"/>
                <a:ea typeface="+mj-ea"/>
                <a:cs typeface="+mj-cs"/>
              </a:rPr>
              <a:t>Re-platform</a:t>
            </a:r>
          </a:p>
          <a:p>
            <a:pPr algn="ctr"/>
            <a:r>
              <a:rPr lang="en-US" sz="1100" kern="0" noProof="0" dirty="0">
                <a:solidFill>
                  <a:schemeClr val="bg1"/>
                </a:solidFill>
                <a:latin typeface="+mj-lt"/>
                <a:ea typeface="+mj-ea"/>
                <a:cs typeface="+mj-cs"/>
              </a:rPr>
              <a:t>Assessment → Design → Code updates → CI/CD</a:t>
            </a:r>
          </a:p>
        </p:txBody>
      </p:sp>
      <p:sp>
        <p:nvSpPr>
          <p:cNvPr id="12" name="TextBox 11">
            <a:extLst>
              <a:ext uri="{FF2B5EF4-FFF2-40B4-BE49-F238E27FC236}">
                <a16:creationId xmlns:a16="http://schemas.microsoft.com/office/drawing/2014/main" id="{0415429D-57D9-C898-2B3C-C6CF9F3D2A97}"/>
              </a:ext>
            </a:extLst>
          </p:cNvPr>
          <p:cNvSpPr txBox="1"/>
          <p:nvPr/>
        </p:nvSpPr>
        <p:spPr>
          <a:xfrm>
            <a:off x="440054" y="2346853"/>
            <a:ext cx="2680027" cy="261610"/>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Aptos" panose="02110004020202020204"/>
                <a:ea typeface="+mn-ea"/>
                <a:cs typeface="+mn-cs"/>
              </a:rPr>
              <a:t>Build, Design, Migrate / Modernize</a:t>
            </a:r>
          </a:p>
        </p:txBody>
      </p:sp>
      <p:sp>
        <p:nvSpPr>
          <p:cNvPr id="13" name="TextBox 12">
            <a:extLst>
              <a:ext uri="{FF2B5EF4-FFF2-40B4-BE49-F238E27FC236}">
                <a16:creationId xmlns:a16="http://schemas.microsoft.com/office/drawing/2014/main" id="{92EB97C6-5F7C-A97D-8F49-31B97A299CD0}"/>
              </a:ext>
            </a:extLst>
          </p:cNvPr>
          <p:cNvSpPr txBox="1"/>
          <p:nvPr/>
        </p:nvSpPr>
        <p:spPr>
          <a:xfrm>
            <a:off x="1331057" y="4506058"/>
            <a:ext cx="2103120" cy="153888"/>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Platform and Automation</a:t>
            </a:r>
          </a:p>
        </p:txBody>
      </p:sp>
      <p:sp>
        <p:nvSpPr>
          <p:cNvPr id="14" name="TextBox 13">
            <a:extLst>
              <a:ext uri="{FF2B5EF4-FFF2-40B4-BE49-F238E27FC236}">
                <a16:creationId xmlns:a16="http://schemas.microsoft.com/office/drawing/2014/main" id="{0F4C571F-3929-2E78-DB56-2282B5926B6B}"/>
              </a:ext>
            </a:extLst>
          </p:cNvPr>
          <p:cNvSpPr txBox="1"/>
          <p:nvPr/>
        </p:nvSpPr>
        <p:spPr>
          <a:xfrm>
            <a:off x="1331057" y="4695570"/>
            <a:ext cx="2103120" cy="153888"/>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Discovery, Intake, Plan</a:t>
            </a:r>
          </a:p>
        </p:txBody>
      </p:sp>
      <p:sp>
        <p:nvSpPr>
          <p:cNvPr id="15" name="TextBox 14">
            <a:extLst>
              <a:ext uri="{FF2B5EF4-FFF2-40B4-BE49-F238E27FC236}">
                <a16:creationId xmlns:a16="http://schemas.microsoft.com/office/drawing/2014/main" id="{13609997-582F-E8BD-45D4-28E6F4E90CD1}"/>
              </a:ext>
            </a:extLst>
          </p:cNvPr>
          <p:cNvSpPr txBox="1"/>
          <p:nvPr/>
        </p:nvSpPr>
        <p:spPr>
          <a:xfrm>
            <a:off x="1331057" y="4885082"/>
            <a:ext cx="2103120" cy="153888"/>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Design and Planning</a:t>
            </a:r>
          </a:p>
        </p:txBody>
      </p:sp>
      <p:sp>
        <p:nvSpPr>
          <p:cNvPr id="16" name="TextBox 15">
            <a:extLst>
              <a:ext uri="{FF2B5EF4-FFF2-40B4-BE49-F238E27FC236}">
                <a16:creationId xmlns:a16="http://schemas.microsoft.com/office/drawing/2014/main" id="{A8B021F6-9ED5-DA7E-9049-D14922959F7C}"/>
              </a:ext>
            </a:extLst>
          </p:cNvPr>
          <p:cNvSpPr txBox="1"/>
          <p:nvPr/>
        </p:nvSpPr>
        <p:spPr>
          <a:xfrm>
            <a:off x="1331057" y="5453615"/>
            <a:ext cx="2103120" cy="153888"/>
          </a:xfrm>
          <a:prstGeom prst="rect">
            <a:avLst/>
          </a:prstGeom>
          <a:noFill/>
        </p:spPr>
        <p:txBody>
          <a:bodyPr wrap="square" tIns="0" bIns="0" rtlCol="0">
            <a:spAutoFit/>
          </a:bodyPr>
          <a:lstStyle/>
          <a:p>
            <a:pPr lvl="0">
              <a:defRPr/>
            </a:pPr>
            <a:r>
              <a:rPr lang="en-US" sz="1000" noProof="0" dirty="0">
                <a:solidFill>
                  <a:prstClr val="black"/>
                </a:solidFill>
                <a:latin typeface="Aptos" panose="02110004020202020204"/>
              </a:rPr>
              <a:t>Monitoring &amp; Backup</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TextBox 16">
            <a:extLst>
              <a:ext uri="{FF2B5EF4-FFF2-40B4-BE49-F238E27FC236}">
                <a16:creationId xmlns:a16="http://schemas.microsoft.com/office/drawing/2014/main" id="{E12D96CE-8FE2-AAD7-0376-255D8CF9A9D7}"/>
              </a:ext>
            </a:extLst>
          </p:cNvPr>
          <p:cNvSpPr txBox="1"/>
          <p:nvPr/>
        </p:nvSpPr>
        <p:spPr>
          <a:xfrm>
            <a:off x="1331057" y="5264106"/>
            <a:ext cx="2103120" cy="153888"/>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Migration</a:t>
            </a:r>
            <a:r>
              <a:rPr lang="en-US" sz="1000" noProof="0" dirty="0">
                <a:solidFill>
                  <a:prstClr val="black"/>
                </a:solidFill>
                <a:latin typeface="Aptos" panose="02110004020202020204"/>
              </a:rPr>
              <a:t> &amp; Modernization</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8" name="Rectangle: Rounded Corners 17">
            <a:extLst>
              <a:ext uri="{FF2B5EF4-FFF2-40B4-BE49-F238E27FC236}">
                <a16:creationId xmlns:a16="http://schemas.microsoft.com/office/drawing/2014/main" id="{DB7EDFBA-69FC-FF19-AD99-310C4AE639CF}"/>
              </a:ext>
            </a:extLst>
          </p:cNvPr>
          <p:cNvSpPr/>
          <p:nvPr/>
        </p:nvSpPr>
        <p:spPr>
          <a:xfrm>
            <a:off x="3442059" y="4501183"/>
            <a:ext cx="7571114" cy="1157016"/>
          </a:xfrm>
          <a:prstGeom prst="roundRect">
            <a:avLst/>
          </a:prstGeom>
          <a:solidFill>
            <a:srgbClr val="E8F4FC"/>
          </a:solidFill>
          <a:ln w="19050" cap="flat" cmpd="sng" algn="ctr">
            <a:solidFill>
              <a:srgbClr val="014B86"/>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Technical Program Manager – </a:t>
            </a:r>
            <a:r>
              <a:rPr kumimoji="0" lang="en-US" sz="1100" b="0"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All-Up Program Governance, Change Management, Risk Management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Cloud Factory Tech Lead (CFTL) </a:t>
            </a:r>
            <a:r>
              <a:rPr kumimoji="0" lang="en-US" sz="1100" b="0"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 Technical lead and all-up solution owner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Project Manager </a:t>
            </a:r>
            <a:r>
              <a:rPr kumimoji="0" lang="en-US" sz="1100" b="0"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 Handles day to day project management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Solution Architect </a:t>
            </a:r>
            <a:r>
              <a:rPr kumimoji="0" lang="en-US" sz="1100" b="0" i="0" u="none" strike="noStrike" kern="0" cap="none" spc="0" normalizeH="0" baseline="0" noProof="0" dirty="0">
                <a:ln>
                  <a:noFill/>
                </a:ln>
                <a:solidFill>
                  <a:srgbClr val="595959"/>
                </a:solidFill>
                <a:effectLst/>
                <a:uLnTx/>
                <a:uFillTx/>
                <a:latin typeface="Frutiger LT Pro 45 Light" panose="020B0403030504020204" pitchFamily="34" charset="0"/>
                <a:ea typeface="+mn-ea"/>
                <a:cs typeface="+mn-cs"/>
              </a:rPr>
              <a:t>– Handles day to day project execution </a:t>
            </a:r>
          </a:p>
        </p:txBody>
      </p:sp>
      <p:cxnSp>
        <p:nvCxnSpPr>
          <p:cNvPr id="19" name="Straight Connector 18">
            <a:extLst>
              <a:ext uri="{FF2B5EF4-FFF2-40B4-BE49-F238E27FC236}">
                <a16:creationId xmlns:a16="http://schemas.microsoft.com/office/drawing/2014/main" id="{9F56AF08-838A-6F57-080A-20FAC6545D42}"/>
              </a:ext>
            </a:extLst>
          </p:cNvPr>
          <p:cNvCxnSpPr>
            <a:cxnSpLocks/>
          </p:cNvCxnSpPr>
          <p:nvPr/>
        </p:nvCxnSpPr>
        <p:spPr>
          <a:xfrm>
            <a:off x="1331057" y="4683110"/>
            <a:ext cx="2103120" cy="0"/>
          </a:xfrm>
          <a:prstGeom prst="line">
            <a:avLst/>
          </a:prstGeom>
          <a:noFill/>
          <a:ln w="9525" cap="flat" cmpd="sng" algn="ctr">
            <a:solidFill>
              <a:srgbClr val="156082"/>
            </a:solidFill>
            <a:prstDash val="dash"/>
            <a:miter lim="800000"/>
          </a:ln>
          <a:effectLst/>
        </p:spPr>
      </p:cxnSp>
      <p:cxnSp>
        <p:nvCxnSpPr>
          <p:cNvPr id="20" name="Straight Connector 19">
            <a:extLst>
              <a:ext uri="{FF2B5EF4-FFF2-40B4-BE49-F238E27FC236}">
                <a16:creationId xmlns:a16="http://schemas.microsoft.com/office/drawing/2014/main" id="{35E32019-93C8-BF6A-BDC2-9B571C6A68B9}"/>
              </a:ext>
            </a:extLst>
          </p:cNvPr>
          <p:cNvCxnSpPr>
            <a:cxnSpLocks/>
          </p:cNvCxnSpPr>
          <p:nvPr/>
        </p:nvCxnSpPr>
        <p:spPr>
          <a:xfrm>
            <a:off x="1331057" y="4872622"/>
            <a:ext cx="2103120" cy="0"/>
          </a:xfrm>
          <a:prstGeom prst="line">
            <a:avLst/>
          </a:prstGeom>
          <a:noFill/>
          <a:ln w="9525" cap="flat" cmpd="sng" algn="ctr">
            <a:solidFill>
              <a:srgbClr val="156082"/>
            </a:solidFill>
            <a:prstDash val="dash"/>
            <a:miter lim="800000"/>
          </a:ln>
          <a:effectLst/>
        </p:spPr>
      </p:cxnSp>
      <p:cxnSp>
        <p:nvCxnSpPr>
          <p:cNvPr id="21" name="Straight Connector 20">
            <a:extLst>
              <a:ext uri="{FF2B5EF4-FFF2-40B4-BE49-F238E27FC236}">
                <a16:creationId xmlns:a16="http://schemas.microsoft.com/office/drawing/2014/main" id="{7F5D6B7F-7C15-73A4-5095-6F389F49A4BE}"/>
              </a:ext>
            </a:extLst>
          </p:cNvPr>
          <p:cNvCxnSpPr>
            <a:cxnSpLocks/>
          </p:cNvCxnSpPr>
          <p:nvPr/>
        </p:nvCxnSpPr>
        <p:spPr>
          <a:xfrm>
            <a:off x="1331057" y="5062134"/>
            <a:ext cx="2103120" cy="0"/>
          </a:xfrm>
          <a:prstGeom prst="line">
            <a:avLst/>
          </a:prstGeom>
          <a:noFill/>
          <a:ln w="9525" cap="flat" cmpd="sng" algn="ctr">
            <a:solidFill>
              <a:srgbClr val="156082"/>
            </a:solidFill>
            <a:prstDash val="dash"/>
            <a:miter lim="800000"/>
          </a:ln>
          <a:effectLst/>
        </p:spPr>
      </p:cxnSp>
      <p:cxnSp>
        <p:nvCxnSpPr>
          <p:cNvPr id="22" name="Straight Connector 21">
            <a:extLst>
              <a:ext uri="{FF2B5EF4-FFF2-40B4-BE49-F238E27FC236}">
                <a16:creationId xmlns:a16="http://schemas.microsoft.com/office/drawing/2014/main" id="{4DF2090E-134D-3E40-4ECC-8FFE39FC8A75}"/>
              </a:ext>
            </a:extLst>
          </p:cNvPr>
          <p:cNvCxnSpPr>
            <a:cxnSpLocks/>
          </p:cNvCxnSpPr>
          <p:nvPr/>
        </p:nvCxnSpPr>
        <p:spPr>
          <a:xfrm>
            <a:off x="1331057" y="5441158"/>
            <a:ext cx="2103120" cy="0"/>
          </a:xfrm>
          <a:prstGeom prst="line">
            <a:avLst/>
          </a:prstGeom>
          <a:noFill/>
          <a:ln w="9525" cap="flat" cmpd="sng" algn="ctr">
            <a:solidFill>
              <a:srgbClr val="156082"/>
            </a:solidFill>
            <a:prstDash val="dash"/>
            <a:miter lim="800000"/>
          </a:ln>
          <a:effectLst/>
        </p:spPr>
      </p:cxnSp>
      <p:sp>
        <p:nvSpPr>
          <p:cNvPr id="23" name="Rectangle: Rounded Corners 22">
            <a:extLst>
              <a:ext uri="{FF2B5EF4-FFF2-40B4-BE49-F238E27FC236}">
                <a16:creationId xmlns:a16="http://schemas.microsoft.com/office/drawing/2014/main" id="{48D815DB-C00C-2EBC-E2FE-F9CD9B0B280D}"/>
              </a:ext>
            </a:extLst>
          </p:cNvPr>
          <p:cNvSpPr/>
          <p:nvPr/>
        </p:nvSpPr>
        <p:spPr>
          <a:xfrm>
            <a:off x="3478927" y="5722738"/>
            <a:ext cx="7534246" cy="334060"/>
          </a:xfrm>
          <a:prstGeom prst="round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A common pool of  migration, automation, AI engineers to deliver Factory  work</a:t>
            </a:r>
          </a:p>
        </p:txBody>
      </p:sp>
      <p:sp>
        <p:nvSpPr>
          <p:cNvPr id="24" name="TextBox 23">
            <a:extLst>
              <a:ext uri="{FF2B5EF4-FFF2-40B4-BE49-F238E27FC236}">
                <a16:creationId xmlns:a16="http://schemas.microsoft.com/office/drawing/2014/main" id="{BB49ACBD-4A66-0D79-C9DF-B0AA53B7B68B}"/>
              </a:ext>
            </a:extLst>
          </p:cNvPr>
          <p:cNvSpPr txBox="1"/>
          <p:nvPr/>
        </p:nvSpPr>
        <p:spPr>
          <a:xfrm>
            <a:off x="1331057" y="5074594"/>
            <a:ext cx="2103120" cy="153888"/>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DevOps &amp; IAC Foundation</a:t>
            </a:r>
          </a:p>
        </p:txBody>
      </p:sp>
      <p:cxnSp>
        <p:nvCxnSpPr>
          <p:cNvPr id="25" name="Straight Connector 24">
            <a:extLst>
              <a:ext uri="{FF2B5EF4-FFF2-40B4-BE49-F238E27FC236}">
                <a16:creationId xmlns:a16="http://schemas.microsoft.com/office/drawing/2014/main" id="{FEF51C38-281A-3FED-C8FF-7BD52F1DD575}"/>
              </a:ext>
            </a:extLst>
          </p:cNvPr>
          <p:cNvCxnSpPr>
            <a:cxnSpLocks/>
          </p:cNvCxnSpPr>
          <p:nvPr/>
        </p:nvCxnSpPr>
        <p:spPr>
          <a:xfrm>
            <a:off x="1331057" y="5251646"/>
            <a:ext cx="2103120" cy="0"/>
          </a:xfrm>
          <a:prstGeom prst="line">
            <a:avLst/>
          </a:prstGeom>
          <a:noFill/>
          <a:ln w="9525" cap="flat" cmpd="sng" algn="ctr">
            <a:solidFill>
              <a:srgbClr val="156082"/>
            </a:solidFill>
            <a:prstDash val="dash"/>
            <a:miter lim="800000"/>
          </a:ln>
          <a:effectLst/>
        </p:spPr>
      </p:cxnSp>
    </p:spTree>
    <p:extLst>
      <p:ext uri="{BB962C8B-B14F-4D97-AF65-F5344CB8AC3E}">
        <p14:creationId xmlns:p14="http://schemas.microsoft.com/office/powerpoint/2010/main" val="3069955004"/>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F6C48-B64C-EB83-FC4D-51FEEE8B12DE}"/>
              </a:ext>
            </a:extLst>
          </p:cNvPr>
          <p:cNvSpPr>
            <a:spLocks noGrp="1"/>
          </p:cNvSpPr>
          <p:nvPr>
            <p:ph type="title"/>
          </p:nvPr>
        </p:nvSpPr>
        <p:spPr>
          <a:xfrm>
            <a:off x="244163" y="498596"/>
            <a:ext cx="10948941" cy="430887"/>
          </a:xfrm>
        </p:spPr>
        <p:txBody>
          <a:bodyPr/>
          <a:lstStyle/>
          <a:p>
            <a:r>
              <a:rPr lang="en-US" sz="2800" noProof="0" dirty="0"/>
              <a:t>Scope 1 – Engagement Coverage – Modernize with Confidence</a:t>
            </a:r>
          </a:p>
        </p:txBody>
      </p:sp>
      <p:sp>
        <p:nvSpPr>
          <p:cNvPr id="3" name="Rectangle 2">
            <a:extLst>
              <a:ext uri="{FF2B5EF4-FFF2-40B4-BE49-F238E27FC236}">
                <a16:creationId xmlns:a16="http://schemas.microsoft.com/office/drawing/2014/main" id="{C81F4E30-57E3-E33E-104F-A68B632D449F}"/>
              </a:ext>
            </a:extLst>
          </p:cNvPr>
          <p:cNvSpPr/>
          <p:nvPr/>
        </p:nvSpPr>
        <p:spPr>
          <a:xfrm>
            <a:off x="244353" y="2477553"/>
            <a:ext cx="11704320" cy="4175923"/>
          </a:xfrm>
          <a:prstGeom prst="rect">
            <a:avLst/>
          </a:prstGeom>
          <a:noFill/>
          <a:ln w="63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Sans Text"/>
              <a:ea typeface="+mn-ea"/>
              <a:cs typeface="+mn-cs"/>
            </a:endParaRPr>
          </a:p>
        </p:txBody>
      </p:sp>
      <p:sp>
        <p:nvSpPr>
          <p:cNvPr id="4" name="Rectangle: Rounded Corners 3">
            <a:extLst>
              <a:ext uri="{FF2B5EF4-FFF2-40B4-BE49-F238E27FC236}">
                <a16:creationId xmlns:a16="http://schemas.microsoft.com/office/drawing/2014/main" id="{7F461B6A-9E89-FAE3-5D81-7C8A0C056797}"/>
              </a:ext>
            </a:extLst>
          </p:cNvPr>
          <p:cNvSpPr/>
          <p:nvPr/>
        </p:nvSpPr>
        <p:spPr>
          <a:xfrm>
            <a:off x="244353" y="1839835"/>
            <a:ext cx="11704320" cy="457200"/>
          </a:xfrm>
          <a:prstGeom prst="roundRect">
            <a:avLst/>
          </a:prstGeom>
          <a:solidFill>
            <a:srgbClr val="1A7385"/>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Program Management and Orchestration (PMO)</a:t>
            </a:r>
          </a:p>
          <a:p>
            <a:pPr algn="ctr"/>
            <a:r>
              <a:rPr lang="en-US" sz="1200" kern="0" noProof="0" dirty="0">
                <a:solidFill>
                  <a:schemeClr val="bg1"/>
                </a:solidFill>
                <a:latin typeface="+mj-lt"/>
                <a:ea typeface="+mj-ea"/>
                <a:cs typeface="+mj-cs"/>
              </a:rPr>
              <a:t>Project &amp; Technical Management </a:t>
            </a:r>
          </a:p>
        </p:txBody>
      </p:sp>
      <p:sp>
        <p:nvSpPr>
          <p:cNvPr id="5" name="Rectangle: Rounded Corners 4">
            <a:extLst>
              <a:ext uri="{FF2B5EF4-FFF2-40B4-BE49-F238E27FC236}">
                <a16:creationId xmlns:a16="http://schemas.microsoft.com/office/drawing/2014/main" id="{77C4AC3D-FD09-2951-AEAC-0A3CADFFFCA6}"/>
              </a:ext>
            </a:extLst>
          </p:cNvPr>
          <p:cNvSpPr/>
          <p:nvPr/>
        </p:nvSpPr>
        <p:spPr>
          <a:xfrm>
            <a:off x="386889" y="2656838"/>
            <a:ext cx="11469318" cy="461279"/>
          </a:xfrm>
          <a:prstGeom prst="roundRect">
            <a:avLst/>
          </a:prstGeom>
          <a:solidFill>
            <a:srgbClr val="41B8A4"/>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Azure Foundation | Platform Landing Zone | Identity &amp; Security</a:t>
            </a:r>
          </a:p>
          <a:p>
            <a:pPr algn="ctr"/>
            <a:r>
              <a:rPr lang="en-US" sz="1200" kern="0" noProof="0" dirty="0">
                <a:solidFill>
                  <a:schemeClr val="bg1"/>
                </a:solidFill>
                <a:latin typeface="+mj-lt"/>
                <a:ea typeface="+mj-ea"/>
                <a:cs typeface="+mj-cs"/>
              </a:rPr>
              <a:t>Identity | Network | Security | Policy | DevOps &amp; IAC Foundation | Monitoring &amp; Backup | Resiliency</a:t>
            </a:r>
          </a:p>
        </p:txBody>
      </p:sp>
      <p:sp>
        <p:nvSpPr>
          <p:cNvPr id="6" name="TextBox 5">
            <a:extLst>
              <a:ext uri="{FF2B5EF4-FFF2-40B4-BE49-F238E27FC236}">
                <a16:creationId xmlns:a16="http://schemas.microsoft.com/office/drawing/2014/main" id="{EBE3FF3B-0B48-3511-10BB-3B31A19E14FB}"/>
              </a:ext>
            </a:extLst>
          </p:cNvPr>
          <p:cNvSpPr txBox="1"/>
          <p:nvPr/>
        </p:nvSpPr>
        <p:spPr>
          <a:xfrm>
            <a:off x="440054" y="2377632"/>
            <a:ext cx="3108960" cy="228600"/>
          </a:xfrm>
          <a:prstGeom prst="rect">
            <a:avLst/>
          </a:prstGeom>
          <a:solidFill>
            <a:schemeClr val="bg1"/>
          </a:solidFill>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Segoe Sans Text"/>
                <a:ea typeface="+mn-ea"/>
                <a:cs typeface="+mn-cs"/>
              </a:rPr>
              <a:t>Assess, Design, Build, Migrate</a:t>
            </a:r>
          </a:p>
        </p:txBody>
      </p:sp>
      <p:sp>
        <p:nvSpPr>
          <p:cNvPr id="7" name="Rectangle: Rounded Corners 6">
            <a:extLst>
              <a:ext uri="{FF2B5EF4-FFF2-40B4-BE49-F238E27FC236}">
                <a16:creationId xmlns:a16="http://schemas.microsoft.com/office/drawing/2014/main" id="{D7191AAD-A3BB-EC94-0B20-D1BD4C0C2826}"/>
              </a:ext>
            </a:extLst>
          </p:cNvPr>
          <p:cNvSpPr/>
          <p:nvPr/>
        </p:nvSpPr>
        <p:spPr>
          <a:xfrm>
            <a:off x="244353" y="1321361"/>
            <a:ext cx="11704320" cy="457200"/>
          </a:xfrm>
          <a:prstGeom prst="roundRect">
            <a:avLst/>
          </a:prstGeom>
          <a:solidFill>
            <a:srgbClr val="0070C0"/>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Scoping | Concierge &amp; Intake and Assessment </a:t>
            </a:r>
          </a:p>
          <a:p>
            <a:pPr algn="ctr"/>
            <a:r>
              <a:rPr lang="en-US" sz="1200" kern="0" noProof="0" dirty="0">
                <a:solidFill>
                  <a:schemeClr val="bg1"/>
                </a:solidFill>
                <a:latin typeface="+mj-lt"/>
                <a:ea typeface="+mj-ea"/>
                <a:cs typeface="+mj-cs"/>
              </a:rPr>
              <a:t>Engagement Intake &amp; Scope Validation</a:t>
            </a:r>
          </a:p>
        </p:txBody>
      </p:sp>
      <p:sp>
        <p:nvSpPr>
          <p:cNvPr id="8" name="TextBox 7">
            <a:extLst>
              <a:ext uri="{FF2B5EF4-FFF2-40B4-BE49-F238E27FC236}">
                <a16:creationId xmlns:a16="http://schemas.microsoft.com/office/drawing/2014/main" id="{0874610F-2792-AC3C-6ECF-5A2A30DD612E}"/>
              </a:ext>
            </a:extLst>
          </p:cNvPr>
          <p:cNvSpPr txBox="1"/>
          <p:nvPr/>
        </p:nvSpPr>
        <p:spPr>
          <a:xfrm>
            <a:off x="2314993" y="3261308"/>
            <a:ext cx="1874520" cy="3060893"/>
          </a:xfrm>
          <a:prstGeom prst="roundRect">
            <a:avLst/>
          </a:prstGeom>
          <a:solidFill>
            <a:schemeClr val="bg1">
              <a:alpha val="85000"/>
            </a:schemeClr>
          </a:solidFill>
          <a:ln>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wrap="square" lIns="45720" tIns="45720" rIns="45720" bIns="45720" rtlCol="0">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Discovery &amp; Assessment</a:t>
            </a:r>
          </a:p>
          <a:p>
            <a:pPr marL="171450" marR="0" lvl="0" indent="-171450" algn="l" defTabSz="914400" rtl="0" eaLnBrk="1" fontAlgn="auto" latinLnBrk="0" hangingPunct="1">
              <a:lnSpc>
                <a:spcPct val="15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Envisioning &amp; Discovery Workshops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Application &amp; Infrastructure Assessment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Dependency Mapping &amp; Risk Identification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Migration Strategy &amp; R‑Type Classification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Tool‑based Discovery &amp; Assessment</a:t>
            </a:r>
          </a:p>
        </p:txBody>
      </p:sp>
      <p:sp>
        <p:nvSpPr>
          <p:cNvPr id="9" name="TextBox 8">
            <a:extLst>
              <a:ext uri="{FF2B5EF4-FFF2-40B4-BE49-F238E27FC236}">
                <a16:creationId xmlns:a16="http://schemas.microsoft.com/office/drawing/2014/main" id="{3603C66E-5457-AFDD-12BC-FDFF5724CE5B}"/>
              </a:ext>
            </a:extLst>
          </p:cNvPr>
          <p:cNvSpPr txBox="1"/>
          <p:nvPr/>
        </p:nvSpPr>
        <p:spPr>
          <a:xfrm>
            <a:off x="4243097" y="3261308"/>
            <a:ext cx="1874520" cy="3060893"/>
          </a:xfrm>
          <a:prstGeom prst="roundRect">
            <a:avLst/>
          </a:prstGeom>
          <a:solidFill>
            <a:schemeClr val="bg1">
              <a:alpha val="85000"/>
            </a:schemeClr>
          </a:solidFill>
          <a:ln>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wrap="square" lIns="45720" tIns="45720" rIns="45720" bIns="45720" rtlCol="0">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Planning &amp; Design</a:t>
            </a:r>
          </a:p>
          <a:p>
            <a:pPr marL="171450" marR="0" lvl="0" indent="-171450" algn="l" defTabSz="914400" rtl="0" eaLnBrk="1" fontAlgn="auto" latinLnBrk="0" hangingPunct="1">
              <a:lnSpc>
                <a:spcPct val="15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Detailed Technical Assessment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Target Architecture &amp; Solution Design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NFR Design (Backup &amp; DR, Monitoring)</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Migration Wave Planning</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Design Documentation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RACI / Delivery Model Finalization</a:t>
            </a:r>
          </a:p>
        </p:txBody>
      </p:sp>
      <p:sp>
        <p:nvSpPr>
          <p:cNvPr id="10" name="TextBox 9">
            <a:extLst>
              <a:ext uri="{FF2B5EF4-FFF2-40B4-BE49-F238E27FC236}">
                <a16:creationId xmlns:a16="http://schemas.microsoft.com/office/drawing/2014/main" id="{CE6A72EE-6851-D0E6-F034-A25D4371EDEF}"/>
              </a:ext>
            </a:extLst>
          </p:cNvPr>
          <p:cNvSpPr txBox="1"/>
          <p:nvPr/>
        </p:nvSpPr>
        <p:spPr>
          <a:xfrm>
            <a:off x="6171201" y="3261308"/>
            <a:ext cx="1874520" cy="3060893"/>
          </a:xfrm>
          <a:prstGeom prst="roundRect">
            <a:avLst/>
          </a:prstGeom>
          <a:solidFill>
            <a:schemeClr val="bg1">
              <a:alpha val="85000"/>
            </a:schemeClr>
          </a:solidFill>
          <a:ln>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wrap="square" lIns="45720" tIns="45720" rIns="45720" bIns="45720" rtlCol="0">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Azure Migration</a:t>
            </a:r>
          </a:p>
          <a:p>
            <a:pPr marL="171450" marR="0" lvl="0" indent="-171450" algn="l" defTabSz="914400" rtl="0" eaLnBrk="1" fontAlgn="auto" latinLnBrk="0" hangingPunct="1">
              <a:lnSpc>
                <a:spcPct val="15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Server &amp; Application Rehost (Azure IaaS / AVS (HCX)</a:t>
            </a:r>
            <a:r>
              <a:rPr lang="en-US" sz="900" noProof="0" dirty="0">
                <a:solidFill>
                  <a:schemeClr val="tx1"/>
                </a:solidFill>
                <a:latin typeface="Segoe Sans Text"/>
              </a:rPr>
              <a:t>)</a:t>
            </a:r>
            <a:endParaRPr kumimoji="0" lang="en-US" sz="900" b="0" i="0" u="none" strike="noStrike" kern="1200" cap="none" spc="0" normalizeH="0" baseline="0" noProof="0" dirty="0">
              <a:ln>
                <a:noFill/>
              </a:ln>
              <a:solidFill>
                <a:schemeClr val="tx1"/>
              </a:solidFill>
              <a:effectLst/>
              <a:uLnTx/>
              <a:uFillTx/>
              <a:latin typeface="Segoe Sans Text"/>
              <a:ea typeface="+mn-ea"/>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Limited Re-platforming (e.g., Unix → Linux without code change)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Azure Migrate Operations (replication, cutover support)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Non‑Prod and Prod execution </a:t>
            </a:r>
          </a:p>
        </p:txBody>
      </p:sp>
      <p:sp>
        <p:nvSpPr>
          <p:cNvPr id="11" name="TextBox 10">
            <a:extLst>
              <a:ext uri="{FF2B5EF4-FFF2-40B4-BE49-F238E27FC236}">
                <a16:creationId xmlns:a16="http://schemas.microsoft.com/office/drawing/2014/main" id="{973C29C4-C429-C43D-08E7-6D1D851531B9}"/>
              </a:ext>
            </a:extLst>
          </p:cNvPr>
          <p:cNvSpPr txBox="1"/>
          <p:nvPr/>
        </p:nvSpPr>
        <p:spPr>
          <a:xfrm>
            <a:off x="8099305" y="3261308"/>
            <a:ext cx="1952610" cy="3060893"/>
          </a:xfrm>
          <a:prstGeom prst="roundRect">
            <a:avLst/>
          </a:prstGeom>
          <a:solidFill>
            <a:schemeClr val="bg1">
              <a:alpha val="85000"/>
            </a:schemeClr>
          </a:solidFill>
          <a:ln>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wrap="square" lIns="45720" tIns="45720" rIns="45720" bIns="45720" rtlCol="0">
            <a:noAutofit/>
          </a:bodyPr>
          <a:lstStyle/>
          <a:p>
            <a:pPr marL="0" marR="0" lvl="0" indent="0" algn="ctr" defTabSz="914400" rtl="0" eaLnBrk="1" fontAlgn="auto" latinLnBrk="0" hangingPunct="1">
              <a:lnSpc>
                <a:spcPct val="114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App and Data Modernization</a:t>
            </a:r>
          </a:p>
          <a:p>
            <a:pPr marL="171450" marR="0" lvl="0" indent="-171450" algn="l" defTabSz="914400" rtl="0" eaLnBrk="1" fontAlgn="auto" latinLnBrk="0" hangingPunct="1">
              <a:lnSpc>
                <a:spcPct val="15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App Refactoring using Azure Services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Cloud‑native Transformation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Containerization &amp; AKS Migration (Rehost / Refactor)</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DevOps and CI Enablement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Database Re-platforming (Azure SQL, SQL MI, PostgreSQL, etc..)</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Data Platform Modernization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Analytics &amp; Data Services Enablement</a:t>
            </a:r>
          </a:p>
        </p:txBody>
      </p:sp>
      <p:sp>
        <p:nvSpPr>
          <p:cNvPr id="12" name="TextBox 11">
            <a:extLst>
              <a:ext uri="{FF2B5EF4-FFF2-40B4-BE49-F238E27FC236}">
                <a16:creationId xmlns:a16="http://schemas.microsoft.com/office/drawing/2014/main" id="{BA0C6C17-C1A6-5499-D03A-617D3478140E}"/>
              </a:ext>
            </a:extLst>
          </p:cNvPr>
          <p:cNvSpPr txBox="1"/>
          <p:nvPr/>
        </p:nvSpPr>
        <p:spPr>
          <a:xfrm>
            <a:off x="10105499" y="3261308"/>
            <a:ext cx="1796428" cy="3060893"/>
          </a:xfrm>
          <a:prstGeom prst="roundRect">
            <a:avLst/>
          </a:prstGeom>
          <a:solidFill>
            <a:schemeClr val="bg1">
              <a:alpha val="85000"/>
            </a:schemeClr>
          </a:solidFill>
          <a:ln>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wrap="square" lIns="45720" tIns="45720" rIns="45720" bIns="45720" rtlCol="0">
            <a:noAutofit/>
          </a:bodyPr>
          <a:lstStyle/>
          <a:p>
            <a:pPr marL="0" marR="0" lvl="0" indent="0" algn="ctr" defTabSz="914400" rtl="0" eaLnBrk="1" fontAlgn="auto" latinLnBrk="0" hangingPunct="1">
              <a:lnSpc>
                <a:spcPct val="114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Testing, Cutover &amp; Hypercare</a:t>
            </a:r>
          </a:p>
          <a:p>
            <a:pPr marL="171450" marR="0" lvl="0" indent="-171450" algn="l" defTabSz="914400" rtl="0" eaLnBrk="1" fontAlgn="auto" latinLnBrk="0" hangingPunct="1">
              <a:lnSpc>
                <a:spcPct val="15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Segoe Sans Text"/>
                <a:ea typeface="+mn-ea"/>
                <a:cs typeface="+mn-cs"/>
              </a:rPr>
              <a:t>Test Readiness &amp; Infra Support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Segoe Sans Text"/>
                <a:ea typeface="+mn-ea"/>
                <a:cs typeface="+mn-cs"/>
              </a:rPr>
              <a:t>Cutover Support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Segoe Sans Text"/>
                <a:ea typeface="+mn-ea"/>
                <a:cs typeface="+mn-cs"/>
              </a:rPr>
              <a:t>Defect Resolution (Infra / Platform scope)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Segoe Sans Text"/>
                <a:ea typeface="+mn-ea"/>
                <a:cs typeface="+mn-cs"/>
              </a:rPr>
              <a:t>Joint Hypercare (5 days)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3" name="TextBox 12">
            <a:extLst>
              <a:ext uri="{FF2B5EF4-FFF2-40B4-BE49-F238E27FC236}">
                <a16:creationId xmlns:a16="http://schemas.microsoft.com/office/drawing/2014/main" id="{6105E0FA-E4CC-5AC1-B0C9-CBAFBBF4BB6A}"/>
              </a:ext>
            </a:extLst>
          </p:cNvPr>
          <p:cNvSpPr txBox="1"/>
          <p:nvPr/>
        </p:nvSpPr>
        <p:spPr>
          <a:xfrm>
            <a:off x="386889" y="3261308"/>
            <a:ext cx="1874520" cy="3060893"/>
          </a:xfrm>
          <a:prstGeom prst="roundRect">
            <a:avLst/>
          </a:prstGeom>
          <a:solidFill>
            <a:schemeClr val="bg1">
              <a:alpha val="85000"/>
            </a:schemeClr>
          </a:solidFill>
          <a:ln>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wrap="square" lIns="45720" tIns="45720" rIns="45720" bIns="45720" rtlCol="0">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Sans Text"/>
                <a:ea typeface="+mn-ea"/>
                <a:cs typeface="+mn-cs"/>
              </a:rPr>
              <a:t>Governance  &amp; Delivery</a:t>
            </a:r>
          </a:p>
          <a:p>
            <a:pPr marL="171450" marR="0" lvl="0" indent="-171450" algn="l" defTabSz="914400" rtl="0" eaLnBrk="1" fontAlgn="auto" latinLnBrk="0" hangingPunct="1">
              <a:lnSpc>
                <a:spcPct val="15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Engagement Intake &amp; Scope Validation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Program &amp; Technical Management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i="0" u="none" strike="noStrike" kern="1200" cap="none" spc="0" normalizeH="0" baseline="0" noProof="0" dirty="0">
                <a:ln>
                  <a:noFill/>
                </a:ln>
                <a:solidFill>
                  <a:schemeClr val="tx1"/>
                </a:solidFill>
                <a:effectLst/>
                <a:uLnTx/>
                <a:uFillTx/>
                <a:latin typeface="Segoe Sans Text"/>
                <a:ea typeface="+mn-ea"/>
                <a:cs typeface="+mn-cs"/>
              </a:rPr>
              <a:t>Delivery Governance &amp; Checkpoints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Segoe Sans Text"/>
                <a:ea typeface="+mn-ea"/>
                <a:cs typeface="+mn-cs"/>
              </a:rPr>
              <a:t>Stakeholder Management &amp; Status Reporting</a:t>
            </a:r>
          </a:p>
        </p:txBody>
      </p:sp>
    </p:spTree>
    <p:extLst>
      <p:ext uri="{BB962C8B-B14F-4D97-AF65-F5344CB8AC3E}">
        <p14:creationId xmlns:p14="http://schemas.microsoft.com/office/powerpoint/2010/main" val="3179725356"/>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F9429-834D-DFCA-56DE-2FB26165E637}"/>
              </a:ext>
            </a:extLst>
          </p:cNvPr>
          <p:cNvSpPr>
            <a:spLocks noGrp="1"/>
          </p:cNvSpPr>
          <p:nvPr>
            <p:ph type="title"/>
          </p:nvPr>
        </p:nvSpPr>
        <p:spPr>
          <a:xfrm>
            <a:off x="628679" y="365585"/>
            <a:ext cx="9916104" cy="769441"/>
          </a:xfrm>
        </p:spPr>
        <p:txBody>
          <a:bodyPr/>
          <a:lstStyle/>
          <a:p>
            <a:r>
              <a:rPr kumimoji="0" lang="en-US" sz="3200" b="0" i="0" u="none" strike="noStrike" kern="1200" cap="none" spc="-50" normalizeH="0" baseline="0" noProof="0" dirty="0">
                <a:ln w="3175">
                  <a:noFill/>
                </a:ln>
                <a:solidFill>
                  <a:srgbClr val="0078D4"/>
                </a:solidFill>
                <a:effectLst/>
                <a:uLnTx/>
                <a:uFillTx/>
                <a:latin typeface="Segoe Sans Display Semibold" pitchFamily="2" charset="0"/>
                <a:ea typeface="+mn-ea"/>
                <a:cs typeface="Segoe Sans Text" pitchFamily="2" charset="0"/>
              </a:rPr>
              <a:t>Factory Operating Model</a:t>
            </a:r>
            <a:br>
              <a:rPr lang="en-US" sz="3200" noProof="0" dirty="0"/>
            </a:br>
            <a:r>
              <a:rPr lang="en-US" sz="1800" noProof="0" dirty="0">
                <a:solidFill>
                  <a:schemeClr val="tx1"/>
                </a:solidFill>
              </a:rPr>
              <a:t>(Scope 1)</a:t>
            </a:r>
          </a:p>
        </p:txBody>
      </p:sp>
      <p:sp>
        <p:nvSpPr>
          <p:cNvPr id="3" name="Rectangle: Rounded Corners 2">
            <a:extLst>
              <a:ext uri="{FF2B5EF4-FFF2-40B4-BE49-F238E27FC236}">
                <a16:creationId xmlns:a16="http://schemas.microsoft.com/office/drawing/2014/main" id="{796B6851-438F-F373-4584-08C5DF601B34}"/>
              </a:ext>
              <a:ext uri="{C183D7F6-B498-43B3-948B-1728B52AA6E4}">
                <adec:decorative xmlns:adec="http://schemas.microsoft.com/office/drawing/2017/decorative" val="1"/>
              </a:ext>
            </a:extLst>
          </p:cNvPr>
          <p:cNvSpPr>
            <a:spLocks/>
          </p:cNvSpPr>
          <p:nvPr/>
        </p:nvSpPr>
        <p:spPr bwMode="auto">
          <a:xfrm>
            <a:off x="600349" y="1216877"/>
            <a:ext cx="11017249" cy="4887264"/>
          </a:xfrm>
          <a:prstGeom prst="roundRect">
            <a:avLst>
              <a:gd name="adj" fmla="val 3099"/>
            </a:avLst>
          </a:prstGeom>
          <a:solidFill>
            <a:srgbClr val="F4F4F6">
              <a:alpha val="80000"/>
            </a:srgbClr>
          </a:solidFill>
          <a:ln w="9525">
            <a:solidFill>
              <a:srgbClr val="FFFFFF"/>
            </a:solidFill>
            <a:miter lim="400000"/>
          </a:ln>
          <a:effectLst/>
        </p:spPr>
        <p:txBody>
          <a:bodyPr wrap="none" lIns="0" tIns="0" rIns="0" bIns="0" rtlCol="0" anchor="ctr"/>
          <a:lstStyle/>
          <a:p>
            <a:pPr marL="0" marR="0" lvl="0" indent="0" algn="ctr" defTabSz="932563" rtl="0" eaLnBrk="1" fontAlgn="auto" latinLnBrk="0" hangingPunct="1">
              <a:lnSpc>
                <a:spcPct val="100000"/>
              </a:lnSpc>
              <a:spcBef>
                <a:spcPts val="400"/>
              </a:spcBef>
              <a:spcAft>
                <a:spcPts val="0"/>
              </a:spcAft>
              <a:buClrTx/>
              <a:buSzPct val="90000"/>
              <a:buFontTx/>
              <a:buNone/>
              <a:tabLst/>
              <a:defRPr/>
            </a:pPr>
            <a:endParaRPr kumimoji="0" lang="en-US" sz="105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endParaRPr>
          </a:p>
        </p:txBody>
      </p:sp>
      <p:sp>
        <p:nvSpPr>
          <p:cNvPr id="4" name="Rounded Rectangle 35">
            <a:extLst>
              <a:ext uri="{FF2B5EF4-FFF2-40B4-BE49-F238E27FC236}">
                <a16:creationId xmlns:a16="http://schemas.microsoft.com/office/drawing/2014/main" id="{62E52A41-156B-BC14-8D02-B600A23B49AD}"/>
              </a:ext>
              <a:ext uri="{C183D7F6-B498-43B3-948B-1728B52AA6E4}">
                <adec:decorative xmlns:adec="http://schemas.microsoft.com/office/drawing/2017/decorative" val="1"/>
              </a:ext>
            </a:extLst>
          </p:cNvPr>
          <p:cNvSpPr>
            <a:spLocks/>
          </p:cNvSpPr>
          <p:nvPr/>
        </p:nvSpPr>
        <p:spPr bwMode="auto">
          <a:xfrm>
            <a:off x="3254370" y="1668301"/>
            <a:ext cx="8261509" cy="4069621"/>
          </a:xfrm>
          <a:prstGeom prst="roundRect">
            <a:avLst>
              <a:gd name="adj" fmla="val 3624"/>
            </a:avLst>
          </a:prstGeom>
          <a:noFill/>
          <a:ln w="9525">
            <a:solidFill>
              <a:srgbClr val="FFFFFF"/>
            </a:solidFill>
          </a:ln>
        </p:spPr>
        <p:style>
          <a:lnRef idx="0">
            <a:scrgbClr r="0" g="0" b="0"/>
          </a:lnRef>
          <a:fillRef idx="0">
            <a:scrgbClr r="0" g="0" b="0"/>
          </a:fillRef>
          <a:effectRef idx="0">
            <a:scrgbClr r="0" g="0" b="0"/>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pitchFamily="2" charset="0"/>
            </a:endParaRPr>
          </a:p>
        </p:txBody>
      </p:sp>
      <p:sp>
        <p:nvSpPr>
          <p:cNvPr id="5" name="Rounded Rectangle 35">
            <a:extLst>
              <a:ext uri="{FF2B5EF4-FFF2-40B4-BE49-F238E27FC236}">
                <a16:creationId xmlns:a16="http://schemas.microsoft.com/office/drawing/2014/main" id="{529927F8-479B-3D38-95E9-689E84A0FE9A}"/>
              </a:ext>
              <a:ext uri="{C183D7F6-B498-43B3-948B-1728B52AA6E4}">
                <adec:decorative xmlns:adec="http://schemas.microsoft.com/office/drawing/2017/decorative" val="1"/>
              </a:ext>
            </a:extLst>
          </p:cNvPr>
          <p:cNvSpPr>
            <a:spLocks/>
          </p:cNvSpPr>
          <p:nvPr/>
        </p:nvSpPr>
        <p:spPr bwMode="auto">
          <a:xfrm>
            <a:off x="3366336" y="1782866"/>
            <a:ext cx="8037576" cy="3840491"/>
          </a:xfrm>
          <a:prstGeom prst="roundRect">
            <a:avLst>
              <a:gd name="adj" fmla="val 993"/>
            </a:avLst>
          </a:prstGeom>
          <a:noFill/>
          <a:ln w="19050" cap="rnd" cmpd="sng" algn="ctr">
            <a:gradFill>
              <a:gsLst>
                <a:gs pos="0">
                  <a:srgbClr val="0F74D2"/>
                </a:gs>
                <a:gs pos="51000">
                  <a:srgbClr val="2A72A7"/>
                </a:gs>
                <a:gs pos="100000">
                  <a:srgbClr val="3C8A94"/>
                </a:gs>
              </a:gsLst>
              <a:lin ang="5400000" scaled="1"/>
            </a:gradFill>
            <a:prstDash val="dash"/>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Sans Display Semibold" pitchFamily="2" charset="0"/>
              <a:ea typeface="+mn-ea"/>
              <a:cs typeface="Segoe Sans Text" pitchFamily="2" charset="0"/>
            </a:endParaRPr>
          </a:p>
        </p:txBody>
      </p:sp>
      <p:cxnSp>
        <p:nvCxnSpPr>
          <p:cNvPr id="10" name="Straight Arrow Connector 9">
            <a:extLst>
              <a:ext uri="{FF2B5EF4-FFF2-40B4-BE49-F238E27FC236}">
                <a16:creationId xmlns:a16="http://schemas.microsoft.com/office/drawing/2014/main" id="{09E26CFF-79B5-780F-9FD3-9340FBE2CB8E}"/>
              </a:ext>
              <a:ext uri="{C183D7F6-B498-43B3-948B-1728B52AA6E4}">
                <adec:decorative xmlns:adec="http://schemas.microsoft.com/office/drawing/2017/decorative" val="1"/>
              </a:ext>
            </a:extLst>
          </p:cNvPr>
          <p:cNvCxnSpPr>
            <a:cxnSpLocks/>
            <a:stCxn id="27" idx="2"/>
            <a:endCxn id="26" idx="0"/>
          </p:cNvCxnSpPr>
          <p:nvPr/>
        </p:nvCxnSpPr>
        <p:spPr>
          <a:xfrm>
            <a:off x="4431984" y="4010180"/>
            <a:ext cx="0" cy="43646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0E3F745-B5D0-225E-241E-65CF91D9428C}"/>
              </a:ext>
              <a:ext uri="{C183D7F6-B498-43B3-948B-1728B52AA6E4}">
                <adec:decorative xmlns:adec="http://schemas.microsoft.com/office/drawing/2017/decorative" val="1"/>
              </a:ext>
            </a:extLst>
          </p:cNvPr>
          <p:cNvCxnSpPr>
            <a:cxnSpLocks/>
          </p:cNvCxnSpPr>
          <p:nvPr/>
        </p:nvCxnSpPr>
        <p:spPr>
          <a:xfrm>
            <a:off x="5247530" y="3555747"/>
            <a:ext cx="238469"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D950973-C625-FDDF-1C7D-385E6896F7E5}"/>
              </a:ext>
              <a:ext uri="{C183D7F6-B498-43B3-948B-1728B52AA6E4}">
                <adec:decorative xmlns:adec="http://schemas.microsoft.com/office/drawing/2017/decorative" val="1"/>
              </a:ext>
            </a:extLst>
          </p:cNvPr>
          <p:cNvCxnSpPr>
            <a:cxnSpLocks/>
          </p:cNvCxnSpPr>
          <p:nvPr/>
        </p:nvCxnSpPr>
        <p:spPr>
          <a:xfrm>
            <a:off x="7130827" y="3555747"/>
            <a:ext cx="238469"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DA8F42A-2706-DB34-8592-69D2EFCF33AB}"/>
              </a:ext>
              <a:ext uri="{C183D7F6-B498-43B3-948B-1728B52AA6E4}">
                <adec:decorative xmlns:adec="http://schemas.microsoft.com/office/drawing/2017/decorative" val="1"/>
              </a:ext>
            </a:extLst>
          </p:cNvPr>
          <p:cNvCxnSpPr>
            <a:cxnSpLocks/>
          </p:cNvCxnSpPr>
          <p:nvPr/>
        </p:nvCxnSpPr>
        <p:spPr>
          <a:xfrm>
            <a:off x="9014124" y="3541618"/>
            <a:ext cx="238469"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6BFAF2D-6B7E-FD24-A019-E424FD25A369}"/>
              </a:ext>
              <a:ext uri="{C183D7F6-B498-43B3-948B-1728B52AA6E4}">
                <adec:decorative xmlns:adec="http://schemas.microsoft.com/office/drawing/2017/decorative" val="1"/>
              </a:ext>
            </a:extLst>
          </p:cNvPr>
          <p:cNvCxnSpPr>
            <a:cxnSpLocks/>
          </p:cNvCxnSpPr>
          <p:nvPr/>
        </p:nvCxnSpPr>
        <p:spPr>
          <a:xfrm flipV="1">
            <a:off x="7234892" y="2859329"/>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4B6668B-D4AD-C94C-E5AE-16DD11C559C5}"/>
              </a:ext>
              <a:ext uri="{C183D7F6-B498-43B3-948B-1728B52AA6E4}">
                <adec:decorative xmlns:adec="http://schemas.microsoft.com/office/drawing/2017/decorative" val="1"/>
              </a:ext>
            </a:extLst>
          </p:cNvPr>
          <p:cNvCxnSpPr>
            <a:cxnSpLocks/>
          </p:cNvCxnSpPr>
          <p:nvPr/>
        </p:nvCxnSpPr>
        <p:spPr>
          <a:xfrm flipV="1">
            <a:off x="9112702" y="2853326"/>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16" name="Graphic 51" descr="Document outline">
            <a:extLst>
              <a:ext uri="{FF2B5EF4-FFF2-40B4-BE49-F238E27FC236}">
                <a16:creationId xmlns:a16="http://schemas.microsoft.com/office/drawing/2014/main" id="{3679B4A1-22D2-AC90-3BE7-10120CB992F4}"/>
              </a:ext>
            </a:extLst>
          </p:cNvPr>
          <p:cNvSpPr>
            <a:spLocks noChangeAspect="1"/>
          </p:cNvSpPr>
          <p:nvPr/>
        </p:nvSpPr>
        <p:spPr>
          <a:xfrm>
            <a:off x="7088588"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51000">
                <a:srgbClr val="2A72A7"/>
              </a:gs>
              <a:gs pos="100000">
                <a:srgbClr val="3CB8B7"/>
              </a:gs>
              <a:gs pos="0">
                <a:srgbClr val="0F74D2"/>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7" name="Graphic 51" descr="Document outline">
            <a:extLst>
              <a:ext uri="{FF2B5EF4-FFF2-40B4-BE49-F238E27FC236}">
                <a16:creationId xmlns:a16="http://schemas.microsoft.com/office/drawing/2014/main" id="{B70906AA-AEF2-4F8D-48A6-70FE2EC5DB6A}"/>
              </a:ext>
            </a:extLst>
          </p:cNvPr>
          <p:cNvSpPr>
            <a:spLocks noChangeAspect="1"/>
          </p:cNvSpPr>
          <p:nvPr/>
        </p:nvSpPr>
        <p:spPr>
          <a:xfrm>
            <a:off x="5170263"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51000">
                <a:srgbClr val="2A72A7"/>
              </a:gs>
              <a:gs pos="100000">
                <a:srgbClr val="3CB8B7"/>
              </a:gs>
              <a:gs pos="0">
                <a:srgbClr val="0F74D2"/>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8" name="Graphic 51" descr="Document outline">
            <a:extLst>
              <a:ext uri="{FF2B5EF4-FFF2-40B4-BE49-F238E27FC236}">
                <a16:creationId xmlns:a16="http://schemas.microsoft.com/office/drawing/2014/main" id="{84F707A2-1BC6-B774-66C8-E2B8D2D7CB8E}"/>
              </a:ext>
            </a:extLst>
          </p:cNvPr>
          <p:cNvSpPr>
            <a:spLocks noChangeAspect="1"/>
          </p:cNvSpPr>
          <p:nvPr/>
        </p:nvSpPr>
        <p:spPr>
          <a:xfrm>
            <a:off x="8965334"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51000">
                <a:srgbClr val="2A72A7"/>
              </a:gs>
              <a:gs pos="100000">
                <a:srgbClr val="3CB8B7"/>
              </a:gs>
              <a:gs pos="0">
                <a:srgbClr val="0F74D2"/>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cxnSp>
        <p:nvCxnSpPr>
          <p:cNvPr id="19" name="Straight Arrow Connector 18">
            <a:extLst>
              <a:ext uri="{FF2B5EF4-FFF2-40B4-BE49-F238E27FC236}">
                <a16:creationId xmlns:a16="http://schemas.microsoft.com/office/drawing/2014/main" id="{F7402BB5-EB6A-0801-0EEA-C75EE7816125}"/>
              </a:ext>
              <a:ext uri="{C183D7F6-B498-43B3-948B-1728B52AA6E4}">
                <adec:decorative xmlns:adec="http://schemas.microsoft.com/office/drawing/2017/decorative" val="1"/>
              </a:ext>
            </a:extLst>
          </p:cNvPr>
          <p:cNvCxnSpPr>
            <a:cxnSpLocks/>
          </p:cNvCxnSpPr>
          <p:nvPr/>
        </p:nvCxnSpPr>
        <p:spPr>
          <a:xfrm>
            <a:off x="10874674" y="3555747"/>
            <a:ext cx="98578" cy="14654"/>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599F1BE-2302-16DF-829F-05302179BA1B}"/>
              </a:ext>
              <a:ext uri="{C183D7F6-B498-43B3-948B-1728B52AA6E4}">
                <adec:decorative xmlns:adec="http://schemas.microsoft.com/office/drawing/2017/decorative" val="1"/>
              </a:ext>
            </a:extLst>
          </p:cNvPr>
          <p:cNvCxnSpPr>
            <a:cxnSpLocks/>
          </p:cNvCxnSpPr>
          <p:nvPr/>
        </p:nvCxnSpPr>
        <p:spPr>
          <a:xfrm flipV="1">
            <a:off x="10973252" y="2867455"/>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21" name="Graphic 51" descr="Document outline">
            <a:extLst>
              <a:ext uri="{FF2B5EF4-FFF2-40B4-BE49-F238E27FC236}">
                <a16:creationId xmlns:a16="http://schemas.microsoft.com/office/drawing/2014/main" id="{CCC8EB1D-8EE0-9F24-5761-CB54A975BEEB}"/>
              </a:ext>
            </a:extLst>
          </p:cNvPr>
          <p:cNvSpPr>
            <a:spLocks noChangeAspect="1"/>
          </p:cNvSpPr>
          <p:nvPr/>
        </p:nvSpPr>
        <p:spPr>
          <a:xfrm>
            <a:off x="10825101"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51000">
                <a:srgbClr val="2A72A7"/>
              </a:gs>
              <a:gs pos="100000">
                <a:srgbClr val="3CB8B7"/>
              </a:gs>
              <a:gs pos="0">
                <a:srgbClr val="0F74D2"/>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22" name="TextBox 21">
            <a:extLst>
              <a:ext uri="{FF2B5EF4-FFF2-40B4-BE49-F238E27FC236}">
                <a16:creationId xmlns:a16="http://schemas.microsoft.com/office/drawing/2014/main" id="{4A34906A-2D8C-26C7-1BDC-3612552411E3}"/>
              </a:ext>
            </a:extLst>
          </p:cNvPr>
          <p:cNvSpPr txBox="1"/>
          <p:nvPr/>
        </p:nvSpPr>
        <p:spPr>
          <a:xfrm>
            <a:off x="6614814" y="2117969"/>
            <a:ext cx="1261885"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Customer approval</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3" name="TextBox 22">
            <a:extLst>
              <a:ext uri="{FF2B5EF4-FFF2-40B4-BE49-F238E27FC236}">
                <a16:creationId xmlns:a16="http://schemas.microsoft.com/office/drawing/2014/main" id="{91644A0C-6684-BDA8-9447-5A8370FDC5D8}"/>
              </a:ext>
            </a:extLst>
          </p:cNvPr>
          <p:cNvSpPr txBox="1"/>
          <p:nvPr/>
        </p:nvSpPr>
        <p:spPr>
          <a:xfrm>
            <a:off x="4738165" y="2117969"/>
            <a:ext cx="1263487"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Assessment output</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4" name="TextBox 23">
            <a:extLst>
              <a:ext uri="{FF2B5EF4-FFF2-40B4-BE49-F238E27FC236}">
                <a16:creationId xmlns:a16="http://schemas.microsoft.com/office/drawing/2014/main" id="{935AD542-00AE-5D8B-7E65-683D8D00013D}"/>
              </a:ext>
            </a:extLst>
          </p:cNvPr>
          <p:cNvSpPr txBox="1"/>
          <p:nvPr/>
        </p:nvSpPr>
        <p:spPr>
          <a:xfrm>
            <a:off x="8629775" y="2117969"/>
            <a:ext cx="963726"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Project report</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5" name="TextBox 24">
            <a:extLst>
              <a:ext uri="{FF2B5EF4-FFF2-40B4-BE49-F238E27FC236}">
                <a16:creationId xmlns:a16="http://schemas.microsoft.com/office/drawing/2014/main" id="{974F11BA-7517-8B9C-3118-D5886398910E}"/>
              </a:ext>
            </a:extLst>
          </p:cNvPr>
          <p:cNvSpPr txBox="1"/>
          <p:nvPr/>
        </p:nvSpPr>
        <p:spPr>
          <a:xfrm>
            <a:off x="10677895" y="2117969"/>
            <a:ext cx="587020"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Signoff</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6" name="TextBox 25">
            <a:extLst>
              <a:ext uri="{FF2B5EF4-FFF2-40B4-BE49-F238E27FC236}">
                <a16:creationId xmlns:a16="http://schemas.microsoft.com/office/drawing/2014/main" id="{6772D34D-7401-A761-5F2E-B873B77EE8D1}"/>
              </a:ext>
            </a:extLst>
          </p:cNvPr>
          <p:cNvSpPr txBox="1"/>
          <p:nvPr/>
        </p:nvSpPr>
        <p:spPr>
          <a:xfrm>
            <a:off x="3627312" y="4446642"/>
            <a:ext cx="1609344" cy="1169551"/>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78D4"/>
                </a:solidFill>
                <a:effectLst/>
                <a:uLnTx/>
                <a:uFillTx/>
                <a:latin typeface="Segoe Sans Text"/>
                <a:ea typeface="+mn-ea"/>
                <a:cs typeface="Segoe Sans Text" pitchFamily="2" charset="0"/>
              </a:rPr>
              <a:t>Kickoff meeting </a:t>
            </a:r>
            <a:r>
              <a:rPr kumimoji="0" lang="en-US" sz="1000" b="0" i="0" u="none" strike="noStrike" kern="1200" cap="none" spc="0" normalizeH="0" baseline="0" noProof="0" dirty="0">
                <a:ln>
                  <a:noFill/>
                </a:ln>
                <a:solidFill>
                  <a:srgbClr val="000000"/>
                </a:solidFill>
                <a:effectLst/>
                <a:uLnTx/>
                <a:uFillTx/>
                <a:latin typeface="Segoe Sans Text"/>
                <a:ea typeface="+mn-ea"/>
                <a:cs typeface="Segoe Sans Text" pitchFamily="2" charset="0"/>
              </a:rPr>
              <a:t>to confirm requirements</a:t>
            </a: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Tools based Discovery, Assessment </a:t>
            </a: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Validate or execute pre-requisites</a:t>
            </a:r>
          </a:p>
        </p:txBody>
      </p:sp>
      <p:sp>
        <p:nvSpPr>
          <p:cNvPr id="27" name="Rectangle: Rounded Corners 26">
            <a:extLst>
              <a:ext uri="{FF2B5EF4-FFF2-40B4-BE49-F238E27FC236}">
                <a16:creationId xmlns:a16="http://schemas.microsoft.com/office/drawing/2014/main" id="{6F54B94C-D4DC-89E2-705D-A75EBD86E0D2}"/>
              </a:ext>
              <a:ext uri="{C183D7F6-B498-43B3-948B-1728B52AA6E4}">
                <adec:decorative xmlns:adec="http://schemas.microsoft.com/office/drawing/2017/decorative" val="0"/>
              </a:ext>
            </a:extLst>
          </p:cNvPr>
          <p:cNvSpPr>
            <a:spLocks/>
          </p:cNvSpPr>
          <p:nvPr/>
        </p:nvSpPr>
        <p:spPr>
          <a:xfrm>
            <a:off x="3625764" y="3135994"/>
            <a:ext cx="1612440" cy="874186"/>
          </a:xfrm>
          <a:prstGeom prst="roundRect">
            <a:avLst>
              <a:gd name="adj" fmla="val 10991"/>
            </a:avLst>
          </a:prstGeom>
          <a:solidFill>
            <a:srgbClr val="0F74D2"/>
          </a:solidFill>
          <a:ln w="26591"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Sans Display Semibold" pitchFamily="2" charset="0"/>
                <a:ea typeface="+mn-ea"/>
                <a:cs typeface="+mn-cs"/>
              </a:rPr>
              <a:t>Discover,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Sans Display Semibold" pitchFamily="2" charset="0"/>
                <a:ea typeface="+mn-ea"/>
                <a:cs typeface="+mn-cs"/>
              </a:rPr>
              <a:t>Assess</a:t>
            </a:r>
          </a:p>
        </p:txBody>
      </p:sp>
      <p:sp>
        <p:nvSpPr>
          <p:cNvPr id="28" name="Rectangle: Rounded Corners 27">
            <a:extLst>
              <a:ext uri="{FF2B5EF4-FFF2-40B4-BE49-F238E27FC236}">
                <a16:creationId xmlns:a16="http://schemas.microsoft.com/office/drawing/2014/main" id="{AF623251-F18B-4BF0-D498-90763E6D1629}"/>
              </a:ext>
              <a:ext uri="{C183D7F6-B498-43B3-948B-1728B52AA6E4}">
                <adec:decorative xmlns:adec="http://schemas.microsoft.com/office/drawing/2017/decorative" val="0"/>
              </a:ext>
            </a:extLst>
          </p:cNvPr>
          <p:cNvSpPr>
            <a:spLocks/>
          </p:cNvSpPr>
          <p:nvPr/>
        </p:nvSpPr>
        <p:spPr>
          <a:xfrm>
            <a:off x="5501612" y="3131237"/>
            <a:ext cx="1612440" cy="874186"/>
          </a:xfrm>
          <a:prstGeom prst="roundRect">
            <a:avLst>
              <a:gd name="adj" fmla="val 10991"/>
            </a:avLst>
          </a:prstGeom>
          <a:gradFill flip="none" rotWithShape="1">
            <a:gsLst>
              <a:gs pos="72000">
                <a:srgbClr val="2A72A7"/>
              </a:gs>
              <a:gs pos="100000">
                <a:srgbClr val="2A72A7"/>
              </a:gs>
              <a:gs pos="0">
                <a:srgbClr val="0F74D2"/>
              </a:gs>
            </a:gsLst>
            <a:lin ang="2700000" scaled="1"/>
            <a:tileRect/>
          </a:gradFill>
          <a:ln w="26591"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Sans Display Semibold" pitchFamily="2" charset="0"/>
                <a:ea typeface="+mn-ea"/>
                <a:cs typeface="+mn-cs"/>
              </a:rPr>
              <a:t>Finalize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Sans Display Semibold" pitchFamily="2" charset="0"/>
                <a:ea typeface="+mn-ea"/>
                <a:cs typeface="+mn-cs"/>
              </a:rPr>
              <a:t>Scope, Design</a:t>
            </a:r>
          </a:p>
        </p:txBody>
      </p:sp>
      <p:sp>
        <p:nvSpPr>
          <p:cNvPr id="29" name="Rectangle: Rounded Corners 28">
            <a:extLst>
              <a:ext uri="{FF2B5EF4-FFF2-40B4-BE49-F238E27FC236}">
                <a16:creationId xmlns:a16="http://schemas.microsoft.com/office/drawing/2014/main" id="{EB969539-D28E-0FD3-DAC0-118D6A737B9A}"/>
              </a:ext>
              <a:ext uri="{C183D7F6-B498-43B3-948B-1728B52AA6E4}">
                <adec:decorative xmlns:adec="http://schemas.microsoft.com/office/drawing/2017/decorative" val="0"/>
              </a:ext>
            </a:extLst>
          </p:cNvPr>
          <p:cNvSpPr>
            <a:spLocks/>
          </p:cNvSpPr>
          <p:nvPr/>
        </p:nvSpPr>
        <p:spPr>
          <a:xfrm>
            <a:off x="7377460" y="3131237"/>
            <a:ext cx="1612440" cy="874186"/>
          </a:xfrm>
          <a:prstGeom prst="roundRect">
            <a:avLst>
              <a:gd name="adj" fmla="val 10991"/>
            </a:avLst>
          </a:prstGeom>
          <a:gradFill>
            <a:gsLst>
              <a:gs pos="93000">
                <a:srgbClr val="3C8A94"/>
              </a:gs>
              <a:gs pos="100000">
                <a:srgbClr val="3C8A94"/>
              </a:gs>
              <a:gs pos="0">
                <a:srgbClr val="2A72A7"/>
              </a:gs>
            </a:gsLst>
            <a:lin ang="2700000" scaled="1"/>
          </a:gradFill>
          <a:ln w="26591"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Sans Display Semibold" pitchFamily="2" charset="0"/>
                <a:ea typeface="+mn-ea"/>
                <a:cs typeface="+mn-cs"/>
              </a:rPr>
              <a:t>Project Execution</a:t>
            </a:r>
          </a:p>
        </p:txBody>
      </p:sp>
      <p:sp>
        <p:nvSpPr>
          <p:cNvPr id="30" name="Rectangle: Rounded Corners 29">
            <a:extLst>
              <a:ext uri="{FF2B5EF4-FFF2-40B4-BE49-F238E27FC236}">
                <a16:creationId xmlns:a16="http://schemas.microsoft.com/office/drawing/2014/main" id="{ED5645A0-8D41-705B-7AE2-12F70E03329C}"/>
              </a:ext>
              <a:ext uri="{C183D7F6-B498-43B3-948B-1728B52AA6E4}">
                <adec:decorative xmlns:adec="http://schemas.microsoft.com/office/drawing/2017/decorative" val="0"/>
              </a:ext>
            </a:extLst>
          </p:cNvPr>
          <p:cNvSpPr>
            <a:spLocks/>
          </p:cNvSpPr>
          <p:nvPr/>
        </p:nvSpPr>
        <p:spPr>
          <a:xfrm>
            <a:off x="9253309" y="3131237"/>
            <a:ext cx="1612440" cy="874186"/>
          </a:xfrm>
          <a:prstGeom prst="roundRect">
            <a:avLst>
              <a:gd name="adj" fmla="val 10991"/>
            </a:avLst>
          </a:prstGeom>
          <a:solidFill>
            <a:srgbClr val="3C8A94"/>
          </a:solidFill>
          <a:ln w="26591"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Sans Display Semibold" pitchFamily="2" charset="0"/>
                <a:ea typeface="+mn-ea"/>
                <a:cs typeface="+mn-cs"/>
              </a:rPr>
              <a:t>Validate</a:t>
            </a:r>
          </a:p>
        </p:txBody>
      </p:sp>
      <p:sp>
        <p:nvSpPr>
          <p:cNvPr id="31" name="TextBox 30">
            <a:extLst>
              <a:ext uri="{FF2B5EF4-FFF2-40B4-BE49-F238E27FC236}">
                <a16:creationId xmlns:a16="http://schemas.microsoft.com/office/drawing/2014/main" id="{C3FA85D8-96C9-3929-EA5E-86A4835217B2}"/>
              </a:ext>
            </a:extLst>
          </p:cNvPr>
          <p:cNvSpPr txBox="1"/>
          <p:nvPr/>
        </p:nvSpPr>
        <p:spPr>
          <a:xfrm>
            <a:off x="5432117" y="4453895"/>
            <a:ext cx="1698709" cy="784830"/>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Develop </a:t>
            </a:r>
            <a:r>
              <a:rPr kumimoji="0" lang="en-US" sz="1000" b="0" i="0" u="none" strike="noStrike" kern="1200" cap="none" spc="0" normalizeH="0" baseline="0" noProof="0" dirty="0">
                <a:ln>
                  <a:noFill/>
                </a:ln>
                <a:solidFill>
                  <a:srgbClr val="0078D4"/>
                </a:solidFill>
                <a:effectLst/>
                <a:uLnTx/>
                <a:uFillTx/>
                <a:latin typeface="Segoe Sans Text"/>
                <a:ea typeface="+mn-ea"/>
                <a:cs typeface="Segoe Sans Text" pitchFamily="2" charset="0"/>
              </a:rPr>
              <a:t>modernization plan and overall design</a:t>
            </a:r>
            <a:endParaRPr kumimoji="0" lang="en-US" sz="8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Finalize project execution scope, plan, and RACI</a:t>
            </a: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hlinkClick r:id="rId3" action="ppaction://hlinksldjump"/>
              </a:rPr>
              <a:t> </a:t>
            </a:r>
            <a:endPar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cxnSp>
        <p:nvCxnSpPr>
          <p:cNvPr id="32" name="Straight Arrow Connector 31">
            <a:extLst>
              <a:ext uri="{FF2B5EF4-FFF2-40B4-BE49-F238E27FC236}">
                <a16:creationId xmlns:a16="http://schemas.microsoft.com/office/drawing/2014/main" id="{9855A969-7719-A844-8F72-3527094B80E4}"/>
              </a:ext>
              <a:ext uri="{C183D7F6-B498-43B3-948B-1728B52AA6E4}">
                <adec:decorative xmlns:adec="http://schemas.microsoft.com/office/drawing/2017/decorative" val="1"/>
              </a:ext>
            </a:extLst>
          </p:cNvPr>
          <p:cNvCxnSpPr>
            <a:cxnSpLocks/>
          </p:cNvCxnSpPr>
          <p:nvPr/>
        </p:nvCxnSpPr>
        <p:spPr>
          <a:xfrm flipV="1">
            <a:off x="5317312" y="2874361"/>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F7A1AAB-4834-94CC-5701-596538049744}"/>
              </a:ext>
              <a:ext uri="{C183D7F6-B498-43B3-948B-1728B52AA6E4}">
                <adec:decorative xmlns:adec="http://schemas.microsoft.com/office/drawing/2017/decorative" val="1"/>
              </a:ext>
            </a:extLst>
          </p:cNvPr>
          <p:cNvCxnSpPr>
            <a:cxnSpLocks/>
            <a:stCxn id="28" idx="2"/>
          </p:cNvCxnSpPr>
          <p:nvPr/>
        </p:nvCxnSpPr>
        <p:spPr>
          <a:xfrm>
            <a:off x="6307832" y="4005423"/>
            <a:ext cx="0" cy="438533"/>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3A6F338-3744-ED89-D6A8-9671A8081A44}"/>
              </a:ext>
              <a:ext uri="{C183D7F6-B498-43B3-948B-1728B52AA6E4}">
                <adec:decorative xmlns:adec="http://schemas.microsoft.com/office/drawing/2017/decorative" val="1"/>
              </a:ext>
            </a:extLst>
          </p:cNvPr>
          <p:cNvCxnSpPr>
            <a:cxnSpLocks/>
            <a:stCxn id="29" idx="2"/>
            <a:endCxn id="35" idx="0"/>
          </p:cNvCxnSpPr>
          <p:nvPr/>
        </p:nvCxnSpPr>
        <p:spPr>
          <a:xfrm>
            <a:off x="8183680" y="4005423"/>
            <a:ext cx="0" cy="459470"/>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4EEFCD1-2F23-E838-3EC6-04E405E0F8C9}"/>
              </a:ext>
            </a:extLst>
          </p:cNvPr>
          <p:cNvSpPr txBox="1"/>
          <p:nvPr/>
        </p:nvSpPr>
        <p:spPr>
          <a:xfrm>
            <a:off x="7379008" y="4464893"/>
            <a:ext cx="1609344" cy="553998"/>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78D4"/>
                </a:solidFill>
                <a:effectLst/>
                <a:uLnTx/>
                <a:uFillTx/>
                <a:latin typeface="Segoe Sans Text"/>
                <a:ea typeface="+mn-ea"/>
                <a:cs typeface="Segoe Sans Text" pitchFamily="2" charset="0"/>
              </a:rPr>
              <a:t>Execute</a:t>
            </a: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 the project per the aligned execution plan</a:t>
            </a:r>
            <a:endParaRPr kumimoji="0" lang="en-US" sz="1000" b="0" i="0" u="none" strike="noStrike" kern="1200" cap="none" spc="0" normalizeH="0" baseline="0" noProof="0" dirty="0">
              <a:ln>
                <a:noFill/>
              </a:ln>
              <a:solidFill>
                <a:srgbClr val="0078D4"/>
              </a:solidFill>
              <a:effectLst/>
              <a:uLnTx/>
              <a:uFillTx/>
              <a:latin typeface="Segoe Sans Text"/>
              <a:ea typeface="+mn-ea"/>
              <a:cs typeface="Segoe Sans Text" pitchFamily="2" charset="0"/>
            </a:endParaRPr>
          </a:p>
        </p:txBody>
      </p:sp>
      <p:cxnSp>
        <p:nvCxnSpPr>
          <p:cNvPr id="36" name="Straight Arrow Connector 35">
            <a:extLst>
              <a:ext uri="{FF2B5EF4-FFF2-40B4-BE49-F238E27FC236}">
                <a16:creationId xmlns:a16="http://schemas.microsoft.com/office/drawing/2014/main" id="{7F4CC77C-CCBC-E2A5-46E9-E8918D0DF11F}"/>
              </a:ext>
              <a:ext uri="{C183D7F6-B498-43B3-948B-1728B52AA6E4}">
                <adec:decorative xmlns:adec="http://schemas.microsoft.com/office/drawing/2017/decorative" val="1"/>
              </a:ext>
            </a:extLst>
          </p:cNvPr>
          <p:cNvCxnSpPr>
            <a:cxnSpLocks/>
            <a:stCxn id="30" idx="2"/>
            <a:endCxn id="37" idx="0"/>
          </p:cNvCxnSpPr>
          <p:nvPr/>
        </p:nvCxnSpPr>
        <p:spPr>
          <a:xfrm>
            <a:off x="10059529" y="4005423"/>
            <a:ext cx="0" cy="44847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85F73293-062A-1A36-9D63-84A905C46E01}"/>
              </a:ext>
            </a:extLst>
          </p:cNvPr>
          <p:cNvSpPr txBox="1"/>
          <p:nvPr/>
        </p:nvSpPr>
        <p:spPr>
          <a:xfrm>
            <a:off x="9254857" y="4453895"/>
            <a:ext cx="1609344" cy="707886"/>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Sans Text" pitchFamily="2" charset="0"/>
              </a:rPr>
              <a:t>Perform workload validation and receive final signoff from customer</a:t>
            </a:r>
          </a:p>
        </p:txBody>
      </p:sp>
      <p:sp>
        <p:nvSpPr>
          <p:cNvPr id="39" name="Rectangle: Rounded Corners 38">
            <a:extLst>
              <a:ext uri="{FF2B5EF4-FFF2-40B4-BE49-F238E27FC236}">
                <a16:creationId xmlns:a16="http://schemas.microsoft.com/office/drawing/2014/main" id="{35B35C8B-6385-DE8D-1214-9CF69A35DD4C}"/>
              </a:ext>
              <a:ext uri="{C183D7F6-B498-43B3-948B-1728B52AA6E4}">
                <adec:decorative xmlns:adec="http://schemas.microsoft.com/office/drawing/2017/decorative" val="0"/>
              </a:ext>
            </a:extLst>
          </p:cNvPr>
          <p:cNvSpPr/>
          <p:nvPr/>
        </p:nvSpPr>
        <p:spPr bwMode="auto">
          <a:xfrm>
            <a:off x="3717561" y="5943600"/>
            <a:ext cx="7768519" cy="457200"/>
          </a:xfrm>
          <a:prstGeom prst="roundRect">
            <a:avLst>
              <a:gd name="adj" fmla="val 50000"/>
            </a:avLst>
          </a:prstGeom>
          <a:solidFill>
            <a:srgbClr val="FFFFFF"/>
          </a:solidFill>
          <a:ln>
            <a:gradFill>
              <a:gsLst>
                <a:gs pos="0">
                  <a:srgbClr val="0F74D2"/>
                </a:gs>
                <a:gs pos="51000">
                  <a:srgbClr val="2A72A7"/>
                </a:gs>
                <a:gs pos="100000">
                  <a:srgbClr val="3CB8B7"/>
                </a:gs>
              </a:gsLst>
              <a:lin ang="5400000" scaled="1"/>
            </a:gradFill>
            <a:headEnd type="none" w="med" len="med"/>
            <a:tailEnd type="none" w="med" len="med"/>
          </a:ln>
          <a:effectLst>
            <a:outerShdw blurRad="88900" dist="38100" dir="2700000" algn="ctr"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6868" tIns="43434" rIns="86868" bIns="43434"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3C8A94"/>
                </a:solidFill>
                <a:effectLst/>
                <a:uLnTx/>
                <a:uFillTx/>
                <a:latin typeface="Segoe Sans Display Semibold" pitchFamily="2" charset="0"/>
                <a:ea typeface="Segoe UI" pitchFamily="34" charset="0"/>
                <a:cs typeface="Segoe Sans Text" pitchFamily="2" charset="0"/>
              </a:rPr>
              <a:t>Governed delivery jointly with customer</a:t>
            </a:r>
          </a:p>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Segoe Sans Text"/>
                <a:ea typeface="+mn-ea"/>
                <a:cs typeface="Segoe Sans Text" pitchFamily="2" charset="0"/>
              </a:rPr>
              <a:t>Waves of deployments delivered in 3-to-6-week sprints</a:t>
            </a:r>
            <a:endParaRPr kumimoji="0" lang="en-US" sz="1050" b="0" i="0" u="none" strike="noStrike" kern="1200" cap="none" spc="0" normalizeH="0" baseline="0" noProof="0" dirty="0">
              <a:ln>
                <a:noFill/>
              </a:ln>
              <a:solidFill>
                <a:srgbClr val="000000"/>
              </a:solidFill>
              <a:effectLst/>
              <a:uLnTx/>
              <a:uFillTx/>
              <a:latin typeface="Segoe Sans Text"/>
              <a:ea typeface="Segoe UI" panose="020B0502040204020203" pitchFamily="34" charset="0"/>
              <a:cs typeface="Segoe Sans Text" pitchFamily="2" charset="0"/>
            </a:endParaRPr>
          </a:p>
        </p:txBody>
      </p:sp>
      <p:cxnSp>
        <p:nvCxnSpPr>
          <p:cNvPr id="40" name="Straight Arrow Connector 39">
            <a:extLst>
              <a:ext uri="{FF2B5EF4-FFF2-40B4-BE49-F238E27FC236}">
                <a16:creationId xmlns:a16="http://schemas.microsoft.com/office/drawing/2014/main" id="{5A8800B9-253D-7F2E-D9F4-6A254FDAA907}"/>
              </a:ext>
              <a:ext uri="{C183D7F6-B498-43B3-948B-1728B52AA6E4}">
                <adec:decorative xmlns:adec="http://schemas.microsoft.com/office/drawing/2017/decorative" val="1"/>
              </a:ext>
            </a:extLst>
          </p:cNvPr>
          <p:cNvCxnSpPr>
            <a:cxnSpLocks/>
            <a:stCxn id="42" idx="2"/>
            <a:endCxn id="41" idx="0"/>
          </p:cNvCxnSpPr>
          <p:nvPr/>
        </p:nvCxnSpPr>
        <p:spPr>
          <a:xfrm flipH="1">
            <a:off x="1887757" y="4007494"/>
            <a:ext cx="11671" cy="43646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0F7594F-CEBC-2C76-FBAC-C2F677495DC4}"/>
              </a:ext>
            </a:extLst>
          </p:cNvPr>
          <p:cNvSpPr txBox="1"/>
          <p:nvPr/>
        </p:nvSpPr>
        <p:spPr>
          <a:xfrm>
            <a:off x="931322" y="4443956"/>
            <a:ext cx="1912870" cy="784830"/>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Land Factory details with customer and run Technical scoping sessions </a:t>
            </a: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Assistance with Factory Intake </a:t>
            </a:r>
          </a:p>
        </p:txBody>
      </p:sp>
      <p:sp>
        <p:nvSpPr>
          <p:cNvPr id="42" name="Rectangle: Rounded Corners 41">
            <a:extLst>
              <a:ext uri="{FF2B5EF4-FFF2-40B4-BE49-F238E27FC236}">
                <a16:creationId xmlns:a16="http://schemas.microsoft.com/office/drawing/2014/main" id="{53CAFFA9-A4FF-9C92-D932-95D4EC0E0F74}"/>
              </a:ext>
              <a:ext uri="{C183D7F6-B498-43B3-948B-1728B52AA6E4}">
                <adec:decorative xmlns:adec="http://schemas.microsoft.com/office/drawing/2017/decorative" val="0"/>
              </a:ext>
            </a:extLst>
          </p:cNvPr>
          <p:cNvSpPr>
            <a:spLocks/>
          </p:cNvSpPr>
          <p:nvPr/>
        </p:nvSpPr>
        <p:spPr>
          <a:xfrm>
            <a:off x="1093208" y="3133308"/>
            <a:ext cx="1612440" cy="874186"/>
          </a:xfrm>
          <a:prstGeom prst="roundRect">
            <a:avLst>
              <a:gd name="adj" fmla="val 10991"/>
            </a:avLst>
          </a:prstGeom>
          <a:gradFill>
            <a:gsLst>
              <a:gs pos="0">
                <a:srgbClr val="0078D4"/>
              </a:gs>
              <a:gs pos="51000">
                <a:srgbClr val="2A72A7"/>
              </a:gs>
              <a:gs pos="100000">
                <a:srgbClr val="3C8A94"/>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13716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Segoe Sans Text Semibold"/>
                <a:ea typeface="+mn-ea"/>
                <a:cs typeface="+mn-cs"/>
              </a:rPr>
              <a:t>Factory Concierge Service</a:t>
            </a:r>
          </a:p>
        </p:txBody>
      </p:sp>
      <p:cxnSp>
        <p:nvCxnSpPr>
          <p:cNvPr id="43" name="Straight Arrow Connector 42">
            <a:extLst>
              <a:ext uri="{FF2B5EF4-FFF2-40B4-BE49-F238E27FC236}">
                <a16:creationId xmlns:a16="http://schemas.microsoft.com/office/drawing/2014/main" id="{638A466C-0C11-59DB-E0A4-36DAB1846749}"/>
              </a:ext>
              <a:ext uri="{C183D7F6-B498-43B3-948B-1728B52AA6E4}">
                <adec:decorative xmlns:adec="http://schemas.microsoft.com/office/drawing/2017/decorative" val="1"/>
              </a:ext>
            </a:extLst>
          </p:cNvPr>
          <p:cNvCxnSpPr>
            <a:cxnSpLocks/>
            <a:endCxn id="8" idx="2"/>
          </p:cNvCxnSpPr>
          <p:nvPr/>
        </p:nvCxnSpPr>
        <p:spPr>
          <a:xfrm flipV="1">
            <a:off x="2737402" y="3568330"/>
            <a:ext cx="412926" cy="2071"/>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FC7BAE1-C5A8-DFA3-AB35-2D13B080B58A}"/>
              </a:ext>
              <a:ext uri="{C183D7F6-B498-43B3-948B-1728B52AA6E4}">
                <adec:decorative xmlns:adec="http://schemas.microsoft.com/office/drawing/2017/decorative" val="1"/>
              </a:ext>
            </a:extLst>
          </p:cNvPr>
          <p:cNvCxnSpPr>
            <a:cxnSpLocks/>
          </p:cNvCxnSpPr>
          <p:nvPr/>
        </p:nvCxnSpPr>
        <p:spPr>
          <a:xfrm flipV="1">
            <a:off x="2959074" y="2905132"/>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45" name="Graphic 51" descr="Document outline">
            <a:extLst>
              <a:ext uri="{FF2B5EF4-FFF2-40B4-BE49-F238E27FC236}">
                <a16:creationId xmlns:a16="http://schemas.microsoft.com/office/drawing/2014/main" id="{40BA071C-B693-08A8-5F00-22B9B7A6792A}"/>
              </a:ext>
            </a:extLst>
          </p:cNvPr>
          <p:cNvSpPr>
            <a:spLocks noChangeAspect="1"/>
          </p:cNvSpPr>
          <p:nvPr/>
        </p:nvSpPr>
        <p:spPr>
          <a:xfrm>
            <a:off x="2777260" y="2487566"/>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51000">
                <a:srgbClr val="2A72A7"/>
              </a:gs>
              <a:gs pos="100000">
                <a:srgbClr val="3CB8B7"/>
              </a:gs>
              <a:gs pos="0">
                <a:srgbClr val="0F74D2"/>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46" name="TextBox 45">
            <a:extLst>
              <a:ext uri="{FF2B5EF4-FFF2-40B4-BE49-F238E27FC236}">
                <a16:creationId xmlns:a16="http://schemas.microsoft.com/office/drawing/2014/main" id="{5385F722-0C69-3420-962B-E29904B56C44}"/>
              </a:ext>
            </a:extLst>
          </p:cNvPr>
          <p:cNvSpPr txBox="1"/>
          <p:nvPr/>
        </p:nvSpPr>
        <p:spPr>
          <a:xfrm>
            <a:off x="2180960" y="2106344"/>
            <a:ext cx="1117614"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Implementation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solution</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47" name="Rounded Rectangle 35">
            <a:extLst>
              <a:ext uri="{FF2B5EF4-FFF2-40B4-BE49-F238E27FC236}">
                <a16:creationId xmlns:a16="http://schemas.microsoft.com/office/drawing/2014/main" id="{EF37CE7F-6812-6015-BB6D-FD6CBB3F53B4}"/>
              </a:ext>
              <a:ext uri="{C183D7F6-B498-43B3-948B-1728B52AA6E4}">
                <adec:decorative xmlns:adec="http://schemas.microsoft.com/office/drawing/2017/decorative" val="1"/>
              </a:ext>
            </a:extLst>
          </p:cNvPr>
          <p:cNvSpPr>
            <a:spLocks/>
          </p:cNvSpPr>
          <p:nvPr/>
        </p:nvSpPr>
        <p:spPr bwMode="auto">
          <a:xfrm>
            <a:off x="706449" y="1775702"/>
            <a:ext cx="2489920" cy="3839035"/>
          </a:xfrm>
          <a:prstGeom prst="roundRect">
            <a:avLst>
              <a:gd name="adj" fmla="val 993"/>
            </a:avLst>
          </a:prstGeom>
          <a:noFill/>
          <a:ln w="19050" cap="rnd" cmpd="sng" algn="ctr">
            <a:gradFill>
              <a:gsLst>
                <a:gs pos="0">
                  <a:srgbClr val="0F74D2"/>
                </a:gs>
                <a:gs pos="51000">
                  <a:srgbClr val="2A72A7"/>
                </a:gs>
                <a:gs pos="100000">
                  <a:srgbClr val="3C8A94"/>
                </a:gs>
              </a:gsLst>
              <a:lin ang="5400000" scaled="1"/>
            </a:gradFill>
            <a:prstDash val="dash"/>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Sans Display Semibold" pitchFamily="2" charset="0"/>
              <a:ea typeface="+mn-ea"/>
              <a:cs typeface="Segoe Sans Text" pitchFamily="2" charset="0"/>
            </a:endParaRPr>
          </a:p>
        </p:txBody>
      </p:sp>
      <p:sp>
        <p:nvSpPr>
          <p:cNvPr id="48" name="Rectangle: Rounded Corners 47">
            <a:extLst>
              <a:ext uri="{FF2B5EF4-FFF2-40B4-BE49-F238E27FC236}">
                <a16:creationId xmlns:a16="http://schemas.microsoft.com/office/drawing/2014/main" id="{D0B4A805-C29D-2E30-C2FE-20A5767F5FA2}"/>
              </a:ext>
              <a:ext uri="{C183D7F6-B498-43B3-948B-1728B52AA6E4}">
                <adec:decorative xmlns:adec="http://schemas.microsoft.com/office/drawing/2017/decorative" val="0"/>
              </a:ext>
            </a:extLst>
          </p:cNvPr>
          <p:cNvSpPr/>
          <p:nvPr/>
        </p:nvSpPr>
        <p:spPr bwMode="auto">
          <a:xfrm>
            <a:off x="705919" y="5953900"/>
            <a:ext cx="2592655" cy="457200"/>
          </a:xfrm>
          <a:prstGeom prst="roundRect">
            <a:avLst>
              <a:gd name="adj" fmla="val 50000"/>
            </a:avLst>
          </a:prstGeom>
          <a:solidFill>
            <a:srgbClr val="FFFFFF"/>
          </a:solidFill>
          <a:ln>
            <a:gradFill>
              <a:gsLst>
                <a:gs pos="0">
                  <a:srgbClr val="0F74D2"/>
                </a:gs>
                <a:gs pos="51000">
                  <a:srgbClr val="2A72A7"/>
                </a:gs>
                <a:gs pos="100000">
                  <a:srgbClr val="3CB8B7"/>
                </a:gs>
              </a:gsLst>
              <a:lin ang="5400000" scaled="1"/>
            </a:gradFill>
            <a:headEnd type="none" w="med" len="med"/>
            <a:tailEnd type="none" w="med" len="med"/>
          </a:ln>
          <a:effectLst>
            <a:outerShdw blurRad="88900" dist="38100" dir="2700000" algn="ctr"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6868" tIns="43434" rIns="86868" bIns="43434"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0F74D2"/>
                </a:solidFill>
                <a:effectLst/>
                <a:uLnTx/>
                <a:uFillTx/>
                <a:latin typeface="Segoe Sans Display Semibold" pitchFamily="2" charset="0"/>
                <a:ea typeface="+mn-ea"/>
                <a:cs typeface="Segoe Sans Text" pitchFamily="2" charset="0"/>
              </a:rPr>
              <a:t>10 days – Target timeline to complete scoping and approved nomination</a:t>
            </a:r>
          </a:p>
        </p:txBody>
      </p:sp>
      <p:sp>
        <p:nvSpPr>
          <p:cNvPr id="49" name="TextBox 48">
            <a:extLst>
              <a:ext uri="{FF2B5EF4-FFF2-40B4-BE49-F238E27FC236}">
                <a16:creationId xmlns:a16="http://schemas.microsoft.com/office/drawing/2014/main" id="{E672319D-083F-5076-1F9B-DE8E28FA4240}"/>
              </a:ext>
            </a:extLst>
          </p:cNvPr>
          <p:cNvSpPr txBox="1"/>
          <p:nvPr/>
        </p:nvSpPr>
        <p:spPr>
          <a:xfrm>
            <a:off x="5922183" y="1493253"/>
            <a:ext cx="2332809"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Segoe Sans Text"/>
                <a:ea typeface="+mn-ea"/>
                <a:cs typeface="+mn-cs"/>
              </a:rPr>
              <a:t>Project Delivery</a:t>
            </a:r>
          </a:p>
        </p:txBody>
      </p:sp>
      <p:sp>
        <p:nvSpPr>
          <p:cNvPr id="50" name="TextBox 49">
            <a:extLst>
              <a:ext uri="{FF2B5EF4-FFF2-40B4-BE49-F238E27FC236}">
                <a16:creationId xmlns:a16="http://schemas.microsoft.com/office/drawing/2014/main" id="{B5B01D82-109C-8E30-0F2F-E2095F33E08F}"/>
              </a:ext>
            </a:extLst>
          </p:cNvPr>
          <p:cNvSpPr txBox="1"/>
          <p:nvPr/>
        </p:nvSpPr>
        <p:spPr>
          <a:xfrm>
            <a:off x="962949" y="1492959"/>
            <a:ext cx="2332809"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Segoe Sans Text"/>
                <a:ea typeface="+mn-ea"/>
                <a:cs typeface="+mn-cs"/>
              </a:rPr>
              <a:t>Project qualification</a:t>
            </a:r>
          </a:p>
        </p:txBody>
      </p:sp>
      <p:sp>
        <p:nvSpPr>
          <p:cNvPr id="51" name="Rectangle: Rounded Corners 50">
            <a:extLst>
              <a:ext uri="{FF2B5EF4-FFF2-40B4-BE49-F238E27FC236}">
                <a16:creationId xmlns:a16="http://schemas.microsoft.com/office/drawing/2014/main" id="{FB5C57FB-35E6-AE0F-BF7B-5F2AFE6A98E5}"/>
              </a:ext>
            </a:extLst>
          </p:cNvPr>
          <p:cNvSpPr/>
          <p:nvPr/>
        </p:nvSpPr>
        <p:spPr bwMode="auto">
          <a:xfrm>
            <a:off x="1141357" y="2540344"/>
            <a:ext cx="1492799" cy="423383"/>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hlinkClick r:id="rId4">
                  <a:extLst>
                    <a:ext uri="{A12FA001-AC4F-418D-AE19-62706E023703}">
                      <ahyp:hlinkClr xmlns:ahyp="http://schemas.microsoft.com/office/drawing/2018/hyperlinkcolor" val="tx"/>
                    </a:ext>
                  </a:extLst>
                </a:hlinkClick>
              </a:rPr>
              <a:t>Factory Nomination </a:t>
            </a:r>
            <a:r>
              <a:rPr kumimoji="0" lang="en-US" sz="9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rPr>
              <a:t>against a qualified MSX pipeline</a:t>
            </a:r>
          </a:p>
        </p:txBody>
      </p:sp>
      <p:cxnSp>
        <p:nvCxnSpPr>
          <p:cNvPr id="52" name="Straight Arrow Connector 51">
            <a:extLst>
              <a:ext uri="{FF2B5EF4-FFF2-40B4-BE49-F238E27FC236}">
                <a16:creationId xmlns:a16="http://schemas.microsoft.com/office/drawing/2014/main" id="{46CCB289-9166-3CAB-2A71-ACF8027475AC}"/>
              </a:ext>
            </a:extLst>
          </p:cNvPr>
          <p:cNvCxnSpPr>
            <a:endCxn id="42" idx="0"/>
          </p:cNvCxnSpPr>
          <p:nvPr/>
        </p:nvCxnSpPr>
        <p:spPr>
          <a:xfrm>
            <a:off x="1899428" y="2976806"/>
            <a:ext cx="0" cy="15650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E36DED46-44F6-A5AD-E42B-F3B3C724EC54}"/>
              </a:ext>
            </a:extLst>
          </p:cNvPr>
          <p:cNvSpPr/>
          <p:nvPr/>
        </p:nvSpPr>
        <p:spPr>
          <a:xfrm>
            <a:off x="3442653" y="1797264"/>
            <a:ext cx="7906710" cy="290861"/>
          </a:xfrm>
          <a:prstGeom prst="roundRect">
            <a:avLst/>
          </a:prstGeom>
          <a:solidFill>
            <a:srgbClr val="0F74D2"/>
          </a:solid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Sans Text Semibold"/>
                <a:ea typeface="+mn-ea"/>
                <a:cs typeface="+mn-cs"/>
              </a:rPr>
              <a:t>Overall program governance, change management, communication management owned by Factory</a:t>
            </a:r>
          </a:p>
        </p:txBody>
      </p:sp>
      <p:grpSp>
        <p:nvGrpSpPr>
          <p:cNvPr id="7" name="Group 6">
            <a:extLst>
              <a:ext uri="{FF2B5EF4-FFF2-40B4-BE49-F238E27FC236}">
                <a16:creationId xmlns:a16="http://schemas.microsoft.com/office/drawing/2014/main" id="{4425D140-DC9E-5C24-7704-CD34D49AACF7}"/>
              </a:ext>
              <a:ext uri="{C183D7F6-B498-43B3-948B-1728B52AA6E4}">
                <adec:decorative xmlns:adec="http://schemas.microsoft.com/office/drawing/2017/decorative" val="1"/>
              </a:ext>
            </a:extLst>
          </p:cNvPr>
          <p:cNvGrpSpPr/>
          <p:nvPr/>
        </p:nvGrpSpPr>
        <p:grpSpPr>
          <a:xfrm>
            <a:off x="3150328" y="3422899"/>
            <a:ext cx="290861" cy="290861"/>
            <a:chOff x="1689338" y="3281234"/>
            <a:chExt cx="290861" cy="290861"/>
          </a:xfrm>
        </p:grpSpPr>
        <p:sp>
          <p:nvSpPr>
            <p:cNvPr id="8" name="Oval 7">
              <a:extLst>
                <a:ext uri="{FF2B5EF4-FFF2-40B4-BE49-F238E27FC236}">
                  <a16:creationId xmlns:a16="http://schemas.microsoft.com/office/drawing/2014/main" id="{37DA0F27-938E-D1B2-42C2-21D0020F66E6}"/>
                </a:ext>
                <a:ext uri="{C183D7F6-B498-43B3-948B-1728B52AA6E4}">
                  <adec:decorative xmlns:adec="http://schemas.microsoft.com/office/drawing/2017/decorative" val="1"/>
                </a:ext>
              </a:extLst>
            </p:cNvPr>
            <p:cNvSpPr/>
            <p:nvPr/>
          </p:nvSpPr>
          <p:spPr bwMode="auto">
            <a:xfrm>
              <a:off x="1689338" y="3281234"/>
              <a:ext cx="290861" cy="290861"/>
            </a:xfrm>
            <a:prstGeom prst="ellipse">
              <a:avLst/>
            </a:prstGeom>
            <a:solidFill>
              <a:srgbClr val="FFFFFF"/>
            </a:solidFill>
            <a:ln w="38100">
              <a:noFill/>
              <a:headEnd type="none" w="med" len="med"/>
              <a:tailEnd type="none" w="med" len="med"/>
            </a:ln>
            <a:effectLst>
              <a:outerShdw blurRad="88900" dist="38100" dir="2700000" algn="t"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endParaRPr kumimoji="0" lang="en-US" sz="2660" b="1" i="0" u="none" strike="noStrike" kern="1200" cap="none" spc="0" normalizeH="0" baseline="0" noProof="0" dirty="0">
                <a:ln>
                  <a:noFill/>
                </a:ln>
                <a:solidFill>
                  <a:srgbClr val="0078D4"/>
                </a:solidFill>
                <a:effectLst/>
                <a:uLnTx/>
                <a:uFillTx/>
                <a:latin typeface="Segoe Sans Text" pitchFamily="2" charset="0"/>
                <a:ea typeface="+mn-ea"/>
                <a:cs typeface="Segoe Sans Text" pitchFamily="2" charset="0"/>
              </a:endParaRPr>
            </a:p>
          </p:txBody>
        </p:sp>
        <p:sp>
          <p:nvSpPr>
            <p:cNvPr id="9" name="Graphic 132">
              <a:extLst>
                <a:ext uri="{FF2B5EF4-FFF2-40B4-BE49-F238E27FC236}">
                  <a16:creationId xmlns:a16="http://schemas.microsoft.com/office/drawing/2014/main" id="{E1C2ED2A-0365-FE51-048D-9EE9BFE1D892}"/>
                </a:ext>
              </a:extLst>
            </p:cNvPr>
            <p:cNvSpPr/>
            <p:nvPr/>
          </p:nvSpPr>
          <p:spPr>
            <a:xfrm>
              <a:off x="1739518" y="3331415"/>
              <a:ext cx="190500" cy="190499"/>
            </a:xfrm>
            <a:custGeom>
              <a:avLst/>
              <a:gdLst>
                <a:gd name="connsiteX0" fmla="*/ 95250 w 190500"/>
                <a:gd name="connsiteY0" fmla="*/ 0 h 190499"/>
                <a:gd name="connsiteX1" fmla="*/ 190500 w 190500"/>
                <a:gd name="connsiteY1" fmla="*/ 95250 h 190499"/>
                <a:gd name="connsiteX2" fmla="*/ 95250 w 190500"/>
                <a:gd name="connsiteY2" fmla="*/ 190500 h 190499"/>
                <a:gd name="connsiteX3" fmla="*/ 0 w 190500"/>
                <a:gd name="connsiteY3" fmla="*/ 95250 h 190499"/>
                <a:gd name="connsiteX4" fmla="*/ 95250 w 190500"/>
                <a:gd name="connsiteY4" fmla="*/ 0 h 190499"/>
                <a:gd name="connsiteX5" fmla="*/ 102689 w 190500"/>
                <a:gd name="connsiteY5" fmla="*/ 52092 h 190499"/>
                <a:gd name="connsiteX6" fmla="*/ 101889 w 190500"/>
                <a:gd name="connsiteY6" fmla="*/ 51397 h 190499"/>
                <a:gd name="connsiteX7" fmla="*/ 93478 w 190500"/>
                <a:gd name="connsiteY7" fmla="*/ 51330 h 190499"/>
                <a:gd name="connsiteX8" fmla="*/ 92583 w 190500"/>
                <a:gd name="connsiteY8" fmla="*/ 52092 h 190499"/>
                <a:gd name="connsiteX9" fmla="*/ 91897 w 190500"/>
                <a:gd name="connsiteY9" fmla="*/ 52892 h 190499"/>
                <a:gd name="connsiteX10" fmla="*/ 91831 w 190500"/>
                <a:gd name="connsiteY10" fmla="*/ 61303 h 190499"/>
                <a:gd name="connsiteX11" fmla="*/ 92593 w 190500"/>
                <a:gd name="connsiteY11" fmla="*/ 62198 h 190499"/>
                <a:gd name="connsiteX12" fmla="*/ 118491 w 190500"/>
                <a:gd name="connsiteY12" fmla="*/ 88106 h 190499"/>
                <a:gd name="connsiteX13" fmla="*/ 54769 w 190500"/>
                <a:gd name="connsiteY13" fmla="*/ 88106 h 190499"/>
                <a:gd name="connsiteX14" fmla="*/ 53797 w 190500"/>
                <a:gd name="connsiteY14" fmla="*/ 88163 h 190499"/>
                <a:gd name="connsiteX15" fmla="*/ 47692 w 190500"/>
                <a:gd name="connsiteY15" fmla="*/ 94278 h 190499"/>
                <a:gd name="connsiteX16" fmla="*/ 47625 w 190500"/>
                <a:gd name="connsiteY16" fmla="*/ 95240 h 190499"/>
                <a:gd name="connsiteX17" fmla="*/ 47692 w 190500"/>
                <a:gd name="connsiteY17" fmla="*/ 96212 h 190499"/>
                <a:gd name="connsiteX18" fmla="*/ 53797 w 190500"/>
                <a:gd name="connsiteY18" fmla="*/ 102318 h 190499"/>
                <a:gd name="connsiteX19" fmla="*/ 54769 w 190500"/>
                <a:gd name="connsiteY19" fmla="*/ 102384 h 190499"/>
                <a:gd name="connsiteX20" fmla="*/ 118491 w 190500"/>
                <a:gd name="connsiteY20" fmla="*/ 102384 h 190499"/>
                <a:gd name="connsiteX21" fmla="*/ 92583 w 190500"/>
                <a:gd name="connsiteY21" fmla="*/ 128292 h 190499"/>
                <a:gd name="connsiteX22" fmla="*/ 91888 w 190500"/>
                <a:gd name="connsiteY22" fmla="*/ 129102 h 190499"/>
                <a:gd name="connsiteX23" fmla="*/ 93316 w 190500"/>
                <a:gd name="connsiteY23" fmla="*/ 139103 h 190499"/>
                <a:gd name="connsiteX24" fmla="*/ 101889 w 190500"/>
                <a:gd name="connsiteY24" fmla="*/ 139103 h 190499"/>
                <a:gd name="connsiteX25" fmla="*/ 102680 w 190500"/>
                <a:gd name="connsiteY25" fmla="*/ 138408 h 190499"/>
                <a:gd name="connsiteX26" fmla="*/ 140799 w 190500"/>
                <a:gd name="connsiteY26" fmla="*/ 100308 h 190499"/>
                <a:gd name="connsiteX27" fmla="*/ 141484 w 190500"/>
                <a:gd name="connsiteY27" fmla="*/ 99498 h 190499"/>
                <a:gd name="connsiteX28" fmla="*/ 141561 w 190500"/>
                <a:gd name="connsiteY28" fmla="*/ 91097 h 190499"/>
                <a:gd name="connsiteX29" fmla="*/ 140799 w 190500"/>
                <a:gd name="connsiteY29" fmla="*/ 90202 h 190499"/>
                <a:gd name="connsiteX30" fmla="*/ 102699 w 190500"/>
                <a:gd name="connsiteY30" fmla="*/ 52092 h 190499"/>
                <a:gd name="connsiteX31" fmla="*/ 101889 w 190500"/>
                <a:gd name="connsiteY31" fmla="*/ 51397 h 190499"/>
                <a:gd name="connsiteX32" fmla="*/ 102689 w 190500"/>
                <a:gd name="connsiteY32" fmla="*/ 5209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90499">
                  <a:moveTo>
                    <a:pt x="95250" y="0"/>
                  </a:moveTo>
                  <a:cubicBezTo>
                    <a:pt x="147866" y="0"/>
                    <a:pt x="190500" y="42643"/>
                    <a:pt x="190500" y="95250"/>
                  </a:cubicBezTo>
                  <a:cubicBezTo>
                    <a:pt x="190500" y="147857"/>
                    <a:pt x="147866" y="190500"/>
                    <a:pt x="95250" y="190500"/>
                  </a:cubicBezTo>
                  <a:cubicBezTo>
                    <a:pt x="42653" y="190500"/>
                    <a:pt x="0" y="147857"/>
                    <a:pt x="0" y="95250"/>
                  </a:cubicBezTo>
                  <a:cubicBezTo>
                    <a:pt x="0" y="42643"/>
                    <a:pt x="42653" y="0"/>
                    <a:pt x="95250" y="0"/>
                  </a:cubicBezTo>
                  <a:close/>
                  <a:moveTo>
                    <a:pt x="102689" y="52092"/>
                  </a:moveTo>
                  <a:lnTo>
                    <a:pt x="101889" y="51397"/>
                  </a:lnTo>
                  <a:cubicBezTo>
                    <a:pt x="99397" y="49552"/>
                    <a:pt x="95999" y="49525"/>
                    <a:pt x="93478" y="51330"/>
                  </a:cubicBezTo>
                  <a:lnTo>
                    <a:pt x="92583" y="52092"/>
                  </a:lnTo>
                  <a:lnTo>
                    <a:pt x="91897" y="52892"/>
                  </a:lnTo>
                  <a:cubicBezTo>
                    <a:pt x="90052" y="55384"/>
                    <a:pt x="90025" y="58782"/>
                    <a:pt x="91831" y="61303"/>
                  </a:cubicBezTo>
                  <a:lnTo>
                    <a:pt x="92593" y="62198"/>
                  </a:lnTo>
                  <a:lnTo>
                    <a:pt x="118491" y="88106"/>
                  </a:lnTo>
                  <a:lnTo>
                    <a:pt x="54769" y="88106"/>
                  </a:lnTo>
                  <a:lnTo>
                    <a:pt x="53797" y="88163"/>
                  </a:lnTo>
                  <a:cubicBezTo>
                    <a:pt x="50620" y="88600"/>
                    <a:pt x="48124" y="91101"/>
                    <a:pt x="47692" y="94278"/>
                  </a:cubicBezTo>
                  <a:lnTo>
                    <a:pt x="47625" y="95240"/>
                  </a:lnTo>
                  <a:lnTo>
                    <a:pt x="47692" y="96212"/>
                  </a:lnTo>
                  <a:cubicBezTo>
                    <a:pt x="48128" y="99386"/>
                    <a:pt x="50623" y="101882"/>
                    <a:pt x="53797" y="102318"/>
                  </a:cubicBezTo>
                  <a:lnTo>
                    <a:pt x="54769" y="102384"/>
                  </a:lnTo>
                  <a:lnTo>
                    <a:pt x="118491" y="102384"/>
                  </a:lnTo>
                  <a:lnTo>
                    <a:pt x="92583" y="128292"/>
                  </a:lnTo>
                  <a:lnTo>
                    <a:pt x="91888" y="129102"/>
                  </a:lnTo>
                  <a:cubicBezTo>
                    <a:pt x="89520" y="132258"/>
                    <a:pt x="90160" y="136736"/>
                    <a:pt x="93316" y="139103"/>
                  </a:cubicBezTo>
                  <a:cubicBezTo>
                    <a:pt x="95856" y="141008"/>
                    <a:pt x="99349" y="141008"/>
                    <a:pt x="101889" y="139103"/>
                  </a:cubicBezTo>
                  <a:lnTo>
                    <a:pt x="102680" y="138408"/>
                  </a:lnTo>
                  <a:lnTo>
                    <a:pt x="140799" y="100308"/>
                  </a:lnTo>
                  <a:lnTo>
                    <a:pt x="141484" y="99498"/>
                  </a:lnTo>
                  <a:cubicBezTo>
                    <a:pt x="143328" y="97010"/>
                    <a:pt x="143359" y="93618"/>
                    <a:pt x="141561" y="91097"/>
                  </a:cubicBezTo>
                  <a:lnTo>
                    <a:pt x="140799" y="90202"/>
                  </a:lnTo>
                  <a:lnTo>
                    <a:pt x="102699" y="52092"/>
                  </a:lnTo>
                  <a:lnTo>
                    <a:pt x="101889" y="51397"/>
                  </a:lnTo>
                  <a:lnTo>
                    <a:pt x="102689" y="52092"/>
                  </a:lnTo>
                  <a:close/>
                </a:path>
              </a:pathLst>
            </a:custGeom>
            <a:gradFill>
              <a:gsLst>
                <a:gs pos="51000">
                  <a:srgbClr val="2A72A7"/>
                </a:gs>
                <a:gs pos="100000">
                  <a:srgbClr val="3CB8B7"/>
                </a:gs>
                <a:gs pos="0">
                  <a:srgbClr val="0F74D2"/>
                </a:gs>
              </a:gsLst>
              <a:path path="circle">
                <a:fillToRect l="100000" t="100000"/>
              </a:path>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endParaRPr kumimoji="0" lang="en-US" sz="2660" b="1" i="0" u="none" strike="noStrike" kern="1200" cap="none" spc="0" normalizeH="0" baseline="0" noProof="0" dirty="0">
                <a:ln>
                  <a:noFill/>
                </a:ln>
                <a:solidFill>
                  <a:srgbClr val="0078D4"/>
                </a:solidFill>
                <a:effectLst/>
                <a:uLnTx/>
                <a:uFillTx/>
                <a:latin typeface="Segoe Sans Text" pitchFamily="2" charset="0"/>
                <a:ea typeface="+mn-ea"/>
                <a:cs typeface="Segoe Sans Text" pitchFamily="2" charset="0"/>
              </a:endParaRPr>
            </a:p>
          </p:txBody>
        </p:sp>
      </p:grpSp>
    </p:spTree>
    <p:extLst>
      <p:ext uri="{BB962C8B-B14F-4D97-AF65-F5344CB8AC3E}">
        <p14:creationId xmlns:p14="http://schemas.microsoft.com/office/powerpoint/2010/main" val="3493892997"/>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D3778-B314-13E7-55BF-D8668FBD7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8B138-C2D3-CB23-B2AC-954FDDE4F576}"/>
              </a:ext>
            </a:extLst>
          </p:cNvPr>
          <p:cNvSpPr>
            <a:spLocks noGrp="1"/>
          </p:cNvSpPr>
          <p:nvPr>
            <p:ph type="title"/>
          </p:nvPr>
        </p:nvSpPr>
        <p:spPr>
          <a:xfrm>
            <a:off x="600349" y="358902"/>
            <a:ext cx="11243332" cy="707886"/>
          </a:xfrm>
        </p:spPr>
        <p:txBody>
          <a:bodyPr/>
          <a:lstStyle/>
          <a:p>
            <a:r>
              <a:rPr lang="en-US" sz="2800" noProof="0" dirty="0"/>
              <a:t>Factory Operating Model </a:t>
            </a:r>
            <a:br>
              <a:rPr lang="en-US" sz="2800" noProof="0" dirty="0"/>
            </a:br>
            <a:r>
              <a:rPr kumimoji="0" lang="en-US" sz="1800" b="0" i="0" u="none" strike="noStrike" kern="1200" cap="none" spc="-50" normalizeH="0" baseline="0" noProof="0" dirty="0">
                <a:ln w="3175">
                  <a:noFill/>
                </a:ln>
                <a:solidFill>
                  <a:srgbClr val="000000"/>
                </a:solidFill>
                <a:effectLst/>
                <a:uLnTx/>
                <a:uFillTx/>
                <a:latin typeface="Segoe Sans Text Semibold"/>
                <a:ea typeface="+mn-ea"/>
                <a:cs typeface="Segoe UI" pitchFamily="34" charset="0"/>
              </a:rPr>
              <a:t>(Scope 2)</a:t>
            </a:r>
            <a:endParaRPr lang="en-US" sz="2400" noProof="0" dirty="0"/>
          </a:p>
        </p:txBody>
      </p:sp>
      <p:sp>
        <p:nvSpPr>
          <p:cNvPr id="3" name="Rectangle: Rounded Corners 2">
            <a:extLst>
              <a:ext uri="{FF2B5EF4-FFF2-40B4-BE49-F238E27FC236}">
                <a16:creationId xmlns:a16="http://schemas.microsoft.com/office/drawing/2014/main" id="{F2A8C19B-933C-D884-03FC-9A4D59988EAF}"/>
              </a:ext>
              <a:ext uri="{C183D7F6-B498-43B3-948B-1728B52AA6E4}">
                <adec:decorative xmlns:adec="http://schemas.microsoft.com/office/drawing/2017/decorative" val="1"/>
              </a:ext>
            </a:extLst>
          </p:cNvPr>
          <p:cNvSpPr>
            <a:spLocks/>
          </p:cNvSpPr>
          <p:nvPr/>
        </p:nvSpPr>
        <p:spPr bwMode="auto">
          <a:xfrm>
            <a:off x="600349" y="1216877"/>
            <a:ext cx="11017249" cy="4887264"/>
          </a:xfrm>
          <a:prstGeom prst="roundRect">
            <a:avLst>
              <a:gd name="adj" fmla="val 3099"/>
            </a:avLst>
          </a:prstGeom>
          <a:solidFill>
            <a:srgbClr val="F4F4F6">
              <a:alpha val="80000"/>
            </a:srgbClr>
          </a:solidFill>
          <a:ln w="9525">
            <a:solidFill>
              <a:srgbClr val="FFFFFF"/>
            </a:solidFill>
            <a:miter lim="400000"/>
          </a:ln>
          <a:effectLst/>
        </p:spPr>
        <p:txBody>
          <a:bodyPr wrap="none" lIns="0" tIns="0" rIns="0" bIns="0" rtlCol="0" anchor="ctr"/>
          <a:lstStyle/>
          <a:p>
            <a:pPr marL="0" marR="0" lvl="0" indent="0" algn="ctr" defTabSz="932563" rtl="0" eaLnBrk="1" fontAlgn="auto" latinLnBrk="0" hangingPunct="1">
              <a:lnSpc>
                <a:spcPct val="100000"/>
              </a:lnSpc>
              <a:spcBef>
                <a:spcPts val="400"/>
              </a:spcBef>
              <a:spcAft>
                <a:spcPts val="0"/>
              </a:spcAft>
              <a:buClrTx/>
              <a:buSzPct val="90000"/>
              <a:buFontTx/>
              <a:buNone/>
              <a:tabLst/>
              <a:defRPr/>
            </a:pPr>
            <a:endParaRPr kumimoji="0" lang="en-US" sz="105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endParaRPr>
          </a:p>
        </p:txBody>
      </p:sp>
      <p:sp>
        <p:nvSpPr>
          <p:cNvPr id="4" name="Rounded Rectangle 35">
            <a:extLst>
              <a:ext uri="{FF2B5EF4-FFF2-40B4-BE49-F238E27FC236}">
                <a16:creationId xmlns:a16="http://schemas.microsoft.com/office/drawing/2014/main" id="{27F7F666-0E1F-DB2E-7BFB-A8002104CFD5}"/>
              </a:ext>
              <a:ext uri="{C183D7F6-B498-43B3-948B-1728B52AA6E4}">
                <adec:decorative xmlns:adec="http://schemas.microsoft.com/office/drawing/2017/decorative" val="1"/>
              </a:ext>
            </a:extLst>
          </p:cNvPr>
          <p:cNvSpPr>
            <a:spLocks/>
          </p:cNvSpPr>
          <p:nvPr/>
        </p:nvSpPr>
        <p:spPr bwMode="auto">
          <a:xfrm>
            <a:off x="3254370" y="1668301"/>
            <a:ext cx="8261509" cy="4069621"/>
          </a:xfrm>
          <a:prstGeom prst="roundRect">
            <a:avLst>
              <a:gd name="adj" fmla="val 3624"/>
            </a:avLst>
          </a:prstGeom>
          <a:gradFill>
            <a:gsLst>
              <a:gs pos="0">
                <a:schemeClr val="bg1"/>
              </a:gs>
              <a:gs pos="100000">
                <a:schemeClr val="tx2">
                  <a:lumMod val="20000"/>
                  <a:lumOff val="80000"/>
                  <a:alpha val="19000"/>
                </a:schemeClr>
              </a:gs>
            </a:gsLst>
            <a:lin ang="8100000" scaled="0"/>
          </a:gradFill>
          <a:ln w="9525">
            <a:solidFill>
              <a:srgbClr val="FFFFFF"/>
            </a:solidFill>
          </a:ln>
        </p:spPr>
        <p:style>
          <a:lnRef idx="0">
            <a:scrgbClr r="0" g="0" b="0"/>
          </a:lnRef>
          <a:fillRef idx="0">
            <a:scrgbClr r="0" g="0" b="0"/>
          </a:fillRef>
          <a:effectRef idx="0">
            <a:scrgbClr r="0" g="0" b="0"/>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pitchFamily="2" charset="0"/>
            </a:endParaRPr>
          </a:p>
        </p:txBody>
      </p:sp>
      <p:sp>
        <p:nvSpPr>
          <p:cNvPr id="5" name="Rounded Rectangle 35">
            <a:extLst>
              <a:ext uri="{FF2B5EF4-FFF2-40B4-BE49-F238E27FC236}">
                <a16:creationId xmlns:a16="http://schemas.microsoft.com/office/drawing/2014/main" id="{A6890637-5BC9-89F4-2C35-4E1DACC70E05}"/>
              </a:ext>
              <a:ext uri="{C183D7F6-B498-43B3-948B-1728B52AA6E4}">
                <adec:decorative xmlns:adec="http://schemas.microsoft.com/office/drawing/2017/decorative" val="1"/>
              </a:ext>
            </a:extLst>
          </p:cNvPr>
          <p:cNvSpPr>
            <a:spLocks/>
          </p:cNvSpPr>
          <p:nvPr/>
        </p:nvSpPr>
        <p:spPr bwMode="auto">
          <a:xfrm>
            <a:off x="3366336" y="1782866"/>
            <a:ext cx="8037576" cy="3840491"/>
          </a:xfrm>
          <a:prstGeom prst="roundRect">
            <a:avLst>
              <a:gd name="adj" fmla="val 993"/>
            </a:avLst>
          </a:prstGeom>
          <a:noFill/>
          <a:ln w="19050" cap="rnd" cmpd="sng" algn="ctr">
            <a:solidFill>
              <a:schemeClr val="tx2"/>
            </a:solidFill>
            <a:prstDash val="dash"/>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Sans Display Semibold" pitchFamily="2" charset="0"/>
              <a:ea typeface="+mn-ea"/>
              <a:cs typeface="Segoe Sans Text" pitchFamily="2" charset="0"/>
            </a:endParaRPr>
          </a:p>
        </p:txBody>
      </p:sp>
      <p:grpSp>
        <p:nvGrpSpPr>
          <p:cNvPr id="7" name="Group 6">
            <a:extLst>
              <a:ext uri="{FF2B5EF4-FFF2-40B4-BE49-F238E27FC236}">
                <a16:creationId xmlns:a16="http://schemas.microsoft.com/office/drawing/2014/main" id="{185E2F20-3E03-55F3-0B14-31A93A40B83C}"/>
              </a:ext>
              <a:ext uri="{C183D7F6-B498-43B3-948B-1728B52AA6E4}">
                <adec:decorative xmlns:adec="http://schemas.microsoft.com/office/drawing/2017/decorative" val="1"/>
              </a:ext>
            </a:extLst>
          </p:cNvPr>
          <p:cNvGrpSpPr/>
          <p:nvPr/>
        </p:nvGrpSpPr>
        <p:grpSpPr>
          <a:xfrm>
            <a:off x="3150328" y="3422899"/>
            <a:ext cx="290861" cy="290861"/>
            <a:chOff x="1689338" y="3281234"/>
            <a:chExt cx="290861" cy="290861"/>
          </a:xfrm>
        </p:grpSpPr>
        <p:sp>
          <p:nvSpPr>
            <p:cNvPr id="8" name="Oval 7">
              <a:extLst>
                <a:ext uri="{FF2B5EF4-FFF2-40B4-BE49-F238E27FC236}">
                  <a16:creationId xmlns:a16="http://schemas.microsoft.com/office/drawing/2014/main" id="{78252B27-3CD8-2CF1-0D21-D69B8F175CE3}"/>
                </a:ext>
                <a:ext uri="{C183D7F6-B498-43B3-948B-1728B52AA6E4}">
                  <adec:decorative xmlns:adec="http://schemas.microsoft.com/office/drawing/2017/decorative" val="1"/>
                </a:ext>
              </a:extLst>
            </p:cNvPr>
            <p:cNvSpPr/>
            <p:nvPr/>
          </p:nvSpPr>
          <p:spPr bwMode="auto">
            <a:xfrm>
              <a:off x="1689338" y="3281234"/>
              <a:ext cx="290861" cy="290861"/>
            </a:xfrm>
            <a:prstGeom prst="ellipse">
              <a:avLst/>
            </a:prstGeom>
            <a:solidFill>
              <a:srgbClr val="FFFFFF"/>
            </a:solidFill>
            <a:ln w="38100">
              <a:noFill/>
              <a:headEnd type="none" w="med" len="med"/>
              <a:tailEnd type="none" w="med" len="med"/>
            </a:ln>
            <a:effectLst>
              <a:outerShdw blurRad="88900" dist="38100" dir="2700000" algn="t"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endParaRPr kumimoji="0" lang="en-US" sz="2660" b="1" i="0" u="none" strike="noStrike" kern="1200" cap="none" spc="0" normalizeH="0" baseline="0" noProof="0" dirty="0">
                <a:ln>
                  <a:noFill/>
                </a:ln>
                <a:solidFill>
                  <a:srgbClr val="0078D4"/>
                </a:solidFill>
                <a:effectLst/>
                <a:uLnTx/>
                <a:uFillTx/>
                <a:latin typeface="Segoe Sans Text" pitchFamily="2" charset="0"/>
                <a:ea typeface="+mn-ea"/>
                <a:cs typeface="Segoe Sans Text" pitchFamily="2" charset="0"/>
              </a:endParaRPr>
            </a:p>
          </p:txBody>
        </p:sp>
        <p:sp>
          <p:nvSpPr>
            <p:cNvPr id="9" name="Graphic 132">
              <a:extLst>
                <a:ext uri="{FF2B5EF4-FFF2-40B4-BE49-F238E27FC236}">
                  <a16:creationId xmlns:a16="http://schemas.microsoft.com/office/drawing/2014/main" id="{62809132-C2B7-4434-09F9-F283E4B7328F}"/>
                </a:ext>
              </a:extLst>
            </p:cNvPr>
            <p:cNvSpPr/>
            <p:nvPr/>
          </p:nvSpPr>
          <p:spPr>
            <a:xfrm>
              <a:off x="1739518" y="3331415"/>
              <a:ext cx="190500" cy="190499"/>
            </a:xfrm>
            <a:custGeom>
              <a:avLst/>
              <a:gdLst>
                <a:gd name="connsiteX0" fmla="*/ 95250 w 190500"/>
                <a:gd name="connsiteY0" fmla="*/ 0 h 190499"/>
                <a:gd name="connsiteX1" fmla="*/ 190500 w 190500"/>
                <a:gd name="connsiteY1" fmla="*/ 95250 h 190499"/>
                <a:gd name="connsiteX2" fmla="*/ 95250 w 190500"/>
                <a:gd name="connsiteY2" fmla="*/ 190500 h 190499"/>
                <a:gd name="connsiteX3" fmla="*/ 0 w 190500"/>
                <a:gd name="connsiteY3" fmla="*/ 95250 h 190499"/>
                <a:gd name="connsiteX4" fmla="*/ 95250 w 190500"/>
                <a:gd name="connsiteY4" fmla="*/ 0 h 190499"/>
                <a:gd name="connsiteX5" fmla="*/ 102689 w 190500"/>
                <a:gd name="connsiteY5" fmla="*/ 52092 h 190499"/>
                <a:gd name="connsiteX6" fmla="*/ 101889 w 190500"/>
                <a:gd name="connsiteY6" fmla="*/ 51397 h 190499"/>
                <a:gd name="connsiteX7" fmla="*/ 93478 w 190500"/>
                <a:gd name="connsiteY7" fmla="*/ 51330 h 190499"/>
                <a:gd name="connsiteX8" fmla="*/ 92583 w 190500"/>
                <a:gd name="connsiteY8" fmla="*/ 52092 h 190499"/>
                <a:gd name="connsiteX9" fmla="*/ 91897 w 190500"/>
                <a:gd name="connsiteY9" fmla="*/ 52892 h 190499"/>
                <a:gd name="connsiteX10" fmla="*/ 91831 w 190500"/>
                <a:gd name="connsiteY10" fmla="*/ 61303 h 190499"/>
                <a:gd name="connsiteX11" fmla="*/ 92593 w 190500"/>
                <a:gd name="connsiteY11" fmla="*/ 62198 h 190499"/>
                <a:gd name="connsiteX12" fmla="*/ 118491 w 190500"/>
                <a:gd name="connsiteY12" fmla="*/ 88106 h 190499"/>
                <a:gd name="connsiteX13" fmla="*/ 54769 w 190500"/>
                <a:gd name="connsiteY13" fmla="*/ 88106 h 190499"/>
                <a:gd name="connsiteX14" fmla="*/ 53797 w 190500"/>
                <a:gd name="connsiteY14" fmla="*/ 88163 h 190499"/>
                <a:gd name="connsiteX15" fmla="*/ 47692 w 190500"/>
                <a:gd name="connsiteY15" fmla="*/ 94278 h 190499"/>
                <a:gd name="connsiteX16" fmla="*/ 47625 w 190500"/>
                <a:gd name="connsiteY16" fmla="*/ 95240 h 190499"/>
                <a:gd name="connsiteX17" fmla="*/ 47692 w 190500"/>
                <a:gd name="connsiteY17" fmla="*/ 96212 h 190499"/>
                <a:gd name="connsiteX18" fmla="*/ 53797 w 190500"/>
                <a:gd name="connsiteY18" fmla="*/ 102318 h 190499"/>
                <a:gd name="connsiteX19" fmla="*/ 54769 w 190500"/>
                <a:gd name="connsiteY19" fmla="*/ 102384 h 190499"/>
                <a:gd name="connsiteX20" fmla="*/ 118491 w 190500"/>
                <a:gd name="connsiteY20" fmla="*/ 102384 h 190499"/>
                <a:gd name="connsiteX21" fmla="*/ 92583 w 190500"/>
                <a:gd name="connsiteY21" fmla="*/ 128292 h 190499"/>
                <a:gd name="connsiteX22" fmla="*/ 91888 w 190500"/>
                <a:gd name="connsiteY22" fmla="*/ 129102 h 190499"/>
                <a:gd name="connsiteX23" fmla="*/ 93316 w 190500"/>
                <a:gd name="connsiteY23" fmla="*/ 139103 h 190499"/>
                <a:gd name="connsiteX24" fmla="*/ 101889 w 190500"/>
                <a:gd name="connsiteY24" fmla="*/ 139103 h 190499"/>
                <a:gd name="connsiteX25" fmla="*/ 102680 w 190500"/>
                <a:gd name="connsiteY25" fmla="*/ 138408 h 190499"/>
                <a:gd name="connsiteX26" fmla="*/ 140799 w 190500"/>
                <a:gd name="connsiteY26" fmla="*/ 100308 h 190499"/>
                <a:gd name="connsiteX27" fmla="*/ 141484 w 190500"/>
                <a:gd name="connsiteY27" fmla="*/ 99498 h 190499"/>
                <a:gd name="connsiteX28" fmla="*/ 141561 w 190500"/>
                <a:gd name="connsiteY28" fmla="*/ 91097 h 190499"/>
                <a:gd name="connsiteX29" fmla="*/ 140799 w 190500"/>
                <a:gd name="connsiteY29" fmla="*/ 90202 h 190499"/>
                <a:gd name="connsiteX30" fmla="*/ 102699 w 190500"/>
                <a:gd name="connsiteY30" fmla="*/ 52092 h 190499"/>
                <a:gd name="connsiteX31" fmla="*/ 101889 w 190500"/>
                <a:gd name="connsiteY31" fmla="*/ 51397 h 190499"/>
                <a:gd name="connsiteX32" fmla="*/ 102689 w 190500"/>
                <a:gd name="connsiteY32" fmla="*/ 5209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500" h="190499">
                  <a:moveTo>
                    <a:pt x="95250" y="0"/>
                  </a:moveTo>
                  <a:cubicBezTo>
                    <a:pt x="147866" y="0"/>
                    <a:pt x="190500" y="42643"/>
                    <a:pt x="190500" y="95250"/>
                  </a:cubicBezTo>
                  <a:cubicBezTo>
                    <a:pt x="190500" y="147857"/>
                    <a:pt x="147866" y="190500"/>
                    <a:pt x="95250" y="190500"/>
                  </a:cubicBezTo>
                  <a:cubicBezTo>
                    <a:pt x="42653" y="190500"/>
                    <a:pt x="0" y="147857"/>
                    <a:pt x="0" y="95250"/>
                  </a:cubicBezTo>
                  <a:cubicBezTo>
                    <a:pt x="0" y="42643"/>
                    <a:pt x="42653" y="0"/>
                    <a:pt x="95250" y="0"/>
                  </a:cubicBezTo>
                  <a:close/>
                  <a:moveTo>
                    <a:pt x="102689" y="52092"/>
                  </a:moveTo>
                  <a:lnTo>
                    <a:pt x="101889" y="51397"/>
                  </a:lnTo>
                  <a:cubicBezTo>
                    <a:pt x="99397" y="49552"/>
                    <a:pt x="95999" y="49525"/>
                    <a:pt x="93478" y="51330"/>
                  </a:cubicBezTo>
                  <a:lnTo>
                    <a:pt x="92583" y="52092"/>
                  </a:lnTo>
                  <a:lnTo>
                    <a:pt x="91897" y="52892"/>
                  </a:lnTo>
                  <a:cubicBezTo>
                    <a:pt x="90052" y="55384"/>
                    <a:pt x="90025" y="58782"/>
                    <a:pt x="91831" y="61303"/>
                  </a:cubicBezTo>
                  <a:lnTo>
                    <a:pt x="92593" y="62198"/>
                  </a:lnTo>
                  <a:lnTo>
                    <a:pt x="118491" y="88106"/>
                  </a:lnTo>
                  <a:lnTo>
                    <a:pt x="54769" y="88106"/>
                  </a:lnTo>
                  <a:lnTo>
                    <a:pt x="53797" y="88163"/>
                  </a:lnTo>
                  <a:cubicBezTo>
                    <a:pt x="50620" y="88600"/>
                    <a:pt x="48124" y="91101"/>
                    <a:pt x="47692" y="94278"/>
                  </a:cubicBezTo>
                  <a:lnTo>
                    <a:pt x="47625" y="95240"/>
                  </a:lnTo>
                  <a:lnTo>
                    <a:pt x="47692" y="96212"/>
                  </a:lnTo>
                  <a:cubicBezTo>
                    <a:pt x="48128" y="99386"/>
                    <a:pt x="50623" y="101882"/>
                    <a:pt x="53797" y="102318"/>
                  </a:cubicBezTo>
                  <a:lnTo>
                    <a:pt x="54769" y="102384"/>
                  </a:lnTo>
                  <a:lnTo>
                    <a:pt x="118491" y="102384"/>
                  </a:lnTo>
                  <a:lnTo>
                    <a:pt x="92583" y="128292"/>
                  </a:lnTo>
                  <a:lnTo>
                    <a:pt x="91888" y="129102"/>
                  </a:lnTo>
                  <a:cubicBezTo>
                    <a:pt x="89520" y="132258"/>
                    <a:pt x="90160" y="136736"/>
                    <a:pt x="93316" y="139103"/>
                  </a:cubicBezTo>
                  <a:cubicBezTo>
                    <a:pt x="95856" y="141008"/>
                    <a:pt x="99349" y="141008"/>
                    <a:pt x="101889" y="139103"/>
                  </a:cubicBezTo>
                  <a:lnTo>
                    <a:pt x="102680" y="138408"/>
                  </a:lnTo>
                  <a:lnTo>
                    <a:pt x="140799" y="100308"/>
                  </a:lnTo>
                  <a:lnTo>
                    <a:pt x="141484" y="99498"/>
                  </a:lnTo>
                  <a:cubicBezTo>
                    <a:pt x="143328" y="97010"/>
                    <a:pt x="143359" y="93618"/>
                    <a:pt x="141561" y="91097"/>
                  </a:cubicBezTo>
                  <a:lnTo>
                    <a:pt x="140799" y="90202"/>
                  </a:lnTo>
                  <a:lnTo>
                    <a:pt x="102699" y="52092"/>
                  </a:lnTo>
                  <a:lnTo>
                    <a:pt x="101889" y="51397"/>
                  </a:lnTo>
                  <a:lnTo>
                    <a:pt x="102689" y="52092"/>
                  </a:lnTo>
                  <a:close/>
                </a:path>
              </a:pathLst>
            </a:custGeom>
            <a:gradFill>
              <a:gsLst>
                <a:gs pos="40000">
                  <a:srgbClr val="0078D4"/>
                </a:gs>
                <a:gs pos="100000">
                  <a:srgbClr val="49C5B1"/>
                </a:gs>
                <a:gs pos="0">
                  <a:srgbClr val="8661C5"/>
                </a:gs>
              </a:gsLst>
              <a:path path="circle">
                <a:fillToRect l="100000" t="100000"/>
              </a:path>
            </a:gra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85848" rtl="0" eaLnBrk="1" fontAlgn="base" latinLnBrk="0" hangingPunct="1">
                <a:lnSpc>
                  <a:spcPct val="100000"/>
                </a:lnSpc>
                <a:spcBef>
                  <a:spcPct val="0"/>
                </a:spcBef>
                <a:spcAft>
                  <a:spcPct val="0"/>
                </a:spcAft>
                <a:buClrTx/>
                <a:buSzTx/>
                <a:buFontTx/>
                <a:buNone/>
                <a:tabLst/>
                <a:defRPr/>
              </a:pPr>
              <a:endParaRPr kumimoji="0" lang="en-US" sz="2660" b="1" i="0" u="none" strike="noStrike" kern="1200" cap="none" spc="0" normalizeH="0" baseline="0" noProof="0" dirty="0">
                <a:ln>
                  <a:noFill/>
                </a:ln>
                <a:solidFill>
                  <a:srgbClr val="0078D4"/>
                </a:solidFill>
                <a:effectLst/>
                <a:uLnTx/>
                <a:uFillTx/>
                <a:latin typeface="Segoe Sans Text" pitchFamily="2" charset="0"/>
                <a:ea typeface="+mn-ea"/>
                <a:cs typeface="Segoe Sans Text" pitchFamily="2" charset="0"/>
              </a:endParaRPr>
            </a:p>
          </p:txBody>
        </p:sp>
      </p:grpSp>
      <p:cxnSp>
        <p:nvCxnSpPr>
          <p:cNvPr id="10" name="Straight Arrow Connector 9">
            <a:extLst>
              <a:ext uri="{FF2B5EF4-FFF2-40B4-BE49-F238E27FC236}">
                <a16:creationId xmlns:a16="http://schemas.microsoft.com/office/drawing/2014/main" id="{C5216C21-7F46-EF6D-611D-8C1CCA907AA8}"/>
              </a:ext>
              <a:ext uri="{C183D7F6-B498-43B3-948B-1728B52AA6E4}">
                <adec:decorative xmlns:adec="http://schemas.microsoft.com/office/drawing/2017/decorative" val="1"/>
              </a:ext>
            </a:extLst>
          </p:cNvPr>
          <p:cNvCxnSpPr>
            <a:cxnSpLocks/>
            <a:stCxn id="27" idx="2"/>
            <a:endCxn id="26" idx="0"/>
          </p:cNvCxnSpPr>
          <p:nvPr/>
        </p:nvCxnSpPr>
        <p:spPr>
          <a:xfrm>
            <a:off x="4431984" y="4010180"/>
            <a:ext cx="0" cy="43646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4ACB437-BFE9-B867-1748-A9BD8AA1D311}"/>
              </a:ext>
              <a:ext uri="{C183D7F6-B498-43B3-948B-1728B52AA6E4}">
                <adec:decorative xmlns:adec="http://schemas.microsoft.com/office/drawing/2017/decorative" val="1"/>
              </a:ext>
            </a:extLst>
          </p:cNvPr>
          <p:cNvCxnSpPr>
            <a:cxnSpLocks/>
          </p:cNvCxnSpPr>
          <p:nvPr/>
        </p:nvCxnSpPr>
        <p:spPr>
          <a:xfrm>
            <a:off x="5247530" y="3555747"/>
            <a:ext cx="238469"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409B36A-3F0A-964C-6A54-D3E2411C0871}"/>
              </a:ext>
              <a:ext uri="{C183D7F6-B498-43B3-948B-1728B52AA6E4}">
                <adec:decorative xmlns:adec="http://schemas.microsoft.com/office/drawing/2017/decorative" val="1"/>
              </a:ext>
            </a:extLst>
          </p:cNvPr>
          <p:cNvCxnSpPr>
            <a:cxnSpLocks/>
          </p:cNvCxnSpPr>
          <p:nvPr/>
        </p:nvCxnSpPr>
        <p:spPr>
          <a:xfrm>
            <a:off x="7130827" y="3555747"/>
            <a:ext cx="238469"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5E2A2C3-C6C2-35EA-C262-1CAE998AD433}"/>
              </a:ext>
              <a:ext uri="{C183D7F6-B498-43B3-948B-1728B52AA6E4}">
                <adec:decorative xmlns:adec="http://schemas.microsoft.com/office/drawing/2017/decorative" val="1"/>
              </a:ext>
            </a:extLst>
          </p:cNvPr>
          <p:cNvCxnSpPr>
            <a:cxnSpLocks/>
          </p:cNvCxnSpPr>
          <p:nvPr/>
        </p:nvCxnSpPr>
        <p:spPr>
          <a:xfrm>
            <a:off x="9014124" y="3541618"/>
            <a:ext cx="238469"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ECF9EA0-B66A-C717-96CB-EAA2DC7D8AE9}"/>
              </a:ext>
              <a:ext uri="{C183D7F6-B498-43B3-948B-1728B52AA6E4}">
                <adec:decorative xmlns:adec="http://schemas.microsoft.com/office/drawing/2017/decorative" val="1"/>
              </a:ext>
            </a:extLst>
          </p:cNvPr>
          <p:cNvCxnSpPr>
            <a:cxnSpLocks/>
          </p:cNvCxnSpPr>
          <p:nvPr/>
        </p:nvCxnSpPr>
        <p:spPr>
          <a:xfrm flipV="1">
            <a:off x="7234892" y="2859329"/>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0954F6F-786D-E67D-51BA-7AA2C2AEA77A}"/>
              </a:ext>
              <a:ext uri="{C183D7F6-B498-43B3-948B-1728B52AA6E4}">
                <adec:decorative xmlns:adec="http://schemas.microsoft.com/office/drawing/2017/decorative" val="1"/>
              </a:ext>
            </a:extLst>
          </p:cNvPr>
          <p:cNvCxnSpPr>
            <a:cxnSpLocks/>
          </p:cNvCxnSpPr>
          <p:nvPr/>
        </p:nvCxnSpPr>
        <p:spPr>
          <a:xfrm flipV="1">
            <a:off x="9112702" y="2853326"/>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16" name="Graphic 51" descr="Document outline">
            <a:extLst>
              <a:ext uri="{FF2B5EF4-FFF2-40B4-BE49-F238E27FC236}">
                <a16:creationId xmlns:a16="http://schemas.microsoft.com/office/drawing/2014/main" id="{89F4D192-BC21-C4CD-8A05-30DF6D1BE7C2}"/>
              </a:ext>
            </a:extLst>
          </p:cNvPr>
          <p:cNvSpPr>
            <a:spLocks noChangeAspect="1"/>
          </p:cNvSpPr>
          <p:nvPr/>
        </p:nvSpPr>
        <p:spPr>
          <a:xfrm>
            <a:off x="7088588"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40000">
                <a:srgbClr val="0078D4"/>
              </a:gs>
              <a:gs pos="100000">
                <a:srgbClr val="49C5B1"/>
              </a:gs>
              <a:gs pos="0">
                <a:srgbClr val="8661C5"/>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7" name="Graphic 51" descr="Document outline">
            <a:extLst>
              <a:ext uri="{FF2B5EF4-FFF2-40B4-BE49-F238E27FC236}">
                <a16:creationId xmlns:a16="http://schemas.microsoft.com/office/drawing/2014/main" id="{0112A5A8-BBDD-15CF-D9F1-F3AE2992D29F}"/>
              </a:ext>
            </a:extLst>
          </p:cNvPr>
          <p:cNvSpPr>
            <a:spLocks noChangeAspect="1"/>
          </p:cNvSpPr>
          <p:nvPr/>
        </p:nvSpPr>
        <p:spPr>
          <a:xfrm>
            <a:off x="5170263"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40000">
                <a:srgbClr val="0078D4"/>
              </a:gs>
              <a:gs pos="100000">
                <a:srgbClr val="49C5B1"/>
              </a:gs>
              <a:gs pos="0">
                <a:srgbClr val="8661C5"/>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8" name="Graphic 51" descr="Document outline">
            <a:extLst>
              <a:ext uri="{FF2B5EF4-FFF2-40B4-BE49-F238E27FC236}">
                <a16:creationId xmlns:a16="http://schemas.microsoft.com/office/drawing/2014/main" id="{F1F2630F-A200-5A3C-CC08-4FDE3A44E2A3}"/>
              </a:ext>
            </a:extLst>
          </p:cNvPr>
          <p:cNvSpPr>
            <a:spLocks noChangeAspect="1"/>
          </p:cNvSpPr>
          <p:nvPr/>
        </p:nvSpPr>
        <p:spPr>
          <a:xfrm>
            <a:off x="8965334"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40000">
                <a:srgbClr val="0078D4"/>
              </a:gs>
              <a:gs pos="100000">
                <a:srgbClr val="49C5B1"/>
              </a:gs>
              <a:gs pos="0">
                <a:srgbClr val="8661C5"/>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cxnSp>
        <p:nvCxnSpPr>
          <p:cNvPr id="19" name="Straight Arrow Connector 18">
            <a:extLst>
              <a:ext uri="{FF2B5EF4-FFF2-40B4-BE49-F238E27FC236}">
                <a16:creationId xmlns:a16="http://schemas.microsoft.com/office/drawing/2014/main" id="{B1EFF43F-A985-16A7-3B86-15429B6DA386}"/>
              </a:ext>
              <a:ext uri="{C183D7F6-B498-43B3-948B-1728B52AA6E4}">
                <adec:decorative xmlns:adec="http://schemas.microsoft.com/office/drawing/2017/decorative" val="1"/>
              </a:ext>
            </a:extLst>
          </p:cNvPr>
          <p:cNvCxnSpPr>
            <a:cxnSpLocks/>
          </p:cNvCxnSpPr>
          <p:nvPr/>
        </p:nvCxnSpPr>
        <p:spPr>
          <a:xfrm>
            <a:off x="10874674" y="3555747"/>
            <a:ext cx="238469"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73CAF38-5099-7065-EF46-8B82B994F951}"/>
              </a:ext>
              <a:ext uri="{C183D7F6-B498-43B3-948B-1728B52AA6E4}">
                <adec:decorative xmlns:adec="http://schemas.microsoft.com/office/drawing/2017/decorative" val="1"/>
              </a:ext>
            </a:extLst>
          </p:cNvPr>
          <p:cNvCxnSpPr>
            <a:cxnSpLocks/>
          </p:cNvCxnSpPr>
          <p:nvPr/>
        </p:nvCxnSpPr>
        <p:spPr>
          <a:xfrm flipV="1">
            <a:off x="10973252" y="2867455"/>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21" name="Graphic 51" descr="Document outline">
            <a:extLst>
              <a:ext uri="{FF2B5EF4-FFF2-40B4-BE49-F238E27FC236}">
                <a16:creationId xmlns:a16="http://schemas.microsoft.com/office/drawing/2014/main" id="{E23ACDF9-8012-1ACB-F1E9-21D7CF4D77B3}"/>
              </a:ext>
            </a:extLst>
          </p:cNvPr>
          <p:cNvSpPr>
            <a:spLocks noChangeAspect="1"/>
          </p:cNvSpPr>
          <p:nvPr/>
        </p:nvSpPr>
        <p:spPr>
          <a:xfrm>
            <a:off x="10825101" y="2430855"/>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40000">
                <a:srgbClr val="0078D4"/>
              </a:gs>
              <a:gs pos="100000">
                <a:srgbClr val="49C5B1"/>
              </a:gs>
              <a:gs pos="0">
                <a:srgbClr val="8661C5"/>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22" name="TextBox 21">
            <a:extLst>
              <a:ext uri="{FF2B5EF4-FFF2-40B4-BE49-F238E27FC236}">
                <a16:creationId xmlns:a16="http://schemas.microsoft.com/office/drawing/2014/main" id="{A6EC79F6-0712-BE79-540C-24ADC267702F}"/>
              </a:ext>
            </a:extLst>
          </p:cNvPr>
          <p:cNvSpPr txBox="1"/>
          <p:nvPr/>
        </p:nvSpPr>
        <p:spPr>
          <a:xfrm>
            <a:off x="6614814" y="2117969"/>
            <a:ext cx="1261885"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Customer approval</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3" name="TextBox 22">
            <a:extLst>
              <a:ext uri="{FF2B5EF4-FFF2-40B4-BE49-F238E27FC236}">
                <a16:creationId xmlns:a16="http://schemas.microsoft.com/office/drawing/2014/main" id="{8FB005F0-E4C0-CEC4-C890-EC5E5F453159}"/>
              </a:ext>
            </a:extLst>
          </p:cNvPr>
          <p:cNvSpPr txBox="1"/>
          <p:nvPr/>
        </p:nvSpPr>
        <p:spPr>
          <a:xfrm>
            <a:off x="4738165" y="2117969"/>
            <a:ext cx="1263487"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Assessment output</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4" name="TextBox 23">
            <a:extLst>
              <a:ext uri="{FF2B5EF4-FFF2-40B4-BE49-F238E27FC236}">
                <a16:creationId xmlns:a16="http://schemas.microsoft.com/office/drawing/2014/main" id="{DB3FC14D-E79F-DB6F-E3DD-661A3AF97B79}"/>
              </a:ext>
            </a:extLst>
          </p:cNvPr>
          <p:cNvSpPr txBox="1"/>
          <p:nvPr/>
        </p:nvSpPr>
        <p:spPr>
          <a:xfrm>
            <a:off x="8629775" y="2117969"/>
            <a:ext cx="963726"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Project report</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5" name="TextBox 24">
            <a:extLst>
              <a:ext uri="{FF2B5EF4-FFF2-40B4-BE49-F238E27FC236}">
                <a16:creationId xmlns:a16="http://schemas.microsoft.com/office/drawing/2014/main" id="{AE291C1D-F264-7FCF-87EC-CCC026DB258A}"/>
              </a:ext>
            </a:extLst>
          </p:cNvPr>
          <p:cNvSpPr txBox="1"/>
          <p:nvPr/>
        </p:nvSpPr>
        <p:spPr>
          <a:xfrm>
            <a:off x="10677895" y="2117969"/>
            <a:ext cx="587020" cy="2308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Signoff</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26" name="TextBox 25">
            <a:extLst>
              <a:ext uri="{FF2B5EF4-FFF2-40B4-BE49-F238E27FC236}">
                <a16:creationId xmlns:a16="http://schemas.microsoft.com/office/drawing/2014/main" id="{ED04D315-033C-16F2-4FD4-685EAFA31454}"/>
              </a:ext>
            </a:extLst>
          </p:cNvPr>
          <p:cNvSpPr txBox="1"/>
          <p:nvPr/>
        </p:nvSpPr>
        <p:spPr>
          <a:xfrm>
            <a:off x="3627312" y="4446642"/>
            <a:ext cx="1609344" cy="1169551"/>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00" noProof="0" dirty="0">
                <a:solidFill>
                  <a:srgbClr val="0078D4"/>
                </a:solidFill>
                <a:latin typeface="Segoe Sans Text"/>
                <a:cs typeface="Segoe Sans Text" pitchFamily="2" charset="0"/>
              </a:rPr>
              <a:t>Kickoff meeting </a:t>
            </a:r>
            <a:r>
              <a:rPr kumimoji="0" lang="en-US" sz="1000" b="0" i="0" u="none" strike="noStrike" kern="1200" cap="none" spc="0" normalizeH="0" baseline="0" noProof="0" dirty="0">
                <a:ln>
                  <a:noFill/>
                </a:ln>
                <a:solidFill>
                  <a:srgbClr val="000000"/>
                </a:solidFill>
                <a:effectLst/>
                <a:uLnTx/>
                <a:uFillTx/>
                <a:latin typeface="Segoe Sans Text"/>
                <a:ea typeface="+mn-ea"/>
                <a:cs typeface="Segoe Sans Text" pitchFamily="2" charset="0"/>
              </a:rPr>
              <a:t>to confirm requirements</a:t>
            </a: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Tools based Discovery, Assessment </a:t>
            </a: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Validate or execute pre-requisites</a:t>
            </a:r>
          </a:p>
        </p:txBody>
      </p:sp>
      <p:sp>
        <p:nvSpPr>
          <p:cNvPr id="27" name="Rectangle: Rounded Corners 26">
            <a:extLst>
              <a:ext uri="{FF2B5EF4-FFF2-40B4-BE49-F238E27FC236}">
                <a16:creationId xmlns:a16="http://schemas.microsoft.com/office/drawing/2014/main" id="{D99E6381-DA9B-CD99-1B98-A134B637648C}"/>
              </a:ext>
              <a:ext uri="{C183D7F6-B498-43B3-948B-1728B52AA6E4}">
                <adec:decorative xmlns:adec="http://schemas.microsoft.com/office/drawing/2017/decorative" val="0"/>
              </a:ext>
            </a:extLst>
          </p:cNvPr>
          <p:cNvSpPr>
            <a:spLocks/>
          </p:cNvSpPr>
          <p:nvPr/>
        </p:nvSpPr>
        <p:spPr>
          <a:xfrm>
            <a:off x="3625764" y="3135994"/>
            <a:ext cx="1612440" cy="874186"/>
          </a:xfrm>
          <a:prstGeom prst="roundRect">
            <a:avLst>
              <a:gd name="adj" fmla="val 10991"/>
            </a:avLst>
          </a:prstGeom>
          <a:solidFill>
            <a:srgbClr val="0E6083"/>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Discover, </a:t>
            </a:r>
          </a:p>
          <a:p>
            <a:pPr algn="ctr"/>
            <a:r>
              <a:rPr lang="en-US" sz="1200" kern="0" noProof="0" dirty="0">
                <a:solidFill>
                  <a:schemeClr val="bg1"/>
                </a:solidFill>
                <a:latin typeface="+mj-lt"/>
                <a:ea typeface="+mj-ea"/>
                <a:cs typeface="+mj-cs"/>
              </a:rPr>
              <a:t>Assess</a:t>
            </a:r>
          </a:p>
        </p:txBody>
      </p:sp>
      <p:sp>
        <p:nvSpPr>
          <p:cNvPr id="28" name="Rectangle: Rounded Corners 27">
            <a:extLst>
              <a:ext uri="{FF2B5EF4-FFF2-40B4-BE49-F238E27FC236}">
                <a16:creationId xmlns:a16="http://schemas.microsoft.com/office/drawing/2014/main" id="{DCDFE1E5-9C3C-4139-3DD4-A8CA8FEBA598}"/>
              </a:ext>
              <a:ext uri="{C183D7F6-B498-43B3-948B-1728B52AA6E4}">
                <adec:decorative xmlns:adec="http://schemas.microsoft.com/office/drawing/2017/decorative" val="0"/>
              </a:ext>
            </a:extLst>
          </p:cNvPr>
          <p:cNvSpPr>
            <a:spLocks/>
          </p:cNvSpPr>
          <p:nvPr/>
        </p:nvSpPr>
        <p:spPr>
          <a:xfrm>
            <a:off x="5501612" y="3131237"/>
            <a:ext cx="1612440" cy="874186"/>
          </a:xfrm>
          <a:prstGeom prst="roundRect">
            <a:avLst>
              <a:gd name="adj" fmla="val 10991"/>
            </a:avLst>
          </a:prstGeom>
          <a:solidFill>
            <a:srgbClr val="0E6083"/>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Finalize </a:t>
            </a:r>
          </a:p>
          <a:p>
            <a:pPr algn="ctr"/>
            <a:r>
              <a:rPr lang="en-US" sz="1200" kern="0" noProof="0" dirty="0">
                <a:solidFill>
                  <a:schemeClr val="bg1"/>
                </a:solidFill>
                <a:latin typeface="+mj-lt"/>
                <a:ea typeface="+mj-ea"/>
                <a:cs typeface="+mj-cs"/>
              </a:rPr>
              <a:t>Scope, Design</a:t>
            </a:r>
          </a:p>
        </p:txBody>
      </p:sp>
      <p:sp>
        <p:nvSpPr>
          <p:cNvPr id="29" name="Rectangle: Rounded Corners 28">
            <a:extLst>
              <a:ext uri="{FF2B5EF4-FFF2-40B4-BE49-F238E27FC236}">
                <a16:creationId xmlns:a16="http://schemas.microsoft.com/office/drawing/2014/main" id="{04136C0B-8B87-4D62-BD03-AF454B2887AD}"/>
              </a:ext>
              <a:ext uri="{C183D7F6-B498-43B3-948B-1728B52AA6E4}">
                <adec:decorative xmlns:adec="http://schemas.microsoft.com/office/drawing/2017/decorative" val="0"/>
              </a:ext>
            </a:extLst>
          </p:cNvPr>
          <p:cNvSpPr>
            <a:spLocks/>
          </p:cNvSpPr>
          <p:nvPr/>
        </p:nvSpPr>
        <p:spPr>
          <a:xfrm>
            <a:off x="7377460" y="3131237"/>
            <a:ext cx="1612440" cy="874186"/>
          </a:xfrm>
          <a:prstGeom prst="roundRect">
            <a:avLst>
              <a:gd name="adj" fmla="val 10991"/>
            </a:avLst>
          </a:prstGeom>
          <a:solidFill>
            <a:schemeClr val="tx2">
              <a:lumMod val="50000"/>
              <a:lumOff val="50000"/>
            </a:schemeClr>
          </a:solidFill>
          <a:ln w="26591"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Sans Display Semibold" pitchFamily="2" charset="0"/>
                <a:ea typeface="+mn-ea"/>
                <a:cs typeface="+mn-cs"/>
              </a:rPr>
              <a:t>Project Execution (For agreed scope)</a:t>
            </a:r>
          </a:p>
        </p:txBody>
      </p:sp>
      <p:sp>
        <p:nvSpPr>
          <p:cNvPr id="30" name="Rectangle: Rounded Corners 29">
            <a:extLst>
              <a:ext uri="{FF2B5EF4-FFF2-40B4-BE49-F238E27FC236}">
                <a16:creationId xmlns:a16="http://schemas.microsoft.com/office/drawing/2014/main" id="{61846392-62F6-2EF1-E0AD-A61ADEEBBED9}"/>
              </a:ext>
              <a:ext uri="{C183D7F6-B498-43B3-948B-1728B52AA6E4}">
                <adec:decorative xmlns:adec="http://schemas.microsoft.com/office/drawing/2017/decorative" val="0"/>
              </a:ext>
            </a:extLst>
          </p:cNvPr>
          <p:cNvSpPr>
            <a:spLocks/>
          </p:cNvSpPr>
          <p:nvPr/>
        </p:nvSpPr>
        <p:spPr>
          <a:xfrm>
            <a:off x="9253309" y="3131237"/>
            <a:ext cx="1612440" cy="874186"/>
          </a:xfrm>
          <a:prstGeom prst="roundRect">
            <a:avLst>
              <a:gd name="adj" fmla="val 10991"/>
            </a:avLst>
          </a:prstGeom>
          <a:solidFill>
            <a:srgbClr val="0E6083"/>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Validate</a:t>
            </a:r>
          </a:p>
        </p:txBody>
      </p:sp>
      <p:sp>
        <p:nvSpPr>
          <p:cNvPr id="31" name="TextBox 30">
            <a:extLst>
              <a:ext uri="{FF2B5EF4-FFF2-40B4-BE49-F238E27FC236}">
                <a16:creationId xmlns:a16="http://schemas.microsoft.com/office/drawing/2014/main" id="{A5520610-E25A-8C85-355E-32CEA4744164}"/>
              </a:ext>
            </a:extLst>
          </p:cNvPr>
          <p:cNvSpPr txBox="1"/>
          <p:nvPr/>
        </p:nvSpPr>
        <p:spPr>
          <a:xfrm>
            <a:off x="5432117" y="4453895"/>
            <a:ext cx="1698709" cy="784830"/>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Develop </a:t>
            </a:r>
            <a:r>
              <a:rPr kumimoji="0" lang="en-US" sz="1000" b="0" i="0" u="none" strike="noStrike" kern="1200" cap="none" spc="0" normalizeH="0" baseline="0" noProof="0" dirty="0">
                <a:ln>
                  <a:noFill/>
                </a:ln>
                <a:solidFill>
                  <a:srgbClr val="0078D4"/>
                </a:solidFill>
                <a:effectLst/>
                <a:uLnTx/>
                <a:uFillTx/>
                <a:latin typeface="Segoe Sans Text"/>
                <a:ea typeface="+mn-ea"/>
                <a:cs typeface="Segoe Sans Text" pitchFamily="2" charset="0"/>
              </a:rPr>
              <a:t>modernization plan and overall design</a:t>
            </a:r>
            <a:endParaRPr kumimoji="0" lang="en-US" sz="8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Finalize project execution scope, plan, and RACI</a:t>
            </a: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hlinkClick r:id="rId2" action="ppaction://hlinksldjump"/>
              </a:rPr>
              <a:t> </a:t>
            </a:r>
            <a:endPar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cxnSp>
        <p:nvCxnSpPr>
          <p:cNvPr id="32" name="Straight Arrow Connector 31">
            <a:extLst>
              <a:ext uri="{FF2B5EF4-FFF2-40B4-BE49-F238E27FC236}">
                <a16:creationId xmlns:a16="http://schemas.microsoft.com/office/drawing/2014/main" id="{4C6AA9AC-226C-DEC9-26AE-F31E3508D453}"/>
              </a:ext>
              <a:ext uri="{C183D7F6-B498-43B3-948B-1728B52AA6E4}">
                <adec:decorative xmlns:adec="http://schemas.microsoft.com/office/drawing/2017/decorative" val="1"/>
              </a:ext>
            </a:extLst>
          </p:cNvPr>
          <p:cNvCxnSpPr>
            <a:cxnSpLocks/>
          </p:cNvCxnSpPr>
          <p:nvPr/>
        </p:nvCxnSpPr>
        <p:spPr>
          <a:xfrm flipV="1">
            <a:off x="5317312" y="2874361"/>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9DF84A5-2269-FF65-385E-6B698C8082F7}"/>
              </a:ext>
              <a:ext uri="{C183D7F6-B498-43B3-948B-1728B52AA6E4}">
                <adec:decorative xmlns:adec="http://schemas.microsoft.com/office/drawing/2017/decorative" val="1"/>
              </a:ext>
            </a:extLst>
          </p:cNvPr>
          <p:cNvCxnSpPr>
            <a:cxnSpLocks/>
            <a:stCxn id="28" idx="2"/>
          </p:cNvCxnSpPr>
          <p:nvPr/>
        </p:nvCxnSpPr>
        <p:spPr>
          <a:xfrm>
            <a:off x="6307832" y="4005423"/>
            <a:ext cx="0" cy="438533"/>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66443B0-514F-52CE-5D7A-BDDD2B51599A}"/>
              </a:ext>
              <a:ext uri="{C183D7F6-B498-43B3-948B-1728B52AA6E4}">
                <adec:decorative xmlns:adec="http://schemas.microsoft.com/office/drawing/2017/decorative" val="1"/>
              </a:ext>
            </a:extLst>
          </p:cNvPr>
          <p:cNvCxnSpPr>
            <a:cxnSpLocks/>
            <a:stCxn id="29" idx="2"/>
            <a:endCxn id="35" idx="0"/>
          </p:cNvCxnSpPr>
          <p:nvPr/>
        </p:nvCxnSpPr>
        <p:spPr>
          <a:xfrm>
            <a:off x="8183680" y="4005423"/>
            <a:ext cx="0" cy="459470"/>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C562720-3131-5B81-5EE7-933762023291}"/>
              </a:ext>
            </a:extLst>
          </p:cNvPr>
          <p:cNvSpPr txBox="1"/>
          <p:nvPr/>
        </p:nvSpPr>
        <p:spPr>
          <a:xfrm>
            <a:off x="7379008" y="4464893"/>
            <a:ext cx="1609344" cy="553998"/>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00" noProof="0" dirty="0">
                <a:solidFill>
                  <a:srgbClr val="0078D4"/>
                </a:solidFill>
                <a:latin typeface="Segoe Sans Text"/>
                <a:cs typeface="Segoe Sans Text" pitchFamily="2" charset="0"/>
              </a:rPr>
              <a:t>Execute</a:t>
            </a:r>
            <a:r>
              <a:rPr kumimoji="0" lang="en-US" sz="1000" b="0" i="0" u="none" strike="noStrike" kern="1200" cap="none" spc="0" normalizeH="0" baseline="0" noProof="0" dirty="0">
                <a:ln>
                  <a:noFill/>
                </a:ln>
                <a:solidFill>
                  <a:prstClr val="black"/>
                </a:solidFill>
                <a:effectLst/>
                <a:uLnTx/>
                <a:uFillTx/>
                <a:latin typeface="Segoe Sans Text"/>
                <a:ea typeface="+mn-ea"/>
                <a:cs typeface="Segoe Sans Text" pitchFamily="2" charset="0"/>
              </a:rPr>
              <a:t> the project per the aligned execution plan</a:t>
            </a:r>
            <a:endParaRPr kumimoji="0" lang="en-US" sz="1000" b="0" i="0" u="none" strike="noStrike" kern="1200" cap="none" spc="0" normalizeH="0" baseline="0" noProof="0" dirty="0">
              <a:ln>
                <a:noFill/>
              </a:ln>
              <a:solidFill>
                <a:srgbClr val="0078D4"/>
              </a:solidFill>
              <a:effectLst/>
              <a:uLnTx/>
              <a:uFillTx/>
              <a:latin typeface="Segoe Sans Text"/>
              <a:ea typeface="+mn-ea"/>
              <a:cs typeface="Segoe Sans Text" pitchFamily="2" charset="0"/>
            </a:endParaRPr>
          </a:p>
        </p:txBody>
      </p:sp>
      <p:cxnSp>
        <p:nvCxnSpPr>
          <p:cNvPr id="36" name="Straight Arrow Connector 35">
            <a:extLst>
              <a:ext uri="{FF2B5EF4-FFF2-40B4-BE49-F238E27FC236}">
                <a16:creationId xmlns:a16="http://schemas.microsoft.com/office/drawing/2014/main" id="{6A5539C0-FD8A-67EC-84AB-01BC25741685}"/>
              </a:ext>
              <a:ext uri="{C183D7F6-B498-43B3-948B-1728B52AA6E4}">
                <adec:decorative xmlns:adec="http://schemas.microsoft.com/office/drawing/2017/decorative" val="1"/>
              </a:ext>
            </a:extLst>
          </p:cNvPr>
          <p:cNvCxnSpPr>
            <a:cxnSpLocks/>
            <a:stCxn id="30" idx="2"/>
            <a:endCxn id="37" idx="0"/>
          </p:cNvCxnSpPr>
          <p:nvPr/>
        </p:nvCxnSpPr>
        <p:spPr>
          <a:xfrm>
            <a:off x="10059529" y="4005423"/>
            <a:ext cx="0" cy="44847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06460FC-D380-F3D9-A0AB-65389F45B53E}"/>
              </a:ext>
            </a:extLst>
          </p:cNvPr>
          <p:cNvSpPr txBox="1"/>
          <p:nvPr/>
        </p:nvSpPr>
        <p:spPr>
          <a:xfrm>
            <a:off x="9254857" y="4453895"/>
            <a:ext cx="1609344" cy="707886"/>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Text"/>
                <a:ea typeface="+mn-ea"/>
                <a:cs typeface="Segoe Sans Text" pitchFamily="2" charset="0"/>
              </a:rPr>
              <a:t>Perform workload validation and receive final signoff from customer</a:t>
            </a:r>
          </a:p>
        </p:txBody>
      </p:sp>
      <p:sp>
        <p:nvSpPr>
          <p:cNvPr id="39" name="Rectangle: Rounded Corners 38">
            <a:extLst>
              <a:ext uri="{FF2B5EF4-FFF2-40B4-BE49-F238E27FC236}">
                <a16:creationId xmlns:a16="http://schemas.microsoft.com/office/drawing/2014/main" id="{EB9AB750-A65C-896C-9D6E-A038F80CD00D}"/>
              </a:ext>
              <a:ext uri="{C183D7F6-B498-43B3-948B-1728B52AA6E4}">
                <adec:decorative xmlns:adec="http://schemas.microsoft.com/office/drawing/2017/decorative" val="0"/>
              </a:ext>
            </a:extLst>
          </p:cNvPr>
          <p:cNvSpPr/>
          <p:nvPr/>
        </p:nvSpPr>
        <p:spPr bwMode="auto">
          <a:xfrm>
            <a:off x="3717561" y="5943600"/>
            <a:ext cx="7768519" cy="457200"/>
          </a:xfrm>
          <a:prstGeom prst="roundRect">
            <a:avLst>
              <a:gd name="adj" fmla="val 50000"/>
            </a:avLst>
          </a:prstGeom>
          <a:solidFill>
            <a:srgbClr val="FFFFFF"/>
          </a:solidFill>
          <a:ln>
            <a:gradFill>
              <a:gsLst>
                <a:gs pos="0">
                  <a:srgbClr val="0F74D2"/>
                </a:gs>
                <a:gs pos="51000">
                  <a:srgbClr val="2A72A7"/>
                </a:gs>
                <a:gs pos="100000">
                  <a:srgbClr val="3CB8B7"/>
                </a:gs>
              </a:gsLst>
              <a:lin ang="5400000" scaled="1"/>
            </a:gradFill>
            <a:headEnd type="none" w="med" len="med"/>
            <a:tailEnd type="none" w="med" len="med"/>
          </a:ln>
          <a:effectLst>
            <a:outerShdw blurRad="88900" dist="38100" dir="2700000" algn="ctr"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6868" tIns="43434" rIns="86868" bIns="43434" numCol="1" spcCol="0" rtlCol="0" fromWordArt="0" anchor="ctr" anchorCtr="0" forceAA="0" compatLnSpc="1">
            <a:prstTxWarp prst="textNoShape">
              <a:avLst/>
            </a:prstTxWarp>
            <a:noAutofit/>
          </a:bodyPr>
          <a:lstStyle/>
          <a:p>
            <a:pPr algn="ctr" defTabSz="885848" fontAlgn="base">
              <a:spcBef>
                <a:spcPct val="0"/>
              </a:spcBef>
              <a:spcAft>
                <a:spcPct val="0"/>
              </a:spcAft>
            </a:pPr>
            <a:r>
              <a:rPr lang="en-US" sz="1050" b="1" noProof="0" dirty="0">
                <a:solidFill>
                  <a:srgbClr val="3C8A94"/>
                </a:solidFill>
                <a:latin typeface="Segoe Sans Display Semibold" pitchFamily="2" charset="0"/>
                <a:cs typeface="Segoe Sans Text" pitchFamily="2" charset="0"/>
              </a:rPr>
              <a:t>Governed delivery jointly with ISD / Partner</a:t>
            </a:r>
          </a:p>
          <a:p>
            <a:pPr algn="ctr" defTabSz="885848" fontAlgn="base">
              <a:spcBef>
                <a:spcPct val="0"/>
              </a:spcBef>
              <a:spcAft>
                <a:spcPct val="0"/>
              </a:spcAft>
            </a:pPr>
            <a:r>
              <a:rPr lang="en-US" sz="1050" b="1" noProof="0" dirty="0">
                <a:solidFill>
                  <a:schemeClr val="tx1"/>
                </a:solidFill>
                <a:latin typeface="Segoe Sans Display Semibold" pitchFamily="2" charset="0"/>
                <a:cs typeface="Segoe Sans Text" pitchFamily="2" charset="0"/>
              </a:rPr>
              <a:t>Waves of deployments delivered in 3-to-6-week sprints</a:t>
            </a:r>
          </a:p>
        </p:txBody>
      </p:sp>
      <p:cxnSp>
        <p:nvCxnSpPr>
          <p:cNvPr id="40" name="Straight Arrow Connector 39">
            <a:extLst>
              <a:ext uri="{FF2B5EF4-FFF2-40B4-BE49-F238E27FC236}">
                <a16:creationId xmlns:a16="http://schemas.microsoft.com/office/drawing/2014/main" id="{7DE3406E-DA4D-380B-BFA6-2E92F9CB353D}"/>
              </a:ext>
              <a:ext uri="{C183D7F6-B498-43B3-948B-1728B52AA6E4}">
                <adec:decorative xmlns:adec="http://schemas.microsoft.com/office/drawing/2017/decorative" val="1"/>
              </a:ext>
            </a:extLst>
          </p:cNvPr>
          <p:cNvCxnSpPr>
            <a:cxnSpLocks/>
            <a:stCxn id="42" idx="2"/>
            <a:endCxn id="41" idx="0"/>
          </p:cNvCxnSpPr>
          <p:nvPr/>
        </p:nvCxnSpPr>
        <p:spPr>
          <a:xfrm flipH="1">
            <a:off x="1887757" y="4007494"/>
            <a:ext cx="11671" cy="43646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6731F33-5335-6109-B70B-62345193807E}"/>
              </a:ext>
            </a:extLst>
          </p:cNvPr>
          <p:cNvSpPr txBox="1"/>
          <p:nvPr/>
        </p:nvSpPr>
        <p:spPr>
          <a:xfrm>
            <a:off x="931322" y="4443956"/>
            <a:ext cx="1912870" cy="1169551"/>
          </a:xfrm>
          <a:prstGeom prst="rect">
            <a:avLst/>
          </a:prstGeom>
          <a:noFill/>
        </p:spPr>
        <p:txBody>
          <a:bodyPr wrap="square" lIns="45720" rIns="45720" rtlCol="0">
            <a:spAutoFit/>
          </a:bodyPr>
          <a:lstStyle/>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00" noProof="0" dirty="0">
                <a:solidFill>
                  <a:prstClr val="black"/>
                </a:solidFill>
                <a:latin typeface="Segoe Sans Text"/>
                <a:cs typeface="Segoe Sans Text" pitchFamily="2" charset="0"/>
              </a:rPr>
              <a:t>Land Factory details with customer and run Technical scoping sessions </a:t>
            </a:r>
          </a:p>
          <a:p>
            <a:pPr marL="146304" marR="0" lvl="0" indent="-146304"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000" noProof="0" dirty="0">
                <a:solidFill>
                  <a:prstClr val="black"/>
                </a:solidFill>
                <a:latin typeface="Segoe Sans Text"/>
                <a:cs typeface="Segoe Sans Text" pitchFamily="2" charset="0"/>
              </a:rPr>
              <a:t>Assistance with Factory Intake </a:t>
            </a:r>
          </a:p>
          <a:p>
            <a:pPr marL="146304" indent="-146304">
              <a:spcBef>
                <a:spcPts val="600"/>
              </a:spcBef>
              <a:buFont typeface="Arial" panose="020B0604020202020204" pitchFamily="34" charset="0"/>
              <a:buChar char="•"/>
              <a:defRPr/>
            </a:pPr>
            <a:r>
              <a:rPr lang="en-US" sz="1000" noProof="0" dirty="0">
                <a:solidFill>
                  <a:srgbClr val="41B8A4"/>
                </a:solidFill>
                <a:latin typeface="Segoe Sans Text"/>
                <a:cs typeface="Segoe Sans Text" pitchFamily="2" charset="0"/>
              </a:rPr>
              <a:t>Partner / ISD + Factory scope division / ECIF Assessments</a:t>
            </a:r>
          </a:p>
        </p:txBody>
      </p:sp>
      <p:sp>
        <p:nvSpPr>
          <p:cNvPr id="42" name="Rectangle: Rounded Corners 41">
            <a:extLst>
              <a:ext uri="{FF2B5EF4-FFF2-40B4-BE49-F238E27FC236}">
                <a16:creationId xmlns:a16="http://schemas.microsoft.com/office/drawing/2014/main" id="{30538898-C441-16DB-270F-1FBDB97527AF}"/>
              </a:ext>
              <a:ext uri="{C183D7F6-B498-43B3-948B-1728B52AA6E4}">
                <adec:decorative xmlns:adec="http://schemas.microsoft.com/office/drawing/2017/decorative" val="0"/>
              </a:ext>
            </a:extLst>
          </p:cNvPr>
          <p:cNvSpPr>
            <a:spLocks/>
          </p:cNvSpPr>
          <p:nvPr/>
        </p:nvSpPr>
        <p:spPr>
          <a:xfrm>
            <a:off x="1093208" y="3133308"/>
            <a:ext cx="1612440" cy="874186"/>
          </a:xfrm>
          <a:prstGeom prst="roundRect">
            <a:avLst>
              <a:gd name="adj" fmla="val 10991"/>
            </a:avLst>
          </a:prstGeom>
          <a:solidFill>
            <a:srgbClr val="6ABEFF"/>
          </a:solidFill>
          <a:ln w="41275" cap="flat" cmpd="sng" algn="ctr">
            <a:noFill/>
            <a:prstDash val="solid"/>
            <a:headEnd type="none" w="med" len="med"/>
            <a:tailEnd type="none" w="med" len="med"/>
          </a:ln>
          <a:effectLst/>
        </p:spPr>
        <p:txBody>
          <a:bodyPr rot="0" spcFirstLastPara="0" vertOverflow="overflow" horzOverflow="overflow" vert="horz" wrap="square" lIns="137160" tIns="45720" rIns="91440" bIns="45720" numCol="1" spcCol="0" rtlCol="0" fromWordArt="0" anchor="ctr" anchorCtr="0" forceAA="0" compatLnSpc="1">
            <a:prstTxWarp prst="textNoShape">
              <a:avLst/>
            </a:prstTxWarp>
            <a:noAutofit/>
          </a:bodyPr>
          <a:lstStyle/>
          <a:p>
            <a:pPr algn="ctr"/>
            <a:r>
              <a:rPr lang="en-US" kern="0" noProof="0" dirty="0">
                <a:solidFill>
                  <a:srgbClr val="FFFFFF"/>
                </a:solidFill>
                <a:latin typeface="Segoe Sans Text Semibold"/>
              </a:rPr>
              <a:t>Factory Concierge Service</a:t>
            </a:r>
          </a:p>
        </p:txBody>
      </p:sp>
      <p:cxnSp>
        <p:nvCxnSpPr>
          <p:cNvPr id="43" name="Straight Arrow Connector 42">
            <a:extLst>
              <a:ext uri="{FF2B5EF4-FFF2-40B4-BE49-F238E27FC236}">
                <a16:creationId xmlns:a16="http://schemas.microsoft.com/office/drawing/2014/main" id="{D2B40592-89FD-F814-C2E6-B1DCBB22A315}"/>
              </a:ext>
              <a:ext uri="{C183D7F6-B498-43B3-948B-1728B52AA6E4}">
                <adec:decorative xmlns:adec="http://schemas.microsoft.com/office/drawing/2017/decorative" val="1"/>
              </a:ext>
            </a:extLst>
          </p:cNvPr>
          <p:cNvCxnSpPr>
            <a:cxnSpLocks/>
            <a:endCxn id="8" idx="2"/>
          </p:cNvCxnSpPr>
          <p:nvPr/>
        </p:nvCxnSpPr>
        <p:spPr>
          <a:xfrm>
            <a:off x="2777260" y="3568330"/>
            <a:ext cx="373068" cy="0"/>
          </a:xfrm>
          <a:prstGeom prst="straightConnector1">
            <a:avLst/>
          </a:prstGeom>
          <a:solidFill>
            <a:schemeClr val="bg1"/>
          </a:solidFill>
          <a:ln w="12700" cap="rnd">
            <a:gradFill>
              <a:gsLst>
                <a:gs pos="0">
                  <a:schemeClr val="accent2"/>
                </a:gs>
                <a:gs pos="100000">
                  <a:srgbClr val="0078D4"/>
                </a:gs>
              </a:gsLst>
              <a:lin ang="16200000" scaled="0"/>
            </a:gra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BA35413-C5B3-A2DE-8C0F-BBAFC35CF216}"/>
              </a:ext>
              <a:ext uri="{C183D7F6-B498-43B3-948B-1728B52AA6E4}">
                <adec:decorative xmlns:adec="http://schemas.microsoft.com/office/drawing/2017/decorative" val="1"/>
              </a:ext>
            </a:extLst>
          </p:cNvPr>
          <p:cNvCxnSpPr>
            <a:cxnSpLocks/>
          </p:cNvCxnSpPr>
          <p:nvPr/>
        </p:nvCxnSpPr>
        <p:spPr>
          <a:xfrm flipV="1">
            <a:off x="2959074" y="2905132"/>
            <a:ext cx="0" cy="68829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45" name="Graphic 51" descr="Document outline">
            <a:extLst>
              <a:ext uri="{FF2B5EF4-FFF2-40B4-BE49-F238E27FC236}">
                <a16:creationId xmlns:a16="http://schemas.microsoft.com/office/drawing/2014/main" id="{F1833EA0-3400-74E3-4A53-E664D2150BF1}"/>
              </a:ext>
            </a:extLst>
          </p:cNvPr>
          <p:cNvSpPr>
            <a:spLocks noChangeAspect="1"/>
          </p:cNvSpPr>
          <p:nvPr/>
        </p:nvSpPr>
        <p:spPr>
          <a:xfrm>
            <a:off x="2777260" y="2487566"/>
            <a:ext cx="292608" cy="365760"/>
          </a:xfrm>
          <a:custGeom>
            <a:avLst/>
            <a:gdLst>
              <a:gd name="connsiteX0" fmla="*/ 121920 w 243840"/>
              <a:gd name="connsiteY0" fmla="*/ 91440 h 304800"/>
              <a:gd name="connsiteX1" fmla="*/ 121920 w 243840"/>
              <a:gd name="connsiteY1" fmla="*/ 0 h 304800"/>
              <a:gd name="connsiteX2" fmla="*/ 30480 w 243840"/>
              <a:gd name="connsiteY2" fmla="*/ 0 h 304800"/>
              <a:gd name="connsiteX3" fmla="*/ 0 w 243840"/>
              <a:gd name="connsiteY3" fmla="*/ 30480 h 304800"/>
              <a:gd name="connsiteX4" fmla="*/ 0 w 243840"/>
              <a:gd name="connsiteY4" fmla="*/ 274320 h 304800"/>
              <a:gd name="connsiteX5" fmla="*/ 30480 w 243840"/>
              <a:gd name="connsiteY5" fmla="*/ 304800 h 304800"/>
              <a:gd name="connsiteX6" fmla="*/ 213360 w 243840"/>
              <a:gd name="connsiteY6" fmla="*/ 304800 h 304800"/>
              <a:gd name="connsiteX7" fmla="*/ 243840 w 243840"/>
              <a:gd name="connsiteY7" fmla="*/ 274320 h 304800"/>
              <a:gd name="connsiteX8" fmla="*/ 243840 w 243840"/>
              <a:gd name="connsiteY8" fmla="*/ 121920 h 304800"/>
              <a:gd name="connsiteX9" fmla="*/ 152400 w 243840"/>
              <a:gd name="connsiteY9" fmla="*/ 121920 h 304800"/>
              <a:gd name="connsiteX10" fmla="*/ 121920 w 243840"/>
              <a:gd name="connsiteY10" fmla="*/ 91440 h 304800"/>
              <a:gd name="connsiteX11" fmla="*/ 45720 w 243840"/>
              <a:gd name="connsiteY11" fmla="*/ 156210 h 304800"/>
              <a:gd name="connsiteX12" fmla="*/ 57150 w 243840"/>
              <a:gd name="connsiteY12" fmla="*/ 144780 h 304800"/>
              <a:gd name="connsiteX13" fmla="*/ 68580 w 243840"/>
              <a:gd name="connsiteY13" fmla="*/ 156210 h 304800"/>
              <a:gd name="connsiteX14" fmla="*/ 57150 w 243840"/>
              <a:gd name="connsiteY14" fmla="*/ 167640 h 304800"/>
              <a:gd name="connsiteX15" fmla="*/ 45720 w 243840"/>
              <a:gd name="connsiteY15" fmla="*/ 156210 h 304800"/>
              <a:gd name="connsiteX16" fmla="*/ 45720 w 243840"/>
              <a:gd name="connsiteY16" fmla="*/ 201930 h 304800"/>
              <a:gd name="connsiteX17" fmla="*/ 57150 w 243840"/>
              <a:gd name="connsiteY17" fmla="*/ 190500 h 304800"/>
              <a:gd name="connsiteX18" fmla="*/ 68580 w 243840"/>
              <a:gd name="connsiteY18" fmla="*/ 201930 h 304800"/>
              <a:gd name="connsiteX19" fmla="*/ 57150 w 243840"/>
              <a:gd name="connsiteY19" fmla="*/ 213360 h 304800"/>
              <a:gd name="connsiteX20" fmla="*/ 45720 w 243840"/>
              <a:gd name="connsiteY20" fmla="*/ 201930 h 304800"/>
              <a:gd name="connsiteX21" fmla="*/ 45720 w 243840"/>
              <a:gd name="connsiteY21" fmla="*/ 247650 h 304800"/>
              <a:gd name="connsiteX22" fmla="*/ 57150 w 243840"/>
              <a:gd name="connsiteY22" fmla="*/ 236220 h 304800"/>
              <a:gd name="connsiteX23" fmla="*/ 68580 w 243840"/>
              <a:gd name="connsiteY23" fmla="*/ 247650 h 304800"/>
              <a:gd name="connsiteX24" fmla="*/ 57150 w 243840"/>
              <a:gd name="connsiteY24" fmla="*/ 259080 h 304800"/>
              <a:gd name="connsiteX25" fmla="*/ 45720 w 243840"/>
              <a:gd name="connsiteY25" fmla="*/ 247650 h 304800"/>
              <a:gd name="connsiteX26" fmla="*/ 91440 w 243840"/>
              <a:gd name="connsiteY26" fmla="*/ 156210 h 304800"/>
              <a:gd name="connsiteX27" fmla="*/ 102870 w 243840"/>
              <a:gd name="connsiteY27" fmla="*/ 144780 h 304800"/>
              <a:gd name="connsiteX28" fmla="*/ 186690 w 243840"/>
              <a:gd name="connsiteY28" fmla="*/ 144780 h 304800"/>
              <a:gd name="connsiteX29" fmla="*/ 198120 w 243840"/>
              <a:gd name="connsiteY29" fmla="*/ 156210 h 304800"/>
              <a:gd name="connsiteX30" fmla="*/ 186690 w 243840"/>
              <a:gd name="connsiteY30" fmla="*/ 167640 h 304800"/>
              <a:gd name="connsiteX31" fmla="*/ 102870 w 243840"/>
              <a:gd name="connsiteY31" fmla="*/ 167640 h 304800"/>
              <a:gd name="connsiteX32" fmla="*/ 91440 w 243840"/>
              <a:gd name="connsiteY32" fmla="*/ 156210 h 304800"/>
              <a:gd name="connsiteX33" fmla="*/ 91440 w 243840"/>
              <a:gd name="connsiteY33" fmla="*/ 201930 h 304800"/>
              <a:gd name="connsiteX34" fmla="*/ 102870 w 243840"/>
              <a:gd name="connsiteY34" fmla="*/ 190500 h 304800"/>
              <a:gd name="connsiteX35" fmla="*/ 186690 w 243840"/>
              <a:gd name="connsiteY35" fmla="*/ 190500 h 304800"/>
              <a:gd name="connsiteX36" fmla="*/ 198120 w 243840"/>
              <a:gd name="connsiteY36" fmla="*/ 201930 h 304800"/>
              <a:gd name="connsiteX37" fmla="*/ 186690 w 243840"/>
              <a:gd name="connsiteY37" fmla="*/ 213360 h 304800"/>
              <a:gd name="connsiteX38" fmla="*/ 102870 w 243840"/>
              <a:gd name="connsiteY38" fmla="*/ 213360 h 304800"/>
              <a:gd name="connsiteX39" fmla="*/ 91440 w 243840"/>
              <a:gd name="connsiteY39" fmla="*/ 201930 h 304800"/>
              <a:gd name="connsiteX40" fmla="*/ 91440 w 243840"/>
              <a:gd name="connsiteY40" fmla="*/ 247650 h 304800"/>
              <a:gd name="connsiteX41" fmla="*/ 102870 w 243840"/>
              <a:gd name="connsiteY41" fmla="*/ 236220 h 304800"/>
              <a:gd name="connsiteX42" fmla="*/ 186690 w 243840"/>
              <a:gd name="connsiteY42" fmla="*/ 236220 h 304800"/>
              <a:gd name="connsiteX43" fmla="*/ 198120 w 243840"/>
              <a:gd name="connsiteY43" fmla="*/ 247650 h 304800"/>
              <a:gd name="connsiteX44" fmla="*/ 186690 w 243840"/>
              <a:gd name="connsiteY44" fmla="*/ 259080 h 304800"/>
              <a:gd name="connsiteX45" fmla="*/ 102870 w 243840"/>
              <a:gd name="connsiteY45" fmla="*/ 259080 h 304800"/>
              <a:gd name="connsiteX46" fmla="*/ 91440 w 243840"/>
              <a:gd name="connsiteY46" fmla="*/ 247650 h 304800"/>
              <a:gd name="connsiteX47" fmla="*/ 144780 w 243840"/>
              <a:gd name="connsiteY47" fmla="*/ 91440 h 304800"/>
              <a:gd name="connsiteX48" fmla="*/ 144780 w 243840"/>
              <a:gd name="connsiteY48" fmla="*/ 7620 h 304800"/>
              <a:gd name="connsiteX49" fmla="*/ 236220 w 243840"/>
              <a:gd name="connsiteY49" fmla="*/ 99060 h 304800"/>
              <a:gd name="connsiteX50" fmla="*/ 152400 w 243840"/>
              <a:gd name="connsiteY50" fmla="*/ 99060 h 304800"/>
              <a:gd name="connsiteX51" fmla="*/ 144780 w 243840"/>
              <a:gd name="connsiteY51" fmla="*/ 9144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43840" h="304800">
                <a:moveTo>
                  <a:pt x="121920" y="91440"/>
                </a:moveTo>
                <a:lnTo>
                  <a:pt x="121920" y="0"/>
                </a:lnTo>
                <a:lnTo>
                  <a:pt x="30480" y="0"/>
                </a:lnTo>
                <a:cubicBezTo>
                  <a:pt x="13646" y="0"/>
                  <a:pt x="0" y="13646"/>
                  <a:pt x="0" y="30480"/>
                </a:cubicBezTo>
                <a:lnTo>
                  <a:pt x="0" y="274320"/>
                </a:lnTo>
                <a:cubicBezTo>
                  <a:pt x="0" y="291154"/>
                  <a:pt x="13646" y="304800"/>
                  <a:pt x="30480" y="304800"/>
                </a:cubicBezTo>
                <a:lnTo>
                  <a:pt x="213360" y="304800"/>
                </a:lnTo>
                <a:cubicBezTo>
                  <a:pt x="230194" y="304800"/>
                  <a:pt x="243840" y="291154"/>
                  <a:pt x="243840" y="274320"/>
                </a:cubicBezTo>
                <a:lnTo>
                  <a:pt x="243840" y="121920"/>
                </a:lnTo>
                <a:lnTo>
                  <a:pt x="152400" y="121920"/>
                </a:lnTo>
                <a:cubicBezTo>
                  <a:pt x="135566" y="121920"/>
                  <a:pt x="121920" y="108274"/>
                  <a:pt x="121920" y="91440"/>
                </a:cubicBezTo>
                <a:close/>
                <a:moveTo>
                  <a:pt x="45720" y="156210"/>
                </a:moveTo>
                <a:cubicBezTo>
                  <a:pt x="45720" y="149898"/>
                  <a:pt x="50837" y="144780"/>
                  <a:pt x="57150" y="144780"/>
                </a:cubicBezTo>
                <a:cubicBezTo>
                  <a:pt x="63463" y="144780"/>
                  <a:pt x="68580" y="149898"/>
                  <a:pt x="68580" y="156210"/>
                </a:cubicBezTo>
                <a:cubicBezTo>
                  <a:pt x="68580" y="162522"/>
                  <a:pt x="63463" y="167640"/>
                  <a:pt x="57150" y="167640"/>
                </a:cubicBezTo>
                <a:cubicBezTo>
                  <a:pt x="50837" y="167640"/>
                  <a:pt x="45720" y="162522"/>
                  <a:pt x="45720" y="156210"/>
                </a:cubicBezTo>
                <a:close/>
                <a:moveTo>
                  <a:pt x="45720" y="201930"/>
                </a:moveTo>
                <a:cubicBezTo>
                  <a:pt x="45720" y="195618"/>
                  <a:pt x="50837" y="190500"/>
                  <a:pt x="57150" y="190500"/>
                </a:cubicBezTo>
                <a:cubicBezTo>
                  <a:pt x="63463" y="190500"/>
                  <a:pt x="68580" y="195618"/>
                  <a:pt x="68580" y="201930"/>
                </a:cubicBezTo>
                <a:cubicBezTo>
                  <a:pt x="68580" y="208242"/>
                  <a:pt x="63463" y="213360"/>
                  <a:pt x="57150" y="213360"/>
                </a:cubicBezTo>
                <a:cubicBezTo>
                  <a:pt x="50837" y="213360"/>
                  <a:pt x="45720" y="208242"/>
                  <a:pt x="45720" y="201930"/>
                </a:cubicBezTo>
                <a:close/>
                <a:moveTo>
                  <a:pt x="45720" y="247650"/>
                </a:moveTo>
                <a:cubicBezTo>
                  <a:pt x="45720" y="241338"/>
                  <a:pt x="50837" y="236220"/>
                  <a:pt x="57150" y="236220"/>
                </a:cubicBezTo>
                <a:cubicBezTo>
                  <a:pt x="63463" y="236220"/>
                  <a:pt x="68580" y="241338"/>
                  <a:pt x="68580" y="247650"/>
                </a:cubicBezTo>
                <a:cubicBezTo>
                  <a:pt x="68580" y="253962"/>
                  <a:pt x="63463" y="259080"/>
                  <a:pt x="57150" y="259080"/>
                </a:cubicBezTo>
                <a:cubicBezTo>
                  <a:pt x="50837" y="259080"/>
                  <a:pt x="45720" y="253962"/>
                  <a:pt x="45720" y="247650"/>
                </a:cubicBezTo>
                <a:close/>
                <a:moveTo>
                  <a:pt x="91440" y="156210"/>
                </a:moveTo>
                <a:cubicBezTo>
                  <a:pt x="91440" y="149898"/>
                  <a:pt x="96558" y="144780"/>
                  <a:pt x="102870" y="144780"/>
                </a:cubicBezTo>
                <a:lnTo>
                  <a:pt x="186690" y="144780"/>
                </a:lnTo>
                <a:cubicBezTo>
                  <a:pt x="193002" y="144780"/>
                  <a:pt x="198120" y="149898"/>
                  <a:pt x="198120" y="156210"/>
                </a:cubicBezTo>
                <a:cubicBezTo>
                  <a:pt x="198120" y="162522"/>
                  <a:pt x="193002" y="167640"/>
                  <a:pt x="186690" y="167640"/>
                </a:cubicBezTo>
                <a:lnTo>
                  <a:pt x="102870" y="167640"/>
                </a:lnTo>
                <a:cubicBezTo>
                  <a:pt x="96558" y="167640"/>
                  <a:pt x="91440" y="162522"/>
                  <a:pt x="91440" y="156210"/>
                </a:cubicBezTo>
                <a:close/>
                <a:moveTo>
                  <a:pt x="91440" y="201930"/>
                </a:moveTo>
                <a:cubicBezTo>
                  <a:pt x="91440" y="195618"/>
                  <a:pt x="96558" y="190500"/>
                  <a:pt x="102870" y="190500"/>
                </a:cubicBezTo>
                <a:lnTo>
                  <a:pt x="186690" y="190500"/>
                </a:lnTo>
                <a:cubicBezTo>
                  <a:pt x="193002" y="190500"/>
                  <a:pt x="198120" y="195618"/>
                  <a:pt x="198120" y="201930"/>
                </a:cubicBezTo>
                <a:cubicBezTo>
                  <a:pt x="198120" y="208242"/>
                  <a:pt x="193002" y="213360"/>
                  <a:pt x="186690" y="213360"/>
                </a:cubicBezTo>
                <a:lnTo>
                  <a:pt x="102870" y="213360"/>
                </a:lnTo>
                <a:cubicBezTo>
                  <a:pt x="96558" y="213360"/>
                  <a:pt x="91440" y="208242"/>
                  <a:pt x="91440" y="201930"/>
                </a:cubicBezTo>
                <a:close/>
                <a:moveTo>
                  <a:pt x="91440" y="247650"/>
                </a:moveTo>
                <a:cubicBezTo>
                  <a:pt x="91440" y="241338"/>
                  <a:pt x="96558" y="236220"/>
                  <a:pt x="102870" y="236220"/>
                </a:cubicBezTo>
                <a:lnTo>
                  <a:pt x="186690" y="236220"/>
                </a:lnTo>
                <a:cubicBezTo>
                  <a:pt x="193002" y="236220"/>
                  <a:pt x="198120" y="241338"/>
                  <a:pt x="198120" y="247650"/>
                </a:cubicBezTo>
                <a:cubicBezTo>
                  <a:pt x="198120" y="253962"/>
                  <a:pt x="193002" y="259080"/>
                  <a:pt x="186690" y="259080"/>
                </a:cubicBezTo>
                <a:lnTo>
                  <a:pt x="102870" y="259080"/>
                </a:lnTo>
                <a:cubicBezTo>
                  <a:pt x="96558" y="259080"/>
                  <a:pt x="91440" y="253962"/>
                  <a:pt x="91440" y="247650"/>
                </a:cubicBezTo>
                <a:close/>
                <a:moveTo>
                  <a:pt x="144780" y="91440"/>
                </a:moveTo>
                <a:lnTo>
                  <a:pt x="144780" y="7620"/>
                </a:lnTo>
                <a:lnTo>
                  <a:pt x="236220" y="99060"/>
                </a:lnTo>
                <a:lnTo>
                  <a:pt x="152400" y="99060"/>
                </a:lnTo>
                <a:cubicBezTo>
                  <a:pt x="148192" y="99060"/>
                  <a:pt x="144780" y="95648"/>
                  <a:pt x="144780" y="91440"/>
                </a:cubicBezTo>
                <a:close/>
              </a:path>
            </a:pathLst>
          </a:custGeom>
          <a:gradFill flip="none" rotWithShape="1">
            <a:gsLst>
              <a:gs pos="40000">
                <a:srgbClr val="0078D4"/>
              </a:gs>
              <a:gs pos="100000">
                <a:srgbClr val="49C5B1"/>
              </a:gs>
              <a:gs pos="0">
                <a:srgbClr val="8661C5"/>
              </a:gs>
            </a:gsLst>
            <a:path path="circle">
              <a:fillToRect l="100000" t="100000"/>
            </a:path>
            <a:tileRect r="-100000" b="-100000"/>
          </a:gradFill>
          <a:ln w="2659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46" name="TextBox 45">
            <a:extLst>
              <a:ext uri="{FF2B5EF4-FFF2-40B4-BE49-F238E27FC236}">
                <a16:creationId xmlns:a16="http://schemas.microsoft.com/office/drawing/2014/main" id="{200CEE9C-86A7-04CF-87DA-8716A04BC071}"/>
              </a:ext>
            </a:extLst>
          </p:cNvPr>
          <p:cNvSpPr txBox="1"/>
          <p:nvPr/>
        </p:nvSpPr>
        <p:spPr>
          <a:xfrm>
            <a:off x="2180960" y="2106344"/>
            <a:ext cx="1117614" cy="369332"/>
          </a:xfrm>
          <a:prstGeom prst="rect">
            <a:avLst/>
          </a:prstGeom>
          <a:noFill/>
        </p:spPr>
        <p:txBody>
          <a:bodyPr wrap="none" rtlCol="0">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1000" noProof="0" dirty="0">
                <a:solidFill>
                  <a:prstClr val="black"/>
                </a:solidFill>
                <a:latin typeface="Segoe Sans Text"/>
                <a:cs typeface="Segoe Sans Text" pitchFamily="2" charset="0"/>
              </a:rPr>
              <a:t>Implementation </a:t>
            </a:r>
          </a:p>
          <a:p>
            <a:pPr marL="0" marR="0" lvl="0" indent="0" algn="ctr" defTabSz="914400" rtl="0" eaLnBrk="1" fontAlgn="auto" latinLnBrk="0" hangingPunct="1">
              <a:lnSpc>
                <a:spcPct val="90000"/>
              </a:lnSpc>
              <a:spcBef>
                <a:spcPct val="0"/>
              </a:spcBef>
              <a:spcAft>
                <a:spcPts val="0"/>
              </a:spcAft>
              <a:buClrTx/>
              <a:buSzTx/>
              <a:buFontTx/>
              <a:buNone/>
              <a:tabLst/>
              <a:defRPr/>
            </a:pPr>
            <a:r>
              <a:rPr lang="en-US" sz="1000" noProof="0" dirty="0">
                <a:solidFill>
                  <a:prstClr val="black"/>
                </a:solidFill>
                <a:latin typeface="Segoe Sans Text"/>
                <a:cs typeface="Segoe Sans Text" pitchFamily="2" charset="0"/>
              </a:rPr>
              <a:t>solution</a:t>
            </a:r>
            <a:endParaRPr kumimoji="0" lang="en-US" sz="900" b="0" i="0" u="none" strike="noStrike" kern="1200" cap="none" spc="0" normalizeH="0" baseline="0" noProof="0" dirty="0">
              <a:ln>
                <a:noFill/>
              </a:ln>
              <a:solidFill>
                <a:prstClr val="black"/>
              </a:solidFill>
              <a:effectLst/>
              <a:uLnTx/>
              <a:uFillTx/>
              <a:latin typeface="Segoe Sans Text"/>
              <a:ea typeface="+mn-ea"/>
              <a:cs typeface="Segoe Sans Text" pitchFamily="2" charset="0"/>
            </a:endParaRPr>
          </a:p>
        </p:txBody>
      </p:sp>
      <p:sp>
        <p:nvSpPr>
          <p:cNvPr id="47" name="Rounded Rectangle 35">
            <a:extLst>
              <a:ext uri="{FF2B5EF4-FFF2-40B4-BE49-F238E27FC236}">
                <a16:creationId xmlns:a16="http://schemas.microsoft.com/office/drawing/2014/main" id="{4F674563-D396-8D73-ABEE-2447580AC5F4}"/>
              </a:ext>
              <a:ext uri="{C183D7F6-B498-43B3-948B-1728B52AA6E4}">
                <adec:decorative xmlns:adec="http://schemas.microsoft.com/office/drawing/2017/decorative" val="1"/>
              </a:ext>
            </a:extLst>
          </p:cNvPr>
          <p:cNvSpPr>
            <a:spLocks/>
          </p:cNvSpPr>
          <p:nvPr/>
        </p:nvSpPr>
        <p:spPr bwMode="auto">
          <a:xfrm>
            <a:off x="706449" y="1775702"/>
            <a:ext cx="2489920" cy="3839035"/>
          </a:xfrm>
          <a:prstGeom prst="roundRect">
            <a:avLst>
              <a:gd name="adj" fmla="val 993"/>
            </a:avLst>
          </a:prstGeom>
          <a:noFill/>
          <a:ln w="19050" cap="rnd" cmpd="sng" algn="ctr">
            <a:solidFill>
              <a:schemeClr val="tx2"/>
            </a:solidFill>
            <a:prstDash val="dash"/>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Segoe Sans Display Semibold" pitchFamily="2" charset="0"/>
              <a:ea typeface="+mn-ea"/>
              <a:cs typeface="Segoe Sans Text" pitchFamily="2" charset="0"/>
            </a:endParaRPr>
          </a:p>
        </p:txBody>
      </p:sp>
      <p:sp>
        <p:nvSpPr>
          <p:cNvPr id="48" name="Rectangle: Rounded Corners 47">
            <a:extLst>
              <a:ext uri="{FF2B5EF4-FFF2-40B4-BE49-F238E27FC236}">
                <a16:creationId xmlns:a16="http://schemas.microsoft.com/office/drawing/2014/main" id="{8C00C84A-3F44-1E73-E029-2519CA9B94F6}"/>
              </a:ext>
              <a:ext uri="{C183D7F6-B498-43B3-948B-1728B52AA6E4}">
                <adec:decorative xmlns:adec="http://schemas.microsoft.com/office/drawing/2017/decorative" val="0"/>
              </a:ext>
            </a:extLst>
          </p:cNvPr>
          <p:cNvSpPr/>
          <p:nvPr/>
        </p:nvSpPr>
        <p:spPr bwMode="auto">
          <a:xfrm>
            <a:off x="705919" y="5953900"/>
            <a:ext cx="2592655" cy="457200"/>
          </a:xfrm>
          <a:prstGeom prst="roundRect">
            <a:avLst>
              <a:gd name="adj" fmla="val 50000"/>
            </a:avLst>
          </a:prstGeom>
          <a:solidFill>
            <a:srgbClr val="FFFFFF"/>
          </a:solidFill>
          <a:ln>
            <a:gradFill>
              <a:gsLst>
                <a:gs pos="0">
                  <a:srgbClr val="0F74D2"/>
                </a:gs>
                <a:gs pos="51000">
                  <a:srgbClr val="2A72A7"/>
                </a:gs>
                <a:gs pos="100000">
                  <a:srgbClr val="3CB8B7"/>
                </a:gs>
              </a:gsLst>
              <a:lin ang="5400000" scaled="1"/>
            </a:gradFill>
            <a:headEnd type="none" w="med" len="med"/>
            <a:tailEnd type="none" w="med" len="med"/>
          </a:ln>
          <a:effectLst>
            <a:outerShdw blurRad="88900" dist="38100" dir="2700000" algn="ctr" rotWithShape="0">
              <a:srgbClr val="000000">
                <a:alpha val="3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6868" tIns="43434" rIns="86868" bIns="43434" numCol="1" spcCol="0" rtlCol="0" fromWordArt="0" anchor="ctr" anchorCtr="0" forceAA="0" compatLnSpc="1">
            <a:prstTxWarp prst="textNoShape">
              <a:avLst/>
            </a:prstTxWarp>
            <a:noAutofit/>
          </a:bodyPr>
          <a:lstStyle/>
          <a:p>
            <a:pPr algn="ctr" defTabSz="885848" fontAlgn="base">
              <a:spcBef>
                <a:spcPct val="0"/>
              </a:spcBef>
              <a:spcAft>
                <a:spcPct val="0"/>
              </a:spcAft>
            </a:pPr>
            <a:r>
              <a:rPr lang="en-US" sz="1050" b="1" noProof="0" dirty="0">
                <a:solidFill>
                  <a:srgbClr val="0F74D2"/>
                </a:solidFill>
                <a:latin typeface="Segoe Sans Display Semibold" pitchFamily="2" charset="0"/>
                <a:cs typeface="Segoe Sans Text" pitchFamily="2" charset="0"/>
              </a:rPr>
              <a:t>10 days – Target timeline to complete scoping and approved nomination</a:t>
            </a:r>
          </a:p>
        </p:txBody>
      </p:sp>
      <p:sp>
        <p:nvSpPr>
          <p:cNvPr id="49" name="TextBox 48">
            <a:extLst>
              <a:ext uri="{FF2B5EF4-FFF2-40B4-BE49-F238E27FC236}">
                <a16:creationId xmlns:a16="http://schemas.microsoft.com/office/drawing/2014/main" id="{3B09D0C9-A652-DBBA-C819-D21E2A617F8F}"/>
              </a:ext>
            </a:extLst>
          </p:cNvPr>
          <p:cNvSpPr txBox="1"/>
          <p:nvPr/>
        </p:nvSpPr>
        <p:spPr>
          <a:xfrm>
            <a:off x="4509089" y="1840507"/>
            <a:ext cx="5752070" cy="184666"/>
          </a:xfrm>
          <a:prstGeom prst="rect">
            <a:avLst/>
          </a:prstGeom>
          <a:noFill/>
        </p:spPr>
        <p:txBody>
          <a:bodyPr wrap="square" lIns="0" tIns="0" rIns="0" bIns="0" rtlCol="0">
            <a:spAutoFit/>
          </a:bodyPr>
          <a:lstStyle/>
          <a:p>
            <a:pPr algn="ctr"/>
            <a:r>
              <a:rPr lang="en-US" sz="1200" b="1" noProof="0" dirty="0">
                <a:solidFill>
                  <a:srgbClr val="41B8A4"/>
                </a:solidFill>
              </a:rPr>
              <a:t>Factory will operate as a delivery engine working under ISD / Partner</a:t>
            </a:r>
          </a:p>
        </p:txBody>
      </p:sp>
      <p:sp>
        <p:nvSpPr>
          <p:cNvPr id="50" name="TextBox 49">
            <a:extLst>
              <a:ext uri="{FF2B5EF4-FFF2-40B4-BE49-F238E27FC236}">
                <a16:creationId xmlns:a16="http://schemas.microsoft.com/office/drawing/2014/main" id="{9FF8F25B-FB4B-4833-3EAE-91DAF556664A}"/>
              </a:ext>
            </a:extLst>
          </p:cNvPr>
          <p:cNvSpPr txBox="1"/>
          <p:nvPr/>
        </p:nvSpPr>
        <p:spPr>
          <a:xfrm>
            <a:off x="962949" y="1467391"/>
            <a:ext cx="2332809" cy="184666"/>
          </a:xfrm>
          <a:prstGeom prst="rect">
            <a:avLst/>
          </a:prstGeom>
          <a:noFill/>
        </p:spPr>
        <p:txBody>
          <a:bodyPr wrap="square" lIns="0" tIns="0" rIns="0" bIns="0" rtlCol="0">
            <a:spAutoFit/>
          </a:bodyPr>
          <a:lstStyle/>
          <a:p>
            <a:pPr algn="ctr"/>
            <a:r>
              <a:rPr lang="en-US" sz="1200" b="1" noProof="0" dirty="0"/>
              <a:t>Project qualification</a:t>
            </a:r>
          </a:p>
        </p:txBody>
      </p:sp>
      <p:sp>
        <p:nvSpPr>
          <p:cNvPr id="51" name="Rectangle 50">
            <a:extLst>
              <a:ext uri="{FF2B5EF4-FFF2-40B4-BE49-F238E27FC236}">
                <a16:creationId xmlns:a16="http://schemas.microsoft.com/office/drawing/2014/main" id="{F1DE3B57-A0AB-453B-3BD4-CA31866F2783}"/>
              </a:ext>
            </a:extLst>
          </p:cNvPr>
          <p:cNvSpPr/>
          <p:nvPr/>
        </p:nvSpPr>
        <p:spPr bwMode="auto">
          <a:xfrm>
            <a:off x="1218746" y="2540344"/>
            <a:ext cx="1367261" cy="42338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900" noProof="0" dirty="0">
                <a:solidFill>
                  <a:schemeClr val="bg1"/>
                </a:solidFill>
                <a:ea typeface="Segoe UI" pitchFamily="34" charset="0"/>
                <a:cs typeface="Segoe UI" pitchFamily="34" charset="0"/>
                <a:hlinkClick r:id="rId3">
                  <a:extLst>
                    <a:ext uri="{A12FA001-AC4F-418D-AE19-62706E023703}">
                      <ahyp:hlinkClr xmlns:ahyp="http://schemas.microsoft.com/office/drawing/2018/hyperlinkcolor" val="tx"/>
                    </a:ext>
                  </a:extLst>
                </a:hlinkClick>
              </a:rPr>
              <a:t>Factory Nomination </a:t>
            </a:r>
            <a:r>
              <a:rPr lang="en-US" sz="900" noProof="0" dirty="0">
                <a:solidFill>
                  <a:schemeClr val="bg1"/>
                </a:solidFill>
                <a:ea typeface="Segoe UI" pitchFamily="34" charset="0"/>
                <a:cs typeface="Segoe UI" pitchFamily="34" charset="0"/>
              </a:rPr>
              <a:t>against a qualified MSX pipeline</a:t>
            </a:r>
          </a:p>
        </p:txBody>
      </p:sp>
      <p:cxnSp>
        <p:nvCxnSpPr>
          <p:cNvPr id="52" name="Straight Arrow Connector 51">
            <a:extLst>
              <a:ext uri="{FF2B5EF4-FFF2-40B4-BE49-F238E27FC236}">
                <a16:creationId xmlns:a16="http://schemas.microsoft.com/office/drawing/2014/main" id="{AA7DA9E0-C23F-D6F0-586C-A56E80DCDE47}"/>
              </a:ext>
            </a:extLst>
          </p:cNvPr>
          <p:cNvCxnSpPr>
            <a:endCxn id="42" idx="0"/>
          </p:cNvCxnSpPr>
          <p:nvPr/>
        </p:nvCxnSpPr>
        <p:spPr>
          <a:xfrm>
            <a:off x="1899428" y="2976806"/>
            <a:ext cx="0" cy="156502"/>
          </a:xfrm>
          <a:prstGeom prst="straightConnector1">
            <a:avLst/>
          </a:prstGeom>
          <a:solidFill>
            <a:schemeClr val="bg1"/>
          </a:solidFill>
          <a:ln w="12700" cap="rnd">
            <a:solidFill>
              <a:srgbClr val="0078D4"/>
            </a:solidFill>
            <a:prstDash val="sysDot"/>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A68FF551-4B85-F196-911D-CD735223D32F}"/>
              </a:ext>
            </a:extLst>
          </p:cNvPr>
          <p:cNvSpPr/>
          <p:nvPr/>
        </p:nvSpPr>
        <p:spPr>
          <a:xfrm>
            <a:off x="3497202" y="1468285"/>
            <a:ext cx="7906710" cy="290861"/>
          </a:xfrm>
          <a:prstGeom prst="round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kern="0" noProof="0" dirty="0">
                <a:solidFill>
                  <a:schemeClr val="bg1"/>
                </a:solidFill>
                <a:latin typeface="+mj-lt"/>
                <a:ea typeface="+mj-ea"/>
                <a:cs typeface="+mj-cs"/>
              </a:rPr>
              <a:t>Overall program governance, change management, communication management owned by ISD / Partner</a:t>
            </a:r>
          </a:p>
        </p:txBody>
      </p:sp>
      <p:sp>
        <p:nvSpPr>
          <p:cNvPr id="54" name="Oval 53">
            <a:extLst>
              <a:ext uri="{FF2B5EF4-FFF2-40B4-BE49-F238E27FC236}">
                <a16:creationId xmlns:a16="http://schemas.microsoft.com/office/drawing/2014/main" id="{232CC284-F77D-75BF-B34C-6168502002F0}"/>
              </a:ext>
            </a:extLst>
          </p:cNvPr>
          <p:cNvSpPr/>
          <p:nvPr/>
        </p:nvSpPr>
        <p:spPr bwMode="auto">
          <a:xfrm>
            <a:off x="9227386" y="1027164"/>
            <a:ext cx="226978" cy="199193"/>
          </a:xfrm>
          <a:prstGeom prst="ellipse">
            <a:avLst/>
          </a:prstGeom>
          <a:solidFill>
            <a:srgbClr val="0E6083"/>
          </a:soli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56" name="Oval 55">
            <a:extLst>
              <a:ext uri="{FF2B5EF4-FFF2-40B4-BE49-F238E27FC236}">
                <a16:creationId xmlns:a16="http://schemas.microsoft.com/office/drawing/2014/main" id="{625F5B64-B368-BFC4-2978-F3E161895D82}"/>
              </a:ext>
            </a:extLst>
          </p:cNvPr>
          <p:cNvSpPr/>
          <p:nvPr/>
        </p:nvSpPr>
        <p:spPr bwMode="auto">
          <a:xfrm>
            <a:off x="10502647" y="1028816"/>
            <a:ext cx="226978" cy="199193"/>
          </a:xfrm>
          <a:prstGeom prst="ellipse">
            <a:avLst/>
          </a:prstGeom>
          <a:solidFill>
            <a:srgbClr val="6ABE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8" name="TextBox 37">
            <a:extLst>
              <a:ext uri="{FF2B5EF4-FFF2-40B4-BE49-F238E27FC236}">
                <a16:creationId xmlns:a16="http://schemas.microsoft.com/office/drawing/2014/main" id="{A6ACDEB3-3A53-15F0-CF7A-3A819D6EE282}"/>
              </a:ext>
            </a:extLst>
          </p:cNvPr>
          <p:cNvSpPr txBox="1"/>
          <p:nvPr/>
        </p:nvSpPr>
        <p:spPr>
          <a:xfrm>
            <a:off x="9426252" y="985456"/>
            <a:ext cx="1049419" cy="246221"/>
          </a:xfrm>
          <a:prstGeom prst="rect">
            <a:avLst/>
          </a:prstGeom>
          <a:noFill/>
        </p:spPr>
        <p:txBody>
          <a:bodyPr wrap="square">
            <a:spAutoFit/>
          </a:bodyPr>
          <a:lstStyle/>
          <a:p>
            <a:r>
              <a:rPr lang="en-US" sz="1000" noProof="0" dirty="0"/>
              <a:t>ISD / Partner</a:t>
            </a:r>
          </a:p>
        </p:txBody>
      </p:sp>
      <p:sp>
        <p:nvSpPr>
          <p:cNvPr id="57" name="TextBox 56">
            <a:extLst>
              <a:ext uri="{FF2B5EF4-FFF2-40B4-BE49-F238E27FC236}">
                <a16:creationId xmlns:a16="http://schemas.microsoft.com/office/drawing/2014/main" id="{CECDA536-19DF-28E2-700A-A9334EF0DE6D}"/>
              </a:ext>
            </a:extLst>
          </p:cNvPr>
          <p:cNvSpPr txBox="1"/>
          <p:nvPr/>
        </p:nvSpPr>
        <p:spPr>
          <a:xfrm>
            <a:off x="10712900" y="978955"/>
            <a:ext cx="800486" cy="246221"/>
          </a:xfrm>
          <a:prstGeom prst="rect">
            <a:avLst/>
          </a:prstGeom>
          <a:noFill/>
        </p:spPr>
        <p:txBody>
          <a:bodyPr wrap="square">
            <a:spAutoFit/>
          </a:bodyPr>
          <a:lstStyle/>
          <a:p>
            <a:r>
              <a:rPr lang="en-US" sz="1000" noProof="0" dirty="0"/>
              <a:t>Factory</a:t>
            </a:r>
          </a:p>
        </p:txBody>
      </p:sp>
    </p:spTree>
    <p:extLst>
      <p:ext uri="{BB962C8B-B14F-4D97-AF65-F5344CB8AC3E}">
        <p14:creationId xmlns:p14="http://schemas.microsoft.com/office/powerpoint/2010/main" val="1487316659"/>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19791FCA-462F-72BE-D54A-B04689AA92EB}"/>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1A141888-05A3-24F3-B00F-215DFFB3ED73}"/>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323081CE-8B30-78EC-66BC-F02B8C2FB850}"/>
              </a:ext>
            </a:extLst>
          </p:cNvPr>
          <p:cNvSpPr>
            <a:spLocks noGrp="1"/>
          </p:cNvSpPr>
          <p:nvPr>
            <p:ph type="title"/>
          </p:nvPr>
        </p:nvSpPr>
        <p:spPr/>
        <p:txBody>
          <a:bodyPr/>
          <a:lstStyle/>
          <a:p>
            <a:r>
              <a:rPr lang="en-US" sz="2800" noProof="0" dirty="0"/>
              <a:t>Governance &amp; Delivery for Scope 1</a:t>
            </a:r>
          </a:p>
        </p:txBody>
      </p:sp>
      <p:sp>
        <p:nvSpPr>
          <p:cNvPr id="4" name="Text 7">
            <a:extLst>
              <a:ext uri="{FF2B5EF4-FFF2-40B4-BE49-F238E27FC236}">
                <a16:creationId xmlns:a16="http://schemas.microsoft.com/office/drawing/2014/main" id="{D6ED75FD-5420-EC66-1564-6E3518476F5F}"/>
              </a:ext>
            </a:extLst>
          </p:cNvPr>
          <p:cNvSpPr/>
          <p:nvPr/>
        </p:nvSpPr>
        <p:spPr>
          <a:xfrm>
            <a:off x="382561" y="1078993"/>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48DE7067-92AE-968B-0912-C0202A5B632E}"/>
              </a:ext>
            </a:extLst>
          </p:cNvPr>
          <p:cNvSpPr/>
          <p:nvPr/>
        </p:nvSpPr>
        <p:spPr>
          <a:xfrm>
            <a:off x="382561" y="1365023"/>
            <a:ext cx="457200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Provides the foundational management layer that orchestrates all workstreams, ensures stakeholder alignment, and drives accountability from engagement kick-off through hypercare close. The PMO operates as the single governance spine across every service track.</a:t>
            </a:r>
            <a:endParaRPr lang="en-US" sz="1000" noProof="0" dirty="0"/>
          </a:p>
        </p:txBody>
      </p:sp>
      <p:sp>
        <p:nvSpPr>
          <p:cNvPr id="6" name="Shape 9">
            <a:extLst>
              <a:ext uri="{FF2B5EF4-FFF2-40B4-BE49-F238E27FC236}">
                <a16:creationId xmlns:a16="http://schemas.microsoft.com/office/drawing/2014/main" id="{F97F587A-6B6B-D429-E0F6-11BCB4732D69}"/>
              </a:ext>
            </a:extLst>
          </p:cNvPr>
          <p:cNvSpPr/>
          <p:nvPr/>
        </p:nvSpPr>
        <p:spPr>
          <a:xfrm>
            <a:off x="384066" y="2416128"/>
            <a:ext cx="457200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48CFDD96-2E6F-1B3F-17A2-7F8D896BCAD3}"/>
              </a:ext>
            </a:extLst>
          </p:cNvPr>
          <p:cNvSpPr/>
          <p:nvPr/>
        </p:nvSpPr>
        <p:spPr>
          <a:xfrm>
            <a:off x="382561" y="2498880"/>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F5A5EB79-F1B9-4DE5-E22C-C4199F621D1F}"/>
              </a:ext>
            </a:extLst>
          </p:cNvPr>
          <p:cNvSpPr/>
          <p:nvPr/>
        </p:nvSpPr>
        <p:spPr>
          <a:xfrm>
            <a:off x="382561" y="2788168"/>
            <a:ext cx="4572000"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Engagement kick-off and scope validation</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Program and technical management oversight</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Delivery governance checkpoints &amp; RAID log</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Stakeholder management and status reporting</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RACI definition and delivery model finalization</a:t>
            </a:r>
          </a:p>
          <a:p>
            <a:pPr marL="171450" indent="-228600">
              <a:lnSpc>
                <a:spcPct val="150000"/>
              </a:lnSpc>
              <a:buClr>
                <a:srgbClr val="41B8A4"/>
              </a:buClr>
              <a:buSzPct val="125000"/>
              <a:buFont typeface="Segoe Sans Text" pitchFamily="2" charset="0"/>
              <a:buChar char="■"/>
            </a:pPr>
            <a:endParaRPr lang="en-US" sz="1050" noProof="0" dirty="0">
              <a:solidFill>
                <a:schemeClr val="bg1"/>
              </a:solidFill>
            </a:endParaRPr>
          </a:p>
        </p:txBody>
      </p:sp>
      <p:sp>
        <p:nvSpPr>
          <p:cNvPr id="9" name="Shape 9">
            <a:extLst>
              <a:ext uri="{FF2B5EF4-FFF2-40B4-BE49-F238E27FC236}">
                <a16:creationId xmlns:a16="http://schemas.microsoft.com/office/drawing/2014/main" id="{76681D50-03A7-3537-D7BB-8A7100DA8F0A}"/>
              </a:ext>
            </a:extLst>
          </p:cNvPr>
          <p:cNvSpPr/>
          <p:nvPr/>
        </p:nvSpPr>
        <p:spPr>
          <a:xfrm>
            <a:off x="384066" y="4522491"/>
            <a:ext cx="457200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9A39700C-B9D1-E7A7-8987-6A92F95AE422}"/>
              </a:ext>
            </a:extLst>
          </p:cNvPr>
          <p:cNvSpPr/>
          <p:nvPr/>
        </p:nvSpPr>
        <p:spPr>
          <a:xfrm>
            <a:off x="382561" y="4633981"/>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DD15C4AC-3E41-D3D6-F985-E4210ACE8FA1}"/>
              </a:ext>
            </a:extLst>
          </p:cNvPr>
          <p:cNvSpPr/>
          <p:nvPr/>
        </p:nvSpPr>
        <p:spPr>
          <a:xfrm>
            <a:off x="382561" y="4923270"/>
            <a:ext cx="4572000" cy="1505502"/>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Single source of truth for delivery status</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Risk issues escalated and resolved on time</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Alignment between client, partner, and Microsoft</a:t>
            </a:r>
          </a:p>
        </p:txBody>
      </p:sp>
      <p:sp>
        <p:nvSpPr>
          <p:cNvPr id="12" name="Text 7">
            <a:extLst>
              <a:ext uri="{FF2B5EF4-FFF2-40B4-BE49-F238E27FC236}">
                <a16:creationId xmlns:a16="http://schemas.microsoft.com/office/drawing/2014/main" id="{A3BEB4F7-C4BB-D5E6-9037-A1C3ABAC4AD8}"/>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rgbClr val="1A7385"/>
                </a:solidFill>
                <a:ea typeface="Calibri" pitchFamily="34" charset="-122"/>
                <a:cs typeface="Calibri" pitchFamily="34" charset="-120"/>
              </a:rPr>
              <a:t>DELIVERABLES &amp; ACTIVITIES </a:t>
            </a:r>
            <a:endParaRPr lang="en-US" sz="1000" noProof="0" dirty="0">
              <a:solidFill>
                <a:srgbClr val="1A7385"/>
              </a:solidFill>
            </a:endParaRPr>
          </a:p>
        </p:txBody>
      </p:sp>
      <p:grpSp>
        <p:nvGrpSpPr>
          <p:cNvPr id="15" name="Group 14">
            <a:extLst>
              <a:ext uri="{FF2B5EF4-FFF2-40B4-BE49-F238E27FC236}">
                <a16:creationId xmlns:a16="http://schemas.microsoft.com/office/drawing/2014/main" id="{273381DE-062A-96A5-5F1B-FF7684E0B6D3}"/>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0AAAFA4A-9EC3-E46D-2DF1-EFD86C827924}"/>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EB6DC18A-7FD6-C533-8738-679CEAF1F41B}"/>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Initiation</a:t>
              </a:r>
            </a:p>
          </p:txBody>
        </p:sp>
      </p:grpSp>
      <p:sp>
        <p:nvSpPr>
          <p:cNvPr id="16" name="Text 8">
            <a:extLst>
              <a:ext uri="{FF2B5EF4-FFF2-40B4-BE49-F238E27FC236}">
                <a16:creationId xmlns:a16="http://schemas.microsoft.com/office/drawing/2014/main" id="{323EC7CA-073B-EFD1-348F-C9BA3DEC5FA0}"/>
              </a:ext>
            </a:extLst>
          </p:cNvPr>
          <p:cNvSpPr/>
          <p:nvPr/>
        </p:nvSpPr>
        <p:spPr>
          <a:xfrm>
            <a:off x="5347480" y="1763627"/>
            <a:ext cx="6630252" cy="1432246"/>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Engagement Charter &amp; Scope Document</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RACI Matrix &amp; Delivery Model</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Project Plan (WBS, milestones, dependencies)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Risk &amp; Issue Register (RAID Log)</a:t>
            </a:r>
          </a:p>
          <a:p>
            <a:pPr marL="171450" indent="-228600">
              <a:lnSpc>
                <a:spcPct val="200000"/>
              </a:lnSpc>
              <a:buClr>
                <a:srgbClr val="1A7385"/>
              </a:buClr>
              <a:buSzPct val="125000"/>
              <a:buFont typeface="Segoe Sans Text" pitchFamily="2" charset="0"/>
              <a:buChar char="■"/>
            </a:pPr>
            <a:endParaRPr lang="en-US" sz="1050" noProof="0" dirty="0">
              <a:solidFill>
                <a:schemeClr val="accent2">
                  <a:lumMod val="75000"/>
                </a:schemeClr>
              </a:solidFill>
            </a:endParaRPr>
          </a:p>
          <a:p>
            <a:pPr marL="171450" indent="-228600">
              <a:lnSpc>
                <a:spcPct val="200000"/>
              </a:lnSpc>
              <a:buClr>
                <a:srgbClr val="1A7385"/>
              </a:buClr>
              <a:buSzPct val="125000"/>
              <a:buFont typeface="Segoe Sans Text" pitchFamily="2" charset="0"/>
              <a:buChar char="■"/>
            </a:pPr>
            <a:endParaRPr lang="en-US" sz="1050" noProof="0" dirty="0">
              <a:solidFill>
                <a:schemeClr val="accent2">
                  <a:lumMod val="75000"/>
                </a:schemeClr>
              </a:solidFill>
            </a:endParaRPr>
          </a:p>
        </p:txBody>
      </p:sp>
      <p:grpSp>
        <p:nvGrpSpPr>
          <p:cNvPr id="17" name="Group 16">
            <a:extLst>
              <a:ext uri="{FF2B5EF4-FFF2-40B4-BE49-F238E27FC236}">
                <a16:creationId xmlns:a16="http://schemas.microsoft.com/office/drawing/2014/main" id="{BB1E74E0-0915-B52C-A826-B4A7E7FD041C}"/>
              </a:ext>
            </a:extLst>
          </p:cNvPr>
          <p:cNvGrpSpPr/>
          <p:nvPr/>
        </p:nvGrpSpPr>
        <p:grpSpPr>
          <a:xfrm>
            <a:off x="5345976" y="3192859"/>
            <a:ext cx="6631757" cy="275821"/>
            <a:chOff x="5347480" y="1447053"/>
            <a:chExt cx="6370320" cy="275821"/>
          </a:xfrm>
        </p:grpSpPr>
        <p:sp>
          <p:nvSpPr>
            <p:cNvPr id="18" name="Rectangle 17">
              <a:extLst>
                <a:ext uri="{FF2B5EF4-FFF2-40B4-BE49-F238E27FC236}">
                  <a16:creationId xmlns:a16="http://schemas.microsoft.com/office/drawing/2014/main" id="{B4FC510A-E28B-D39E-59AD-7BDAD51BCCD1}"/>
                </a:ext>
              </a:extLst>
            </p:cNvPr>
            <p:cNvSpPr/>
            <p:nvPr/>
          </p:nvSpPr>
          <p:spPr bwMode="auto">
            <a:xfrm>
              <a:off x="5347480" y="1447053"/>
              <a:ext cx="6356840" cy="275821"/>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40222DE2-D68C-01A2-EDE6-7895AF8937EB}"/>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Ongoing Governance</a:t>
              </a:r>
            </a:p>
          </p:txBody>
        </p:sp>
      </p:grpSp>
      <p:sp>
        <p:nvSpPr>
          <p:cNvPr id="20" name="Text 8">
            <a:extLst>
              <a:ext uri="{FF2B5EF4-FFF2-40B4-BE49-F238E27FC236}">
                <a16:creationId xmlns:a16="http://schemas.microsoft.com/office/drawing/2014/main" id="{3DAC08CE-DF7A-A3D4-87B2-3F2AB23AE2B2}"/>
              </a:ext>
            </a:extLst>
          </p:cNvPr>
          <p:cNvSpPr/>
          <p:nvPr/>
        </p:nvSpPr>
        <p:spPr>
          <a:xfrm>
            <a:off x="5345977" y="3509433"/>
            <a:ext cx="6617722" cy="166915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Weekly Status Reports &amp; Steering Deck</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Delivery Checkpoint Review (per wave)</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Stakeholder Communication Plan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Change Control Log (support only; Change Management by customer)</a:t>
            </a:r>
          </a:p>
        </p:txBody>
      </p:sp>
      <p:grpSp>
        <p:nvGrpSpPr>
          <p:cNvPr id="21" name="Group 20">
            <a:extLst>
              <a:ext uri="{FF2B5EF4-FFF2-40B4-BE49-F238E27FC236}">
                <a16:creationId xmlns:a16="http://schemas.microsoft.com/office/drawing/2014/main" id="{00CE19E3-F809-98F9-B9C5-24642FE6E542}"/>
              </a:ext>
            </a:extLst>
          </p:cNvPr>
          <p:cNvGrpSpPr/>
          <p:nvPr/>
        </p:nvGrpSpPr>
        <p:grpSpPr>
          <a:xfrm>
            <a:off x="5353527" y="5235984"/>
            <a:ext cx="6624205" cy="275821"/>
            <a:chOff x="5347480" y="1447053"/>
            <a:chExt cx="6370320" cy="275821"/>
          </a:xfrm>
        </p:grpSpPr>
        <p:sp>
          <p:nvSpPr>
            <p:cNvPr id="22" name="Rectangle 21">
              <a:extLst>
                <a:ext uri="{FF2B5EF4-FFF2-40B4-BE49-F238E27FC236}">
                  <a16:creationId xmlns:a16="http://schemas.microsoft.com/office/drawing/2014/main" id="{1837338F-3CFC-B428-B2A1-B016E3EF0700}"/>
                </a:ext>
              </a:extLst>
            </p:cNvPr>
            <p:cNvSpPr/>
            <p:nvPr/>
          </p:nvSpPr>
          <p:spPr bwMode="auto">
            <a:xfrm>
              <a:off x="5347480" y="1447053"/>
              <a:ext cx="6356840" cy="275821"/>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0CDDC2FF-277B-72F2-F87E-BDCAF287EE7D}"/>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Close-out</a:t>
              </a:r>
            </a:p>
          </p:txBody>
        </p:sp>
      </p:grpSp>
      <p:sp>
        <p:nvSpPr>
          <p:cNvPr id="24" name="Text 8">
            <a:extLst>
              <a:ext uri="{FF2B5EF4-FFF2-40B4-BE49-F238E27FC236}">
                <a16:creationId xmlns:a16="http://schemas.microsoft.com/office/drawing/2014/main" id="{77A00959-A7FF-C8B1-43ED-E250856065AD}"/>
              </a:ext>
            </a:extLst>
          </p:cNvPr>
          <p:cNvSpPr/>
          <p:nvPr/>
        </p:nvSpPr>
        <p:spPr>
          <a:xfrm>
            <a:off x="5353527" y="5528410"/>
            <a:ext cx="6624205" cy="27432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Overall completion report</a:t>
            </a:r>
          </a:p>
        </p:txBody>
      </p:sp>
      <p:sp>
        <p:nvSpPr>
          <p:cNvPr id="25" name="Shape 6">
            <a:extLst>
              <a:ext uri="{FF2B5EF4-FFF2-40B4-BE49-F238E27FC236}">
                <a16:creationId xmlns:a16="http://schemas.microsoft.com/office/drawing/2014/main" id="{981A0A8E-6F9E-13AB-B9B5-747CFCF4D1CE}"/>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6" name="Rectangle 25">
            <a:extLst>
              <a:ext uri="{FF2B5EF4-FFF2-40B4-BE49-F238E27FC236}">
                <a16:creationId xmlns:a16="http://schemas.microsoft.com/office/drawing/2014/main" id="{210A0E49-D099-EE7B-B074-021914B09214}"/>
              </a:ext>
            </a:extLst>
          </p:cNvPr>
          <p:cNvSpPr/>
          <p:nvPr/>
        </p:nvSpPr>
        <p:spPr bwMode="auto">
          <a:xfrm>
            <a:off x="5434719" y="6069217"/>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ea typeface="Segoe UI" pitchFamily="34" charset="0"/>
                <a:cs typeface="Segoe UI" pitchFamily="34" charset="0"/>
              </a:rPr>
              <a:t>⏱ DURATION </a:t>
            </a:r>
          </a:p>
          <a:p>
            <a:pPr algn="ctr" defTabSz="932472" fontAlgn="base"/>
            <a:r>
              <a:rPr lang="en-US" sz="1400" b="1" noProof="0" dirty="0">
                <a:solidFill>
                  <a:schemeClr val="bg1"/>
                </a:solidFill>
                <a:ea typeface="Segoe UI" pitchFamily="34" charset="0"/>
                <a:cs typeface="Segoe UI" pitchFamily="34" charset="0"/>
              </a:rPr>
              <a:t>Full Engagement</a:t>
            </a:r>
          </a:p>
        </p:txBody>
      </p:sp>
      <p:sp>
        <p:nvSpPr>
          <p:cNvPr id="29" name="Rectangle 28">
            <a:extLst>
              <a:ext uri="{FF2B5EF4-FFF2-40B4-BE49-F238E27FC236}">
                <a16:creationId xmlns:a16="http://schemas.microsoft.com/office/drawing/2014/main" id="{DE3BCF5D-F470-FCC2-61A9-D4F33EB1DE96}"/>
              </a:ext>
            </a:extLst>
          </p:cNvPr>
          <p:cNvSpPr/>
          <p:nvPr/>
        </p:nvSpPr>
        <p:spPr bwMode="auto">
          <a:xfrm>
            <a:off x="7611046" y="6069217"/>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a:p>
            <a:pPr algn="ctr" defTabSz="932472" fontAlgn="base"/>
            <a:r>
              <a:rPr lang="en-US" sz="1100" b="1" noProof="0" dirty="0">
                <a:solidFill>
                  <a:schemeClr val="bg1"/>
                </a:solidFill>
                <a:cs typeface="Segoe UI" pitchFamily="34" charset="0"/>
              </a:rPr>
              <a:t>PMO Lead + </a:t>
            </a:r>
          </a:p>
          <a:p>
            <a:pPr algn="ctr" defTabSz="932472" fontAlgn="base"/>
            <a:r>
              <a:rPr lang="en-US" sz="1100" b="1" noProof="0" dirty="0">
                <a:solidFill>
                  <a:schemeClr val="bg1"/>
                </a:solidFill>
                <a:cs typeface="Segoe UI" pitchFamily="34" charset="0"/>
              </a:rPr>
              <a:t>Delivery Lead</a:t>
            </a:r>
          </a:p>
        </p:txBody>
      </p:sp>
      <p:sp>
        <p:nvSpPr>
          <p:cNvPr id="30" name="Rectangle 29">
            <a:extLst>
              <a:ext uri="{FF2B5EF4-FFF2-40B4-BE49-F238E27FC236}">
                <a16:creationId xmlns:a16="http://schemas.microsoft.com/office/drawing/2014/main" id="{7A1A173E-8EB2-2CBE-2EBD-F99F619354D5}"/>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a:p>
            <a:pPr algn="ctr" defTabSz="932472" fontAlgn="base"/>
            <a:r>
              <a:rPr lang="en-US" sz="1200" b="1" noProof="0" dirty="0">
                <a:solidFill>
                  <a:schemeClr val="bg1"/>
                </a:solidFill>
                <a:cs typeface="Segoe UI" pitchFamily="34" charset="0"/>
              </a:rPr>
              <a:t>ADO  ·  Teams  ·  SharePoint</a:t>
            </a:r>
          </a:p>
        </p:txBody>
      </p:sp>
    </p:spTree>
    <p:extLst>
      <p:ext uri="{BB962C8B-B14F-4D97-AF65-F5344CB8AC3E}">
        <p14:creationId xmlns:p14="http://schemas.microsoft.com/office/powerpoint/2010/main" val="1900488954"/>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08AB2-2CB4-E5AA-6782-09AB047A8179}"/>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15EFDE16-2E70-7C91-6183-516735A4F2BE}"/>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01F31A8E-EA6F-BC15-C2EB-98E5315EDC02}"/>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33309D8E-7345-A374-0C06-6E414A7A527B}"/>
              </a:ext>
            </a:extLst>
          </p:cNvPr>
          <p:cNvSpPr>
            <a:spLocks noGrp="1"/>
          </p:cNvSpPr>
          <p:nvPr>
            <p:ph type="title"/>
          </p:nvPr>
        </p:nvSpPr>
        <p:spPr/>
        <p:txBody>
          <a:bodyPr/>
          <a:lstStyle/>
          <a:p>
            <a:r>
              <a:rPr lang="en-US" sz="2800" noProof="0" dirty="0"/>
              <a:t>Discovery and Assessment for Scope 1</a:t>
            </a:r>
          </a:p>
        </p:txBody>
      </p:sp>
      <p:sp>
        <p:nvSpPr>
          <p:cNvPr id="4" name="Text 7">
            <a:extLst>
              <a:ext uri="{FF2B5EF4-FFF2-40B4-BE49-F238E27FC236}">
                <a16:creationId xmlns:a16="http://schemas.microsoft.com/office/drawing/2014/main" id="{1CD4BE6F-9C07-F220-8A21-32C8F3F4F299}"/>
              </a:ext>
            </a:extLst>
          </p:cNvPr>
          <p:cNvSpPr/>
          <p:nvPr/>
        </p:nvSpPr>
        <p:spPr>
          <a:xfrm>
            <a:off x="382561" y="1078993"/>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D1525299-CAE2-86E7-C1A4-891F4E708B6D}"/>
              </a:ext>
            </a:extLst>
          </p:cNvPr>
          <p:cNvSpPr/>
          <p:nvPr/>
        </p:nvSpPr>
        <p:spPr>
          <a:xfrm>
            <a:off x="382561" y="1365023"/>
            <a:ext cx="457200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Establishes a picture of the current-state in-scope environment — applications, infrastructure, dependencies, and risks &amp; and produces the strategic migration classification needed to plan waves effectively. Output directly feeds Planning &amp; Design.</a:t>
            </a:r>
          </a:p>
        </p:txBody>
      </p:sp>
      <p:sp>
        <p:nvSpPr>
          <p:cNvPr id="6" name="Shape 9">
            <a:extLst>
              <a:ext uri="{FF2B5EF4-FFF2-40B4-BE49-F238E27FC236}">
                <a16:creationId xmlns:a16="http://schemas.microsoft.com/office/drawing/2014/main" id="{55939B31-D69F-F133-2372-A8E27DD4CF7F}"/>
              </a:ext>
            </a:extLst>
          </p:cNvPr>
          <p:cNvSpPr/>
          <p:nvPr/>
        </p:nvSpPr>
        <p:spPr>
          <a:xfrm>
            <a:off x="384066" y="2416128"/>
            <a:ext cx="457200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0A721D96-71EF-BFD6-2C65-349A4BB1593D}"/>
              </a:ext>
            </a:extLst>
          </p:cNvPr>
          <p:cNvSpPr/>
          <p:nvPr/>
        </p:nvSpPr>
        <p:spPr>
          <a:xfrm>
            <a:off x="382561" y="2498880"/>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549AE9D6-36D8-8006-581E-3DCCA8463E91}"/>
              </a:ext>
            </a:extLst>
          </p:cNvPr>
          <p:cNvSpPr/>
          <p:nvPr/>
        </p:nvSpPr>
        <p:spPr>
          <a:xfrm>
            <a:off x="382561" y="2788168"/>
            <a:ext cx="4572000"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Envisioning and discovery workshops with key stakeholders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Application and infrastructure inventory &amp; assessment</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Dependency mapping and inter-system risk identification</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Migration strategy definition and R-Type classification (6Rs)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Tool-based automated discovery and data collection (Azure Migrate)</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Risk register population from assessment findings</a:t>
            </a:r>
          </a:p>
        </p:txBody>
      </p:sp>
      <p:sp>
        <p:nvSpPr>
          <p:cNvPr id="9" name="Shape 9">
            <a:extLst>
              <a:ext uri="{FF2B5EF4-FFF2-40B4-BE49-F238E27FC236}">
                <a16:creationId xmlns:a16="http://schemas.microsoft.com/office/drawing/2014/main" id="{CD6BA283-D20C-D9C4-55C0-A026C5B5D0E7}"/>
              </a:ext>
            </a:extLst>
          </p:cNvPr>
          <p:cNvSpPr/>
          <p:nvPr/>
        </p:nvSpPr>
        <p:spPr>
          <a:xfrm>
            <a:off x="384066" y="4522491"/>
            <a:ext cx="457200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8CE4966C-4D06-83B2-EAA9-47A5D9B31AA8}"/>
              </a:ext>
            </a:extLst>
          </p:cNvPr>
          <p:cNvSpPr/>
          <p:nvPr/>
        </p:nvSpPr>
        <p:spPr>
          <a:xfrm>
            <a:off x="382561" y="4633981"/>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D138FC01-F6A0-68DE-B576-C496271DCB48}"/>
              </a:ext>
            </a:extLst>
          </p:cNvPr>
          <p:cNvSpPr/>
          <p:nvPr/>
        </p:nvSpPr>
        <p:spPr>
          <a:xfrm>
            <a:off x="382561" y="4923269"/>
            <a:ext cx="4572000" cy="169458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Full application &amp; infrastructure inventory documented</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R-Type classification completed for all in-scope workloads</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Dependency map validated by application owners</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Migration risk register baselined</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Assessment report signed off by stakeholders</a:t>
            </a:r>
          </a:p>
        </p:txBody>
      </p:sp>
      <p:sp>
        <p:nvSpPr>
          <p:cNvPr id="12" name="Text 7">
            <a:extLst>
              <a:ext uri="{FF2B5EF4-FFF2-40B4-BE49-F238E27FC236}">
                <a16:creationId xmlns:a16="http://schemas.microsoft.com/office/drawing/2014/main" id="{CF90CD5D-8968-F11A-FA1C-770ECAEA35C0}"/>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kern="0" spc="200" noProof="0" dirty="0">
                <a:solidFill>
                  <a:srgbClr val="1A7385"/>
                </a:solidFill>
                <a:ea typeface="Calibri" pitchFamily="34" charset="-122"/>
                <a:cs typeface="Calibri" pitchFamily="34" charset="-120"/>
              </a:rPr>
              <a:t>DELIVERABLES &amp; ACTIVITIES </a:t>
            </a:r>
          </a:p>
        </p:txBody>
      </p:sp>
      <p:grpSp>
        <p:nvGrpSpPr>
          <p:cNvPr id="15" name="Group 14">
            <a:extLst>
              <a:ext uri="{FF2B5EF4-FFF2-40B4-BE49-F238E27FC236}">
                <a16:creationId xmlns:a16="http://schemas.microsoft.com/office/drawing/2014/main" id="{16181D49-8717-5B28-E4FF-5F3F47F73C70}"/>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C977607B-AC1E-14B3-3210-6C8CB9A73A72}"/>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1422546D-5942-8CD1-E5B1-892491722A26}"/>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Workshops &amp; Interviews</a:t>
              </a:r>
            </a:p>
          </p:txBody>
        </p:sp>
      </p:grpSp>
      <p:sp>
        <p:nvSpPr>
          <p:cNvPr id="16" name="Text 8">
            <a:extLst>
              <a:ext uri="{FF2B5EF4-FFF2-40B4-BE49-F238E27FC236}">
                <a16:creationId xmlns:a16="http://schemas.microsoft.com/office/drawing/2014/main" id="{E4F5930F-87F2-EECA-D06C-5FB46EE8C712}"/>
              </a:ext>
            </a:extLst>
          </p:cNvPr>
          <p:cNvSpPr/>
          <p:nvPr/>
        </p:nvSpPr>
        <p:spPr>
          <a:xfrm>
            <a:off x="5347480" y="1763627"/>
            <a:ext cx="6630252" cy="1432246"/>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Envisioning Workshop Outputs (current/future state)</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Decision Log &amp; Action Register</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Application Owner Questionnaire Responses</a:t>
            </a:r>
          </a:p>
          <a:p>
            <a:pPr marL="171450" indent="-228600">
              <a:lnSpc>
                <a:spcPct val="200000"/>
              </a:lnSpc>
              <a:buClr>
                <a:srgbClr val="1A7385"/>
              </a:buClr>
              <a:buSzPct val="125000"/>
              <a:buFont typeface="Segoe Sans Text" pitchFamily="2" charset="0"/>
              <a:buChar char="■"/>
            </a:pPr>
            <a:endParaRPr lang="en-US" sz="1050" noProof="0" dirty="0">
              <a:solidFill>
                <a:schemeClr val="accent2">
                  <a:lumMod val="75000"/>
                </a:schemeClr>
              </a:solidFill>
            </a:endParaRPr>
          </a:p>
        </p:txBody>
      </p:sp>
      <p:grpSp>
        <p:nvGrpSpPr>
          <p:cNvPr id="17" name="Group 16">
            <a:extLst>
              <a:ext uri="{FF2B5EF4-FFF2-40B4-BE49-F238E27FC236}">
                <a16:creationId xmlns:a16="http://schemas.microsoft.com/office/drawing/2014/main" id="{8B374474-60B3-C61A-F675-B6464E4F0048}"/>
              </a:ext>
            </a:extLst>
          </p:cNvPr>
          <p:cNvGrpSpPr/>
          <p:nvPr/>
        </p:nvGrpSpPr>
        <p:grpSpPr>
          <a:xfrm>
            <a:off x="5345976" y="3527828"/>
            <a:ext cx="6631757" cy="275821"/>
            <a:chOff x="5347480" y="1447053"/>
            <a:chExt cx="6370320" cy="275821"/>
          </a:xfrm>
        </p:grpSpPr>
        <p:sp>
          <p:nvSpPr>
            <p:cNvPr id="18" name="Rectangle 17">
              <a:extLst>
                <a:ext uri="{FF2B5EF4-FFF2-40B4-BE49-F238E27FC236}">
                  <a16:creationId xmlns:a16="http://schemas.microsoft.com/office/drawing/2014/main" id="{F547FA5E-3EBB-5169-869F-AE7DA249A9ED}"/>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C471427A-8946-DD6D-A83D-B606C97C986C}"/>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Assessment Outputs</a:t>
              </a:r>
            </a:p>
          </p:txBody>
        </p:sp>
      </p:grpSp>
      <p:sp>
        <p:nvSpPr>
          <p:cNvPr id="20" name="Text 8">
            <a:extLst>
              <a:ext uri="{FF2B5EF4-FFF2-40B4-BE49-F238E27FC236}">
                <a16:creationId xmlns:a16="http://schemas.microsoft.com/office/drawing/2014/main" id="{C97591B0-E8D9-02E3-A6C5-8F3F467D9285}"/>
              </a:ext>
            </a:extLst>
          </p:cNvPr>
          <p:cNvSpPr/>
          <p:nvPr/>
        </p:nvSpPr>
        <p:spPr>
          <a:xfrm>
            <a:off x="5345977" y="3844402"/>
            <a:ext cx="6617722" cy="166915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Application &amp; Infrastructure Assessment Report</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Dependency Map</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R-Type Classification Register (per workload)</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Migration Risk Register</a:t>
            </a:r>
          </a:p>
        </p:txBody>
      </p:sp>
      <p:sp>
        <p:nvSpPr>
          <p:cNvPr id="25" name="Shape 6">
            <a:extLst>
              <a:ext uri="{FF2B5EF4-FFF2-40B4-BE49-F238E27FC236}">
                <a16:creationId xmlns:a16="http://schemas.microsoft.com/office/drawing/2014/main" id="{68287F5D-976D-D4C8-2A75-F6C49E4AB2BB}"/>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6" name="Rectangle 25">
            <a:extLst>
              <a:ext uri="{FF2B5EF4-FFF2-40B4-BE49-F238E27FC236}">
                <a16:creationId xmlns:a16="http://schemas.microsoft.com/office/drawing/2014/main" id="{29096F09-BD0F-3680-97BF-D321C2D9E49F}"/>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DURATION </a:t>
            </a:r>
          </a:p>
          <a:p>
            <a:pPr algn="ctr" defTabSz="932472" fontAlgn="base"/>
            <a:r>
              <a:rPr lang="en-US" sz="1200" b="1" noProof="0" dirty="0">
                <a:solidFill>
                  <a:schemeClr val="bg1"/>
                </a:solidFill>
                <a:cs typeface="Segoe UI" pitchFamily="34" charset="0"/>
              </a:rPr>
              <a:t>2-4 weeks (per wave)</a:t>
            </a:r>
          </a:p>
        </p:txBody>
      </p:sp>
      <p:sp>
        <p:nvSpPr>
          <p:cNvPr id="29" name="Rectangle 28">
            <a:extLst>
              <a:ext uri="{FF2B5EF4-FFF2-40B4-BE49-F238E27FC236}">
                <a16:creationId xmlns:a16="http://schemas.microsoft.com/office/drawing/2014/main" id="{4ADC150A-564E-0D18-8415-67C82FEF0DDA}"/>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a:p>
            <a:pPr algn="ctr" defTabSz="932472" fontAlgn="base"/>
            <a:r>
              <a:rPr lang="en-US" sz="1200" b="1" noProof="0" dirty="0">
                <a:solidFill>
                  <a:schemeClr val="bg1"/>
                </a:solidFill>
                <a:cs typeface="Segoe UI" pitchFamily="34" charset="0"/>
              </a:rPr>
              <a:t>Solution Architect + Assessment Lead</a:t>
            </a:r>
          </a:p>
        </p:txBody>
      </p:sp>
      <p:sp>
        <p:nvSpPr>
          <p:cNvPr id="30" name="Rectangle 29">
            <a:extLst>
              <a:ext uri="{FF2B5EF4-FFF2-40B4-BE49-F238E27FC236}">
                <a16:creationId xmlns:a16="http://schemas.microsoft.com/office/drawing/2014/main" id="{1AF3414E-3FB5-C8BC-5296-AC4DFDB2DA46}"/>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27" name="TextBox 26">
            <a:extLst>
              <a:ext uri="{FF2B5EF4-FFF2-40B4-BE49-F238E27FC236}">
                <a16:creationId xmlns:a16="http://schemas.microsoft.com/office/drawing/2014/main" id="{A9423FB5-EC0E-758C-4F84-AC55C5378E3D}"/>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algn="ctr"/>
            <a:r>
              <a:rPr lang="en-US" sz="900" b="1" noProof="0" dirty="0">
                <a:solidFill>
                  <a:schemeClr val="bg1"/>
                </a:solidFill>
              </a:rPr>
              <a:t>Portfolio of Tools (e.g. Azure Migrate  ·  AppCat  ·  RVTools · DMS )</a:t>
            </a:r>
          </a:p>
        </p:txBody>
      </p:sp>
    </p:spTree>
    <p:extLst>
      <p:ext uri="{BB962C8B-B14F-4D97-AF65-F5344CB8AC3E}">
        <p14:creationId xmlns:p14="http://schemas.microsoft.com/office/powerpoint/2010/main" val="3501630751"/>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9B88-8478-372E-E6D5-B912521366B3}"/>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6A061EF6-D509-8249-DB48-7EC951D9E63D}"/>
              </a:ext>
            </a:extLst>
          </p:cNvPr>
          <p:cNvSpPr/>
          <p:nvPr/>
        </p:nvSpPr>
        <p:spPr bwMode="auto">
          <a:xfrm>
            <a:off x="5345976" y="994314"/>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1855952B-4FAC-C43E-D18D-47702C48BC99}"/>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7A9CC5A4-721A-2D9D-A54E-F00B6CF4FDD7}"/>
              </a:ext>
            </a:extLst>
          </p:cNvPr>
          <p:cNvSpPr>
            <a:spLocks noGrp="1"/>
          </p:cNvSpPr>
          <p:nvPr>
            <p:ph type="title"/>
          </p:nvPr>
        </p:nvSpPr>
        <p:spPr/>
        <p:txBody>
          <a:bodyPr/>
          <a:lstStyle/>
          <a:p>
            <a:r>
              <a:rPr lang="en-US" sz="2800" noProof="0" dirty="0"/>
              <a:t>Planning and Design for Scope 1</a:t>
            </a:r>
          </a:p>
        </p:txBody>
      </p:sp>
      <p:sp>
        <p:nvSpPr>
          <p:cNvPr id="4" name="Text 7">
            <a:extLst>
              <a:ext uri="{FF2B5EF4-FFF2-40B4-BE49-F238E27FC236}">
                <a16:creationId xmlns:a16="http://schemas.microsoft.com/office/drawing/2014/main" id="{E825AF3C-F899-5F5D-3023-D334C848865D}"/>
              </a:ext>
            </a:extLst>
          </p:cNvPr>
          <p:cNvSpPr/>
          <p:nvPr/>
        </p:nvSpPr>
        <p:spPr>
          <a:xfrm>
            <a:off x="382561" y="1078993"/>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1B43B38A-F60D-FDBE-4264-02760A164627}"/>
              </a:ext>
            </a:extLst>
          </p:cNvPr>
          <p:cNvSpPr/>
          <p:nvPr/>
        </p:nvSpPr>
        <p:spPr>
          <a:xfrm>
            <a:off x="382561" y="1365023"/>
            <a:ext cx="457200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Transforms assessment findings into an actionable technical blueprint. Produces the target architecture, detailed solution designs, non-functional requirements (NFR) specifications, and migration wave plan that governs all downstream execution tracks.</a:t>
            </a:r>
          </a:p>
        </p:txBody>
      </p:sp>
      <p:sp>
        <p:nvSpPr>
          <p:cNvPr id="6" name="Shape 9">
            <a:extLst>
              <a:ext uri="{FF2B5EF4-FFF2-40B4-BE49-F238E27FC236}">
                <a16:creationId xmlns:a16="http://schemas.microsoft.com/office/drawing/2014/main" id="{FDD21D81-73C2-E9C7-50B2-EDE4BA37E1F6}"/>
              </a:ext>
            </a:extLst>
          </p:cNvPr>
          <p:cNvSpPr/>
          <p:nvPr/>
        </p:nvSpPr>
        <p:spPr>
          <a:xfrm>
            <a:off x="384066" y="2416128"/>
            <a:ext cx="457200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BF59811E-315D-AA0F-251F-9F4B1E809E03}"/>
              </a:ext>
            </a:extLst>
          </p:cNvPr>
          <p:cNvSpPr/>
          <p:nvPr/>
        </p:nvSpPr>
        <p:spPr>
          <a:xfrm>
            <a:off x="382561" y="2498880"/>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239F94F2-004C-30DA-C485-9D5629E8A049}"/>
              </a:ext>
            </a:extLst>
          </p:cNvPr>
          <p:cNvSpPr/>
          <p:nvPr/>
        </p:nvSpPr>
        <p:spPr>
          <a:xfrm>
            <a:off x="382561" y="2788168"/>
            <a:ext cx="4572000"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Detailed technical assessment (per-workload deep-dive)</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Target architecture and solution design (Azure landing zone aligned)</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NFR design: Backup, Resiliency, Monitoring, Security baselines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Migration wave plan: sequencing, grouping, dependencies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High-level and low-level design documentation</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RACI and delivery model finalization</a:t>
            </a:r>
          </a:p>
        </p:txBody>
      </p:sp>
      <p:sp>
        <p:nvSpPr>
          <p:cNvPr id="9" name="Shape 9">
            <a:extLst>
              <a:ext uri="{FF2B5EF4-FFF2-40B4-BE49-F238E27FC236}">
                <a16:creationId xmlns:a16="http://schemas.microsoft.com/office/drawing/2014/main" id="{2691BBC6-12EA-F2A2-DD4D-667FFFE240CA}"/>
              </a:ext>
            </a:extLst>
          </p:cNvPr>
          <p:cNvSpPr/>
          <p:nvPr/>
        </p:nvSpPr>
        <p:spPr>
          <a:xfrm>
            <a:off x="384066" y="4522491"/>
            <a:ext cx="457200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E7CFE881-9905-B6CF-DB5C-B40316B2A1E2}"/>
              </a:ext>
            </a:extLst>
          </p:cNvPr>
          <p:cNvSpPr/>
          <p:nvPr/>
        </p:nvSpPr>
        <p:spPr>
          <a:xfrm>
            <a:off x="382561" y="4633981"/>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EBDA2C70-CE0A-F784-5329-6521E9686FB7}"/>
              </a:ext>
            </a:extLst>
          </p:cNvPr>
          <p:cNvSpPr/>
          <p:nvPr/>
        </p:nvSpPr>
        <p:spPr>
          <a:xfrm>
            <a:off x="382561" y="4923269"/>
            <a:ext cx="4572000" cy="169458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Target architecture and solution design docs (Customer approved)</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NFR specifications agreed and baselined</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Migration wave plan with clear sequencing signed off</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Design documentation ready to hand to migration teams</a:t>
            </a:r>
          </a:p>
        </p:txBody>
      </p:sp>
      <p:sp>
        <p:nvSpPr>
          <p:cNvPr id="12" name="Text 7">
            <a:extLst>
              <a:ext uri="{FF2B5EF4-FFF2-40B4-BE49-F238E27FC236}">
                <a16:creationId xmlns:a16="http://schemas.microsoft.com/office/drawing/2014/main" id="{C32E725A-5D25-FC18-2005-E4B7AC4688E5}"/>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kern="0" spc="200" noProof="0" dirty="0">
                <a:solidFill>
                  <a:srgbClr val="1A7385"/>
                </a:solidFill>
                <a:ea typeface="Calibri" pitchFamily="34" charset="-122"/>
                <a:cs typeface="Calibri" pitchFamily="34" charset="-120"/>
              </a:rPr>
              <a:t>DELIVERABLES &amp; ACTIVITIES </a:t>
            </a:r>
          </a:p>
        </p:txBody>
      </p:sp>
      <p:grpSp>
        <p:nvGrpSpPr>
          <p:cNvPr id="15" name="Group 14">
            <a:extLst>
              <a:ext uri="{FF2B5EF4-FFF2-40B4-BE49-F238E27FC236}">
                <a16:creationId xmlns:a16="http://schemas.microsoft.com/office/drawing/2014/main" id="{B9C236FD-ECB8-C3B9-01A2-BEB501FACDBE}"/>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F8C12918-E929-1250-2267-3CC3AABD596F}"/>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7AE0BB91-FB8D-C6A8-1F3E-B094279CB227}"/>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Architecture &amp; Design</a:t>
              </a:r>
            </a:p>
          </p:txBody>
        </p:sp>
      </p:grpSp>
      <p:sp>
        <p:nvSpPr>
          <p:cNvPr id="16" name="Text 8">
            <a:extLst>
              <a:ext uri="{FF2B5EF4-FFF2-40B4-BE49-F238E27FC236}">
                <a16:creationId xmlns:a16="http://schemas.microsoft.com/office/drawing/2014/main" id="{AC8DB4DA-D95B-3177-AA46-3D36D895D9B3}"/>
              </a:ext>
            </a:extLst>
          </p:cNvPr>
          <p:cNvSpPr/>
          <p:nvPr/>
        </p:nvSpPr>
        <p:spPr>
          <a:xfrm>
            <a:off x="5347480" y="1763627"/>
            <a:ext cx="6630252" cy="1432246"/>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High-Level Design (HLD) Document</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Low-Level Design (LLD) per workload/service (if applicable)</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Target Architecture Diagrams (network, Azure services, etc..)</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Migration Planning and schedule discussion</a:t>
            </a:r>
          </a:p>
        </p:txBody>
      </p:sp>
      <p:grpSp>
        <p:nvGrpSpPr>
          <p:cNvPr id="17" name="Group 16">
            <a:extLst>
              <a:ext uri="{FF2B5EF4-FFF2-40B4-BE49-F238E27FC236}">
                <a16:creationId xmlns:a16="http://schemas.microsoft.com/office/drawing/2014/main" id="{1540C2BD-9D94-4D77-85EB-819CDD4A5E36}"/>
              </a:ext>
            </a:extLst>
          </p:cNvPr>
          <p:cNvGrpSpPr/>
          <p:nvPr/>
        </p:nvGrpSpPr>
        <p:grpSpPr>
          <a:xfrm>
            <a:off x="5345976" y="3527830"/>
            <a:ext cx="6631757" cy="275821"/>
            <a:chOff x="5347480" y="1447053"/>
            <a:chExt cx="6370320" cy="275821"/>
          </a:xfrm>
        </p:grpSpPr>
        <p:sp>
          <p:nvSpPr>
            <p:cNvPr id="18" name="Rectangle 17">
              <a:extLst>
                <a:ext uri="{FF2B5EF4-FFF2-40B4-BE49-F238E27FC236}">
                  <a16:creationId xmlns:a16="http://schemas.microsoft.com/office/drawing/2014/main" id="{63B6475F-9FD5-772E-AF22-802C9E179D3E}"/>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E3AA3676-4577-CA05-99F4-6F817CD235A9}"/>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Planning Outputs</a:t>
              </a:r>
            </a:p>
          </p:txBody>
        </p:sp>
      </p:grpSp>
      <p:sp>
        <p:nvSpPr>
          <p:cNvPr id="20" name="Text 8">
            <a:extLst>
              <a:ext uri="{FF2B5EF4-FFF2-40B4-BE49-F238E27FC236}">
                <a16:creationId xmlns:a16="http://schemas.microsoft.com/office/drawing/2014/main" id="{A428DC4E-4B32-DEC0-B066-C768FAED7C48}"/>
              </a:ext>
            </a:extLst>
          </p:cNvPr>
          <p:cNvSpPr/>
          <p:nvPr/>
        </p:nvSpPr>
        <p:spPr>
          <a:xfrm>
            <a:off x="5345977" y="3844404"/>
            <a:ext cx="6617722" cy="166915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NFR Specification Document (Backup, Resiliency, Monitoring)</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Migration Wave Plan (wave groups, sequence, dates)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Dependency-aware Migration Runbook Template</a:t>
            </a:r>
          </a:p>
        </p:txBody>
      </p:sp>
      <p:sp>
        <p:nvSpPr>
          <p:cNvPr id="25" name="Shape 6">
            <a:extLst>
              <a:ext uri="{FF2B5EF4-FFF2-40B4-BE49-F238E27FC236}">
                <a16:creationId xmlns:a16="http://schemas.microsoft.com/office/drawing/2014/main" id="{EDC2E610-E77C-23CD-E220-DCBD981AAC77}"/>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6" name="Rectangle 25">
            <a:extLst>
              <a:ext uri="{FF2B5EF4-FFF2-40B4-BE49-F238E27FC236}">
                <a16:creationId xmlns:a16="http://schemas.microsoft.com/office/drawing/2014/main" id="{FC30B8A3-F3BD-AD2D-813D-48440D5372F7}"/>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DURATION </a:t>
            </a:r>
          </a:p>
          <a:p>
            <a:pPr algn="ctr" defTabSz="932472" fontAlgn="base"/>
            <a:r>
              <a:rPr lang="en-US" sz="1400" b="1" noProof="0" dirty="0">
                <a:solidFill>
                  <a:schemeClr val="bg1"/>
                </a:solidFill>
                <a:cs typeface="Segoe UI" pitchFamily="34" charset="0"/>
              </a:rPr>
              <a:t>3-6 weeks</a:t>
            </a:r>
          </a:p>
        </p:txBody>
      </p:sp>
      <p:sp>
        <p:nvSpPr>
          <p:cNvPr id="29" name="Rectangle 28">
            <a:extLst>
              <a:ext uri="{FF2B5EF4-FFF2-40B4-BE49-F238E27FC236}">
                <a16:creationId xmlns:a16="http://schemas.microsoft.com/office/drawing/2014/main" id="{D46EC89E-F6A8-0C84-C64F-C87FAA97969A}"/>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a:p>
            <a:pPr algn="ctr" defTabSz="932472" fontAlgn="base"/>
            <a:r>
              <a:rPr lang="en-US" sz="1200" b="1" noProof="0" dirty="0">
                <a:solidFill>
                  <a:schemeClr val="bg1"/>
                </a:solidFill>
                <a:cs typeface="Segoe UI" pitchFamily="34" charset="0"/>
              </a:rPr>
              <a:t>Solution Architect + Cloud Engineer</a:t>
            </a:r>
          </a:p>
        </p:txBody>
      </p:sp>
      <p:sp>
        <p:nvSpPr>
          <p:cNvPr id="30" name="Rectangle 29">
            <a:extLst>
              <a:ext uri="{FF2B5EF4-FFF2-40B4-BE49-F238E27FC236}">
                <a16:creationId xmlns:a16="http://schemas.microsoft.com/office/drawing/2014/main" id="{E9377255-AE03-144C-1292-78E947E195C3}"/>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27" name="TextBox 26">
            <a:extLst>
              <a:ext uri="{FF2B5EF4-FFF2-40B4-BE49-F238E27FC236}">
                <a16:creationId xmlns:a16="http://schemas.microsoft.com/office/drawing/2014/main" id="{66049A90-1626-E95E-AB35-7E52279F4F04}"/>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algn="ctr"/>
            <a:r>
              <a:rPr lang="en-US" sz="900" b="1" noProof="0" dirty="0">
                <a:solidFill>
                  <a:schemeClr val="bg1"/>
                </a:solidFill>
              </a:rPr>
              <a:t>Azure Well-Architected  · Visio  ·  ADO</a:t>
            </a:r>
          </a:p>
        </p:txBody>
      </p:sp>
    </p:spTree>
    <p:extLst>
      <p:ext uri="{BB962C8B-B14F-4D97-AF65-F5344CB8AC3E}">
        <p14:creationId xmlns:p14="http://schemas.microsoft.com/office/powerpoint/2010/main" val="2502597284"/>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0FB6F-7329-862C-4E3F-A204D77B6773}"/>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2F843A4A-FC2E-2E13-2676-4E241C39756F}"/>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F8ACA151-56E4-3E38-4465-049F566C5F4E}"/>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EB9752AA-40A8-48F6-28CE-136AB73FB650}"/>
              </a:ext>
            </a:extLst>
          </p:cNvPr>
          <p:cNvSpPr>
            <a:spLocks noGrp="1"/>
          </p:cNvSpPr>
          <p:nvPr>
            <p:ph type="title"/>
          </p:nvPr>
        </p:nvSpPr>
        <p:spPr/>
        <p:txBody>
          <a:bodyPr/>
          <a:lstStyle/>
          <a:p>
            <a:r>
              <a:rPr lang="en-US" sz="2800" noProof="0" dirty="0"/>
              <a:t>Accelerated Platform Migration - for Scope 1 | Windows and Linux</a:t>
            </a:r>
          </a:p>
        </p:txBody>
      </p:sp>
      <p:sp>
        <p:nvSpPr>
          <p:cNvPr id="4" name="Text 7">
            <a:extLst>
              <a:ext uri="{FF2B5EF4-FFF2-40B4-BE49-F238E27FC236}">
                <a16:creationId xmlns:a16="http://schemas.microsoft.com/office/drawing/2014/main" id="{84E87FD1-492C-2532-341F-93BD769BD0BC}"/>
              </a:ext>
            </a:extLst>
          </p:cNvPr>
          <p:cNvSpPr/>
          <p:nvPr/>
        </p:nvSpPr>
        <p:spPr>
          <a:xfrm>
            <a:off x="382561" y="1078993"/>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4A48A544-8B22-8715-2A05-9FB8BD6254AA}"/>
              </a:ext>
            </a:extLst>
          </p:cNvPr>
          <p:cNvSpPr/>
          <p:nvPr/>
        </p:nvSpPr>
        <p:spPr>
          <a:xfrm>
            <a:off x="382561" y="1365023"/>
            <a:ext cx="457200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Executes the migration of servers, applications and databases VMs to Azure IaaS or Azure VMware Solution (AVS) with optional Clean Deployment. Migrations are wave-based, covering non-production first to validate runbooks before production cutover.</a:t>
            </a:r>
          </a:p>
        </p:txBody>
      </p:sp>
      <p:sp>
        <p:nvSpPr>
          <p:cNvPr id="6" name="Shape 9">
            <a:extLst>
              <a:ext uri="{FF2B5EF4-FFF2-40B4-BE49-F238E27FC236}">
                <a16:creationId xmlns:a16="http://schemas.microsoft.com/office/drawing/2014/main" id="{319DAB28-BA90-B4C5-A66F-28D748DA7A6C}"/>
              </a:ext>
            </a:extLst>
          </p:cNvPr>
          <p:cNvSpPr/>
          <p:nvPr/>
        </p:nvSpPr>
        <p:spPr>
          <a:xfrm>
            <a:off x="384066" y="2416128"/>
            <a:ext cx="457200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31802A47-AD68-44E5-775D-12ED03824FBC}"/>
              </a:ext>
            </a:extLst>
          </p:cNvPr>
          <p:cNvSpPr/>
          <p:nvPr/>
        </p:nvSpPr>
        <p:spPr>
          <a:xfrm>
            <a:off x="382561" y="2498880"/>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F1F840F0-A067-50AF-F4CD-0B616B9FD383}"/>
              </a:ext>
            </a:extLst>
          </p:cNvPr>
          <p:cNvSpPr/>
          <p:nvPr/>
        </p:nvSpPr>
        <p:spPr>
          <a:xfrm>
            <a:off x="382560" y="2788168"/>
            <a:ext cx="4692873"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Server and application rehost to Azure IaaS (Rehost / Lift &amp; Shift)</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Azure VMware Solution (AVS) migration for VMware workloads using HCX</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Re-platforming: Unix → Linux (no application code changes)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Azure Migrate replication setup, testing, and cutover operations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Non-production&amp; Production wave execution and validation</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DevOps and IaC foundation | Leverage Azure Verified Modules | GHCP</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Clean Deployment | Deploy Infrastructure using DevOps IaC | GHCP</a:t>
            </a:r>
          </a:p>
        </p:txBody>
      </p:sp>
      <p:sp>
        <p:nvSpPr>
          <p:cNvPr id="9" name="Shape 9">
            <a:extLst>
              <a:ext uri="{FF2B5EF4-FFF2-40B4-BE49-F238E27FC236}">
                <a16:creationId xmlns:a16="http://schemas.microsoft.com/office/drawing/2014/main" id="{F57C9D71-A78F-AF28-470D-CD162499BBD1}"/>
              </a:ext>
            </a:extLst>
          </p:cNvPr>
          <p:cNvSpPr/>
          <p:nvPr/>
        </p:nvSpPr>
        <p:spPr>
          <a:xfrm>
            <a:off x="384066" y="4522491"/>
            <a:ext cx="457200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00E4C0B4-60CC-A25A-16A0-F0630C133914}"/>
              </a:ext>
            </a:extLst>
          </p:cNvPr>
          <p:cNvSpPr/>
          <p:nvPr/>
        </p:nvSpPr>
        <p:spPr>
          <a:xfrm>
            <a:off x="382561" y="4633981"/>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91C947EC-1EEF-A087-DA86-C6AA63A3D2CA}"/>
              </a:ext>
            </a:extLst>
          </p:cNvPr>
          <p:cNvSpPr/>
          <p:nvPr/>
        </p:nvSpPr>
        <p:spPr>
          <a:xfrm>
            <a:off x="382561" y="4923269"/>
            <a:ext cx="4572000" cy="169458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Workloads successfully migrated and operational in Azure</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Non-prod and prod waves executed per approved runbooks</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Zero data loss and minimal downtime on cutover</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Post-migration validation completed and signed off</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Migrated environment monitored and stable in HyperCare (5 days)</a:t>
            </a:r>
          </a:p>
        </p:txBody>
      </p:sp>
      <p:sp>
        <p:nvSpPr>
          <p:cNvPr id="12" name="Text 7">
            <a:extLst>
              <a:ext uri="{FF2B5EF4-FFF2-40B4-BE49-F238E27FC236}">
                <a16:creationId xmlns:a16="http://schemas.microsoft.com/office/drawing/2014/main" id="{B48A19BA-C484-6F50-6C7D-5DAE0C21A1B8}"/>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kern="0" spc="200" noProof="0" dirty="0">
                <a:solidFill>
                  <a:srgbClr val="1A7385"/>
                </a:solidFill>
                <a:ea typeface="Calibri" pitchFamily="34" charset="-122"/>
                <a:cs typeface="Calibri" pitchFamily="34" charset="-120"/>
              </a:rPr>
              <a:t>DELIVERABLES &amp; ACTIVITIES </a:t>
            </a:r>
          </a:p>
        </p:txBody>
      </p:sp>
      <p:grpSp>
        <p:nvGrpSpPr>
          <p:cNvPr id="15" name="Group 14">
            <a:extLst>
              <a:ext uri="{FF2B5EF4-FFF2-40B4-BE49-F238E27FC236}">
                <a16:creationId xmlns:a16="http://schemas.microsoft.com/office/drawing/2014/main" id="{36458C66-4988-C4FF-7BA2-976639C68EB2}"/>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452B6823-2752-FF1C-E6F2-F6EAB1E7757E}"/>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22D2DFFF-A246-3F85-D8BB-2C3D8502798F}"/>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Architecture &amp; Design</a:t>
              </a:r>
            </a:p>
          </p:txBody>
        </p:sp>
      </p:grpSp>
      <p:sp>
        <p:nvSpPr>
          <p:cNvPr id="16" name="Text 8">
            <a:extLst>
              <a:ext uri="{FF2B5EF4-FFF2-40B4-BE49-F238E27FC236}">
                <a16:creationId xmlns:a16="http://schemas.microsoft.com/office/drawing/2014/main" id="{94100F4F-EE81-036A-FF4F-7CADE56E52F1}"/>
              </a:ext>
            </a:extLst>
          </p:cNvPr>
          <p:cNvSpPr/>
          <p:nvPr/>
        </p:nvSpPr>
        <p:spPr>
          <a:xfrm>
            <a:off x="5347480" y="1763627"/>
            <a:ext cx="6630252" cy="1765702"/>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Migration Runbook (per wave, per workload)</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CI/CD pipeline readiness and deployment | Clean Deployment</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Testing Plan &amp; Test Migration Report (non-prod validation)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Replication Status Dashboard</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Cutover Go/No-Go Checklist</a:t>
            </a:r>
          </a:p>
        </p:txBody>
      </p:sp>
      <p:grpSp>
        <p:nvGrpSpPr>
          <p:cNvPr id="17" name="Group 16">
            <a:extLst>
              <a:ext uri="{FF2B5EF4-FFF2-40B4-BE49-F238E27FC236}">
                <a16:creationId xmlns:a16="http://schemas.microsoft.com/office/drawing/2014/main" id="{E7F34740-8C44-D04B-6A81-5CCC9F337C46}"/>
              </a:ext>
            </a:extLst>
          </p:cNvPr>
          <p:cNvGrpSpPr/>
          <p:nvPr/>
        </p:nvGrpSpPr>
        <p:grpSpPr>
          <a:xfrm>
            <a:off x="5345976" y="3527830"/>
            <a:ext cx="6631757" cy="275821"/>
            <a:chOff x="5347480" y="1447053"/>
            <a:chExt cx="6370320" cy="275821"/>
          </a:xfrm>
        </p:grpSpPr>
        <p:sp>
          <p:nvSpPr>
            <p:cNvPr id="18" name="Rectangle 17">
              <a:extLst>
                <a:ext uri="{FF2B5EF4-FFF2-40B4-BE49-F238E27FC236}">
                  <a16:creationId xmlns:a16="http://schemas.microsoft.com/office/drawing/2014/main" id="{33CA27B3-7586-E55B-30C1-894D8D861B99}"/>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B0A9D80E-2A8A-150A-595D-B21BCC8ED4D6}"/>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Migration and Enablement</a:t>
              </a:r>
            </a:p>
          </p:txBody>
        </p:sp>
      </p:grpSp>
      <p:sp>
        <p:nvSpPr>
          <p:cNvPr id="20" name="Text 8">
            <a:extLst>
              <a:ext uri="{FF2B5EF4-FFF2-40B4-BE49-F238E27FC236}">
                <a16:creationId xmlns:a16="http://schemas.microsoft.com/office/drawing/2014/main" id="{D7004BA2-33D8-3B6C-13DD-C6C05558EAF4}"/>
              </a:ext>
            </a:extLst>
          </p:cNvPr>
          <p:cNvSpPr/>
          <p:nvPr/>
        </p:nvSpPr>
        <p:spPr>
          <a:xfrm>
            <a:off x="5345977" y="3844403"/>
            <a:ext cx="6617722" cy="193460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Clean Deployment | Deploy Infrastructure using DevOps IaC | Migration to PaaS </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Workload Migration, pre/post migration tasks, etc..</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Wave Execution Log (per VM/app)</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Cutover Communication &amp; Notification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Post-Migration Validation Report</a:t>
            </a:r>
          </a:p>
        </p:txBody>
      </p:sp>
      <p:sp>
        <p:nvSpPr>
          <p:cNvPr id="25" name="Shape 6">
            <a:extLst>
              <a:ext uri="{FF2B5EF4-FFF2-40B4-BE49-F238E27FC236}">
                <a16:creationId xmlns:a16="http://schemas.microsoft.com/office/drawing/2014/main" id="{B4C8A154-C21D-D1B7-3571-C904D194EC74}"/>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6" name="Rectangle 25">
            <a:extLst>
              <a:ext uri="{FF2B5EF4-FFF2-40B4-BE49-F238E27FC236}">
                <a16:creationId xmlns:a16="http://schemas.microsoft.com/office/drawing/2014/main" id="{9A1FD1A2-7912-ACCD-5987-6626AFB9A5DE}"/>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DURATION </a:t>
            </a:r>
          </a:p>
          <a:p>
            <a:pPr algn="ctr" defTabSz="932472" fontAlgn="base"/>
            <a:r>
              <a:rPr lang="en-US" sz="1200" b="1" noProof="0" dirty="0">
                <a:solidFill>
                  <a:schemeClr val="bg1"/>
                </a:solidFill>
                <a:cs typeface="Segoe UI" pitchFamily="34" charset="0"/>
              </a:rPr>
              <a:t>Per Wave: 2–6 Weeks</a:t>
            </a:r>
          </a:p>
        </p:txBody>
      </p:sp>
      <p:sp>
        <p:nvSpPr>
          <p:cNvPr id="29" name="Rectangle 28">
            <a:extLst>
              <a:ext uri="{FF2B5EF4-FFF2-40B4-BE49-F238E27FC236}">
                <a16:creationId xmlns:a16="http://schemas.microsoft.com/office/drawing/2014/main" id="{B9C47433-FC30-6064-C36B-6D813D7AAA2D}"/>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p:txBody>
      </p:sp>
      <p:sp>
        <p:nvSpPr>
          <p:cNvPr id="30" name="Rectangle 29">
            <a:extLst>
              <a:ext uri="{FF2B5EF4-FFF2-40B4-BE49-F238E27FC236}">
                <a16:creationId xmlns:a16="http://schemas.microsoft.com/office/drawing/2014/main" id="{67AF07A3-4EC3-38EC-2572-3859E765A361}"/>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27" name="TextBox 26">
            <a:extLst>
              <a:ext uri="{FF2B5EF4-FFF2-40B4-BE49-F238E27FC236}">
                <a16:creationId xmlns:a16="http://schemas.microsoft.com/office/drawing/2014/main" id="{FF02D2B3-A085-CBA9-12FD-A32AA24F974E}"/>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algn="ctr"/>
            <a:r>
              <a:rPr lang="en-US" sz="900" b="1" noProof="0" dirty="0">
                <a:solidFill>
                  <a:schemeClr val="bg1"/>
                </a:solidFill>
              </a:rPr>
              <a:t>Azure Migrate  ·  ASR  ·  AVS  ·  HCX  -  PowerShell</a:t>
            </a:r>
          </a:p>
        </p:txBody>
      </p:sp>
      <p:sp>
        <p:nvSpPr>
          <p:cNvPr id="21" name="TextBox 20">
            <a:extLst>
              <a:ext uri="{FF2B5EF4-FFF2-40B4-BE49-F238E27FC236}">
                <a16:creationId xmlns:a16="http://schemas.microsoft.com/office/drawing/2014/main" id="{C444D5C3-5565-6370-1BE3-D8AA0A34AB2F}"/>
              </a:ext>
            </a:extLst>
          </p:cNvPr>
          <p:cNvSpPr txBox="1"/>
          <p:nvPr/>
        </p:nvSpPr>
        <p:spPr>
          <a:xfrm>
            <a:off x="7368591" y="6335915"/>
            <a:ext cx="2350008" cy="274320"/>
          </a:xfrm>
          <a:prstGeom prst="rect">
            <a:avLst/>
          </a:prstGeom>
          <a:noFill/>
        </p:spPr>
        <p:txBody>
          <a:bodyPr wrap="square" lIns="0" tIns="0" rIns="0" bIns="0" rtlCol="0" anchor="ctr" anchorCtr="0">
            <a:noAutofit/>
          </a:bodyPr>
          <a:lstStyle/>
          <a:p>
            <a:pPr algn="ctr"/>
            <a:r>
              <a:rPr lang="en-US" sz="900" b="1" noProof="0" dirty="0">
                <a:solidFill>
                  <a:schemeClr val="bg1"/>
                </a:solidFill>
              </a:rPr>
              <a:t>Migration Lead + App Architect + </a:t>
            </a:r>
          </a:p>
          <a:p>
            <a:pPr algn="ctr"/>
            <a:r>
              <a:rPr lang="en-US" sz="900" b="1" noProof="0" dirty="0">
                <a:solidFill>
                  <a:schemeClr val="bg1"/>
                </a:solidFill>
              </a:rPr>
              <a:t>Cloud Engineers</a:t>
            </a:r>
          </a:p>
        </p:txBody>
      </p:sp>
      <p:sp>
        <p:nvSpPr>
          <p:cNvPr id="22" name="TextBox 21">
            <a:extLst>
              <a:ext uri="{FF2B5EF4-FFF2-40B4-BE49-F238E27FC236}">
                <a16:creationId xmlns:a16="http://schemas.microsoft.com/office/drawing/2014/main" id="{7CE787F8-7A4F-9455-0685-69C50B757902}"/>
              </a:ext>
            </a:extLst>
          </p:cNvPr>
          <p:cNvSpPr txBox="1"/>
          <p:nvPr/>
        </p:nvSpPr>
        <p:spPr>
          <a:xfrm>
            <a:off x="647274" y="6623298"/>
            <a:ext cx="3606229" cy="153888"/>
          </a:xfrm>
          <a:prstGeom prst="rect">
            <a:avLst/>
          </a:prstGeom>
          <a:solidFill>
            <a:schemeClr val="bg1">
              <a:lumMod val="95000"/>
            </a:schemeClr>
          </a:solidFill>
        </p:spPr>
        <p:txBody>
          <a:bodyPr wrap="square" lIns="0" tIns="0" rIns="0" bIns="0" rtlCol="0">
            <a:spAutoFit/>
          </a:bodyPr>
          <a:lstStyle/>
          <a:p>
            <a:pPr algn="ctr"/>
            <a:r>
              <a:rPr lang="en-US" sz="1000" noProof="0" dirty="0">
                <a:solidFill>
                  <a:schemeClr val="accent2"/>
                </a:solidFill>
              </a:rPr>
              <a:t>Note: Any development will be done using GHCP only</a:t>
            </a:r>
          </a:p>
        </p:txBody>
      </p:sp>
    </p:spTree>
    <p:extLst>
      <p:ext uri="{BB962C8B-B14F-4D97-AF65-F5344CB8AC3E}">
        <p14:creationId xmlns:p14="http://schemas.microsoft.com/office/powerpoint/2010/main" val="4061377932"/>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AD3D0-0ABA-791A-49D3-7F1F88639489}"/>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7B744B01-77F0-277E-CE0F-98991CDC3C56}"/>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D42C01E1-964E-4848-7969-202077835352}"/>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41733DCA-16A8-C0D6-1114-15431CC6B185}"/>
              </a:ext>
            </a:extLst>
          </p:cNvPr>
          <p:cNvSpPr>
            <a:spLocks noGrp="1"/>
          </p:cNvSpPr>
          <p:nvPr>
            <p:ph type="title"/>
          </p:nvPr>
        </p:nvSpPr>
        <p:spPr/>
        <p:txBody>
          <a:bodyPr/>
          <a:lstStyle/>
          <a:p>
            <a:r>
              <a:rPr lang="en-US" sz="2800" noProof="0" dirty="0"/>
              <a:t>Scale Modernization with AI - for Scope 1 | Application Modernization</a:t>
            </a:r>
          </a:p>
        </p:txBody>
      </p:sp>
      <p:sp>
        <p:nvSpPr>
          <p:cNvPr id="4" name="Text 7">
            <a:extLst>
              <a:ext uri="{FF2B5EF4-FFF2-40B4-BE49-F238E27FC236}">
                <a16:creationId xmlns:a16="http://schemas.microsoft.com/office/drawing/2014/main" id="{157C3789-32E5-4755-D3E7-3BF5C54FC11C}"/>
              </a:ext>
            </a:extLst>
          </p:cNvPr>
          <p:cNvSpPr/>
          <p:nvPr/>
        </p:nvSpPr>
        <p:spPr>
          <a:xfrm>
            <a:off x="382561" y="1078993"/>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7709FD43-18DE-851C-52F0-2C48196D1A97}"/>
              </a:ext>
            </a:extLst>
          </p:cNvPr>
          <p:cNvSpPr/>
          <p:nvPr/>
        </p:nvSpPr>
        <p:spPr>
          <a:xfrm>
            <a:off x="382561" y="1365023"/>
            <a:ext cx="457200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Elevates selected workloads beyond lift-and-shift by refactoring legacy .NET &amp; Java application code and architecture to leverage Azure-native services. Includes containerization, AKS migration, and CI pipeline enablement to unlock scalability, resiliency, and cost efficiency.</a:t>
            </a:r>
          </a:p>
        </p:txBody>
      </p:sp>
      <p:sp>
        <p:nvSpPr>
          <p:cNvPr id="6" name="Shape 9">
            <a:extLst>
              <a:ext uri="{FF2B5EF4-FFF2-40B4-BE49-F238E27FC236}">
                <a16:creationId xmlns:a16="http://schemas.microsoft.com/office/drawing/2014/main" id="{C19224E2-FD47-1FE9-9FB8-1F0CDE0D3624}"/>
              </a:ext>
            </a:extLst>
          </p:cNvPr>
          <p:cNvSpPr/>
          <p:nvPr/>
        </p:nvSpPr>
        <p:spPr>
          <a:xfrm>
            <a:off x="384066" y="2416128"/>
            <a:ext cx="457200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3F443CEA-A13C-3977-CC2C-AF68B20A35BD}"/>
              </a:ext>
            </a:extLst>
          </p:cNvPr>
          <p:cNvSpPr/>
          <p:nvPr/>
        </p:nvSpPr>
        <p:spPr>
          <a:xfrm>
            <a:off x="382561" y="2498880"/>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18A70F02-3092-ECEE-558D-13412CE1F496}"/>
              </a:ext>
            </a:extLst>
          </p:cNvPr>
          <p:cNvSpPr/>
          <p:nvPr/>
        </p:nvSpPr>
        <p:spPr>
          <a:xfrm>
            <a:off x="382561" y="2788168"/>
            <a:ext cx="4572000"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Application (.NET &amp; Java) refactoring and Code Remediation using Agentic Tools* to Azure PaaS and serverless services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Cloud-native transformation for selected strategic workloads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Containerization of application components (Docker)</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AKS migration: rehost (container lift) and refactor workloads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CI pipeline enablement (Azure DevOps / GitHub Actions)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Application cutover testing and validation (using Agentic Tools*)</a:t>
            </a:r>
          </a:p>
        </p:txBody>
      </p:sp>
      <p:sp>
        <p:nvSpPr>
          <p:cNvPr id="9" name="Shape 9">
            <a:extLst>
              <a:ext uri="{FF2B5EF4-FFF2-40B4-BE49-F238E27FC236}">
                <a16:creationId xmlns:a16="http://schemas.microsoft.com/office/drawing/2014/main" id="{15FC64F6-7B0D-F573-B468-329A17DCB80E}"/>
              </a:ext>
            </a:extLst>
          </p:cNvPr>
          <p:cNvSpPr/>
          <p:nvPr/>
        </p:nvSpPr>
        <p:spPr>
          <a:xfrm>
            <a:off x="384066" y="4522491"/>
            <a:ext cx="457200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08F4F7B5-093A-9AEB-AB5D-F5411B33EAAC}"/>
              </a:ext>
            </a:extLst>
          </p:cNvPr>
          <p:cNvSpPr/>
          <p:nvPr/>
        </p:nvSpPr>
        <p:spPr>
          <a:xfrm>
            <a:off x="382561" y="4633981"/>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642E6E58-0629-0638-1ECC-4A3247DEF590}"/>
              </a:ext>
            </a:extLst>
          </p:cNvPr>
          <p:cNvSpPr/>
          <p:nvPr/>
        </p:nvSpPr>
        <p:spPr>
          <a:xfrm>
            <a:off x="382561" y="4923269"/>
            <a:ext cx="4572000" cy="169458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200000"/>
              <a:buFont typeface="Segoe Sans Text" pitchFamily="2" charset="0"/>
              <a:buChar char="●"/>
            </a:pPr>
            <a:r>
              <a:rPr lang="en-US" sz="1050" noProof="0" dirty="0">
                <a:solidFill>
                  <a:schemeClr val="bg1"/>
                </a:solidFill>
              </a:rPr>
              <a:t>Applications leveraging Azure-native managed services</a:t>
            </a:r>
          </a:p>
          <a:p>
            <a:pPr marL="171450" indent="-228600">
              <a:lnSpc>
                <a:spcPct val="150000"/>
              </a:lnSpc>
              <a:buClr>
                <a:srgbClr val="41B8A4"/>
              </a:buClr>
              <a:buSzPct val="200000"/>
              <a:buFont typeface="Segoe Sans Text" pitchFamily="2" charset="0"/>
              <a:buChar char="●"/>
            </a:pPr>
            <a:r>
              <a:rPr lang="en-US" sz="1050" noProof="0" dirty="0">
                <a:solidFill>
                  <a:schemeClr val="bg1"/>
                </a:solidFill>
              </a:rPr>
              <a:t>Containerized workloads running on AKS with auto-scaling</a:t>
            </a:r>
          </a:p>
          <a:p>
            <a:pPr marL="171450" indent="-228600">
              <a:lnSpc>
                <a:spcPct val="150000"/>
              </a:lnSpc>
              <a:buClr>
                <a:srgbClr val="41B8A4"/>
              </a:buClr>
              <a:buSzPct val="200000"/>
              <a:buFont typeface="Segoe Sans Text" pitchFamily="2" charset="0"/>
              <a:buChar char="●"/>
            </a:pPr>
            <a:r>
              <a:rPr lang="en-US" sz="1050" noProof="0" dirty="0">
                <a:solidFill>
                  <a:schemeClr val="bg1"/>
                </a:solidFill>
              </a:rPr>
              <a:t>CI pipelines operational for targeted applications</a:t>
            </a:r>
          </a:p>
          <a:p>
            <a:pPr marL="171450" indent="-228600">
              <a:lnSpc>
                <a:spcPct val="150000"/>
              </a:lnSpc>
              <a:buClr>
                <a:srgbClr val="41B8A4"/>
              </a:buClr>
              <a:buSzPct val="200000"/>
              <a:buFont typeface="Segoe Sans Text" pitchFamily="2" charset="0"/>
              <a:buChar char="●"/>
            </a:pPr>
            <a:r>
              <a:rPr lang="en-US" sz="1050" noProof="0" dirty="0">
                <a:solidFill>
                  <a:schemeClr val="bg1"/>
                </a:solidFill>
              </a:rPr>
              <a:t>Application resiliency enabled, architecture patterns documented, baseline monitoring enabled</a:t>
            </a:r>
          </a:p>
          <a:p>
            <a:pPr marL="171450" indent="-228600">
              <a:lnSpc>
                <a:spcPct val="150000"/>
              </a:lnSpc>
              <a:buClr>
                <a:srgbClr val="41B8A4"/>
              </a:buClr>
              <a:buSzPct val="200000"/>
              <a:buFont typeface="Segoe Sans Text" pitchFamily="2" charset="0"/>
              <a:buChar char="●"/>
            </a:pPr>
            <a:r>
              <a:rPr lang="en-US" sz="1050" noProof="0" dirty="0">
                <a:solidFill>
                  <a:schemeClr val="bg1"/>
                </a:solidFill>
              </a:rPr>
              <a:t>Modernized environment deployed and stable in HyperCare (5 days)</a:t>
            </a:r>
          </a:p>
        </p:txBody>
      </p:sp>
      <p:sp>
        <p:nvSpPr>
          <p:cNvPr id="12" name="Text 7">
            <a:extLst>
              <a:ext uri="{FF2B5EF4-FFF2-40B4-BE49-F238E27FC236}">
                <a16:creationId xmlns:a16="http://schemas.microsoft.com/office/drawing/2014/main" id="{4D234BE1-58D1-E1F7-E297-558A4B7BFFE3}"/>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kern="0" spc="200" noProof="0" dirty="0">
                <a:solidFill>
                  <a:srgbClr val="1A7385"/>
                </a:solidFill>
                <a:ea typeface="Calibri" pitchFamily="34" charset="-122"/>
                <a:cs typeface="Calibri" pitchFamily="34" charset="-120"/>
              </a:rPr>
              <a:t>DELIVERABLES &amp; ACTIVITIES </a:t>
            </a:r>
          </a:p>
        </p:txBody>
      </p:sp>
      <p:grpSp>
        <p:nvGrpSpPr>
          <p:cNvPr id="15" name="Group 14">
            <a:extLst>
              <a:ext uri="{FF2B5EF4-FFF2-40B4-BE49-F238E27FC236}">
                <a16:creationId xmlns:a16="http://schemas.microsoft.com/office/drawing/2014/main" id="{584E85E4-ACD0-2529-E0B3-543A59D80E3F}"/>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1F336A3E-FE31-325C-682D-C8FAB571A5FD}"/>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197A8768-66C1-D704-08DD-181AA05B3566}"/>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Modernization Design</a:t>
              </a:r>
            </a:p>
          </p:txBody>
        </p:sp>
      </p:grpSp>
      <p:sp>
        <p:nvSpPr>
          <p:cNvPr id="16" name="Text 8">
            <a:extLst>
              <a:ext uri="{FF2B5EF4-FFF2-40B4-BE49-F238E27FC236}">
                <a16:creationId xmlns:a16="http://schemas.microsoft.com/office/drawing/2014/main" id="{1AE301F0-CB7D-F540-2768-ED91B1FF0F29}"/>
              </a:ext>
            </a:extLst>
          </p:cNvPr>
          <p:cNvSpPr/>
          <p:nvPr/>
        </p:nvSpPr>
        <p:spPr>
          <a:xfrm>
            <a:off x="5347480" y="1763627"/>
            <a:ext cx="6630252" cy="1432246"/>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Application Modernization Assessment (per workload)</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Refactoring / Containerization Design Document</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AKS Cluster Architecture &amp; Namespace Design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CI Pipeline Strategy &amp; Build</a:t>
            </a:r>
          </a:p>
        </p:txBody>
      </p:sp>
      <p:grpSp>
        <p:nvGrpSpPr>
          <p:cNvPr id="17" name="Group 16">
            <a:extLst>
              <a:ext uri="{FF2B5EF4-FFF2-40B4-BE49-F238E27FC236}">
                <a16:creationId xmlns:a16="http://schemas.microsoft.com/office/drawing/2014/main" id="{FF001816-2648-3290-FF5E-38D74D72A0B8}"/>
              </a:ext>
            </a:extLst>
          </p:cNvPr>
          <p:cNvGrpSpPr/>
          <p:nvPr/>
        </p:nvGrpSpPr>
        <p:grpSpPr>
          <a:xfrm>
            <a:off x="5345976" y="3527830"/>
            <a:ext cx="6631757" cy="275821"/>
            <a:chOff x="5347480" y="1447053"/>
            <a:chExt cx="6370320" cy="275821"/>
          </a:xfrm>
        </p:grpSpPr>
        <p:sp>
          <p:nvSpPr>
            <p:cNvPr id="18" name="Rectangle 17">
              <a:extLst>
                <a:ext uri="{FF2B5EF4-FFF2-40B4-BE49-F238E27FC236}">
                  <a16:creationId xmlns:a16="http://schemas.microsoft.com/office/drawing/2014/main" id="{036A6D2C-2CA0-60D6-6B79-22B82453AB38}"/>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317019E0-B6ED-49B6-5D73-E9649EE5CA11}"/>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Migration and Enablement</a:t>
              </a:r>
            </a:p>
          </p:txBody>
        </p:sp>
      </p:grpSp>
      <p:sp>
        <p:nvSpPr>
          <p:cNvPr id="20" name="Text 8">
            <a:extLst>
              <a:ext uri="{FF2B5EF4-FFF2-40B4-BE49-F238E27FC236}">
                <a16:creationId xmlns:a16="http://schemas.microsoft.com/office/drawing/2014/main" id="{C6D5A2D4-DAF6-24AF-E39D-3B0CDBC26512}"/>
              </a:ext>
            </a:extLst>
          </p:cNvPr>
          <p:cNvSpPr/>
          <p:nvPr/>
        </p:nvSpPr>
        <p:spPr>
          <a:xfrm>
            <a:off x="5345977" y="3844404"/>
            <a:ext cx="6617722" cy="166915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Refactored Application (deployed to Azure PaaS/AKS)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Container Images &amp; Helm Charts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CI Pipeline (Azure DevOps / GitHub Actions)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Testing (smoke test and connectivity tests)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Post-Modernization Test &amp; Validation Report</a:t>
            </a:r>
          </a:p>
        </p:txBody>
      </p:sp>
      <p:sp>
        <p:nvSpPr>
          <p:cNvPr id="25" name="Shape 6">
            <a:extLst>
              <a:ext uri="{FF2B5EF4-FFF2-40B4-BE49-F238E27FC236}">
                <a16:creationId xmlns:a16="http://schemas.microsoft.com/office/drawing/2014/main" id="{093392C8-1C05-72D0-A699-09B6072046C9}"/>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6" name="Rectangle 25">
            <a:extLst>
              <a:ext uri="{FF2B5EF4-FFF2-40B4-BE49-F238E27FC236}">
                <a16:creationId xmlns:a16="http://schemas.microsoft.com/office/drawing/2014/main" id="{52FB3AE3-DEEC-B47E-B4A4-5420267C4430}"/>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DURATION </a:t>
            </a:r>
          </a:p>
          <a:p>
            <a:pPr algn="ctr" defTabSz="932472" fontAlgn="base"/>
            <a:r>
              <a:rPr lang="en-US" sz="1400" b="1" noProof="0" dirty="0">
                <a:solidFill>
                  <a:schemeClr val="bg1"/>
                </a:solidFill>
                <a:cs typeface="Segoe UI" pitchFamily="34" charset="0"/>
              </a:rPr>
              <a:t>Per Wave: 4-10 Weeks</a:t>
            </a:r>
          </a:p>
        </p:txBody>
      </p:sp>
      <p:sp>
        <p:nvSpPr>
          <p:cNvPr id="29" name="Rectangle 28">
            <a:extLst>
              <a:ext uri="{FF2B5EF4-FFF2-40B4-BE49-F238E27FC236}">
                <a16:creationId xmlns:a16="http://schemas.microsoft.com/office/drawing/2014/main" id="{05139F15-E693-EEE3-DAAF-D5414206893C}"/>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p:txBody>
      </p:sp>
      <p:sp>
        <p:nvSpPr>
          <p:cNvPr id="30" name="Rectangle 29">
            <a:extLst>
              <a:ext uri="{FF2B5EF4-FFF2-40B4-BE49-F238E27FC236}">
                <a16:creationId xmlns:a16="http://schemas.microsoft.com/office/drawing/2014/main" id="{D7114E22-5940-E661-0A8B-ECBCC4432362}"/>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27" name="TextBox 26">
            <a:extLst>
              <a:ext uri="{FF2B5EF4-FFF2-40B4-BE49-F238E27FC236}">
                <a16:creationId xmlns:a16="http://schemas.microsoft.com/office/drawing/2014/main" id="{E5B3FB00-314B-A008-5350-2926C23F6CB8}"/>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algn="ctr"/>
            <a:r>
              <a:rPr lang="en-US" sz="900" b="1" noProof="0" dirty="0">
                <a:solidFill>
                  <a:schemeClr val="bg1"/>
                </a:solidFill>
              </a:rPr>
              <a:t>GitHub CoPilot  · AKS  ·  ACR  ·  Azure DevOps  ·  Docker  ·  Helm</a:t>
            </a:r>
          </a:p>
        </p:txBody>
      </p:sp>
      <p:sp>
        <p:nvSpPr>
          <p:cNvPr id="21" name="TextBox 20">
            <a:extLst>
              <a:ext uri="{FF2B5EF4-FFF2-40B4-BE49-F238E27FC236}">
                <a16:creationId xmlns:a16="http://schemas.microsoft.com/office/drawing/2014/main" id="{A4D94D6E-B3F7-7FDF-7116-6525A490C229}"/>
              </a:ext>
            </a:extLst>
          </p:cNvPr>
          <p:cNvSpPr txBox="1"/>
          <p:nvPr/>
        </p:nvSpPr>
        <p:spPr>
          <a:xfrm>
            <a:off x="7368591" y="6335915"/>
            <a:ext cx="2350008" cy="274320"/>
          </a:xfrm>
          <a:prstGeom prst="rect">
            <a:avLst/>
          </a:prstGeom>
          <a:noFill/>
        </p:spPr>
        <p:txBody>
          <a:bodyPr wrap="square" lIns="0" tIns="0" rIns="0" bIns="0" rtlCol="0" anchor="ctr" anchorCtr="0">
            <a:noAutofit/>
          </a:bodyPr>
          <a:lstStyle/>
          <a:p>
            <a:pPr algn="ctr"/>
            <a:r>
              <a:rPr lang="en-US" sz="900" b="1" noProof="0" dirty="0">
                <a:solidFill>
                  <a:schemeClr val="bg1"/>
                </a:solidFill>
              </a:rPr>
              <a:t>App Architect + DevOps Engineers</a:t>
            </a:r>
          </a:p>
        </p:txBody>
      </p:sp>
      <p:sp>
        <p:nvSpPr>
          <p:cNvPr id="23" name="TextBox 22">
            <a:extLst>
              <a:ext uri="{FF2B5EF4-FFF2-40B4-BE49-F238E27FC236}">
                <a16:creationId xmlns:a16="http://schemas.microsoft.com/office/drawing/2014/main" id="{CBB256F7-BBCA-893A-DDC5-86C3B4B186EC}"/>
              </a:ext>
            </a:extLst>
          </p:cNvPr>
          <p:cNvSpPr txBox="1"/>
          <p:nvPr/>
        </p:nvSpPr>
        <p:spPr>
          <a:xfrm>
            <a:off x="719365" y="6540912"/>
            <a:ext cx="3606229" cy="153888"/>
          </a:xfrm>
          <a:prstGeom prst="rect">
            <a:avLst/>
          </a:prstGeom>
          <a:solidFill>
            <a:schemeClr val="bg1">
              <a:lumMod val="95000"/>
            </a:schemeClr>
          </a:solidFill>
        </p:spPr>
        <p:txBody>
          <a:bodyPr wrap="square" lIns="0" tIns="0" rIns="0" bIns="0" rtlCol="0">
            <a:spAutoFit/>
          </a:bodyPr>
          <a:lstStyle/>
          <a:p>
            <a:pPr algn="ctr"/>
            <a:r>
              <a:rPr lang="en-US" sz="1000" noProof="0" dirty="0">
                <a:solidFill>
                  <a:schemeClr val="accent2"/>
                </a:solidFill>
              </a:rPr>
              <a:t>Note: using GHCP only</a:t>
            </a:r>
          </a:p>
        </p:txBody>
      </p:sp>
    </p:spTree>
    <p:extLst>
      <p:ext uri="{BB962C8B-B14F-4D97-AF65-F5344CB8AC3E}">
        <p14:creationId xmlns:p14="http://schemas.microsoft.com/office/powerpoint/2010/main" val="1409987132"/>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73D92-A62C-5959-9539-A6CBE4885A34}"/>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82AF6931-4C4B-50F6-D01B-97AF29EAF5BD}"/>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8B77D331-FFC4-310A-613D-F4460DB55926}"/>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0095446D-2A3C-CD81-BBB3-C6A9F25BDDCB}"/>
              </a:ext>
            </a:extLst>
          </p:cNvPr>
          <p:cNvSpPr>
            <a:spLocks noGrp="1"/>
          </p:cNvSpPr>
          <p:nvPr>
            <p:ph type="title"/>
          </p:nvPr>
        </p:nvSpPr>
        <p:spPr/>
        <p:txBody>
          <a:bodyPr/>
          <a:lstStyle/>
          <a:p>
            <a:r>
              <a:rPr lang="en-US" sz="2800" noProof="0" dirty="0"/>
              <a:t>Database Migration and Modernization - for Scope 1</a:t>
            </a:r>
          </a:p>
        </p:txBody>
      </p:sp>
      <p:sp>
        <p:nvSpPr>
          <p:cNvPr id="4" name="Text 7">
            <a:extLst>
              <a:ext uri="{FF2B5EF4-FFF2-40B4-BE49-F238E27FC236}">
                <a16:creationId xmlns:a16="http://schemas.microsoft.com/office/drawing/2014/main" id="{2E00717E-AEAC-9B17-39A6-11F09CC50434}"/>
              </a:ext>
            </a:extLst>
          </p:cNvPr>
          <p:cNvSpPr/>
          <p:nvPr/>
        </p:nvSpPr>
        <p:spPr>
          <a:xfrm>
            <a:off x="382561" y="1078993"/>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A99981D4-984F-461B-2901-87EAF98FA1DA}"/>
              </a:ext>
            </a:extLst>
          </p:cNvPr>
          <p:cNvSpPr/>
          <p:nvPr/>
        </p:nvSpPr>
        <p:spPr>
          <a:xfrm>
            <a:off x="382560" y="1326113"/>
            <a:ext cx="4773099"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Re-platforms and modernizes legacy databases onto Azure data services, enabling scalability, managed operations, and analytics capability integrated across all phases of application and infrastructure modernization. Covers migration to Azure SQL, SQL Managed Instance, PostgreSQL, and broader data platform uplift including analytics enablement.</a:t>
            </a:r>
          </a:p>
        </p:txBody>
      </p:sp>
      <p:sp>
        <p:nvSpPr>
          <p:cNvPr id="6" name="Shape 9">
            <a:extLst>
              <a:ext uri="{FF2B5EF4-FFF2-40B4-BE49-F238E27FC236}">
                <a16:creationId xmlns:a16="http://schemas.microsoft.com/office/drawing/2014/main" id="{5F9F8F5D-98E5-F33E-1EC7-868241F1928C}"/>
              </a:ext>
            </a:extLst>
          </p:cNvPr>
          <p:cNvSpPr/>
          <p:nvPr/>
        </p:nvSpPr>
        <p:spPr>
          <a:xfrm>
            <a:off x="384066" y="2329503"/>
            <a:ext cx="457200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9EEC9FA0-E4DF-12B6-647E-51C036100A58}"/>
              </a:ext>
            </a:extLst>
          </p:cNvPr>
          <p:cNvSpPr/>
          <p:nvPr/>
        </p:nvSpPr>
        <p:spPr>
          <a:xfrm>
            <a:off x="382561" y="2412255"/>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D508B6DA-7B08-F224-5C4F-918F2924CDD5}"/>
              </a:ext>
            </a:extLst>
          </p:cNvPr>
          <p:cNvSpPr/>
          <p:nvPr/>
        </p:nvSpPr>
        <p:spPr>
          <a:xfrm>
            <a:off x="382561" y="2701543"/>
            <a:ext cx="4572000" cy="202445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Database Migration: from on-premise, AWS, GCP, multi-cloud to Azure IaaS &amp; PaaS managed databases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Open-source database migration: PostgreSQL, MySQL on Azure</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Heterogeneous database migrations: Oracle to Azure SQL and PostgreSQL (AI Assisted), SAP Sybase ASE to Azure SQL</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Database re-platforming: Azure SQL DB, SQL Managed Instance</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Data replatform and schema migration (As-Is)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Data migration testing, validation, and reconciliation</a:t>
            </a:r>
          </a:p>
        </p:txBody>
      </p:sp>
      <p:sp>
        <p:nvSpPr>
          <p:cNvPr id="9" name="Shape 9">
            <a:extLst>
              <a:ext uri="{FF2B5EF4-FFF2-40B4-BE49-F238E27FC236}">
                <a16:creationId xmlns:a16="http://schemas.microsoft.com/office/drawing/2014/main" id="{D93E410B-F543-DFE1-1F93-2498C1161B2C}"/>
              </a:ext>
            </a:extLst>
          </p:cNvPr>
          <p:cNvSpPr/>
          <p:nvPr/>
        </p:nvSpPr>
        <p:spPr>
          <a:xfrm>
            <a:off x="384066" y="4820871"/>
            <a:ext cx="457200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BE4A3FD5-4EDB-03EB-D017-4C389DC7441E}"/>
              </a:ext>
            </a:extLst>
          </p:cNvPr>
          <p:cNvSpPr/>
          <p:nvPr/>
        </p:nvSpPr>
        <p:spPr>
          <a:xfrm>
            <a:off x="382561" y="4903486"/>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4923CEA9-6A9D-FE01-192F-A30E9D0F058B}"/>
              </a:ext>
            </a:extLst>
          </p:cNvPr>
          <p:cNvSpPr/>
          <p:nvPr/>
        </p:nvSpPr>
        <p:spPr>
          <a:xfrm>
            <a:off x="382561" y="5192774"/>
            <a:ext cx="4572000" cy="1412599"/>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Databases migrated to scoped Azure-managed services</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Data integrity and consistency validated post-migration</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Modern data platform with improved resilient architecture</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Modernized environment deployed and stable in HyperCare (5 days)</a:t>
            </a:r>
          </a:p>
        </p:txBody>
      </p:sp>
      <p:sp>
        <p:nvSpPr>
          <p:cNvPr id="12" name="Text 7">
            <a:extLst>
              <a:ext uri="{FF2B5EF4-FFF2-40B4-BE49-F238E27FC236}">
                <a16:creationId xmlns:a16="http://schemas.microsoft.com/office/drawing/2014/main" id="{3BE5D657-BD3F-47AD-56EA-8B395ACCC6F7}"/>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rgbClr val="06B6D4"/>
                </a:solidFill>
                <a:ea typeface="Calibri" pitchFamily="34" charset="-122"/>
                <a:cs typeface="Calibri" pitchFamily="34" charset="-120"/>
              </a:rPr>
              <a:t>DELIVERABLES &amp; ACTIVITIES </a:t>
            </a:r>
            <a:endParaRPr lang="en-US" sz="1000" noProof="0" dirty="0"/>
          </a:p>
        </p:txBody>
      </p:sp>
      <p:grpSp>
        <p:nvGrpSpPr>
          <p:cNvPr id="15" name="Group 14">
            <a:extLst>
              <a:ext uri="{FF2B5EF4-FFF2-40B4-BE49-F238E27FC236}">
                <a16:creationId xmlns:a16="http://schemas.microsoft.com/office/drawing/2014/main" id="{BF7BAB04-E253-5174-FC5B-CD737A9A9178}"/>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42F9C378-079D-4237-4B14-E0EAB27F0891}"/>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EAE8C78D-8DA5-E926-A33B-2A15ED6D0B5E}"/>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Assessment &amp; Design</a:t>
              </a:r>
            </a:p>
          </p:txBody>
        </p:sp>
      </p:grpSp>
      <p:sp>
        <p:nvSpPr>
          <p:cNvPr id="16" name="Text 8">
            <a:extLst>
              <a:ext uri="{FF2B5EF4-FFF2-40B4-BE49-F238E27FC236}">
                <a16:creationId xmlns:a16="http://schemas.microsoft.com/office/drawing/2014/main" id="{F61D1A8D-25E3-9AD3-DAB3-3707FDA12B10}"/>
              </a:ext>
            </a:extLst>
          </p:cNvPr>
          <p:cNvSpPr/>
          <p:nvPr/>
        </p:nvSpPr>
        <p:spPr>
          <a:xfrm>
            <a:off x="5347480" y="1763627"/>
            <a:ext cx="6630252" cy="1681816"/>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Workload assessment and application dependency</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Database Assessment Report (schema, size, compatibility)</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Target Database Migration - Design and Validation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Data Migration Strategy &amp; Approach Document</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Schema Conversion Report</a:t>
            </a:r>
          </a:p>
        </p:txBody>
      </p:sp>
      <p:grpSp>
        <p:nvGrpSpPr>
          <p:cNvPr id="17" name="Group 16">
            <a:extLst>
              <a:ext uri="{FF2B5EF4-FFF2-40B4-BE49-F238E27FC236}">
                <a16:creationId xmlns:a16="http://schemas.microsoft.com/office/drawing/2014/main" id="{E5A9BE24-976D-3BFD-ADA0-81D1824C1805}"/>
              </a:ext>
            </a:extLst>
          </p:cNvPr>
          <p:cNvGrpSpPr/>
          <p:nvPr/>
        </p:nvGrpSpPr>
        <p:grpSpPr>
          <a:xfrm>
            <a:off x="5345976" y="3527830"/>
            <a:ext cx="6631757" cy="275821"/>
            <a:chOff x="5347480" y="1447053"/>
            <a:chExt cx="6370320" cy="275821"/>
          </a:xfrm>
        </p:grpSpPr>
        <p:sp>
          <p:nvSpPr>
            <p:cNvPr id="18" name="Rectangle 17">
              <a:extLst>
                <a:ext uri="{FF2B5EF4-FFF2-40B4-BE49-F238E27FC236}">
                  <a16:creationId xmlns:a16="http://schemas.microsoft.com/office/drawing/2014/main" id="{62488BCB-D1E6-E782-D489-34474F9889C0}"/>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4C5AAC62-36A8-9C18-54E7-BE2E5CCD86B7}"/>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Migration &amp; Enablement</a:t>
              </a:r>
            </a:p>
          </p:txBody>
        </p:sp>
      </p:grpSp>
      <p:sp>
        <p:nvSpPr>
          <p:cNvPr id="20" name="Text 8">
            <a:extLst>
              <a:ext uri="{FF2B5EF4-FFF2-40B4-BE49-F238E27FC236}">
                <a16:creationId xmlns:a16="http://schemas.microsoft.com/office/drawing/2014/main" id="{B877AA21-2553-79B7-2CF6-C3446316A15A}"/>
              </a:ext>
            </a:extLst>
          </p:cNvPr>
          <p:cNvSpPr/>
          <p:nvPr/>
        </p:nvSpPr>
        <p:spPr>
          <a:xfrm>
            <a:off x="5345977" y="3844404"/>
            <a:ext cx="6617722" cy="166915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Target Azure IaaS &amp; PaaS deployment and readiness; enable resiliency</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“As-is” - Database migration to target Azure destination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Data migration, testing, validation &amp; cutover</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Wave-based migration – integrated along with application migrations &amp; modernizations</a:t>
            </a:r>
          </a:p>
          <a:p>
            <a:pPr marL="171450" indent="-228600">
              <a:lnSpc>
                <a:spcPct val="200000"/>
              </a:lnSpc>
              <a:buClr>
                <a:srgbClr val="1A7385"/>
              </a:buClr>
              <a:buSzPct val="125000"/>
              <a:buFont typeface="Segoe Sans Text" pitchFamily="2" charset="0"/>
              <a:buChar char="■"/>
            </a:pPr>
            <a:endParaRPr lang="en-US" sz="1050" noProof="0" dirty="0">
              <a:solidFill>
                <a:schemeClr val="accent2">
                  <a:lumMod val="75000"/>
                </a:schemeClr>
              </a:solidFill>
            </a:endParaRPr>
          </a:p>
          <a:p>
            <a:pPr marL="171450" indent="-228600">
              <a:lnSpc>
                <a:spcPct val="200000"/>
              </a:lnSpc>
              <a:buClr>
                <a:srgbClr val="1A7385"/>
              </a:buClr>
              <a:buSzPct val="125000"/>
              <a:buFont typeface="Segoe Sans Text" pitchFamily="2" charset="0"/>
              <a:buChar char="■"/>
            </a:pPr>
            <a:endParaRPr lang="en-US" sz="1050" noProof="0" dirty="0">
              <a:solidFill>
                <a:schemeClr val="accent2">
                  <a:lumMod val="75000"/>
                </a:schemeClr>
              </a:solidFill>
            </a:endParaRPr>
          </a:p>
        </p:txBody>
      </p:sp>
      <p:sp>
        <p:nvSpPr>
          <p:cNvPr id="25" name="Shape 6">
            <a:extLst>
              <a:ext uri="{FF2B5EF4-FFF2-40B4-BE49-F238E27FC236}">
                <a16:creationId xmlns:a16="http://schemas.microsoft.com/office/drawing/2014/main" id="{EA8B35E6-3ED3-4F7B-E2DE-8618DA93BB20}"/>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6" name="Rectangle 25">
            <a:extLst>
              <a:ext uri="{FF2B5EF4-FFF2-40B4-BE49-F238E27FC236}">
                <a16:creationId xmlns:a16="http://schemas.microsoft.com/office/drawing/2014/main" id="{4378ED39-A2AA-141B-1E3E-01C66FC67AC2}"/>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200" b="1" noProof="0" dirty="0">
                <a:solidFill>
                  <a:schemeClr val="bg1"/>
                </a:solidFill>
                <a:cs typeface="Segoe UI" pitchFamily="34" charset="0"/>
              </a:rPr>
              <a:t>⏱ DURATION </a:t>
            </a:r>
          </a:p>
          <a:p>
            <a:pPr algn="ctr" defTabSz="932472" fontAlgn="base"/>
            <a:r>
              <a:rPr lang="en-US" sz="1200" b="1" noProof="0" dirty="0">
                <a:solidFill>
                  <a:schemeClr val="bg1"/>
                </a:solidFill>
                <a:cs typeface="Segoe UI" pitchFamily="34" charset="0"/>
              </a:rPr>
              <a:t>Per Wave: 4-8 Weeks</a:t>
            </a:r>
          </a:p>
        </p:txBody>
      </p:sp>
      <p:sp>
        <p:nvSpPr>
          <p:cNvPr id="29" name="Rectangle 28">
            <a:extLst>
              <a:ext uri="{FF2B5EF4-FFF2-40B4-BE49-F238E27FC236}">
                <a16:creationId xmlns:a16="http://schemas.microsoft.com/office/drawing/2014/main" id="{1425A047-A182-1434-7B99-0DDE252B8124}"/>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p:txBody>
      </p:sp>
      <p:sp>
        <p:nvSpPr>
          <p:cNvPr id="30" name="Rectangle 29">
            <a:extLst>
              <a:ext uri="{FF2B5EF4-FFF2-40B4-BE49-F238E27FC236}">
                <a16:creationId xmlns:a16="http://schemas.microsoft.com/office/drawing/2014/main" id="{9DFB9906-6C54-5FB0-4084-5612E6547814}"/>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27" name="TextBox 26">
            <a:extLst>
              <a:ext uri="{FF2B5EF4-FFF2-40B4-BE49-F238E27FC236}">
                <a16:creationId xmlns:a16="http://schemas.microsoft.com/office/drawing/2014/main" id="{31E0EB81-B021-0E94-072F-791D1B76DDF4}"/>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algn="ctr"/>
            <a:r>
              <a:rPr lang="en-US" sz="900" b="1" noProof="0" dirty="0">
                <a:solidFill>
                  <a:schemeClr val="bg1"/>
                </a:solidFill>
              </a:rPr>
              <a:t>GitHub CoPilot  · DMS  ·  SSMA  ·  ADF  ·  pgAdmin</a:t>
            </a:r>
          </a:p>
        </p:txBody>
      </p:sp>
      <p:sp>
        <p:nvSpPr>
          <p:cNvPr id="21" name="TextBox 20">
            <a:extLst>
              <a:ext uri="{FF2B5EF4-FFF2-40B4-BE49-F238E27FC236}">
                <a16:creationId xmlns:a16="http://schemas.microsoft.com/office/drawing/2014/main" id="{96B3B568-34FE-9114-92F8-0B54C15A95A1}"/>
              </a:ext>
            </a:extLst>
          </p:cNvPr>
          <p:cNvSpPr txBox="1"/>
          <p:nvPr/>
        </p:nvSpPr>
        <p:spPr>
          <a:xfrm>
            <a:off x="7368591" y="6335915"/>
            <a:ext cx="2350008" cy="274320"/>
          </a:xfrm>
          <a:prstGeom prst="rect">
            <a:avLst/>
          </a:prstGeom>
          <a:noFill/>
        </p:spPr>
        <p:txBody>
          <a:bodyPr wrap="square" lIns="0" tIns="0" rIns="0" bIns="0" rtlCol="0" anchor="ctr" anchorCtr="0">
            <a:noAutofit/>
          </a:bodyPr>
          <a:lstStyle/>
          <a:p>
            <a:pPr algn="ctr"/>
            <a:r>
              <a:rPr lang="en-US" sz="900" b="1" noProof="0" dirty="0">
                <a:solidFill>
                  <a:schemeClr val="bg1"/>
                </a:solidFill>
              </a:rPr>
              <a:t>App Architect + Data Architect + DB Engineer</a:t>
            </a:r>
          </a:p>
        </p:txBody>
      </p:sp>
    </p:spTree>
    <p:extLst>
      <p:ext uri="{BB962C8B-B14F-4D97-AF65-F5344CB8AC3E}">
        <p14:creationId xmlns:p14="http://schemas.microsoft.com/office/powerpoint/2010/main" val="1217653665"/>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56FC-47AA-254A-6E1E-C5A015AB6A92}"/>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A54A556B-2404-CE69-A122-198F5B7B10D1}"/>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3" name="Shape 6">
            <a:extLst>
              <a:ext uri="{FF2B5EF4-FFF2-40B4-BE49-F238E27FC236}">
                <a16:creationId xmlns:a16="http://schemas.microsoft.com/office/drawing/2014/main" id="{4277DC06-8E99-D4A1-A47A-4E7D464E5833}"/>
              </a:ext>
            </a:extLst>
          </p:cNvPr>
          <p:cNvSpPr/>
          <p:nvPr/>
        </p:nvSpPr>
        <p:spPr>
          <a:xfrm>
            <a:off x="129539" y="1078993"/>
            <a:ext cx="5129197" cy="5621251"/>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210B2C7C-5EA2-2A99-E38C-7DAAFD1D58DF}"/>
              </a:ext>
            </a:extLst>
          </p:cNvPr>
          <p:cNvSpPr>
            <a:spLocks noGrp="1"/>
          </p:cNvSpPr>
          <p:nvPr>
            <p:ph type="title"/>
          </p:nvPr>
        </p:nvSpPr>
        <p:spPr>
          <a:xfrm>
            <a:off x="382561" y="213193"/>
            <a:ext cx="11992843" cy="553998"/>
          </a:xfrm>
        </p:spPr>
        <p:txBody>
          <a:bodyPr/>
          <a:lstStyle/>
          <a:p>
            <a:r>
              <a:rPr lang="en-US" sz="2800" noProof="0" dirty="0"/>
              <a:t>Build a unified, governed data &amp; AI estate - for Scope 1 | </a:t>
            </a:r>
            <a:br>
              <a:rPr lang="en-US" sz="2800" noProof="0" dirty="0"/>
            </a:br>
            <a:r>
              <a:rPr lang="en-US" sz="2800" noProof="0" dirty="0"/>
              <a:t>Analytics Migration Service</a:t>
            </a:r>
          </a:p>
        </p:txBody>
      </p:sp>
      <p:sp>
        <p:nvSpPr>
          <p:cNvPr id="4" name="Text 7">
            <a:extLst>
              <a:ext uri="{FF2B5EF4-FFF2-40B4-BE49-F238E27FC236}">
                <a16:creationId xmlns:a16="http://schemas.microsoft.com/office/drawing/2014/main" id="{8BD3AB96-D226-3DFA-EB84-9C4BF82D26AE}"/>
              </a:ext>
            </a:extLst>
          </p:cNvPr>
          <p:cNvSpPr/>
          <p:nvPr/>
        </p:nvSpPr>
        <p:spPr>
          <a:xfrm>
            <a:off x="382561" y="1078993"/>
            <a:ext cx="475488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chemeClr val="bg1"/>
                </a:solidFill>
                <a:effectLst/>
                <a:uLnTx/>
                <a:uFillTx/>
                <a:latin typeface="Segoe Sans Text"/>
                <a:ea typeface="Calibri" pitchFamily="34" charset="-122"/>
                <a:cs typeface="Calibri" pitchFamily="34" charset="-120"/>
              </a:rPr>
              <a:t>OVERVIEW</a:t>
            </a:r>
            <a:endParaRPr kumimoji="0" lang="en-US" sz="1000" b="0" i="0" u="none" strike="noStrike" kern="1200" cap="none" spc="0" normalizeH="0" baseline="0" noProof="0" dirty="0">
              <a:ln>
                <a:noFill/>
              </a:ln>
              <a:solidFill>
                <a:schemeClr val="bg1"/>
              </a:solidFill>
              <a:effectLst/>
              <a:uLnTx/>
              <a:uFillTx/>
              <a:latin typeface="Segoe Sans Text"/>
              <a:ea typeface="+mn-ea"/>
              <a:cs typeface="+mn-cs"/>
            </a:endParaRPr>
          </a:p>
        </p:txBody>
      </p:sp>
      <p:sp>
        <p:nvSpPr>
          <p:cNvPr id="5" name="Text 8">
            <a:extLst>
              <a:ext uri="{FF2B5EF4-FFF2-40B4-BE49-F238E27FC236}">
                <a16:creationId xmlns:a16="http://schemas.microsoft.com/office/drawing/2014/main" id="{5A57046C-A03A-B3F7-1B84-89D3CC11FE97}"/>
              </a:ext>
            </a:extLst>
          </p:cNvPr>
          <p:cNvSpPr/>
          <p:nvPr/>
        </p:nvSpPr>
        <p:spPr>
          <a:xfrm>
            <a:off x="382561" y="1365023"/>
            <a:ext cx="475488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Segoe Sans Text"/>
                <a:ea typeface="Calibri" pitchFamily="34" charset="-122"/>
                <a:cs typeface="Calibri" pitchFamily="34" charset="-120"/>
              </a:rPr>
              <a:t>The Cloud Accelerate Factory Analytics service deploys a minimum viable Power BI migration across three paths: SSRS to Power BI, SSAS/AAS to Power BI, and Power BI Premium (P SKU) to Microsoft Fabric (F SKU). Estimated duration is 3 weeks per scenario when all prerequisites are met.</a:t>
            </a:r>
          </a:p>
        </p:txBody>
      </p:sp>
      <p:sp>
        <p:nvSpPr>
          <p:cNvPr id="6" name="Shape 9">
            <a:extLst>
              <a:ext uri="{FF2B5EF4-FFF2-40B4-BE49-F238E27FC236}">
                <a16:creationId xmlns:a16="http://schemas.microsoft.com/office/drawing/2014/main" id="{B8594CEB-2281-E4DD-36B2-95830CD7E1B0}"/>
              </a:ext>
            </a:extLst>
          </p:cNvPr>
          <p:cNvSpPr/>
          <p:nvPr/>
        </p:nvSpPr>
        <p:spPr>
          <a:xfrm>
            <a:off x="384066" y="2416128"/>
            <a:ext cx="4754880" cy="0"/>
          </a:xfrm>
          <a:prstGeom prst="line">
            <a:avLst/>
          </a:prstGeom>
          <a:noFill/>
          <a:ln w="10160">
            <a:solidFill>
              <a:srgbClr val="06B6D4">
                <a:alpha val="5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7" name="Text 7">
            <a:extLst>
              <a:ext uri="{FF2B5EF4-FFF2-40B4-BE49-F238E27FC236}">
                <a16:creationId xmlns:a16="http://schemas.microsoft.com/office/drawing/2014/main" id="{ED79DDE2-DD6F-5FDA-85CC-D08CE16F26A8}"/>
              </a:ext>
            </a:extLst>
          </p:cNvPr>
          <p:cNvSpPr/>
          <p:nvPr/>
        </p:nvSpPr>
        <p:spPr>
          <a:xfrm>
            <a:off x="382561" y="2498880"/>
            <a:ext cx="475488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chemeClr val="bg1"/>
                </a:solidFill>
                <a:effectLst/>
                <a:uLnTx/>
                <a:uFillTx/>
                <a:latin typeface="Segoe Sans Text"/>
                <a:ea typeface="Calibri" pitchFamily="34" charset="-122"/>
                <a:cs typeface="Calibri" pitchFamily="34" charset="-120"/>
              </a:rPr>
              <a:t>IN SCOPE</a:t>
            </a:r>
            <a:endParaRPr kumimoji="0" lang="en-US" sz="1000" b="0" i="0" u="none" strike="noStrike" kern="1200" cap="none" spc="0" normalizeH="0" baseline="0" noProof="0" dirty="0">
              <a:ln>
                <a:noFill/>
              </a:ln>
              <a:solidFill>
                <a:schemeClr val="bg1"/>
              </a:solidFill>
              <a:effectLst/>
              <a:uLnTx/>
              <a:uFillTx/>
              <a:latin typeface="Segoe Sans Text"/>
              <a:ea typeface="+mn-ea"/>
              <a:cs typeface="+mn-cs"/>
            </a:endParaRPr>
          </a:p>
        </p:txBody>
      </p:sp>
      <p:sp>
        <p:nvSpPr>
          <p:cNvPr id="8" name="Text 8">
            <a:extLst>
              <a:ext uri="{FF2B5EF4-FFF2-40B4-BE49-F238E27FC236}">
                <a16:creationId xmlns:a16="http://schemas.microsoft.com/office/drawing/2014/main" id="{D319C19D-EE60-E745-C528-8BC0270E2DD7}"/>
              </a:ext>
            </a:extLst>
          </p:cNvPr>
          <p:cNvSpPr/>
          <p:nvPr/>
        </p:nvSpPr>
        <p:spPr>
          <a:xfrm>
            <a:off x="382561" y="2788168"/>
            <a:ext cx="4754880"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Determine appropriate migration path and deploy MVP to Azure Power BI</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Identify reports, complexities, SSRS/SSAS/AAS versions and data sources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Convert, publish, and validate reports using Microsoft migration tools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Identify Azure region for P to F SKU migration</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Provision Fabric capacity and configure network security</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Reassign and validate workspaces for compatibility and performance</a:t>
            </a:r>
          </a:p>
        </p:txBody>
      </p:sp>
      <p:sp>
        <p:nvSpPr>
          <p:cNvPr id="9" name="Shape 9">
            <a:extLst>
              <a:ext uri="{FF2B5EF4-FFF2-40B4-BE49-F238E27FC236}">
                <a16:creationId xmlns:a16="http://schemas.microsoft.com/office/drawing/2014/main" id="{F7015377-75C3-CF37-1005-456D63D16626}"/>
              </a:ext>
            </a:extLst>
          </p:cNvPr>
          <p:cNvSpPr/>
          <p:nvPr/>
        </p:nvSpPr>
        <p:spPr>
          <a:xfrm>
            <a:off x="384066" y="4522491"/>
            <a:ext cx="4754880" cy="0"/>
          </a:xfrm>
          <a:prstGeom prst="line">
            <a:avLst/>
          </a:prstGeom>
          <a:noFill/>
          <a:ln w="10160">
            <a:solidFill>
              <a:srgbClr val="06B6D4">
                <a:alpha val="50000"/>
              </a:srgbClr>
            </a:solidFill>
            <a:prstDash val="solid"/>
          </a:ln>
        </p:spPr>
        <p:txBody>
          <a:bodyPr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10" name="Text 7">
            <a:extLst>
              <a:ext uri="{FF2B5EF4-FFF2-40B4-BE49-F238E27FC236}">
                <a16:creationId xmlns:a16="http://schemas.microsoft.com/office/drawing/2014/main" id="{4D03DA45-C313-004B-73C5-070E130CBC42}"/>
              </a:ext>
            </a:extLst>
          </p:cNvPr>
          <p:cNvSpPr/>
          <p:nvPr/>
        </p:nvSpPr>
        <p:spPr>
          <a:xfrm>
            <a:off x="382561" y="4633981"/>
            <a:ext cx="475488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chemeClr val="bg1"/>
                </a:solidFill>
                <a:effectLst/>
                <a:uLnTx/>
                <a:uFillTx/>
                <a:latin typeface="Segoe Sans Text"/>
                <a:ea typeface="Calibri" pitchFamily="34" charset="-122"/>
                <a:cs typeface="Calibri" pitchFamily="34" charset="-120"/>
              </a:rPr>
              <a:t>KEY OUTCOMES</a:t>
            </a:r>
            <a:endParaRPr kumimoji="0" lang="en-US" sz="1000" b="0" i="0" u="none" strike="noStrike" kern="1200" cap="none" spc="0" normalizeH="0" baseline="0" noProof="0" dirty="0">
              <a:ln>
                <a:noFill/>
              </a:ln>
              <a:solidFill>
                <a:schemeClr val="bg1"/>
              </a:solidFill>
              <a:effectLst/>
              <a:uLnTx/>
              <a:uFillTx/>
              <a:latin typeface="Segoe Sans Text"/>
              <a:ea typeface="+mn-ea"/>
              <a:cs typeface="+mn-cs"/>
            </a:endParaRPr>
          </a:p>
        </p:txBody>
      </p:sp>
      <p:sp>
        <p:nvSpPr>
          <p:cNvPr id="11" name="Text 8">
            <a:extLst>
              <a:ext uri="{FF2B5EF4-FFF2-40B4-BE49-F238E27FC236}">
                <a16:creationId xmlns:a16="http://schemas.microsoft.com/office/drawing/2014/main" id="{2AA816CB-280F-443C-B7F1-8A81255431C9}"/>
              </a:ext>
            </a:extLst>
          </p:cNvPr>
          <p:cNvSpPr/>
          <p:nvPr/>
        </p:nvSpPr>
        <p:spPr>
          <a:xfrm>
            <a:off x="382561" y="4923269"/>
            <a:ext cx="4754880" cy="169458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MVP Power BI solution deployed on Azure per agreed migration path</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Reports migrated, validated, and published to Power BI service</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Workspace assignments confirmed and performance optimized</a:t>
            </a:r>
          </a:p>
        </p:txBody>
      </p:sp>
      <p:sp>
        <p:nvSpPr>
          <p:cNvPr id="12" name="Text 7">
            <a:extLst>
              <a:ext uri="{FF2B5EF4-FFF2-40B4-BE49-F238E27FC236}">
                <a16:creationId xmlns:a16="http://schemas.microsoft.com/office/drawing/2014/main" id="{84627523-45AB-9CB5-1CB4-931F5D89E4E6}"/>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kern="0" spc="200" noProof="0" dirty="0">
                <a:solidFill>
                  <a:srgbClr val="1A7385"/>
                </a:solidFill>
                <a:ea typeface="Calibri" pitchFamily="34" charset="-122"/>
                <a:cs typeface="Calibri" pitchFamily="34" charset="-120"/>
              </a:rPr>
              <a:t>DELIVERABLES &amp; ACTIVITIES </a:t>
            </a:r>
          </a:p>
        </p:txBody>
      </p:sp>
      <p:grpSp>
        <p:nvGrpSpPr>
          <p:cNvPr id="15" name="Group 14">
            <a:extLst>
              <a:ext uri="{FF2B5EF4-FFF2-40B4-BE49-F238E27FC236}">
                <a16:creationId xmlns:a16="http://schemas.microsoft.com/office/drawing/2014/main" id="{4ECA70DA-EF5D-E27E-D262-F61DA96D20A5}"/>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25B4BAFA-1146-E991-B5A2-2F57B10218EA}"/>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4" name="Rectangle 13">
              <a:extLst>
                <a:ext uri="{FF2B5EF4-FFF2-40B4-BE49-F238E27FC236}">
                  <a16:creationId xmlns:a16="http://schemas.microsoft.com/office/drawing/2014/main" id="{3A8C36AD-5800-658B-5912-885A03A3C24D}"/>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rPr>
                <a:t>Pre-requisites (Customer Responsibilities)</a:t>
              </a:r>
            </a:p>
          </p:txBody>
        </p:sp>
      </p:grpSp>
      <p:sp>
        <p:nvSpPr>
          <p:cNvPr id="16" name="Text 8">
            <a:extLst>
              <a:ext uri="{FF2B5EF4-FFF2-40B4-BE49-F238E27FC236}">
                <a16:creationId xmlns:a16="http://schemas.microsoft.com/office/drawing/2014/main" id="{E29F605A-8021-9799-1E6E-00BEA6163DE4}"/>
              </a:ext>
            </a:extLst>
          </p:cNvPr>
          <p:cNvSpPr/>
          <p:nvPr/>
        </p:nvSpPr>
        <p:spPr>
          <a:xfrm>
            <a:off x="5347480" y="1763627"/>
            <a:ext cx="6630252" cy="1733272"/>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Admin access to SSRS (all folders and subfolders) provided to Factory</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Fabric capacity provisioned by customer (P to F SKU path)</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Working Gateway connection created for on-premises data sources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Power BI Pro License assigned to Cloud Factory team</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Internet bandwidth confirmed to meet minimum Factory requirements</a:t>
            </a:r>
          </a:p>
        </p:txBody>
      </p:sp>
      <p:grpSp>
        <p:nvGrpSpPr>
          <p:cNvPr id="17" name="Group 16">
            <a:extLst>
              <a:ext uri="{FF2B5EF4-FFF2-40B4-BE49-F238E27FC236}">
                <a16:creationId xmlns:a16="http://schemas.microsoft.com/office/drawing/2014/main" id="{D99BA3ED-B767-4793-7EFC-3F94F0733157}"/>
              </a:ext>
            </a:extLst>
          </p:cNvPr>
          <p:cNvGrpSpPr/>
          <p:nvPr/>
        </p:nvGrpSpPr>
        <p:grpSpPr>
          <a:xfrm>
            <a:off x="5345976" y="3486734"/>
            <a:ext cx="6631757" cy="275821"/>
            <a:chOff x="5347480" y="1447053"/>
            <a:chExt cx="6370320" cy="275821"/>
          </a:xfrm>
        </p:grpSpPr>
        <p:sp>
          <p:nvSpPr>
            <p:cNvPr id="18" name="Rectangle 17">
              <a:extLst>
                <a:ext uri="{FF2B5EF4-FFF2-40B4-BE49-F238E27FC236}">
                  <a16:creationId xmlns:a16="http://schemas.microsoft.com/office/drawing/2014/main" id="{513C537A-0632-C5B1-C8FD-8CDA4C62BA30}"/>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endParaRPr>
            </a:p>
          </p:txBody>
        </p:sp>
        <p:sp>
          <p:nvSpPr>
            <p:cNvPr id="19" name="Rectangle 18">
              <a:extLst>
                <a:ext uri="{FF2B5EF4-FFF2-40B4-BE49-F238E27FC236}">
                  <a16:creationId xmlns:a16="http://schemas.microsoft.com/office/drawing/2014/main" id="{2C2DDED5-1BB8-6B84-B936-C2104F17AD4C}"/>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Segoe Sans Text"/>
                  <a:ea typeface="Segoe UI" pitchFamily="34" charset="0"/>
                  <a:cs typeface="Segoe UI" pitchFamily="34" charset="0"/>
                </a:rPr>
                <a:t>Factory Execution Steps</a:t>
              </a:r>
            </a:p>
          </p:txBody>
        </p:sp>
      </p:grpSp>
      <p:sp>
        <p:nvSpPr>
          <p:cNvPr id="20" name="Text 8">
            <a:extLst>
              <a:ext uri="{FF2B5EF4-FFF2-40B4-BE49-F238E27FC236}">
                <a16:creationId xmlns:a16="http://schemas.microsoft.com/office/drawing/2014/main" id="{D3B35205-5D1B-51A5-5F69-3D2766A4C0F6}"/>
              </a:ext>
            </a:extLst>
          </p:cNvPr>
          <p:cNvSpPr/>
          <p:nvPr/>
        </p:nvSpPr>
        <p:spPr>
          <a:xfrm>
            <a:off x="5345977" y="3772486"/>
            <a:ext cx="6617722" cy="2019284"/>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Determine migration path and deploy Power BI MVP</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Identify reports, complexities, versions, and data sources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Convert, publish, validate reports using migration tooling</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Identify Azure region for P to F SKU migration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Provision Fabric capacity and configure network security</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Reassign and validate workspaces</a:t>
            </a:r>
          </a:p>
        </p:txBody>
      </p:sp>
      <p:sp>
        <p:nvSpPr>
          <p:cNvPr id="25" name="Shape 6">
            <a:extLst>
              <a:ext uri="{FF2B5EF4-FFF2-40B4-BE49-F238E27FC236}">
                <a16:creationId xmlns:a16="http://schemas.microsoft.com/office/drawing/2014/main" id="{5CFA76B1-77F6-86B7-0A7F-3E7EBFA5F6B6}"/>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Sans Text"/>
              <a:ea typeface="+mn-ea"/>
              <a:cs typeface="+mn-cs"/>
            </a:endParaRPr>
          </a:p>
        </p:txBody>
      </p:sp>
      <p:sp>
        <p:nvSpPr>
          <p:cNvPr id="26" name="Rectangle 25">
            <a:extLst>
              <a:ext uri="{FF2B5EF4-FFF2-40B4-BE49-F238E27FC236}">
                <a16:creationId xmlns:a16="http://schemas.microsoft.com/office/drawing/2014/main" id="{EFB7E904-5C23-E239-897D-9F49BF3F34A0}"/>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DURATION </a:t>
            </a:r>
          </a:p>
          <a:p>
            <a:pPr algn="ctr" defTabSz="932472" fontAlgn="base"/>
            <a:r>
              <a:rPr lang="en-US" sz="1400" b="1" noProof="0" dirty="0">
                <a:solidFill>
                  <a:schemeClr val="bg1"/>
                </a:solidFill>
                <a:cs typeface="Segoe UI" pitchFamily="34" charset="0"/>
              </a:rPr>
              <a:t>3 weeks / scenario</a:t>
            </a:r>
          </a:p>
        </p:txBody>
      </p:sp>
      <p:sp>
        <p:nvSpPr>
          <p:cNvPr id="29" name="Rectangle 28">
            <a:extLst>
              <a:ext uri="{FF2B5EF4-FFF2-40B4-BE49-F238E27FC236}">
                <a16:creationId xmlns:a16="http://schemas.microsoft.com/office/drawing/2014/main" id="{C37714F1-3BE7-182A-603C-FA561B8B9154}"/>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p:txBody>
      </p:sp>
      <p:sp>
        <p:nvSpPr>
          <p:cNvPr id="30" name="Rectangle 29">
            <a:extLst>
              <a:ext uri="{FF2B5EF4-FFF2-40B4-BE49-F238E27FC236}">
                <a16:creationId xmlns:a16="http://schemas.microsoft.com/office/drawing/2014/main" id="{B9391951-B4BA-8FAA-FE2B-6BB2E7682429}"/>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27" name="TextBox 26">
            <a:extLst>
              <a:ext uri="{FF2B5EF4-FFF2-40B4-BE49-F238E27FC236}">
                <a16:creationId xmlns:a16="http://schemas.microsoft.com/office/drawing/2014/main" id="{FEFB056D-A8D8-2BDD-1A1A-5E778EF40ECB}"/>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Segoe Sans Text"/>
                <a:ea typeface="+mn-ea"/>
                <a:cs typeface="+mn-cs"/>
              </a:rPr>
              <a:t>Power BI · Microsoft Fabric  ·  RDL Migration Toolkit  ·</a:t>
            </a:r>
          </a:p>
        </p:txBody>
      </p:sp>
      <p:sp>
        <p:nvSpPr>
          <p:cNvPr id="21" name="TextBox 20">
            <a:extLst>
              <a:ext uri="{FF2B5EF4-FFF2-40B4-BE49-F238E27FC236}">
                <a16:creationId xmlns:a16="http://schemas.microsoft.com/office/drawing/2014/main" id="{6CE05DC0-1EC7-48B5-7F8A-2F37FAA94532}"/>
              </a:ext>
            </a:extLst>
          </p:cNvPr>
          <p:cNvSpPr txBox="1"/>
          <p:nvPr/>
        </p:nvSpPr>
        <p:spPr>
          <a:xfrm>
            <a:off x="7368591" y="6335915"/>
            <a:ext cx="2350008" cy="274320"/>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Segoe Sans Text"/>
                <a:ea typeface="+mn-ea"/>
                <a:cs typeface="+mn-cs"/>
              </a:rPr>
              <a:t>Technical PM + Power BI / Report Architect </a:t>
            </a:r>
          </a:p>
        </p:txBody>
      </p:sp>
    </p:spTree>
    <p:extLst>
      <p:ext uri="{BB962C8B-B14F-4D97-AF65-F5344CB8AC3E}">
        <p14:creationId xmlns:p14="http://schemas.microsoft.com/office/powerpoint/2010/main" val="1892653658"/>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1B548-707C-24E9-FF5A-FEFB7FE321BC}"/>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F648585D-E82A-49B8-D6C1-0C7EAE479B4E}"/>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207E6AC8-1C97-F594-A69F-A83752DDD431}"/>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775AFA79-20E7-D631-228B-7EBA76F976CA}"/>
              </a:ext>
            </a:extLst>
          </p:cNvPr>
          <p:cNvSpPr>
            <a:spLocks noGrp="1"/>
          </p:cNvSpPr>
          <p:nvPr>
            <p:ph type="title"/>
          </p:nvPr>
        </p:nvSpPr>
        <p:spPr/>
        <p:txBody>
          <a:bodyPr/>
          <a:lstStyle/>
          <a:p>
            <a:r>
              <a:rPr lang="en-US" sz="2800" noProof="0" dirty="0"/>
              <a:t>GitHub Repo Migration - for Scope 1</a:t>
            </a:r>
          </a:p>
        </p:txBody>
      </p:sp>
      <p:sp>
        <p:nvSpPr>
          <p:cNvPr id="4" name="Text 7">
            <a:extLst>
              <a:ext uri="{FF2B5EF4-FFF2-40B4-BE49-F238E27FC236}">
                <a16:creationId xmlns:a16="http://schemas.microsoft.com/office/drawing/2014/main" id="{C5E37AD0-140B-67A2-D8D0-E324A9E50504}"/>
              </a:ext>
            </a:extLst>
          </p:cNvPr>
          <p:cNvSpPr/>
          <p:nvPr/>
        </p:nvSpPr>
        <p:spPr>
          <a:xfrm>
            <a:off x="382561" y="1078993"/>
            <a:ext cx="475488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2FD5F82B-440F-0C7F-DF4C-0FABC924D0DF}"/>
              </a:ext>
            </a:extLst>
          </p:cNvPr>
          <p:cNvSpPr/>
          <p:nvPr/>
        </p:nvSpPr>
        <p:spPr>
          <a:xfrm>
            <a:off x="382561" y="1365023"/>
            <a:ext cx="475488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Migrate repositories from Azure DevOps (ADO) Services, Bitbucket Server, or GitLab Server to GitHub Enterprise Cloud/EMU/Data Residency. The engagement runs across four phases: Assessment &amp; Planning, POC, Migration Execution, and Sign-off. Typical duration is 7–8 weeks for 500–1,000 repositories.</a:t>
            </a:r>
          </a:p>
        </p:txBody>
      </p:sp>
      <p:sp>
        <p:nvSpPr>
          <p:cNvPr id="6" name="Shape 9">
            <a:extLst>
              <a:ext uri="{FF2B5EF4-FFF2-40B4-BE49-F238E27FC236}">
                <a16:creationId xmlns:a16="http://schemas.microsoft.com/office/drawing/2014/main" id="{1E3F3E41-3E6F-1753-0874-F1D7B54D864C}"/>
              </a:ext>
            </a:extLst>
          </p:cNvPr>
          <p:cNvSpPr/>
          <p:nvPr/>
        </p:nvSpPr>
        <p:spPr>
          <a:xfrm>
            <a:off x="384066" y="2416128"/>
            <a:ext cx="475488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841D1189-74F8-5C58-D85B-BD2F04766DE9}"/>
              </a:ext>
            </a:extLst>
          </p:cNvPr>
          <p:cNvSpPr/>
          <p:nvPr/>
        </p:nvSpPr>
        <p:spPr>
          <a:xfrm>
            <a:off x="382561" y="2498880"/>
            <a:ext cx="475488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814498EC-C530-C847-1EF7-46D4C672935E}"/>
              </a:ext>
            </a:extLst>
          </p:cNvPr>
          <p:cNvSpPr/>
          <p:nvPr/>
        </p:nvSpPr>
        <p:spPr>
          <a:xfrm>
            <a:off x="382561" y="2788168"/>
            <a:ext cx="4754880"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Three supported source: ADO Services, Bitbucket Server, or GitLab Server</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Assessment &amp; Planning: Inventory Report, Scope Finalization with customer</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POC: Pilot 1–2 repos, End-to-end workflow review, migration validation</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Execution: Repo migration, Migration validations, mannequin reclaims</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Azure Boards integration (ADO → GitHub only)</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Azure Pipeline rewiring guidance (ADO → GitHub, few repos only)</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Sign-off: review migration with customer and obtain formal sign-off</a:t>
            </a:r>
          </a:p>
        </p:txBody>
      </p:sp>
      <p:sp>
        <p:nvSpPr>
          <p:cNvPr id="9" name="Shape 9">
            <a:extLst>
              <a:ext uri="{FF2B5EF4-FFF2-40B4-BE49-F238E27FC236}">
                <a16:creationId xmlns:a16="http://schemas.microsoft.com/office/drawing/2014/main" id="{D0ADE39A-ADC5-20CD-9733-959CDF180E5E}"/>
              </a:ext>
            </a:extLst>
          </p:cNvPr>
          <p:cNvSpPr/>
          <p:nvPr/>
        </p:nvSpPr>
        <p:spPr>
          <a:xfrm>
            <a:off x="384066" y="4522491"/>
            <a:ext cx="475488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105BE12C-E067-0603-115F-74E7DA8E0866}"/>
              </a:ext>
            </a:extLst>
          </p:cNvPr>
          <p:cNvSpPr/>
          <p:nvPr/>
        </p:nvSpPr>
        <p:spPr>
          <a:xfrm>
            <a:off x="382561" y="4633981"/>
            <a:ext cx="475488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18A12AC4-49C2-A26A-B98B-C539C6B68EA3}"/>
              </a:ext>
            </a:extLst>
          </p:cNvPr>
          <p:cNvSpPr/>
          <p:nvPr/>
        </p:nvSpPr>
        <p:spPr>
          <a:xfrm>
            <a:off x="382561" y="4923269"/>
            <a:ext cx="4754880" cy="169458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Repository inventory report generated and migration scope agreed</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POC migration validated end-to-end before full execution</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All in-scope repositories migrated with commits, branches, history &amp; tags</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Post-migration validations complete and customer sign-off obtained</a:t>
            </a:r>
          </a:p>
        </p:txBody>
      </p:sp>
      <p:sp>
        <p:nvSpPr>
          <p:cNvPr id="12" name="Text 7">
            <a:extLst>
              <a:ext uri="{FF2B5EF4-FFF2-40B4-BE49-F238E27FC236}">
                <a16:creationId xmlns:a16="http://schemas.microsoft.com/office/drawing/2014/main" id="{220E95E6-ADD4-5491-EC24-80A631BB507F}"/>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kern="0" spc="200" noProof="0" dirty="0">
                <a:solidFill>
                  <a:srgbClr val="1A7385"/>
                </a:solidFill>
                <a:ea typeface="Calibri" pitchFamily="34" charset="-122"/>
                <a:cs typeface="Calibri" pitchFamily="34" charset="-120"/>
              </a:rPr>
              <a:t>DELIVERABLES &amp; ACTIVITIES </a:t>
            </a:r>
          </a:p>
        </p:txBody>
      </p:sp>
      <p:grpSp>
        <p:nvGrpSpPr>
          <p:cNvPr id="15" name="Group 14">
            <a:extLst>
              <a:ext uri="{FF2B5EF4-FFF2-40B4-BE49-F238E27FC236}">
                <a16:creationId xmlns:a16="http://schemas.microsoft.com/office/drawing/2014/main" id="{17D379A9-3A94-9D65-760C-FBB5FEEF0BC3}"/>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96C3D46A-0AC9-E22F-BE59-8FA41AC0B8FE}"/>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9BBA36F2-FDE8-0258-71A9-E47DB8B12E43}"/>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Assessment &amp; Planning</a:t>
              </a:r>
            </a:p>
          </p:txBody>
        </p:sp>
      </p:grpSp>
      <p:sp>
        <p:nvSpPr>
          <p:cNvPr id="16" name="Text 8">
            <a:extLst>
              <a:ext uri="{FF2B5EF4-FFF2-40B4-BE49-F238E27FC236}">
                <a16:creationId xmlns:a16="http://schemas.microsoft.com/office/drawing/2014/main" id="{A321A6EF-7C8A-0318-D357-DCB565B710D0}"/>
              </a:ext>
            </a:extLst>
          </p:cNvPr>
          <p:cNvSpPr/>
          <p:nvPr/>
        </p:nvSpPr>
        <p:spPr>
          <a:xfrm>
            <a:off x="5347480" y="1763628"/>
            <a:ext cx="6630252" cy="50353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Generate repository inventory report across all source systems</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Analyze, discuss, and finalize repositories for migration with customer</a:t>
            </a:r>
          </a:p>
        </p:txBody>
      </p:sp>
      <p:sp>
        <p:nvSpPr>
          <p:cNvPr id="25" name="Shape 6">
            <a:extLst>
              <a:ext uri="{FF2B5EF4-FFF2-40B4-BE49-F238E27FC236}">
                <a16:creationId xmlns:a16="http://schemas.microsoft.com/office/drawing/2014/main" id="{43F8D3F3-D0AA-1A67-25C8-2E16A7C67F22}"/>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6" name="Rectangle 25">
            <a:extLst>
              <a:ext uri="{FF2B5EF4-FFF2-40B4-BE49-F238E27FC236}">
                <a16:creationId xmlns:a16="http://schemas.microsoft.com/office/drawing/2014/main" id="{5FC8C47F-D029-7157-406E-E11FA7E8168C}"/>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DURATION </a:t>
            </a:r>
          </a:p>
          <a:p>
            <a:pPr algn="ctr" defTabSz="932472" fontAlgn="base"/>
            <a:r>
              <a:rPr lang="en-US" sz="1100" b="1" noProof="0" dirty="0">
                <a:solidFill>
                  <a:schemeClr val="bg1"/>
                </a:solidFill>
                <a:cs typeface="Segoe UI" pitchFamily="34" charset="0"/>
              </a:rPr>
              <a:t>7-8 weeks (500-1000 repos)</a:t>
            </a:r>
          </a:p>
        </p:txBody>
      </p:sp>
      <p:sp>
        <p:nvSpPr>
          <p:cNvPr id="29" name="Rectangle 28">
            <a:extLst>
              <a:ext uri="{FF2B5EF4-FFF2-40B4-BE49-F238E27FC236}">
                <a16:creationId xmlns:a16="http://schemas.microsoft.com/office/drawing/2014/main" id="{28C0F21D-BD73-8EBC-92B6-890FAD4A93B0}"/>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p:txBody>
      </p:sp>
      <p:sp>
        <p:nvSpPr>
          <p:cNvPr id="30" name="Rectangle 29">
            <a:extLst>
              <a:ext uri="{FF2B5EF4-FFF2-40B4-BE49-F238E27FC236}">
                <a16:creationId xmlns:a16="http://schemas.microsoft.com/office/drawing/2014/main" id="{B4D21766-99DF-72BC-51A4-573F60036BB3}"/>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27" name="TextBox 26">
            <a:extLst>
              <a:ext uri="{FF2B5EF4-FFF2-40B4-BE49-F238E27FC236}">
                <a16:creationId xmlns:a16="http://schemas.microsoft.com/office/drawing/2014/main" id="{9BB39E80-0DCE-0DE9-33DC-315586ADDE07}"/>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algn="ctr"/>
            <a:r>
              <a:rPr lang="en-US" sz="900" b="1" noProof="0" dirty="0">
                <a:solidFill>
                  <a:schemeClr val="bg1"/>
                </a:solidFill>
              </a:rPr>
              <a:t>GitHub CLI  ·  ADO2GH  ·  BBS2GH  ·  gl-exporter</a:t>
            </a:r>
          </a:p>
        </p:txBody>
      </p:sp>
      <p:sp>
        <p:nvSpPr>
          <p:cNvPr id="21" name="TextBox 20">
            <a:extLst>
              <a:ext uri="{FF2B5EF4-FFF2-40B4-BE49-F238E27FC236}">
                <a16:creationId xmlns:a16="http://schemas.microsoft.com/office/drawing/2014/main" id="{22EF5E4F-402F-D10A-A531-0AA8211232B8}"/>
              </a:ext>
            </a:extLst>
          </p:cNvPr>
          <p:cNvSpPr txBox="1"/>
          <p:nvPr/>
        </p:nvSpPr>
        <p:spPr>
          <a:xfrm>
            <a:off x="7368591" y="6335915"/>
            <a:ext cx="2350008" cy="274320"/>
          </a:xfrm>
          <a:prstGeom prst="rect">
            <a:avLst/>
          </a:prstGeom>
          <a:noFill/>
        </p:spPr>
        <p:txBody>
          <a:bodyPr wrap="square" lIns="0" tIns="0" rIns="0" bIns="0" rtlCol="0" anchor="ctr" anchorCtr="0">
            <a:noAutofit/>
          </a:bodyPr>
          <a:lstStyle/>
          <a:p>
            <a:pPr algn="ctr"/>
            <a:r>
              <a:rPr lang="en-US" sz="900" b="1" noProof="0" dirty="0">
                <a:solidFill>
                  <a:schemeClr val="bg1"/>
                </a:solidFill>
              </a:rPr>
              <a:t>Technical PM + GH Architect + Customer</a:t>
            </a:r>
          </a:p>
        </p:txBody>
      </p:sp>
      <p:grpSp>
        <p:nvGrpSpPr>
          <p:cNvPr id="23" name="Group 22">
            <a:extLst>
              <a:ext uri="{FF2B5EF4-FFF2-40B4-BE49-F238E27FC236}">
                <a16:creationId xmlns:a16="http://schemas.microsoft.com/office/drawing/2014/main" id="{F3446B58-AB39-C4ED-AA0C-9C888D47646E}"/>
              </a:ext>
            </a:extLst>
          </p:cNvPr>
          <p:cNvGrpSpPr/>
          <p:nvPr/>
        </p:nvGrpSpPr>
        <p:grpSpPr>
          <a:xfrm>
            <a:off x="5345769" y="2298088"/>
            <a:ext cx="6630255" cy="275821"/>
            <a:chOff x="5347480" y="1447053"/>
            <a:chExt cx="6370320" cy="275821"/>
          </a:xfrm>
        </p:grpSpPr>
        <p:sp>
          <p:nvSpPr>
            <p:cNvPr id="24" name="Rectangle 23">
              <a:extLst>
                <a:ext uri="{FF2B5EF4-FFF2-40B4-BE49-F238E27FC236}">
                  <a16:creationId xmlns:a16="http://schemas.microsoft.com/office/drawing/2014/main" id="{D51DE71C-457A-3BFA-8A68-BCF163FEEC04}"/>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9EE5E0DC-E8AE-9FE7-03FD-5158797D6A88}"/>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Tools Deployment</a:t>
              </a:r>
            </a:p>
          </p:txBody>
        </p:sp>
      </p:grpSp>
      <p:sp>
        <p:nvSpPr>
          <p:cNvPr id="32" name="Text 8">
            <a:extLst>
              <a:ext uri="{FF2B5EF4-FFF2-40B4-BE49-F238E27FC236}">
                <a16:creationId xmlns:a16="http://schemas.microsoft.com/office/drawing/2014/main" id="{42F02D96-2CF4-ACD8-4059-D3E36BD8049A}"/>
              </a:ext>
            </a:extLst>
          </p:cNvPr>
          <p:cNvSpPr/>
          <p:nvPr/>
        </p:nvSpPr>
        <p:spPr>
          <a:xfrm>
            <a:off x="5345770" y="2614662"/>
            <a:ext cx="6630252" cy="126302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GitHub CLI deployed and configured in target environment</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ADO2GH extension deployed for ADO migrations</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BBS2GH extension deployed for Bitbucket Server migrations</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gl-exporter Docker image built/pulled for GitLab Server migrations</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gh-gitlab-stats, gh-migration-monitor extensions installed (GitLab path)</a:t>
            </a:r>
          </a:p>
          <a:p>
            <a:pPr marL="171450" indent="-228600">
              <a:lnSpc>
                <a:spcPct val="150000"/>
              </a:lnSpc>
              <a:buClr>
                <a:srgbClr val="1A7385"/>
              </a:buClr>
              <a:buSzPct val="125000"/>
              <a:buFont typeface="Segoe Sans Text" pitchFamily="2" charset="0"/>
              <a:buChar char="■"/>
            </a:pPr>
            <a:endParaRPr lang="en-US" sz="1050" noProof="0" dirty="0">
              <a:solidFill>
                <a:schemeClr val="accent2">
                  <a:lumMod val="75000"/>
                </a:schemeClr>
              </a:solidFill>
            </a:endParaRPr>
          </a:p>
        </p:txBody>
      </p:sp>
      <p:grpSp>
        <p:nvGrpSpPr>
          <p:cNvPr id="33" name="Group 32">
            <a:extLst>
              <a:ext uri="{FF2B5EF4-FFF2-40B4-BE49-F238E27FC236}">
                <a16:creationId xmlns:a16="http://schemas.microsoft.com/office/drawing/2014/main" id="{F695326E-FD6C-9C21-4D66-A9603EA94CFE}"/>
              </a:ext>
            </a:extLst>
          </p:cNvPr>
          <p:cNvGrpSpPr/>
          <p:nvPr/>
        </p:nvGrpSpPr>
        <p:grpSpPr>
          <a:xfrm>
            <a:off x="5354333" y="3950507"/>
            <a:ext cx="6630255" cy="275821"/>
            <a:chOff x="5347480" y="1447053"/>
            <a:chExt cx="6370320" cy="275821"/>
          </a:xfrm>
        </p:grpSpPr>
        <p:sp>
          <p:nvSpPr>
            <p:cNvPr id="34" name="Rectangle 33">
              <a:extLst>
                <a:ext uri="{FF2B5EF4-FFF2-40B4-BE49-F238E27FC236}">
                  <a16:creationId xmlns:a16="http://schemas.microsoft.com/office/drawing/2014/main" id="{5FD8CA0B-8755-0CD7-2B70-875304B34608}"/>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5FE273C0-6520-2B31-D975-F03CFFD04262}"/>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Repository Migration</a:t>
              </a:r>
            </a:p>
          </p:txBody>
        </p:sp>
      </p:grpSp>
      <p:sp>
        <p:nvSpPr>
          <p:cNvPr id="36" name="Text 8">
            <a:extLst>
              <a:ext uri="{FF2B5EF4-FFF2-40B4-BE49-F238E27FC236}">
                <a16:creationId xmlns:a16="http://schemas.microsoft.com/office/drawing/2014/main" id="{FDAAAD4E-7B1C-C549-2243-3FD02F8D1FCA}"/>
              </a:ext>
            </a:extLst>
          </p:cNvPr>
          <p:cNvSpPr/>
          <p:nvPr/>
        </p:nvSpPr>
        <p:spPr>
          <a:xfrm>
            <a:off x="5354334" y="4267081"/>
            <a:ext cx="6630252" cy="1596607"/>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Migrate ADO Services repositories using ADO2GH via ADO Pipelines</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Migrate Bitbucket Server repositories using BBS2GH on customer VM</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Migrate GitLab Server repositories using gl-exporter on Ubuntu VM</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Mannequin reclamation and identity mapping across all paths</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Azure Boards integration (ADO → GitHub only)</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Azure Pipeline rewiring guidance (ADO → GitHub, select repos)</a:t>
            </a:r>
          </a:p>
          <a:p>
            <a:pPr marL="171450" indent="-228600">
              <a:lnSpc>
                <a:spcPct val="150000"/>
              </a:lnSpc>
              <a:buClr>
                <a:srgbClr val="1A7385"/>
              </a:buClr>
              <a:buSzPct val="125000"/>
              <a:buFont typeface="Segoe Sans Text" pitchFamily="2" charset="0"/>
              <a:buChar char="■"/>
            </a:pPr>
            <a:r>
              <a:rPr lang="en-US" sz="1050" noProof="0" dirty="0">
                <a:solidFill>
                  <a:schemeClr val="accent2">
                    <a:lumMod val="75000"/>
                  </a:schemeClr>
                </a:solidFill>
              </a:rPr>
              <a:t>Review completed migration and Sign-off</a:t>
            </a:r>
          </a:p>
        </p:txBody>
      </p:sp>
    </p:spTree>
    <p:extLst>
      <p:ext uri="{BB962C8B-B14F-4D97-AF65-F5344CB8AC3E}">
        <p14:creationId xmlns:p14="http://schemas.microsoft.com/office/powerpoint/2010/main" val="1038752648"/>
      </p:ext>
    </p:extLst>
  </p:cSld>
  <p:clrMapOvr>
    <a:masterClrMapping/>
  </p:clrMapOvr>
  <p:transition>
    <p:fad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00226-157C-DE90-F0C3-CD1B813336DF}"/>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AFD1B4B3-001A-3B4D-6F53-66AAF6C545EF}"/>
              </a:ext>
            </a:extLst>
          </p:cNvPr>
          <p:cNvSpPr/>
          <p:nvPr/>
        </p:nvSpPr>
        <p:spPr bwMode="auto">
          <a:xfrm>
            <a:off x="5331943" y="994312"/>
            <a:ext cx="6730518" cy="497441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3" name="Shape 6">
            <a:extLst>
              <a:ext uri="{FF2B5EF4-FFF2-40B4-BE49-F238E27FC236}">
                <a16:creationId xmlns:a16="http://schemas.microsoft.com/office/drawing/2014/main" id="{B11399AE-7B4D-2CAC-FE26-547237FD891B}"/>
              </a:ext>
            </a:extLst>
          </p:cNvPr>
          <p:cNvSpPr/>
          <p:nvPr/>
        </p:nvSpPr>
        <p:spPr>
          <a:xfrm>
            <a:off x="129539" y="960121"/>
            <a:ext cx="5129197" cy="5740123"/>
          </a:xfrm>
          <a:prstGeom prst="rect">
            <a:avLst/>
          </a:pr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kern="0" noProof="0" dirty="0">
              <a:solidFill>
                <a:schemeClr val="bg1"/>
              </a:solidFill>
              <a:latin typeface="+mj-lt"/>
              <a:ea typeface="+mj-ea"/>
              <a:cs typeface="+mj-cs"/>
            </a:endParaRPr>
          </a:p>
        </p:txBody>
      </p:sp>
      <p:sp>
        <p:nvSpPr>
          <p:cNvPr id="2" name="Title 1">
            <a:extLst>
              <a:ext uri="{FF2B5EF4-FFF2-40B4-BE49-F238E27FC236}">
                <a16:creationId xmlns:a16="http://schemas.microsoft.com/office/drawing/2014/main" id="{8D4636E1-8A36-024E-1D98-F7A76BC90344}"/>
              </a:ext>
            </a:extLst>
          </p:cNvPr>
          <p:cNvSpPr>
            <a:spLocks noGrp="1"/>
          </p:cNvSpPr>
          <p:nvPr>
            <p:ph type="title"/>
          </p:nvPr>
        </p:nvSpPr>
        <p:spPr/>
        <p:txBody>
          <a:bodyPr/>
          <a:lstStyle/>
          <a:p>
            <a:r>
              <a:rPr lang="en-US" sz="2800" noProof="0" dirty="0"/>
              <a:t>Testing, Cutover and Hypercare - for Scope 1</a:t>
            </a:r>
          </a:p>
        </p:txBody>
      </p:sp>
      <p:sp>
        <p:nvSpPr>
          <p:cNvPr id="4" name="Text 7">
            <a:extLst>
              <a:ext uri="{FF2B5EF4-FFF2-40B4-BE49-F238E27FC236}">
                <a16:creationId xmlns:a16="http://schemas.microsoft.com/office/drawing/2014/main" id="{35EF9AF6-7614-F6A4-A60A-560897A79DAA}"/>
              </a:ext>
            </a:extLst>
          </p:cNvPr>
          <p:cNvSpPr/>
          <p:nvPr/>
        </p:nvSpPr>
        <p:spPr>
          <a:xfrm>
            <a:off x="382561" y="1078993"/>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OVERVIEW</a:t>
            </a:r>
            <a:endParaRPr lang="en-US" sz="1000" noProof="0" dirty="0">
              <a:solidFill>
                <a:schemeClr val="bg1"/>
              </a:solidFill>
            </a:endParaRPr>
          </a:p>
        </p:txBody>
      </p:sp>
      <p:sp>
        <p:nvSpPr>
          <p:cNvPr id="5" name="Text 8">
            <a:extLst>
              <a:ext uri="{FF2B5EF4-FFF2-40B4-BE49-F238E27FC236}">
                <a16:creationId xmlns:a16="http://schemas.microsoft.com/office/drawing/2014/main" id="{51213862-0FDA-0D06-B090-6FCED57D5317}"/>
              </a:ext>
            </a:extLst>
          </p:cNvPr>
          <p:cNvSpPr/>
          <p:nvPr/>
        </p:nvSpPr>
        <p:spPr>
          <a:xfrm>
            <a:off x="382561" y="1365023"/>
            <a:ext cx="4572000" cy="10058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5000"/>
              </a:lnSpc>
              <a:buNone/>
            </a:pPr>
            <a:r>
              <a:rPr lang="en-US" sz="1000" noProof="0" dirty="0">
                <a:solidFill>
                  <a:srgbClr val="FFFFFF"/>
                </a:solidFill>
                <a:ea typeface="Calibri" pitchFamily="34" charset="-122"/>
                <a:cs typeface="Calibri" pitchFamily="34" charset="-120"/>
              </a:rPr>
              <a:t>Ensures every wave lands safely through structured test readiness, managed cutover execution, and a 5-day joint hypercare period. Defects within infrastructure and platform scope are resolved before formal handover to steady-state operations.</a:t>
            </a:r>
          </a:p>
        </p:txBody>
      </p:sp>
      <p:sp>
        <p:nvSpPr>
          <p:cNvPr id="6" name="Shape 9">
            <a:extLst>
              <a:ext uri="{FF2B5EF4-FFF2-40B4-BE49-F238E27FC236}">
                <a16:creationId xmlns:a16="http://schemas.microsoft.com/office/drawing/2014/main" id="{1D03CCA0-6084-B784-DC49-7C123EC8188F}"/>
              </a:ext>
            </a:extLst>
          </p:cNvPr>
          <p:cNvSpPr/>
          <p:nvPr/>
        </p:nvSpPr>
        <p:spPr>
          <a:xfrm>
            <a:off x="384066" y="2416128"/>
            <a:ext cx="4572000" cy="0"/>
          </a:xfrm>
          <a:prstGeom prst="line">
            <a:avLst/>
          </a:prstGeom>
          <a:noFill/>
          <a:ln w="10160">
            <a:solidFill>
              <a:srgbClr val="06B6D4">
                <a:alpha val="50000"/>
              </a:srgbClr>
            </a:solidFill>
            <a:prstDash val="solid"/>
          </a:ln>
        </p:spPr>
        <p:txBody>
          <a:bodyPr/>
          <a:lstStyle/>
          <a:p>
            <a:endParaRPr lang="en-US" noProof="0" dirty="0"/>
          </a:p>
        </p:txBody>
      </p:sp>
      <p:sp>
        <p:nvSpPr>
          <p:cNvPr id="7" name="Text 7">
            <a:extLst>
              <a:ext uri="{FF2B5EF4-FFF2-40B4-BE49-F238E27FC236}">
                <a16:creationId xmlns:a16="http://schemas.microsoft.com/office/drawing/2014/main" id="{6B0C0A67-0FF5-2A6B-949A-F8A7914EFF0A}"/>
              </a:ext>
            </a:extLst>
          </p:cNvPr>
          <p:cNvSpPr/>
          <p:nvPr/>
        </p:nvSpPr>
        <p:spPr>
          <a:xfrm>
            <a:off x="382561" y="2498880"/>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IN SCOPE</a:t>
            </a:r>
            <a:endParaRPr lang="en-US" sz="1000" noProof="0" dirty="0">
              <a:solidFill>
                <a:schemeClr val="bg1"/>
              </a:solidFill>
            </a:endParaRPr>
          </a:p>
        </p:txBody>
      </p:sp>
      <p:sp>
        <p:nvSpPr>
          <p:cNvPr id="8" name="Text 8">
            <a:extLst>
              <a:ext uri="{FF2B5EF4-FFF2-40B4-BE49-F238E27FC236}">
                <a16:creationId xmlns:a16="http://schemas.microsoft.com/office/drawing/2014/main" id="{212C3ED6-DEFF-2F0B-319D-57B0F1C652BA}"/>
              </a:ext>
            </a:extLst>
          </p:cNvPr>
          <p:cNvSpPr/>
          <p:nvPr/>
        </p:nvSpPr>
        <p:spPr>
          <a:xfrm>
            <a:off x="382561" y="2788168"/>
            <a:ext cx="4572000" cy="170106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150000"/>
              </a:lnSpc>
              <a:buClr>
                <a:srgbClr val="41B8A4"/>
              </a:buClr>
              <a:buSzPct val="125000"/>
              <a:buFont typeface="Segoe Sans Text" pitchFamily="2" charset="0"/>
              <a:buChar char="■"/>
            </a:pPr>
            <a:r>
              <a:rPr lang="en-US" sz="1050" noProof="0" dirty="0">
                <a:solidFill>
                  <a:schemeClr val="bg1"/>
                </a:solidFill>
              </a:rPr>
              <a:t>Test readiness assessment and infrastructure support for testing</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Cutover planning, communication, and execution support</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Defect identification, triage, and resolution (infra/platform scope)</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Joint HyperCare monitoring and support (5 business days post-cutover)</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Availability validation in production</a:t>
            </a:r>
          </a:p>
          <a:p>
            <a:pPr marL="171450" indent="-228600">
              <a:lnSpc>
                <a:spcPct val="150000"/>
              </a:lnSpc>
              <a:buClr>
                <a:srgbClr val="41B8A4"/>
              </a:buClr>
              <a:buSzPct val="125000"/>
              <a:buFont typeface="Segoe Sans Text" pitchFamily="2" charset="0"/>
              <a:buChar char="■"/>
            </a:pPr>
            <a:r>
              <a:rPr lang="en-US" sz="1050" noProof="0" dirty="0">
                <a:solidFill>
                  <a:schemeClr val="bg1"/>
                </a:solidFill>
              </a:rPr>
              <a:t>Formal sign-off and handover to operations</a:t>
            </a:r>
          </a:p>
        </p:txBody>
      </p:sp>
      <p:sp>
        <p:nvSpPr>
          <p:cNvPr id="9" name="Shape 9">
            <a:extLst>
              <a:ext uri="{FF2B5EF4-FFF2-40B4-BE49-F238E27FC236}">
                <a16:creationId xmlns:a16="http://schemas.microsoft.com/office/drawing/2014/main" id="{B0D8DE46-F115-4864-1416-57314FCD6B20}"/>
              </a:ext>
            </a:extLst>
          </p:cNvPr>
          <p:cNvSpPr/>
          <p:nvPr/>
        </p:nvSpPr>
        <p:spPr>
          <a:xfrm>
            <a:off x="384066" y="4522491"/>
            <a:ext cx="4572000" cy="0"/>
          </a:xfrm>
          <a:prstGeom prst="line">
            <a:avLst/>
          </a:prstGeom>
          <a:noFill/>
          <a:ln w="10160">
            <a:solidFill>
              <a:srgbClr val="06B6D4">
                <a:alpha val="50000"/>
              </a:srgbClr>
            </a:solidFill>
            <a:prstDash val="solid"/>
          </a:ln>
        </p:spPr>
        <p:txBody>
          <a:bodyPr anchor="t" anchorCtr="0"/>
          <a:lstStyle/>
          <a:p>
            <a:endParaRPr lang="en-US" noProof="0" dirty="0"/>
          </a:p>
        </p:txBody>
      </p:sp>
      <p:sp>
        <p:nvSpPr>
          <p:cNvPr id="10" name="Text 7">
            <a:extLst>
              <a:ext uri="{FF2B5EF4-FFF2-40B4-BE49-F238E27FC236}">
                <a16:creationId xmlns:a16="http://schemas.microsoft.com/office/drawing/2014/main" id="{0E77A63B-81B0-A911-32EB-B73939A5E1E0}"/>
              </a:ext>
            </a:extLst>
          </p:cNvPr>
          <p:cNvSpPr/>
          <p:nvPr/>
        </p:nvSpPr>
        <p:spPr>
          <a:xfrm>
            <a:off x="382561" y="4633981"/>
            <a:ext cx="457200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200" noProof="0" dirty="0">
                <a:solidFill>
                  <a:schemeClr val="bg1"/>
                </a:solidFill>
                <a:ea typeface="Calibri" pitchFamily="34" charset="-122"/>
                <a:cs typeface="Calibri" pitchFamily="34" charset="-120"/>
              </a:rPr>
              <a:t>KEY OUTCOMES</a:t>
            </a:r>
            <a:endParaRPr lang="en-US" sz="1000" noProof="0" dirty="0">
              <a:solidFill>
                <a:schemeClr val="bg1"/>
              </a:solidFill>
            </a:endParaRPr>
          </a:p>
        </p:txBody>
      </p:sp>
      <p:sp>
        <p:nvSpPr>
          <p:cNvPr id="11" name="Text 8">
            <a:extLst>
              <a:ext uri="{FF2B5EF4-FFF2-40B4-BE49-F238E27FC236}">
                <a16:creationId xmlns:a16="http://schemas.microsoft.com/office/drawing/2014/main" id="{F7FCF5D5-0259-C83E-971A-8670EE970B88}"/>
              </a:ext>
            </a:extLst>
          </p:cNvPr>
          <p:cNvSpPr/>
          <p:nvPr/>
        </p:nvSpPr>
        <p:spPr>
          <a:xfrm>
            <a:off x="382561" y="4923270"/>
            <a:ext cx="4572000" cy="1505502"/>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41B8A4"/>
              </a:buClr>
              <a:buSzPct val="200000"/>
              <a:buFont typeface="Segoe Sans Text" pitchFamily="2" charset="0"/>
              <a:buChar char="●"/>
            </a:pPr>
            <a:r>
              <a:rPr lang="en-US" sz="1050" noProof="0" dirty="0">
                <a:solidFill>
                  <a:schemeClr val="bg1"/>
                </a:solidFill>
              </a:rPr>
              <a:t>Workloads validated and confirmed stable in production</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All in-scope defects resolved within HyperCare window</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Cutover executed with agreed RTO/RPO targets met</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Operations team equipped and handed over successfully</a:t>
            </a:r>
          </a:p>
          <a:p>
            <a:pPr marL="171450" indent="-228600">
              <a:lnSpc>
                <a:spcPct val="200000"/>
              </a:lnSpc>
              <a:buClr>
                <a:srgbClr val="41B8A4"/>
              </a:buClr>
              <a:buSzPct val="200000"/>
              <a:buFont typeface="Segoe Sans Text" pitchFamily="2" charset="0"/>
              <a:buChar char="●"/>
            </a:pPr>
            <a:r>
              <a:rPr lang="en-US" sz="1050" noProof="0" dirty="0">
                <a:solidFill>
                  <a:schemeClr val="bg1"/>
                </a:solidFill>
              </a:rPr>
              <a:t>Wave closure sign-off completed by stakeholders</a:t>
            </a:r>
          </a:p>
        </p:txBody>
      </p:sp>
      <p:sp>
        <p:nvSpPr>
          <p:cNvPr id="12" name="Text 7">
            <a:extLst>
              <a:ext uri="{FF2B5EF4-FFF2-40B4-BE49-F238E27FC236}">
                <a16:creationId xmlns:a16="http://schemas.microsoft.com/office/drawing/2014/main" id="{247F7560-82D8-1E5E-B43E-C94035AC1DC0}"/>
              </a:ext>
            </a:extLst>
          </p:cNvPr>
          <p:cNvSpPr/>
          <p:nvPr/>
        </p:nvSpPr>
        <p:spPr>
          <a:xfrm>
            <a:off x="5347480" y="1078993"/>
            <a:ext cx="6356840" cy="256032"/>
          </a:xfrm>
          <a:prstGeom prst="rect">
            <a:avLst/>
          </a:prstGeom>
          <a:noFill/>
          <a:ln/>
        </p:spPr>
        <p:txBody>
          <a:bodyPr wrap="square" lIns="45720" tIns="0" rIns="4572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kern="0" spc="200" noProof="0" dirty="0">
                <a:solidFill>
                  <a:srgbClr val="1A7385"/>
                </a:solidFill>
                <a:ea typeface="Calibri" pitchFamily="34" charset="-122"/>
                <a:cs typeface="Calibri" pitchFamily="34" charset="-120"/>
              </a:rPr>
              <a:t>DELIVERABLES &amp; ACTIVITIES </a:t>
            </a:r>
          </a:p>
        </p:txBody>
      </p:sp>
      <p:grpSp>
        <p:nvGrpSpPr>
          <p:cNvPr id="15" name="Group 14">
            <a:extLst>
              <a:ext uri="{FF2B5EF4-FFF2-40B4-BE49-F238E27FC236}">
                <a16:creationId xmlns:a16="http://schemas.microsoft.com/office/drawing/2014/main" id="{F1A1CB5F-4E5B-982A-08B9-B1D4C086D0CF}"/>
              </a:ext>
            </a:extLst>
          </p:cNvPr>
          <p:cNvGrpSpPr/>
          <p:nvPr/>
        </p:nvGrpSpPr>
        <p:grpSpPr>
          <a:xfrm>
            <a:off x="5347479" y="1447053"/>
            <a:ext cx="6630255" cy="275821"/>
            <a:chOff x="5347480" y="1447053"/>
            <a:chExt cx="6370320" cy="275821"/>
          </a:xfrm>
        </p:grpSpPr>
        <p:sp>
          <p:nvSpPr>
            <p:cNvPr id="13" name="Rectangle 12">
              <a:extLst>
                <a:ext uri="{FF2B5EF4-FFF2-40B4-BE49-F238E27FC236}">
                  <a16:creationId xmlns:a16="http://schemas.microsoft.com/office/drawing/2014/main" id="{D41A0D30-B60C-3893-0444-693FB7516B00}"/>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42DC7BD0-C1AC-0DBA-E635-332B81416A0D}"/>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Test Readiness</a:t>
              </a:r>
            </a:p>
          </p:txBody>
        </p:sp>
      </p:grpSp>
      <p:sp>
        <p:nvSpPr>
          <p:cNvPr id="16" name="Text 8">
            <a:extLst>
              <a:ext uri="{FF2B5EF4-FFF2-40B4-BE49-F238E27FC236}">
                <a16:creationId xmlns:a16="http://schemas.microsoft.com/office/drawing/2014/main" id="{3BCF5793-E04E-CD75-E78F-158D40CFFBBF}"/>
              </a:ext>
            </a:extLst>
          </p:cNvPr>
          <p:cNvSpPr/>
          <p:nvPr/>
        </p:nvSpPr>
        <p:spPr>
          <a:xfrm>
            <a:off x="5347480" y="1763627"/>
            <a:ext cx="6630252" cy="1263240"/>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Test Readiness Checklist &amp; Infra Support Plan (as per the provided test cases)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Test Plan creation | Test </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Test Execution Report (as per the Test cases)</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Defect Resolution (for in-scope)</a:t>
            </a:r>
          </a:p>
        </p:txBody>
      </p:sp>
      <p:grpSp>
        <p:nvGrpSpPr>
          <p:cNvPr id="17" name="Group 16">
            <a:extLst>
              <a:ext uri="{FF2B5EF4-FFF2-40B4-BE49-F238E27FC236}">
                <a16:creationId xmlns:a16="http://schemas.microsoft.com/office/drawing/2014/main" id="{2D00FB21-5BDF-ECA6-049F-BEE84DEFC3BA}"/>
              </a:ext>
            </a:extLst>
          </p:cNvPr>
          <p:cNvGrpSpPr/>
          <p:nvPr/>
        </p:nvGrpSpPr>
        <p:grpSpPr>
          <a:xfrm>
            <a:off x="5345976" y="3075170"/>
            <a:ext cx="6631757" cy="275821"/>
            <a:chOff x="5347480" y="1447053"/>
            <a:chExt cx="6370320" cy="275821"/>
          </a:xfrm>
        </p:grpSpPr>
        <p:sp>
          <p:nvSpPr>
            <p:cNvPr id="18" name="Rectangle 17">
              <a:extLst>
                <a:ext uri="{FF2B5EF4-FFF2-40B4-BE49-F238E27FC236}">
                  <a16:creationId xmlns:a16="http://schemas.microsoft.com/office/drawing/2014/main" id="{35B767BC-95BF-43CE-EE1F-70C19B346390}"/>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1C8FA181-F10A-BEC9-FCCD-229DBDA1E2FD}"/>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050" b="1" noProof="0" dirty="0">
                  <a:solidFill>
                    <a:srgbClr val="FFFFFF"/>
                  </a:solidFill>
                  <a:ea typeface="Segoe UI" pitchFamily="34" charset="0"/>
                  <a:cs typeface="Segoe UI" pitchFamily="34" charset="0"/>
                </a:rPr>
                <a:t>Cutover</a:t>
              </a:r>
            </a:p>
          </p:txBody>
        </p:sp>
      </p:grpSp>
      <p:sp>
        <p:nvSpPr>
          <p:cNvPr id="20" name="Text 8">
            <a:extLst>
              <a:ext uri="{FF2B5EF4-FFF2-40B4-BE49-F238E27FC236}">
                <a16:creationId xmlns:a16="http://schemas.microsoft.com/office/drawing/2014/main" id="{B0D101F1-40D8-2DC7-E85E-06DC9D68DC14}"/>
              </a:ext>
            </a:extLst>
          </p:cNvPr>
          <p:cNvSpPr/>
          <p:nvPr/>
        </p:nvSpPr>
        <p:spPr>
          <a:xfrm>
            <a:off x="5345977" y="3391744"/>
            <a:ext cx="6617722" cy="1311543"/>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Cutover Runbook (Go-Live plan, rollback plan)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Cutover Communication &amp; Stakeholder Notification</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Go/No-Go Decision Record</a:t>
            </a:r>
          </a:p>
        </p:txBody>
      </p:sp>
      <p:grpSp>
        <p:nvGrpSpPr>
          <p:cNvPr id="21" name="Group 20">
            <a:extLst>
              <a:ext uri="{FF2B5EF4-FFF2-40B4-BE49-F238E27FC236}">
                <a16:creationId xmlns:a16="http://schemas.microsoft.com/office/drawing/2014/main" id="{6C6F3190-41A8-AC1C-B854-81686EA8C46B}"/>
              </a:ext>
            </a:extLst>
          </p:cNvPr>
          <p:cNvGrpSpPr/>
          <p:nvPr/>
        </p:nvGrpSpPr>
        <p:grpSpPr>
          <a:xfrm>
            <a:off x="5353527" y="4765212"/>
            <a:ext cx="6624205" cy="275821"/>
            <a:chOff x="5347480" y="1447053"/>
            <a:chExt cx="6370320" cy="275821"/>
          </a:xfrm>
        </p:grpSpPr>
        <p:sp>
          <p:nvSpPr>
            <p:cNvPr id="22" name="Rectangle 21">
              <a:extLst>
                <a:ext uri="{FF2B5EF4-FFF2-40B4-BE49-F238E27FC236}">
                  <a16:creationId xmlns:a16="http://schemas.microsoft.com/office/drawing/2014/main" id="{E4751C87-3EBA-1199-028F-7661AA04F1EF}"/>
                </a:ext>
              </a:extLst>
            </p:cNvPr>
            <p:cNvSpPr/>
            <p:nvPr/>
          </p:nvSpPr>
          <p:spPr bwMode="auto">
            <a:xfrm>
              <a:off x="5347480" y="1448554"/>
              <a:ext cx="6356840" cy="274320"/>
            </a:xfrm>
            <a:prstGeom prst="rect">
              <a:avLst/>
            </a:prstGeom>
            <a:solidFill>
              <a:srgbClr val="1A738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dirty="0">
                <a:solidFill>
                  <a:srgbClr val="FFFFFF"/>
                </a:soli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7C903F62-CFD7-CFF9-8D64-4583022C844C}"/>
                </a:ext>
              </a:extLst>
            </p:cNvPr>
            <p:cNvSpPr/>
            <p:nvPr/>
          </p:nvSpPr>
          <p:spPr bwMode="auto">
            <a:xfrm>
              <a:off x="5499880" y="1447053"/>
              <a:ext cx="6217920" cy="274320"/>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0" rIns="4572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sz="1050" b="1" noProof="0" dirty="0">
                  <a:solidFill>
                    <a:srgbClr val="FFFFFF"/>
                  </a:solidFill>
                  <a:ea typeface="Segoe UI" pitchFamily="34" charset="0"/>
                  <a:cs typeface="Segoe UI" pitchFamily="34" charset="0"/>
                </a:rPr>
                <a:t>Hypercare (5 Days)</a:t>
              </a:r>
            </a:p>
          </p:txBody>
        </p:sp>
      </p:grpSp>
      <p:sp>
        <p:nvSpPr>
          <p:cNvPr id="24" name="Text 8">
            <a:extLst>
              <a:ext uri="{FF2B5EF4-FFF2-40B4-BE49-F238E27FC236}">
                <a16:creationId xmlns:a16="http://schemas.microsoft.com/office/drawing/2014/main" id="{E22F370B-D39D-55EE-DA56-996FDCE77C79}"/>
              </a:ext>
            </a:extLst>
          </p:cNvPr>
          <p:cNvSpPr/>
          <p:nvPr/>
        </p:nvSpPr>
        <p:spPr>
          <a:xfrm>
            <a:off x="5353527" y="5057638"/>
            <a:ext cx="6624205" cy="911084"/>
          </a:xfrm>
          <a:prstGeom prst="rect">
            <a:avLst/>
          </a:prstGeom>
          <a:noFill/>
          <a:ln/>
        </p:spPr>
        <p:txBody>
          <a:bodyPr wrap="square" lIns="45720" tIns="0" rIns="45720" bIns="0" rtlCol="0" anchor="t"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Defect &amp; Incident Resolution Log</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Hypercare Status Report</a:t>
            </a:r>
          </a:p>
          <a:p>
            <a:pPr marL="171450" indent="-228600">
              <a:lnSpc>
                <a:spcPct val="200000"/>
              </a:lnSpc>
              <a:buClr>
                <a:srgbClr val="1A7385"/>
              </a:buClr>
              <a:buSzPct val="125000"/>
              <a:buFont typeface="Segoe Sans Text" pitchFamily="2" charset="0"/>
              <a:buChar char="■"/>
            </a:pPr>
            <a:r>
              <a:rPr lang="en-US" sz="1050" noProof="0" dirty="0">
                <a:solidFill>
                  <a:schemeClr val="accent2">
                    <a:lumMod val="75000"/>
                  </a:schemeClr>
                </a:solidFill>
              </a:rPr>
              <a:t>Register Microsoft Azure Support Case (as applicable) through customer Azure Subscription</a:t>
            </a:r>
          </a:p>
        </p:txBody>
      </p:sp>
      <p:sp>
        <p:nvSpPr>
          <p:cNvPr id="27" name="Shape 6">
            <a:extLst>
              <a:ext uri="{FF2B5EF4-FFF2-40B4-BE49-F238E27FC236}">
                <a16:creationId xmlns:a16="http://schemas.microsoft.com/office/drawing/2014/main" id="{FB4A5050-C5C9-F279-DBCF-6B469684C07C}"/>
              </a:ext>
            </a:extLst>
          </p:cNvPr>
          <p:cNvSpPr/>
          <p:nvPr/>
        </p:nvSpPr>
        <p:spPr>
          <a:xfrm>
            <a:off x="5331943" y="5968724"/>
            <a:ext cx="6730518" cy="731520"/>
          </a:xfrm>
          <a:prstGeom prst="rect">
            <a:avLst/>
          </a:prstGeom>
          <a:solidFill>
            <a:srgbClr val="0D1B3E"/>
          </a:solidFill>
          <a:ln w="12700">
            <a:solidFill>
              <a:srgbClr val="0D1B3E"/>
            </a:solidFill>
            <a:prstDash val="solid"/>
          </a:ln>
        </p:spPr>
        <p:txBody>
          <a:bodyPr/>
          <a:lstStyle/>
          <a:p>
            <a:endParaRPr lang="en-US" noProof="0" dirty="0"/>
          </a:p>
        </p:txBody>
      </p:sp>
      <p:sp>
        <p:nvSpPr>
          <p:cNvPr id="28" name="Rectangle 27">
            <a:extLst>
              <a:ext uri="{FF2B5EF4-FFF2-40B4-BE49-F238E27FC236}">
                <a16:creationId xmlns:a16="http://schemas.microsoft.com/office/drawing/2014/main" id="{1AB01692-8F37-21B5-4523-0E4F0A080556}"/>
              </a:ext>
            </a:extLst>
          </p:cNvPr>
          <p:cNvSpPr/>
          <p:nvPr/>
        </p:nvSpPr>
        <p:spPr bwMode="auto">
          <a:xfrm>
            <a:off x="5434719" y="6069217"/>
            <a:ext cx="182880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DURATION </a:t>
            </a:r>
          </a:p>
          <a:p>
            <a:pPr algn="ctr" defTabSz="932472" fontAlgn="base"/>
            <a:r>
              <a:rPr lang="en-US" sz="1400" b="1" noProof="0" dirty="0">
                <a:solidFill>
                  <a:schemeClr val="bg1"/>
                </a:solidFill>
                <a:cs typeface="Segoe UI" pitchFamily="34" charset="0"/>
              </a:rPr>
              <a:t>Per Wave: 1-2 Weeks</a:t>
            </a:r>
          </a:p>
        </p:txBody>
      </p:sp>
      <p:sp>
        <p:nvSpPr>
          <p:cNvPr id="32" name="Rectangle 31">
            <a:extLst>
              <a:ext uri="{FF2B5EF4-FFF2-40B4-BE49-F238E27FC236}">
                <a16:creationId xmlns:a16="http://schemas.microsoft.com/office/drawing/2014/main" id="{AD21943D-7579-B5F3-5A6C-3843008D5DD8}"/>
              </a:ext>
            </a:extLst>
          </p:cNvPr>
          <p:cNvSpPr/>
          <p:nvPr/>
        </p:nvSpPr>
        <p:spPr bwMode="auto">
          <a:xfrm>
            <a:off x="7366295" y="6069217"/>
            <a:ext cx="2347871"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TEAM </a:t>
            </a:r>
          </a:p>
        </p:txBody>
      </p:sp>
      <p:sp>
        <p:nvSpPr>
          <p:cNvPr id="33" name="Rectangle 32">
            <a:extLst>
              <a:ext uri="{FF2B5EF4-FFF2-40B4-BE49-F238E27FC236}">
                <a16:creationId xmlns:a16="http://schemas.microsoft.com/office/drawing/2014/main" id="{ABC116B0-218A-54DA-C808-E35649F6BC3C}"/>
              </a:ext>
            </a:extLst>
          </p:cNvPr>
          <p:cNvSpPr/>
          <p:nvPr/>
        </p:nvSpPr>
        <p:spPr bwMode="auto">
          <a:xfrm>
            <a:off x="9787373" y="6070029"/>
            <a:ext cx="2103120" cy="548640"/>
          </a:xfrm>
          <a:prstGeom prst="rect">
            <a:avLst/>
          </a:prstGeom>
          <a:solidFill>
            <a:srgbClr val="41B8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ctr" defTabSz="932472" fontAlgn="base"/>
            <a:r>
              <a:rPr lang="en-US" sz="1400" b="1" noProof="0" dirty="0">
                <a:solidFill>
                  <a:schemeClr val="bg1"/>
                </a:solidFill>
                <a:cs typeface="Segoe UI" pitchFamily="34" charset="0"/>
              </a:rPr>
              <a:t>🔧 TOOLS </a:t>
            </a:r>
          </a:p>
        </p:txBody>
      </p:sp>
      <p:sp>
        <p:nvSpPr>
          <p:cNvPr id="34" name="TextBox 33">
            <a:extLst>
              <a:ext uri="{FF2B5EF4-FFF2-40B4-BE49-F238E27FC236}">
                <a16:creationId xmlns:a16="http://schemas.microsoft.com/office/drawing/2014/main" id="{211330A3-579C-F5E5-C6F9-A4DCDB8ED3B1}"/>
              </a:ext>
            </a:extLst>
          </p:cNvPr>
          <p:cNvSpPr txBox="1"/>
          <p:nvPr/>
        </p:nvSpPr>
        <p:spPr>
          <a:xfrm>
            <a:off x="9787373" y="6328374"/>
            <a:ext cx="2103120" cy="276999"/>
          </a:xfrm>
          <a:prstGeom prst="rect">
            <a:avLst/>
          </a:prstGeom>
          <a:noFill/>
        </p:spPr>
        <p:txBody>
          <a:bodyPr wrap="square" lIns="0" tIns="0" rIns="0" bIns="0" rtlCol="0" anchor="ctr" anchorCtr="0">
            <a:noAutofit/>
          </a:bodyPr>
          <a:lstStyle/>
          <a:p>
            <a:pPr algn="ctr"/>
            <a:r>
              <a:rPr lang="en-US" sz="900" b="1" noProof="0" dirty="0">
                <a:solidFill>
                  <a:schemeClr val="bg1"/>
                </a:solidFill>
              </a:rPr>
              <a:t>Azure Monitor  ·  Log Analytics  ·  Azure Support  ·  ADO</a:t>
            </a:r>
          </a:p>
        </p:txBody>
      </p:sp>
      <p:sp>
        <p:nvSpPr>
          <p:cNvPr id="35" name="TextBox 34">
            <a:extLst>
              <a:ext uri="{FF2B5EF4-FFF2-40B4-BE49-F238E27FC236}">
                <a16:creationId xmlns:a16="http://schemas.microsoft.com/office/drawing/2014/main" id="{A7B75E6B-D111-D1B6-ABA4-1BD0EF3EBD8C}"/>
              </a:ext>
            </a:extLst>
          </p:cNvPr>
          <p:cNvSpPr txBox="1"/>
          <p:nvPr/>
        </p:nvSpPr>
        <p:spPr>
          <a:xfrm>
            <a:off x="7368591" y="6335915"/>
            <a:ext cx="2350008" cy="274320"/>
          </a:xfrm>
          <a:prstGeom prst="rect">
            <a:avLst/>
          </a:prstGeom>
          <a:noFill/>
        </p:spPr>
        <p:txBody>
          <a:bodyPr wrap="square" lIns="0" tIns="0" rIns="0" bIns="0" rtlCol="0" anchor="ctr" anchorCtr="0">
            <a:noAutofit/>
          </a:bodyPr>
          <a:lstStyle/>
          <a:p>
            <a:pPr algn="ctr"/>
            <a:r>
              <a:rPr lang="en-US" sz="900" b="1" noProof="0" dirty="0">
                <a:solidFill>
                  <a:schemeClr val="bg1"/>
                </a:solidFill>
              </a:rPr>
              <a:t>Delivery Lead + Cloud &amp; Migration Engineer</a:t>
            </a:r>
          </a:p>
        </p:txBody>
      </p:sp>
    </p:spTree>
    <p:extLst>
      <p:ext uri="{BB962C8B-B14F-4D97-AF65-F5344CB8AC3E}">
        <p14:creationId xmlns:p14="http://schemas.microsoft.com/office/powerpoint/2010/main" val="93605757"/>
      </p:ext>
    </p:extLst>
  </p:cSld>
  <p:clrMapOvr>
    <a:masterClrMapping/>
  </p:clrMapOvr>
  <p:transition>
    <p:fade/>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E7D66-A1A3-4D88-425C-B3151D5D00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D29B99-548D-FDF5-C864-2EF3A71D468A}"/>
              </a:ext>
            </a:extLst>
          </p:cNvPr>
          <p:cNvSpPr>
            <a:spLocks noGrp="1"/>
          </p:cNvSpPr>
          <p:nvPr>
            <p:ph type="title"/>
          </p:nvPr>
        </p:nvSpPr>
        <p:spPr>
          <a:xfrm>
            <a:off x="585216" y="2916268"/>
            <a:ext cx="9144000" cy="615553"/>
          </a:xfrm>
        </p:spPr>
        <p:txBody>
          <a:bodyPr/>
          <a:lstStyle/>
          <a:p>
            <a:r>
              <a:rPr lang="en-US" noProof="0" dirty="0"/>
              <a:t>Closing</a:t>
            </a:r>
          </a:p>
        </p:txBody>
      </p:sp>
      <p:sp>
        <p:nvSpPr>
          <p:cNvPr id="5" name="Image 10" descr="Home (outlined)">
            <a:hlinkClick r:id="rId2" action="ppaction://hlinksldjump" tooltip="Home"/>
            <a:extLst>
              <a:ext uri="{FF2B5EF4-FFF2-40B4-BE49-F238E27FC236}">
                <a16:creationId xmlns:a16="http://schemas.microsoft.com/office/drawing/2014/main" id="{0110BF19-E735-558F-E576-1BD946FC62C5}"/>
              </a:ext>
            </a:extLst>
          </p:cNvPr>
          <p:cNvSpPr/>
          <p:nvPr/>
        </p:nvSpPr>
        <p:spPr>
          <a:xfrm>
            <a:off x="645224" y="760514"/>
            <a:ext cx="356616" cy="376466"/>
          </a:xfrm>
          <a:custGeom>
            <a:avLst/>
            <a:gdLst>
              <a:gd name="csX0" fmla="*/ 149571 w 356616"/>
              <a:gd name="csY0" fmla="*/ 10499 h 376466"/>
              <a:gd name="csX1" fmla="*/ 207045 w 356616"/>
              <a:gd name="csY1" fmla="*/ 10499 h 376466"/>
              <a:gd name="csX2" fmla="*/ 340776 w 356616"/>
              <a:gd name="csY2" fmla="*/ 123271 h 376466"/>
              <a:gd name="csX3" fmla="*/ 356616 w 356616"/>
              <a:gd name="csY3" fmla="*/ 157349 h 376466"/>
              <a:gd name="csX4" fmla="*/ 356616 w 356616"/>
              <a:gd name="csY4" fmla="*/ 341796 h 376466"/>
              <a:gd name="csX5" fmla="*/ 321945 w 356616"/>
              <a:gd name="csY5" fmla="*/ 376467 h 376466"/>
              <a:gd name="csX6" fmla="*/ 252603 w 356616"/>
              <a:gd name="csY6" fmla="*/ 376467 h 376466"/>
              <a:gd name="csX7" fmla="*/ 217932 w 356616"/>
              <a:gd name="csY7" fmla="*/ 341796 h 376466"/>
              <a:gd name="csX8" fmla="*/ 217932 w 356616"/>
              <a:gd name="csY8" fmla="*/ 242595 h 376466"/>
              <a:gd name="csX9" fmla="*/ 212979 w 356616"/>
              <a:gd name="csY9" fmla="*/ 237642 h 376466"/>
              <a:gd name="csX10" fmla="*/ 143637 w 356616"/>
              <a:gd name="csY10" fmla="*/ 237642 h 376466"/>
              <a:gd name="csX11" fmla="*/ 138684 w 356616"/>
              <a:gd name="csY11" fmla="*/ 242595 h 376466"/>
              <a:gd name="csX12" fmla="*/ 138684 w 356616"/>
              <a:gd name="csY12" fmla="*/ 341796 h 376466"/>
              <a:gd name="csX13" fmla="*/ 104013 w 356616"/>
              <a:gd name="csY13" fmla="*/ 376467 h 376466"/>
              <a:gd name="csX14" fmla="*/ 34671 w 356616"/>
              <a:gd name="csY14" fmla="*/ 376467 h 376466"/>
              <a:gd name="csX15" fmla="*/ 0 w 356616"/>
              <a:gd name="csY15" fmla="*/ 341796 h 376466"/>
              <a:gd name="csX16" fmla="*/ 0 w 356616"/>
              <a:gd name="csY16" fmla="*/ 157349 h 376466"/>
              <a:gd name="csX17" fmla="*/ 15840 w 356616"/>
              <a:gd name="csY17" fmla="*/ 123271 h 376466"/>
              <a:gd name="csX18" fmla="*/ 149571 w 356616"/>
              <a:gd name="csY18" fmla="*/ 10499 h 376466"/>
              <a:gd name="csX19" fmla="*/ 187887 w 356616"/>
              <a:gd name="csY19" fmla="*/ 33218 h 376466"/>
              <a:gd name="csX20" fmla="*/ 168729 w 356616"/>
              <a:gd name="csY20" fmla="*/ 33218 h 376466"/>
              <a:gd name="csX21" fmla="*/ 34998 w 356616"/>
              <a:gd name="csY21" fmla="*/ 145990 h 376466"/>
              <a:gd name="csX22" fmla="*/ 29718 w 356616"/>
              <a:gd name="csY22" fmla="*/ 157349 h 376466"/>
              <a:gd name="csX23" fmla="*/ 29718 w 356616"/>
              <a:gd name="csY23" fmla="*/ 341796 h 376466"/>
              <a:gd name="csX24" fmla="*/ 34671 w 356616"/>
              <a:gd name="csY24" fmla="*/ 346749 h 376466"/>
              <a:gd name="csX25" fmla="*/ 104013 w 356616"/>
              <a:gd name="csY25" fmla="*/ 346749 h 376466"/>
              <a:gd name="csX26" fmla="*/ 108966 w 356616"/>
              <a:gd name="csY26" fmla="*/ 341796 h 376466"/>
              <a:gd name="csX27" fmla="*/ 108966 w 356616"/>
              <a:gd name="csY27" fmla="*/ 242595 h 376466"/>
              <a:gd name="csX28" fmla="*/ 143637 w 356616"/>
              <a:gd name="csY28" fmla="*/ 207924 h 376466"/>
              <a:gd name="csX29" fmla="*/ 212979 w 356616"/>
              <a:gd name="csY29" fmla="*/ 207924 h 376466"/>
              <a:gd name="csX30" fmla="*/ 247650 w 356616"/>
              <a:gd name="csY30" fmla="*/ 242595 h 376466"/>
              <a:gd name="csX31" fmla="*/ 247650 w 356616"/>
              <a:gd name="csY31" fmla="*/ 341796 h 376466"/>
              <a:gd name="csX32" fmla="*/ 252603 w 356616"/>
              <a:gd name="csY32" fmla="*/ 346749 h 376466"/>
              <a:gd name="csX33" fmla="*/ 321945 w 356616"/>
              <a:gd name="csY33" fmla="*/ 346749 h 376466"/>
              <a:gd name="csX34" fmla="*/ 326898 w 356616"/>
              <a:gd name="csY34" fmla="*/ 341796 h 376466"/>
              <a:gd name="csX35" fmla="*/ 326898 w 356616"/>
              <a:gd name="csY35" fmla="*/ 157349 h 376466"/>
              <a:gd name="csX36" fmla="*/ 321618 w 356616"/>
              <a:gd name="csY36" fmla="*/ 145990 h 376466"/>
              <a:gd name="csX37" fmla="*/ 187887 w 356616"/>
              <a:gd name="csY37" fmla="*/ 33218 h 376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56616" h="376466">
                <a:moveTo>
                  <a:pt x="149571" y="10499"/>
                </a:moveTo>
                <a:cubicBezTo>
                  <a:pt x="166171" y="-3500"/>
                  <a:pt x="190445" y="-3500"/>
                  <a:pt x="207045" y="10499"/>
                </a:cubicBezTo>
                <a:lnTo>
                  <a:pt x="340776" y="123271"/>
                </a:lnTo>
                <a:cubicBezTo>
                  <a:pt x="350819" y="131741"/>
                  <a:pt x="356616" y="144210"/>
                  <a:pt x="356616" y="157349"/>
                </a:cubicBezTo>
                <a:lnTo>
                  <a:pt x="356616" y="341796"/>
                </a:lnTo>
                <a:cubicBezTo>
                  <a:pt x="356616" y="360944"/>
                  <a:pt x="341093" y="376467"/>
                  <a:pt x="321945" y="376467"/>
                </a:cubicBezTo>
                <a:lnTo>
                  <a:pt x="252603" y="376467"/>
                </a:lnTo>
                <a:cubicBezTo>
                  <a:pt x="233455" y="376467"/>
                  <a:pt x="217932" y="360944"/>
                  <a:pt x="217932" y="341796"/>
                </a:cubicBezTo>
                <a:lnTo>
                  <a:pt x="217932" y="242595"/>
                </a:lnTo>
                <a:cubicBezTo>
                  <a:pt x="217932" y="239861"/>
                  <a:pt x="215715" y="237642"/>
                  <a:pt x="212979" y="237642"/>
                </a:cubicBezTo>
                <a:lnTo>
                  <a:pt x="143637" y="237642"/>
                </a:lnTo>
                <a:cubicBezTo>
                  <a:pt x="140901" y="237642"/>
                  <a:pt x="138684" y="239861"/>
                  <a:pt x="138684" y="242595"/>
                </a:cubicBezTo>
                <a:lnTo>
                  <a:pt x="138684" y="341796"/>
                </a:lnTo>
                <a:cubicBezTo>
                  <a:pt x="138684" y="360944"/>
                  <a:pt x="123161" y="376467"/>
                  <a:pt x="104013" y="376467"/>
                </a:cubicBezTo>
                <a:lnTo>
                  <a:pt x="34671" y="376467"/>
                </a:lnTo>
                <a:cubicBezTo>
                  <a:pt x="15523" y="376467"/>
                  <a:pt x="0" y="360944"/>
                  <a:pt x="0" y="341796"/>
                </a:cubicBezTo>
                <a:lnTo>
                  <a:pt x="0" y="157349"/>
                </a:lnTo>
                <a:cubicBezTo>
                  <a:pt x="0" y="144210"/>
                  <a:pt x="5796" y="131741"/>
                  <a:pt x="15840" y="123271"/>
                </a:cubicBezTo>
                <a:lnTo>
                  <a:pt x="149571" y="10499"/>
                </a:lnTo>
                <a:close/>
                <a:moveTo>
                  <a:pt x="187887" y="33218"/>
                </a:moveTo>
                <a:cubicBezTo>
                  <a:pt x="182354" y="28551"/>
                  <a:pt x="174262" y="28551"/>
                  <a:pt x="168729" y="33218"/>
                </a:cubicBezTo>
                <a:lnTo>
                  <a:pt x="34998" y="145990"/>
                </a:lnTo>
                <a:cubicBezTo>
                  <a:pt x="31650" y="148813"/>
                  <a:pt x="29718" y="152970"/>
                  <a:pt x="29718" y="157349"/>
                </a:cubicBezTo>
                <a:lnTo>
                  <a:pt x="29718" y="341796"/>
                </a:lnTo>
                <a:cubicBezTo>
                  <a:pt x="29718" y="344532"/>
                  <a:pt x="31936" y="346749"/>
                  <a:pt x="34671" y="346749"/>
                </a:cubicBezTo>
                <a:lnTo>
                  <a:pt x="104013" y="346749"/>
                </a:lnTo>
                <a:cubicBezTo>
                  <a:pt x="106748" y="346749"/>
                  <a:pt x="108966" y="344532"/>
                  <a:pt x="108966" y="341796"/>
                </a:cubicBezTo>
                <a:lnTo>
                  <a:pt x="108966" y="242595"/>
                </a:lnTo>
                <a:cubicBezTo>
                  <a:pt x="108966" y="223447"/>
                  <a:pt x="124489" y="207924"/>
                  <a:pt x="143637" y="207924"/>
                </a:cubicBezTo>
                <a:lnTo>
                  <a:pt x="212979" y="207924"/>
                </a:lnTo>
                <a:cubicBezTo>
                  <a:pt x="232127" y="207924"/>
                  <a:pt x="247650" y="223447"/>
                  <a:pt x="247650" y="242595"/>
                </a:cubicBezTo>
                <a:lnTo>
                  <a:pt x="247650" y="341796"/>
                </a:lnTo>
                <a:cubicBezTo>
                  <a:pt x="247650" y="344532"/>
                  <a:pt x="249867" y="346749"/>
                  <a:pt x="252603" y="346749"/>
                </a:cubicBezTo>
                <a:lnTo>
                  <a:pt x="321945" y="346749"/>
                </a:lnTo>
                <a:cubicBezTo>
                  <a:pt x="324681" y="346749"/>
                  <a:pt x="326898" y="344532"/>
                  <a:pt x="326898" y="341796"/>
                </a:cubicBezTo>
                <a:lnTo>
                  <a:pt x="326898" y="157349"/>
                </a:lnTo>
                <a:cubicBezTo>
                  <a:pt x="326898" y="152970"/>
                  <a:pt x="324966" y="148813"/>
                  <a:pt x="321618" y="145990"/>
                </a:cubicBezTo>
                <a:lnTo>
                  <a:pt x="187887" y="33218"/>
                </a:lnTo>
                <a:close/>
              </a:path>
            </a:pathLst>
          </a:custGeom>
          <a:gradFill>
            <a:gsLst>
              <a:gs pos="79000">
                <a:srgbClr val="319A89"/>
              </a:gs>
              <a:gs pos="21000">
                <a:srgbClr val="0070C0"/>
              </a:gs>
              <a:gs pos="0">
                <a:srgbClr val="009CE1"/>
              </a:gs>
              <a:gs pos="51000">
                <a:srgbClr val="004880"/>
              </a:gs>
              <a:gs pos="100000">
                <a:srgbClr val="49C5B1"/>
              </a:gs>
            </a:gsLst>
            <a:lin ang="2700000" scaled="0"/>
          </a:gradFill>
          <a:ln w="4127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noProof="0" dirty="0">
              <a:solidFill>
                <a:schemeClr val="bg1"/>
              </a:solidFill>
              <a:latin typeface="+mj-lt"/>
              <a:ea typeface="+mj-ea"/>
              <a:cs typeface="+mj-cs"/>
            </a:endParaRPr>
          </a:p>
        </p:txBody>
      </p:sp>
    </p:spTree>
    <p:extLst>
      <p:ext uri="{BB962C8B-B14F-4D97-AF65-F5344CB8AC3E}">
        <p14:creationId xmlns:p14="http://schemas.microsoft.com/office/powerpoint/2010/main" val="198918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3.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4.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5.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6.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7.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8.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9.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10.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11.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12.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13.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ags/tag14.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Azure Accelerate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662DC8C9-CFC0-405F-82A1-B248626FCAE6}" vid="{49C91371-712F-49B7-AFEB-59DA86371DF3}"/>
    </a:ext>
  </a:extLst>
</a:theme>
</file>

<file path=ppt/theme/theme2.xml><?xml version="1.0" encoding="utf-8"?>
<a:theme xmlns:a="http://schemas.openxmlformats.org/drawingml/2006/main" name="1_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662DC8C9-CFC0-405F-82A1-B248626FCAE6}" vid="{49C91371-712F-49B7-AFEB-59DA86371DF3}"/>
    </a:ext>
  </a:extLst>
</a:theme>
</file>

<file path=ppt/theme/theme3.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662DC8C9-CFC0-405F-82A1-B248626FCAE6}" vid="{49C91371-712F-49B7-AFEB-59DA86371DF3}"/>
    </a:ext>
  </a:extLst>
</a:theme>
</file>

<file path=ppt/theme/theme4.xml><?xml version="1.0" encoding="utf-8"?>
<a:theme xmlns:a="http://schemas.openxmlformats.org/drawingml/2006/main" name="OLD BRANDING DO NOT US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Microsoft">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662DC8C9-CFC0-405F-82A1-B248626FCAE6}" vid="{49C91371-712F-49B7-AFEB-59DA86371DF3}"/>
    </a:ext>
  </a:extLst>
</a:theme>
</file>

<file path=ppt/theme/theme5.xml><?xml version="1.0" encoding="utf-8"?>
<a:theme xmlns:a="http://schemas.openxmlformats.org/drawingml/2006/main" name="CSA Template">
  <a:themeElements>
    <a:clrScheme name="Custom 228">
      <a:dk1>
        <a:srgbClr val="000000"/>
      </a:dk1>
      <a:lt1>
        <a:srgbClr val="FFFFFF"/>
      </a:lt1>
      <a:dk2>
        <a:srgbClr val="091F2C"/>
      </a:dk2>
      <a:lt2>
        <a:srgbClr val="F4F3F5"/>
      </a:lt2>
      <a:accent1>
        <a:srgbClr val="0078D4"/>
      </a:accent1>
      <a:accent2>
        <a:srgbClr val="2A446F"/>
      </a:accent2>
      <a:accent3>
        <a:srgbClr val="8DC8E8"/>
      </a:accent3>
      <a:accent4>
        <a:srgbClr val="8661C5"/>
      </a:accent4>
      <a:accent5>
        <a:srgbClr val="49C5B1"/>
      </a:accent5>
      <a:accent6>
        <a:srgbClr val="225B62"/>
      </a:accent6>
      <a:hlink>
        <a:srgbClr val="0078D4"/>
      </a:hlink>
      <a:folHlink>
        <a:srgbClr val="8661C5"/>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tx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Cloud_Industry Slide Template-16x9_v06.potx" id="{22F967BE-1BE3-4E33-9E43-34A6A01C1D2B}" vid="{96DD2E20-957E-4F0C-81DD-10783C04073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themeOverride>
</file>

<file path=ppt/theme/themeOverride2.xml><?xml version="1.0" encoding="utf-8"?>
<a:themeOverride xmlns:a="http://schemas.openxmlformats.org/drawingml/2006/main">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themeOverride>
</file>

<file path=ppt/theme/themeOverride3.xml><?xml version="1.0" encoding="utf-8"?>
<a:themeOverride xmlns:a="http://schemas.openxmlformats.org/drawingml/2006/main">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themeOverride>
</file>

<file path=ppt/theme/themeOverride4.xml><?xml version="1.0" encoding="utf-8"?>
<a:themeOverride xmlns:a="http://schemas.openxmlformats.org/drawingml/2006/main">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themeOverride>
</file>

<file path=ppt/theme/themeOverride5.xml><?xml version="1.0" encoding="utf-8"?>
<a:themeOverride xmlns:a="http://schemas.openxmlformats.org/drawingml/2006/main">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themeOverride>
</file>

<file path=ppt/theme/themeOverride6.xml><?xml version="1.0" encoding="utf-8"?>
<a:themeOverride xmlns:a="http://schemas.openxmlformats.org/drawingml/2006/main">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themeOverrid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CMF_Presentation Template_v1.0</Template>
  <TotalTime>0</TotalTime>
  <Words>45627</Words>
  <Application>Microsoft Office PowerPoint</Application>
  <PresentationFormat>Widescreen</PresentationFormat>
  <Paragraphs>5335</Paragraphs>
  <Slides>178</Slides>
  <Notes>149</Notes>
  <HiddenSlides>0</HiddenSlides>
  <MMClips>0</MMClips>
  <ScaleCrop>false</ScaleCrop>
  <HeadingPairs>
    <vt:vector size="8" baseType="variant">
      <vt:variant>
        <vt:lpstr>Fonts Used</vt:lpstr>
      </vt:variant>
      <vt:variant>
        <vt:i4>19</vt:i4>
      </vt:variant>
      <vt:variant>
        <vt:lpstr>Theme</vt:lpstr>
      </vt:variant>
      <vt:variant>
        <vt:i4>5</vt:i4>
      </vt:variant>
      <vt:variant>
        <vt:lpstr>Embedded OLE Servers</vt:lpstr>
      </vt:variant>
      <vt:variant>
        <vt:i4>1</vt:i4>
      </vt:variant>
      <vt:variant>
        <vt:lpstr>Slide Titles</vt:lpstr>
      </vt:variant>
      <vt:variant>
        <vt:i4>178</vt:i4>
      </vt:variant>
    </vt:vector>
  </HeadingPairs>
  <TitlesOfParts>
    <vt:vector size="203" baseType="lpstr">
      <vt:lpstr>Arial,Sans-Serif</vt:lpstr>
      <vt:lpstr>Frutiger LT Pro 45 Light</vt:lpstr>
      <vt:lpstr>Abadi</vt:lpstr>
      <vt:lpstr>Aptos</vt:lpstr>
      <vt:lpstr>Arial</vt:lpstr>
      <vt:lpstr>Calibri</vt:lpstr>
      <vt:lpstr>Consolas</vt:lpstr>
      <vt:lpstr>Courier New</vt:lpstr>
      <vt:lpstr>Segoe Sans Display</vt:lpstr>
      <vt:lpstr>Segoe Sans Display ExtraBold</vt:lpstr>
      <vt:lpstr>Segoe Sans Display Semibold</vt:lpstr>
      <vt:lpstr>Segoe Sans Text</vt:lpstr>
      <vt:lpstr>Segoe Sans Text Semibold</vt:lpstr>
      <vt:lpstr>Segoe Sans Text Semilight</vt:lpstr>
      <vt:lpstr>Segoe UI</vt:lpstr>
      <vt:lpstr>Segoe UI Semibold</vt:lpstr>
      <vt:lpstr>Segoe UI Variable Display</vt:lpstr>
      <vt:lpstr>Segoe UI Variable Display Semibold</vt:lpstr>
      <vt:lpstr>Wingdings</vt:lpstr>
      <vt:lpstr>Azure Accelerate Template</vt:lpstr>
      <vt:lpstr>1_Azure 2023 Template</vt:lpstr>
      <vt:lpstr>Azure 2023 Template</vt:lpstr>
      <vt:lpstr>OLD BRANDING DO NOT USE</vt:lpstr>
      <vt:lpstr>CSA Template</vt:lpstr>
      <vt:lpstr>think-cell Slide</vt:lpstr>
      <vt:lpstr>Frontier Accelerate for Azure, AI Business Solutions, &amp; Security:  Cloud Accelerate Factory Service Descriptions</vt:lpstr>
      <vt:lpstr>General Requirements for Cloud Accelerate Factory</vt:lpstr>
      <vt:lpstr>PowerPoint Presentation</vt:lpstr>
      <vt:lpstr>PowerPoint Presentation</vt:lpstr>
      <vt:lpstr>PowerPoint Presentation</vt:lpstr>
      <vt:lpstr>Scope 1 Delivery- Service Catalogue</vt:lpstr>
      <vt:lpstr>Service Catalog – Platform Foundation &amp; Landing Zone</vt:lpstr>
      <vt:lpstr>Service Catalog – Modernize with Confidence </vt:lpstr>
      <vt:lpstr>Service Catalog – Ubiquitous innovation  Amplify your intelligence </vt:lpstr>
      <vt:lpstr>Service Catalog – Build a unified,  governed data and AI estate</vt:lpstr>
      <vt:lpstr>Cloud Accelerate Factory  Modernize with Confidence</vt:lpstr>
      <vt:lpstr>Infrastructure Migration Azure Landing Zone - New Deployment or Validation</vt:lpstr>
      <vt:lpstr>Infrastructure Migration Azure Landing Zone – Scope &amp; Responsibilities</vt:lpstr>
      <vt:lpstr>Key Deliverables Azure Landing Zone - New Deployment or Validation</vt:lpstr>
      <vt:lpstr>Cloud Accelerate Factory Infrastructure Migration - Azure Landing Zone - Deployment</vt:lpstr>
      <vt:lpstr>Cloud Accelerate Factory Modernize with Confidence</vt:lpstr>
      <vt:lpstr>Cloud Accelerate Factory Modernize with Confidence</vt:lpstr>
      <vt:lpstr>Infrastructure Migration Windows / Linux Workloads – Scope &amp; Responsibilities</vt:lpstr>
      <vt:lpstr>Key Deliverables Infrastructure and Database Migration (Windows and Linux)</vt:lpstr>
      <vt:lpstr>Cloud Accelerate Factory Infrastructure Migration Infrastructure and database migration (Windows and Linux)</vt:lpstr>
      <vt:lpstr>Cloud Accelerate Factory  Modernize with Confidence</vt:lpstr>
      <vt:lpstr>Azure VMware Solution</vt:lpstr>
      <vt:lpstr>Azure VMware Solution</vt:lpstr>
      <vt:lpstr>Azure VMware Solution</vt:lpstr>
      <vt:lpstr>Key Deliverables Azure VMware Solution (AVS) migration</vt:lpstr>
      <vt:lpstr>PowerPoint Presentation</vt:lpstr>
      <vt:lpstr>Cloud Accelerate Factory  Modernize with Confidence</vt:lpstr>
      <vt:lpstr>Agentic modernization in action</vt:lpstr>
      <vt:lpstr>App modernization with GitHub Copilot</vt:lpstr>
      <vt:lpstr>App Modernization Scale App Modernization with AI Agents   </vt:lpstr>
      <vt:lpstr>App Modernization App Modernization – Scope &amp; Responsibilities</vt:lpstr>
      <vt:lpstr>App Modernization App Modernization – Approach</vt:lpstr>
      <vt:lpstr>Key Deliverables Scale App Modernization with AI Agents</vt:lpstr>
      <vt:lpstr>PowerPoint Presentation</vt:lpstr>
      <vt:lpstr>Cloud Accelerate Factory  Modernize with Confidence</vt:lpstr>
      <vt:lpstr>Database Migration Database Workloads</vt:lpstr>
      <vt:lpstr>Database Modernization</vt:lpstr>
      <vt:lpstr>Database Modernization</vt:lpstr>
      <vt:lpstr>Database Modernization</vt:lpstr>
      <vt:lpstr>Database Modernization</vt:lpstr>
      <vt:lpstr>Database Modernization</vt:lpstr>
      <vt:lpstr>Database Modernization</vt:lpstr>
      <vt:lpstr>Database Modernization</vt:lpstr>
      <vt:lpstr>Key Deliverables</vt:lpstr>
      <vt:lpstr>Cloud Accelerate Factory  Modernize with Confidence</vt:lpstr>
      <vt:lpstr>App &amp; Database Modernization</vt:lpstr>
      <vt:lpstr>Heterogeneous Database Migrations (Oracle) using Agentic AI</vt:lpstr>
      <vt:lpstr>Heterogeneous Database Migrations (Oracle) using Agentic AI</vt:lpstr>
      <vt:lpstr>Heterogeneous Database Migrations (Sybase)</vt:lpstr>
      <vt:lpstr>Key Deliverables</vt:lpstr>
      <vt:lpstr>Cloud Accelerate Factory  Modernize with Confidence</vt:lpstr>
      <vt:lpstr>Secure Azure Cloud Microsoft Defender for Cloud</vt:lpstr>
      <vt:lpstr>Secure Azure Cloud Microsoft Defender for Cloud</vt:lpstr>
      <vt:lpstr>Secure Azure Cloud Resiliency</vt:lpstr>
      <vt:lpstr>Secure Azure Cloud Resiliency Remediation Scope</vt:lpstr>
      <vt:lpstr>Secure Azure Cloud Azure Arc for Windows and SQL Server</vt:lpstr>
      <vt:lpstr>Secure Azure Cloud Azure Arc for Windows and SQL Server scope</vt:lpstr>
      <vt:lpstr>Key Deliverables Security/Resiliency/Azure Arc</vt:lpstr>
      <vt:lpstr>PowerPoint Presentation</vt:lpstr>
      <vt:lpstr>Cloud Accelerate Factory  Modernize with Confidence</vt:lpstr>
      <vt:lpstr>Secure Azure Cloud</vt:lpstr>
      <vt:lpstr>Secure Azure Cloud Microsoft Sentinel Deployment and Migrations</vt:lpstr>
      <vt:lpstr>Key Deliverables Microsoft Sentinel Deployment and Migrations  </vt:lpstr>
      <vt:lpstr>PowerPoint Presentation</vt:lpstr>
      <vt:lpstr>Cloud Accelerate Factory  Modernize with Confidence</vt:lpstr>
      <vt:lpstr>SAP RISE/Grow Acceleration Program (SAP RAP) </vt:lpstr>
      <vt:lpstr> SAP RISE/Grow Acceleration Program Scope  </vt:lpstr>
      <vt:lpstr>Key Deliverables SAP RAP VBD Offer </vt:lpstr>
      <vt:lpstr>PowerPoint Presentation</vt:lpstr>
      <vt:lpstr> SAP Joule integration with M365 CoPilot </vt:lpstr>
      <vt:lpstr> SAP Joule Integration with M365 Copilot  </vt:lpstr>
      <vt:lpstr>Key Deliverables SAP Joule Integration </vt:lpstr>
      <vt:lpstr>PowerPoint Presentation</vt:lpstr>
      <vt:lpstr>Cloud Accelerate Factory  Modernize with Confidence</vt:lpstr>
      <vt:lpstr>Virtual Desktop Migration to Azure  RDS and Citrix VDI to AVD Migration </vt:lpstr>
      <vt:lpstr>Virtual Desktop Migration to Azure  RDS and Citrix VDI to AVD Migration</vt:lpstr>
      <vt:lpstr>Key Deliverables RDS and Citrix VDI to AVD Migration </vt:lpstr>
      <vt:lpstr>PowerPoint Presentation</vt:lpstr>
      <vt:lpstr>Cloud Accelerate Factory  Modernize with Confidence</vt:lpstr>
      <vt:lpstr>Oracle Database@Azure [ODAA] </vt:lpstr>
      <vt:lpstr>PowerPoint Presentation</vt:lpstr>
      <vt:lpstr>PowerPoint Presentation</vt:lpstr>
      <vt:lpstr>Key Deliverables Oracle Database@Azure [ODAA]</vt:lpstr>
      <vt:lpstr>PowerPoint Presentation</vt:lpstr>
      <vt:lpstr>Cloud Accelerate Factory Ubiquitous Innovation | Amplify Your Intelligence</vt:lpstr>
      <vt:lpstr>GitHub Migration  Azure DevOps(ADO) Services/Bitbucket Server/GitLab Server/GHES to GitHub</vt:lpstr>
      <vt:lpstr>Azure DevOps(ADO) Services/Bitbucket Server/GitLab Server/GHES to GitHub</vt:lpstr>
      <vt:lpstr>Bitbucket Server to GitHub Migration </vt:lpstr>
      <vt:lpstr>GitLab Server to GitHub Migration</vt:lpstr>
      <vt:lpstr>GitHub Enterprise Server to GitHub Enterprise Cloud</vt:lpstr>
      <vt:lpstr>Key Deliverables GitHub Migrations</vt:lpstr>
      <vt:lpstr>PowerPoint Presentation</vt:lpstr>
      <vt:lpstr>Cloud Accelerate Factory Ubiquitous Innovation | Amplify Your Intelligence</vt:lpstr>
      <vt:lpstr>PowerPoint Presentation</vt:lpstr>
      <vt:lpstr>PowerPoint Presentation</vt:lpstr>
      <vt:lpstr>PowerPoint Presentation</vt:lpstr>
      <vt:lpstr>Enterprise Process Automation Agents</vt:lpstr>
      <vt:lpstr>Enterprise Process Automation Agents</vt:lpstr>
      <vt:lpstr>Agentic Knowledge Assistant</vt:lpstr>
      <vt:lpstr>PowerPoint Presentation</vt:lpstr>
      <vt:lpstr>PowerPoint Presentation</vt:lpstr>
      <vt:lpstr>PowerPoint Presentation</vt:lpstr>
      <vt:lpstr>Business Action Agents</vt:lpstr>
      <vt:lpstr>PowerPoint Presentation</vt:lpstr>
      <vt:lpstr>Enterprise Process Automation Agents</vt:lpstr>
      <vt:lpstr>PowerPoint Presentation</vt:lpstr>
      <vt:lpstr>Engagement Approach for Agent Development</vt:lpstr>
      <vt:lpstr>In Scope Services for Agent Development*</vt:lpstr>
      <vt:lpstr>PowerPoint Presentation</vt:lpstr>
      <vt:lpstr>Gen AI Apps and Agents Jumpstart Azure AI Adoption</vt:lpstr>
      <vt:lpstr>Gen AI Apps and Agents  Jumpstart Azure AI Adoption</vt:lpstr>
      <vt:lpstr>PowerPoint Presentation</vt:lpstr>
      <vt:lpstr>GenAI Assistant (RAG) Jumpstart use case examples</vt:lpstr>
      <vt:lpstr>LLM Fine –Tuning  Use Case Examples</vt:lpstr>
      <vt:lpstr>PowerPoint Presentation</vt:lpstr>
      <vt:lpstr>PowerPoint Presentation</vt:lpstr>
      <vt:lpstr>Cloud Accelerate Factory  Build a Unified, Governed Data, and AI Estate</vt:lpstr>
      <vt:lpstr>Analytic P SKU to F SKU</vt:lpstr>
      <vt:lpstr>Analytics P SKU to F SKU Migration Scope</vt:lpstr>
      <vt:lpstr>Cloud Accelerate Factory Analytics</vt:lpstr>
      <vt:lpstr>Analytics  P SKU to F SKU Migration Scenarios</vt:lpstr>
      <vt:lpstr>Cloud Accelerate Factory Build a Unified, Governed Data, and AI Estate</vt:lpstr>
      <vt:lpstr>Analytics Fabric Lakehouse</vt:lpstr>
      <vt:lpstr>Analytics Fabric Lakehouse Migration Scope</vt:lpstr>
      <vt:lpstr>Analytics Fabric Warehouse Migration</vt:lpstr>
      <vt:lpstr>Analytics Fabric Warehouse Migration </vt:lpstr>
      <vt:lpstr>Analytics Fabric Data Agents</vt:lpstr>
      <vt:lpstr>Analytics Fabric Data Agent Scope </vt:lpstr>
      <vt:lpstr>Analytics Synapse Migration</vt:lpstr>
      <vt:lpstr>Analytics Synapse Migration Scope</vt:lpstr>
      <vt:lpstr>Key Deliverables Fabric Lakehouse + DW migration</vt:lpstr>
      <vt:lpstr>Fabric Migration Scenarios</vt:lpstr>
      <vt:lpstr>PowerPoint Presentation</vt:lpstr>
      <vt:lpstr>Cloud Accelerate Factory  Build a Unified, Governed Data, and AI Estate</vt:lpstr>
      <vt:lpstr>Analytics Azure Databricks Lakehouse</vt:lpstr>
      <vt:lpstr>Analytics Azure Databricks Lakehouse Scope </vt:lpstr>
      <vt:lpstr>Key Deliverables Azure Databricks Lakehouse</vt:lpstr>
      <vt:lpstr>Unity Catalog Upgrade Scenarios/Resources</vt:lpstr>
      <vt:lpstr>Azure Databricks Lakehouse Migration Scenarios</vt:lpstr>
      <vt:lpstr>PowerPoint Presentation</vt:lpstr>
      <vt:lpstr>Cloud Accelerate Factory Build a Unified, Governed Data, and AI Estate</vt:lpstr>
      <vt:lpstr>Analytics Real-Time Intelligence </vt:lpstr>
      <vt:lpstr>Analytics Real-Time Intelligence Reference Architecture </vt:lpstr>
      <vt:lpstr>Analytics Real-Time Intelligence Scope </vt:lpstr>
      <vt:lpstr>Key Deliverables Real-Time Intelligence</vt:lpstr>
      <vt:lpstr>Cloud Accelerate Factory Analytics Real-Time Intelligence</vt:lpstr>
      <vt:lpstr>Cloud Accelerate Factory Build a Unified, Governed Data, and AI Estate</vt:lpstr>
      <vt:lpstr>Analytics Power BI Migration</vt:lpstr>
      <vt:lpstr>Analytics Power BI Migration Scope </vt:lpstr>
      <vt:lpstr>Cloud Accelerate Factory Analytics</vt:lpstr>
      <vt:lpstr>Key Deliverables Power BI Migration </vt:lpstr>
      <vt:lpstr>Cloud Accelerate Factory Analytics Power BI Migration</vt:lpstr>
      <vt:lpstr>Cloud Accelerate Factory  Infrastructure &amp; Database Migration </vt:lpstr>
      <vt:lpstr>PowerPoint Presentation</vt:lpstr>
      <vt:lpstr>Additional Services  Beyond Standard Factory Offerings</vt:lpstr>
      <vt:lpstr>Infrastructure Migration  Infrastructure and database migration (Small SMB segment)</vt:lpstr>
      <vt:lpstr>PowerPoint Presentation</vt:lpstr>
      <vt:lpstr>PowerPoint Presentation</vt:lpstr>
      <vt:lpstr>PowerPoint Presentation</vt:lpstr>
      <vt:lpstr>Cloud Accelerate Factory Infrastructure &amp; Database Migration</vt:lpstr>
      <vt:lpstr>PowerPoint Presentation</vt:lpstr>
      <vt:lpstr>Factory SMB Scale Offer – Proposed Architecture</vt:lpstr>
      <vt:lpstr>Appendix</vt:lpstr>
      <vt:lpstr>Factory Delivery- Engagement Model </vt:lpstr>
      <vt:lpstr>Factory – Engagement Model for Scope 1 – Modernize with Confidence</vt:lpstr>
      <vt:lpstr>Scope 1 – Engagement Coverage – Modernize with Confidence</vt:lpstr>
      <vt:lpstr>Factory Operating Model (Scope 1)</vt:lpstr>
      <vt:lpstr>Factory Operating Model  (Scope 2)</vt:lpstr>
      <vt:lpstr>Governance &amp; Delivery for Scope 1</vt:lpstr>
      <vt:lpstr>Discovery and Assessment for Scope 1</vt:lpstr>
      <vt:lpstr>Planning and Design for Scope 1</vt:lpstr>
      <vt:lpstr>Accelerated Platform Migration - for Scope 1 | Windows and Linux</vt:lpstr>
      <vt:lpstr>Scale Modernization with AI - for Scope 1 | Application Modernization</vt:lpstr>
      <vt:lpstr>Database Migration and Modernization - for Scope 1</vt:lpstr>
      <vt:lpstr>Build a unified, governed data &amp; AI estate - for Scope 1 |  Analytics Migration Service</vt:lpstr>
      <vt:lpstr>GitHub Repo Migration - for Scope 1</vt:lpstr>
      <vt:lpstr>Testing, Cutover and Hypercare - for Scope 1</vt:lpstr>
      <vt:lpstr>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cp:lastModifiedBy/>
  <cp:revision>1</cp:revision>
  <dcterms:created xsi:type="dcterms:W3CDTF">2026-07-14T19:46:19Z</dcterms:created>
  <dcterms:modified xsi:type="dcterms:W3CDTF">2026-07-14T19:46:23Z</dcterms:modified>
  <cp:category/>
</cp:coreProperties>
</file>